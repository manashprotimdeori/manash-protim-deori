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Growth Marketeer Assignment Sep 2026.pdf, p.1] Quick is AI-first POS/OS, targets 3–30 US locations, Meta/Instagram-dominant, reported CPL ~₹2,700, 12-month marketing budget ₹10 lakh; all requirements require ≤9 slides. [PROFILE: Profile (7).pdf, pp.1–3] Ashwani Kumar leads sales/growth for multi-location, franchise, enterprise opportunity development, business-case/ROI selling, GTM and partner relationships.
Core thesis: spending more on the cheapest observed lead channel would optimize the wrong dependent variable. A single parent company with 5 stores should count as 1 acquired customer with 5 stores potentially activated; store count belongs in expansion/activation metrics. The 370.37 division (1,000,000 / 2,700) deliberately assumes the implausible scenario that the whole budget goes to Meta lead media and CPL does not drift. It is a dimensional check, not a forecast.
Week-one decision: approve one beachhead and one diagnostic offer; nominate a sales owner for U.S. buyer calls; retrieve recent lead-to-won cohorts before placing any channel-scale bet. No customer-case numbers or candidate employment achievements have been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FACT] Initial scope is 3–30 U.S. dry-cleaning locations, not all laundry businesses. [OFFICIAL EXTERNAL] Census 2022 NAICS 812320 covers non-coin-operated dry-cleaning/laundry, including drop-off/pick-up sites; 812310 covers self-service/coin-operated laundries. https://www.census.gov/naics/?details=81232&amp;input=81232&amp;year=2022 and https://www.census.gov/naics/?details=8123&amp;input=8123&amp;year=2022 (reviewed 2026-10-13). NAICS classifies establishments, not multi-location buying entities.
[PLANNING HYPOTHESIS] Groups with 3–10 operating sites may have enough cross-branch pain and a simpler buying committee than 11–30-site enterprises. Counterexample: some 11–30-site chains may be well served by Quick and urgently ready to switch; maintain a small secondary test. The 100-point score weights sum 20+20+20+15+10+10+5=100, but are uncalibrated. Each score requires observable evidence. Thresholds ≥75, 50–74, &lt;50 are routing rules, not predictive probabilities.
Sources for store counts: business-owned store locators, independent checks of parent-company structure, LinkedIn leadership profiles, company websites, maps deduplicated by parent entity. Start with Dallas–Fort Worth and Atlanta ONLY as test candidates; collect 100 account records each (two clusters ×100 = 200). Operational triggers: new store opening, central-plant queue, inability to reconcile orders/revenue per store, duplicated customer records, POS dissatisfaction. Buyer: owner/CEO or president; champion: operations director; adoption veto: store supervisor; technical checks: payments, migration, hardware. Disqualify single-store, primarily laundromat-only, out-of-scope chains or incompatible US payment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CLAIM—VERIFY] Quick’s public multi-store pricing lists plant management, store analytics, garment tracking, loyalty and other functions on particular plans; US landing page claims US-native integrations, voice assistants, security and US plans. Public claims do NOT establish live availability, certifications, customer ROI or contractual deliverability. US page: https://www.quickdrycleaning.com/dry-cleaning-software-in-usa/ ; multi-store: https://www.quickdrycleaning.com/multi-store-pricing/ (reviewed 2026-10-13). Do not use AI-generated testimonials or unverified proof.
Positioning chain: fragmented reporting → verified consolidated dashboard → owner reviews exceptions → time to reconcile is tested before/after; garment status confusion → verified order/plant tracking → fewer missing-status escalations (if measured); inconsistent multi-site CRM → verified unified history → lower duplicate records (if measured). Run buyer observation sessions to verify whether these promises are true. Competitors such as CleanCloud, SMRT and Cents are credible; win on documented workflow fit, migration plan and risk reduction rather than a vague “better AI” claim.
[PLANNING ASSUMPTIONS] 5 stores, 30 mins per store per day (=0.5h), 26 active days/month and $18/hour loaded labor produce 5 ×0.5 ×26 ×18 = $1,170 monthly labor-equivalent capacity. This is not EBITDA improvement or cash saved unless capacity is eliminated or deployed profitably. Ask operators for actual measured reporting minutes/day, loaded wage, frequency, genuine scheduling impact. Five assets designed for commercial conversations rather than undifferentiated SEO posts: each has explicit CTA and opportunity signal. Follow sales asset-touch attribution without asserting causation.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FACT] Existing primary marketing is Instagram/Meta with reported ₹2,700 CPL. Nothing supplied establishes unique lead definitions, US share of leads, valid ICP fraction, lead→demo rate, won accounts, sales cycle or CAC. Ordering here is provisional and may change after historical source-level CRM inspection.
Google Search: use narrow high-intent exact/phrase themes, landing-page qualifiers, search-term reports and negatives. Google Ads says its search terms report surfaces queries for negative-keyword curation, but does not disclose every query: https://support.google.com/google-ads/answer/7102466 and match types https://support.google.com/google-ads/answer/7478529. Search is only cost-effective if there is sufficient commercial demand. Outbound: 200 verified parent entities, person-level outreach, account scores and manual message personalization. Avoid automated blasts. US FTC CAN-SPAM applies to B2B commercial emails; accurately identify sender, include valid physical address and opt-out, honor unsubscribes: https://www.ftc.gov/business-guidance/resources/can-spam-act-compliance-guide-business.
Partners: test hardware/POS installers, payment consultants, industry associations with written permission and a referral provenance field; do not count hypothetical “strategic partnerships.” Meta: retain only proven-fit creative and lawful retargeting if audiences/consent support it. Content: tools and product proof to convert, not blog volume. Owner matrix: marketing owns creative, tracking, source cost; sales owns contact response, qualification, held demos and next actions; product owns technical feasibility and validation; growth lead signs spend reallocations. Evaluate channel with lag by cohorts, not a nine-lead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ASSUMPTIONS—not observed benchmarks] Campaign “Multi-Store Dry Cleaner Operations Audit”: two metro candidates chosen only after verifying concentration of 3–10-site dry-cleaning operators and US sales support. Paid Search cannot directly target company location count; use qualifying landing form and CRM account matching. Input 30,000 INR, illustrative CPC 200 INR/click, landing form CVR 0.06, true-fit 0.40, booked/fit 0.60, held/booked 0.75, SQL/held 0.50. Computation: 150 clicks, 9 raw contacts, 3.6 expected fit contacts, 2.16 expected bookings, 1.62 expected held calls, 0.81 expected accepted SQLs. A 20% SQL→win planning rate would produce 0.162 expected won accounts, which predicts no particular actual outcome. Fractional stage estimates are expectations, NOT literal 0.81 sales opportunities. Search CPL modeled ₹30k/9=₹3,333 and expected acquisition spend per SQL ₹30k/0.81≈₹37,037, before sales labor, tools, content, and maturity lag. These should not be treated as reliable or precise estimates at this sample.
First 30 days: D1–5 interview sales/product and review US readiness; validate prospective ICP companies, keywords and query availability; D6–8 instrument campaign/source and lead submission QA; D9–23 run ₹2k/day * 15 days (₹30k) with daily query/negative adjustments; D24–30 review held calls, SQL and transcript pain; no unlimited daily spend. Landing CTA “Book a 20-Minute Multi-Store Audit”. Form: company+website, role, work email, 1–2/3–5/6–10/11–30/31+ site bracket, current POS, plant complexity, business problem and timing. 1-business-day seller follow-up SLA; US time overlap.
Headline/description on slide must be product-checked before publication. Alternative exact/phrase themes: [dry cleaner point of sale software], “multi store laundry management software”, “dry cleaning software for multiple stores”. Negatives can overblock if unexamined; use actual query review. Stop blatantly consumer searches immediately. After ≥100 relevant clicks inspect CVR and fit separately; under 3% qualified lead conversion leads to diagnosis, not an automatic statistically significant failure claim. Continue a second tranche only if ≥2 genuine fit conversations with consistent pain and sufficient query volume. If pilot volume inadequate, shift remaining funds to named-account outreach.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1–7 more specific: Monday demand manager asks Ashwani for 90 days of source-tagged lead and won-account records; align SQL definition and privacy permissions. Tuesday inspect US price/plan scope, payments/Stripe proof, SMS, migration/export capability, hardware and implementation team availability. Wednesday list 50 potential companies per metro and validate parents. Thursday set CRM dedupe and call/outcome stages. Friday launch 10 interviews; align working hours with US buyers. D7 documented go/no-go for product claims and spending. Next two weeks complete 200 verified accounts and the controlled search pilot described on slide 5.
Sales readiness matters more than creative volume. Marketing owns experiment design, sourcing, lead routing and accuracy; sales owns meeting response and qualified pipeline truth; product verifies US install/payment/onboarding and accompanies product diligence; Ashwani jointly signs expansion budgets, manages referral partner access and unresolved priorities. Stage definitions and a daily lead queue must be visible. Only quality evidence, not click count, triggers further cash.
Remote operation: a fixed US overlap for calls and CRM handoffs; sales-led demos where time-zone/local trust demands it; response within one US business day; async meeting notes with consent; a 20-minute weekly growth-scorecard with sourced leads, ICP-fit, booked/held demos, accepted opportunities, blockers and stage aging. Remote work is credible through observable service levels, not asserted as inherently superior.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BUDGET, EXACT] Annual amounts INR: 350000+180000+120000+120000+90000+60000+80000 = 1,000,000. Shares: 35+18+12+12+9+6+8 = 100. Reserve 80,000 withheld until approved. Q1 ₹200k, Q2 ₹250k, Q3 ₹250k, Q4 ₹220k + reserve ₹80k; amounts are ceilings/decision tranches, not automatic commitments. Software, contractor, attribution and production costs are INCLUDED in categories only up to real quotes; do not quietly treat tools as free. Sales salaries and time tracked in fully loaded CAC even if existing headcount sits outside incremental budget.
[ALTERNATIVE COUNTERFACTUAL] Restricted first 60-day ₹100,000 allocation, not an extra ₹100k added to annual: ₹30k Search +₹30k account/outbound research +₹15k conversion/sales proof +₹10k CRM/meeting logistics +₹5k partner +₹10k withheld reserve=₹100k. All contracted creative, list/data and outreach vendors must fit. Existing staff availability is dependency, and must be costed separately in full-CAC. Unused reserve remains unspent. Do not count the Search ₹30k twice across scenarios.
[PLANNING EXPECTATION, HIGH VARIANCE] Search scenario 0.81 accepted SQL; outbound case 200 contacts ×10% replies ×30% book ×75% show ×50% accepted =2.25 expected SQLs; sum 3.06 expected SQLs from these two channels before partners. This is NOT an estimate of realized customers/closed contracts; conversion assumptions uncalibrated and sales-cycle length unknown. If Search query volume is inadequate, reallocate as-yet-unspent Search funding to scored outreach/confirmed referrals. If strong-fit demos fail US deployment validation, pause lead buying and repair product readiness. Always evaluate incremental spend and activity cost by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FACT] Raw CPL ~₹2,700; not verified specifically for US prospects and not confirmed to be unique verified ICP accounts. [HYPOTHETICAL conversion scenarios] If lead→won probability=1%, media-only CAC=2,700 / .01=270,000 INR; at 3% =90,000; at 5%=54,000. These values hold ONLY if attributed paid media spending per unique lead is constant and mature conversion cohorts represent causal incremental buyers. Overlapping touch credit and duplicate raw leads would distort the result.
[PLANNING MODEL] Hypothetical five-location parent logo generates INR 20,000 monthly recurring revenue, 75% contribution = INR 15,000/month before any excluded recurring support/implementation cost. Selected policy limit: pay back fully loaded CAC within 6 months -&gt; INR 15,000 × 6 =90,000. 3% win-case media alone=90k leaves zero for sales wages, tools and one-time acquisition expenses; 5% case leaves 90k -54k =36k for OTHER CAC (but confirm if onboarding belongs in acquisition accounting). Do not claim Quick’s actual ARPA, gross margin, close rate, LTV or six-month standard. If ARPA halves to 10k while margin constant, CAC cap halves to ₹45k; 5% media case would exceed it. Company gross margin and true retention data would be needed for any defensible lifetime-value estimate.
Metrics and denominators: raw CPL = attributable media spend / distinct raw captured leads; ICP CPL=acquisition spend / unique verified ICP accounts; cost per held demo=attributable acquisition spend / actual completed demos; SQL cost=source cost / sales-accepted opportunities; full CAC=(paid media+acquisition contractors+allocated sales labor+attribution tools+commissions) / mature new paying parent-company customers, accounting consistently for relevant onboarding if included. One 5-store group is ONE logo; count sites activated separately. SQL requires compatible US multi-store customer, recognized pain, owner/credible buyer, viable deployment and mutually agreed next step. Disaggregate inbound form leads versus outbound contacted accounts; attribute by cohorts and report stage aging; separate source/influenced credit, no duplicate wins. Marketing owns source and cost accuracy; Sales owns next step and opportunity acceptance; onboarding owns go-live locations.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ask: structured anonymized/permissioned CRM export with source, date, parent account, status, reason rejected, location count, booked vs held demo, sales-accepted timestamp, revenue and cycle stage. Needed to replace scenario funnel with real source-specific rates. Ashwani’s profile explicitly highlights sales structure and pipeline development; respect the shared revenue agenda. [PROFILE: Profile (7).pdf pp.1–3].
Second ask: sales/product working session and a real US integration demonstration. Quick US landing page https://www.quickdrycleaning.com/dry-cleaning-software-in-usa/ makes statements regarding AI, price, integrations, certifications; separate multi-store pricing https://www.quickdrycleaning.com/multi-store-pricing/ differs in offer structure. All product promises remain vendor statements until implementation verifies. No invented security or US client reference. Third ask: nominate owner of immediate follow-up and one 20-minute weekly operating review, with spend release conditional on opportunity quality and fit. Remote delivery is not a claim that proximity never matters; offer fixed U.S. customer-time overlap and co-owned demos.
Sources in this case: uploaded Quick assignment (Sept 2026), Ashwani LinkedIn profile PDF (four pages), Quick official US page and multi-store pricing (2026-10-13 visit), U.S. Census NAICS official definitions, FTC CAN-SPAM guidance, and Google Ads match/reporting help. Every other rate, cost, wage or expected pipeline quantity is a scenario assumption, not audited company performance. End by asking: “May we spend the first week identifying the actual winning account and the first two decision-quality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8172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84632" y="265176"/>
            <a:ext cx="5486400" cy="219456"/>
          </a:xfrm>
          <a:prstGeom prst="rect">
            <a:avLst/>
          </a:prstGeom>
          <a:noFill/>
          <a:ln/>
        </p:spPr>
        <p:txBody>
          <a:bodyPr wrap="square" lIns="0" tIns="0" rIns="0" bIns="0" rtlCol="0" anchor="ctr">
            <a:normAutofit/>
          </a:bodyPr>
          <a:lstStyle/>
          <a:p>
            <a:pPr indent="0" marL="0">
              <a:buNone/>
            </a:pPr>
            <a:r>
              <a:rPr lang="en-US" sz="1000" b="1" spc="150" kern="0" dirty="0">
                <a:solidFill>
                  <a:srgbClr val="58DFC7"/>
                </a:solidFill>
                <a:latin typeface="Aptos" pitchFamily="34" charset="0"/>
                <a:ea typeface="Aptos" pitchFamily="34" charset="-122"/>
                <a:cs typeface="Aptos" pitchFamily="34" charset="-120"/>
              </a:rPr>
              <a:t>QUICK  /  US GO-TO-MARKET</a:t>
            </a:r>
            <a:endParaRPr lang="en-US" sz="1000" dirty="0"/>
          </a:p>
        </p:txBody>
      </p:sp>
      <p:sp>
        <p:nvSpPr>
          <p:cNvPr id="3" name="Text 1"/>
          <p:cNvSpPr/>
          <p:nvPr/>
        </p:nvSpPr>
        <p:spPr>
          <a:xfrm>
            <a:off x="10607040" y="265176"/>
            <a:ext cx="1051560" cy="219456"/>
          </a:xfrm>
          <a:prstGeom prst="rect">
            <a:avLst/>
          </a:prstGeom>
          <a:noFill/>
          <a:ln/>
        </p:spPr>
        <p:txBody>
          <a:bodyPr wrap="square" lIns="0" tIns="0" rIns="0" bIns="0" rtlCol="0" anchor="ctr">
            <a:normAutofit/>
          </a:bodyPr>
          <a:lstStyle/>
          <a:p>
            <a:pPr algn="r" indent="0" marL="0">
              <a:buNone/>
            </a:pPr>
            <a:r>
              <a:rPr lang="en-US" sz="1000" dirty="0">
                <a:solidFill>
                  <a:srgbClr val="ADC0D0"/>
                </a:solidFill>
                <a:latin typeface="Aptos" pitchFamily="34" charset="0"/>
                <a:ea typeface="Aptos" pitchFamily="34" charset="-122"/>
                <a:cs typeface="Aptos" pitchFamily="34" charset="-120"/>
              </a:rPr>
              <a:t>01 / 09</a:t>
            </a:r>
            <a:endParaRPr lang="en-US" sz="1000" dirty="0"/>
          </a:p>
        </p:txBody>
      </p:sp>
      <p:sp>
        <p:nvSpPr>
          <p:cNvPr id="4" name="Shape 2"/>
          <p:cNvSpPr/>
          <p:nvPr/>
        </p:nvSpPr>
        <p:spPr>
          <a:xfrm>
            <a:off x="484632" y="621792"/>
            <a:ext cx="11219688" cy="0"/>
          </a:xfrm>
          <a:prstGeom prst="line">
            <a:avLst/>
          </a:prstGeom>
          <a:noFill/>
          <a:ln w="12700">
            <a:solidFill>
              <a:srgbClr val="30475A"/>
            </a:solidFill>
            <a:prstDash val="solid"/>
          </a:ln>
        </p:spPr>
      </p:sp>
      <p:sp>
        <p:nvSpPr>
          <p:cNvPr id="5" name="Text 3"/>
          <p:cNvSpPr/>
          <p:nvPr/>
        </p:nvSpPr>
        <p:spPr>
          <a:xfrm>
            <a:off x="484632" y="777240"/>
            <a:ext cx="11201400" cy="484632"/>
          </a:xfrm>
          <a:prstGeom prst="rect">
            <a:avLst/>
          </a:prstGeom>
          <a:noFill/>
          <a:ln/>
        </p:spPr>
        <p:txBody>
          <a:bodyPr wrap="square" lIns="0" tIns="0" rIns="0" bIns="0" rtlCol="0" anchor="ctr">
            <a:normAutofit/>
          </a:bodyPr>
          <a:lstStyle/>
          <a:p>
            <a:pPr indent="0" marL="0">
              <a:buNone/>
            </a:pPr>
            <a:r>
              <a:rPr lang="en-US" sz="2400" b="1" dirty="0">
                <a:solidFill>
                  <a:srgbClr val="F2F7FB"/>
                </a:solidFill>
                <a:latin typeface="Aptos" pitchFamily="34" charset="0"/>
                <a:ea typeface="Aptos" pitchFamily="34" charset="-122"/>
                <a:cs typeface="Aptos" pitchFamily="34" charset="-120"/>
              </a:rPr>
              <a:t>Build qualified US pipeline before buying lead volume.</a:t>
            </a:r>
            <a:endParaRPr lang="en-US" sz="2400" dirty="0"/>
          </a:p>
        </p:txBody>
      </p:sp>
      <p:sp>
        <p:nvSpPr>
          <p:cNvPr id="6" name="Text 4"/>
          <p:cNvSpPr/>
          <p:nvPr/>
        </p:nvSpPr>
        <p:spPr>
          <a:xfrm>
            <a:off x="484632" y="1307592"/>
            <a:ext cx="11155680" cy="320040"/>
          </a:xfrm>
          <a:prstGeom prst="rect">
            <a:avLst/>
          </a:prstGeom>
          <a:noFill/>
          <a:ln/>
        </p:spPr>
        <p:txBody>
          <a:bodyPr wrap="square" lIns="0" tIns="0" rIns="0" bIns="0" rtlCol="0" anchor="ctr">
            <a:normAutofit/>
          </a:bodyPr>
          <a:lstStyle/>
          <a:p>
            <a:pPr indent="0" marL="0">
              <a:buNone/>
            </a:pPr>
            <a:r>
              <a:rPr lang="en-US" sz="1120" dirty="0">
                <a:solidFill>
                  <a:srgbClr val="ADC0D0"/>
                </a:solidFill>
                <a:latin typeface="Aptos" pitchFamily="34" charset="0"/>
                <a:ea typeface="Aptos" pitchFamily="34" charset="-122"/>
                <a:cs typeface="Aptos" pitchFamily="34" charset="-120"/>
              </a:rPr>
              <a:t>A founder-level operating plan for Quick’s first meaningful US customer base.</a:t>
            </a:r>
            <a:endParaRPr lang="en-US" sz="1120" dirty="0"/>
          </a:p>
        </p:txBody>
      </p:sp>
      <p:sp>
        <p:nvSpPr>
          <p:cNvPr id="7" name="Shape 5"/>
          <p:cNvSpPr/>
          <p:nvPr/>
        </p:nvSpPr>
        <p:spPr>
          <a:xfrm>
            <a:off x="484632" y="6492240"/>
            <a:ext cx="11219688" cy="0"/>
          </a:xfrm>
          <a:prstGeom prst="line">
            <a:avLst/>
          </a:prstGeom>
          <a:noFill/>
          <a:ln w="12700">
            <a:solidFill>
              <a:srgbClr val="30475A"/>
            </a:solidFill>
            <a:prstDash val="solid"/>
          </a:ln>
        </p:spPr>
      </p:sp>
      <p:sp>
        <p:nvSpPr>
          <p:cNvPr id="8" name="Text 6"/>
          <p:cNvSpPr/>
          <p:nvPr/>
        </p:nvSpPr>
        <p:spPr>
          <a:xfrm>
            <a:off x="502920" y="6565392"/>
            <a:ext cx="8229600" cy="155448"/>
          </a:xfrm>
          <a:prstGeom prst="rect">
            <a:avLst/>
          </a:prstGeom>
          <a:noFill/>
          <a:ln/>
        </p:spPr>
        <p:txBody>
          <a:bodyPr wrap="square" lIns="0" tIns="0" rIns="0" bIns="0" rtlCol="0" anchor="ctr">
            <a:normAutofit/>
          </a:bodyPr>
          <a:lstStyle/>
          <a:p>
            <a:pPr indent="0" marL="0">
              <a:buNone/>
            </a:pPr>
            <a:r>
              <a:rPr lang="en-US" sz="810" spc="100" kern="0" dirty="0">
                <a:solidFill>
                  <a:srgbClr val="ADC0D0"/>
                </a:solidFill>
                <a:latin typeface="Aptos" pitchFamily="34" charset="0"/>
                <a:ea typeface="Aptos" pitchFamily="34" charset="-122"/>
                <a:cs typeface="Aptos" pitchFamily="34" charset="-120"/>
              </a:rPr>
              <a:t>EXECUTIVE THESIS</a:t>
            </a:r>
            <a:endParaRPr lang="en-US" sz="810" dirty="0"/>
          </a:p>
        </p:txBody>
      </p:sp>
      <p:sp>
        <p:nvSpPr>
          <p:cNvPr id="9" name="Text 7"/>
          <p:cNvSpPr/>
          <p:nvPr/>
        </p:nvSpPr>
        <p:spPr>
          <a:xfrm>
            <a:off x="8092440" y="6565392"/>
            <a:ext cx="3611880" cy="155448"/>
          </a:xfrm>
          <a:prstGeom prst="rect">
            <a:avLst/>
          </a:prstGeom>
          <a:noFill/>
          <a:ln/>
        </p:spPr>
        <p:txBody>
          <a:bodyPr wrap="square" lIns="0" tIns="0" rIns="0" bIns="0" rtlCol="0" anchor="ctr">
            <a:normAutofit/>
          </a:bodyPr>
          <a:lstStyle/>
          <a:p>
            <a:pPr algn="r" indent="0" marL="0">
              <a:buNone/>
            </a:pPr>
            <a:r>
              <a:rPr lang="en-US" sz="750" dirty="0">
                <a:solidFill>
                  <a:srgbClr val="ADC0D0"/>
                </a:solidFill>
                <a:latin typeface="Aptos" pitchFamily="34" charset="0"/>
                <a:ea typeface="Aptos" pitchFamily="34" charset="-122"/>
                <a:cs typeface="Aptos" pitchFamily="34" charset="-120"/>
              </a:rPr>
              <a:t>Prepared 13 Oct 2026 · decision proposal, not company results</a:t>
            </a:r>
            <a:endParaRPr lang="en-US" sz="750" dirty="0"/>
          </a:p>
        </p:txBody>
      </p:sp>
      <p:sp>
        <p:nvSpPr>
          <p:cNvPr id="10" name="Shape 8"/>
          <p:cNvSpPr/>
          <p:nvPr/>
        </p:nvSpPr>
        <p:spPr>
          <a:xfrm>
            <a:off x="548640" y="1856232"/>
            <a:ext cx="6949440" cy="3547872"/>
          </a:xfrm>
          <a:prstGeom prst="roundRect">
            <a:avLst>
              <a:gd name="adj" fmla="val 3351"/>
            </a:avLst>
          </a:prstGeom>
          <a:solidFill>
            <a:srgbClr val="122639"/>
          </a:solidFill>
          <a:ln w="12700">
            <a:solidFill>
              <a:srgbClr val="122639"/>
            </a:solidFill>
            <a:prstDash val="solid"/>
          </a:ln>
        </p:spPr>
      </p:sp>
      <p:sp>
        <p:nvSpPr>
          <p:cNvPr id="11" name="Shape 9"/>
          <p:cNvSpPr/>
          <p:nvPr/>
        </p:nvSpPr>
        <p:spPr>
          <a:xfrm>
            <a:off x="786384" y="2139696"/>
            <a:ext cx="1069848" cy="265176"/>
          </a:xfrm>
          <a:prstGeom prst="roundRect">
            <a:avLst>
              <a:gd name="adj" fmla="val 41379"/>
            </a:avLst>
          </a:prstGeom>
          <a:solidFill>
            <a:srgbClr val="19354A"/>
          </a:solidFill>
          <a:ln w="12700">
            <a:solidFill>
              <a:srgbClr val="19354A"/>
            </a:solidFill>
            <a:prstDash val="solid"/>
          </a:ln>
        </p:spPr>
      </p:sp>
      <p:sp>
        <p:nvSpPr>
          <p:cNvPr id="12" name="Text 10"/>
          <p:cNvSpPr/>
          <p:nvPr/>
        </p:nvSpPr>
        <p:spPr>
          <a:xfrm>
            <a:off x="877824" y="2171700"/>
            <a:ext cx="886968" cy="182880"/>
          </a:xfrm>
          <a:prstGeom prst="rect">
            <a:avLst/>
          </a:prstGeom>
          <a:noFill/>
          <a:ln/>
        </p:spPr>
        <p:txBody>
          <a:bodyPr wrap="square" lIns="0" tIns="0" rIns="0" bIns="0" rtlCol="0" anchor="ctr">
            <a:normAutofit/>
          </a:bodyPr>
          <a:lstStyle/>
          <a:p>
            <a:pPr indent="0" marL="0">
              <a:buNone/>
            </a:pPr>
            <a:r>
              <a:rPr lang="en-US" sz="900" b="1" spc="30" kern="0" dirty="0">
                <a:solidFill>
                  <a:srgbClr val="58DFC7"/>
                </a:solidFill>
                <a:latin typeface="Aptos" pitchFamily="34" charset="0"/>
                <a:ea typeface="Aptos" pitchFamily="34" charset="-122"/>
                <a:cs typeface="Aptos" pitchFamily="34" charset="-120"/>
              </a:rPr>
              <a:t>THE BET</a:t>
            </a:r>
            <a:endParaRPr lang="en-US" sz="900" dirty="0"/>
          </a:p>
        </p:txBody>
      </p:sp>
      <p:sp>
        <p:nvSpPr>
          <p:cNvPr id="13" name="Text 11"/>
          <p:cNvSpPr/>
          <p:nvPr/>
        </p:nvSpPr>
        <p:spPr>
          <a:xfrm>
            <a:off x="786384" y="2660904"/>
            <a:ext cx="6217920" cy="1005840"/>
          </a:xfrm>
          <a:prstGeom prst="rect">
            <a:avLst/>
          </a:prstGeom>
          <a:noFill/>
          <a:ln/>
        </p:spPr>
        <p:txBody>
          <a:bodyPr wrap="square" lIns="0" tIns="0" rIns="0" bIns="0" rtlCol="0" anchor="ctr">
            <a:normAutofit/>
          </a:bodyPr>
          <a:lstStyle/>
          <a:p>
            <a:pPr indent="0" marL="0">
              <a:buNone/>
            </a:pPr>
            <a:r>
              <a:rPr lang="en-US" sz="2400" b="1" dirty="0">
                <a:solidFill>
                  <a:srgbClr val="F2F7FB"/>
                </a:solidFill>
                <a:latin typeface="Aptos" pitchFamily="34" charset="0"/>
                <a:ea typeface="Aptos" pitchFamily="34" charset="-122"/>
                <a:cs typeface="Aptos" pitchFamily="34" charset="-120"/>
              </a:rPr>
              <a:t>Win 3–10-store operator groups with a measurable operations audit.</a:t>
            </a:r>
            <a:endParaRPr lang="en-US" sz="2400" dirty="0"/>
          </a:p>
        </p:txBody>
      </p:sp>
      <p:sp>
        <p:nvSpPr>
          <p:cNvPr id="14" name="Text 12"/>
          <p:cNvSpPr/>
          <p:nvPr/>
        </p:nvSpPr>
        <p:spPr>
          <a:xfrm>
            <a:off x="786384" y="3858768"/>
            <a:ext cx="6263640" cy="758952"/>
          </a:xfrm>
          <a:prstGeom prst="rect">
            <a:avLst/>
          </a:prstGeom>
          <a:noFill/>
          <a:ln/>
        </p:spPr>
        <p:txBody>
          <a:bodyPr wrap="square" lIns="0" tIns="0" rIns="0" bIns="0" rtlCol="0" anchor="t">
            <a:normAutofit/>
          </a:bodyPr>
          <a:lstStyle/>
          <a:p>
            <a:pPr indent="0" marL="0">
              <a:buNone/>
            </a:pPr>
            <a:r>
              <a:rPr lang="en-US" sz="1300" dirty="0">
                <a:solidFill>
                  <a:srgbClr val="ADC0D0"/>
                </a:solidFill>
                <a:latin typeface="Aptos" pitchFamily="34" charset="0"/>
                <a:ea typeface="Aptos" pitchFamily="34" charset="-122"/>
                <a:cs typeface="Aptos" pitchFamily="34" charset="-120"/>
              </a:rPr>
              <a:t>Diagnose cross-branch visibility, plant handoffs and migration risk; sell proof of improvement—not an “AI-first” label.</a:t>
            </a:r>
            <a:endParaRPr lang="en-US" sz="1300" dirty="0"/>
          </a:p>
        </p:txBody>
      </p:sp>
      <p:sp>
        <p:nvSpPr>
          <p:cNvPr id="15" name="Text 13"/>
          <p:cNvSpPr/>
          <p:nvPr/>
        </p:nvSpPr>
        <p:spPr>
          <a:xfrm>
            <a:off x="786384" y="4818888"/>
            <a:ext cx="6172200" cy="365760"/>
          </a:xfrm>
          <a:prstGeom prst="rect">
            <a:avLst/>
          </a:prstGeom>
          <a:noFill/>
          <a:ln/>
        </p:spPr>
        <p:txBody>
          <a:bodyPr wrap="square" lIns="0" tIns="0" rIns="0" bIns="0" rtlCol="0" anchor="ctr">
            <a:normAutofit/>
          </a:bodyPr>
          <a:lstStyle/>
          <a:p>
            <a:pPr indent="0" marL="0">
              <a:buNone/>
            </a:pPr>
            <a:r>
              <a:rPr lang="en-US" sz="1100" dirty="0">
                <a:solidFill>
                  <a:srgbClr val="58DFC7"/>
                </a:solidFill>
                <a:latin typeface="Aptos" pitchFamily="34" charset="0"/>
                <a:ea typeface="Aptos" pitchFamily="34" charset="-122"/>
                <a:cs typeface="Aptos" pitchFamily="34" charset="-120"/>
              </a:rPr>
              <a:t>Define success at parent-account level: sales-accepted opportunities → paying logos → live stores.</a:t>
            </a:r>
            <a:endParaRPr lang="en-US" sz="1100" dirty="0"/>
          </a:p>
        </p:txBody>
      </p:sp>
      <p:sp>
        <p:nvSpPr>
          <p:cNvPr id="16" name="Shape 14"/>
          <p:cNvSpPr/>
          <p:nvPr/>
        </p:nvSpPr>
        <p:spPr>
          <a:xfrm>
            <a:off x="7744968" y="1901952"/>
            <a:ext cx="3840480" cy="1033272"/>
          </a:xfrm>
          <a:prstGeom prst="roundRect">
            <a:avLst>
              <a:gd name="adj" fmla="val 11504"/>
            </a:avLst>
          </a:prstGeom>
          <a:solidFill>
            <a:srgbClr val="102130"/>
          </a:solidFill>
          <a:ln w="12700">
            <a:solidFill>
              <a:srgbClr val="102130"/>
            </a:solidFill>
            <a:prstDash val="solid"/>
          </a:ln>
        </p:spPr>
      </p:sp>
      <p:sp>
        <p:nvSpPr>
          <p:cNvPr id="17" name="Text 15"/>
          <p:cNvSpPr/>
          <p:nvPr/>
        </p:nvSpPr>
        <p:spPr>
          <a:xfrm>
            <a:off x="7973568" y="2029968"/>
            <a:ext cx="1965960" cy="420624"/>
          </a:xfrm>
          <a:prstGeom prst="rect">
            <a:avLst/>
          </a:prstGeom>
          <a:noFill/>
          <a:ln/>
        </p:spPr>
        <p:txBody>
          <a:bodyPr wrap="square" lIns="0" tIns="0" rIns="0" bIns="0" rtlCol="0" anchor="ctr">
            <a:normAutofit/>
          </a:bodyPr>
          <a:lstStyle/>
          <a:p>
            <a:pPr indent="0" marL="0">
              <a:buNone/>
            </a:pPr>
            <a:r>
              <a:rPr lang="en-US" sz="2300" b="1" dirty="0">
                <a:solidFill>
                  <a:srgbClr val="F3C77A"/>
                </a:solidFill>
                <a:latin typeface="Aptos" pitchFamily="34" charset="0"/>
                <a:ea typeface="Aptos" pitchFamily="34" charset="-122"/>
                <a:cs typeface="Aptos" pitchFamily="34" charset="-120"/>
              </a:rPr>
              <a:t>3–30</a:t>
            </a:r>
            <a:endParaRPr lang="en-US" sz="2300" dirty="0"/>
          </a:p>
        </p:txBody>
      </p:sp>
      <p:sp>
        <p:nvSpPr>
          <p:cNvPr id="18" name="Text 16"/>
          <p:cNvSpPr/>
          <p:nvPr/>
        </p:nvSpPr>
        <p:spPr>
          <a:xfrm>
            <a:off x="9619488" y="2112264"/>
            <a:ext cx="1709928" cy="457200"/>
          </a:xfrm>
          <a:prstGeom prst="rect">
            <a:avLst/>
          </a:prstGeom>
          <a:noFill/>
          <a:ln/>
        </p:spPr>
        <p:txBody>
          <a:bodyPr wrap="square" lIns="0" tIns="0" rIns="0" bIns="0" rtlCol="0" anchor="ctr">
            <a:normAutofit/>
          </a:bodyPr>
          <a:lstStyle/>
          <a:p>
            <a:pPr algn="r" indent="0" marL="0">
              <a:buNone/>
            </a:pPr>
            <a:r>
              <a:rPr lang="en-US" sz="1050" dirty="0">
                <a:solidFill>
                  <a:srgbClr val="ADC0D0"/>
                </a:solidFill>
                <a:latin typeface="Aptos" pitchFamily="34" charset="0"/>
                <a:ea typeface="Aptos" pitchFamily="34" charset="-122"/>
                <a:cs typeface="Aptos" pitchFamily="34" charset="-120"/>
              </a:rPr>
              <a:t>stores / source ICP</a:t>
            </a:r>
            <a:endParaRPr lang="en-US" sz="1050" dirty="0"/>
          </a:p>
        </p:txBody>
      </p:sp>
      <p:sp>
        <p:nvSpPr>
          <p:cNvPr id="19" name="Shape 17"/>
          <p:cNvSpPr/>
          <p:nvPr/>
        </p:nvSpPr>
        <p:spPr>
          <a:xfrm>
            <a:off x="7744968" y="3090672"/>
            <a:ext cx="3840480" cy="1033272"/>
          </a:xfrm>
          <a:prstGeom prst="roundRect">
            <a:avLst>
              <a:gd name="adj" fmla="val 11504"/>
            </a:avLst>
          </a:prstGeom>
          <a:solidFill>
            <a:srgbClr val="102130"/>
          </a:solidFill>
          <a:ln w="12700">
            <a:solidFill>
              <a:srgbClr val="102130"/>
            </a:solidFill>
            <a:prstDash val="solid"/>
          </a:ln>
        </p:spPr>
      </p:sp>
      <p:sp>
        <p:nvSpPr>
          <p:cNvPr id="20" name="Text 18"/>
          <p:cNvSpPr/>
          <p:nvPr/>
        </p:nvSpPr>
        <p:spPr>
          <a:xfrm>
            <a:off x="7973568" y="3218688"/>
            <a:ext cx="1965960" cy="420624"/>
          </a:xfrm>
          <a:prstGeom prst="rect">
            <a:avLst/>
          </a:prstGeom>
          <a:noFill/>
          <a:ln/>
        </p:spPr>
        <p:txBody>
          <a:bodyPr wrap="square" lIns="0" tIns="0" rIns="0" bIns="0" rtlCol="0" anchor="ctr">
            <a:normAutofit/>
          </a:bodyPr>
          <a:lstStyle/>
          <a:p>
            <a:pPr indent="0" marL="0">
              <a:buNone/>
            </a:pPr>
            <a:r>
              <a:rPr lang="en-US" sz="2300" b="1" dirty="0">
                <a:solidFill>
                  <a:srgbClr val="F3C77A"/>
                </a:solidFill>
                <a:latin typeface="Aptos" pitchFamily="34" charset="0"/>
                <a:ea typeface="Aptos" pitchFamily="34" charset="-122"/>
                <a:cs typeface="Aptos" pitchFamily="34" charset="-120"/>
              </a:rPr>
              <a:t>₹2,700</a:t>
            </a:r>
            <a:endParaRPr lang="en-US" sz="2300" dirty="0"/>
          </a:p>
        </p:txBody>
      </p:sp>
      <p:sp>
        <p:nvSpPr>
          <p:cNvPr id="21" name="Text 19"/>
          <p:cNvSpPr/>
          <p:nvPr/>
        </p:nvSpPr>
        <p:spPr>
          <a:xfrm>
            <a:off x="9619488" y="3300984"/>
            <a:ext cx="1709928" cy="457200"/>
          </a:xfrm>
          <a:prstGeom prst="rect">
            <a:avLst/>
          </a:prstGeom>
          <a:noFill/>
          <a:ln/>
        </p:spPr>
        <p:txBody>
          <a:bodyPr wrap="square" lIns="0" tIns="0" rIns="0" bIns="0" rtlCol="0" anchor="ctr">
            <a:normAutofit/>
          </a:bodyPr>
          <a:lstStyle/>
          <a:p>
            <a:pPr algn="r" indent="0" marL="0">
              <a:buNone/>
            </a:pPr>
            <a:r>
              <a:rPr lang="en-US" sz="1050" dirty="0">
                <a:solidFill>
                  <a:srgbClr val="ADC0D0"/>
                </a:solidFill>
                <a:latin typeface="Aptos" pitchFamily="34" charset="0"/>
                <a:ea typeface="Aptos" pitchFamily="34" charset="-122"/>
                <a:cs typeface="Aptos" pitchFamily="34" charset="-120"/>
              </a:rPr>
              <a:t>raw Meta cost per lead</a:t>
            </a:r>
            <a:endParaRPr lang="en-US" sz="1050" dirty="0"/>
          </a:p>
        </p:txBody>
      </p:sp>
      <p:sp>
        <p:nvSpPr>
          <p:cNvPr id="22" name="Shape 20"/>
          <p:cNvSpPr/>
          <p:nvPr/>
        </p:nvSpPr>
        <p:spPr>
          <a:xfrm>
            <a:off x="7744968" y="4279392"/>
            <a:ext cx="3840480" cy="1033272"/>
          </a:xfrm>
          <a:prstGeom prst="roundRect">
            <a:avLst>
              <a:gd name="adj" fmla="val 11504"/>
            </a:avLst>
          </a:prstGeom>
          <a:solidFill>
            <a:srgbClr val="102130"/>
          </a:solidFill>
          <a:ln w="12700">
            <a:solidFill>
              <a:srgbClr val="102130"/>
            </a:solidFill>
            <a:prstDash val="solid"/>
          </a:ln>
        </p:spPr>
      </p:sp>
      <p:sp>
        <p:nvSpPr>
          <p:cNvPr id="23" name="Text 21"/>
          <p:cNvSpPr/>
          <p:nvPr/>
        </p:nvSpPr>
        <p:spPr>
          <a:xfrm>
            <a:off x="7973568" y="4407408"/>
            <a:ext cx="1965960" cy="420624"/>
          </a:xfrm>
          <a:prstGeom prst="rect">
            <a:avLst/>
          </a:prstGeom>
          <a:noFill/>
          <a:ln/>
        </p:spPr>
        <p:txBody>
          <a:bodyPr wrap="square" lIns="0" tIns="0" rIns="0" bIns="0" rtlCol="0" anchor="ctr">
            <a:normAutofit/>
          </a:bodyPr>
          <a:lstStyle/>
          <a:p>
            <a:pPr indent="0" marL="0">
              <a:buNone/>
            </a:pPr>
            <a:r>
              <a:rPr lang="en-US" sz="2300" b="1" dirty="0">
                <a:solidFill>
                  <a:srgbClr val="F3C77A"/>
                </a:solidFill>
                <a:latin typeface="Aptos" pitchFamily="34" charset="0"/>
                <a:ea typeface="Aptos" pitchFamily="34" charset="-122"/>
                <a:cs typeface="Aptos" pitchFamily="34" charset="-120"/>
              </a:rPr>
              <a:t>₹10L</a:t>
            </a:r>
            <a:endParaRPr lang="en-US" sz="2300" dirty="0"/>
          </a:p>
        </p:txBody>
      </p:sp>
      <p:sp>
        <p:nvSpPr>
          <p:cNvPr id="24" name="Text 22"/>
          <p:cNvSpPr/>
          <p:nvPr/>
        </p:nvSpPr>
        <p:spPr>
          <a:xfrm>
            <a:off x="9619488" y="4489704"/>
            <a:ext cx="1709928" cy="457200"/>
          </a:xfrm>
          <a:prstGeom prst="rect">
            <a:avLst/>
          </a:prstGeom>
          <a:noFill/>
          <a:ln/>
        </p:spPr>
        <p:txBody>
          <a:bodyPr wrap="square" lIns="0" tIns="0" rIns="0" bIns="0" rtlCol="0" anchor="ctr">
            <a:normAutofit/>
          </a:bodyPr>
          <a:lstStyle/>
          <a:p>
            <a:pPr algn="r" indent="0" marL="0">
              <a:buNone/>
            </a:pPr>
            <a:r>
              <a:rPr lang="en-US" sz="1050" dirty="0">
                <a:solidFill>
                  <a:srgbClr val="ADC0D0"/>
                </a:solidFill>
                <a:latin typeface="Aptos" pitchFamily="34" charset="0"/>
                <a:ea typeface="Aptos" pitchFamily="34" charset="-122"/>
                <a:cs typeface="Aptos" pitchFamily="34" charset="-120"/>
              </a:rPr>
              <a:t>total budget / 12 months</a:t>
            </a:r>
            <a:endParaRPr lang="en-US" sz="1050" dirty="0"/>
          </a:p>
        </p:txBody>
      </p:sp>
      <p:sp>
        <p:nvSpPr>
          <p:cNvPr id="25" name="Shape 23"/>
          <p:cNvSpPr/>
          <p:nvPr/>
        </p:nvSpPr>
        <p:spPr>
          <a:xfrm>
            <a:off x="548640" y="5623560"/>
            <a:ext cx="11036808" cy="548640"/>
          </a:xfrm>
          <a:prstGeom prst="roundRect">
            <a:avLst>
              <a:gd name="adj" fmla="val 21667"/>
            </a:avLst>
          </a:prstGeom>
          <a:solidFill>
            <a:srgbClr val="19354A"/>
          </a:solidFill>
          <a:ln w="12700">
            <a:solidFill>
              <a:srgbClr val="19354A"/>
            </a:solidFill>
            <a:prstDash val="solid"/>
          </a:ln>
        </p:spPr>
      </p:sp>
      <p:sp>
        <p:nvSpPr>
          <p:cNvPr id="26" name="Text 24"/>
          <p:cNvSpPr/>
          <p:nvPr/>
        </p:nvSpPr>
        <p:spPr>
          <a:xfrm>
            <a:off x="786384" y="5751576"/>
            <a:ext cx="10588752" cy="256032"/>
          </a:xfrm>
          <a:prstGeom prst="rect">
            <a:avLst/>
          </a:prstGeom>
          <a:noFill/>
          <a:ln/>
        </p:spPr>
        <p:txBody>
          <a:bodyPr wrap="square" lIns="0" tIns="0" rIns="0" bIns="0" rtlCol="0" anchor="ctr">
            <a:normAutofit/>
          </a:bodyPr>
          <a:lstStyle/>
          <a:p>
            <a:pPr indent="0" marL="0">
              <a:buNone/>
            </a:pPr>
            <a:r>
              <a:rPr lang="en-US" sz="1120" b="1" dirty="0">
                <a:solidFill>
                  <a:srgbClr val="F2F7FB"/>
                </a:solidFill>
                <a:latin typeface="Aptos" pitchFamily="34" charset="0"/>
                <a:ea typeface="Aptos" pitchFamily="34" charset="-122"/>
                <a:cs typeface="Aptos" pitchFamily="34" charset="-120"/>
              </a:rPr>
              <a:t>Key correction: ₹10,00,000 ÷ ₹2,700 = ~370 raw leads only if every rupee bought leads at the same CPL; NOT 370 customers.</a:t>
            </a:r>
            <a:endParaRPr lang="en-US" sz="11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84632" y="265176"/>
            <a:ext cx="5486400" cy="219456"/>
          </a:xfrm>
          <a:prstGeom prst="rect">
            <a:avLst/>
          </a:prstGeom>
          <a:noFill/>
          <a:ln/>
        </p:spPr>
        <p:txBody>
          <a:bodyPr wrap="square" lIns="0" tIns="0" rIns="0" bIns="0" rtlCol="0" anchor="ctr">
            <a:normAutofit/>
          </a:bodyPr>
          <a:lstStyle/>
          <a:p>
            <a:pPr indent="0" marL="0">
              <a:buNone/>
            </a:pPr>
            <a:r>
              <a:rPr lang="en-US" sz="1000" b="1" spc="150" kern="0" dirty="0">
                <a:solidFill>
                  <a:srgbClr val="58DFC7"/>
                </a:solidFill>
                <a:latin typeface="Aptos" pitchFamily="34" charset="0"/>
                <a:ea typeface="Aptos" pitchFamily="34" charset="-122"/>
                <a:cs typeface="Aptos" pitchFamily="34" charset="-120"/>
              </a:rPr>
              <a:t>QUICK  /  US GO-TO-MARKET</a:t>
            </a:r>
            <a:endParaRPr lang="en-US" sz="1000" dirty="0"/>
          </a:p>
        </p:txBody>
      </p:sp>
      <p:sp>
        <p:nvSpPr>
          <p:cNvPr id="3" name="Text 1"/>
          <p:cNvSpPr/>
          <p:nvPr/>
        </p:nvSpPr>
        <p:spPr>
          <a:xfrm>
            <a:off x="10607040" y="265176"/>
            <a:ext cx="1051560" cy="219456"/>
          </a:xfrm>
          <a:prstGeom prst="rect">
            <a:avLst/>
          </a:prstGeom>
          <a:noFill/>
          <a:ln/>
        </p:spPr>
        <p:txBody>
          <a:bodyPr wrap="square" lIns="0" tIns="0" rIns="0" bIns="0" rtlCol="0" anchor="ctr">
            <a:normAutofit/>
          </a:bodyPr>
          <a:lstStyle/>
          <a:p>
            <a:pPr algn="r" indent="0" marL="0">
              <a:buNone/>
            </a:pPr>
            <a:r>
              <a:rPr lang="en-US" sz="1000" dirty="0">
                <a:solidFill>
                  <a:srgbClr val="ADC0D0"/>
                </a:solidFill>
                <a:latin typeface="Aptos" pitchFamily="34" charset="0"/>
                <a:ea typeface="Aptos" pitchFamily="34" charset="-122"/>
                <a:cs typeface="Aptos" pitchFamily="34" charset="-120"/>
              </a:rPr>
              <a:t>02 / 09</a:t>
            </a:r>
            <a:endParaRPr lang="en-US" sz="1000" dirty="0"/>
          </a:p>
        </p:txBody>
      </p:sp>
      <p:sp>
        <p:nvSpPr>
          <p:cNvPr id="4" name="Shape 2"/>
          <p:cNvSpPr/>
          <p:nvPr/>
        </p:nvSpPr>
        <p:spPr>
          <a:xfrm>
            <a:off x="484632" y="621792"/>
            <a:ext cx="11219688" cy="0"/>
          </a:xfrm>
          <a:prstGeom prst="line">
            <a:avLst/>
          </a:prstGeom>
          <a:noFill/>
          <a:ln w="12700">
            <a:solidFill>
              <a:srgbClr val="30475A"/>
            </a:solidFill>
            <a:prstDash val="solid"/>
          </a:ln>
        </p:spPr>
      </p:sp>
      <p:sp>
        <p:nvSpPr>
          <p:cNvPr id="5" name="Text 3"/>
          <p:cNvSpPr/>
          <p:nvPr/>
        </p:nvSpPr>
        <p:spPr>
          <a:xfrm>
            <a:off x="484632" y="777240"/>
            <a:ext cx="11201400" cy="484632"/>
          </a:xfrm>
          <a:prstGeom prst="rect">
            <a:avLst/>
          </a:prstGeom>
          <a:noFill/>
          <a:ln/>
        </p:spPr>
        <p:txBody>
          <a:bodyPr wrap="square" lIns="0" tIns="0" rIns="0" bIns="0" rtlCol="0" anchor="ctr">
            <a:normAutofit/>
          </a:bodyPr>
          <a:lstStyle/>
          <a:p>
            <a:pPr indent="0" marL="0">
              <a:buNone/>
            </a:pPr>
            <a:r>
              <a:rPr lang="en-US" sz="2400" b="1" dirty="0">
                <a:solidFill>
                  <a:srgbClr val="F2F7FB"/>
                </a:solidFill>
                <a:latin typeface="Aptos" pitchFamily="34" charset="0"/>
                <a:ea typeface="Aptos" pitchFamily="34" charset="-122"/>
                <a:cs typeface="Aptos" pitchFamily="34" charset="-120"/>
              </a:rPr>
              <a:t>Start with interconnected 3–10-store dry-cleaner groups.</a:t>
            </a:r>
            <a:endParaRPr lang="en-US" sz="2400" dirty="0"/>
          </a:p>
        </p:txBody>
      </p:sp>
      <p:sp>
        <p:nvSpPr>
          <p:cNvPr id="6" name="Text 4"/>
          <p:cNvSpPr/>
          <p:nvPr/>
        </p:nvSpPr>
        <p:spPr>
          <a:xfrm>
            <a:off x="484632" y="1307592"/>
            <a:ext cx="11155680" cy="320040"/>
          </a:xfrm>
          <a:prstGeom prst="rect">
            <a:avLst/>
          </a:prstGeom>
          <a:noFill/>
          <a:ln/>
        </p:spPr>
        <p:txBody>
          <a:bodyPr wrap="square" lIns="0" tIns="0" rIns="0" bIns="0" rtlCol="0" anchor="ctr">
            <a:normAutofit/>
          </a:bodyPr>
          <a:lstStyle/>
          <a:p>
            <a:pPr indent="0" marL="0">
              <a:buNone/>
            </a:pPr>
            <a:r>
              <a:rPr lang="en-US" sz="1120" dirty="0">
                <a:solidFill>
                  <a:srgbClr val="ADC0D0"/>
                </a:solidFill>
                <a:latin typeface="Aptos" pitchFamily="34" charset="0"/>
                <a:ea typeface="Aptos" pitchFamily="34" charset="-122"/>
                <a:cs typeface="Aptos" pitchFamily="34" charset="-120"/>
              </a:rPr>
              <a:t>Keep 11–30-store chains in view; avoid an enterprise migration before proving repeatability.</a:t>
            </a:r>
            <a:endParaRPr lang="en-US" sz="1120" dirty="0"/>
          </a:p>
        </p:txBody>
      </p:sp>
      <p:sp>
        <p:nvSpPr>
          <p:cNvPr id="7" name="Shape 5"/>
          <p:cNvSpPr/>
          <p:nvPr/>
        </p:nvSpPr>
        <p:spPr>
          <a:xfrm>
            <a:off x="484632" y="6492240"/>
            <a:ext cx="11219688" cy="0"/>
          </a:xfrm>
          <a:prstGeom prst="line">
            <a:avLst/>
          </a:prstGeom>
          <a:noFill/>
          <a:ln w="12700">
            <a:solidFill>
              <a:srgbClr val="30475A"/>
            </a:solidFill>
            <a:prstDash val="solid"/>
          </a:ln>
        </p:spPr>
      </p:sp>
      <p:sp>
        <p:nvSpPr>
          <p:cNvPr id="8" name="Text 6"/>
          <p:cNvSpPr/>
          <p:nvPr/>
        </p:nvSpPr>
        <p:spPr>
          <a:xfrm>
            <a:off x="502920" y="6565392"/>
            <a:ext cx="8229600" cy="155448"/>
          </a:xfrm>
          <a:prstGeom prst="rect">
            <a:avLst/>
          </a:prstGeom>
          <a:noFill/>
          <a:ln/>
        </p:spPr>
        <p:txBody>
          <a:bodyPr wrap="square" lIns="0" tIns="0" rIns="0" bIns="0" rtlCol="0" anchor="ctr">
            <a:normAutofit/>
          </a:bodyPr>
          <a:lstStyle/>
          <a:p>
            <a:pPr indent="0" marL="0">
              <a:buNone/>
            </a:pPr>
            <a:r>
              <a:rPr lang="en-US" sz="810" spc="100" kern="0" dirty="0">
                <a:solidFill>
                  <a:srgbClr val="ADC0D0"/>
                </a:solidFill>
                <a:latin typeface="Aptos" pitchFamily="34" charset="0"/>
                <a:ea typeface="Aptos" pitchFamily="34" charset="-122"/>
                <a:cs typeface="Aptos" pitchFamily="34" charset="-120"/>
              </a:rPr>
              <a:t>ICP / ACCOUNT PRIORITISATION</a:t>
            </a:r>
            <a:endParaRPr lang="en-US" sz="810" dirty="0"/>
          </a:p>
        </p:txBody>
      </p:sp>
      <p:sp>
        <p:nvSpPr>
          <p:cNvPr id="9" name="Text 7"/>
          <p:cNvSpPr/>
          <p:nvPr/>
        </p:nvSpPr>
        <p:spPr>
          <a:xfrm>
            <a:off x="8092440" y="6565392"/>
            <a:ext cx="3611880" cy="155448"/>
          </a:xfrm>
          <a:prstGeom prst="rect">
            <a:avLst/>
          </a:prstGeom>
          <a:noFill/>
          <a:ln/>
        </p:spPr>
        <p:txBody>
          <a:bodyPr wrap="square" lIns="0" tIns="0" rIns="0" bIns="0" rtlCol="0" anchor="ctr">
            <a:normAutofit/>
          </a:bodyPr>
          <a:lstStyle/>
          <a:p>
            <a:pPr algn="r" indent="0" marL="0">
              <a:buNone/>
            </a:pPr>
            <a:r>
              <a:rPr lang="en-US" sz="750" dirty="0">
                <a:solidFill>
                  <a:srgbClr val="ADC0D0"/>
                </a:solidFill>
                <a:latin typeface="Aptos" pitchFamily="34" charset="0"/>
                <a:ea typeface="Aptos" pitchFamily="34" charset="-122"/>
                <a:cs typeface="Aptos" pitchFamily="34" charset="-120"/>
              </a:rPr>
              <a:t>Prepared 13 Oct 2026 · decision proposal, not company results</a:t>
            </a:r>
            <a:endParaRPr lang="en-US" sz="750" dirty="0"/>
          </a:p>
        </p:txBody>
      </p:sp>
      <p:sp>
        <p:nvSpPr>
          <p:cNvPr id="10" name="Shape 8"/>
          <p:cNvSpPr/>
          <p:nvPr/>
        </p:nvSpPr>
        <p:spPr>
          <a:xfrm>
            <a:off x="530352" y="1847088"/>
            <a:ext cx="4919472" cy="1051560"/>
          </a:xfrm>
          <a:prstGeom prst="roundRect">
            <a:avLst>
              <a:gd name="adj" fmla="val 11304"/>
            </a:avLst>
          </a:prstGeom>
          <a:solidFill>
            <a:srgbClr val="122639"/>
          </a:solidFill>
          <a:ln w="12700">
            <a:solidFill>
              <a:srgbClr val="122639"/>
            </a:solidFill>
            <a:prstDash val="solid"/>
          </a:ln>
        </p:spPr>
      </p:sp>
      <p:sp>
        <p:nvSpPr>
          <p:cNvPr id="11" name="Shape 9"/>
          <p:cNvSpPr/>
          <p:nvPr/>
        </p:nvSpPr>
        <p:spPr>
          <a:xfrm>
            <a:off x="722376" y="2029968"/>
            <a:ext cx="1143000" cy="265176"/>
          </a:xfrm>
          <a:prstGeom prst="roundRect">
            <a:avLst>
              <a:gd name="adj" fmla="val 41379"/>
            </a:avLst>
          </a:prstGeom>
          <a:solidFill>
            <a:srgbClr val="19354A"/>
          </a:solidFill>
          <a:ln w="12700">
            <a:solidFill>
              <a:srgbClr val="19354A"/>
            </a:solidFill>
            <a:prstDash val="solid"/>
          </a:ln>
        </p:spPr>
      </p:sp>
      <p:sp>
        <p:nvSpPr>
          <p:cNvPr id="12" name="Text 10"/>
          <p:cNvSpPr/>
          <p:nvPr/>
        </p:nvSpPr>
        <p:spPr>
          <a:xfrm>
            <a:off x="813816" y="2061972"/>
            <a:ext cx="960120" cy="182880"/>
          </a:xfrm>
          <a:prstGeom prst="rect">
            <a:avLst/>
          </a:prstGeom>
          <a:noFill/>
          <a:ln/>
        </p:spPr>
        <p:txBody>
          <a:bodyPr wrap="square" lIns="0" tIns="0" rIns="0" bIns="0" rtlCol="0" anchor="ctr">
            <a:normAutofit/>
          </a:bodyPr>
          <a:lstStyle/>
          <a:p>
            <a:pPr indent="0" marL="0">
              <a:buNone/>
            </a:pPr>
            <a:r>
              <a:rPr lang="en-US" sz="900" b="1" spc="30" kern="0" dirty="0">
                <a:solidFill>
                  <a:srgbClr val="58DFC7"/>
                </a:solidFill>
                <a:latin typeface="Aptos" pitchFamily="34" charset="0"/>
                <a:ea typeface="Aptos" pitchFamily="34" charset="-122"/>
                <a:cs typeface="Aptos" pitchFamily="34" charset="-120"/>
              </a:rPr>
              <a:t>PRIMARY</a:t>
            </a:r>
            <a:endParaRPr lang="en-US" sz="900" dirty="0"/>
          </a:p>
        </p:txBody>
      </p:sp>
      <p:sp>
        <p:nvSpPr>
          <p:cNvPr id="13" name="Text 11"/>
          <p:cNvSpPr/>
          <p:nvPr/>
        </p:nvSpPr>
        <p:spPr>
          <a:xfrm>
            <a:off x="2066544" y="1965960"/>
            <a:ext cx="3127248" cy="667512"/>
          </a:xfrm>
          <a:prstGeom prst="rect">
            <a:avLst/>
          </a:prstGeom>
          <a:noFill/>
          <a:ln/>
        </p:spPr>
        <p:txBody>
          <a:bodyPr wrap="square" lIns="0" tIns="0" rIns="0" bIns="0" rtlCol="0" anchor="ctr">
            <a:normAutofit/>
          </a:bodyPr>
          <a:lstStyle/>
          <a:p>
            <a:pPr indent="0" marL="0">
              <a:buNone/>
            </a:pPr>
            <a:r>
              <a:rPr lang="en-US" sz="1500" b="1" dirty="0">
                <a:solidFill>
                  <a:srgbClr val="F2F7FB"/>
                </a:solidFill>
                <a:latin typeface="Aptos" pitchFamily="34" charset="0"/>
                <a:ea typeface="Aptos" pitchFamily="34" charset="-122"/>
                <a:cs typeface="Aptos" pitchFamily="34" charset="-120"/>
              </a:rPr>
              <a:t>3–10 sites · shared plant or central reporting</a:t>
            </a:r>
            <a:endParaRPr lang="en-US" sz="1500" dirty="0"/>
          </a:p>
        </p:txBody>
      </p:sp>
      <p:sp>
        <p:nvSpPr>
          <p:cNvPr id="14" name="Shape 12"/>
          <p:cNvSpPr/>
          <p:nvPr/>
        </p:nvSpPr>
        <p:spPr>
          <a:xfrm>
            <a:off x="5632704" y="1847088"/>
            <a:ext cx="5998464" cy="1051560"/>
          </a:xfrm>
          <a:prstGeom prst="roundRect">
            <a:avLst>
              <a:gd name="adj" fmla="val 11304"/>
            </a:avLst>
          </a:prstGeom>
          <a:solidFill>
            <a:srgbClr val="102130"/>
          </a:solidFill>
          <a:ln w="12700">
            <a:solidFill>
              <a:srgbClr val="102130"/>
            </a:solidFill>
            <a:prstDash val="solid"/>
          </a:ln>
        </p:spPr>
      </p:sp>
      <p:sp>
        <p:nvSpPr>
          <p:cNvPr id="15" name="Text 13"/>
          <p:cNvSpPr/>
          <p:nvPr/>
        </p:nvSpPr>
        <p:spPr>
          <a:xfrm>
            <a:off x="5879592" y="1993392"/>
            <a:ext cx="2423160" cy="292608"/>
          </a:xfrm>
          <a:prstGeom prst="rect">
            <a:avLst/>
          </a:prstGeom>
          <a:noFill/>
          <a:ln/>
        </p:spPr>
        <p:txBody>
          <a:bodyPr wrap="square" lIns="0" tIns="0" rIns="0" bIns="0" rtlCol="0" anchor="ctr">
            <a:normAutofit/>
          </a:bodyPr>
          <a:lstStyle/>
          <a:p>
            <a:pPr indent="0" marL="0">
              <a:buNone/>
            </a:pPr>
            <a:r>
              <a:rPr lang="en-US" sz="1300" b="1" dirty="0">
                <a:solidFill>
                  <a:srgbClr val="F3C77A"/>
                </a:solidFill>
                <a:latin typeface="Aptos" pitchFamily="34" charset="0"/>
                <a:ea typeface="Aptos" pitchFamily="34" charset="-122"/>
                <a:cs typeface="Aptos" pitchFamily="34" charset="-120"/>
              </a:rPr>
              <a:t>Secondary: 11–30 sites</a:t>
            </a:r>
            <a:endParaRPr lang="en-US" sz="1300" dirty="0"/>
          </a:p>
        </p:txBody>
      </p:sp>
      <p:sp>
        <p:nvSpPr>
          <p:cNvPr id="16" name="Text 14"/>
          <p:cNvSpPr/>
          <p:nvPr/>
        </p:nvSpPr>
        <p:spPr>
          <a:xfrm>
            <a:off x="5879592" y="2377440"/>
            <a:ext cx="5358384" cy="329184"/>
          </a:xfrm>
          <a:prstGeom prst="rect">
            <a:avLst/>
          </a:prstGeom>
          <a:noFill/>
          <a:ln/>
        </p:spPr>
        <p:txBody>
          <a:bodyPr wrap="square" lIns="0" tIns="0" rIns="0" bIns="0" rtlCol="0" anchor="ctr">
            <a:normAutofit/>
          </a:bodyPr>
          <a:lstStyle/>
          <a:p>
            <a:pPr indent="0" marL="0">
              <a:buNone/>
            </a:pPr>
            <a:r>
              <a:rPr lang="en-US" sz="1100" dirty="0">
                <a:solidFill>
                  <a:srgbClr val="ADC0D0"/>
                </a:solidFill>
                <a:latin typeface="Aptos" pitchFamily="34" charset="0"/>
                <a:ea typeface="Aptos" pitchFamily="34" charset="-122"/>
                <a:cs typeface="Aptos" pitchFamily="34" charset="-120"/>
              </a:rPr>
              <a:t>Potentially larger ACV; slower stakeholders, migration and procurement.</a:t>
            </a:r>
            <a:endParaRPr lang="en-US" sz="1100" dirty="0"/>
          </a:p>
        </p:txBody>
      </p:sp>
      <p:sp>
        <p:nvSpPr>
          <p:cNvPr id="17" name="Text 15"/>
          <p:cNvSpPr/>
          <p:nvPr/>
        </p:nvSpPr>
        <p:spPr>
          <a:xfrm>
            <a:off x="621792" y="3145536"/>
            <a:ext cx="6400800" cy="256032"/>
          </a:xfrm>
          <a:prstGeom prst="rect">
            <a:avLst/>
          </a:prstGeom>
          <a:noFill/>
          <a:ln/>
        </p:spPr>
        <p:txBody>
          <a:bodyPr wrap="square" lIns="0" tIns="0" rIns="0" bIns="0" rtlCol="0" anchor="ctr">
            <a:normAutofit/>
          </a:bodyPr>
          <a:lstStyle/>
          <a:p>
            <a:pPr indent="0" marL="0">
              <a:buNone/>
            </a:pPr>
            <a:r>
              <a:rPr lang="en-US" sz="1300" b="1" dirty="0">
                <a:solidFill>
                  <a:srgbClr val="58DFC7"/>
                </a:solidFill>
                <a:latin typeface="Aptos" pitchFamily="34" charset="0"/>
                <a:ea typeface="Aptos" pitchFamily="34" charset="-122"/>
                <a:cs typeface="Aptos" pitchFamily="34" charset="-120"/>
              </a:rPr>
              <a:t>Account score  /  initial weights, to calibrate</a:t>
            </a:r>
            <a:endParaRPr lang="en-US" sz="1300" dirty="0"/>
          </a:p>
        </p:txBody>
      </p:sp>
      <p:sp>
        <p:nvSpPr>
          <p:cNvPr id="18" name="Text 16"/>
          <p:cNvSpPr/>
          <p:nvPr/>
        </p:nvSpPr>
        <p:spPr>
          <a:xfrm>
            <a:off x="658368" y="3575304"/>
            <a:ext cx="3298698" cy="210312"/>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Store count</a:t>
            </a:r>
            <a:endParaRPr lang="en-US" sz="1100" dirty="0"/>
          </a:p>
        </p:txBody>
      </p:sp>
      <p:sp>
        <p:nvSpPr>
          <p:cNvPr id="19" name="Text 17"/>
          <p:cNvSpPr/>
          <p:nvPr/>
        </p:nvSpPr>
        <p:spPr>
          <a:xfrm>
            <a:off x="4210812" y="3575304"/>
            <a:ext cx="1319479" cy="210312"/>
          </a:xfrm>
          <a:prstGeom prst="rect">
            <a:avLst/>
          </a:prstGeom>
          <a:noFill/>
          <a:ln/>
        </p:spPr>
        <p:txBody>
          <a:bodyPr wrap="square" lIns="0" tIns="0" rIns="0" bIns="0" rtlCol="0" anchor="ctr">
            <a:normAutofit/>
          </a:bodyPr>
          <a:lstStyle/>
          <a:p>
            <a:pPr algn="r" indent="0" marL="0">
              <a:buNone/>
            </a:pPr>
            <a:r>
              <a:rPr lang="en-US" sz="1100" b="1" dirty="0">
                <a:solidFill>
                  <a:srgbClr val="F3C77A"/>
                </a:solidFill>
                <a:latin typeface="Aptos" pitchFamily="34" charset="0"/>
                <a:ea typeface="Aptos" pitchFamily="34" charset="-122"/>
                <a:cs typeface="Aptos" pitchFamily="34" charset="-120"/>
              </a:rPr>
              <a:t>20 pts</a:t>
            </a:r>
            <a:endParaRPr lang="en-US" sz="1100" dirty="0"/>
          </a:p>
        </p:txBody>
      </p:sp>
      <p:sp>
        <p:nvSpPr>
          <p:cNvPr id="20" name="Shape 18"/>
          <p:cNvSpPr/>
          <p:nvPr/>
        </p:nvSpPr>
        <p:spPr>
          <a:xfrm>
            <a:off x="658368" y="3886200"/>
            <a:ext cx="5074920" cy="0"/>
          </a:xfrm>
          <a:prstGeom prst="line">
            <a:avLst/>
          </a:prstGeom>
          <a:noFill/>
          <a:ln w="5715">
            <a:solidFill>
              <a:srgbClr val="30475A"/>
            </a:solidFill>
            <a:prstDash val="solid"/>
          </a:ln>
        </p:spPr>
      </p:sp>
      <p:sp>
        <p:nvSpPr>
          <p:cNvPr id="21" name="Text 19"/>
          <p:cNvSpPr/>
          <p:nvPr/>
        </p:nvSpPr>
        <p:spPr>
          <a:xfrm>
            <a:off x="658368" y="4014216"/>
            <a:ext cx="3298698" cy="210312"/>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Operational complexity</a:t>
            </a:r>
            <a:endParaRPr lang="en-US" sz="1100" dirty="0"/>
          </a:p>
        </p:txBody>
      </p:sp>
      <p:sp>
        <p:nvSpPr>
          <p:cNvPr id="22" name="Text 20"/>
          <p:cNvSpPr/>
          <p:nvPr/>
        </p:nvSpPr>
        <p:spPr>
          <a:xfrm>
            <a:off x="4210812" y="4014216"/>
            <a:ext cx="1319479" cy="210312"/>
          </a:xfrm>
          <a:prstGeom prst="rect">
            <a:avLst/>
          </a:prstGeom>
          <a:noFill/>
          <a:ln/>
        </p:spPr>
        <p:txBody>
          <a:bodyPr wrap="square" lIns="0" tIns="0" rIns="0" bIns="0" rtlCol="0" anchor="ctr">
            <a:normAutofit/>
          </a:bodyPr>
          <a:lstStyle/>
          <a:p>
            <a:pPr algn="r" indent="0" marL="0">
              <a:buNone/>
            </a:pPr>
            <a:r>
              <a:rPr lang="en-US" sz="1100" b="1" dirty="0">
                <a:solidFill>
                  <a:srgbClr val="F3C77A"/>
                </a:solidFill>
                <a:latin typeface="Aptos" pitchFamily="34" charset="0"/>
                <a:ea typeface="Aptos" pitchFamily="34" charset="-122"/>
                <a:cs typeface="Aptos" pitchFamily="34" charset="-120"/>
              </a:rPr>
              <a:t>20 pts</a:t>
            </a:r>
            <a:endParaRPr lang="en-US" sz="1100" dirty="0"/>
          </a:p>
        </p:txBody>
      </p:sp>
      <p:sp>
        <p:nvSpPr>
          <p:cNvPr id="23" name="Shape 21"/>
          <p:cNvSpPr/>
          <p:nvPr/>
        </p:nvSpPr>
        <p:spPr>
          <a:xfrm>
            <a:off x="658368" y="4325112"/>
            <a:ext cx="5074920" cy="0"/>
          </a:xfrm>
          <a:prstGeom prst="line">
            <a:avLst/>
          </a:prstGeom>
          <a:noFill/>
          <a:ln w="5715">
            <a:solidFill>
              <a:srgbClr val="30475A"/>
            </a:solidFill>
            <a:prstDash val="solid"/>
          </a:ln>
        </p:spPr>
      </p:sp>
      <p:sp>
        <p:nvSpPr>
          <p:cNvPr id="24" name="Text 22"/>
          <p:cNvSpPr/>
          <p:nvPr/>
        </p:nvSpPr>
        <p:spPr>
          <a:xfrm>
            <a:off x="658368" y="4453128"/>
            <a:ext cx="3298698" cy="210312"/>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Observable workflow pain</a:t>
            </a:r>
            <a:endParaRPr lang="en-US" sz="1100" dirty="0"/>
          </a:p>
        </p:txBody>
      </p:sp>
      <p:sp>
        <p:nvSpPr>
          <p:cNvPr id="25" name="Text 23"/>
          <p:cNvSpPr/>
          <p:nvPr/>
        </p:nvSpPr>
        <p:spPr>
          <a:xfrm>
            <a:off x="4210812" y="4453128"/>
            <a:ext cx="1319479" cy="210312"/>
          </a:xfrm>
          <a:prstGeom prst="rect">
            <a:avLst/>
          </a:prstGeom>
          <a:noFill/>
          <a:ln/>
        </p:spPr>
        <p:txBody>
          <a:bodyPr wrap="square" lIns="0" tIns="0" rIns="0" bIns="0" rtlCol="0" anchor="ctr">
            <a:normAutofit/>
          </a:bodyPr>
          <a:lstStyle/>
          <a:p>
            <a:pPr algn="r" indent="0" marL="0">
              <a:buNone/>
            </a:pPr>
            <a:r>
              <a:rPr lang="en-US" sz="1100" b="1" dirty="0">
                <a:solidFill>
                  <a:srgbClr val="F3C77A"/>
                </a:solidFill>
                <a:latin typeface="Aptos" pitchFamily="34" charset="0"/>
                <a:ea typeface="Aptos" pitchFamily="34" charset="-122"/>
                <a:cs typeface="Aptos" pitchFamily="34" charset="-120"/>
              </a:rPr>
              <a:t>20 pts</a:t>
            </a:r>
            <a:endParaRPr lang="en-US" sz="1100" dirty="0"/>
          </a:p>
        </p:txBody>
      </p:sp>
      <p:sp>
        <p:nvSpPr>
          <p:cNvPr id="26" name="Shape 24"/>
          <p:cNvSpPr/>
          <p:nvPr/>
        </p:nvSpPr>
        <p:spPr>
          <a:xfrm>
            <a:off x="658368" y="4764024"/>
            <a:ext cx="5074920" cy="0"/>
          </a:xfrm>
          <a:prstGeom prst="line">
            <a:avLst/>
          </a:prstGeom>
          <a:noFill/>
          <a:ln w="5715">
            <a:solidFill>
              <a:srgbClr val="30475A"/>
            </a:solidFill>
            <a:prstDash val="solid"/>
          </a:ln>
        </p:spPr>
      </p:sp>
      <p:sp>
        <p:nvSpPr>
          <p:cNvPr id="27" name="Text 25"/>
          <p:cNvSpPr/>
          <p:nvPr/>
        </p:nvSpPr>
        <p:spPr>
          <a:xfrm>
            <a:off x="658368" y="4892040"/>
            <a:ext cx="3298698" cy="210312"/>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Switch urgency</a:t>
            </a:r>
            <a:endParaRPr lang="en-US" sz="1100" dirty="0"/>
          </a:p>
        </p:txBody>
      </p:sp>
      <p:sp>
        <p:nvSpPr>
          <p:cNvPr id="28" name="Text 26"/>
          <p:cNvSpPr/>
          <p:nvPr/>
        </p:nvSpPr>
        <p:spPr>
          <a:xfrm>
            <a:off x="4210812" y="4892040"/>
            <a:ext cx="1319479" cy="210312"/>
          </a:xfrm>
          <a:prstGeom prst="rect">
            <a:avLst/>
          </a:prstGeom>
          <a:noFill/>
          <a:ln/>
        </p:spPr>
        <p:txBody>
          <a:bodyPr wrap="square" lIns="0" tIns="0" rIns="0" bIns="0" rtlCol="0" anchor="ctr">
            <a:normAutofit/>
          </a:bodyPr>
          <a:lstStyle/>
          <a:p>
            <a:pPr algn="r" indent="0" marL="0">
              <a:buNone/>
            </a:pPr>
            <a:r>
              <a:rPr lang="en-US" sz="1100" b="1" dirty="0">
                <a:solidFill>
                  <a:srgbClr val="F3C77A"/>
                </a:solidFill>
                <a:latin typeface="Aptos" pitchFamily="34" charset="0"/>
                <a:ea typeface="Aptos" pitchFamily="34" charset="-122"/>
                <a:cs typeface="Aptos" pitchFamily="34" charset="-120"/>
              </a:rPr>
              <a:t>15 pts</a:t>
            </a:r>
            <a:endParaRPr lang="en-US" sz="1100" dirty="0"/>
          </a:p>
        </p:txBody>
      </p:sp>
      <p:sp>
        <p:nvSpPr>
          <p:cNvPr id="29" name="Shape 27"/>
          <p:cNvSpPr/>
          <p:nvPr/>
        </p:nvSpPr>
        <p:spPr>
          <a:xfrm>
            <a:off x="658368" y="5202936"/>
            <a:ext cx="5074920" cy="0"/>
          </a:xfrm>
          <a:prstGeom prst="line">
            <a:avLst/>
          </a:prstGeom>
          <a:noFill/>
          <a:ln w="5715">
            <a:solidFill>
              <a:srgbClr val="30475A"/>
            </a:solidFill>
            <a:prstDash val="solid"/>
          </a:ln>
        </p:spPr>
      </p:sp>
      <p:sp>
        <p:nvSpPr>
          <p:cNvPr id="30" name="Text 28"/>
          <p:cNvSpPr/>
          <p:nvPr/>
        </p:nvSpPr>
        <p:spPr>
          <a:xfrm>
            <a:off x="5943600" y="3575304"/>
            <a:ext cx="3209544" cy="210312"/>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Economic buyer</a:t>
            </a:r>
            <a:endParaRPr lang="en-US" sz="1100" dirty="0"/>
          </a:p>
        </p:txBody>
      </p:sp>
      <p:sp>
        <p:nvSpPr>
          <p:cNvPr id="31" name="Text 29"/>
          <p:cNvSpPr/>
          <p:nvPr/>
        </p:nvSpPr>
        <p:spPr>
          <a:xfrm>
            <a:off x="9400032" y="3575304"/>
            <a:ext cx="1283818" cy="210312"/>
          </a:xfrm>
          <a:prstGeom prst="rect">
            <a:avLst/>
          </a:prstGeom>
          <a:noFill/>
          <a:ln/>
        </p:spPr>
        <p:txBody>
          <a:bodyPr wrap="square" lIns="0" tIns="0" rIns="0" bIns="0" rtlCol="0" anchor="ctr">
            <a:normAutofit/>
          </a:bodyPr>
          <a:lstStyle/>
          <a:p>
            <a:pPr algn="r" indent="0" marL="0">
              <a:buNone/>
            </a:pPr>
            <a:r>
              <a:rPr lang="en-US" sz="1100" b="1" dirty="0">
                <a:solidFill>
                  <a:srgbClr val="F3C77A"/>
                </a:solidFill>
                <a:latin typeface="Aptos" pitchFamily="34" charset="0"/>
                <a:ea typeface="Aptos" pitchFamily="34" charset="-122"/>
                <a:cs typeface="Aptos" pitchFamily="34" charset="-120"/>
              </a:rPr>
              <a:t>10 pts</a:t>
            </a:r>
            <a:endParaRPr lang="en-US" sz="1100" dirty="0"/>
          </a:p>
        </p:txBody>
      </p:sp>
      <p:sp>
        <p:nvSpPr>
          <p:cNvPr id="32" name="Shape 30"/>
          <p:cNvSpPr/>
          <p:nvPr/>
        </p:nvSpPr>
        <p:spPr>
          <a:xfrm>
            <a:off x="5943600" y="3886200"/>
            <a:ext cx="4937760" cy="0"/>
          </a:xfrm>
          <a:prstGeom prst="line">
            <a:avLst/>
          </a:prstGeom>
          <a:noFill/>
          <a:ln w="5715">
            <a:solidFill>
              <a:srgbClr val="30475A"/>
            </a:solidFill>
            <a:prstDash val="solid"/>
          </a:ln>
        </p:spPr>
      </p:sp>
      <p:sp>
        <p:nvSpPr>
          <p:cNvPr id="33" name="Text 31"/>
          <p:cNvSpPr/>
          <p:nvPr/>
        </p:nvSpPr>
        <p:spPr>
          <a:xfrm>
            <a:off x="5943600" y="4014216"/>
            <a:ext cx="3209544" cy="210312"/>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US deployment readiness</a:t>
            </a:r>
            <a:endParaRPr lang="en-US" sz="1100" dirty="0"/>
          </a:p>
        </p:txBody>
      </p:sp>
      <p:sp>
        <p:nvSpPr>
          <p:cNvPr id="34" name="Text 32"/>
          <p:cNvSpPr/>
          <p:nvPr/>
        </p:nvSpPr>
        <p:spPr>
          <a:xfrm>
            <a:off x="9400032" y="4014216"/>
            <a:ext cx="1283818" cy="210312"/>
          </a:xfrm>
          <a:prstGeom prst="rect">
            <a:avLst/>
          </a:prstGeom>
          <a:noFill/>
          <a:ln/>
        </p:spPr>
        <p:txBody>
          <a:bodyPr wrap="square" lIns="0" tIns="0" rIns="0" bIns="0" rtlCol="0" anchor="ctr">
            <a:normAutofit/>
          </a:bodyPr>
          <a:lstStyle/>
          <a:p>
            <a:pPr algn="r" indent="0" marL="0">
              <a:buNone/>
            </a:pPr>
            <a:r>
              <a:rPr lang="en-US" sz="1100" b="1" dirty="0">
                <a:solidFill>
                  <a:srgbClr val="F3C77A"/>
                </a:solidFill>
                <a:latin typeface="Aptos" pitchFamily="34" charset="0"/>
                <a:ea typeface="Aptos" pitchFamily="34" charset="-122"/>
                <a:cs typeface="Aptos" pitchFamily="34" charset="-120"/>
              </a:rPr>
              <a:t>10 pts</a:t>
            </a:r>
            <a:endParaRPr lang="en-US" sz="1100" dirty="0"/>
          </a:p>
        </p:txBody>
      </p:sp>
      <p:sp>
        <p:nvSpPr>
          <p:cNvPr id="35" name="Shape 33"/>
          <p:cNvSpPr/>
          <p:nvPr/>
        </p:nvSpPr>
        <p:spPr>
          <a:xfrm>
            <a:off x="5943600" y="4325112"/>
            <a:ext cx="4937760" cy="0"/>
          </a:xfrm>
          <a:prstGeom prst="line">
            <a:avLst/>
          </a:prstGeom>
          <a:noFill/>
          <a:ln w="5715">
            <a:solidFill>
              <a:srgbClr val="30475A"/>
            </a:solidFill>
            <a:prstDash val="solid"/>
          </a:ln>
        </p:spPr>
      </p:sp>
      <p:sp>
        <p:nvSpPr>
          <p:cNvPr id="36" name="Text 34"/>
          <p:cNvSpPr/>
          <p:nvPr/>
        </p:nvSpPr>
        <p:spPr>
          <a:xfrm>
            <a:off x="5943600" y="4453128"/>
            <a:ext cx="3209544" cy="210312"/>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Territory + technical fit</a:t>
            </a:r>
            <a:endParaRPr lang="en-US" sz="1100" dirty="0"/>
          </a:p>
        </p:txBody>
      </p:sp>
      <p:sp>
        <p:nvSpPr>
          <p:cNvPr id="37" name="Text 35"/>
          <p:cNvSpPr/>
          <p:nvPr/>
        </p:nvSpPr>
        <p:spPr>
          <a:xfrm>
            <a:off x="9400032" y="4453128"/>
            <a:ext cx="1283818" cy="210312"/>
          </a:xfrm>
          <a:prstGeom prst="rect">
            <a:avLst/>
          </a:prstGeom>
          <a:noFill/>
          <a:ln/>
        </p:spPr>
        <p:txBody>
          <a:bodyPr wrap="square" lIns="0" tIns="0" rIns="0" bIns="0" rtlCol="0" anchor="ctr">
            <a:normAutofit/>
          </a:bodyPr>
          <a:lstStyle/>
          <a:p>
            <a:pPr algn="r" indent="0" marL="0">
              <a:buNone/>
            </a:pPr>
            <a:r>
              <a:rPr lang="en-US" sz="1100" b="1" dirty="0">
                <a:solidFill>
                  <a:srgbClr val="F3C77A"/>
                </a:solidFill>
                <a:latin typeface="Aptos" pitchFamily="34" charset="0"/>
                <a:ea typeface="Aptos" pitchFamily="34" charset="-122"/>
                <a:cs typeface="Aptos" pitchFamily="34" charset="-120"/>
              </a:rPr>
              <a:t>5 pts</a:t>
            </a:r>
            <a:endParaRPr lang="en-US" sz="1100" dirty="0"/>
          </a:p>
        </p:txBody>
      </p:sp>
      <p:sp>
        <p:nvSpPr>
          <p:cNvPr id="38" name="Shape 36"/>
          <p:cNvSpPr/>
          <p:nvPr/>
        </p:nvSpPr>
        <p:spPr>
          <a:xfrm>
            <a:off x="5943600" y="4764024"/>
            <a:ext cx="4937760" cy="0"/>
          </a:xfrm>
          <a:prstGeom prst="line">
            <a:avLst/>
          </a:prstGeom>
          <a:noFill/>
          <a:ln w="5715">
            <a:solidFill>
              <a:srgbClr val="30475A"/>
            </a:solidFill>
            <a:prstDash val="solid"/>
          </a:ln>
        </p:spPr>
      </p:sp>
      <p:sp>
        <p:nvSpPr>
          <p:cNvPr id="39" name="Shape 37"/>
          <p:cNvSpPr/>
          <p:nvPr/>
        </p:nvSpPr>
        <p:spPr>
          <a:xfrm>
            <a:off x="5943600" y="5129784"/>
            <a:ext cx="5010912" cy="493776"/>
          </a:xfrm>
          <a:prstGeom prst="roundRect">
            <a:avLst>
              <a:gd name="adj" fmla="val 24074"/>
            </a:avLst>
          </a:prstGeom>
          <a:solidFill>
            <a:srgbClr val="19354A"/>
          </a:solidFill>
          <a:ln w="12700">
            <a:solidFill>
              <a:srgbClr val="19354A"/>
            </a:solidFill>
            <a:prstDash val="solid"/>
          </a:ln>
        </p:spPr>
      </p:sp>
      <p:sp>
        <p:nvSpPr>
          <p:cNvPr id="40" name="Text 38"/>
          <p:cNvSpPr/>
          <p:nvPr/>
        </p:nvSpPr>
        <p:spPr>
          <a:xfrm>
            <a:off x="6126480" y="5239512"/>
            <a:ext cx="4608576" cy="228600"/>
          </a:xfrm>
          <a:prstGeom prst="rect">
            <a:avLst/>
          </a:prstGeom>
          <a:noFill/>
          <a:ln/>
        </p:spPr>
        <p:txBody>
          <a:bodyPr wrap="square" lIns="0" tIns="0" rIns="0" bIns="0" rtlCol="0" anchor="ctr">
            <a:normAutofit/>
          </a:bodyPr>
          <a:lstStyle/>
          <a:p>
            <a:pPr indent="0" marL="0">
              <a:buNone/>
            </a:pPr>
            <a:r>
              <a:rPr lang="en-US" sz="1100" b="1" dirty="0">
                <a:solidFill>
                  <a:srgbClr val="58DFC7"/>
                </a:solidFill>
                <a:latin typeface="Aptos" pitchFamily="34" charset="0"/>
                <a:ea typeface="Aptos" pitchFamily="34" charset="-122"/>
                <a:cs typeface="Aptos" pitchFamily="34" charset="-120"/>
              </a:rPr>
              <a:t>≥75 pursue  ·  50–74 nurture  ·  &lt;50 exclude</a:t>
            </a:r>
            <a:endParaRPr lang="en-US" sz="1100" dirty="0"/>
          </a:p>
        </p:txBody>
      </p:sp>
      <p:sp>
        <p:nvSpPr>
          <p:cNvPr id="41" name="Shape 39"/>
          <p:cNvSpPr/>
          <p:nvPr/>
        </p:nvSpPr>
        <p:spPr>
          <a:xfrm>
            <a:off x="530352" y="5779008"/>
            <a:ext cx="11100816" cy="448056"/>
          </a:xfrm>
          <a:prstGeom prst="roundRect">
            <a:avLst>
              <a:gd name="adj" fmla="val 26531"/>
            </a:avLst>
          </a:prstGeom>
          <a:solidFill>
            <a:srgbClr val="122639"/>
          </a:solidFill>
          <a:ln w="12700">
            <a:solidFill>
              <a:srgbClr val="122639"/>
            </a:solidFill>
            <a:prstDash val="solid"/>
          </a:ln>
        </p:spPr>
      </p:sp>
      <p:sp>
        <p:nvSpPr>
          <p:cNvPr id="42" name="Text 40"/>
          <p:cNvSpPr/>
          <p:nvPr/>
        </p:nvSpPr>
        <p:spPr>
          <a:xfrm>
            <a:off x="704088" y="5888736"/>
            <a:ext cx="10698480" cy="201168"/>
          </a:xfrm>
          <a:prstGeom prst="rect">
            <a:avLst/>
          </a:prstGeom>
          <a:noFill/>
          <a:ln/>
        </p:spPr>
        <p:txBody>
          <a:bodyPr wrap="square" lIns="0" tIns="0" rIns="0" bIns="0" rtlCol="0" anchor="ctr">
            <a:normAutofit/>
          </a:bodyPr>
          <a:lstStyle/>
          <a:p>
            <a:pPr indent="0" marL="0">
              <a:buNone/>
            </a:pPr>
            <a:r>
              <a:rPr lang="en-US" sz="1040" dirty="0">
                <a:solidFill>
                  <a:srgbClr val="ADC0D0"/>
                </a:solidFill>
                <a:latin typeface="Aptos" pitchFamily="34" charset="0"/>
                <a:ea typeface="Aptos" pitchFamily="34" charset="-122"/>
                <a:cs typeface="Aptos" pitchFamily="34" charset="-120"/>
              </a:rPr>
              <a:t>Pilot metros: DFW + Atlanta are hypotheses only. Verify 100 parent accounts/metro; rank by reachable ICP buyers per research hour.</a:t>
            </a:r>
            <a:endParaRPr lang="en-US" sz="10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84632" y="265176"/>
            <a:ext cx="5486400" cy="219456"/>
          </a:xfrm>
          <a:prstGeom prst="rect">
            <a:avLst/>
          </a:prstGeom>
          <a:noFill/>
          <a:ln/>
        </p:spPr>
        <p:txBody>
          <a:bodyPr wrap="square" lIns="0" tIns="0" rIns="0" bIns="0" rtlCol="0" anchor="ctr">
            <a:normAutofit/>
          </a:bodyPr>
          <a:lstStyle/>
          <a:p>
            <a:pPr indent="0" marL="0">
              <a:buNone/>
            </a:pPr>
            <a:r>
              <a:rPr lang="en-US" sz="1000" b="1" spc="150" kern="0" dirty="0">
                <a:solidFill>
                  <a:srgbClr val="58DFC7"/>
                </a:solidFill>
                <a:latin typeface="Aptos" pitchFamily="34" charset="0"/>
                <a:ea typeface="Aptos" pitchFamily="34" charset="-122"/>
                <a:cs typeface="Aptos" pitchFamily="34" charset="-120"/>
              </a:rPr>
              <a:t>QUICK  /  US GO-TO-MARKET</a:t>
            </a:r>
            <a:endParaRPr lang="en-US" sz="1000" dirty="0"/>
          </a:p>
        </p:txBody>
      </p:sp>
      <p:sp>
        <p:nvSpPr>
          <p:cNvPr id="3" name="Text 1"/>
          <p:cNvSpPr/>
          <p:nvPr/>
        </p:nvSpPr>
        <p:spPr>
          <a:xfrm>
            <a:off x="10607040" y="265176"/>
            <a:ext cx="1051560" cy="219456"/>
          </a:xfrm>
          <a:prstGeom prst="rect">
            <a:avLst/>
          </a:prstGeom>
          <a:noFill/>
          <a:ln/>
        </p:spPr>
        <p:txBody>
          <a:bodyPr wrap="square" lIns="0" tIns="0" rIns="0" bIns="0" rtlCol="0" anchor="ctr">
            <a:normAutofit/>
          </a:bodyPr>
          <a:lstStyle/>
          <a:p>
            <a:pPr algn="r" indent="0" marL="0">
              <a:buNone/>
            </a:pPr>
            <a:r>
              <a:rPr lang="en-US" sz="1000" dirty="0">
                <a:solidFill>
                  <a:srgbClr val="ADC0D0"/>
                </a:solidFill>
                <a:latin typeface="Aptos" pitchFamily="34" charset="0"/>
                <a:ea typeface="Aptos" pitchFamily="34" charset="-122"/>
                <a:cs typeface="Aptos" pitchFamily="34" charset="-120"/>
              </a:rPr>
              <a:t>03 / 09</a:t>
            </a:r>
            <a:endParaRPr lang="en-US" sz="1000" dirty="0"/>
          </a:p>
        </p:txBody>
      </p:sp>
      <p:sp>
        <p:nvSpPr>
          <p:cNvPr id="4" name="Shape 2"/>
          <p:cNvSpPr/>
          <p:nvPr/>
        </p:nvSpPr>
        <p:spPr>
          <a:xfrm>
            <a:off x="484632" y="621792"/>
            <a:ext cx="11219688" cy="0"/>
          </a:xfrm>
          <a:prstGeom prst="line">
            <a:avLst/>
          </a:prstGeom>
          <a:noFill/>
          <a:ln w="12700">
            <a:solidFill>
              <a:srgbClr val="30475A"/>
            </a:solidFill>
            <a:prstDash val="solid"/>
          </a:ln>
        </p:spPr>
      </p:sp>
      <p:sp>
        <p:nvSpPr>
          <p:cNvPr id="5" name="Text 3"/>
          <p:cNvSpPr/>
          <p:nvPr/>
        </p:nvSpPr>
        <p:spPr>
          <a:xfrm>
            <a:off x="484632" y="777240"/>
            <a:ext cx="11201400" cy="484632"/>
          </a:xfrm>
          <a:prstGeom prst="rect">
            <a:avLst/>
          </a:prstGeom>
          <a:noFill/>
          <a:ln/>
        </p:spPr>
        <p:txBody>
          <a:bodyPr wrap="square" lIns="0" tIns="0" rIns="0" bIns="0" rtlCol="0" anchor="ctr">
            <a:normAutofit/>
          </a:bodyPr>
          <a:lstStyle/>
          <a:p>
            <a:pPr indent="0" marL="0">
              <a:buNone/>
            </a:pPr>
            <a:r>
              <a:rPr lang="en-US" sz="2400" b="1" dirty="0">
                <a:solidFill>
                  <a:srgbClr val="F2F7FB"/>
                </a:solidFill>
                <a:latin typeface="Aptos" pitchFamily="34" charset="0"/>
                <a:ea typeface="Aptos" pitchFamily="34" charset="-122"/>
                <a:cs typeface="Aptos" pitchFamily="34" charset="-120"/>
              </a:rPr>
              <a:t>Sell one reliable operating picture across every location.</a:t>
            </a:r>
            <a:endParaRPr lang="en-US" sz="2400" dirty="0"/>
          </a:p>
        </p:txBody>
      </p:sp>
      <p:sp>
        <p:nvSpPr>
          <p:cNvPr id="6" name="Text 4"/>
          <p:cNvSpPr/>
          <p:nvPr/>
        </p:nvSpPr>
        <p:spPr>
          <a:xfrm>
            <a:off x="484632" y="1307592"/>
            <a:ext cx="11155680" cy="320040"/>
          </a:xfrm>
          <a:prstGeom prst="rect">
            <a:avLst/>
          </a:prstGeom>
          <a:noFill/>
          <a:ln/>
        </p:spPr>
        <p:txBody>
          <a:bodyPr wrap="square" lIns="0" tIns="0" rIns="0" bIns="0" rtlCol="0" anchor="ctr">
            <a:normAutofit/>
          </a:bodyPr>
          <a:lstStyle/>
          <a:p>
            <a:pPr indent="0" marL="0">
              <a:buNone/>
            </a:pPr>
            <a:r>
              <a:rPr lang="en-US" sz="1120" dirty="0">
                <a:solidFill>
                  <a:srgbClr val="ADC0D0"/>
                </a:solidFill>
                <a:latin typeface="Aptos" pitchFamily="34" charset="0"/>
                <a:ea typeface="Aptos" pitchFamily="34" charset="-122"/>
                <a:cs typeface="Aptos" pitchFamily="34" charset="-120"/>
              </a:rPr>
              <a:t>Proof first; AI/voice, payments, migrations and integrations remain gated by product verification.</a:t>
            </a:r>
            <a:endParaRPr lang="en-US" sz="1120" dirty="0"/>
          </a:p>
        </p:txBody>
      </p:sp>
      <p:sp>
        <p:nvSpPr>
          <p:cNvPr id="7" name="Shape 5"/>
          <p:cNvSpPr/>
          <p:nvPr/>
        </p:nvSpPr>
        <p:spPr>
          <a:xfrm>
            <a:off x="484632" y="6492240"/>
            <a:ext cx="11219688" cy="0"/>
          </a:xfrm>
          <a:prstGeom prst="line">
            <a:avLst/>
          </a:prstGeom>
          <a:noFill/>
          <a:ln w="12700">
            <a:solidFill>
              <a:srgbClr val="30475A"/>
            </a:solidFill>
            <a:prstDash val="solid"/>
          </a:ln>
        </p:spPr>
      </p:sp>
      <p:sp>
        <p:nvSpPr>
          <p:cNvPr id="8" name="Text 6"/>
          <p:cNvSpPr/>
          <p:nvPr/>
        </p:nvSpPr>
        <p:spPr>
          <a:xfrm>
            <a:off x="502920" y="6565392"/>
            <a:ext cx="8229600" cy="155448"/>
          </a:xfrm>
          <a:prstGeom prst="rect">
            <a:avLst/>
          </a:prstGeom>
          <a:noFill/>
          <a:ln/>
        </p:spPr>
        <p:txBody>
          <a:bodyPr wrap="square" lIns="0" tIns="0" rIns="0" bIns="0" rtlCol="0" anchor="ctr">
            <a:normAutofit/>
          </a:bodyPr>
          <a:lstStyle/>
          <a:p>
            <a:pPr indent="0" marL="0">
              <a:buNone/>
            </a:pPr>
            <a:r>
              <a:rPr lang="en-US" sz="810" spc="100" kern="0" dirty="0">
                <a:solidFill>
                  <a:srgbClr val="ADC0D0"/>
                </a:solidFill>
                <a:latin typeface="Aptos" pitchFamily="34" charset="0"/>
                <a:ea typeface="Aptos" pitchFamily="34" charset="-122"/>
                <a:cs typeface="Aptos" pitchFamily="34" charset="-120"/>
              </a:rPr>
              <a:t>POSITIONING / DEMAND ASSETS</a:t>
            </a:r>
            <a:endParaRPr lang="en-US" sz="810" dirty="0"/>
          </a:p>
        </p:txBody>
      </p:sp>
      <p:sp>
        <p:nvSpPr>
          <p:cNvPr id="9" name="Text 7"/>
          <p:cNvSpPr/>
          <p:nvPr/>
        </p:nvSpPr>
        <p:spPr>
          <a:xfrm>
            <a:off x="8092440" y="6565392"/>
            <a:ext cx="3611880" cy="155448"/>
          </a:xfrm>
          <a:prstGeom prst="rect">
            <a:avLst/>
          </a:prstGeom>
          <a:noFill/>
          <a:ln/>
        </p:spPr>
        <p:txBody>
          <a:bodyPr wrap="square" lIns="0" tIns="0" rIns="0" bIns="0" rtlCol="0" anchor="ctr">
            <a:normAutofit/>
          </a:bodyPr>
          <a:lstStyle/>
          <a:p>
            <a:pPr algn="r" indent="0" marL="0">
              <a:buNone/>
            </a:pPr>
            <a:r>
              <a:rPr lang="en-US" sz="750" dirty="0">
                <a:solidFill>
                  <a:srgbClr val="ADC0D0"/>
                </a:solidFill>
                <a:latin typeface="Aptos" pitchFamily="34" charset="0"/>
                <a:ea typeface="Aptos" pitchFamily="34" charset="-122"/>
                <a:cs typeface="Aptos" pitchFamily="34" charset="-120"/>
              </a:rPr>
              <a:t>Prepared 13 Oct 2026 · decision proposal, not company results</a:t>
            </a:r>
            <a:endParaRPr lang="en-US" sz="750" dirty="0"/>
          </a:p>
        </p:txBody>
      </p:sp>
      <p:sp>
        <p:nvSpPr>
          <p:cNvPr id="10" name="Shape 8"/>
          <p:cNvSpPr/>
          <p:nvPr/>
        </p:nvSpPr>
        <p:spPr>
          <a:xfrm>
            <a:off x="530352" y="1837944"/>
            <a:ext cx="11100816" cy="630936"/>
          </a:xfrm>
          <a:prstGeom prst="roundRect">
            <a:avLst>
              <a:gd name="adj" fmla="val 18841"/>
            </a:avLst>
          </a:prstGeom>
          <a:solidFill>
            <a:srgbClr val="19354A"/>
          </a:solidFill>
          <a:ln w="12700">
            <a:solidFill>
              <a:srgbClr val="19354A"/>
            </a:solidFill>
            <a:prstDash val="solid"/>
          </a:ln>
        </p:spPr>
      </p:sp>
      <p:sp>
        <p:nvSpPr>
          <p:cNvPr id="11" name="Text 9"/>
          <p:cNvSpPr/>
          <p:nvPr/>
        </p:nvSpPr>
        <p:spPr>
          <a:xfrm>
            <a:off x="758952" y="1965960"/>
            <a:ext cx="10643616" cy="347472"/>
          </a:xfrm>
          <a:prstGeom prst="rect">
            <a:avLst/>
          </a:prstGeom>
          <a:noFill/>
          <a:ln/>
        </p:spPr>
        <p:txBody>
          <a:bodyPr wrap="square" lIns="0" tIns="0" rIns="0" bIns="0" rtlCol="0" anchor="ctr">
            <a:normAutofit/>
          </a:bodyPr>
          <a:lstStyle/>
          <a:p>
            <a:pPr indent="0" marL="0">
              <a:buNone/>
            </a:pPr>
            <a:r>
              <a:rPr lang="en-US" sz="1650" b="1" dirty="0">
                <a:solidFill>
                  <a:srgbClr val="F2F7FB"/>
                </a:solidFill>
                <a:latin typeface="Aptos" pitchFamily="34" charset="0"/>
                <a:ea typeface="Aptos" pitchFamily="34" charset="-122"/>
                <a:cs typeface="Aptos" pitchFamily="34" charset="-120"/>
              </a:rPr>
              <a:t>“Run every store, order and pickup as one operation—without losing control as you expand.”</a:t>
            </a:r>
            <a:endParaRPr lang="en-US" sz="1650" dirty="0"/>
          </a:p>
        </p:txBody>
      </p:sp>
      <p:sp>
        <p:nvSpPr>
          <p:cNvPr id="12" name="Text 10"/>
          <p:cNvSpPr/>
          <p:nvPr/>
        </p:nvSpPr>
        <p:spPr>
          <a:xfrm>
            <a:off x="640080" y="2688336"/>
            <a:ext cx="10058400" cy="265176"/>
          </a:xfrm>
          <a:prstGeom prst="rect">
            <a:avLst/>
          </a:prstGeom>
          <a:noFill/>
          <a:ln/>
        </p:spPr>
        <p:txBody>
          <a:bodyPr wrap="square" lIns="0" tIns="0" rIns="0" bIns="0" rtlCol="0" anchor="ctr">
            <a:normAutofit/>
          </a:bodyPr>
          <a:lstStyle/>
          <a:p>
            <a:pPr indent="0" marL="0">
              <a:buNone/>
            </a:pPr>
            <a:r>
              <a:rPr lang="en-US" sz="1300" b="1" dirty="0">
                <a:solidFill>
                  <a:srgbClr val="58DFC7"/>
                </a:solidFill>
                <a:latin typeface="Aptos" pitchFamily="34" charset="0"/>
                <a:ea typeface="Aptos" pitchFamily="34" charset="-122"/>
                <a:cs typeface="Aptos" pitchFamily="34" charset="-120"/>
              </a:rPr>
              <a:t>5 demand assets  →  their buyer action  →  signal</a:t>
            </a:r>
            <a:endParaRPr lang="en-US" sz="1300" dirty="0"/>
          </a:p>
        </p:txBody>
      </p:sp>
      <p:sp>
        <p:nvSpPr>
          <p:cNvPr id="13" name="Shape 11"/>
          <p:cNvSpPr/>
          <p:nvPr/>
        </p:nvSpPr>
        <p:spPr>
          <a:xfrm>
            <a:off x="548640" y="3081528"/>
            <a:ext cx="11064240" cy="420624"/>
          </a:xfrm>
          <a:prstGeom prst="roundRect">
            <a:avLst>
              <a:gd name="adj" fmla="val 13043"/>
            </a:avLst>
          </a:prstGeom>
          <a:solidFill>
            <a:srgbClr val="122639"/>
          </a:solidFill>
          <a:ln w="12700">
            <a:solidFill>
              <a:srgbClr val="122639"/>
            </a:solidFill>
            <a:prstDash val="solid"/>
          </a:ln>
        </p:spPr>
      </p:sp>
      <p:sp>
        <p:nvSpPr>
          <p:cNvPr id="14" name="Text 12"/>
          <p:cNvSpPr/>
          <p:nvPr/>
        </p:nvSpPr>
        <p:spPr>
          <a:xfrm>
            <a:off x="713232" y="3172968"/>
            <a:ext cx="5559552" cy="219456"/>
          </a:xfrm>
          <a:prstGeom prst="rect">
            <a:avLst/>
          </a:prstGeom>
          <a:noFill/>
          <a:ln/>
        </p:spPr>
        <p:txBody>
          <a:bodyPr wrap="square" lIns="0" tIns="0" rIns="0" bIns="0" rtlCol="0" anchor="ctr">
            <a:normAutofit/>
          </a:bodyPr>
          <a:lstStyle/>
          <a:p>
            <a:pPr indent="0" marL="0">
              <a:buNone/>
            </a:pPr>
            <a:r>
              <a:rPr lang="en-US" sz="1085" b="1" dirty="0">
                <a:solidFill>
                  <a:srgbClr val="F2F7FB"/>
                </a:solidFill>
                <a:latin typeface="Aptos" pitchFamily="34" charset="0"/>
                <a:ea typeface="Aptos" pitchFamily="34" charset="-122"/>
                <a:cs typeface="Aptos" pitchFamily="34" charset="-120"/>
              </a:rPr>
              <a:t>01  5-Store Profit Leakage Calculator</a:t>
            </a:r>
            <a:endParaRPr lang="en-US" sz="1085" dirty="0"/>
          </a:p>
        </p:txBody>
      </p:sp>
      <p:sp>
        <p:nvSpPr>
          <p:cNvPr id="15" name="Text 13"/>
          <p:cNvSpPr/>
          <p:nvPr/>
        </p:nvSpPr>
        <p:spPr>
          <a:xfrm>
            <a:off x="6419088" y="3172968"/>
            <a:ext cx="2514600" cy="219456"/>
          </a:xfrm>
          <a:prstGeom prst="rect">
            <a:avLst/>
          </a:prstGeom>
          <a:noFill/>
          <a:ln/>
        </p:spPr>
        <p:txBody>
          <a:bodyPr wrap="square" lIns="0" tIns="0" rIns="0" bIns="0" rtlCol="0" anchor="ctr">
            <a:normAutofit/>
          </a:bodyPr>
          <a:lstStyle/>
          <a:p>
            <a:pPr indent="0" marL="0">
              <a:buNone/>
            </a:pPr>
            <a:r>
              <a:rPr lang="en-US" sz="990" dirty="0">
                <a:solidFill>
                  <a:srgbClr val="F3C77A"/>
                </a:solidFill>
                <a:latin typeface="Aptos" pitchFamily="34" charset="0"/>
                <a:ea typeface="Aptos" pitchFamily="34" charset="-122"/>
                <a:cs typeface="Aptos" pitchFamily="34" charset="-120"/>
              </a:rPr>
              <a:t>Custom ops assessment</a:t>
            </a:r>
            <a:endParaRPr lang="en-US" sz="990" dirty="0"/>
          </a:p>
        </p:txBody>
      </p:sp>
      <p:sp>
        <p:nvSpPr>
          <p:cNvPr id="16" name="Text 14"/>
          <p:cNvSpPr/>
          <p:nvPr/>
        </p:nvSpPr>
        <p:spPr>
          <a:xfrm>
            <a:off x="9272016" y="3172968"/>
            <a:ext cx="2103120" cy="219456"/>
          </a:xfrm>
          <a:prstGeom prst="rect">
            <a:avLst/>
          </a:prstGeom>
          <a:noFill/>
          <a:ln/>
        </p:spPr>
        <p:txBody>
          <a:bodyPr wrap="square" lIns="0" tIns="0" rIns="0" bIns="0" rtlCol="0" anchor="ctr">
            <a:normAutofit/>
          </a:bodyPr>
          <a:lstStyle/>
          <a:p>
            <a:pPr indent="0" marL="0">
              <a:buNone/>
            </a:pPr>
            <a:r>
              <a:rPr lang="en-US" sz="970" dirty="0">
                <a:solidFill>
                  <a:srgbClr val="ADC0D0"/>
                </a:solidFill>
                <a:latin typeface="Aptos" pitchFamily="34" charset="0"/>
                <a:ea typeface="Aptos" pitchFamily="34" charset="-122"/>
                <a:cs typeface="Aptos" pitchFamily="34" charset="-120"/>
              </a:rPr>
              <a:t>Verified ICP SQLs</a:t>
            </a:r>
            <a:endParaRPr lang="en-US" sz="970" dirty="0"/>
          </a:p>
        </p:txBody>
      </p:sp>
      <p:sp>
        <p:nvSpPr>
          <p:cNvPr id="17" name="Shape 15"/>
          <p:cNvSpPr/>
          <p:nvPr/>
        </p:nvSpPr>
        <p:spPr>
          <a:xfrm>
            <a:off x="548640" y="3593592"/>
            <a:ext cx="11064240" cy="420624"/>
          </a:xfrm>
          <a:prstGeom prst="roundRect">
            <a:avLst>
              <a:gd name="adj" fmla="val 13043"/>
            </a:avLst>
          </a:prstGeom>
          <a:solidFill>
            <a:srgbClr val="102130"/>
          </a:solidFill>
          <a:ln w="12700">
            <a:solidFill>
              <a:srgbClr val="102130"/>
            </a:solidFill>
            <a:prstDash val="solid"/>
          </a:ln>
        </p:spPr>
      </p:sp>
      <p:sp>
        <p:nvSpPr>
          <p:cNvPr id="18" name="Text 16"/>
          <p:cNvSpPr/>
          <p:nvPr/>
        </p:nvSpPr>
        <p:spPr>
          <a:xfrm>
            <a:off x="713232" y="3685032"/>
            <a:ext cx="5559552" cy="219456"/>
          </a:xfrm>
          <a:prstGeom prst="rect">
            <a:avLst/>
          </a:prstGeom>
          <a:noFill/>
          <a:ln/>
        </p:spPr>
        <p:txBody>
          <a:bodyPr wrap="square" lIns="0" tIns="0" rIns="0" bIns="0" rtlCol="0" anchor="ctr">
            <a:normAutofit/>
          </a:bodyPr>
          <a:lstStyle/>
          <a:p>
            <a:pPr indent="0" marL="0">
              <a:buNone/>
            </a:pPr>
            <a:r>
              <a:rPr lang="en-US" sz="1085" b="1" dirty="0">
                <a:solidFill>
                  <a:srgbClr val="F2F7FB"/>
                </a:solidFill>
                <a:latin typeface="Aptos" pitchFamily="34" charset="0"/>
                <a:ea typeface="Aptos" pitchFamily="34" charset="-122"/>
                <a:cs typeface="Aptos" pitchFamily="34" charset="-120"/>
              </a:rPr>
              <a:t>02  A Multi-Store Manager’s Morning Dashboard</a:t>
            </a:r>
            <a:endParaRPr lang="en-US" sz="1085" dirty="0"/>
          </a:p>
        </p:txBody>
      </p:sp>
      <p:sp>
        <p:nvSpPr>
          <p:cNvPr id="19" name="Text 17"/>
          <p:cNvSpPr/>
          <p:nvPr/>
        </p:nvSpPr>
        <p:spPr>
          <a:xfrm>
            <a:off x="6419088" y="3685032"/>
            <a:ext cx="2514600" cy="219456"/>
          </a:xfrm>
          <a:prstGeom prst="rect">
            <a:avLst/>
          </a:prstGeom>
          <a:noFill/>
          <a:ln/>
        </p:spPr>
        <p:txBody>
          <a:bodyPr wrap="square" lIns="0" tIns="0" rIns="0" bIns="0" rtlCol="0" anchor="ctr">
            <a:normAutofit/>
          </a:bodyPr>
          <a:lstStyle/>
          <a:p>
            <a:pPr indent="0" marL="0">
              <a:buNone/>
            </a:pPr>
            <a:r>
              <a:rPr lang="en-US" sz="990" dirty="0">
                <a:solidFill>
                  <a:srgbClr val="F3C77A"/>
                </a:solidFill>
                <a:latin typeface="Aptos" pitchFamily="34" charset="0"/>
                <a:ea typeface="Aptos" pitchFamily="34" charset="-122"/>
                <a:cs typeface="Aptos" pitchFamily="34" charset="-120"/>
              </a:rPr>
              <a:t>Branch scorecard demo</a:t>
            </a:r>
            <a:endParaRPr lang="en-US" sz="990" dirty="0"/>
          </a:p>
        </p:txBody>
      </p:sp>
      <p:sp>
        <p:nvSpPr>
          <p:cNvPr id="20" name="Text 18"/>
          <p:cNvSpPr/>
          <p:nvPr/>
        </p:nvSpPr>
        <p:spPr>
          <a:xfrm>
            <a:off x="9272016" y="3685032"/>
            <a:ext cx="2103120" cy="219456"/>
          </a:xfrm>
          <a:prstGeom prst="rect">
            <a:avLst/>
          </a:prstGeom>
          <a:noFill/>
          <a:ln/>
        </p:spPr>
        <p:txBody>
          <a:bodyPr wrap="square" lIns="0" tIns="0" rIns="0" bIns="0" rtlCol="0" anchor="ctr">
            <a:normAutofit/>
          </a:bodyPr>
          <a:lstStyle/>
          <a:p>
            <a:pPr indent="0" marL="0">
              <a:buNone/>
            </a:pPr>
            <a:r>
              <a:rPr lang="en-US" sz="970" dirty="0">
                <a:solidFill>
                  <a:srgbClr val="ADC0D0"/>
                </a:solidFill>
                <a:latin typeface="Aptos" pitchFamily="34" charset="0"/>
                <a:ea typeface="Aptos" pitchFamily="34" charset="-122"/>
                <a:cs typeface="Aptos" pitchFamily="34" charset="-120"/>
              </a:rPr>
              <a:t>Held-demo→SQL rate</a:t>
            </a:r>
            <a:endParaRPr lang="en-US" sz="970" dirty="0"/>
          </a:p>
        </p:txBody>
      </p:sp>
      <p:sp>
        <p:nvSpPr>
          <p:cNvPr id="21" name="Shape 19"/>
          <p:cNvSpPr/>
          <p:nvPr/>
        </p:nvSpPr>
        <p:spPr>
          <a:xfrm>
            <a:off x="548640" y="4105656"/>
            <a:ext cx="11064240" cy="420624"/>
          </a:xfrm>
          <a:prstGeom prst="roundRect">
            <a:avLst>
              <a:gd name="adj" fmla="val 13043"/>
            </a:avLst>
          </a:prstGeom>
          <a:solidFill>
            <a:srgbClr val="122639"/>
          </a:solidFill>
          <a:ln w="12700">
            <a:solidFill>
              <a:srgbClr val="122639"/>
            </a:solidFill>
            <a:prstDash val="solid"/>
          </a:ln>
        </p:spPr>
      </p:sp>
      <p:sp>
        <p:nvSpPr>
          <p:cNvPr id="22" name="Text 20"/>
          <p:cNvSpPr/>
          <p:nvPr/>
        </p:nvSpPr>
        <p:spPr>
          <a:xfrm>
            <a:off x="713232" y="4197096"/>
            <a:ext cx="5559552" cy="219456"/>
          </a:xfrm>
          <a:prstGeom prst="rect">
            <a:avLst/>
          </a:prstGeom>
          <a:noFill/>
          <a:ln/>
        </p:spPr>
        <p:txBody>
          <a:bodyPr wrap="square" lIns="0" tIns="0" rIns="0" bIns="0" rtlCol="0" anchor="ctr">
            <a:normAutofit/>
          </a:bodyPr>
          <a:lstStyle/>
          <a:p>
            <a:pPr indent="0" marL="0">
              <a:buNone/>
            </a:pPr>
            <a:r>
              <a:rPr lang="en-US" sz="1085" b="1" dirty="0">
                <a:solidFill>
                  <a:srgbClr val="F2F7FB"/>
                </a:solidFill>
                <a:latin typeface="Aptos" pitchFamily="34" charset="0"/>
                <a:ea typeface="Aptos" pitchFamily="34" charset="-122"/>
                <a:cs typeface="Aptos" pitchFamily="34" charset="-120"/>
              </a:rPr>
              <a:t>03  Switching POS: Data, Tags, Payments, People</a:t>
            </a:r>
            <a:endParaRPr lang="en-US" sz="1085" dirty="0"/>
          </a:p>
        </p:txBody>
      </p:sp>
      <p:sp>
        <p:nvSpPr>
          <p:cNvPr id="23" name="Text 21"/>
          <p:cNvSpPr/>
          <p:nvPr/>
        </p:nvSpPr>
        <p:spPr>
          <a:xfrm>
            <a:off x="6419088" y="4197096"/>
            <a:ext cx="2514600" cy="219456"/>
          </a:xfrm>
          <a:prstGeom prst="rect">
            <a:avLst/>
          </a:prstGeom>
          <a:noFill/>
          <a:ln/>
        </p:spPr>
        <p:txBody>
          <a:bodyPr wrap="square" lIns="0" tIns="0" rIns="0" bIns="0" rtlCol="0" anchor="ctr">
            <a:normAutofit/>
          </a:bodyPr>
          <a:lstStyle/>
          <a:p>
            <a:pPr indent="0" marL="0">
              <a:buNone/>
            </a:pPr>
            <a:r>
              <a:rPr lang="en-US" sz="990" dirty="0">
                <a:solidFill>
                  <a:srgbClr val="F3C77A"/>
                </a:solidFill>
                <a:latin typeface="Aptos" pitchFamily="34" charset="0"/>
                <a:ea typeface="Aptos" pitchFamily="34" charset="-122"/>
                <a:cs typeface="Aptos" pitchFamily="34" charset="-120"/>
              </a:rPr>
              <a:t>Migration feasibility review</a:t>
            </a:r>
            <a:endParaRPr lang="en-US" sz="990" dirty="0"/>
          </a:p>
        </p:txBody>
      </p:sp>
      <p:sp>
        <p:nvSpPr>
          <p:cNvPr id="24" name="Text 22"/>
          <p:cNvSpPr/>
          <p:nvPr/>
        </p:nvSpPr>
        <p:spPr>
          <a:xfrm>
            <a:off x="9272016" y="4197096"/>
            <a:ext cx="2103120" cy="219456"/>
          </a:xfrm>
          <a:prstGeom prst="rect">
            <a:avLst/>
          </a:prstGeom>
          <a:noFill/>
          <a:ln/>
        </p:spPr>
        <p:txBody>
          <a:bodyPr wrap="square" lIns="0" tIns="0" rIns="0" bIns="0" rtlCol="0" anchor="ctr">
            <a:normAutofit/>
          </a:bodyPr>
          <a:lstStyle/>
          <a:p>
            <a:pPr indent="0" marL="0">
              <a:buNone/>
            </a:pPr>
            <a:r>
              <a:rPr lang="en-US" sz="970" dirty="0">
                <a:solidFill>
                  <a:srgbClr val="ADC0D0"/>
                </a:solidFill>
                <a:latin typeface="Aptos" pitchFamily="34" charset="0"/>
                <a:ea typeface="Aptos" pitchFamily="34" charset="-122"/>
                <a:cs typeface="Aptos" pitchFamily="34" charset="-120"/>
              </a:rPr>
              <a:t>Objections resolved</a:t>
            </a:r>
            <a:endParaRPr lang="en-US" sz="970" dirty="0"/>
          </a:p>
        </p:txBody>
      </p:sp>
      <p:sp>
        <p:nvSpPr>
          <p:cNvPr id="25" name="Shape 23"/>
          <p:cNvSpPr/>
          <p:nvPr/>
        </p:nvSpPr>
        <p:spPr>
          <a:xfrm>
            <a:off x="548640" y="4617720"/>
            <a:ext cx="11064240" cy="420624"/>
          </a:xfrm>
          <a:prstGeom prst="roundRect">
            <a:avLst>
              <a:gd name="adj" fmla="val 13043"/>
            </a:avLst>
          </a:prstGeom>
          <a:solidFill>
            <a:srgbClr val="102130"/>
          </a:solidFill>
          <a:ln w="12700">
            <a:solidFill>
              <a:srgbClr val="102130"/>
            </a:solidFill>
            <a:prstDash val="solid"/>
          </a:ln>
        </p:spPr>
      </p:sp>
      <p:sp>
        <p:nvSpPr>
          <p:cNvPr id="26" name="Text 24"/>
          <p:cNvSpPr/>
          <p:nvPr/>
        </p:nvSpPr>
        <p:spPr>
          <a:xfrm>
            <a:off x="713232" y="4709160"/>
            <a:ext cx="5559552" cy="219456"/>
          </a:xfrm>
          <a:prstGeom prst="rect">
            <a:avLst/>
          </a:prstGeom>
          <a:noFill/>
          <a:ln/>
        </p:spPr>
        <p:txBody>
          <a:bodyPr wrap="square" lIns="0" tIns="0" rIns="0" bIns="0" rtlCol="0" anchor="ctr">
            <a:normAutofit/>
          </a:bodyPr>
          <a:lstStyle/>
          <a:p>
            <a:pPr indent="0" marL="0">
              <a:buNone/>
            </a:pPr>
            <a:r>
              <a:rPr lang="en-US" sz="1085" b="1" dirty="0">
                <a:solidFill>
                  <a:srgbClr val="F2F7FB"/>
                </a:solidFill>
                <a:latin typeface="Aptos" pitchFamily="34" charset="0"/>
                <a:ea typeface="Aptos" pitchFamily="34" charset="-122"/>
                <a:cs typeface="Aptos" pitchFamily="34" charset="-120"/>
              </a:rPr>
              <a:t>04  One Customer / Five Stores: Where Orders Break</a:t>
            </a:r>
            <a:endParaRPr lang="en-US" sz="1085" dirty="0"/>
          </a:p>
        </p:txBody>
      </p:sp>
      <p:sp>
        <p:nvSpPr>
          <p:cNvPr id="27" name="Text 25"/>
          <p:cNvSpPr/>
          <p:nvPr/>
        </p:nvSpPr>
        <p:spPr>
          <a:xfrm>
            <a:off x="6419088" y="4709160"/>
            <a:ext cx="2514600" cy="219456"/>
          </a:xfrm>
          <a:prstGeom prst="rect">
            <a:avLst/>
          </a:prstGeom>
          <a:noFill/>
          <a:ln/>
        </p:spPr>
        <p:txBody>
          <a:bodyPr wrap="square" lIns="0" tIns="0" rIns="0" bIns="0" rtlCol="0" anchor="ctr">
            <a:normAutofit/>
          </a:bodyPr>
          <a:lstStyle/>
          <a:p>
            <a:pPr indent="0" marL="0">
              <a:buNone/>
            </a:pPr>
            <a:r>
              <a:rPr lang="en-US" sz="990" dirty="0">
                <a:solidFill>
                  <a:srgbClr val="F3C77A"/>
                </a:solidFill>
                <a:latin typeface="Aptos" pitchFamily="34" charset="0"/>
                <a:ea typeface="Aptos" pitchFamily="34" charset="-122"/>
                <a:cs typeface="Aptos" pitchFamily="34" charset="-120"/>
              </a:rPr>
              <a:t>Map your order flow</a:t>
            </a:r>
            <a:endParaRPr lang="en-US" sz="990" dirty="0"/>
          </a:p>
        </p:txBody>
      </p:sp>
      <p:sp>
        <p:nvSpPr>
          <p:cNvPr id="28" name="Text 26"/>
          <p:cNvSpPr/>
          <p:nvPr/>
        </p:nvSpPr>
        <p:spPr>
          <a:xfrm>
            <a:off x="9272016" y="4709160"/>
            <a:ext cx="2103120" cy="219456"/>
          </a:xfrm>
          <a:prstGeom prst="rect">
            <a:avLst/>
          </a:prstGeom>
          <a:noFill/>
          <a:ln/>
        </p:spPr>
        <p:txBody>
          <a:bodyPr wrap="square" lIns="0" tIns="0" rIns="0" bIns="0" rtlCol="0" anchor="ctr">
            <a:normAutofit/>
          </a:bodyPr>
          <a:lstStyle/>
          <a:p>
            <a:pPr indent="0" marL="0">
              <a:buNone/>
            </a:pPr>
            <a:r>
              <a:rPr lang="en-US" sz="970" dirty="0">
                <a:solidFill>
                  <a:srgbClr val="ADC0D0"/>
                </a:solidFill>
                <a:latin typeface="Aptos" pitchFamily="34" charset="0"/>
                <a:ea typeface="Aptos" pitchFamily="34" charset="-122"/>
                <a:cs typeface="Aptos" pitchFamily="34" charset="-120"/>
              </a:rPr>
              <a:t>Qualified pain conversations</a:t>
            </a:r>
            <a:endParaRPr lang="en-US" sz="970" dirty="0"/>
          </a:p>
        </p:txBody>
      </p:sp>
      <p:sp>
        <p:nvSpPr>
          <p:cNvPr id="29" name="Shape 27"/>
          <p:cNvSpPr/>
          <p:nvPr/>
        </p:nvSpPr>
        <p:spPr>
          <a:xfrm>
            <a:off x="548640" y="5129784"/>
            <a:ext cx="11064240" cy="420624"/>
          </a:xfrm>
          <a:prstGeom prst="roundRect">
            <a:avLst>
              <a:gd name="adj" fmla="val 13043"/>
            </a:avLst>
          </a:prstGeom>
          <a:solidFill>
            <a:srgbClr val="122639"/>
          </a:solidFill>
          <a:ln w="12700">
            <a:solidFill>
              <a:srgbClr val="122639"/>
            </a:solidFill>
            <a:prstDash val="solid"/>
          </a:ln>
        </p:spPr>
      </p:sp>
      <p:sp>
        <p:nvSpPr>
          <p:cNvPr id="30" name="Text 28"/>
          <p:cNvSpPr/>
          <p:nvPr/>
        </p:nvSpPr>
        <p:spPr>
          <a:xfrm>
            <a:off x="713232" y="5221224"/>
            <a:ext cx="5559552" cy="219456"/>
          </a:xfrm>
          <a:prstGeom prst="rect">
            <a:avLst/>
          </a:prstGeom>
          <a:noFill/>
          <a:ln/>
        </p:spPr>
        <p:txBody>
          <a:bodyPr wrap="square" lIns="0" tIns="0" rIns="0" bIns="0" rtlCol="0" anchor="ctr">
            <a:normAutofit/>
          </a:bodyPr>
          <a:lstStyle/>
          <a:p>
            <a:pPr indent="0" marL="0">
              <a:buNone/>
            </a:pPr>
            <a:r>
              <a:rPr lang="en-US" sz="1085" b="1" dirty="0">
                <a:solidFill>
                  <a:srgbClr val="F2F7FB"/>
                </a:solidFill>
                <a:latin typeface="Aptos" pitchFamily="34" charset="0"/>
                <a:ea typeface="Aptos" pitchFamily="34" charset="-122"/>
                <a:cs typeface="Aptos" pitchFamily="34" charset="-120"/>
              </a:rPr>
              <a:t>05  At-Risk Repeat Customers Without Spam</a:t>
            </a:r>
            <a:endParaRPr lang="en-US" sz="1085" dirty="0"/>
          </a:p>
        </p:txBody>
      </p:sp>
      <p:sp>
        <p:nvSpPr>
          <p:cNvPr id="31" name="Text 29"/>
          <p:cNvSpPr/>
          <p:nvPr/>
        </p:nvSpPr>
        <p:spPr>
          <a:xfrm>
            <a:off x="6419088" y="5221224"/>
            <a:ext cx="2514600" cy="219456"/>
          </a:xfrm>
          <a:prstGeom prst="rect">
            <a:avLst/>
          </a:prstGeom>
          <a:noFill/>
          <a:ln/>
        </p:spPr>
        <p:txBody>
          <a:bodyPr wrap="square" lIns="0" tIns="0" rIns="0" bIns="0" rtlCol="0" anchor="ctr">
            <a:normAutofit/>
          </a:bodyPr>
          <a:lstStyle/>
          <a:p>
            <a:pPr indent="0" marL="0">
              <a:buNone/>
            </a:pPr>
            <a:r>
              <a:rPr lang="en-US" sz="990" dirty="0">
                <a:solidFill>
                  <a:srgbClr val="F3C77A"/>
                </a:solidFill>
                <a:latin typeface="Aptos" pitchFamily="34" charset="0"/>
                <a:ea typeface="Aptos" pitchFamily="34" charset="-122"/>
                <a:cs typeface="Aptos" pitchFamily="34" charset="-120"/>
              </a:rPr>
              <a:t>Retention workflow review</a:t>
            </a:r>
            <a:endParaRPr lang="en-US" sz="990" dirty="0"/>
          </a:p>
        </p:txBody>
      </p:sp>
      <p:sp>
        <p:nvSpPr>
          <p:cNvPr id="32" name="Text 30"/>
          <p:cNvSpPr/>
          <p:nvPr/>
        </p:nvSpPr>
        <p:spPr>
          <a:xfrm>
            <a:off x="9272016" y="5221224"/>
            <a:ext cx="2103120" cy="219456"/>
          </a:xfrm>
          <a:prstGeom prst="rect">
            <a:avLst/>
          </a:prstGeom>
          <a:noFill/>
          <a:ln/>
        </p:spPr>
        <p:txBody>
          <a:bodyPr wrap="square" lIns="0" tIns="0" rIns="0" bIns="0" rtlCol="0" anchor="ctr">
            <a:normAutofit/>
          </a:bodyPr>
          <a:lstStyle/>
          <a:p>
            <a:pPr indent="0" marL="0">
              <a:buNone/>
            </a:pPr>
            <a:r>
              <a:rPr lang="en-US" sz="970" dirty="0">
                <a:solidFill>
                  <a:srgbClr val="ADC0D0"/>
                </a:solidFill>
                <a:latin typeface="Aptos" pitchFamily="34" charset="0"/>
                <a:ea typeface="Aptos" pitchFamily="34" charset="-122"/>
                <a:cs typeface="Aptos" pitchFamily="34" charset="-120"/>
              </a:rPr>
              <a:t>Opportunities influenced</a:t>
            </a:r>
            <a:endParaRPr lang="en-US" sz="970" dirty="0"/>
          </a:p>
        </p:txBody>
      </p:sp>
      <p:sp>
        <p:nvSpPr>
          <p:cNvPr id="33" name="Shape 31"/>
          <p:cNvSpPr/>
          <p:nvPr/>
        </p:nvSpPr>
        <p:spPr>
          <a:xfrm>
            <a:off x="548640" y="5806440"/>
            <a:ext cx="11064240" cy="429768"/>
          </a:xfrm>
          <a:prstGeom prst="roundRect">
            <a:avLst>
              <a:gd name="adj" fmla="val 27660"/>
            </a:avLst>
          </a:prstGeom>
          <a:solidFill>
            <a:srgbClr val="122639"/>
          </a:solidFill>
          <a:ln w="12700">
            <a:solidFill>
              <a:srgbClr val="122639"/>
            </a:solidFill>
            <a:prstDash val="solid"/>
          </a:ln>
        </p:spPr>
      </p:sp>
      <p:sp>
        <p:nvSpPr>
          <p:cNvPr id="34" name="Text 32"/>
          <p:cNvSpPr/>
          <p:nvPr/>
        </p:nvSpPr>
        <p:spPr>
          <a:xfrm>
            <a:off x="722376" y="5907024"/>
            <a:ext cx="10753344" cy="210312"/>
          </a:xfrm>
          <a:prstGeom prst="rect">
            <a:avLst/>
          </a:prstGeom>
          <a:noFill/>
          <a:ln/>
        </p:spPr>
        <p:txBody>
          <a:bodyPr wrap="square" lIns="0" tIns="0" rIns="0" bIns="0" rtlCol="0" anchor="ctr">
            <a:normAutofit/>
          </a:bodyPr>
          <a:lstStyle/>
          <a:p>
            <a:pPr indent="0" marL="0">
              <a:buNone/>
            </a:pPr>
            <a:r>
              <a:rPr lang="en-US" sz="1030" b="1" dirty="0">
                <a:solidFill>
                  <a:srgbClr val="58DFC7"/>
                </a:solidFill>
                <a:latin typeface="Aptos" pitchFamily="34" charset="0"/>
                <a:ea typeface="Aptos" pitchFamily="34" charset="-122"/>
                <a:cs typeface="Aptos" pitchFamily="34" charset="-120"/>
              </a:rPr>
              <a:t>ILLUSTRATIVE CAPACITY  5 stores × 0.5 hr/day × 26 days × $18 loaded wage = $1,170/month, not proven cash savings.</a:t>
            </a:r>
            <a:endParaRPr lang="en-US" sz="10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84632" y="265176"/>
            <a:ext cx="5486400" cy="219456"/>
          </a:xfrm>
          <a:prstGeom prst="rect">
            <a:avLst/>
          </a:prstGeom>
          <a:noFill/>
          <a:ln/>
        </p:spPr>
        <p:txBody>
          <a:bodyPr wrap="square" lIns="0" tIns="0" rIns="0" bIns="0" rtlCol="0" anchor="ctr">
            <a:normAutofit/>
          </a:bodyPr>
          <a:lstStyle/>
          <a:p>
            <a:pPr indent="0" marL="0">
              <a:buNone/>
            </a:pPr>
            <a:r>
              <a:rPr lang="en-US" sz="1000" b="1" spc="150" kern="0" dirty="0">
                <a:solidFill>
                  <a:srgbClr val="58DFC7"/>
                </a:solidFill>
                <a:latin typeface="Aptos" pitchFamily="34" charset="0"/>
                <a:ea typeface="Aptos" pitchFamily="34" charset="-122"/>
                <a:cs typeface="Aptos" pitchFamily="34" charset="-120"/>
              </a:rPr>
              <a:t>QUICK  /  US GO-TO-MARKET</a:t>
            </a:r>
            <a:endParaRPr lang="en-US" sz="1000" dirty="0"/>
          </a:p>
        </p:txBody>
      </p:sp>
      <p:sp>
        <p:nvSpPr>
          <p:cNvPr id="3" name="Text 1"/>
          <p:cNvSpPr/>
          <p:nvPr/>
        </p:nvSpPr>
        <p:spPr>
          <a:xfrm>
            <a:off x="10607040" y="265176"/>
            <a:ext cx="1051560" cy="219456"/>
          </a:xfrm>
          <a:prstGeom prst="rect">
            <a:avLst/>
          </a:prstGeom>
          <a:noFill/>
          <a:ln/>
        </p:spPr>
        <p:txBody>
          <a:bodyPr wrap="square" lIns="0" tIns="0" rIns="0" bIns="0" rtlCol="0" anchor="ctr">
            <a:normAutofit/>
          </a:bodyPr>
          <a:lstStyle/>
          <a:p>
            <a:pPr algn="r" indent="0" marL="0">
              <a:buNone/>
            </a:pPr>
            <a:r>
              <a:rPr lang="en-US" sz="1000" dirty="0">
                <a:solidFill>
                  <a:srgbClr val="ADC0D0"/>
                </a:solidFill>
                <a:latin typeface="Aptos" pitchFamily="34" charset="0"/>
                <a:ea typeface="Aptos" pitchFamily="34" charset="-122"/>
                <a:cs typeface="Aptos" pitchFamily="34" charset="-120"/>
              </a:rPr>
              <a:t>04 / 09</a:t>
            </a:r>
            <a:endParaRPr lang="en-US" sz="1000" dirty="0"/>
          </a:p>
        </p:txBody>
      </p:sp>
      <p:sp>
        <p:nvSpPr>
          <p:cNvPr id="4" name="Shape 2"/>
          <p:cNvSpPr/>
          <p:nvPr/>
        </p:nvSpPr>
        <p:spPr>
          <a:xfrm>
            <a:off x="484632" y="621792"/>
            <a:ext cx="11219688" cy="0"/>
          </a:xfrm>
          <a:prstGeom prst="line">
            <a:avLst/>
          </a:prstGeom>
          <a:noFill/>
          <a:ln w="12700">
            <a:solidFill>
              <a:srgbClr val="30475A"/>
            </a:solidFill>
            <a:prstDash val="solid"/>
          </a:ln>
        </p:spPr>
      </p:sp>
      <p:sp>
        <p:nvSpPr>
          <p:cNvPr id="5" name="Text 3"/>
          <p:cNvSpPr/>
          <p:nvPr/>
        </p:nvSpPr>
        <p:spPr>
          <a:xfrm>
            <a:off x="484632" y="777240"/>
            <a:ext cx="11201400" cy="484632"/>
          </a:xfrm>
          <a:prstGeom prst="rect">
            <a:avLst/>
          </a:prstGeom>
          <a:noFill/>
          <a:ln/>
        </p:spPr>
        <p:txBody>
          <a:bodyPr wrap="square" lIns="0" tIns="0" rIns="0" bIns="0" rtlCol="0" anchor="ctr">
            <a:normAutofit/>
          </a:bodyPr>
          <a:lstStyle/>
          <a:p>
            <a:pPr indent="0" marL="0">
              <a:buNone/>
            </a:pPr>
            <a:r>
              <a:rPr lang="en-US" sz="2400" b="1" dirty="0">
                <a:solidFill>
                  <a:srgbClr val="F2F7FB"/>
                </a:solidFill>
                <a:latin typeface="Aptos" pitchFamily="34" charset="0"/>
                <a:ea typeface="Aptos" pitchFamily="34" charset="-122"/>
                <a:cs typeface="Aptos" pitchFamily="34" charset="-120"/>
              </a:rPr>
              <a:t>Choose channels by ICP-qualified opportunity cost—not CPL.</a:t>
            </a:r>
            <a:endParaRPr lang="en-US" sz="2400" dirty="0"/>
          </a:p>
        </p:txBody>
      </p:sp>
      <p:sp>
        <p:nvSpPr>
          <p:cNvPr id="6" name="Text 4"/>
          <p:cNvSpPr/>
          <p:nvPr/>
        </p:nvSpPr>
        <p:spPr>
          <a:xfrm>
            <a:off x="484632" y="1307592"/>
            <a:ext cx="11155680" cy="320040"/>
          </a:xfrm>
          <a:prstGeom prst="rect">
            <a:avLst/>
          </a:prstGeom>
          <a:noFill/>
          <a:ln/>
        </p:spPr>
        <p:txBody>
          <a:bodyPr wrap="square" lIns="0" tIns="0" rIns="0" bIns="0" rtlCol="0" anchor="ctr">
            <a:normAutofit/>
          </a:bodyPr>
          <a:lstStyle/>
          <a:p>
            <a:pPr indent="0" marL="0">
              <a:buNone/>
            </a:pPr>
            <a:r>
              <a:rPr lang="en-US" sz="1120" dirty="0">
                <a:solidFill>
                  <a:srgbClr val="ADC0D0"/>
                </a:solidFill>
                <a:latin typeface="Aptos" pitchFamily="34" charset="0"/>
                <a:ea typeface="Aptos" pitchFamily="34" charset="-122"/>
                <a:cs typeface="Aptos" pitchFamily="34" charset="-120"/>
              </a:rPr>
              <a:t>Search captures intent; named accounts control fit; partners transfer trust; Meta supports proof.</a:t>
            </a:r>
            <a:endParaRPr lang="en-US" sz="1120" dirty="0"/>
          </a:p>
        </p:txBody>
      </p:sp>
      <p:sp>
        <p:nvSpPr>
          <p:cNvPr id="7" name="Shape 5"/>
          <p:cNvSpPr/>
          <p:nvPr/>
        </p:nvSpPr>
        <p:spPr>
          <a:xfrm>
            <a:off x="484632" y="6492240"/>
            <a:ext cx="11219688" cy="0"/>
          </a:xfrm>
          <a:prstGeom prst="line">
            <a:avLst/>
          </a:prstGeom>
          <a:noFill/>
          <a:ln w="12700">
            <a:solidFill>
              <a:srgbClr val="30475A"/>
            </a:solidFill>
            <a:prstDash val="solid"/>
          </a:ln>
        </p:spPr>
      </p:sp>
      <p:sp>
        <p:nvSpPr>
          <p:cNvPr id="8" name="Text 6"/>
          <p:cNvSpPr/>
          <p:nvPr/>
        </p:nvSpPr>
        <p:spPr>
          <a:xfrm>
            <a:off x="502920" y="6565392"/>
            <a:ext cx="8229600" cy="155448"/>
          </a:xfrm>
          <a:prstGeom prst="rect">
            <a:avLst/>
          </a:prstGeom>
          <a:noFill/>
          <a:ln/>
        </p:spPr>
        <p:txBody>
          <a:bodyPr wrap="square" lIns="0" tIns="0" rIns="0" bIns="0" rtlCol="0" anchor="ctr">
            <a:normAutofit/>
          </a:bodyPr>
          <a:lstStyle/>
          <a:p>
            <a:pPr indent="0" marL="0">
              <a:buNone/>
            </a:pPr>
            <a:r>
              <a:rPr lang="en-US" sz="810" spc="100" kern="0" dirty="0">
                <a:solidFill>
                  <a:srgbClr val="ADC0D0"/>
                </a:solidFill>
                <a:latin typeface="Aptos" pitchFamily="34" charset="0"/>
                <a:ea typeface="Aptos" pitchFamily="34" charset="-122"/>
                <a:cs typeface="Aptos" pitchFamily="34" charset="-120"/>
              </a:rPr>
              <a:t>CHANNEL ALLOCATION / HYPOTHESES</a:t>
            </a:r>
            <a:endParaRPr lang="en-US" sz="810" dirty="0"/>
          </a:p>
        </p:txBody>
      </p:sp>
      <p:sp>
        <p:nvSpPr>
          <p:cNvPr id="9" name="Text 7"/>
          <p:cNvSpPr/>
          <p:nvPr/>
        </p:nvSpPr>
        <p:spPr>
          <a:xfrm>
            <a:off x="8092440" y="6565392"/>
            <a:ext cx="3611880" cy="155448"/>
          </a:xfrm>
          <a:prstGeom prst="rect">
            <a:avLst/>
          </a:prstGeom>
          <a:noFill/>
          <a:ln/>
        </p:spPr>
        <p:txBody>
          <a:bodyPr wrap="square" lIns="0" tIns="0" rIns="0" bIns="0" rtlCol="0" anchor="ctr">
            <a:normAutofit/>
          </a:bodyPr>
          <a:lstStyle/>
          <a:p>
            <a:pPr algn="r" indent="0" marL="0">
              <a:buNone/>
            </a:pPr>
            <a:r>
              <a:rPr lang="en-US" sz="750" dirty="0">
                <a:solidFill>
                  <a:srgbClr val="ADC0D0"/>
                </a:solidFill>
                <a:latin typeface="Aptos" pitchFamily="34" charset="0"/>
                <a:ea typeface="Aptos" pitchFamily="34" charset="-122"/>
                <a:cs typeface="Aptos" pitchFamily="34" charset="-120"/>
              </a:rPr>
              <a:t>Prepared 13 Oct 2026 · decision proposal, not company results</a:t>
            </a:r>
            <a:endParaRPr lang="en-US" sz="750" dirty="0"/>
          </a:p>
        </p:txBody>
      </p:sp>
      <p:sp>
        <p:nvSpPr>
          <p:cNvPr id="10" name="Text 8"/>
          <p:cNvSpPr/>
          <p:nvPr/>
        </p:nvSpPr>
        <p:spPr>
          <a:xfrm>
            <a:off x="658368" y="1965960"/>
            <a:ext cx="2834640" cy="256032"/>
          </a:xfrm>
          <a:prstGeom prst="rect">
            <a:avLst/>
          </a:prstGeom>
          <a:noFill/>
          <a:ln/>
        </p:spPr>
        <p:txBody>
          <a:bodyPr wrap="square" lIns="0" tIns="0" rIns="0" bIns="0" rtlCol="0" anchor="ctr">
            <a:normAutofit/>
          </a:bodyPr>
          <a:lstStyle/>
          <a:p>
            <a:pPr indent="0" marL="0">
              <a:buNone/>
            </a:pPr>
            <a:r>
              <a:rPr lang="en-US" sz="1000" b="1" dirty="0">
                <a:solidFill>
                  <a:srgbClr val="58DFC7"/>
                </a:solidFill>
                <a:latin typeface="Aptos" pitchFamily="34" charset="0"/>
                <a:ea typeface="Aptos" pitchFamily="34" charset="-122"/>
                <a:cs typeface="Aptos" pitchFamily="34" charset="-120"/>
              </a:rPr>
              <a:t>CHANNEL / PRIORITY</a:t>
            </a:r>
            <a:endParaRPr lang="en-US" sz="1000" dirty="0"/>
          </a:p>
        </p:txBody>
      </p:sp>
      <p:sp>
        <p:nvSpPr>
          <p:cNvPr id="11" name="Text 9"/>
          <p:cNvSpPr/>
          <p:nvPr/>
        </p:nvSpPr>
        <p:spPr>
          <a:xfrm>
            <a:off x="3749040" y="1965960"/>
            <a:ext cx="2514600" cy="256032"/>
          </a:xfrm>
          <a:prstGeom prst="rect">
            <a:avLst/>
          </a:prstGeom>
          <a:noFill/>
          <a:ln/>
        </p:spPr>
        <p:txBody>
          <a:bodyPr wrap="square" lIns="0" tIns="0" rIns="0" bIns="0" rtlCol="0" anchor="ctr">
            <a:normAutofit/>
          </a:bodyPr>
          <a:lstStyle/>
          <a:p>
            <a:pPr indent="0" marL="0">
              <a:buNone/>
            </a:pPr>
            <a:r>
              <a:rPr lang="en-US" sz="1000" b="1" dirty="0">
                <a:solidFill>
                  <a:srgbClr val="58DFC7"/>
                </a:solidFill>
                <a:latin typeface="Aptos" pitchFamily="34" charset="0"/>
                <a:ea typeface="Aptos" pitchFamily="34" charset="-122"/>
                <a:cs typeface="Aptos" pitchFamily="34" charset="-120"/>
              </a:rPr>
              <a:t>WHY IT MIGHT WIN</a:t>
            </a:r>
            <a:endParaRPr lang="en-US" sz="1000" dirty="0"/>
          </a:p>
        </p:txBody>
      </p:sp>
      <p:sp>
        <p:nvSpPr>
          <p:cNvPr id="12" name="Text 10"/>
          <p:cNvSpPr/>
          <p:nvPr/>
        </p:nvSpPr>
        <p:spPr>
          <a:xfrm>
            <a:off x="6510528" y="1965960"/>
            <a:ext cx="2560320" cy="256032"/>
          </a:xfrm>
          <a:prstGeom prst="rect">
            <a:avLst/>
          </a:prstGeom>
          <a:noFill/>
          <a:ln/>
        </p:spPr>
        <p:txBody>
          <a:bodyPr wrap="square" lIns="0" tIns="0" rIns="0" bIns="0" rtlCol="0" anchor="ctr">
            <a:normAutofit/>
          </a:bodyPr>
          <a:lstStyle/>
          <a:p>
            <a:pPr indent="0" marL="0">
              <a:buNone/>
            </a:pPr>
            <a:r>
              <a:rPr lang="en-US" sz="1000" b="1" dirty="0">
                <a:solidFill>
                  <a:srgbClr val="58DFC7"/>
                </a:solidFill>
                <a:latin typeface="Aptos" pitchFamily="34" charset="0"/>
                <a:ea typeface="Aptos" pitchFamily="34" charset="-122"/>
                <a:cs typeface="Aptos" pitchFamily="34" charset="-120"/>
              </a:rPr>
              <a:t>FAILURE MODE</a:t>
            </a:r>
            <a:endParaRPr lang="en-US" sz="1000" dirty="0"/>
          </a:p>
        </p:txBody>
      </p:sp>
      <p:sp>
        <p:nvSpPr>
          <p:cNvPr id="13" name="Text 11"/>
          <p:cNvSpPr/>
          <p:nvPr/>
        </p:nvSpPr>
        <p:spPr>
          <a:xfrm>
            <a:off x="9281160" y="1965960"/>
            <a:ext cx="2286000" cy="256032"/>
          </a:xfrm>
          <a:prstGeom prst="rect">
            <a:avLst/>
          </a:prstGeom>
          <a:noFill/>
          <a:ln/>
        </p:spPr>
        <p:txBody>
          <a:bodyPr wrap="square" lIns="0" tIns="0" rIns="0" bIns="0" rtlCol="0" anchor="ctr">
            <a:normAutofit/>
          </a:bodyPr>
          <a:lstStyle/>
          <a:p>
            <a:pPr indent="0" marL="0">
              <a:buNone/>
            </a:pPr>
            <a:r>
              <a:rPr lang="en-US" sz="1000" b="1" dirty="0">
                <a:solidFill>
                  <a:srgbClr val="58DFC7"/>
                </a:solidFill>
                <a:latin typeface="Aptos" pitchFamily="34" charset="0"/>
                <a:ea typeface="Aptos" pitchFamily="34" charset="-122"/>
                <a:cs typeface="Aptos" pitchFamily="34" charset="-120"/>
              </a:rPr>
              <a:t>DECISION SIGNAL</a:t>
            </a:r>
            <a:endParaRPr lang="en-US" sz="1000" dirty="0"/>
          </a:p>
        </p:txBody>
      </p:sp>
      <p:sp>
        <p:nvSpPr>
          <p:cNvPr id="14" name="Shape 12"/>
          <p:cNvSpPr/>
          <p:nvPr/>
        </p:nvSpPr>
        <p:spPr>
          <a:xfrm>
            <a:off x="576072" y="2304288"/>
            <a:ext cx="11036808" cy="0"/>
          </a:xfrm>
          <a:prstGeom prst="line">
            <a:avLst/>
          </a:prstGeom>
          <a:noFill/>
          <a:ln w="12700">
            <a:solidFill>
              <a:srgbClr val="30475A"/>
            </a:solidFill>
            <a:prstDash val="solid"/>
          </a:ln>
        </p:spPr>
      </p:sp>
      <p:sp>
        <p:nvSpPr>
          <p:cNvPr id="15" name="Shape 13"/>
          <p:cNvSpPr/>
          <p:nvPr/>
        </p:nvSpPr>
        <p:spPr>
          <a:xfrm>
            <a:off x="521208" y="2377440"/>
            <a:ext cx="11128248" cy="640080"/>
          </a:xfrm>
          <a:prstGeom prst="roundRect">
            <a:avLst>
              <a:gd name="adj" fmla="val 8571"/>
            </a:avLst>
          </a:prstGeom>
          <a:solidFill>
            <a:srgbClr val="12293B"/>
          </a:solidFill>
          <a:ln w="12700">
            <a:solidFill>
              <a:srgbClr val="12293B"/>
            </a:solidFill>
            <a:prstDash val="solid"/>
          </a:ln>
        </p:spPr>
      </p:sp>
      <p:sp>
        <p:nvSpPr>
          <p:cNvPr id="16" name="Text 14"/>
          <p:cNvSpPr/>
          <p:nvPr/>
        </p:nvSpPr>
        <p:spPr>
          <a:xfrm>
            <a:off x="658368" y="2441448"/>
            <a:ext cx="2926080" cy="521208"/>
          </a:xfrm>
          <a:prstGeom prst="rect">
            <a:avLst/>
          </a:prstGeom>
          <a:noFill/>
          <a:ln/>
        </p:spPr>
        <p:txBody>
          <a:bodyPr wrap="square" lIns="0" tIns="0" rIns="0" bIns="0" rtlCol="0" anchor="ctr">
            <a:normAutofit/>
          </a:bodyPr>
          <a:lstStyle/>
          <a:p>
            <a:pPr indent="0" marL="0">
              <a:buNone/>
            </a:pPr>
            <a:r>
              <a:rPr lang="en-US" sz="1100" b="1" dirty="0">
                <a:solidFill>
                  <a:srgbClr val="F2F7FB"/>
                </a:solidFill>
                <a:latin typeface="Aptos" pitchFamily="34" charset="0"/>
                <a:ea typeface="Aptos" pitchFamily="34" charset="-122"/>
                <a:cs typeface="Aptos" pitchFamily="34" charset="-120"/>
              </a:rPr>
              <a:t>01 Search (phrase/exact)</a:t>
            </a:r>
            <a:endParaRPr lang="en-US" sz="1100" dirty="0"/>
          </a:p>
        </p:txBody>
      </p:sp>
      <p:sp>
        <p:nvSpPr>
          <p:cNvPr id="17" name="Text 15"/>
          <p:cNvSpPr/>
          <p:nvPr/>
        </p:nvSpPr>
        <p:spPr>
          <a:xfrm>
            <a:off x="3749040" y="2441448"/>
            <a:ext cx="2560320" cy="521208"/>
          </a:xfrm>
          <a:prstGeom prst="rect">
            <a:avLst/>
          </a:prstGeom>
          <a:noFill/>
          <a:ln/>
        </p:spPr>
        <p:txBody>
          <a:bodyPr wrap="square" lIns="0" tIns="0" rIns="0" bIns="0" rtlCol="0" anchor="ctr">
            <a:normAutofit/>
          </a:bodyPr>
          <a:lstStyle/>
          <a:p>
            <a:pPr indent="0" marL="0">
              <a:buNone/>
            </a:pPr>
            <a:r>
              <a:rPr lang="en-US" sz="1050" dirty="0">
                <a:solidFill>
                  <a:srgbClr val="ADC0D0"/>
                </a:solidFill>
                <a:latin typeface="Aptos" pitchFamily="34" charset="0"/>
                <a:ea typeface="Aptos" pitchFamily="34" charset="-122"/>
                <a:cs typeface="Aptos" pitchFamily="34" charset="-120"/>
              </a:rPr>
              <a:t>Already shopping POS / software</a:t>
            </a:r>
            <a:endParaRPr lang="en-US" sz="1050" dirty="0"/>
          </a:p>
        </p:txBody>
      </p:sp>
      <p:sp>
        <p:nvSpPr>
          <p:cNvPr id="18" name="Text 16"/>
          <p:cNvSpPr/>
          <p:nvPr/>
        </p:nvSpPr>
        <p:spPr>
          <a:xfrm>
            <a:off x="6510528" y="2441448"/>
            <a:ext cx="2606040" cy="521208"/>
          </a:xfrm>
          <a:prstGeom prst="rect">
            <a:avLst/>
          </a:prstGeom>
          <a:noFill/>
          <a:ln/>
        </p:spPr>
        <p:txBody>
          <a:bodyPr wrap="square" lIns="0" tIns="0" rIns="0" bIns="0" rtlCol="0" anchor="ctr">
            <a:normAutofit/>
          </a:bodyPr>
          <a:lstStyle/>
          <a:p>
            <a:pPr indent="0" marL="0">
              <a:buNone/>
            </a:pPr>
            <a:r>
              <a:rPr lang="en-US" sz="1050" dirty="0">
                <a:solidFill>
                  <a:srgbClr val="ADC0D0"/>
                </a:solidFill>
                <a:latin typeface="Aptos" pitchFamily="34" charset="0"/>
                <a:ea typeface="Aptos" pitchFamily="34" charset="-122"/>
                <a:cs typeface="Aptos" pitchFamily="34" charset="-120"/>
              </a:rPr>
              <a:t>Low keyword volume; consumers</a:t>
            </a:r>
            <a:endParaRPr lang="en-US" sz="1050" dirty="0"/>
          </a:p>
        </p:txBody>
      </p:sp>
      <p:sp>
        <p:nvSpPr>
          <p:cNvPr id="19" name="Text 17"/>
          <p:cNvSpPr/>
          <p:nvPr/>
        </p:nvSpPr>
        <p:spPr>
          <a:xfrm>
            <a:off x="9281160" y="2441448"/>
            <a:ext cx="2304288" cy="521208"/>
          </a:xfrm>
          <a:prstGeom prst="rect">
            <a:avLst/>
          </a:prstGeom>
          <a:noFill/>
          <a:ln/>
        </p:spPr>
        <p:txBody>
          <a:bodyPr wrap="square" lIns="0" tIns="0" rIns="0" bIns="0" rtlCol="0" anchor="ctr">
            <a:normAutofit/>
          </a:bodyPr>
          <a:lstStyle/>
          <a:p>
            <a:pPr indent="0" marL="0">
              <a:buNone/>
            </a:pPr>
            <a:r>
              <a:rPr lang="en-US" sz="1050" dirty="0">
                <a:solidFill>
                  <a:srgbClr val="ADC0D0"/>
                </a:solidFill>
                <a:latin typeface="Aptos" pitchFamily="34" charset="0"/>
                <a:ea typeface="Aptos" pitchFamily="34" charset="-122"/>
                <a:cs typeface="Aptos" pitchFamily="34" charset="-120"/>
              </a:rPr>
              <a:t>Cost per accepted SQL</a:t>
            </a:r>
            <a:endParaRPr lang="en-US" sz="1050" dirty="0"/>
          </a:p>
        </p:txBody>
      </p:sp>
      <p:sp>
        <p:nvSpPr>
          <p:cNvPr id="20" name="Shape 18"/>
          <p:cNvSpPr/>
          <p:nvPr/>
        </p:nvSpPr>
        <p:spPr>
          <a:xfrm>
            <a:off x="521208" y="3063240"/>
            <a:ext cx="11128248" cy="640080"/>
          </a:xfrm>
          <a:prstGeom prst="roundRect">
            <a:avLst>
              <a:gd name="adj" fmla="val 8571"/>
            </a:avLst>
          </a:prstGeom>
          <a:solidFill>
            <a:srgbClr val="102234"/>
          </a:solidFill>
          <a:ln w="12700">
            <a:solidFill>
              <a:srgbClr val="102234"/>
            </a:solidFill>
            <a:prstDash val="solid"/>
          </a:ln>
        </p:spPr>
      </p:sp>
      <p:sp>
        <p:nvSpPr>
          <p:cNvPr id="21" name="Text 19"/>
          <p:cNvSpPr/>
          <p:nvPr/>
        </p:nvSpPr>
        <p:spPr>
          <a:xfrm>
            <a:off x="658368" y="3127248"/>
            <a:ext cx="2926080" cy="521208"/>
          </a:xfrm>
          <a:prstGeom prst="rect">
            <a:avLst/>
          </a:prstGeom>
          <a:noFill/>
          <a:ln/>
        </p:spPr>
        <p:txBody>
          <a:bodyPr wrap="square" lIns="0" tIns="0" rIns="0" bIns="0" rtlCol="0" anchor="ctr">
            <a:normAutofit/>
          </a:bodyPr>
          <a:lstStyle/>
          <a:p>
            <a:pPr indent="0" marL="0">
              <a:buNone/>
            </a:pPr>
            <a:r>
              <a:rPr lang="en-US" sz="1100" b="1" dirty="0">
                <a:solidFill>
                  <a:srgbClr val="F2F7FB"/>
                </a:solidFill>
                <a:latin typeface="Aptos" pitchFamily="34" charset="0"/>
                <a:ea typeface="Aptos" pitchFamily="34" charset="-122"/>
                <a:cs typeface="Aptos" pitchFamily="34" charset="-120"/>
              </a:rPr>
              <a:t>02 200-account outbound</a:t>
            </a:r>
            <a:endParaRPr lang="en-US" sz="1100" dirty="0"/>
          </a:p>
        </p:txBody>
      </p:sp>
      <p:sp>
        <p:nvSpPr>
          <p:cNvPr id="22" name="Text 20"/>
          <p:cNvSpPr/>
          <p:nvPr/>
        </p:nvSpPr>
        <p:spPr>
          <a:xfrm>
            <a:off x="3749040" y="3127248"/>
            <a:ext cx="2560320" cy="521208"/>
          </a:xfrm>
          <a:prstGeom prst="rect">
            <a:avLst/>
          </a:prstGeom>
          <a:noFill/>
          <a:ln/>
        </p:spPr>
        <p:txBody>
          <a:bodyPr wrap="square" lIns="0" tIns="0" rIns="0" bIns="0" rtlCol="0" anchor="ctr">
            <a:normAutofit/>
          </a:bodyPr>
          <a:lstStyle/>
          <a:p>
            <a:pPr indent="0" marL="0">
              <a:buNone/>
            </a:pPr>
            <a:r>
              <a:rPr lang="en-US" sz="1050" dirty="0">
                <a:solidFill>
                  <a:srgbClr val="ADC0D0"/>
                </a:solidFill>
                <a:latin typeface="Aptos" pitchFamily="34" charset="0"/>
                <a:ea typeface="Aptos" pitchFamily="34" charset="-122"/>
                <a:cs typeface="Aptos" pitchFamily="34" charset="-120"/>
              </a:rPr>
              <a:t>Verified 3–10-site buyer list</a:t>
            </a:r>
            <a:endParaRPr lang="en-US" sz="1050" dirty="0"/>
          </a:p>
        </p:txBody>
      </p:sp>
      <p:sp>
        <p:nvSpPr>
          <p:cNvPr id="23" name="Text 21"/>
          <p:cNvSpPr/>
          <p:nvPr/>
        </p:nvSpPr>
        <p:spPr>
          <a:xfrm>
            <a:off x="6510528" y="3127248"/>
            <a:ext cx="2606040" cy="521208"/>
          </a:xfrm>
          <a:prstGeom prst="rect">
            <a:avLst/>
          </a:prstGeom>
          <a:noFill/>
          <a:ln/>
        </p:spPr>
        <p:txBody>
          <a:bodyPr wrap="square" lIns="0" tIns="0" rIns="0" bIns="0" rtlCol="0" anchor="ctr">
            <a:normAutofit/>
          </a:bodyPr>
          <a:lstStyle/>
          <a:p>
            <a:pPr indent="0" marL="0">
              <a:buNone/>
            </a:pPr>
            <a:r>
              <a:rPr lang="en-US" sz="1050" dirty="0">
                <a:solidFill>
                  <a:srgbClr val="ADC0D0"/>
                </a:solidFill>
                <a:latin typeface="Aptos" pitchFamily="34" charset="0"/>
                <a:ea typeface="Aptos" pitchFamily="34" charset="-122"/>
                <a:cs typeface="Aptos" pitchFamily="34" charset="-120"/>
              </a:rPr>
              <a:t>High research/sales time</a:t>
            </a:r>
            <a:endParaRPr lang="en-US" sz="1050" dirty="0"/>
          </a:p>
        </p:txBody>
      </p:sp>
      <p:sp>
        <p:nvSpPr>
          <p:cNvPr id="24" name="Text 22"/>
          <p:cNvSpPr/>
          <p:nvPr/>
        </p:nvSpPr>
        <p:spPr>
          <a:xfrm>
            <a:off x="9281160" y="3127248"/>
            <a:ext cx="2304288" cy="521208"/>
          </a:xfrm>
          <a:prstGeom prst="rect">
            <a:avLst/>
          </a:prstGeom>
          <a:noFill/>
          <a:ln/>
        </p:spPr>
        <p:txBody>
          <a:bodyPr wrap="square" lIns="0" tIns="0" rIns="0" bIns="0" rtlCol="0" anchor="ctr">
            <a:normAutofit/>
          </a:bodyPr>
          <a:lstStyle/>
          <a:p>
            <a:pPr indent="0" marL="0">
              <a:buNone/>
            </a:pPr>
            <a:r>
              <a:rPr lang="en-US" sz="1050" dirty="0">
                <a:solidFill>
                  <a:srgbClr val="ADC0D0"/>
                </a:solidFill>
                <a:latin typeface="Aptos" pitchFamily="34" charset="0"/>
                <a:ea typeface="Aptos" pitchFamily="34" charset="-122"/>
                <a:cs typeface="Aptos" pitchFamily="34" charset="-120"/>
              </a:rPr>
              <a:t>ICP meetings + SQLs</a:t>
            </a:r>
            <a:endParaRPr lang="en-US" sz="1050" dirty="0"/>
          </a:p>
        </p:txBody>
      </p:sp>
      <p:sp>
        <p:nvSpPr>
          <p:cNvPr id="25" name="Shape 23"/>
          <p:cNvSpPr/>
          <p:nvPr/>
        </p:nvSpPr>
        <p:spPr>
          <a:xfrm>
            <a:off x="521208" y="3749040"/>
            <a:ext cx="11128248" cy="640080"/>
          </a:xfrm>
          <a:prstGeom prst="roundRect">
            <a:avLst>
              <a:gd name="adj" fmla="val 8571"/>
            </a:avLst>
          </a:prstGeom>
          <a:solidFill>
            <a:srgbClr val="12293B"/>
          </a:solidFill>
          <a:ln w="12700">
            <a:solidFill>
              <a:srgbClr val="12293B"/>
            </a:solidFill>
            <a:prstDash val="solid"/>
          </a:ln>
        </p:spPr>
      </p:sp>
      <p:sp>
        <p:nvSpPr>
          <p:cNvPr id="26" name="Text 24"/>
          <p:cNvSpPr/>
          <p:nvPr/>
        </p:nvSpPr>
        <p:spPr>
          <a:xfrm>
            <a:off x="658368" y="3813048"/>
            <a:ext cx="2926080" cy="521208"/>
          </a:xfrm>
          <a:prstGeom prst="rect">
            <a:avLst/>
          </a:prstGeom>
          <a:noFill/>
          <a:ln/>
        </p:spPr>
        <p:txBody>
          <a:bodyPr wrap="square" lIns="0" tIns="0" rIns="0" bIns="0" rtlCol="0" anchor="ctr">
            <a:normAutofit/>
          </a:bodyPr>
          <a:lstStyle/>
          <a:p>
            <a:pPr indent="0" marL="0">
              <a:buNone/>
            </a:pPr>
            <a:r>
              <a:rPr lang="en-US" sz="1100" b="1" dirty="0">
                <a:solidFill>
                  <a:srgbClr val="F2F7FB"/>
                </a:solidFill>
                <a:latin typeface="Aptos" pitchFamily="34" charset="0"/>
                <a:ea typeface="Aptos" pitchFamily="34" charset="-122"/>
                <a:cs typeface="Aptos" pitchFamily="34" charset="-120"/>
              </a:rPr>
              <a:t>03 Niche partners</a:t>
            </a:r>
            <a:endParaRPr lang="en-US" sz="1100" dirty="0"/>
          </a:p>
        </p:txBody>
      </p:sp>
      <p:sp>
        <p:nvSpPr>
          <p:cNvPr id="27" name="Text 25"/>
          <p:cNvSpPr/>
          <p:nvPr/>
        </p:nvSpPr>
        <p:spPr>
          <a:xfrm>
            <a:off x="3749040" y="3813048"/>
            <a:ext cx="2560320" cy="521208"/>
          </a:xfrm>
          <a:prstGeom prst="rect">
            <a:avLst/>
          </a:prstGeom>
          <a:noFill/>
          <a:ln/>
        </p:spPr>
        <p:txBody>
          <a:bodyPr wrap="square" lIns="0" tIns="0" rIns="0" bIns="0" rtlCol="0" anchor="ctr">
            <a:normAutofit/>
          </a:bodyPr>
          <a:lstStyle/>
          <a:p>
            <a:pPr indent="0" marL="0">
              <a:buNone/>
            </a:pPr>
            <a:r>
              <a:rPr lang="en-US" sz="1050" dirty="0">
                <a:solidFill>
                  <a:srgbClr val="ADC0D0"/>
                </a:solidFill>
                <a:latin typeface="Aptos" pitchFamily="34" charset="0"/>
                <a:ea typeface="Aptos" pitchFamily="34" charset="-122"/>
                <a:cs typeface="Aptos" pitchFamily="34" charset="-120"/>
              </a:rPr>
              <a:t>High-context referrals</a:t>
            </a:r>
            <a:endParaRPr lang="en-US" sz="1050" dirty="0"/>
          </a:p>
        </p:txBody>
      </p:sp>
      <p:sp>
        <p:nvSpPr>
          <p:cNvPr id="28" name="Text 26"/>
          <p:cNvSpPr/>
          <p:nvPr/>
        </p:nvSpPr>
        <p:spPr>
          <a:xfrm>
            <a:off x="6510528" y="3813048"/>
            <a:ext cx="2606040" cy="521208"/>
          </a:xfrm>
          <a:prstGeom prst="rect">
            <a:avLst/>
          </a:prstGeom>
          <a:noFill/>
          <a:ln/>
        </p:spPr>
        <p:txBody>
          <a:bodyPr wrap="square" lIns="0" tIns="0" rIns="0" bIns="0" rtlCol="0" anchor="ctr">
            <a:normAutofit/>
          </a:bodyPr>
          <a:lstStyle/>
          <a:p>
            <a:pPr indent="0" marL="0">
              <a:buNone/>
            </a:pPr>
            <a:r>
              <a:rPr lang="en-US" sz="1050" dirty="0">
                <a:solidFill>
                  <a:srgbClr val="ADC0D0"/>
                </a:solidFill>
                <a:latin typeface="Aptos" pitchFamily="34" charset="0"/>
                <a:ea typeface="Aptos" pitchFamily="34" charset="-122"/>
                <a:cs typeface="Aptos" pitchFamily="34" charset="-120"/>
              </a:rPr>
              <a:t>No real partner access</a:t>
            </a:r>
            <a:endParaRPr lang="en-US" sz="1050" dirty="0"/>
          </a:p>
        </p:txBody>
      </p:sp>
      <p:sp>
        <p:nvSpPr>
          <p:cNvPr id="29" name="Text 27"/>
          <p:cNvSpPr/>
          <p:nvPr/>
        </p:nvSpPr>
        <p:spPr>
          <a:xfrm>
            <a:off x="9281160" y="3813048"/>
            <a:ext cx="2304288" cy="521208"/>
          </a:xfrm>
          <a:prstGeom prst="rect">
            <a:avLst/>
          </a:prstGeom>
          <a:noFill/>
          <a:ln/>
        </p:spPr>
        <p:txBody>
          <a:bodyPr wrap="square" lIns="0" tIns="0" rIns="0" bIns="0" rtlCol="0" anchor="ctr">
            <a:normAutofit/>
          </a:bodyPr>
          <a:lstStyle/>
          <a:p>
            <a:pPr indent="0" marL="0">
              <a:buNone/>
            </a:pPr>
            <a:r>
              <a:rPr lang="en-US" sz="1050" dirty="0">
                <a:solidFill>
                  <a:srgbClr val="ADC0D0"/>
                </a:solidFill>
                <a:latin typeface="Aptos" pitchFamily="34" charset="0"/>
                <a:ea typeface="Aptos" pitchFamily="34" charset="-122"/>
                <a:cs typeface="Aptos" pitchFamily="34" charset="-120"/>
              </a:rPr>
              <a:t>Introductions → SQLs</a:t>
            </a:r>
            <a:endParaRPr lang="en-US" sz="1050" dirty="0"/>
          </a:p>
        </p:txBody>
      </p:sp>
      <p:sp>
        <p:nvSpPr>
          <p:cNvPr id="30" name="Shape 28"/>
          <p:cNvSpPr/>
          <p:nvPr/>
        </p:nvSpPr>
        <p:spPr>
          <a:xfrm>
            <a:off x="521208" y="4434840"/>
            <a:ext cx="11128248" cy="640080"/>
          </a:xfrm>
          <a:prstGeom prst="roundRect">
            <a:avLst>
              <a:gd name="adj" fmla="val 8571"/>
            </a:avLst>
          </a:prstGeom>
          <a:solidFill>
            <a:srgbClr val="102234"/>
          </a:solidFill>
          <a:ln w="12700">
            <a:solidFill>
              <a:srgbClr val="102234"/>
            </a:solidFill>
            <a:prstDash val="solid"/>
          </a:ln>
        </p:spPr>
      </p:sp>
      <p:sp>
        <p:nvSpPr>
          <p:cNvPr id="31" name="Text 29"/>
          <p:cNvSpPr/>
          <p:nvPr/>
        </p:nvSpPr>
        <p:spPr>
          <a:xfrm>
            <a:off x="658368" y="4498848"/>
            <a:ext cx="2926080" cy="521208"/>
          </a:xfrm>
          <a:prstGeom prst="rect">
            <a:avLst/>
          </a:prstGeom>
          <a:noFill/>
          <a:ln/>
        </p:spPr>
        <p:txBody>
          <a:bodyPr wrap="square" lIns="0" tIns="0" rIns="0" bIns="0" rtlCol="0" anchor="ctr">
            <a:normAutofit/>
          </a:bodyPr>
          <a:lstStyle/>
          <a:p>
            <a:pPr indent="0" marL="0">
              <a:buNone/>
            </a:pPr>
            <a:r>
              <a:rPr lang="en-US" sz="1100" b="1" dirty="0">
                <a:solidFill>
                  <a:srgbClr val="F2F7FB"/>
                </a:solidFill>
                <a:latin typeface="Aptos" pitchFamily="34" charset="0"/>
                <a:ea typeface="Aptos" pitchFamily="34" charset="-122"/>
                <a:cs typeface="Aptos" pitchFamily="34" charset="-120"/>
              </a:rPr>
              <a:t>04 Meta retargeting</a:t>
            </a:r>
            <a:endParaRPr lang="en-US" sz="1100" dirty="0"/>
          </a:p>
        </p:txBody>
      </p:sp>
      <p:sp>
        <p:nvSpPr>
          <p:cNvPr id="32" name="Text 30"/>
          <p:cNvSpPr/>
          <p:nvPr/>
        </p:nvSpPr>
        <p:spPr>
          <a:xfrm>
            <a:off x="3749040" y="4498848"/>
            <a:ext cx="2560320" cy="521208"/>
          </a:xfrm>
          <a:prstGeom prst="rect">
            <a:avLst/>
          </a:prstGeom>
          <a:noFill/>
          <a:ln/>
        </p:spPr>
        <p:txBody>
          <a:bodyPr wrap="square" lIns="0" tIns="0" rIns="0" bIns="0" rtlCol="0" anchor="ctr">
            <a:normAutofit/>
          </a:bodyPr>
          <a:lstStyle/>
          <a:p>
            <a:pPr indent="0" marL="0">
              <a:buNone/>
            </a:pPr>
            <a:r>
              <a:rPr lang="en-US" sz="1050" dirty="0">
                <a:solidFill>
                  <a:srgbClr val="ADC0D0"/>
                </a:solidFill>
                <a:latin typeface="Aptos" pitchFamily="34" charset="0"/>
                <a:ea typeface="Aptos" pitchFamily="34" charset="-122"/>
                <a:cs typeface="Aptos" pitchFamily="34" charset="-120"/>
              </a:rPr>
              <a:t>Support evaluation; proof</a:t>
            </a:r>
            <a:endParaRPr lang="en-US" sz="1050" dirty="0"/>
          </a:p>
        </p:txBody>
      </p:sp>
      <p:sp>
        <p:nvSpPr>
          <p:cNvPr id="33" name="Text 31"/>
          <p:cNvSpPr/>
          <p:nvPr/>
        </p:nvSpPr>
        <p:spPr>
          <a:xfrm>
            <a:off x="6510528" y="4498848"/>
            <a:ext cx="2606040" cy="521208"/>
          </a:xfrm>
          <a:prstGeom prst="rect">
            <a:avLst/>
          </a:prstGeom>
          <a:noFill/>
          <a:ln/>
        </p:spPr>
        <p:txBody>
          <a:bodyPr wrap="square" lIns="0" tIns="0" rIns="0" bIns="0" rtlCol="0" anchor="ctr">
            <a:normAutofit/>
          </a:bodyPr>
          <a:lstStyle/>
          <a:p>
            <a:pPr indent="0" marL="0">
              <a:buNone/>
            </a:pPr>
            <a:r>
              <a:rPr lang="en-US" sz="1050" dirty="0">
                <a:solidFill>
                  <a:srgbClr val="ADC0D0"/>
                </a:solidFill>
                <a:latin typeface="Aptos" pitchFamily="34" charset="0"/>
                <a:ea typeface="Aptos" pitchFamily="34" charset="-122"/>
                <a:cs typeface="Aptos" pitchFamily="34" charset="-120"/>
              </a:rPr>
              <a:t>Tiny audiences / poor fit</a:t>
            </a:r>
            <a:endParaRPr lang="en-US" sz="1050" dirty="0"/>
          </a:p>
        </p:txBody>
      </p:sp>
      <p:sp>
        <p:nvSpPr>
          <p:cNvPr id="34" name="Text 32"/>
          <p:cNvSpPr/>
          <p:nvPr/>
        </p:nvSpPr>
        <p:spPr>
          <a:xfrm>
            <a:off x="9281160" y="4498848"/>
            <a:ext cx="2304288" cy="521208"/>
          </a:xfrm>
          <a:prstGeom prst="rect">
            <a:avLst/>
          </a:prstGeom>
          <a:noFill/>
          <a:ln/>
        </p:spPr>
        <p:txBody>
          <a:bodyPr wrap="square" lIns="0" tIns="0" rIns="0" bIns="0" rtlCol="0" anchor="ctr">
            <a:normAutofit/>
          </a:bodyPr>
          <a:lstStyle/>
          <a:p>
            <a:pPr indent="0" marL="0">
              <a:buNone/>
            </a:pPr>
            <a:r>
              <a:rPr lang="en-US" sz="1050" dirty="0">
                <a:solidFill>
                  <a:srgbClr val="ADC0D0"/>
                </a:solidFill>
                <a:latin typeface="Aptos" pitchFamily="34" charset="0"/>
                <a:ea typeface="Aptos" pitchFamily="34" charset="-122"/>
                <a:cs typeface="Aptos" pitchFamily="34" charset="-120"/>
              </a:rPr>
              <a:t>Incremental ICP holds</a:t>
            </a:r>
            <a:endParaRPr lang="en-US" sz="1050" dirty="0"/>
          </a:p>
        </p:txBody>
      </p:sp>
      <p:sp>
        <p:nvSpPr>
          <p:cNvPr id="35" name="Shape 33"/>
          <p:cNvSpPr/>
          <p:nvPr/>
        </p:nvSpPr>
        <p:spPr>
          <a:xfrm>
            <a:off x="521208" y="5120640"/>
            <a:ext cx="11128248" cy="640080"/>
          </a:xfrm>
          <a:prstGeom prst="roundRect">
            <a:avLst>
              <a:gd name="adj" fmla="val 8571"/>
            </a:avLst>
          </a:prstGeom>
          <a:solidFill>
            <a:srgbClr val="12293B"/>
          </a:solidFill>
          <a:ln w="12700">
            <a:solidFill>
              <a:srgbClr val="12293B"/>
            </a:solidFill>
            <a:prstDash val="solid"/>
          </a:ln>
        </p:spPr>
      </p:sp>
      <p:sp>
        <p:nvSpPr>
          <p:cNvPr id="36" name="Text 34"/>
          <p:cNvSpPr/>
          <p:nvPr/>
        </p:nvSpPr>
        <p:spPr>
          <a:xfrm>
            <a:off x="658368" y="5184648"/>
            <a:ext cx="2926080" cy="521208"/>
          </a:xfrm>
          <a:prstGeom prst="rect">
            <a:avLst/>
          </a:prstGeom>
          <a:noFill/>
          <a:ln/>
        </p:spPr>
        <p:txBody>
          <a:bodyPr wrap="square" lIns="0" tIns="0" rIns="0" bIns="0" rtlCol="0" anchor="ctr">
            <a:normAutofit/>
          </a:bodyPr>
          <a:lstStyle/>
          <a:p>
            <a:pPr indent="0" marL="0">
              <a:buNone/>
            </a:pPr>
            <a:r>
              <a:rPr lang="en-US" sz="1100" b="1" dirty="0">
                <a:solidFill>
                  <a:srgbClr val="F2F7FB"/>
                </a:solidFill>
                <a:latin typeface="Aptos" pitchFamily="34" charset="0"/>
                <a:ea typeface="Aptos" pitchFamily="34" charset="-122"/>
                <a:cs typeface="Aptos" pitchFamily="34" charset="-120"/>
              </a:rPr>
              <a:t>05 Decision assets</a:t>
            </a:r>
            <a:endParaRPr lang="en-US" sz="1100" dirty="0"/>
          </a:p>
        </p:txBody>
      </p:sp>
      <p:sp>
        <p:nvSpPr>
          <p:cNvPr id="37" name="Text 35"/>
          <p:cNvSpPr/>
          <p:nvPr/>
        </p:nvSpPr>
        <p:spPr>
          <a:xfrm>
            <a:off x="3749040" y="5184648"/>
            <a:ext cx="2560320" cy="521208"/>
          </a:xfrm>
          <a:prstGeom prst="rect">
            <a:avLst/>
          </a:prstGeom>
          <a:noFill/>
          <a:ln/>
        </p:spPr>
        <p:txBody>
          <a:bodyPr wrap="square" lIns="0" tIns="0" rIns="0" bIns="0" rtlCol="0" anchor="ctr">
            <a:normAutofit/>
          </a:bodyPr>
          <a:lstStyle/>
          <a:p>
            <a:pPr indent="0" marL="0">
              <a:buNone/>
            </a:pPr>
            <a:r>
              <a:rPr lang="en-US" sz="1050" dirty="0">
                <a:solidFill>
                  <a:srgbClr val="ADC0D0"/>
                </a:solidFill>
                <a:latin typeface="Aptos" pitchFamily="34" charset="0"/>
                <a:ea typeface="Aptos" pitchFamily="34" charset="-122"/>
                <a:cs typeface="Aptos" pitchFamily="34" charset="-120"/>
              </a:rPr>
              <a:t>De-risk demos &amp; switching</a:t>
            </a:r>
            <a:endParaRPr lang="en-US" sz="1050" dirty="0"/>
          </a:p>
        </p:txBody>
      </p:sp>
      <p:sp>
        <p:nvSpPr>
          <p:cNvPr id="38" name="Text 36"/>
          <p:cNvSpPr/>
          <p:nvPr/>
        </p:nvSpPr>
        <p:spPr>
          <a:xfrm>
            <a:off x="6510528" y="5184648"/>
            <a:ext cx="2606040" cy="521208"/>
          </a:xfrm>
          <a:prstGeom prst="rect">
            <a:avLst/>
          </a:prstGeom>
          <a:noFill/>
          <a:ln/>
        </p:spPr>
        <p:txBody>
          <a:bodyPr wrap="square" lIns="0" tIns="0" rIns="0" bIns="0" rtlCol="0" anchor="ctr">
            <a:normAutofit/>
          </a:bodyPr>
          <a:lstStyle/>
          <a:p>
            <a:pPr indent="0" marL="0">
              <a:buNone/>
            </a:pPr>
            <a:r>
              <a:rPr lang="en-US" sz="1050" dirty="0">
                <a:solidFill>
                  <a:srgbClr val="ADC0D0"/>
                </a:solidFill>
                <a:latin typeface="Aptos" pitchFamily="34" charset="0"/>
                <a:ea typeface="Aptos" pitchFamily="34" charset="-122"/>
                <a:cs typeface="Aptos" pitchFamily="34" charset="-120"/>
              </a:rPr>
              <a:t>Traffic without intent</a:t>
            </a:r>
            <a:endParaRPr lang="en-US" sz="1050" dirty="0"/>
          </a:p>
        </p:txBody>
      </p:sp>
      <p:sp>
        <p:nvSpPr>
          <p:cNvPr id="39" name="Text 37"/>
          <p:cNvSpPr/>
          <p:nvPr/>
        </p:nvSpPr>
        <p:spPr>
          <a:xfrm>
            <a:off x="9281160" y="5184648"/>
            <a:ext cx="2304288" cy="521208"/>
          </a:xfrm>
          <a:prstGeom prst="rect">
            <a:avLst/>
          </a:prstGeom>
          <a:noFill/>
          <a:ln/>
        </p:spPr>
        <p:txBody>
          <a:bodyPr wrap="square" lIns="0" tIns="0" rIns="0" bIns="0" rtlCol="0" anchor="ctr">
            <a:normAutofit/>
          </a:bodyPr>
          <a:lstStyle/>
          <a:p>
            <a:pPr indent="0" marL="0">
              <a:buNone/>
            </a:pPr>
            <a:r>
              <a:rPr lang="en-US" sz="1050" dirty="0">
                <a:solidFill>
                  <a:srgbClr val="ADC0D0"/>
                </a:solidFill>
                <a:latin typeface="Aptos" pitchFamily="34" charset="0"/>
                <a:ea typeface="Aptos" pitchFamily="34" charset="-122"/>
                <a:cs typeface="Aptos" pitchFamily="34" charset="-120"/>
              </a:rPr>
              <a:t>Asset-assisted SQLs</a:t>
            </a:r>
            <a:endParaRPr lang="en-US" sz="1050" dirty="0"/>
          </a:p>
        </p:txBody>
      </p:sp>
      <p:sp>
        <p:nvSpPr>
          <p:cNvPr id="40" name="Shape 38"/>
          <p:cNvSpPr/>
          <p:nvPr/>
        </p:nvSpPr>
        <p:spPr>
          <a:xfrm>
            <a:off x="557784" y="5952744"/>
            <a:ext cx="11045952" cy="347472"/>
          </a:xfrm>
          <a:prstGeom prst="roundRect">
            <a:avLst>
              <a:gd name="adj" fmla="val 34211"/>
            </a:avLst>
          </a:prstGeom>
          <a:solidFill>
            <a:srgbClr val="19354A"/>
          </a:solidFill>
          <a:ln w="12700">
            <a:solidFill>
              <a:srgbClr val="19354A"/>
            </a:solidFill>
            <a:prstDash val="solid"/>
          </a:ln>
        </p:spPr>
      </p:sp>
      <p:sp>
        <p:nvSpPr>
          <p:cNvPr id="41" name="Text 39"/>
          <p:cNvSpPr/>
          <p:nvPr/>
        </p:nvSpPr>
        <p:spPr>
          <a:xfrm>
            <a:off x="749808" y="6016752"/>
            <a:ext cx="10698480" cy="192024"/>
          </a:xfrm>
          <a:prstGeom prst="rect">
            <a:avLst/>
          </a:prstGeom>
          <a:noFill/>
          <a:ln/>
        </p:spPr>
        <p:txBody>
          <a:bodyPr wrap="square" lIns="0" tIns="0" rIns="0" bIns="0" rtlCol="0" anchor="ctr">
            <a:normAutofit/>
          </a:bodyPr>
          <a:lstStyle/>
          <a:p>
            <a:pPr indent="0" marL="0">
              <a:buNone/>
            </a:pPr>
            <a:r>
              <a:rPr lang="en-US" sz="1060" b="1" dirty="0">
                <a:solidFill>
                  <a:srgbClr val="F3C77A"/>
                </a:solidFill>
                <a:latin typeface="Aptos" pitchFamily="34" charset="0"/>
                <a:ea typeface="Aptos" pitchFamily="34" charset="-122"/>
                <a:cs typeface="Aptos" pitchFamily="34" charset="-120"/>
              </a:rPr>
              <a:t>Reallocate only after checking stage-mature cohorts; pause irrelevant queries immediately; count seller time in full CAC.</a:t>
            </a:r>
            <a:endParaRPr lang="en-US" sz="10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84632" y="265176"/>
            <a:ext cx="5486400" cy="219456"/>
          </a:xfrm>
          <a:prstGeom prst="rect">
            <a:avLst/>
          </a:prstGeom>
          <a:noFill/>
          <a:ln/>
        </p:spPr>
        <p:txBody>
          <a:bodyPr wrap="square" lIns="0" tIns="0" rIns="0" bIns="0" rtlCol="0" anchor="ctr">
            <a:normAutofit/>
          </a:bodyPr>
          <a:lstStyle/>
          <a:p>
            <a:pPr indent="0" marL="0">
              <a:buNone/>
            </a:pPr>
            <a:r>
              <a:rPr lang="en-US" sz="1000" b="1" spc="150" kern="0" dirty="0">
                <a:solidFill>
                  <a:srgbClr val="58DFC7"/>
                </a:solidFill>
                <a:latin typeface="Aptos" pitchFamily="34" charset="0"/>
                <a:ea typeface="Aptos" pitchFamily="34" charset="-122"/>
                <a:cs typeface="Aptos" pitchFamily="34" charset="-120"/>
              </a:rPr>
              <a:t>QUICK  /  US GO-TO-MARKET</a:t>
            </a:r>
            <a:endParaRPr lang="en-US" sz="1000" dirty="0"/>
          </a:p>
        </p:txBody>
      </p:sp>
      <p:sp>
        <p:nvSpPr>
          <p:cNvPr id="3" name="Text 1"/>
          <p:cNvSpPr/>
          <p:nvPr/>
        </p:nvSpPr>
        <p:spPr>
          <a:xfrm>
            <a:off x="10607040" y="265176"/>
            <a:ext cx="1051560" cy="219456"/>
          </a:xfrm>
          <a:prstGeom prst="rect">
            <a:avLst/>
          </a:prstGeom>
          <a:noFill/>
          <a:ln/>
        </p:spPr>
        <p:txBody>
          <a:bodyPr wrap="square" lIns="0" tIns="0" rIns="0" bIns="0" rtlCol="0" anchor="ctr">
            <a:normAutofit/>
          </a:bodyPr>
          <a:lstStyle/>
          <a:p>
            <a:pPr algn="r" indent="0" marL="0">
              <a:buNone/>
            </a:pPr>
            <a:r>
              <a:rPr lang="en-US" sz="1000" dirty="0">
                <a:solidFill>
                  <a:srgbClr val="ADC0D0"/>
                </a:solidFill>
                <a:latin typeface="Aptos" pitchFamily="34" charset="0"/>
                <a:ea typeface="Aptos" pitchFamily="34" charset="-122"/>
                <a:cs typeface="Aptos" pitchFamily="34" charset="-120"/>
              </a:rPr>
              <a:t>05 / 09</a:t>
            </a:r>
            <a:endParaRPr lang="en-US" sz="1000" dirty="0"/>
          </a:p>
        </p:txBody>
      </p:sp>
      <p:sp>
        <p:nvSpPr>
          <p:cNvPr id="4" name="Shape 2"/>
          <p:cNvSpPr/>
          <p:nvPr/>
        </p:nvSpPr>
        <p:spPr>
          <a:xfrm>
            <a:off x="484632" y="621792"/>
            <a:ext cx="11219688" cy="0"/>
          </a:xfrm>
          <a:prstGeom prst="line">
            <a:avLst/>
          </a:prstGeom>
          <a:noFill/>
          <a:ln w="12700">
            <a:solidFill>
              <a:srgbClr val="30475A"/>
            </a:solidFill>
            <a:prstDash val="solid"/>
          </a:ln>
        </p:spPr>
      </p:sp>
      <p:sp>
        <p:nvSpPr>
          <p:cNvPr id="5" name="Text 3"/>
          <p:cNvSpPr/>
          <p:nvPr/>
        </p:nvSpPr>
        <p:spPr>
          <a:xfrm>
            <a:off x="484632" y="777240"/>
            <a:ext cx="11201400" cy="484632"/>
          </a:xfrm>
          <a:prstGeom prst="rect">
            <a:avLst/>
          </a:prstGeom>
          <a:noFill/>
          <a:ln/>
        </p:spPr>
        <p:txBody>
          <a:bodyPr wrap="square" lIns="0" tIns="0" rIns="0" bIns="0" rtlCol="0" anchor="ctr">
            <a:normAutofit/>
          </a:bodyPr>
          <a:lstStyle/>
          <a:p>
            <a:pPr indent="0" marL="0">
              <a:buNone/>
            </a:pPr>
            <a:r>
              <a:rPr lang="en-US" sz="2400" b="1" dirty="0">
                <a:solidFill>
                  <a:srgbClr val="F2F7FB"/>
                </a:solidFill>
                <a:latin typeface="Aptos" pitchFamily="34" charset="0"/>
                <a:ea typeface="Aptos" pitchFamily="34" charset="-122"/>
                <a:cs typeface="Aptos" pitchFamily="34" charset="-120"/>
              </a:rPr>
              <a:t>Run one ₹30k multi-store operations audit search pilot.</a:t>
            </a:r>
            <a:endParaRPr lang="en-US" sz="2400" dirty="0"/>
          </a:p>
        </p:txBody>
      </p:sp>
      <p:sp>
        <p:nvSpPr>
          <p:cNvPr id="6" name="Text 4"/>
          <p:cNvSpPr/>
          <p:nvPr/>
        </p:nvSpPr>
        <p:spPr>
          <a:xfrm>
            <a:off x="484632" y="1307592"/>
            <a:ext cx="11155680" cy="320040"/>
          </a:xfrm>
          <a:prstGeom prst="rect">
            <a:avLst/>
          </a:prstGeom>
          <a:noFill/>
          <a:ln/>
        </p:spPr>
        <p:txBody>
          <a:bodyPr wrap="square" lIns="0" tIns="0" rIns="0" bIns="0" rtlCol="0" anchor="ctr">
            <a:normAutofit/>
          </a:bodyPr>
          <a:lstStyle/>
          <a:p>
            <a:pPr indent="0" marL="0">
              <a:buNone/>
            </a:pPr>
            <a:r>
              <a:rPr lang="en-US" sz="1120" dirty="0">
                <a:solidFill>
                  <a:srgbClr val="ADC0D0"/>
                </a:solidFill>
                <a:latin typeface="Aptos" pitchFamily="34" charset="0"/>
                <a:ea typeface="Aptos" pitchFamily="34" charset="-122"/>
                <a:cs typeface="Aptos" pitchFamily="34" charset="-120"/>
              </a:rPr>
              <a:t>Objective: reveal which high-intent pains create sales-accepted US conversations, not forecast wins.</a:t>
            </a:r>
            <a:endParaRPr lang="en-US" sz="1120" dirty="0"/>
          </a:p>
        </p:txBody>
      </p:sp>
      <p:sp>
        <p:nvSpPr>
          <p:cNvPr id="7" name="Shape 5"/>
          <p:cNvSpPr/>
          <p:nvPr/>
        </p:nvSpPr>
        <p:spPr>
          <a:xfrm>
            <a:off x="484632" y="6492240"/>
            <a:ext cx="11219688" cy="0"/>
          </a:xfrm>
          <a:prstGeom prst="line">
            <a:avLst/>
          </a:prstGeom>
          <a:noFill/>
          <a:ln w="12700">
            <a:solidFill>
              <a:srgbClr val="30475A"/>
            </a:solidFill>
            <a:prstDash val="solid"/>
          </a:ln>
        </p:spPr>
      </p:sp>
      <p:sp>
        <p:nvSpPr>
          <p:cNvPr id="8" name="Text 6"/>
          <p:cNvSpPr/>
          <p:nvPr/>
        </p:nvSpPr>
        <p:spPr>
          <a:xfrm>
            <a:off x="502920" y="6565392"/>
            <a:ext cx="8229600" cy="155448"/>
          </a:xfrm>
          <a:prstGeom prst="rect">
            <a:avLst/>
          </a:prstGeom>
          <a:noFill/>
          <a:ln/>
        </p:spPr>
        <p:txBody>
          <a:bodyPr wrap="square" lIns="0" tIns="0" rIns="0" bIns="0" rtlCol="0" anchor="ctr">
            <a:normAutofit/>
          </a:bodyPr>
          <a:lstStyle/>
          <a:p>
            <a:pPr indent="0" marL="0">
              <a:buNone/>
            </a:pPr>
            <a:r>
              <a:rPr lang="en-US" sz="810" spc="100" kern="0" dirty="0">
                <a:solidFill>
                  <a:srgbClr val="ADC0D0"/>
                </a:solidFill>
                <a:latin typeface="Aptos" pitchFamily="34" charset="0"/>
                <a:ea typeface="Aptos" pitchFamily="34" charset="-122"/>
                <a:cs typeface="Aptos" pitchFamily="34" charset="-120"/>
              </a:rPr>
              <a:t>FIRST 30-DAY EXPERIMENT</a:t>
            </a:r>
            <a:endParaRPr lang="en-US" sz="810" dirty="0"/>
          </a:p>
        </p:txBody>
      </p:sp>
      <p:sp>
        <p:nvSpPr>
          <p:cNvPr id="9" name="Text 7"/>
          <p:cNvSpPr/>
          <p:nvPr/>
        </p:nvSpPr>
        <p:spPr>
          <a:xfrm>
            <a:off x="8092440" y="6565392"/>
            <a:ext cx="3611880" cy="155448"/>
          </a:xfrm>
          <a:prstGeom prst="rect">
            <a:avLst/>
          </a:prstGeom>
          <a:noFill/>
          <a:ln/>
        </p:spPr>
        <p:txBody>
          <a:bodyPr wrap="square" lIns="0" tIns="0" rIns="0" bIns="0" rtlCol="0" anchor="ctr">
            <a:normAutofit/>
          </a:bodyPr>
          <a:lstStyle/>
          <a:p>
            <a:pPr algn="r" indent="0" marL="0">
              <a:buNone/>
            </a:pPr>
            <a:r>
              <a:rPr lang="en-US" sz="750" dirty="0">
                <a:solidFill>
                  <a:srgbClr val="ADC0D0"/>
                </a:solidFill>
                <a:latin typeface="Aptos" pitchFamily="34" charset="0"/>
                <a:ea typeface="Aptos" pitchFamily="34" charset="-122"/>
                <a:cs typeface="Aptos" pitchFamily="34" charset="-120"/>
              </a:rPr>
              <a:t>Prepared 13 Oct 2026 · decision proposal, not company results</a:t>
            </a:r>
            <a:endParaRPr lang="en-US" sz="750" dirty="0"/>
          </a:p>
        </p:txBody>
      </p:sp>
      <p:sp>
        <p:nvSpPr>
          <p:cNvPr id="10" name="Shape 8"/>
          <p:cNvSpPr/>
          <p:nvPr/>
        </p:nvSpPr>
        <p:spPr>
          <a:xfrm>
            <a:off x="548640" y="1837944"/>
            <a:ext cx="5440680" cy="3255264"/>
          </a:xfrm>
          <a:prstGeom prst="roundRect">
            <a:avLst>
              <a:gd name="adj" fmla="val 3652"/>
            </a:avLst>
          </a:prstGeom>
          <a:solidFill>
            <a:srgbClr val="122639"/>
          </a:solidFill>
          <a:ln w="12700">
            <a:solidFill>
              <a:srgbClr val="122639"/>
            </a:solidFill>
            <a:prstDash val="solid"/>
          </a:ln>
        </p:spPr>
      </p:sp>
      <p:sp>
        <p:nvSpPr>
          <p:cNvPr id="11" name="Shape 9"/>
          <p:cNvSpPr/>
          <p:nvPr/>
        </p:nvSpPr>
        <p:spPr>
          <a:xfrm>
            <a:off x="731520" y="2020824"/>
            <a:ext cx="2020824" cy="265176"/>
          </a:xfrm>
          <a:prstGeom prst="roundRect">
            <a:avLst>
              <a:gd name="adj" fmla="val 41379"/>
            </a:avLst>
          </a:prstGeom>
          <a:solidFill>
            <a:srgbClr val="19354A"/>
          </a:solidFill>
          <a:ln w="12700">
            <a:solidFill>
              <a:srgbClr val="19354A"/>
            </a:solidFill>
            <a:prstDash val="solid"/>
          </a:ln>
        </p:spPr>
      </p:sp>
      <p:sp>
        <p:nvSpPr>
          <p:cNvPr id="12" name="Text 10"/>
          <p:cNvSpPr/>
          <p:nvPr/>
        </p:nvSpPr>
        <p:spPr>
          <a:xfrm>
            <a:off x="822960" y="2052828"/>
            <a:ext cx="1837944" cy="182880"/>
          </a:xfrm>
          <a:prstGeom prst="rect">
            <a:avLst/>
          </a:prstGeom>
          <a:noFill/>
          <a:ln/>
        </p:spPr>
        <p:txBody>
          <a:bodyPr wrap="square" lIns="0" tIns="0" rIns="0" bIns="0" rtlCol="0" anchor="ctr">
            <a:normAutofit/>
          </a:bodyPr>
          <a:lstStyle/>
          <a:p>
            <a:pPr indent="0" marL="0">
              <a:buNone/>
            </a:pPr>
            <a:r>
              <a:rPr lang="en-US" sz="900" b="1" spc="30" kern="0" dirty="0">
                <a:solidFill>
                  <a:srgbClr val="58DFC7"/>
                </a:solidFill>
                <a:latin typeface="Aptos" pitchFamily="34" charset="0"/>
                <a:ea typeface="Aptos" pitchFamily="34" charset="-122"/>
                <a:cs typeface="Aptos" pitchFamily="34" charset="-120"/>
              </a:rPr>
              <a:t>SEARCH AD / PROPOSED</a:t>
            </a:r>
            <a:endParaRPr lang="en-US" sz="900" dirty="0"/>
          </a:p>
        </p:txBody>
      </p:sp>
      <p:sp>
        <p:nvSpPr>
          <p:cNvPr id="13" name="Text 11"/>
          <p:cNvSpPr/>
          <p:nvPr/>
        </p:nvSpPr>
        <p:spPr>
          <a:xfrm>
            <a:off x="758952" y="2423160"/>
            <a:ext cx="4919472" cy="448056"/>
          </a:xfrm>
          <a:prstGeom prst="rect">
            <a:avLst/>
          </a:prstGeom>
          <a:noFill/>
          <a:ln/>
        </p:spPr>
        <p:txBody>
          <a:bodyPr wrap="square" lIns="0" tIns="0" rIns="0" bIns="0" rtlCol="0" anchor="ctr">
            <a:normAutofit/>
          </a:bodyPr>
          <a:lstStyle/>
          <a:p>
            <a:pPr indent="0" marL="0">
              <a:buNone/>
            </a:pPr>
            <a:r>
              <a:rPr lang="en-US" sz="1800" b="1" dirty="0">
                <a:solidFill>
                  <a:srgbClr val="F2F7FB"/>
                </a:solidFill>
                <a:latin typeface="Aptos" pitchFamily="34" charset="0"/>
                <a:ea typeface="Aptos" pitchFamily="34" charset="-122"/>
                <a:cs typeface="Aptos" pitchFamily="34" charset="-120"/>
              </a:rPr>
              <a:t>Dry Cleaner POS for Multi-Store Teams</a:t>
            </a:r>
            <a:endParaRPr lang="en-US" sz="1800" dirty="0"/>
          </a:p>
        </p:txBody>
      </p:sp>
      <p:sp>
        <p:nvSpPr>
          <p:cNvPr id="14" name="Text 12"/>
          <p:cNvSpPr/>
          <p:nvPr/>
        </p:nvSpPr>
        <p:spPr>
          <a:xfrm>
            <a:off x="758952" y="2907792"/>
            <a:ext cx="4901184" cy="265176"/>
          </a:xfrm>
          <a:prstGeom prst="rect">
            <a:avLst/>
          </a:prstGeom>
          <a:noFill/>
          <a:ln/>
        </p:spPr>
        <p:txBody>
          <a:bodyPr wrap="square" lIns="0" tIns="0" rIns="0" bIns="0" rtlCol="0" anchor="ctr">
            <a:normAutofit/>
          </a:bodyPr>
          <a:lstStyle/>
          <a:p>
            <a:pPr indent="0" marL="0">
              <a:buNone/>
            </a:pPr>
            <a:r>
              <a:rPr lang="en-US" sz="1400" b="1" dirty="0">
                <a:solidFill>
                  <a:srgbClr val="8EBBFA"/>
                </a:solidFill>
                <a:latin typeface="Aptos" pitchFamily="34" charset="0"/>
                <a:ea typeface="Aptos" pitchFamily="34" charset="-122"/>
                <a:cs typeface="Aptos" pitchFamily="34" charset="-120"/>
              </a:rPr>
              <a:t>See Every Store in One View</a:t>
            </a:r>
            <a:endParaRPr lang="en-US" sz="1400" dirty="0"/>
          </a:p>
        </p:txBody>
      </p:sp>
      <p:sp>
        <p:nvSpPr>
          <p:cNvPr id="15" name="Text 13"/>
          <p:cNvSpPr/>
          <p:nvPr/>
        </p:nvSpPr>
        <p:spPr>
          <a:xfrm>
            <a:off x="758952" y="3355848"/>
            <a:ext cx="4901184" cy="777240"/>
          </a:xfrm>
          <a:prstGeom prst="rect">
            <a:avLst/>
          </a:prstGeom>
          <a:noFill/>
          <a:ln/>
        </p:spPr>
        <p:txBody>
          <a:bodyPr wrap="square" lIns="0" tIns="0" rIns="0" bIns="0" rtlCol="0" anchor="t">
            <a:normAutofit/>
          </a:bodyPr>
          <a:lstStyle/>
          <a:p>
            <a:pPr indent="0" marL="0">
              <a:buNone/>
            </a:pPr>
            <a:r>
              <a:rPr lang="en-US" sz="1230" dirty="0">
                <a:solidFill>
                  <a:srgbClr val="ADC0D0"/>
                </a:solidFill>
                <a:latin typeface="Aptos" pitchFamily="34" charset="0"/>
                <a:ea typeface="Aptos" pitchFamily="34" charset="-122"/>
                <a:cs typeface="Aptos" pitchFamily="34" charset="-120"/>
              </a:rPr>
              <a:t>Managing 3+ dry-cleaning stores? Explore unified orders, reporting and pickups in a workflow-specific walkthrough.</a:t>
            </a:r>
            <a:endParaRPr lang="en-US" sz="1230" dirty="0"/>
          </a:p>
        </p:txBody>
      </p:sp>
      <p:sp>
        <p:nvSpPr>
          <p:cNvPr id="16" name="Shape 14"/>
          <p:cNvSpPr/>
          <p:nvPr/>
        </p:nvSpPr>
        <p:spPr>
          <a:xfrm>
            <a:off x="749808" y="4379976"/>
            <a:ext cx="3767328" cy="420624"/>
          </a:xfrm>
          <a:prstGeom prst="roundRect">
            <a:avLst>
              <a:gd name="adj" fmla="val 28261"/>
            </a:avLst>
          </a:prstGeom>
          <a:solidFill>
            <a:srgbClr val="58DFC7"/>
          </a:solidFill>
          <a:ln w="12700">
            <a:solidFill>
              <a:srgbClr val="58DFC7"/>
            </a:solidFill>
            <a:prstDash val="solid"/>
          </a:ln>
        </p:spPr>
      </p:sp>
      <p:sp>
        <p:nvSpPr>
          <p:cNvPr id="17" name="Text 15"/>
          <p:cNvSpPr/>
          <p:nvPr/>
        </p:nvSpPr>
        <p:spPr>
          <a:xfrm>
            <a:off x="896112" y="4480560"/>
            <a:ext cx="3493008" cy="210312"/>
          </a:xfrm>
          <a:prstGeom prst="rect">
            <a:avLst/>
          </a:prstGeom>
          <a:noFill/>
          <a:ln/>
        </p:spPr>
        <p:txBody>
          <a:bodyPr wrap="square" lIns="0" tIns="0" rIns="0" bIns="0" rtlCol="0" anchor="ctr">
            <a:normAutofit/>
          </a:bodyPr>
          <a:lstStyle/>
          <a:p>
            <a:pPr indent="0" marL="0">
              <a:buNone/>
            </a:pPr>
            <a:r>
              <a:rPr lang="en-US" sz="1000" b="1" dirty="0">
                <a:solidFill>
                  <a:srgbClr val="081724"/>
                </a:solidFill>
                <a:latin typeface="Aptos" pitchFamily="34" charset="0"/>
                <a:ea typeface="Aptos" pitchFamily="34" charset="-122"/>
                <a:cs typeface="Aptos" pitchFamily="34" charset="-120"/>
              </a:rPr>
              <a:t>BOOK A 20-MINUTE OPERATIONS AUDIT</a:t>
            </a:r>
            <a:endParaRPr lang="en-US" sz="1000" dirty="0"/>
          </a:p>
        </p:txBody>
      </p:sp>
      <p:sp>
        <p:nvSpPr>
          <p:cNvPr id="18" name="Shape 16"/>
          <p:cNvSpPr/>
          <p:nvPr/>
        </p:nvSpPr>
        <p:spPr>
          <a:xfrm>
            <a:off x="6190488" y="1837944"/>
            <a:ext cx="5440680" cy="3255264"/>
          </a:xfrm>
          <a:prstGeom prst="roundRect">
            <a:avLst>
              <a:gd name="adj" fmla="val 3652"/>
            </a:avLst>
          </a:prstGeom>
          <a:solidFill>
            <a:srgbClr val="102130"/>
          </a:solidFill>
          <a:ln w="12700">
            <a:solidFill>
              <a:srgbClr val="102130"/>
            </a:solidFill>
            <a:prstDash val="solid"/>
          </a:ln>
        </p:spPr>
      </p:sp>
      <p:sp>
        <p:nvSpPr>
          <p:cNvPr id="19" name="Text 17"/>
          <p:cNvSpPr/>
          <p:nvPr/>
        </p:nvSpPr>
        <p:spPr>
          <a:xfrm>
            <a:off x="6400800" y="2048256"/>
            <a:ext cx="5029200" cy="301752"/>
          </a:xfrm>
          <a:prstGeom prst="rect">
            <a:avLst/>
          </a:prstGeom>
          <a:noFill/>
          <a:ln/>
        </p:spPr>
        <p:txBody>
          <a:bodyPr wrap="square" lIns="0" tIns="0" rIns="0" bIns="0" rtlCol="0" anchor="ctr">
            <a:normAutofit/>
          </a:bodyPr>
          <a:lstStyle/>
          <a:p>
            <a:pPr indent="0" marL="0">
              <a:buNone/>
            </a:pPr>
            <a:r>
              <a:rPr lang="en-US" sz="1500" b="1" dirty="0">
                <a:solidFill>
                  <a:srgbClr val="F3C77A"/>
                </a:solidFill>
                <a:latin typeface="Aptos" pitchFamily="34" charset="0"/>
                <a:ea typeface="Aptos" pitchFamily="34" charset="-122"/>
                <a:cs typeface="Aptos" pitchFamily="34" charset="-120"/>
              </a:rPr>
              <a:t>Illustrative expected-value funnel</a:t>
            </a:r>
            <a:endParaRPr lang="en-US" sz="1500" dirty="0"/>
          </a:p>
        </p:txBody>
      </p:sp>
      <p:sp>
        <p:nvSpPr>
          <p:cNvPr id="20" name="Text 18"/>
          <p:cNvSpPr/>
          <p:nvPr/>
        </p:nvSpPr>
        <p:spPr>
          <a:xfrm>
            <a:off x="6428232" y="2496312"/>
            <a:ext cx="2331720" cy="237744"/>
          </a:xfrm>
          <a:prstGeom prst="rect">
            <a:avLst/>
          </a:prstGeom>
          <a:noFill/>
          <a:ln/>
        </p:spPr>
        <p:txBody>
          <a:bodyPr wrap="square" lIns="0" tIns="0" rIns="0" bIns="0" rtlCol="0" anchor="ctr">
            <a:normAutofit/>
          </a:bodyPr>
          <a:lstStyle/>
          <a:p>
            <a:pPr indent="0" marL="0">
              <a:buNone/>
            </a:pPr>
            <a:r>
              <a:rPr lang="en-US" sz="1200" dirty="0">
                <a:solidFill>
                  <a:srgbClr val="F2F7FB"/>
                </a:solidFill>
                <a:latin typeface="Aptos" pitchFamily="34" charset="0"/>
                <a:ea typeface="Aptos" pitchFamily="34" charset="-122"/>
                <a:cs typeface="Aptos" pitchFamily="34" charset="-120"/>
              </a:rPr>
              <a:t>₹30,000 / ₹200</a:t>
            </a:r>
            <a:endParaRPr lang="en-US" sz="1200" dirty="0"/>
          </a:p>
        </p:txBody>
      </p:sp>
      <p:sp>
        <p:nvSpPr>
          <p:cNvPr id="21" name="Text 19"/>
          <p:cNvSpPr/>
          <p:nvPr/>
        </p:nvSpPr>
        <p:spPr>
          <a:xfrm>
            <a:off x="8942832" y="2496312"/>
            <a:ext cx="2350008" cy="237744"/>
          </a:xfrm>
          <a:prstGeom prst="rect">
            <a:avLst/>
          </a:prstGeom>
          <a:noFill/>
          <a:ln/>
        </p:spPr>
        <p:txBody>
          <a:bodyPr wrap="square" lIns="0" tIns="0" rIns="0" bIns="0" rtlCol="0" anchor="ctr">
            <a:normAutofit/>
          </a:bodyPr>
          <a:lstStyle/>
          <a:p>
            <a:pPr algn="r" indent="0" marL="0">
              <a:buNone/>
            </a:pPr>
            <a:r>
              <a:rPr lang="en-US" sz="1200" dirty="0">
                <a:solidFill>
                  <a:srgbClr val="ADC0D0"/>
                </a:solidFill>
                <a:latin typeface="Aptos" pitchFamily="34" charset="0"/>
                <a:ea typeface="Aptos" pitchFamily="34" charset="-122"/>
                <a:cs typeface="Aptos" pitchFamily="34" charset="-120"/>
              </a:rPr>
              <a:t>150 paid clicks</a:t>
            </a:r>
            <a:endParaRPr lang="en-US" sz="1200" dirty="0"/>
          </a:p>
        </p:txBody>
      </p:sp>
      <p:sp>
        <p:nvSpPr>
          <p:cNvPr id="22" name="Shape 20"/>
          <p:cNvSpPr/>
          <p:nvPr/>
        </p:nvSpPr>
        <p:spPr>
          <a:xfrm>
            <a:off x="6400800" y="2807208"/>
            <a:ext cx="4965192" cy="0"/>
          </a:xfrm>
          <a:prstGeom prst="line">
            <a:avLst/>
          </a:prstGeom>
          <a:noFill/>
          <a:ln w="7620">
            <a:solidFill>
              <a:srgbClr val="30475A"/>
            </a:solidFill>
            <a:prstDash val="solid"/>
          </a:ln>
        </p:spPr>
      </p:sp>
      <p:sp>
        <p:nvSpPr>
          <p:cNvPr id="23" name="Text 21"/>
          <p:cNvSpPr/>
          <p:nvPr/>
        </p:nvSpPr>
        <p:spPr>
          <a:xfrm>
            <a:off x="6428232" y="2926080"/>
            <a:ext cx="2331720" cy="237744"/>
          </a:xfrm>
          <a:prstGeom prst="rect">
            <a:avLst/>
          </a:prstGeom>
          <a:noFill/>
          <a:ln/>
        </p:spPr>
        <p:txBody>
          <a:bodyPr wrap="square" lIns="0" tIns="0" rIns="0" bIns="0" rtlCol="0" anchor="ctr">
            <a:normAutofit/>
          </a:bodyPr>
          <a:lstStyle/>
          <a:p>
            <a:pPr indent="0" marL="0">
              <a:buNone/>
            </a:pPr>
            <a:r>
              <a:rPr lang="en-US" sz="1200" dirty="0">
                <a:solidFill>
                  <a:srgbClr val="F2F7FB"/>
                </a:solidFill>
                <a:latin typeface="Aptos" pitchFamily="34" charset="0"/>
                <a:ea typeface="Aptos" pitchFamily="34" charset="-122"/>
                <a:cs typeface="Aptos" pitchFamily="34" charset="-120"/>
              </a:rPr>
              <a:t>150 × 6%</a:t>
            </a:r>
            <a:endParaRPr lang="en-US" sz="1200" dirty="0"/>
          </a:p>
        </p:txBody>
      </p:sp>
      <p:sp>
        <p:nvSpPr>
          <p:cNvPr id="24" name="Text 22"/>
          <p:cNvSpPr/>
          <p:nvPr/>
        </p:nvSpPr>
        <p:spPr>
          <a:xfrm>
            <a:off x="8942832" y="2926080"/>
            <a:ext cx="2350008" cy="237744"/>
          </a:xfrm>
          <a:prstGeom prst="rect">
            <a:avLst/>
          </a:prstGeom>
          <a:noFill/>
          <a:ln/>
        </p:spPr>
        <p:txBody>
          <a:bodyPr wrap="square" lIns="0" tIns="0" rIns="0" bIns="0" rtlCol="0" anchor="ctr">
            <a:normAutofit/>
          </a:bodyPr>
          <a:lstStyle/>
          <a:p>
            <a:pPr algn="r" indent="0" marL="0">
              <a:buNone/>
            </a:pPr>
            <a:r>
              <a:rPr lang="en-US" sz="1200" dirty="0">
                <a:solidFill>
                  <a:srgbClr val="ADC0D0"/>
                </a:solidFill>
                <a:latin typeface="Aptos" pitchFamily="34" charset="0"/>
                <a:ea typeface="Aptos" pitchFamily="34" charset="-122"/>
                <a:cs typeface="Aptos" pitchFamily="34" charset="-120"/>
              </a:rPr>
              <a:t>9 raw leads</a:t>
            </a:r>
            <a:endParaRPr lang="en-US" sz="1200" dirty="0"/>
          </a:p>
        </p:txBody>
      </p:sp>
      <p:sp>
        <p:nvSpPr>
          <p:cNvPr id="25" name="Shape 23"/>
          <p:cNvSpPr/>
          <p:nvPr/>
        </p:nvSpPr>
        <p:spPr>
          <a:xfrm>
            <a:off x="6400800" y="3236976"/>
            <a:ext cx="4965192" cy="0"/>
          </a:xfrm>
          <a:prstGeom prst="line">
            <a:avLst/>
          </a:prstGeom>
          <a:noFill/>
          <a:ln w="7620">
            <a:solidFill>
              <a:srgbClr val="30475A"/>
            </a:solidFill>
            <a:prstDash val="solid"/>
          </a:ln>
        </p:spPr>
      </p:sp>
      <p:sp>
        <p:nvSpPr>
          <p:cNvPr id="26" name="Text 24"/>
          <p:cNvSpPr/>
          <p:nvPr/>
        </p:nvSpPr>
        <p:spPr>
          <a:xfrm>
            <a:off x="6428232" y="3355848"/>
            <a:ext cx="2331720" cy="237744"/>
          </a:xfrm>
          <a:prstGeom prst="rect">
            <a:avLst/>
          </a:prstGeom>
          <a:noFill/>
          <a:ln/>
        </p:spPr>
        <p:txBody>
          <a:bodyPr wrap="square" lIns="0" tIns="0" rIns="0" bIns="0" rtlCol="0" anchor="ctr">
            <a:normAutofit/>
          </a:bodyPr>
          <a:lstStyle/>
          <a:p>
            <a:pPr indent="0" marL="0">
              <a:buNone/>
            </a:pPr>
            <a:r>
              <a:rPr lang="en-US" sz="1200" dirty="0">
                <a:solidFill>
                  <a:srgbClr val="F2F7FB"/>
                </a:solidFill>
                <a:latin typeface="Aptos" pitchFamily="34" charset="0"/>
                <a:ea typeface="Aptos" pitchFamily="34" charset="-122"/>
                <a:cs typeface="Aptos" pitchFamily="34" charset="-120"/>
              </a:rPr>
              <a:t>9 × 40%</a:t>
            </a:r>
            <a:endParaRPr lang="en-US" sz="1200" dirty="0"/>
          </a:p>
        </p:txBody>
      </p:sp>
      <p:sp>
        <p:nvSpPr>
          <p:cNvPr id="27" name="Text 25"/>
          <p:cNvSpPr/>
          <p:nvPr/>
        </p:nvSpPr>
        <p:spPr>
          <a:xfrm>
            <a:off x="8942832" y="3355848"/>
            <a:ext cx="2350008" cy="237744"/>
          </a:xfrm>
          <a:prstGeom prst="rect">
            <a:avLst/>
          </a:prstGeom>
          <a:noFill/>
          <a:ln/>
        </p:spPr>
        <p:txBody>
          <a:bodyPr wrap="square" lIns="0" tIns="0" rIns="0" bIns="0" rtlCol="0" anchor="ctr">
            <a:normAutofit/>
          </a:bodyPr>
          <a:lstStyle/>
          <a:p>
            <a:pPr algn="r" indent="0" marL="0">
              <a:buNone/>
            </a:pPr>
            <a:r>
              <a:rPr lang="en-US" sz="1200" dirty="0">
                <a:solidFill>
                  <a:srgbClr val="ADC0D0"/>
                </a:solidFill>
                <a:latin typeface="Aptos" pitchFamily="34" charset="0"/>
                <a:ea typeface="Aptos" pitchFamily="34" charset="-122"/>
                <a:cs typeface="Aptos" pitchFamily="34" charset="-120"/>
              </a:rPr>
              <a:t>3.6 fit leads</a:t>
            </a:r>
            <a:endParaRPr lang="en-US" sz="1200" dirty="0"/>
          </a:p>
        </p:txBody>
      </p:sp>
      <p:sp>
        <p:nvSpPr>
          <p:cNvPr id="28" name="Shape 26"/>
          <p:cNvSpPr/>
          <p:nvPr/>
        </p:nvSpPr>
        <p:spPr>
          <a:xfrm>
            <a:off x="6400800" y="3666744"/>
            <a:ext cx="4965192" cy="0"/>
          </a:xfrm>
          <a:prstGeom prst="line">
            <a:avLst/>
          </a:prstGeom>
          <a:noFill/>
          <a:ln w="7620">
            <a:solidFill>
              <a:srgbClr val="30475A"/>
            </a:solidFill>
            <a:prstDash val="solid"/>
          </a:ln>
        </p:spPr>
      </p:sp>
      <p:sp>
        <p:nvSpPr>
          <p:cNvPr id="29" name="Text 27"/>
          <p:cNvSpPr/>
          <p:nvPr/>
        </p:nvSpPr>
        <p:spPr>
          <a:xfrm>
            <a:off x="6428232" y="3785616"/>
            <a:ext cx="2331720" cy="237744"/>
          </a:xfrm>
          <a:prstGeom prst="rect">
            <a:avLst/>
          </a:prstGeom>
          <a:noFill/>
          <a:ln/>
        </p:spPr>
        <p:txBody>
          <a:bodyPr wrap="square" lIns="0" tIns="0" rIns="0" bIns="0" rtlCol="0" anchor="ctr">
            <a:normAutofit/>
          </a:bodyPr>
          <a:lstStyle/>
          <a:p>
            <a:pPr indent="0" marL="0">
              <a:buNone/>
            </a:pPr>
            <a:r>
              <a:rPr lang="en-US" sz="1200" dirty="0">
                <a:solidFill>
                  <a:srgbClr val="F2F7FB"/>
                </a:solidFill>
                <a:latin typeface="Aptos" pitchFamily="34" charset="0"/>
                <a:ea typeface="Aptos" pitchFamily="34" charset="-122"/>
                <a:cs typeface="Aptos" pitchFamily="34" charset="-120"/>
              </a:rPr>
              <a:t>3.6 × 60% × 75%</a:t>
            </a:r>
            <a:endParaRPr lang="en-US" sz="1200" dirty="0"/>
          </a:p>
        </p:txBody>
      </p:sp>
      <p:sp>
        <p:nvSpPr>
          <p:cNvPr id="30" name="Text 28"/>
          <p:cNvSpPr/>
          <p:nvPr/>
        </p:nvSpPr>
        <p:spPr>
          <a:xfrm>
            <a:off x="8942832" y="3785616"/>
            <a:ext cx="2350008" cy="237744"/>
          </a:xfrm>
          <a:prstGeom prst="rect">
            <a:avLst/>
          </a:prstGeom>
          <a:noFill/>
          <a:ln/>
        </p:spPr>
        <p:txBody>
          <a:bodyPr wrap="square" lIns="0" tIns="0" rIns="0" bIns="0" rtlCol="0" anchor="ctr">
            <a:normAutofit/>
          </a:bodyPr>
          <a:lstStyle/>
          <a:p>
            <a:pPr algn="r" indent="0" marL="0">
              <a:buNone/>
            </a:pPr>
            <a:r>
              <a:rPr lang="en-US" sz="1200" dirty="0">
                <a:solidFill>
                  <a:srgbClr val="ADC0D0"/>
                </a:solidFill>
                <a:latin typeface="Aptos" pitchFamily="34" charset="0"/>
                <a:ea typeface="Aptos" pitchFamily="34" charset="-122"/>
                <a:cs typeface="Aptos" pitchFamily="34" charset="-120"/>
              </a:rPr>
              <a:t>1.62 held calls</a:t>
            </a:r>
            <a:endParaRPr lang="en-US" sz="1200" dirty="0"/>
          </a:p>
        </p:txBody>
      </p:sp>
      <p:sp>
        <p:nvSpPr>
          <p:cNvPr id="31" name="Shape 29"/>
          <p:cNvSpPr/>
          <p:nvPr/>
        </p:nvSpPr>
        <p:spPr>
          <a:xfrm>
            <a:off x="6400800" y="4096512"/>
            <a:ext cx="4965192" cy="0"/>
          </a:xfrm>
          <a:prstGeom prst="line">
            <a:avLst/>
          </a:prstGeom>
          <a:noFill/>
          <a:ln w="7620">
            <a:solidFill>
              <a:srgbClr val="30475A"/>
            </a:solidFill>
            <a:prstDash val="solid"/>
          </a:ln>
        </p:spPr>
      </p:sp>
      <p:sp>
        <p:nvSpPr>
          <p:cNvPr id="32" name="Text 30"/>
          <p:cNvSpPr/>
          <p:nvPr/>
        </p:nvSpPr>
        <p:spPr>
          <a:xfrm>
            <a:off x="6428232" y="4215384"/>
            <a:ext cx="2331720" cy="237744"/>
          </a:xfrm>
          <a:prstGeom prst="rect">
            <a:avLst/>
          </a:prstGeom>
          <a:noFill/>
          <a:ln/>
        </p:spPr>
        <p:txBody>
          <a:bodyPr wrap="square" lIns="0" tIns="0" rIns="0" bIns="0" rtlCol="0" anchor="ctr">
            <a:normAutofit/>
          </a:bodyPr>
          <a:lstStyle/>
          <a:p>
            <a:pPr indent="0" marL="0">
              <a:buNone/>
            </a:pPr>
            <a:r>
              <a:rPr lang="en-US" sz="1200" dirty="0">
                <a:solidFill>
                  <a:srgbClr val="F2F7FB"/>
                </a:solidFill>
                <a:latin typeface="Aptos" pitchFamily="34" charset="0"/>
                <a:ea typeface="Aptos" pitchFamily="34" charset="-122"/>
                <a:cs typeface="Aptos" pitchFamily="34" charset="-120"/>
              </a:rPr>
              <a:t>1.62 × 50%</a:t>
            </a:r>
            <a:endParaRPr lang="en-US" sz="1200" dirty="0"/>
          </a:p>
        </p:txBody>
      </p:sp>
      <p:sp>
        <p:nvSpPr>
          <p:cNvPr id="33" name="Text 31"/>
          <p:cNvSpPr/>
          <p:nvPr/>
        </p:nvSpPr>
        <p:spPr>
          <a:xfrm>
            <a:off x="8942832" y="4215384"/>
            <a:ext cx="2350008" cy="237744"/>
          </a:xfrm>
          <a:prstGeom prst="rect">
            <a:avLst/>
          </a:prstGeom>
          <a:noFill/>
          <a:ln/>
        </p:spPr>
        <p:txBody>
          <a:bodyPr wrap="square" lIns="0" tIns="0" rIns="0" bIns="0" rtlCol="0" anchor="ctr">
            <a:normAutofit/>
          </a:bodyPr>
          <a:lstStyle/>
          <a:p>
            <a:pPr algn="r" indent="0" marL="0">
              <a:buNone/>
            </a:pPr>
            <a:r>
              <a:rPr lang="en-US" sz="1200" b="1" dirty="0">
                <a:solidFill>
                  <a:srgbClr val="58DFC7"/>
                </a:solidFill>
                <a:latin typeface="Aptos" pitchFamily="34" charset="0"/>
                <a:ea typeface="Aptos" pitchFamily="34" charset="-122"/>
                <a:cs typeface="Aptos" pitchFamily="34" charset="-120"/>
              </a:rPr>
              <a:t>0.81 expected SQLs</a:t>
            </a:r>
            <a:endParaRPr lang="en-US" sz="1200" dirty="0"/>
          </a:p>
        </p:txBody>
      </p:sp>
      <p:sp>
        <p:nvSpPr>
          <p:cNvPr id="34" name="Shape 32"/>
          <p:cNvSpPr/>
          <p:nvPr/>
        </p:nvSpPr>
        <p:spPr>
          <a:xfrm>
            <a:off x="6400800" y="4526280"/>
            <a:ext cx="4965192" cy="0"/>
          </a:xfrm>
          <a:prstGeom prst="line">
            <a:avLst/>
          </a:prstGeom>
          <a:noFill/>
          <a:ln w="7620">
            <a:solidFill>
              <a:srgbClr val="30475A"/>
            </a:solidFill>
            <a:prstDash val="solid"/>
          </a:ln>
        </p:spPr>
      </p:sp>
      <p:sp>
        <p:nvSpPr>
          <p:cNvPr id="35" name="Shape 33"/>
          <p:cNvSpPr/>
          <p:nvPr/>
        </p:nvSpPr>
        <p:spPr>
          <a:xfrm>
            <a:off x="557784" y="5276088"/>
            <a:ext cx="11064240" cy="868680"/>
          </a:xfrm>
          <a:prstGeom prst="roundRect">
            <a:avLst>
              <a:gd name="adj" fmla="val 13684"/>
            </a:avLst>
          </a:prstGeom>
          <a:solidFill>
            <a:srgbClr val="19354A"/>
          </a:solidFill>
          <a:ln w="12700">
            <a:solidFill>
              <a:srgbClr val="19354A"/>
            </a:solidFill>
            <a:prstDash val="solid"/>
          </a:ln>
        </p:spPr>
      </p:sp>
      <p:sp>
        <p:nvSpPr>
          <p:cNvPr id="36" name="Text 34"/>
          <p:cNvSpPr/>
          <p:nvPr/>
        </p:nvSpPr>
        <p:spPr>
          <a:xfrm>
            <a:off x="758952" y="5394960"/>
            <a:ext cx="1051560" cy="210312"/>
          </a:xfrm>
          <a:prstGeom prst="rect">
            <a:avLst/>
          </a:prstGeom>
          <a:noFill/>
          <a:ln/>
        </p:spPr>
        <p:txBody>
          <a:bodyPr wrap="square" lIns="0" tIns="0" rIns="0" bIns="0" rtlCol="0" anchor="ctr">
            <a:normAutofit/>
          </a:bodyPr>
          <a:lstStyle/>
          <a:p>
            <a:pPr indent="0" marL="0">
              <a:buNone/>
            </a:pPr>
            <a:r>
              <a:rPr lang="en-US" sz="1000" b="1" dirty="0">
                <a:solidFill>
                  <a:srgbClr val="58DFC7"/>
                </a:solidFill>
                <a:latin typeface="Aptos" pitchFamily="34" charset="0"/>
                <a:ea typeface="Aptos" pitchFamily="34" charset="-122"/>
                <a:cs typeface="Aptos" pitchFamily="34" charset="-120"/>
              </a:rPr>
              <a:t>KEYWORDS</a:t>
            </a:r>
            <a:endParaRPr lang="en-US" sz="1000" dirty="0"/>
          </a:p>
        </p:txBody>
      </p:sp>
      <p:sp>
        <p:nvSpPr>
          <p:cNvPr id="37" name="Text 35"/>
          <p:cNvSpPr/>
          <p:nvPr/>
        </p:nvSpPr>
        <p:spPr>
          <a:xfrm>
            <a:off x="1828800" y="5394960"/>
            <a:ext cx="9509760" cy="228600"/>
          </a:xfrm>
          <a:prstGeom prst="rect">
            <a:avLst/>
          </a:prstGeom>
          <a:noFill/>
          <a:ln/>
        </p:spPr>
        <p:txBody>
          <a:bodyPr wrap="square" lIns="0" tIns="0" rIns="0" bIns="0" rtlCol="0" anchor="ctr">
            <a:normAutofit/>
          </a:bodyPr>
          <a:lstStyle/>
          <a:p>
            <a:pPr indent="0" marL="0">
              <a:buNone/>
            </a:pPr>
            <a:r>
              <a:rPr lang="en-US" sz="1065" dirty="0">
                <a:solidFill>
                  <a:srgbClr val="F2F7FB"/>
                </a:solidFill>
                <a:latin typeface="Aptos" pitchFamily="34" charset="0"/>
                <a:ea typeface="Aptos" pitchFamily="34" charset="-122"/>
                <a:cs typeface="Aptos" pitchFamily="34" charset="-120"/>
              </a:rPr>
              <a:t>[multi location dry cleaning software] · “dry cleaning pos software” · “dry cleaning franchise software”</a:t>
            </a:r>
            <a:endParaRPr lang="en-US" sz="1065" dirty="0"/>
          </a:p>
        </p:txBody>
      </p:sp>
      <p:sp>
        <p:nvSpPr>
          <p:cNvPr id="38" name="Text 36"/>
          <p:cNvSpPr/>
          <p:nvPr/>
        </p:nvSpPr>
        <p:spPr>
          <a:xfrm>
            <a:off x="758952" y="5742432"/>
            <a:ext cx="1051560" cy="210312"/>
          </a:xfrm>
          <a:prstGeom prst="rect">
            <a:avLst/>
          </a:prstGeom>
          <a:noFill/>
          <a:ln/>
        </p:spPr>
        <p:txBody>
          <a:bodyPr wrap="square" lIns="0" tIns="0" rIns="0" bIns="0" rtlCol="0" anchor="ctr">
            <a:normAutofit/>
          </a:bodyPr>
          <a:lstStyle/>
          <a:p>
            <a:pPr indent="0" marL="0">
              <a:buNone/>
            </a:pPr>
            <a:r>
              <a:rPr lang="en-US" sz="1000" b="1" dirty="0">
                <a:solidFill>
                  <a:srgbClr val="F3C77A"/>
                </a:solidFill>
                <a:latin typeface="Aptos" pitchFamily="34" charset="0"/>
                <a:ea typeface="Aptos" pitchFamily="34" charset="-122"/>
                <a:cs typeface="Aptos" pitchFamily="34" charset="-120"/>
              </a:rPr>
              <a:t>NEGATIVES</a:t>
            </a:r>
            <a:endParaRPr lang="en-US" sz="1000" dirty="0"/>
          </a:p>
        </p:txBody>
      </p:sp>
      <p:sp>
        <p:nvSpPr>
          <p:cNvPr id="39" name="Text 37"/>
          <p:cNvSpPr/>
          <p:nvPr/>
        </p:nvSpPr>
        <p:spPr>
          <a:xfrm>
            <a:off x="1828800" y="5733288"/>
            <a:ext cx="9509760" cy="237744"/>
          </a:xfrm>
          <a:prstGeom prst="rect">
            <a:avLst/>
          </a:prstGeom>
          <a:noFill/>
          <a:ln/>
        </p:spPr>
        <p:txBody>
          <a:bodyPr wrap="square" lIns="0" tIns="0" rIns="0" bIns="0" rtlCol="0" anchor="ctr">
            <a:normAutofit/>
          </a:bodyPr>
          <a:lstStyle/>
          <a:p>
            <a:pPr indent="0" marL="0">
              <a:buNone/>
            </a:pPr>
            <a:r>
              <a:rPr lang="en-US" sz="1065" dirty="0">
                <a:solidFill>
                  <a:srgbClr val="ADC0D0"/>
                </a:solidFill>
                <a:latin typeface="Aptos" pitchFamily="34" charset="0"/>
                <a:ea typeface="Aptos" pitchFamily="34" charset="-122"/>
                <a:cs typeface="Aptos" pitchFamily="34" charset="-120"/>
              </a:rPr>
              <a:t>jobs · near me · machines · laundromat · coin operated · salary · consumer pickup</a:t>
            </a:r>
            <a:endParaRPr lang="en-US" sz="106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84632" y="265176"/>
            <a:ext cx="5486400" cy="219456"/>
          </a:xfrm>
          <a:prstGeom prst="rect">
            <a:avLst/>
          </a:prstGeom>
          <a:noFill/>
          <a:ln/>
        </p:spPr>
        <p:txBody>
          <a:bodyPr wrap="square" lIns="0" tIns="0" rIns="0" bIns="0" rtlCol="0" anchor="ctr">
            <a:normAutofit/>
          </a:bodyPr>
          <a:lstStyle/>
          <a:p>
            <a:pPr indent="0" marL="0">
              <a:buNone/>
            </a:pPr>
            <a:r>
              <a:rPr lang="en-US" sz="1000" b="1" spc="150" kern="0" dirty="0">
                <a:solidFill>
                  <a:srgbClr val="58DFC7"/>
                </a:solidFill>
                <a:latin typeface="Aptos" pitchFamily="34" charset="0"/>
                <a:ea typeface="Aptos" pitchFamily="34" charset="-122"/>
                <a:cs typeface="Aptos" pitchFamily="34" charset="-120"/>
              </a:rPr>
              <a:t>QUICK  /  US GO-TO-MARKET</a:t>
            </a:r>
            <a:endParaRPr lang="en-US" sz="1000" dirty="0"/>
          </a:p>
        </p:txBody>
      </p:sp>
      <p:sp>
        <p:nvSpPr>
          <p:cNvPr id="3" name="Text 1"/>
          <p:cNvSpPr/>
          <p:nvPr/>
        </p:nvSpPr>
        <p:spPr>
          <a:xfrm>
            <a:off x="10607040" y="265176"/>
            <a:ext cx="1051560" cy="219456"/>
          </a:xfrm>
          <a:prstGeom prst="rect">
            <a:avLst/>
          </a:prstGeom>
          <a:noFill/>
          <a:ln/>
        </p:spPr>
        <p:txBody>
          <a:bodyPr wrap="square" lIns="0" tIns="0" rIns="0" bIns="0" rtlCol="0" anchor="ctr">
            <a:normAutofit/>
          </a:bodyPr>
          <a:lstStyle/>
          <a:p>
            <a:pPr algn="r" indent="0" marL="0">
              <a:buNone/>
            </a:pPr>
            <a:r>
              <a:rPr lang="en-US" sz="1000" dirty="0">
                <a:solidFill>
                  <a:srgbClr val="ADC0D0"/>
                </a:solidFill>
                <a:latin typeface="Aptos" pitchFamily="34" charset="0"/>
                <a:ea typeface="Aptos" pitchFamily="34" charset="-122"/>
                <a:cs typeface="Aptos" pitchFamily="34" charset="-120"/>
              </a:rPr>
              <a:t>06 / 09</a:t>
            </a:r>
            <a:endParaRPr lang="en-US" sz="1000" dirty="0"/>
          </a:p>
        </p:txBody>
      </p:sp>
      <p:sp>
        <p:nvSpPr>
          <p:cNvPr id="4" name="Shape 2"/>
          <p:cNvSpPr/>
          <p:nvPr/>
        </p:nvSpPr>
        <p:spPr>
          <a:xfrm>
            <a:off x="484632" y="621792"/>
            <a:ext cx="11219688" cy="0"/>
          </a:xfrm>
          <a:prstGeom prst="line">
            <a:avLst/>
          </a:prstGeom>
          <a:noFill/>
          <a:ln w="12700">
            <a:solidFill>
              <a:srgbClr val="30475A"/>
            </a:solidFill>
            <a:prstDash val="solid"/>
          </a:ln>
        </p:spPr>
      </p:sp>
      <p:sp>
        <p:nvSpPr>
          <p:cNvPr id="5" name="Text 3"/>
          <p:cNvSpPr/>
          <p:nvPr/>
        </p:nvSpPr>
        <p:spPr>
          <a:xfrm>
            <a:off x="484632" y="777240"/>
            <a:ext cx="11201400" cy="484632"/>
          </a:xfrm>
          <a:prstGeom prst="rect">
            <a:avLst/>
          </a:prstGeom>
          <a:noFill/>
          <a:ln/>
        </p:spPr>
        <p:txBody>
          <a:bodyPr wrap="square" lIns="0" tIns="0" rIns="0" bIns="0" rtlCol="0" anchor="ctr">
            <a:normAutofit/>
          </a:bodyPr>
          <a:lstStyle/>
          <a:p>
            <a:pPr indent="0" marL="0">
              <a:buNone/>
            </a:pPr>
            <a:r>
              <a:rPr lang="en-US" sz="2400" b="1" dirty="0">
                <a:solidFill>
                  <a:srgbClr val="F2F7FB"/>
                </a:solidFill>
                <a:latin typeface="Aptos" pitchFamily="34" charset="0"/>
                <a:ea typeface="Aptos" pitchFamily="34" charset="-122"/>
                <a:cs typeface="Aptos" pitchFamily="34" charset="-120"/>
              </a:rPr>
              <a:t>Instrument truth → earn qualified meetings → scale only the winner.</a:t>
            </a:r>
            <a:endParaRPr lang="en-US" sz="2400" dirty="0"/>
          </a:p>
        </p:txBody>
      </p:sp>
      <p:sp>
        <p:nvSpPr>
          <p:cNvPr id="6" name="Text 4"/>
          <p:cNvSpPr/>
          <p:nvPr/>
        </p:nvSpPr>
        <p:spPr>
          <a:xfrm>
            <a:off x="484632" y="1307592"/>
            <a:ext cx="11155680" cy="320040"/>
          </a:xfrm>
          <a:prstGeom prst="rect">
            <a:avLst/>
          </a:prstGeom>
          <a:noFill/>
          <a:ln/>
        </p:spPr>
        <p:txBody>
          <a:bodyPr wrap="square" lIns="0" tIns="0" rIns="0" bIns="0" rtlCol="0" anchor="ctr">
            <a:normAutofit/>
          </a:bodyPr>
          <a:lstStyle/>
          <a:p>
            <a:pPr indent="0" marL="0">
              <a:buNone/>
            </a:pPr>
            <a:r>
              <a:rPr lang="en-US" sz="1120" dirty="0">
                <a:solidFill>
                  <a:srgbClr val="ADC0D0"/>
                </a:solidFill>
                <a:latin typeface="Aptos" pitchFamily="34" charset="0"/>
                <a:ea typeface="Aptos" pitchFamily="34" charset="-122"/>
                <a:cs typeface="Aptos" pitchFamily="34" charset="-120"/>
              </a:rPr>
              <a:t>A weekly joint commercial review is the operating system—not a once-a-quarter slide deck.</a:t>
            </a:r>
            <a:endParaRPr lang="en-US" sz="1120" dirty="0"/>
          </a:p>
        </p:txBody>
      </p:sp>
      <p:sp>
        <p:nvSpPr>
          <p:cNvPr id="7" name="Shape 5"/>
          <p:cNvSpPr/>
          <p:nvPr/>
        </p:nvSpPr>
        <p:spPr>
          <a:xfrm>
            <a:off x="484632" y="6492240"/>
            <a:ext cx="11219688" cy="0"/>
          </a:xfrm>
          <a:prstGeom prst="line">
            <a:avLst/>
          </a:prstGeom>
          <a:noFill/>
          <a:ln w="12700">
            <a:solidFill>
              <a:srgbClr val="30475A"/>
            </a:solidFill>
            <a:prstDash val="solid"/>
          </a:ln>
        </p:spPr>
      </p:sp>
      <p:sp>
        <p:nvSpPr>
          <p:cNvPr id="8" name="Text 6"/>
          <p:cNvSpPr/>
          <p:nvPr/>
        </p:nvSpPr>
        <p:spPr>
          <a:xfrm>
            <a:off x="502920" y="6565392"/>
            <a:ext cx="8229600" cy="155448"/>
          </a:xfrm>
          <a:prstGeom prst="rect">
            <a:avLst/>
          </a:prstGeom>
          <a:noFill/>
          <a:ln/>
        </p:spPr>
        <p:txBody>
          <a:bodyPr wrap="square" lIns="0" tIns="0" rIns="0" bIns="0" rtlCol="0" anchor="ctr">
            <a:normAutofit/>
          </a:bodyPr>
          <a:lstStyle/>
          <a:p>
            <a:pPr indent="0" marL="0">
              <a:buNone/>
            </a:pPr>
            <a:r>
              <a:rPr lang="en-US" sz="810" spc="100" kern="0" dirty="0">
                <a:solidFill>
                  <a:srgbClr val="ADC0D0"/>
                </a:solidFill>
                <a:latin typeface="Aptos" pitchFamily="34" charset="0"/>
                <a:ea typeface="Aptos" pitchFamily="34" charset="-122"/>
                <a:cs typeface="Aptos" pitchFamily="34" charset="-120"/>
              </a:rPr>
              <a:t>90-DAY OPERATING CADENCE</a:t>
            </a:r>
            <a:endParaRPr lang="en-US" sz="810" dirty="0"/>
          </a:p>
        </p:txBody>
      </p:sp>
      <p:sp>
        <p:nvSpPr>
          <p:cNvPr id="9" name="Text 7"/>
          <p:cNvSpPr/>
          <p:nvPr/>
        </p:nvSpPr>
        <p:spPr>
          <a:xfrm>
            <a:off x="8092440" y="6565392"/>
            <a:ext cx="3611880" cy="155448"/>
          </a:xfrm>
          <a:prstGeom prst="rect">
            <a:avLst/>
          </a:prstGeom>
          <a:noFill/>
          <a:ln/>
        </p:spPr>
        <p:txBody>
          <a:bodyPr wrap="square" lIns="0" tIns="0" rIns="0" bIns="0" rtlCol="0" anchor="ctr">
            <a:normAutofit/>
          </a:bodyPr>
          <a:lstStyle/>
          <a:p>
            <a:pPr algn="r" indent="0" marL="0">
              <a:buNone/>
            </a:pPr>
            <a:r>
              <a:rPr lang="en-US" sz="750" dirty="0">
                <a:solidFill>
                  <a:srgbClr val="ADC0D0"/>
                </a:solidFill>
                <a:latin typeface="Aptos" pitchFamily="34" charset="0"/>
                <a:ea typeface="Aptos" pitchFamily="34" charset="-122"/>
                <a:cs typeface="Aptos" pitchFamily="34" charset="-120"/>
              </a:rPr>
              <a:t>Prepared 13 Oct 2026 · decision proposal, not company results</a:t>
            </a:r>
            <a:endParaRPr lang="en-US" sz="750" dirty="0"/>
          </a:p>
        </p:txBody>
      </p:sp>
      <p:sp>
        <p:nvSpPr>
          <p:cNvPr id="10" name="Shape 8"/>
          <p:cNvSpPr/>
          <p:nvPr/>
        </p:nvSpPr>
        <p:spPr>
          <a:xfrm>
            <a:off x="548640" y="1920240"/>
            <a:ext cx="3547872" cy="4041648"/>
          </a:xfrm>
          <a:prstGeom prst="roundRect">
            <a:avLst>
              <a:gd name="adj" fmla="val 3351"/>
            </a:avLst>
          </a:prstGeom>
          <a:solidFill>
            <a:srgbClr val="122639"/>
          </a:solidFill>
          <a:ln w="12700">
            <a:solidFill>
              <a:srgbClr val="122639"/>
            </a:solidFill>
            <a:prstDash val="solid"/>
          </a:ln>
        </p:spPr>
      </p:sp>
      <p:sp>
        <p:nvSpPr>
          <p:cNvPr id="11" name="Shape 9"/>
          <p:cNvSpPr/>
          <p:nvPr/>
        </p:nvSpPr>
        <p:spPr>
          <a:xfrm>
            <a:off x="768096" y="2130552"/>
            <a:ext cx="1444752" cy="265176"/>
          </a:xfrm>
          <a:prstGeom prst="roundRect">
            <a:avLst>
              <a:gd name="adj" fmla="val 41379"/>
            </a:avLst>
          </a:prstGeom>
          <a:solidFill>
            <a:srgbClr val="19354A"/>
          </a:solidFill>
          <a:ln w="12700">
            <a:solidFill>
              <a:srgbClr val="19354A"/>
            </a:solidFill>
            <a:prstDash val="solid"/>
          </a:ln>
        </p:spPr>
      </p:sp>
      <p:sp>
        <p:nvSpPr>
          <p:cNvPr id="12" name="Text 10"/>
          <p:cNvSpPr/>
          <p:nvPr/>
        </p:nvSpPr>
        <p:spPr>
          <a:xfrm>
            <a:off x="859536" y="2162556"/>
            <a:ext cx="1261872" cy="182880"/>
          </a:xfrm>
          <a:prstGeom prst="rect">
            <a:avLst/>
          </a:prstGeom>
          <a:noFill/>
          <a:ln/>
        </p:spPr>
        <p:txBody>
          <a:bodyPr wrap="square" lIns="0" tIns="0" rIns="0" bIns="0" rtlCol="0" anchor="ctr">
            <a:normAutofit/>
          </a:bodyPr>
          <a:lstStyle/>
          <a:p>
            <a:pPr indent="0" marL="0">
              <a:buNone/>
            </a:pPr>
            <a:r>
              <a:rPr lang="en-US" sz="900" b="1" spc="30" kern="0" dirty="0">
                <a:solidFill>
                  <a:srgbClr val="F3C77A"/>
                </a:solidFill>
                <a:latin typeface="Aptos" pitchFamily="34" charset="0"/>
                <a:ea typeface="Aptos" pitchFamily="34" charset="-122"/>
                <a:cs typeface="Aptos" pitchFamily="34" charset="-120"/>
              </a:rPr>
              <a:t>DAYS 01–30</a:t>
            </a:r>
            <a:endParaRPr lang="en-US" sz="900" dirty="0"/>
          </a:p>
        </p:txBody>
      </p:sp>
      <p:sp>
        <p:nvSpPr>
          <p:cNvPr id="13" name="Text 11"/>
          <p:cNvSpPr/>
          <p:nvPr/>
        </p:nvSpPr>
        <p:spPr>
          <a:xfrm>
            <a:off x="777240" y="2542032"/>
            <a:ext cx="3017520" cy="329184"/>
          </a:xfrm>
          <a:prstGeom prst="rect">
            <a:avLst/>
          </a:prstGeom>
          <a:noFill/>
          <a:ln/>
        </p:spPr>
        <p:txBody>
          <a:bodyPr wrap="square" lIns="0" tIns="0" rIns="0" bIns="0" rtlCol="0" anchor="ctr">
            <a:normAutofit/>
          </a:bodyPr>
          <a:lstStyle/>
          <a:p>
            <a:pPr indent="0" marL="0">
              <a:buNone/>
            </a:pPr>
            <a:r>
              <a:rPr lang="en-US" sz="1200" b="1" dirty="0">
                <a:solidFill>
                  <a:srgbClr val="F2F7FB"/>
                </a:solidFill>
                <a:latin typeface="Aptos" pitchFamily="34" charset="0"/>
                <a:ea typeface="Aptos" pitchFamily="34" charset="-122"/>
                <a:cs typeface="Aptos" pitchFamily="34" charset="-120"/>
              </a:rPr>
              <a:t>PROVE THE BASELINE</a:t>
            </a:r>
            <a:endParaRPr lang="en-US" sz="1200" dirty="0"/>
          </a:p>
        </p:txBody>
      </p:sp>
      <p:sp>
        <p:nvSpPr>
          <p:cNvPr id="14" name="Text 12"/>
          <p:cNvSpPr/>
          <p:nvPr/>
        </p:nvSpPr>
        <p:spPr>
          <a:xfrm>
            <a:off x="777240" y="3044952"/>
            <a:ext cx="3081528" cy="1691640"/>
          </a:xfrm>
          <a:prstGeom prst="rect">
            <a:avLst/>
          </a:prstGeom>
          <a:noFill/>
          <a:ln/>
        </p:spPr>
        <p:txBody>
          <a:bodyPr wrap="square" lIns="0" tIns="0" rIns="0" bIns="0" rtlCol="0" anchor="t">
            <a:normAutofit/>
          </a:bodyPr>
          <a:lstStyle/>
          <a:p>
            <a:pPr indent="0" marL="0">
              <a:buNone/>
            </a:pPr>
            <a:r>
              <a:rPr lang="en-US" sz="1150" dirty="0">
                <a:solidFill>
                  <a:srgbClr val="ADC0D0"/>
                </a:solidFill>
                <a:latin typeface="Aptos" pitchFamily="34" charset="0"/>
                <a:ea typeface="Aptos" pitchFamily="34" charset="-122"/>
                <a:cs typeface="Aptos" pitchFamily="34" charset="-120"/>
              </a:rPr>
              <a:t>• Review 90d Meta cohorts + lead definitions</a:t>
            </a:r>
            <a:endParaRPr lang="en-US" sz="1150" dirty="0"/>
          </a:p>
          <a:p>
            <a:pPr indent="0" marL="0">
              <a:buNone/>
            </a:pPr>
            <a:r>
              <a:rPr lang="en-US" sz="1150" dirty="0">
                <a:solidFill>
                  <a:srgbClr val="ADC0D0"/>
                </a:solidFill>
                <a:latin typeface="Aptos" pitchFamily="34" charset="0"/>
                <a:ea typeface="Aptos" pitchFamily="34" charset="-122"/>
                <a:cs typeface="Aptos" pitchFamily="34" charset="-120"/>
              </a:rPr>
              <a:t>• Confirm US price, demos, integrations + migration</a:t>
            </a:r>
            <a:endParaRPr lang="en-US" sz="1150" dirty="0"/>
          </a:p>
          <a:p>
            <a:pPr indent="0" marL="0">
              <a:buNone/>
            </a:pPr>
            <a:r>
              <a:rPr lang="en-US" sz="1150" dirty="0">
                <a:solidFill>
                  <a:srgbClr val="ADC0D0"/>
                </a:solidFill>
                <a:latin typeface="Aptos" pitchFamily="34" charset="0"/>
                <a:ea typeface="Aptos" pitchFamily="34" charset="-122"/>
                <a:cs typeface="Aptos" pitchFamily="34" charset="-120"/>
              </a:rPr>
              <a:t>• 10–12 operator discovery calls</a:t>
            </a:r>
            <a:endParaRPr lang="en-US" sz="1150" dirty="0"/>
          </a:p>
          <a:p>
            <a:pPr indent="0" marL="0">
              <a:buNone/>
            </a:pPr>
            <a:r>
              <a:rPr lang="en-US" sz="1150" dirty="0">
                <a:solidFill>
                  <a:srgbClr val="ADC0D0"/>
                </a:solidFill>
                <a:latin typeface="Aptos" pitchFamily="34" charset="0"/>
                <a:ea typeface="Aptos" pitchFamily="34" charset="-122"/>
                <a:cs typeface="Aptos" pitchFamily="34" charset="-120"/>
              </a:rPr>
              <a:t>• 200 verified parent accounts</a:t>
            </a:r>
            <a:endParaRPr lang="en-US" sz="1150" dirty="0"/>
          </a:p>
          <a:p>
            <a:pPr indent="0" marL="0">
              <a:buNone/>
            </a:pPr>
            <a:r>
              <a:rPr lang="en-US" sz="1150" dirty="0">
                <a:solidFill>
                  <a:srgbClr val="ADC0D0"/>
                </a:solidFill>
                <a:latin typeface="Aptos" pitchFamily="34" charset="0"/>
                <a:ea typeface="Aptos" pitchFamily="34" charset="-122"/>
                <a:cs typeface="Aptos" pitchFamily="34" charset="-120"/>
              </a:rPr>
              <a:t>• QA source tracking + ₹30k Search pilot</a:t>
            </a:r>
            <a:endParaRPr lang="en-US" sz="1150" dirty="0"/>
          </a:p>
        </p:txBody>
      </p:sp>
      <p:sp>
        <p:nvSpPr>
          <p:cNvPr id="15" name="Shape 13"/>
          <p:cNvSpPr/>
          <p:nvPr/>
        </p:nvSpPr>
        <p:spPr>
          <a:xfrm>
            <a:off x="777240" y="4937760"/>
            <a:ext cx="3081528" cy="0"/>
          </a:xfrm>
          <a:prstGeom prst="line">
            <a:avLst/>
          </a:prstGeom>
          <a:noFill/>
          <a:ln w="12700">
            <a:solidFill>
              <a:srgbClr val="30475A"/>
            </a:solidFill>
            <a:prstDash val="solid"/>
          </a:ln>
        </p:spPr>
      </p:sp>
      <p:sp>
        <p:nvSpPr>
          <p:cNvPr id="16" name="Text 14"/>
          <p:cNvSpPr/>
          <p:nvPr/>
        </p:nvSpPr>
        <p:spPr>
          <a:xfrm>
            <a:off x="777240" y="5047488"/>
            <a:ext cx="3063240" cy="393192"/>
          </a:xfrm>
          <a:prstGeom prst="rect">
            <a:avLst/>
          </a:prstGeom>
          <a:noFill/>
          <a:ln/>
        </p:spPr>
        <p:txBody>
          <a:bodyPr wrap="square" lIns="0" tIns="0" rIns="0" bIns="0" rtlCol="0" anchor="t">
            <a:normAutofit/>
          </a:bodyPr>
          <a:lstStyle/>
          <a:p>
            <a:pPr indent="0" marL="0">
              <a:buNone/>
            </a:pPr>
            <a:r>
              <a:rPr lang="en-US" sz="1020" b="1" dirty="0">
                <a:solidFill>
                  <a:srgbClr val="58DFC7"/>
                </a:solidFill>
                <a:latin typeface="Aptos" pitchFamily="34" charset="0"/>
                <a:ea typeface="Aptos" pitchFamily="34" charset="-122"/>
                <a:cs typeface="Aptos" pitchFamily="34" charset="-120"/>
              </a:rPr>
              <a:t>Deliver: CRM stage glossary, 1 LP, 2 assets, live objections</a:t>
            </a:r>
            <a:endParaRPr lang="en-US" sz="1020" dirty="0"/>
          </a:p>
        </p:txBody>
      </p:sp>
      <p:sp>
        <p:nvSpPr>
          <p:cNvPr id="17" name="Text 15"/>
          <p:cNvSpPr/>
          <p:nvPr/>
        </p:nvSpPr>
        <p:spPr>
          <a:xfrm>
            <a:off x="777240" y="5559552"/>
            <a:ext cx="3063240" cy="274320"/>
          </a:xfrm>
          <a:prstGeom prst="rect">
            <a:avLst/>
          </a:prstGeom>
          <a:noFill/>
          <a:ln/>
        </p:spPr>
        <p:txBody>
          <a:bodyPr wrap="square" lIns="0" tIns="0" rIns="0" bIns="0" rtlCol="0" anchor="t">
            <a:normAutofit/>
          </a:bodyPr>
          <a:lstStyle/>
          <a:p>
            <a:pPr indent="0" marL="0">
              <a:buNone/>
            </a:pPr>
            <a:r>
              <a:rPr lang="en-US" sz="950" dirty="0">
                <a:solidFill>
                  <a:srgbClr val="F3C77A"/>
                </a:solidFill>
                <a:latin typeface="Aptos" pitchFamily="34" charset="0"/>
                <a:ea typeface="Aptos" pitchFamily="34" charset="-122"/>
                <a:cs typeface="Aptos" pitchFamily="34" charset="-120"/>
              </a:rPr>
              <a:t>Gate: wrong product fit → stop public claims</a:t>
            </a:r>
            <a:endParaRPr lang="en-US" sz="950" dirty="0"/>
          </a:p>
        </p:txBody>
      </p:sp>
      <p:sp>
        <p:nvSpPr>
          <p:cNvPr id="18" name="Shape 16"/>
          <p:cNvSpPr/>
          <p:nvPr/>
        </p:nvSpPr>
        <p:spPr>
          <a:xfrm>
            <a:off x="4325112" y="1920240"/>
            <a:ext cx="3547872" cy="4041648"/>
          </a:xfrm>
          <a:prstGeom prst="roundRect">
            <a:avLst>
              <a:gd name="adj" fmla="val 3351"/>
            </a:avLst>
          </a:prstGeom>
          <a:solidFill>
            <a:srgbClr val="173047"/>
          </a:solidFill>
          <a:ln w="12700">
            <a:solidFill>
              <a:srgbClr val="173047"/>
            </a:solidFill>
            <a:prstDash val="solid"/>
          </a:ln>
        </p:spPr>
      </p:sp>
      <p:sp>
        <p:nvSpPr>
          <p:cNvPr id="19" name="Shape 17"/>
          <p:cNvSpPr/>
          <p:nvPr/>
        </p:nvSpPr>
        <p:spPr>
          <a:xfrm>
            <a:off x="4544568" y="2130552"/>
            <a:ext cx="1444752" cy="265176"/>
          </a:xfrm>
          <a:prstGeom prst="roundRect">
            <a:avLst>
              <a:gd name="adj" fmla="val 41379"/>
            </a:avLst>
          </a:prstGeom>
          <a:solidFill>
            <a:srgbClr val="204059"/>
          </a:solidFill>
          <a:ln w="12700">
            <a:solidFill>
              <a:srgbClr val="204059"/>
            </a:solidFill>
            <a:prstDash val="solid"/>
          </a:ln>
        </p:spPr>
      </p:sp>
      <p:sp>
        <p:nvSpPr>
          <p:cNvPr id="20" name="Text 18"/>
          <p:cNvSpPr/>
          <p:nvPr/>
        </p:nvSpPr>
        <p:spPr>
          <a:xfrm>
            <a:off x="4636008" y="2162556"/>
            <a:ext cx="1261872" cy="182880"/>
          </a:xfrm>
          <a:prstGeom prst="rect">
            <a:avLst/>
          </a:prstGeom>
          <a:noFill/>
          <a:ln/>
        </p:spPr>
        <p:txBody>
          <a:bodyPr wrap="square" lIns="0" tIns="0" rIns="0" bIns="0" rtlCol="0" anchor="ctr">
            <a:normAutofit/>
          </a:bodyPr>
          <a:lstStyle/>
          <a:p>
            <a:pPr indent="0" marL="0">
              <a:buNone/>
            </a:pPr>
            <a:r>
              <a:rPr lang="en-US" sz="900" b="1" spc="30" kern="0" dirty="0">
                <a:solidFill>
                  <a:srgbClr val="F3C77A"/>
                </a:solidFill>
                <a:latin typeface="Aptos" pitchFamily="34" charset="0"/>
                <a:ea typeface="Aptos" pitchFamily="34" charset="-122"/>
                <a:cs typeface="Aptos" pitchFamily="34" charset="-120"/>
              </a:rPr>
              <a:t>DAYS 31–60</a:t>
            </a:r>
            <a:endParaRPr lang="en-US" sz="900" dirty="0"/>
          </a:p>
        </p:txBody>
      </p:sp>
      <p:sp>
        <p:nvSpPr>
          <p:cNvPr id="21" name="Text 19"/>
          <p:cNvSpPr/>
          <p:nvPr/>
        </p:nvSpPr>
        <p:spPr>
          <a:xfrm>
            <a:off x="4553712" y="2542032"/>
            <a:ext cx="3017520" cy="329184"/>
          </a:xfrm>
          <a:prstGeom prst="rect">
            <a:avLst/>
          </a:prstGeom>
          <a:noFill/>
          <a:ln/>
        </p:spPr>
        <p:txBody>
          <a:bodyPr wrap="square" lIns="0" tIns="0" rIns="0" bIns="0" rtlCol="0" anchor="ctr">
            <a:normAutofit/>
          </a:bodyPr>
          <a:lstStyle/>
          <a:p>
            <a:pPr indent="0" marL="0">
              <a:buNone/>
            </a:pPr>
            <a:r>
              <a:rPr lang="en-US" sz="1200" b="1" dirty="0">
                <a:solidFill>
                  <a:srgbClr val="F2F7FB"/>
                </a:solidFill>
                <a:latin typeface="Aptos" pitchFamily="34" charset="0"/>
                <a:ea typeface="Aptos" pitchFamily="34" charset="-122"/>
                <a:cs typeface="Aptos" pitchFamily="34" charset="-120"/>
              </a:rPr>
              <a:t>COMPARE REAL DEMAND</a:t>
            </a:r>
            <a:endParaRPr lang="en-US" sz="1200" dirty="0"/>
          </a:p>
        </p:txBody>
      </p:sp>
      <p:sp>
        <p:nvSpPr>
          <p:cNvPr id="22" name="Text 20"/>
          <p:cNvSpPr/>
          <p:nvPr/>
        </p:nvSpPr>
        <p:spPr>
          <a:xfrm>
            <a:off x="4553712" y="3044952"/>
            <a:ext cx="3081528" cy="1691640"/>
          </a:xfrm>
          <a:prstGeom prst="rect">
            <a:avLst/>
          </a:prstGeom>
          <a:noFill/>
          <a:ln/>
        </p:spPr>
        <p:txBody>
          <a:bodyPr wrap="square" lIns="0" tIns="0" rIns="0" bIns="0" rtlCol="0" anchor="t">
            <a:normAutofit/>
          </a:bodyPr>
          <a:lstStyle/>
          <a:p>
            <a:pPr indent="0" marL="0">
              <a:buNone/>
            </a:pPr>
            <a:r>
              <a:rPr lang="en-US" sz="1150" dirty="0">
                <a:solidFill>
                  <a:srgbClr val="ADC0D0"/>
                </a:solidFill>
                <a:latin typeface="Aptos" pitchFamily="34" charset="0"/>
                <a:ea typeface="Aptos" pitchFamily="34" charset="-122"/>
                <a:cs typeface="Aptos" pitchFamily="34" charset="-120"/>
              </a:rPr>
              <a:t>• Hand-score and contact accounts</a:t>
            </a:r>
            <a:endParaRPr lang="en-US" sz="1150" dirty="0"/>
          </a:p>
          <a:p>
            <a:pPr indent="0" marL="0">
              <a:buNone/>
            </a:pPr>
            <a:r>
              <a:rPr lang="en-US" sz="1150" dirty="0">
                <a:solidFill>
                  <a:srgbClr val="ADC0D0"/>
                </a:solidFill>
                <a:latin typeface="Aptos" pitchFamily="34" charset="0"/>
                <a:ea typeface="Aptos" pitchFamily="34" charset="-122"/>
                <a:cs typeface="Aptos" pitchFamily="34" charset="-120"/>
              </a:rPr>
              <a:t>• A/B pain-first vs ROI-first outreach</a:t>
            </a:r>
            <a:endParaRPr lang="en-US" sz="1150" dirty="0"/>
          </a:p>
          <a:p>
            <a:pPr indent="0" marL="0">
              <a:buNone/>
            </a:pPr>
            <a:r>
              <a:rPr lang="en-US" sz="1150" dirty="0">
                <a:solidFill>
                  <a:srgbClr val="ADC0D0"/>
                </a:solidFill>
                <a:latin typeface="Aptos" pitchFamily="34" charset="0"/>
                <a:ea typeface="Aptos" pitchFamily="34" charset="-122"/>
                <a:cs typeface="Aptos" pitchFamily="34" charset="-120"/>
              </a:rPr>
              <a:t>• Trial one confirmed partner session</a:t>
            </a:r>
            <a:endParaRPr lang="en-US" sz="1150" dirty="0"/>
          </a:p>
          <a:p>
            <a:pPr indent="0" marL="0">
              <a:buNone/>
            </a:pPr>
            <a:r>
              <a:rPr lang="en-US" sz="1150" dirty="0">
                <a:solidFill>
                  <a:srgbClr val="ADC0D0"/>
                </a:solidFill>
                <a:latin typeface="Aptos" pitchFamily="34" charset="0"/>
                <a:ea typeface="Aptos" pitchFamily="34" charset="-122"/>
                <a:cs typeface="Aptos" pitchFamily="34" charset="-120"/>
              </a:rPr>
              <a:t>• Coach handoff: speed, show, SQL</a:t>
            </a:r>
            <a:endParaRPr lang="en-US" sz="1150" dirty="0"/>
          </a:p>
          <a:p>
            <a:pPr indent="0" marL="0">
              <a:buNone/>
            </a:pPr>
            <a:r>
              <a:rPr lang="en-US" sz="1150" dirty="0">
                <a:solidFill>
                  <a:srgbClr val="ADC0D0"/>
                </a:solidFill>
                <a:latin typeface="Aptos" pitchFamily="34" charset="0"/>
                <a:ea typeface="Aptos" pitchFamily="34" charset="-122"/>
                <a:cs typeface="Aptos" pitchFamily="34" charset="-120"/>
              </a:rPr>
              <a:t>• Reallocate obvious query waste</a:t>
            </a:r>
            <a:endParaRPr lang="en-US" sz="1150" dirty="0"/>
          </a:p>
        </p:txBody>
      </p:sp>
      <p:sp>
        <p:nvSpPr>
          <p:cNvPr id="23" name="Shape 21"/>
          <p:cNvSpPr/>
          <p:nvPr/>
        </p:nvSpPr>
        <p:spPr>
          <a:xfrm>
            <a:off x="4553712" y="4937760"/>
            <a:ext cx="3081528" cy="0"/>
          </a:xfrm>
          <a:prstGeom prst="line">
            <a:avLst/>
          </a:prstGeom>
          <a:noFill/>
          <a:ln w="12700">
            <a:solidFill>
              <a:srgbClr val="30475A"/>
            </a:solidFill>
            <a:prstDash val="solid"/>
          </a:ln>
        </p:spPr>
      </p:sp>
      <p:sp>
        <p:nvSpPr>
          <p:cNvPr id="24" name="Text 22"/>
          <p:cNvSpPr/>
          <p:nvPr/>
        </p:nvSpPr>
        <p:spPr>
          <a:xfrm>
            <a:off x="4553712" y="5047488"/>
            <a:ext cx="3063240" cy="393192"/>
          </a:xfrm>
          <a:prstGeom prst="rect">
            <a:avLst/>
          </a:prstGeom>
          <a:noFill/>
          <a:ln/>
        </p:spPr>
        <p:txBody>
          <a:bodyPr wrap="square" lIns="0" tIns="0" rIns="0" bIns="0" rtlCol="0" anchor="t">
            <a:normAutofit/>
          </a:bodyPr>
          <a:lstStyle/>
          <a:p>
            <a:pPr indent="0" marL="0">
              <a:buNone/>
            </a:pPr>
            <a:r>
              <a:rPr lang="en-US" sz="1020" b="1" dirty="0">
                <a:solidFill>
                  <a:srgbClr val="58DFC7"/>
                </a:solidFill>
                <a:latin typeface="Aptos" pitchFamily="34" charset="0"/>
                <a:ea typeface="Aptos" pitchFamily="34" charset="-122"/>
                <a:cs typeface="Aptos" pitchFamily="34" charset="-120"/>
              </a:rPr>
              <a:t>Deliver: qualified-call evidence + first source ranking</a:t>
            </a:r>
            <a:endParaRPr lang="en-US" sz="1020" dirty="0"/>
          </a:p>
        </p:txBody>
      </p:sp>
      <p:sp>
        <p:nvSpPr>
          <p:cNvPr id="25" name="Text 23"/>
          <p:cNvSpPr/>
          <p:nvPr/>
        </p:nvSpPr>
        <p:spPr>
          <a:xfrm>
            <a:off x="4553712" y="5559552"/>
            <a:ext cx="3063240" cy="274320"/>
          </a:xfrm>
          <a:prstGeom prst="rect">
            <a:avLst/>
          </a:prstGeom>
          <a:noFill/>
          <a:ln/>
        </p:spPr>
        <p:txBody>
          <a:bodyPr wrap="square" lIns="0" tIns="0" rIns="0" bIns="0" rtlCol="0" anchor="t">
            <a:normAutofit/>
          </a:bodyPr>
          <a:lstStyle/>
          <a:p>
            <a:pPr indent="0" marL="0">
              <a:buNone/>
            </a:pPr>
            <a:r>
              <a:rPr lang="en-US" sz="950" dirty="0">
                <a:solidFill>
                  <a:srgbClr val="F3C77A"/>
                </a:solidFill>
                <a:latin typeface="Aptos" pitchFamily="34" charset="0"/>
                <a:ea typeface="Aptos" pitchFamily="34" charset="-122"/>
                <a:cs typeface="Aptos" pitchFamily="34" charset="-120"/>
              </a:rPr>
              <a:t>Gate: meetings with no pain → revise ICP</a:t>
            </a:r>
            <a:endParaRPr lang="en-US" sz="950" dirty="0"/>
          </a:p>
        </p:txBody>
      </p:sp>
      <p:sp>
        <p:nvSpPr>
          <p:cNvPr id="26" name="Shape 24"/>
          <p:cNvSpPr/>
          <p:nvPr/>
        </p:nvSpPr>
        <p:spPr>
          <a:xfrm>
            <a:off x="8101584" y="1920240"/>
            <a:ext cx="3547872" cy="4041648"/>
          </a:xfrm>
          <a:prstGeom prst="roundRect">
            <a:avLst>
              <a:gd name="adj" fmla="val 3351"/>
            </a:avLst>
          </a:prstGeom>
          <a:solidFill>
            <a:srgbClr val="122639"/>
          </a:solidFill>
          <a:ln w="12700">
            <a:solidFill>
              <a:srgbClr val="122639"/>
            </a:solidFill>
            <a:prstDash val="solid"/>
          </a:ln>
        </p:spPr>
      </p:sp>
      <p:sp>
        <p:nvSpPr>
          <p:cNvPr id="27" name="Shape 25"/>
          <p:cNvSpPr/>
          <p:nvPr/>
        </p:nvSpPr>
        <p:spPr>
          <a:xfrm>
            <a:off x="8321040" y="2130552"/>
            <a:ext cx="1444752" cy="265176"/>
          </a:xfrm>
          <a:prstGeom prst="roundRect">
            <a:avLst>
              <a:gd name="adj" fmla="val 41379"/>
            </a:avLst>
          </a:prstGeom>
          <a:solidFill>
            <a:srgbClr val="19354A"/>
          </a:solidFill>
          <a:ln w="12700">
            <a:solidFill>
              <a:srgbClr val="19354A"/>
            </a:solidFill>
            <a:prstDash val="solid"/>
          </a:ln>
        </p:spPr>
      </p:sp>
      <p:sp>
        <p:nvSpPr>
          <p:cNvPr id="28" name="Text 26"/>
          <p:cNvSpPr/>
          <p:nvPr/>
        </p:nvSpPr>
        <p:spPr>
          <a:xfrm>
            <a:off x="8412480" y="2162556"/>
            <a:ext cx="1261872" cy="182880"/>
          </a:xfrm>
          <a:prstGeom prst="rect">
            <a:avLst/>
          </a:prstGeom>
          <a:noFill/>
          <a:ln/>
        </p:spPr>
        <p:txBody>
          <a:bodyPr wrap="square" lIns="0" tIns="0" rIns="0" bIns="0" rtlCol="0" anchor="ctr">
            <a:normAutofit/>
          </a:bodyPr>
          <a:lstStyle/>
          <a:p>
            <a:pPr indent="0" marL="0">
              <a:buNone/>
            </a:pPr>
            <a:r>
              <a:rPr lang="en-US" sz="900" b="1" spc="30" kern="0" dirty="0">
                <a:solidFill>
                  <a:srgbClr val="F3C77A"/>
                </a:solidFill>
                <a:latin typeface="Aptos" pitchFamily="34" charset="0"/>
                <a:ea typeface="Aptos" pitchFamily="34" charset="-122"/>
                <a:cs typeface="Aptos" pitchFamily="34" charset="-120"/>
              </a:rPr>
              <a:t>DAYS 61–90</a:t>
            </a:r>
            <a:endParaRPr lang="en-US" sz="900" dirty="0"/>
          </a:p>
        </p:txBody>
      </p:sp>
      <p:sp>
        <p:nvSpPr>
          <p:cNvPr id="29" name="Text 27"/>
          <p:cNvSpPr/>
          <p:nvPr/>
        </p:nvSpPr>
        <p:spPr>
          <a:xfrm>
            <a:off x="8330184" y="2542032"/>
            <a:ext cx="3017520" cy="329184"/>
          </a:xfrm>
          <a:prstGeom prst="rect">
            <a:avLst/>
          </a:prstGeom>
          <a:noFill/>
          <a:ln/>
        </p:spPr>
        <p:txBody>
          <a:bodyPr wrap="square" lIns="0" tIns="0" rIns="0" bIns="0" rtlCol="0" anchor="ctr">
            <a:normAutofit/>
          </a:bodyPr>
          <a:lstStyle/>
          <a:p>
            <a:pPr indent="0" marL="0">
              <a:buNone/>
            </a:pPr>
            <a:r>
              <a:rPr lang="en-US" sz="1200" b="1" dirty="0">
                <a:solidFill>
                  <a:srgbClr val="F2F7FB"/>
                </a:solidFill>
                <a:latin typeface="Aptos" pitchFamily="34" charset="0"/>
                <a:ea typeface="Aptos" pitchFamily="34" charset="-122"/>
                <a:cs typeface="Aptos" pitchFamily="34" charset="-120"/>
              </a:rPr>
              <a:t>REPEAT OR REPAIR</a:t>
            </a:r>
            <a:endParaRPr lang="en-US" sz="1200" dirty="0"/>
          </a:p>
        </p:txBody>
      </p:sp>
      <p:sp>
        <p:nvSpPr>
          <p:cNvPr id="30" name="Text 28"/>
          <p:cNvSpPr/>
          <p:nvPr/>
        </p:nvSpPr>
        <p:spPr>
          <a:xfrm>
            <a:off x="8330184" y="3044952"/>
            <a:ext cx="3081528" cy="1691640"/>
          </a:xfrm>
          <a:prstGeom prst="rect">
            <a:avLst/>
          </a:prstGeom>
          <a:noFill/>
          <a:ln/>
        </p:spPr>
        <p:txBody>
          <a:bodyPr wrap="square" lIns="0" tIns="0" rIns="0" bIns="0" rtlCol="0" anchor="t">
            <a:normAutofit/>
          </a:bodyPr>
          <a:lstStyle/>
          <a:p>
            <a:pPr indent="0" marL="0">
              <a:buNone/>
            </a:pPr>
            <a:r>
              <a:rPr lang="en-US" sz="1150" dirty="0">
                <a:solidFill>
                  <a:srgbClr val="ADC0D0"/>
                </a:solidFill>
                <a:latin typeface="Aptos" pitchFamily="34" charset="0"/>
                <a:ea typeface="Aptos" pitchFamily="34" charset="-122"/>
                <a:cs typeface="Aptos" pitchFamily="34" charset="-120"/>
              </a:rPr>
              <a:t>• Diagnose SQL→pilot conversion</a:t>
            </a:r>
            <a:endParaRPr lang="en-US" sz="1150" dirty="0"/>
          </a:p>
          <a:p>
            <a:pPr indent="0" marL="0">
              <a:buNone/>
            </a:pPr>
            <a:r>
              <a:rPr lang="en-US" sz="1150" dirty="0">
                <a:solidFill>
                  <a:srgbClr val="ADC0D0"/>
                </a:solidFill>
                <a:latin typeface="Aptos" pitchFamily="34" charset="0"/>
                <a:ea typeface="Aptos" pitchFamily="34" charset="-122"/>
                <a:cs typeface="Aptos" pitchFamily="34" charset="-120"/>
              </a:rPr>
              <a:t>• Build objection + migration playbook</a:t>
            </a:r>
            <a:endParaRPr lang="en-US" sz="1150" dirty="0"/>
          </a:p>
          <a:p>
            <a:pPr indent="0" marL="0">
              <a:buNone/>
            </a:pPr>
            <a:r>
              <a:rPr lang="en-US" sz="1150" dirty="0">
                <a:solidFill>
                  <a:srgbClr val="ADC0D0"/>
                </a:solidFill>
                <a:latin typeface="Aptos" pitchFamily="34" charset="0"/>
                <a:ea typeface="Aptos" pitchFamily="34" charset="-122"/>
                <a:cs typeface="Aptos" pitchFamily="34" charset="-120"/>
              </a:rPr>
              <a:t>• Check locations actually activated</a:t>
            </a:r>
            <a:endParaRPr lang="en-US" sz="1150" dirty="0"/>
          </a:p>
          <a:p>
            <a:pPr indent="0" marL="0">
              <a:buNone/>
            </a:pPr>
            <a:r>
              <a:rPr lang="en-US" sz="1150" dirty="0">
                <a:solidFill>
                  <a:srgbClr val="ADC0D0"/>
                </a:solidFill>
                <a:latin typeface="Aptos" pitchFamily="34" charset="0"/>
                <a:ea typeface="Aptos" pitchFamily="34" charset="-122"/>
                <a:cs typeface="Aptos" pitchFamily="34" charset="-120"/>
              </a:rPr>
              <a:t>• Model fully loaded CAC by cohort</a:t>
            </a:r>
            <a:endParaRPr lang="en-US" sz="1150" dirty="0"/>
          </a:p>
          <a:p>
            <a:pPr indent="0" marL="0">
              <a:buNone/>
            </a:pPr>
            <a:r>
              <a:rPr lang="en-US" sz="1150" dirty="0">
                <a:solidFill>
                  <a:srgbClr val="ADC0D0"/>
                </a:solidFill>
                <a:latin typeface="Aptos" pitchFamily="34" charset="0"/>
                <a:ea typeface="Aptos" pitchFamily="34" charset="-122"/>
                <a:cs typeface="Aptos" pitchFamily="34" charset="-120"/>
              </a:rPr>
              <a:t>• Submit spend + US-support decision</a:t>
            </a:r>
            <a:endParaRPr lang="en-US" sz="1150" dirty="0"/>
          </a:p>
        </p:txBody>
      </p:sp>
      <p:sp>
        <p:nvSpPr>
          <p:cNvPr id="31" name="Shape 29"/>
          <p:cNvSpPr/>
          <p:nvPr/>
        </p:nvSpPr>
        <p:spPr>
          <a:xfrm>
            <a:off x="8330184" y="4937760"/>
            <a:ext cx="3081528" cy="0"/>
          </a:xfrm>
          <a:prstGeom prst="line">
            <a:avLst/>
          </a:prstGeom>
          <a:noFill/>
          <a:ln w="12700">
            <a:solidFill>
              <a:srgbClr val="30475A"/>
            </a:solidFill>
            <a:prstDash val="solid"/>
          </a:ln>
        </p:spPr>
      </p:sp>
      <p:sp>
        <p:nvSpPr>
          <p:cNvPr id="32" name="Text 30"/>
          <p:cNvSpPr/>
          <p:nvPr/>
        </p:nvSpPr>
        <p:spPr>
          <a:xfrm>
            <a:off x="8330184" y="5047488"/>
            <a:ext cx="3063240" cy="393192"/>
          </a:xfrm>
          <a:prstGeom prst="rect">
            <a:avLst/>
          </a:prstGeom>
          <a:noFill/>
          <a:ln/>
        </p:spPr>
        <p:txBody>
          <a:bodyPr wrap="square" lIns="0" tIns="0" rIns="0" bIns="0" rtlCol="0" anchor="t">
            <a:normAutofit/>
          </a:bodyPr>
          <a:lstStyle/>
          <a:p>
            <a:pPr indent="0" marL="0">
              <a:buNone/>
            </a:pPr>
            <a:r>
              <a:rPr lang="en-US" sz="1020" b="1" dirty="0">
                <a:solidFill>
                  <a:srgbClr val="58DFC7"/>
                </a:solidFill>
                <a:latin typeface="Aptos" pitchFamily="34" charset="0"/>
                <a:ea typeface="Aptos" pitchFamily="34" charset="-122"/>
                <a:cs typeface="Aptos" pitchFamily="34" charset="-120"/>
              </a:rPr>
              <a:t>Deliver: scale/pause memo and founder-owned next gates</a:t>
            </a:r>
            <a:endParaRPr lang="en-US" sz="1020" dirty="0"/>
          </a:p>
        </p:txBody>
      </p:sp>
      <p:sp>
        <p:nvSpPr>
          <p:cNvPr id="33" name="Text 31"/>
          <p:cNvSpPr/>
          <p:nvPr/>
        </p:nvSpPr>
        <p:spPr>
          <a:xfrm>
            <a:off x="8330184" y="5559552"/>
            <a:ext cx="3063240" cy="274320"/>
          </a:xfrm>
          <a:prstGeom prst="rect">
            <a:avLst/>
          </a:prstGeom>
          <a:noFill/>
          <a:ln/>
        </p:spPr>
        <p:txBody>
          <a:bodyPr wrap="square" lIns="0" tIns="0" rIns="0" bIns="0" rtlCol="0" anchor="t">
            <a:normAutofit/>
          </a:bodyPr>
          <a:lstStyle/>
          <a:p>
            <a:pPr indent="0" marL="0">
              <a:buNone/>
            </a:pPr>
            <a:r>
              <a:rPr lang="en-US" sz="950" dirty="0">
                <a:solidFill>
                  <a:srgbClr val="F3C77A"/>
                </a:solidFill>
                <a:latin typeface="Aptos" pitchFamily="34" charset="0"/>
                <a:ea typeface="Aptos" pitchFamily="34" charset="-122"/>
                <a:cs typeface="Aptos" pitchFamily="34" charset="-120"/>
              </a:rPr>
              <a:t>Gate: onboarding blocker → fix readiness first</a:t>
            </a:r>
            <a:endParaRPr lang="en-US" sz="950" dirty="0"/>
          </a:p>
        </p:txBody>
      </p:sp>
      <p:sp>
        <p:nvSpPr>
          <p:cNvPr id="34" name="Shape 32"/>
          <p:cNvSpPr/>
          <p:nvPr/>
        </p:nvSpPr>
        <p:spPr>
          <a:xfrm>
            <a:off x="548640" y="6099048"/>
            <a:ext cx="11045952" cy="201168"/>
          </a:xfrm>
          <a:prstGeom prst="roundRect">
            <a:avLst>
              <a:gd name="adj" fmla="val 59091"/>
            </a:avLst>
          </a:prstGeom>
          <a:solidFill>
            <a:srgbClr val="081724"/>
          </a:solidFill>
          <a:ln w="12700">
            <a:solidFill>
              <a:srgbClr val="081724"/>
            </a:solidFill>
            <a:prstDash val="solid"/>
          </a:ln>
        </p:spPr>
      </p:sp>
      <p:sp>
        <p:nvSpPr>
          <p:cNvPr id="35" name="Text 33"/>
          <p:cNvSpPr/>
          <p:nvPr/>
        </p:nvSpPr>
        <p:spPr>
          <a:xfrm>
            <a:off x="640080" y="6117336"/>
            <a:ext cx="10844784" cy="173736"/>
          </a:xfrm>
          <a:prstGeom prst="rect">
            <a:avLst/>
          </a:prstGeom>
          <a:noFill/>
          <a:ln/>
        </p:spPr>
        <p:txBody>
          <a:bodyPr wrap="square" lIns="0" tIns="0" rIns="0" bIns="0" rtlCol="0" anchor="ctr">
            <a:normAutofit/>
          </a:bodyPr>
          <a:lstStyle/>
          <a:p>
            <a:pPr indent="0" marL="0">
              <a:buNone/>
            </a:pPr>
            <a:r>
              <a:rPr lang="en-US" sz="900" dirty="0">
                <a:solidFill>
                  <a:srgbClr val="ADC0D0"/>
                </a:solidFill>
                <a:latin typeface="Aptos" pitchFamily="34" charset="0"/>
                <a:ea typeface="Aptos" pitchFamily="34" charset="-122"/>
                <a:cs typeface="Aptos" pitchFamily="34" charset="-120"/>
              </a:rPr>
              <a:t>OWNERS  Marketing: demand + source truth  /  Sales: held demos + SQL + stage updates  /  Product: US capability + onboarding  /  Growth: investment gates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84632" y="265176"/>
            <a:ext cx="5486400" cy="219456"/>
          </a:xfrm>
          <a:prstGeom prst="rect">
            <a:avLst/>
          </a:prstGeom>
          <a:noFill/>
          <a:ln/>
        </p:spPr>
        <p:txBody>
          <a:bodyPr wrap="square" lIns="0" tIns="0" rIns="0" bIns="0" rtlCol="0" anchor="ctr">
            <a:normAutofit/>
          </a:bodyPr>
          <a:lstStyle/>
          <a:p>
            <a:pPr indent="0" marL="0">
              <a:buNone/>
            </a:pPr>
            <a:r>
              <a:rPr lang="en-US" sz="1000" b="1" spc="150" kern="0" dirty="0">
                <a:solidFill>
                  <a:srgbClr val="58DFC7"/>
                </a:solidFill>
                <a:latin typeface="Aptos" pitchFamily="34" charset="0"/>
                <a:ea typeface="Aptos" pitchFamily="34" charset="-122"/>
                <a:cs typeface="Aptos" pitchFamily="34" charset="-120"/>
              </a:rPr>
              <a:t>QUICK  /  US GO-TO-MARKET</a:t>
            </a:r>
            <a:endParaRPr lang="en-US" sz="1000" dirty="0"/>
          </a:p>
        </p:txBody>
      </p:sp>
      <p:sp>
        <p:nvSpPr>
          <p:cNvPr id="3" name="Text 1"/>
          <p:cNvSpPr/>
          <p:nvPr/>
        </p:nvSpPr>
        <p:spPr>
          <a:xfrm>
            <a:off x="10607040" y="265176"/>
            <a:ext cx="1051560" cy="219456"/>
          </a:xfrm>
          <a:prstGeom prst="rect">
            <a:avLst/>
          </a:prstGeom>
          <a:noFill/>
          <a:ln/>
        </p:spPr>
        <p:txBody>
          <a:bodyPr wrap="square" lIns="0" tIns="0" rIns="0" bIns="0" rtlCol="0" anchor="ctr">
            <a:normAutofit/>
          </a:bodyPr>
          <a:lstStyle/>
          <a:p>
            <a:pPr algn="r" indent="0" marL="0">
              <a:buNone/>
            </a:pPr>
            <a:r>
              <a:rPr lang="en-US" sz="1000" dirty="0">
                <a:solidFill>
                  <a:srgbClr val="ADC0D0"/>
                </a:solidFill>
                <a:latin typeface="Aptos" pitchFamily="34" charset="0"/>
                <a:ea typeface="Aptos" pitchFamily="34" charset="-122"/>
                <a:cs typeface="Aptos" pitchFamily="34" charset="-120"/>
              </a:rPr>
              <a:t>07 / 09</a:t>
            </a:r>
            <a:endParaRPr lang="en-US" sz="1000" dirty="0"/>
          </a:p>
        </p:txBody>
      </p:sp>
      <p:sp>
        <p:nvSpPr>
          <p:cNvPr id="4" name="Shape 2"/>
          <p:cNvSpPr/>
          <p:nvPr/>
        </p:nvSpPr>
        <p:spPr>
          <a:xfrm>
            <a:off x="484632" y="621792"/>
            <a:ext cx="11219688" cy="0"/>
          </a:xfrm>
          <a:prstGeom prst="line">
            <a:avLst/>
          </a:prstGeom>
          <a:noFill/>
          <a:ln w="12700">
            <a:solidFill>
              <a:srgbClr val="30475A"/>
            </a:solidFill>
            <a:prstDash val="solid"/>
          </a:ln>
        </p:spPr>
      </p:sp>
      <p:sp>
        <p:nvSpPr>
          <p:cNvPr id="5" name="Text 3"/>
          <p:cNvSpPr/>
          <p:nvPr/>
        </p:nvSpPr>
        <p:spPr>
          <a:xfrm>
            <a:off x="484632" y="777240"/>
            <a:ext cx="11201400" cy="484632"/>
          </a:xfrm>
          <a:prstGeom prst="rect">
            <a:avLst/>
          </a:prstGeom>
          <a:noFill/>
          <a:ln/>
        </p:spPr>
        <p:txBody>
          <a:bodyPr wrap="square" lIns="0" tIns="0" rIns="0" bIns="0" rtlCol="0" anchor="ctr">
            <a:normAutofit/>
          </a:bodyPr>
          <a:lstStyle/>
          <a:p>
            <a:pPr indent="0" marL="0">
              <a:buNone/>
            </a:pPr>
            <a:r>
              <a:rPr lang="en-US" sz="2400" b="1" dirty="0">
                <a:solidFill>
                  <a:srgbClr val="F2F7FB"/>
                </a:solidFill>
                <a:latin typeface="Aptos" pitchFamily="34" charset="0"/>
                <a:ea typeface="Aptos" pitchFamily="34" charset="-122"/>
                <a:cs typeface="Aptos" pitchFamily="34" charset="-120"/>
              </a:rPr>
              <a:t>Ring-fence learning; spend the next tranche only after proof.</a:t>
            </a:r>
            <a:endParaRPr lang="en-US" sz="2400" dirty="0"/>
          </a:p>
        </p:txBody>
      </p:sp>
      <p:sp>
        <p:nvSpPr>
          <p:cNvPr id="6" name="Text 4"/>
          <p:cNvSpPr/>
          <p:nvPr/>
        </p:nvSpPr>
        <p:spPr>
          <a:xfrm>
            <a:off x="484632" y="1307592"/>
            <a:ext cx="11155680" cy="320040"/>
          </a:xfrm>
          <a:prstGeom prst="rect">
            <a:avLst/>
          </a:prstGeom>
          <a:noFill/>
          <a:ln/>
        </p:spPr>
        <p:txBody>
          <a:bodyPr wrap="square" lIns="0" tIns="0" rIns="0" bIns="0" rtlCol="0" anchor="ctr">
            <a:normAutofit/>
          </a:bodyPr>
          <a:lstStyle/>
          <a:p>
            <a:pPr indent="0" marL="0">
              <a:buNone/>
            </a:pPr>
            <a:r>
              <a:rPr lang="en-US" sz="1120" dirty="0">
                <a:solidFill>
                  <a:srgbClr val="ADC0D0"/>
                </a:solidFill>
                <a:latin typeface="Aptos" pitchFamily="34" charset="0"/>
                <a:ea typeface="Aptos" pitchFamily="34" charset="-122"/>
                <a:cs typeface="Aptos" pitchFamily="34" charset="-120"/>
              </a:rPr>
              <a:t>₹10,00,000 / 12 months versus separate, NON-ADDITIVE ₹1,00,000 / 60-day cap.</a:t>
            </a:r>
            <a:endParaRPr lang="en-US" sz="1120" dirty="0"/>
          </a:p>
        </p:txBody>
      </p:sp>
      <p:sp>
        <p:nvSpPr>
          <p:cNvPr id="7" name="Shape 5"/>
          <p:cNvSpPr/>
          <p:nvPr/>
        </p:nvSpPr>
        <p:spPr>
          <a:xfrm>
            <a:off x="484632" y="6492240"/>
            <a:ext cx="11219688" cy="0"/>
          </a:xfrm>
          <a:prstGeom prst="line">
            <a:avLst/>
          </a:prstGeom>
          <a:noFill/>
          <a:ln w="12700">
            <a:solidFill>
              <a:srgbClr val="30475A"/>
            </a:solidFill>
            <a:prstDash val="solid"/>
          </a:ln>
        </p:spPr>
      </p:sp>
      <p:sp>
        <p:nvSpPr>
          <p:cNvPr id="8" name="Text 6"/>
          <p:cNvSpPr/>
          <p:nvPr/>
        </p:nvSpPr>
        <p:spPr>
          <a:xfrm>
            <a:off x="502920" y="6565392"/>
            <a:ext cx="8229600" cy="155448"/>
          </a:xfrm>
          <a:prstGeom prst="rect">
            <a:avLst/>
          </a:prstGeom>
          <a:noFill/>
          <a:ln/>
        </p:spPr>
        <p:txBody>
          <a:bodyPr wrap="square" lIns="0" tIns="0" rIns="0" bIns="0" rtlCol="0" anchor="ctr">
            <a:normAutofit/>
          </a:bodyPr>
          <a:lstStyle/>
          <a:p>
            <a:pPr indent="0" marL="0">
              <a:buNone/>
            </a:pPr>
            <a:r>
              <a:rPr lang="en-US" sz="810" spc="100" kern="0" dirty="0">
                <a:solidFill>
                  <a:srgbClr val="ADC0D0"/>
                </a:solidFill>
                <a:latin typeface="Aptos" pitchFamily="34" charset="0"/>
                <a:ea typeface="Aptos" pitchFamily="34" charset="-122"/>
                <a:cs typeface="Aptos" pitchFamily="34" charset="-120"/>
              </a:rPr>
              <a:t>BUDGET CHOICES / COUNTERFACTUAL</a:t>
            </a:r>
            <a:endParaRPr lang="en-US" sz="810" dirty="0"/>
          </a:p>
        </p:txBody>
      </p:sp>
      <p:sp>
        <p:nvSpPr>
          <p:cNvPr id="9" name="Text 7"/>
          <p:cNvSpPr/>
          <p:nvPr/>
        </p:nvSpPr>
        <p:spPr>
          <a:xfrm>
            <a:off x="8092440" y="6565392"/>
            <a:ext cx="3611880" cy="155448"/>
          </a:xfrm>
          <a:prstGeom prst="rect">
            <a:avLst/>
          </a:prstGeom>
          <a:noFill/>
          <a:ln/>
        </p:spPr>
        <p:txBody>
          <a:bodyPr wrap="square" lIns="0" tIns="0" rIns="0" bIns="0" rtlCol="0" anchor="ctr">
            <a:normAutofit/>
          </a:bodyPr>
          <a:lstStyle/>
          <a:p>
            <a:pPr algn="r" indent="0" marL="0">
              <a:buNone/>
            </a:pPr>
            <a:r>
              <a:rPr lang="en-US" sz="750" dirty="0">
                <a:solidFill>
                  <a:srgbClr val="ADC0D0"/>
                </a:solidFill>
                <a:latin typeface="Aptos" pitchFamily="34" charset="0"/>
                <a:ea typeface="Aptos" pitchFamily="34" charset="-122"/>
                <a:cs typeface="Aptos" pitchFamily="34" charset="-120"/>
              </a:rPr>
              <a:t>Prepared 13 Oct 2026 · decision proposal, not company results</a:t>
            </a:r>
            <a:endParaRPr lang="en-US" sz="750" dirty="0"/>
          </a:p>
        </p:txBody>
      </p:sp>
      <p:sp>
        <p:nvSpPr>
          <p:cNvPr id="10" name="Shape 8"/>
          <p:cNvSpPr/>
          <p:nvPr/>
        </p:nvSpPr>
        <p:spPr>
          <a:xfrm>
            <a:off x="548640" y="1847088"/>
            <a:ext cx="6501384" cy="4279392"/>
          </a:xfrm>
          <a:prstGeom prst="roundRect">
            <a:avLst>
              <a:gd name="adj" fmla="val 2778"/>
            </a:avLst>
          </a:prstGeom>
          <a:solidFill>
            <a:srgbClr val="122639"/>
          </a:solidFill>
          <a:ln w="12700">
            <a:solidFill>
              <a:srgbClr val="122639"/>
            </a:solidFill>
            <a:prstDash val="solid"/>
          </a:ln>
        </p:spPr>
      </p:sp>
      <p:sp>
        <p:nvSpPr>
          <p:cNvPr id="11" name="Text 9"/>
          <p:cNvSpPr/>
          <p:nvPr/>
        </p:nvSpPr>
        <p:spPr>
          <a:xfrm>
            <a:off x="768096" y="2084832"/>
            <a:ext cx="5120640" cy="256032"/>
          </a:xfrm>
          <a:prstGeom prst="rect">
            <a:avLst/>
          </a:prstGeom>
          <a:noFill/>
          <a:ln/>
        </p:spPr>
        <p:txBody>
          <a:bodyPr wrap="square" lIns="0" tIns="0" rIns="0" bIns="0" rtlCol="0" anchor="ctr">
            <a:normAutofit/>
          </a:bodyPr>
          <a:lstStyle/>
          <a:p>
            <a:pPr indent="0" marL="0">
              <a:buNone/>
            </a:pPr>
            <a:r>
              <a:rPr lang="en-US" sz="1400" b="1" dirty="0">
                <a:solidFill>
                  <a:srgbClr val="58DFC7"/>
                </a:solidFill>
                <a:latin typeface="Aptos" pitchFamily="34" charset="0"/>
                <a:ea typeface="Aptos" pitchFamily="34" charset="-122"/>
                <a:cs typeface="Aptos" pitchFamily="34" charset="-120"/>
              </a:rPr>
              <a:t>12-MONTH ALLOCATION</a:t>
            </a:r>
            <a:endParaRPr lang="en-US" sz="1400" dirty="0"/>
          </a:p>
        </p:txBody>
      </p:sp>
      <p:sp>
        <p:nvSpPr>
          <p:cNvPr id="12" name="Text 10"/>
          <p:cNvSpPr/>
          <p:nvPr/>
        </p:nvSpPr>
        <p:spPr>
          <a:xfrm>
            <a:off x="5303520" y="2103120"/>
            <a:ext cx="1371600" cy="219456"/>
          </a:xfrm>
          <a:prstGeom prst="rect">
            <a:avLst/>
          </a:prstGeom>
          <a:noFill/>
          <a:ln/>
        </p:spPr>
        <p:txBody>
          <a:bodyPr wrap="square" lIns="0" tIns="0" rIns="0" bIns="0" rtlCol="0" anchor="ctr">
            <a:normAutofit/>
          </a:bodyPr>
          <a:lstStyle/>
          <a:p>
            <a:pPr algn="r" indent="0" marL="0">
              <a:buNone/>
            </a:pPr>
            <a:r>
              <a:rPr lang="en-US" sz="1000" dirty="0">
                <a:solidFill>
                  <a:srgbClr val="ADC0D0"/>
                </a:solidFill>
                <a:latin typeface="Aptos" pitchFamily="34" charset="0"/>
                <a:ea typeface="Aptos" pitchFamily="34" charset="-122"/>
                <a:cs typeface="Aptos" pitchFamily="34" charset="-120"/>
              </a:rPr>
              <a:t>INR    SHARE</a:t>
            </a:r>
            <a:endParaRPr lang="en-US" sz="1000" dirty="0"/>
          </a:p>
        </p:txBody>
      </p:sp>
      <p:sp>
        <p:nvSpPr>
          <p:cNvPr id="13" name="Text 11"/>
          <p:cNvSpPr/>
          <p:nvPr/>
        </p:nvSpPr>
        <p:spPr>
          <a:xfrm>
            <a:off x="768096" y="2523744"/>
            <a:ext cx="2926080" cy="228600"/>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Intent Search</a:t>
            </a:r>
            <a:endParaRPr lang="en-US" sz="1100" dirty="0"/>
          </a:p>
        </p:txBody>
      </p:sp>
      <p:sp>
        <p:nvSpPr>
          <p:cNvPr id="14" name="Text 12"/>
          <p:cNvSpPr/>
          <p:nvPr/>
        </p:nvSpPr>
        <p:spPr>
          <a:xfrm>
            <a:off x="4160520" y="2523744"/>
            <a:ext cx="996696" cy="228600"/>
          </a:xfrm>
          <a:prstGeom prst="rect">
            <a:avLst/>
          </a:prstGeom>
          <a:noFill/>
          <a:ln/>
        </p:spPr>
        <p:txBody>
          <a:bodyPr wrap="square" lIns="0" tIns="0" rIns="0" bIns="0" rtlCol="0" anchor="ctr">
            <a:normAutofit/>
          </a:bodyPr>
          <a:lstStyle/>
          <a:p>
            <a:pPr algn="r" indent="0" marL="0">
              <a:buNone/>
            </a:pPr>
            <a:r>
              <a:rPr lang="en-US" sz="1100" dirty="0">
                <a:solidFill>
                  <a:srgbClr val="F3C77A"/>
                </a:solidFill>
                <a:latin typeface="Aptos" pitchFamily="34" charset="0"/>
                <a:ea typeface="Aptos" pitchFamily="34" charset="-122"/>
                <a:cs typeface="Aptos" pitchFamily="34" charset="-120"/>
              </a:rPr>
              <a:t>₹350k</a:t>
            </a:r>
            <a:endParaRPr lang="en-US" sz="1100" dirty="0"/>
          </a:p>
        </p:txBody>
      </p:sp>
      <p:sp>
        <p:nvSpPr>
          <p:cNvPr id="15" name="Text 13"/>
          <p:cNvSpPr/>
          <p:nvPr/>
        </p:nvSpPr>
        <p:spPr>
          <a:xfrm>
            <a:off x="5577840" y="2523744"/>
            <a:ext cx="813816" cy="228600"/>
          </a:xfrm>
          <a:prstGeom prst="rect">
            <a:avLst/>
          </a:prstGeom>
          <a:noFill/>
          <a:ln/>
        </p:spPr>
        <p:txBody>
          <a:bodyPr wrap="square" lIns="0" tIns="0" rIns="0" bIns="0" rtlCol="0" anchor="ctr">
            <a:normAutofit/>
          </a:bodyPr>
          <a:lstStyle/>
          <a:p>
            <a:pPr algn="r" indent="0" marL="0">
              <a:buNone/>
            </a:pPr>
            <a:r>
              <a:rPr lang="en-US" sz="1100" dirty="0">
                <a:solidFill>
                  <a:srgbClr val="ADC0D0"/>
                </a:solidFill>
                <a:latin typeface="Aptos" pitchFamily="34" charset="0"/>
                <a:ea typeface="Aptos" pitchFamily="34" charset="-122"/>
                <a:cs typeface="Aptos" pitchFamily="34" charset="-120"/>
              </a:rPr>
              <a:t>35%</a:t>
            </a:r>
            <a:endParaRPr lang="en-US" sz="1100" dirty="0"/>
          </a:p>
        </p:txBody>
      </p:sp>
      <p:sp>
        <p:nvSpPr>
          <p:cNvPr id="16" name="Shape 14"/>
          <p:cNvSpPr/>
          <p:nvPr/>
        </p:nvSpPr>
        <p:spPr>
          <a:xfrm>
            <a:off x="768096" y="2825496"/>
            <a:ext cx="6053328" cy="0"/>
          </a:xfrm>
          <a:prstGeom prst="line">
            <a:avLst/>
          </a:prstGeom>
          <a:noFill/>
          <a:ln w="4572">
            <a:solidFill>
              <a:srgbClr val="30475A"/>
            </a:solidFill>
            <a:prstDash val="solid"/>
          </a:ln>
        </p:spPr>
      </p:sp>
      <p:sp>
        <p:nvSpPr>
          <p:cNvPr id="17" name="Text 15"/>
          <p:cNvSpPr/>
          <p:nvPr/>
        </p:nvSpPr>
        <p:spPr>
          <a:xfrm>
            <a:off x="768096" y="2926080"/>
            <a:ext cx="2926080" cy="228600"/>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Named-account outreach</a:t>
            </a:r>
            <a:endParaRPr lang="en-US" sz="1100" dirty="0"/>
          </a:p>
        </p:txBody>
      </p:sp>
      <p:sp>
        <p:nvSpPr>
          <p:cNvPr id="18" name="Text 16"/>
          <p:cNvSpPr/>
          <p:nvPr/>
        </p:nvSpPr>
        <p:spPr>
          <a:xfrm>
            <a:off x="4160520" y="2926080"/>
            <a:ext cx="996696" cy="228600"/>
          </a:xfrm>
          <a:prstGeom prst="rect">
            <a:avLst/>
          </a:prstGeom>
          <a:noFill/>
          <a:ln/>
        </p:spPr>
        <p:txBody>
          <a:bodyPr wrap="square" lIns="0" tIns="0" rIns="0" bIns="0" rtlCol="0" anchor="ctr">
            <a:normAutofit/>
          </a:bodyPr>
          <a:lstStyle/>
          <a:p>
            <a:pPr algn="r" indent="0" marL="0">
              <a:buNone/>
            </a:pPr>
            <a:r>
              <a:rPr lang="en-US" sz="1100" dirty="0">
                <a:solidFill>
                  <a:srgbClr val="F3C77A"/>
                </a:solidFill>
                <a:latin typeface="Aptos" pitchFamily="34" charset="0"/>
                <a:ea typeface="Aptos" pitchFamily="34" charset="-122"/>
                <a:cs typeface="Aptos" pitchFamily="34" charset="-120"/>
              </a:rPr>
              <a:t>₹180k</a:t>
            </a:r>
            <a:endParaRPr lang="en-US" sz="1100" dirty="0"/>
          </a:p>
        </p:txBody>
      </p:sp>
      <p:sp>
        <p:nvSpPr>
          <p:cNvPr id="19" name="Text 17"/>
          <p:cNvSpPr/>
          <p:nvPr/>
        </p:nvSpPr>
        <p:spPr>
          <a:xfrm>
            <a:off x="5577840" y="2926080"/>
            <a:ext cx="813816" cy="228600"/>
          </a:xfrm>
          <a:prstGeom prst="rect">
            <a:avLst/>
          </a:prstGeom>
          <a:noFill/>
          <a:ln/>
        </p:spPr>
        <p:txBody>
          <a:bodyPr wrap="square" lIns="0" tIns="0" rIns="0" bIns="0" rtlCol="0" anchor="ctr">
            <a:normAutofit/>
          </a:bodyPr>
          <a:lstStyle/>
          <a:p>
            <a:pPr algn="r" indent="0" marL="0">
              <a:buNone/>
            </a:pPr>
            <a:r>
              <a:rPr lang="en-US" sz="1100" dirty="0">
                <a:solidFill>
                  <a:srgbClr val="ADC0D0"/>
                </a:solidFill>
                <a:latin typeface="Aptos" pitchFamily="34" charset="0"/>
                <a:ea typeface="Aptos" pitchFamily="34" charset="-122"/>
                <a:cs typeface="Aptos" pitchFamily="34" charset="-120"/>
              </a:rPr>
              <a:t>18%</a:t>
            </a:r>
            <a:endParaRPr lang="en-US" sz="1100" dirty="0"/>
          </a:p>
        </p:txBody>
      </p:sp>
      <p:sp>
        <p:nvSpPr>
          <p:cNvPr id="20" name="Shape 18"/>
          <p:cNvSpPr/>
          <p:nvPr/>
        </p:nvSpPr>
        <p:spPr>
          <a:xfrm>
            <a:off x="768096" y="3227832"/>
            <a:ext cx="6053328" cy="0"/>
          </a:xfrm>
          <a:prstGeom prst="line">
            <a:avLst/>
          </a:prstGeom>
          <a:noFill/>
          <a:ln w="4572">
            <a:solidFill>
              <a:srgbClr val="30475A"/>
            </a:solidFill>
            <a:prstDash val="solid"/>
          </a:ln>
        </p:spPr>
      </p:sp>
      <p:sp>
        <p:nvSpPr>
          <p:cNvPr id="21" name="Text 19"/>
          <p:cNvSpPr/>
          <p:nvPr/>
        </p:nvSpPr>
        <p:spPr>
          <a:xfrm>
            <a:off x="768096" y="3328416"/>
            <a:ext cx="2926080" cy="228600"/>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Partners + referrals</a:t>
            </a:r>
            <a:endParaRPr lang="en-US" sz="1100" dirty="0"/>
          </a:p>
        </p:txBody>
      </p:sp>
      <p:sp>
        <p:nvSpPr>
          <p:cNvPr id="22" name="Text 20"/>
          <p:cNvSpPr/>
          <p:nvPr/>
        </p:nvSpPr>
        <p:spPr>
          <a:xfrm>
            <a:off x="4160520" y="3328416"/>
            <a:ext cx="996696" cy="228600"/>
          </a:xfrm>
          <a:prstGeom prst="rect">
            <a:avLst/>
          </a:prstGeom>
          <a:noFill/>
          <a:ln/>
        </p:spPr>
        <p:txBody>
          <a:bodyPr wrap="square" lIns="0" tIns="0" rIns="0" bIns="0" rtlCol="0" anchor="ctr">
            <a:normAutofit/>
          </a:bodyPr>
          <a:lstStyle/>
          <a:p>
            <a:pPr algn="r" indent="0" marL="0">
              <a:buNone/>
            </a:pPr>
            <a:r>
              <a:rPr lang="en-US" sz="1100" dirty="0">
                <a:solidFill>
                  <a:srgbClr val="F3C77A"/>
                </a:solidFill>
                <a:latin typeface="Aptos" pitchFamily="34" charset="0"/>
                <a:ea typeface="Aptos" pitchFamily="34" charset="-122"/>
                <a:cs typeface="Aptos" pitchFamily="34" charset="-120"/>
              </a:rPr>
              <a:t>₹120k</a:t>
            </a:r>
            <a:endParaRPr lang="en-US" sz="1100" dirty="0"/>
          </a:p>
        </p:txBody>
      </p:sp>
      <p:sp>
        <p:nvSpPr>
          <p:cNvPr id="23" name="Text 21"/>
          <p:cNvSpPr/>
          <p:nvPr/>
        </p:nvSpPr>
        <p:spPr>
          <a:xfrm>
            <a:off x="5577840" y="3328416"/>
            <a:ext cx="813816" cy="228600"/>
          </a:xfrm>
          <a:prstGeom prst="rect">
            <a:avLst/>
          </a:prstGeom>
          <a:noFill/>
          <a:ln/>
        </p:spPr>
        <p:txBody>
          <a:bodyPr wrap="square" lIns="0" tIns="0" rIns="0" bIns="0" rtlCol="0" anchor="ctr">
            <a:normAutofit/>
          </a:bodyPr>
          <a:lstStyle/>
          <a:p>
            <a:pPr algn="r" indent="0" marL="0">
              <a:buNone/>
            </a:pPr>
            <a:r>
              <a:rPr lang="en-US" sz="1100" dirty="0">
                <a:solidFill>
                  <a:srgbClr val="ADC0D0"/>
                </a:solidFill>
                <a:latin typeface="Aptos" pitchFamily="34" charset="0"/>
                <a:ea typeface="Aptos" pitchFamily="34" charset="-122"/>
                <a:cs typeface="Aptos" pitchFamily="34" charset="-120"/>
              </a:rPr>
              <a:t>12%</a:t>
            </a:r>
            <a:endParaRPr lang="en-US" sz="1100" dirty="0"/>
          </a:p>
        </p:txBody>
      </p:sp>
      <p:sp>
        <p:nvSpPr>
          <p:cNvPr id="24" name="Shape 22"/>
          <p:cNvSpPr/>
          <p:nvPr/>
        </p:nvSpPr>
        <p:spPr>
          <a:xfrm>
            <a:off x="768096" y="3630168"/>
            <a:ext cx="6053328" cy="0"/>
          </a:xfrm>
          <a:prstGeom prst="line">
            <a:avLst/>
          </a:prstGeom>
          <a:noFill/>
          <a:ln w="4572">
            <a:solidFill>
              <a:srgbClr val="30475A"/>
            </a:solidFill>
            <a:prstDash val="solid"/>
          </a:ln>
        </p:spPr>
      </p:sp>
      <p:sp>
        <p:nvSpPr>
          <p:cNvPr id="25" name="Text 23"/>
          <p:cNvSpPr/>
          <p:nvPr/>
        </p:nvSpPr>
        <p:spPr>
          <a:xfrm>
            <a:off x="768096" y="3730752"/>
            <a:ext cx="2926080" cy="228600"/>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Landing / sales proof</a:t>
            </a:r>
            <a:endParaRPr lang="en-US" sz="1100" dirty="0"/>
          </a:p>
        </p:txBody>
      </p:sp>
      <p:sp>
        <p:nvSpPr>
          <p:cNvPr id="26" name="Text 24"/>
          <p:cNvSpPr/>
          <p:nvPr/>
        </p:nvSpPr>
        <p:spPr>
          <a:xfrm>
            <a:off x="4160520" y="3730752"/>
            <a:ext cx="996696" cy="228600"/>
          </a:xfrm>
          <a:prstGeom prst="rect">
            <a:avLst/>
          </a:prstGeom>
          <a:noFill/>
          <a:ln/>
        </p:spPr>
        <p:txBody>
          <a:bodyPr wrap="square" lIns="0" tIns="0" rIns="0" bIns="0" rtlCol="0" anchor="ctr">
            <a:normAutofit/>
          </a:bodyPr>
          <a:lstStyle/>
          <a:p>
            <a:pPr algn="r" indent="0" marL="0">
              <a:buNone/>
            </a:pPr>
            <a:r>
              <a:rPr lang="en-US" sz="1100" dirty="0">
                <a:solidFill>
                  <a:srgbClr val="F3C77A"/>
                </a:solidFill>
                <a:latin typeface="Aptos" pitchFamily="34" charset="0"/>
                <a:ea typeface="Aptos" pitchFamily="34" charset="-122"/>
                <a:cs typeface="Aptos" pitchFamily="34" charset="-120"/>
              </a:rPr>
              <a:t>₹120k</a:t>
            </a:r>
            <a:endParaRPr lang="en-US" sz="1100" dirty="0"/>
          </a:p>
        </p:txBody>
      </p:sp>
      <p:sp>
        <p:nvSpPr>
          <p:cNvPr id="27" name="Text 25"/>
          <p:cNvSpPr/>
          <p:nvPr/>
        </p:nvSpPr>
        <p:spPr>
          <a:xfrm>
            <a:off x="5577840" y="3730752"/>
            <a:ext cx="813816" cy="228600"/>
          </a:xfrm>
          <a:prstGeom prst="rect">
            <a:avLst/>
          </a:prstGeom>
          <a:noFill/>
          <a:ln/>
        </p:spPr>
        <p:txBody>
          <a:bodyPr wrap="square" lIns="0" tIns="0" rIns="0" bIns="0" rtlCol="0" anchor="ctr">
            <a:normAutofit/>
          </a:bodyPr>
          <a:lstStyle/>
          <a:p>
            <a:pPr algn="r" indent="0" marL="0">
              <a:buNone/>
            </a:pPr>
            <a:r>
              <a:rPr lang="en-US" sz="1100" dirty="0">
                <a:solidFill>
                  <a:srgbClr val="ADC0D0"/>
                </a:solidFill>
                <a:latin typeface="Aptos" pitchFamily="34" charset="0"/>
                <a:ea typeface="Aptos" pitchFamily="34" charset="-122"/>
                <a:cs typeface="Aptos" pitchFamily="34" charset="-120"/>
              </a:rPr>
              <a:t>12%</a:t>
            </a:r>
            <a:endParaRPr lang="en-US" sz="1100" dirty="0"/>
          </a:p>
        </p:txBody>
      </p:sp>
      <p:sp>
        <p:nvSpPr>
          <p:cNvPr id="28" name="Shape 26"/>
          <p:cNvSpPr/>
          <p:nvPr/>
        </p:nvSpPr>
        <p:spPr>
          <a:xfrm>
            <a:off x="768096" y="4032504"/>
            <a:ext cx="6053328" cy="0"/>
          </a:xfrm>
          <a:prstGeom prst="line">
            <a:avLst/>
          </a:prstGeom>
          <a:noFill/>
          <a:ln w="4572">
            <a:solidFill>
              <a:srgbClr val="30475A"/>
            </a:solidFill>
            <a:prstDash val="solid"/>
          </a:ln>
        </p:spPr>
      </p:sp>
      <p:sp>
        <p:nvSpPr>
          <p:cNvPr id="29" name="Text 27"/>
          <p:cNvSpPr/>
          <p:nvPr/>
        </p:nvSpPr>
        <p:spPr>
          <a:xfrm>
            <a:off x="768096" y="4133088"/>
            <a:ext cx="2926080" cy="228600"/>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Meta fit / retargeting</a:t>
            </a:r>
            <a:endParaRPr lang="en-US" sz="1100" dirty="0"/>
          </a:p>
        </p:txBody>
      </p:sp>
      <p:sp>
        <p:nvSpPr>
          <p:cNvPr id="30" name="Text 28"/>
          <p:cNvSpPr/>
          <p:nvPr/>
        </p:nvSpPr>
        <p:spPr>
          <a:xfrm>
            <a:off x="4160520" y="4133088"/>
            <a:ext cx="996696" cy="228600"/>
          </a:xfrm>
          <a:prstGeom prst="rect">
            <a:avLst/>
          </a:prstGeom>
          <a:noFill/>
          <a:ln/>
        </p:spPr>
        <p:txBody>
          <a:bodyPr wrap="square" lIns="0" tIns="0" rIns="0" bIns="0" rtlCol="0" anchor="ctr">
            <a:normAutofit/>
          </a:bodyPr>
          <a:lstStyle/>
          <a:p>
            <a:pPr algn="r" indent="0" marL="0">
              <a:buNone/>
            </a:pPr>
            <a:r>
              <a:rPr lang="en-US" sz="1100" dirty="0">
                <a:solidFill>
                  <a:srgbClr val="F3C77A"/>
                </a:solidFill>
                <a:latin typeface="Aptos" pitchFamily="34" charset="0"/>
                <a:ea typeface="Aptos" pitchFamily="34" charset="-122"/>
                <a:cs typeface="Aptos" pitchFamily="34" charset="-120"/>
              </a:rPr>
              <a:t>₹90k</a:t>
            </a:r>
            <a:endParaRPr lang="en-US" sz="1100" dirty="0"/>
          </a:p>
        </p:txBody>
      </p:sp>
      <p:sp>
        <p:nvSpPr>
          <p:cNvPr id="31" name="Text 29"/>
          <p:cNvSpPr/>
          <p:nvPr/>
        </p:nvSpPr>
        <p:spPr>
          <a:xfrm>
            <a:off x="5577840" y="4133088"/>
            <a:ext cx="813816" cy="228600"/>
          </a:xfrm>
          <a:prstGeom prst="rect">
            <a:avLst/>
          </a:prstGeom>
          <a:noFill/>
          <a:ln/>
        </p:spPr>
        <p:txBody>
          <a:bodyPr wrap="square" lIns="0" tIns="0" rIns="0" bIns="0" rtlCol="0" anchor="ctr">
            <a:normAutofit/>
          </a:bodyPr>
          <a:lstStyle/>
          <a:p>
            <a:pPr algn="r" indent="0" marL="0">
              <a:buNone/>
            </a:pPr>
            <a:r>
              <a:rPr lang="en-US" sz="1100" dirty="0">
                <a:solidFill>
                  <a:srgbClr val="ADC0D0"/>
                </a:solidFill>
                <a:latin typeface="Aptos" pitchFamily="34" charset="0"/>
                <a:ea typeface="Aptos" pitchFamily="34" charset="-122"/>
                <a:cs typeface="Aptos" pitchFamily="34" charset="-120"/>
              </a:rPr>
              <a:t>9%</a:t>
            </a:r>
            <a:endParaRPr lang="en-US" sz="1100" dirty="0"/>
          </a:p>
        </p:txBody>
      </p:sp>
      <p:sp>
        <p:nvSpPr>
          <p:cNvPr id="32" name="Shape 30"/>
          <p:cNvSpPr/>
          <p:nvPr/>
        </p:nvSpPr>
        <p:spPr>
          <a:xfrm>
            <a:off x="768096" y="4434840"/>
            <a:ext cx="6053328" cy="0"/>
          </a:xfrm>
          <a:prstGeom prst="line">
            <a:avLst/>
          </a:prstGeom>
          <a:noFill/>
          <a:ln w="4572">
            <a:solidFill>
              <a:srgbClr val="30475A"/>
            </a:solidFill>
            <a:prstDash val="solid"/>
          </a:ln>
        </p:spPr>
      </p:sp>
      <p:sp>
        <p:nvSpPr>
          <p:cNvPr id="33" name="Text 31"/>
          <p:cNvSpPr/>
          <p:nvPr/>
        </p:nvSpPr>
        <p:spPr>
          <a:xfrm>
            <a:off x="768096" y="4535424"/>
            <a:ext cx="2926080" cy="228600"/>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CRM / attribution</a:t>
            </a:r>
            <a:endParaRPr lang="en-US" sz="1100" dirty="0"/>
          </a:p>
        </p:txBody>
      </p:sp>
      <p:sp>
        <p:nvSpPr>
          <p:cNvPr id="34" name="Text 32"/>
          <p:cNvSpPr/>
          <p:nvPr/>
        </p:nvSpPr>
        <p:spPr>
          <a:xfrm>
            <a:off x="4160520" y="4535424"/>
            <a:ext cx="996696" cy="228600"/>
          </a:xfrm>
          <a:prstGeom prst="rect">
            <a:avLst/>
          </a:prstGeom>
          <a:noFill/>
          <a:ln/>
        </p:spPr>
        <p:txBody>
          <a:bodyPr wrap="square" lIns="0" tIns="0" rIns="0" bIns="0" rtlCol="0" anchor="ctr">
            <a:normAutofit/>
          </a:bodyPr>
          <a:lstStyle/>
          <a:p>
            <a:pPr algn="r" indent="0" marL="0">
              <a:buNone/>
            </a:pPr>
            <a:r>
              <a:rPr lang="en-US" sz="1100" dirty="0">
                <a:solidFill>
                  <a:srgbClr val="F3C77A"/>
                </a:solidFill>
                <a:latin typeface="Aptos" pitchFamily="34" charset="0"/>
                <a:ea typeface="Aptos" pitchFamily="34" charset="-122"/>
                <a:cs typeface="Aptos" pitchFamily="34" charset="-120"/>
              </a:rPr>
              <a:t>₹60k</a:t>
            </a:r>
            <a:endParaRPr lang="en-US" sz="1100" dirty="0"/>
          </a:p>
        </p:txBody>
      </p:sp>
      <p:sp>
        <p:nvSpPr>
          <p:cNvPr id="35" name="Text 33"/>
          <p:cNvSpPr/>
          <p:nvPr/>
        </p:nvSpPr>
        <p:spPr>
          <a:xfrm>
            <a:off x="5577840" y="4535424"/>
            <a:ext cx="813816" cy="228600"/>
          </a:xfrm>
          <a:prstGeom prst="rect">
            <a:avLst/>
          </a:prstGeom>
          <a:noFill/>
          <a:ln/>
        </p:spPr>
        <p:txBody>
          <a:bodyPr wrap="square" lIns="0" tIns="0" rIns="0" bIns="0" rtlCol="0" anchor="ctr">
            <a:normAutofit/>
          </a:bodyPr>
          <a:lstStyle/>
          <a:p>
            <a:pPr algn="r" indent="0" marL="0">
              <a:buNone/>
            </a:pPr>
            <a:r>
              <a:rPr lang="en-US" sz="1100" dirty="0">
                <a:solidFill>
                  <a:srgbClr val="ADC0D0"/>
                </a:solidFill>
                <a:latin typeface="Aptos" pitchFamily="34" charset="0"/>
                <a:ea typeface="Aptos" pitchFamily="34" charset="-122"/>
                <a:cs typeface="Aptos" pitchFamily="34" charset="-120"/>
              </a:rPr>
              <a:t>6%</a:t>
            </a:r>
            <a:endParaRPr lang="en-US" sz="1100" dirty="0"/>
          </a:p>
        </p:txBody>
      </p:sp>
      <p:sp>
        <p:nvSpPr>
          <p:cNvPr id="36" name="Shape 34"/>
          <p:cNvSpPr/>
          <p:nvPr/>
        </p:nvSpPr>
        <p:spPr>
          <a:xfrm>
            <a:off x="768096" y="4837176"/>
            <a:ext cx="6053328" cy="0"/>
          </a:xfrm>
          <a:prstGeom prst="line">
            <a:avLst/>
          </a:prstGeom>
          <a:noFill/>
          <a:ln w="4572">
            <a:solidFill>
              <a:srgbClr val="30475A"/>
            </a:solidFill>
            <a:prstDash val="solid"/>
          </a:ln>
        </p:spPr>
      </p:sp>
      <p:sp>
        <p:nvSpPr>
          <p:cNvPr id="37" name="Text 35"/>
          <p:cNvSpPr/>
          <p:nvPr/>
        </p:nvSpPr>
        <p:spPr>
          <a:xfrm>
            <a:off x="768096" y="4937760"/>
            <a:ext cx="2926080" cy="228600"/>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Withheld experiment reserve</a:t>
            </a:r>
            <a:endParaRPr lang="en-US" sz="1100" dirty="0"/>
          </a:p>
        </p:txBody>
      </p:sp>
      <p:sp>
        <p:nvSpPr>
          <p:cNvPr id="38" name="Text 36"/>
          <p:cNvSpPr/>
          <p:nvPr/>
        </p:nvSpPr>
        <p:spPr>
          <a:xfrm>
            <a:off x="4160520" y="4937760"/>
            <a:ext cx="996696" cy="228600"/>
          </a:xfrm>
          <a:prstGeom prst="rect">
            <a:avLst/>
          </a:prstGeom>
          <a:noFill/>
          <a:ln/>
        </p:spPr>
        <p:txBody>
          <a:bodyPr wrap="square" lIns="0" tIns="0" rIns="0" bIns="0" rtlCol="0" anchor="ctr">
            <a:normAutofit/>
          </a:bodyPr>
          <a:lstStyle/>
          <a:p>
            <a:pPr algn="r" indent="0" marL="0">
              <a:buNone/>
            </a:pPr>
            <a:r>
              <a:rPr lang="en-US" sz="1100" dirty="0">
                <a:solidFill>
                  <a:srgbClr val="F3C77A"/>
                </a:solidFill>
                <a:latin typeface="Aptos" pitchFamily="34" charset="0"/>
                <a:ea typeface="Aptos" pitchFamily="34" charset="-122"/>
                <a:cs typeface="Aptos" pitchFamily="34" charset="-120"/>
              </a:rPr>
              <a:t>₹80k</a:t>
            </a:r>
            <a:endParaRPr lang="en-US" sz="1100" dirty="0"/>
          </a:p>
        </p:txBody>
      </p:sp>
      <p:sp>
        <p:nvSpPr>
          <p:cNvPr id="39" name="Text 37"/>
          <p:cNvSpPr/>
          <p:nvPr/>
        </p:nvSpPr>
        <p:spPr>
          <a:xfrm>
            <a:off x="5577840" y="4937760"/>
            <a:ext cx="813816" cy="228600"/>
          </a:xfrm>
          <a:prstGeom prst="rect">
            <a:avLst/>
          </a:prstGeom>
          <a:noFill/>
          <a:ln/>
        </p:spPr>
        <p:txBody>
          <a:bodyPr wrap="square" lIns="0" tIns="0" rIns="0" bIns="0" rtlCol="0" anchor="ctr">
            <a:normAutofit/>
          </a:bodyPr>
          <a:lstStyle/>
          <a:p>
            <a:pPr algn="r" indent="0" marL="0">
              <a:buNone/>
            </a:pPr>
            <a:r>
              <a:rPr lang="en-US" sz="1100" dirty="0">
                <a:solidFill>
                  <a:srgbClr val="ADC0D0"/>
                </a:solidFill>
                <a:latin typeface="Aptos" pitchFamily="34" charset="0"/>
                <a:ea typeface="Aptos" pitchFamily="34" charset="-122"/>
                <a:cs typeface="Aptos" pitchFamily="34" charset="-120"/>
              </a:rPr>
              <a:t>8%</a:t>
            </a:r>
            <a:endParaRPr lang="en-US" sz="1100" dirty="0"/>
          </a:p>
        </p:txBody>
      </p:sp>
      <p:sp>
        <p:nvSpPr>
          <p:cNvPr id="40" name="Shape 38"/>
          <p:cNvSpPr/>
          <p:nvPr/>
        </p:nvSpPr>
        <p:spPr>
          <a:xfrm>
            <a:off x="768096" y="5239512"/>
            <a:ext cx="6053328" cy="0"/>
          </a:xfrm>
          <a:prstGeom prst="line">
            <a:avLst/>
          </a:prstGeom>
          <a:noFill/>
          <a:ln w="4572">
            <a:solidFill>
              <a:srgbClr val="30475A"/>
            </a:solidFill>
            <a:prstDash val="solid"/>
          </a:ln>
        </p:spPr>
      </p:sp>
      <p:sp>
        <p:nvSpPr>
          <p:cNvPr id="41" name="Text 39"/>
          <p:cNvSpPr/>
          <p:nvPr/>
        </p:nvSpPr>
        <p:spPr>
          <a:xfrm>
            <a:off x="804672" y="5742432"/>
            <a:ext cx="5833872" cy="210312"/>
          </a:xfrm>
          <a:prstGeom prst="rect">
            <a:avLst/>
          </a:prstGeom>
          <a:noFill/>
          <a:ln/>
        </p:spPr>
        <p:txBody>
          <a:bodyPr wrap="square" lIns="0" tIns="0" rIns="0" bIns="0" rtlCol="0" anchor="ctr">
            <a:normAutofit/>
          </a:bodyPr>
          <a:lstStyle/>
          <a:p>
            <a:pPr indent="0" marL="0">
              <a:buNone/>
            </a:pPr>
            <a:r>
              <a:rPr lang="en-US" sz="1150" b="1" dirty="0">
                <a:solidFill>
                  <a:srgbClr val="58DFC7"/>
                </a:solidFill>
                <a:latin typeface="Aptos" pitchFamily="34" charset="0"/>
                <a:ea typeface="Aptos" pitchFamily="34" charset="-122"/>
                <a:cs typeface="Aptos" pitchFamily="34" charset="-120"/>
              </a:rPr>
              <a:t>TOTAL  ₹10,00,000   ·   100%</a:t>
            </a:r>
            <a:endParaRPr lang="en-US" sz="1150" dirty="0"/>
          </a:p>
        </p:txBody>
      </p:sp>
      <p:sp>
        <p:nvSpPr>
          <p:cNvPr id="42" name="Shape 40"/>
          <p:cNvSpPr/>
          <p:nvPr/>
        </p:nvSpPr>
        <p:spPr>
          <a:xfrm>
            <a:off x="7242048" y="1847088"/>
            <a:ext cx="4398264" cy="4279392"/>
          </a:xfrm>
          <a:prstGeom prst="roundRect">
            <a:avLst>
              <a:gd name="adj" fmla="val 2778"/>
            </a:avLst>
          </a:prstGeom>
          <a:solidFill>
            <a:srgbClr val="102130"/>
          </a:solidFill>
          <a:ln w="12700">
            <a:solidFill>
              <a:srgbClr val="102130"/>
            </a:solidFill>
            <a:prstDash val="solid"/>
          </a:ln>
        </p:spPr>
      </p:sp>
      <p:sp>
        <p:nvSpPr>
          <p:cNvPr id="43" name="Text 41"/>
          <p:cNvSpPr/>
          <p:nvPr/>
        </p:nvSpPr>
        <p:spPr>
          <a:xfrm>
            <a:off x="7443216" y="2084832"/>
            <a:ext cx="3931920" cy="256032"/>
          </a:xfrm>
          <a:prstGeom prst="rect">
            <a:avLst/>
          </a:prstGeom>
          <a:noFill/>
          <a:ln/>
        </p:spPr>
        <p:txBody>
          <a:bodyPr wrap="square" lIns="0" tIns="0" rIns="0" bIns="0" rtlCol="0" anchor="ctr">
            <a:normAutofit/>
          </a:bodyPr>
          <a:lstStyle/>
          <a:p>
            <a:pPr indent="0" marL="0">
              <a:buNone/>
            </a:pPr>
            <a:r>
              <a:rPr lang="en-US" sz="1400" b="1" dirty="0">
                <a:solidFill>
                  <a:srgbClr val="F3C77A"/>
                </a:solidFill>
                <a:latin typeface="Aptos" pitchFamily="34" charset="0"/>
                <a:ea typeface="Aptos" pitchFamily="34" charset="-122"/>
                <a:cs typeface="Aptos" pitchFamily="34" charset="-120"/>
              </a:rPr>
              <a:t>IF ONLY ₹1L / 60 DAYS</a:t>
            </a:r>
            <a:endParaRPr lang="en-US" sz="1400" dirty="0"/>
          </a:p>
        </p:txBody>
      </p:sp>
      <p:sp>
        <p:nvSpPr>
          <p:cNvPr id="44" name="Text 42"/>
          <p:cNvSpPr/>
          <p:nvPr/>
        </p:nvSpPr>
        <p:spPr>
          <a:xfrm>
            <a:off x="7461504" y="2606040"/>
            <a:ext cx="2606040" cy="228600"/>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Search pilot</a:t>
            </a:r>
            <a:endParaRPr lang="en-US" sz="1100" dirty="0"/>
          </a:p>
        </p:txBody>
      </p:sp>
      <p:sp>
        <p:nvSpPr>
          <p:cNvPr id="45" name="Text 43"/>
          <p:cNvSpPr/>
          <p:nvPr/>
        </p:nvSpPr>
        <p:spPr>
          <a:xfrm>
            <a:off x="10442448" y="2606040"/>
            <a:ext cx="859536" cy="228600"/>
          </a:xfrm>
          <a:prstGeom prst="rect">
            <a:avLst/>
          </a:prstGeom>
          <a:noFill/>
          <a:ln/>
        </p:spPr>
        <p:txBody>
          <a:bodyPr wrap="square" lIns="0" tIns="0" rIns="0" bIns="0" rtlCol="0" anchor="ctr">
            <a:normAutofit/>
          </a:bodyPr>
          <a:lstStyle/>
          <a:p>
            <a:pPr algn="r" indent="0" marL="0">
              <a:buNone/>
            </a:pPr>
            <a:r>
              <a:rPr lang="en-US" sz="1100" dirty="0">
                <a:solidFill>
                  <a:srgbClr val="F3C77A"/>
                </a:solidFill>
                <a:latin typeface="Aptos" pitchFamily="34" charset="0"/>
                <a:ea typeface="Aptos" pitchFamily="34" charset="-122"/>
                <a:cs typeface="Aptos" pitchFamily="34" charset="-120"/>
              </a:rPr>
              <a:t>₹30k</a:t>
            </a:r>
            <a:endParaRPr lang="en-US" sz="1100" dirty="0"/>
          </a:p>
        </p:txBody>
      </p:sp>
      <p:sp>
        <p:nvSpPr>
          <p:cNvPr id="46" name="Shape 44"/>
          <p:cNvSpPr/>
          <p:nvPr/>
        </p:nvSpPr>
        <p:spPr>
          <a:xfrm>
            <a:off x="7461504" y="2926080"/>
            <a:ext cx="3877056" cy="0"/>
          </a:xfrm>
          <a:prstGeom prst="line">
            <a:avLst/>
          </a:prstGeom>
          <a:noFill/>
          <a:ln w="5080">
            <a:solidFill>
              <a:srgbClr val="30475A"/>
            </a:solidFill>
            <a:prstDash val="solid"/>
          </a:ln>
        </p:spPr>
      </p:sp>
      <p:sp>
        <p:nvSpPr>
          <p:cNvPr id="47" name="Text 45"/>
          <p:cNvSpPr/>
          <p:nvPr/>
        </p:nvSpPr>
        <p:spPr>
          <a:xfrm>
            <a:off x="7461504" y="3054096"/>
            <a:ext cx="2606040" cy="228600"/>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Verified outbound</a:t>
            </a:r>
            <a:endParaRPr lang="en-US" sz="1100" dirty="0"/>
          </a:p>
        </p:txBody>
      </p:sp>
      <p:sp>
        <p:nvSpPr>
          <p:cNvPr id="48" name="Text 46"/>
          <p:cNvSpPr/>
          <p:nvPr/>
        </p:nvSpPr>
        <p:spPr>
          <a:xfrm>
            <a:off x="10442448" y="3054096"/>
            <a:ext cx="859536" cy="228600"/>
          </a:xfrm>
          <a:prstGeom prst="rect">
            <a:avLst/>
          </a:prstGeom>
          <a:noFill/>
          <a:ln/>
        </p:spPr>
        <p:txBody>
          <a:bodyPr wrap="square" lIns="0" tIns="0" rIns="0" bIns="0" rtlCol="0" anchor="ctr">
            <a:normAutofit/>
          </a:bodyPr>
          <a:lstStyle/>
          <a:p>
            <a:pPr algn="r" indent="0" marL="0">
              <a:buNone/>
            </a:pPr>
            <a:r>
              <a:rPr lang="en-US" sz="1100" dirty="0">
                <a:solidFill>
                  <a:srgbClr val="F3C77A"/>
                </a:solidFill>
                <a:latin typeface="Aptos" pitchFamily="34" charset="0"/>
                <a:ea typeface="Aptos" pitchFamily="34" charset="-122"/>
                <a:cs typeface="Aptos" pitchFamily="34" charset="-120"/>
              </a:rPr>
              <a:t>₹30k</a:t>
            </a:r>
            <a:endParaRPr lang="en-US" sz="1100" dirty="0"/>
          </a:p>
        </p:txBody>
      </p:sp>
      <p:sp>
        <p:nvSpPr>
          <p:cNvPr id="49" name="Shape 47"/>
          <p:cNvSpPr/>
          <p:nvPr/>
        </p:nvSpPr>
        <p:spPr>
          <a:xfrm>
            <a:off x="7461504" y="3374136"/>
            <a:ext cx="3877056" cy="0"/>
          </a:xfrm>
          <a:prstGeom prst="line">
            <a:avLst/>
          </a:prstGeom>
          <a:noFill/>
          <a:ln w="5080">
            <a:solidFill>
              <a:srgbClr val="30475A"/>
            </a:solidFill>
            <a:prstDash val="solid"/>
          </a:ln>
        </p:spPr>
      </p:sp>
      <p:sp>
        <p:nvSpPr>
          <p:cNvPr id="50" name="Text 48"/>
          <p:cNvSpPr/>
          <p:nvPr/>
        </p:nvSpPr>
        <p:spPr>
          <a:xfrm>
            <a:off x="7461504" y="3502152"/>
            <a:ext cx="2606040" cy="228600"/>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Proof assets + landing</a:t>
            </a:r>
            <a:endParaRPr lang="en-US" sz="1100" dirty="0"/>
          </a:p>
        </p:txBody>
      </p:sp>
      <p:sp>
        <p:nvSpPr>
          <p:cNvPr id="51" name="Text 49"/>
          <p:cNvSpPr/>
          <p:nvPr/>
        </p:nvSpPr>
        <p:spPr>
          <a:xfrm>
            <a:off x="10442448" y="3502152"/>
            <a:ext cx="859536" cy="228600"/>
          </a:xfrm>
          <a:prstGeom prst="rect">
            <a:avLst/>
          </a:prstGeom>
          <a:noFill/>
          <a:ln/>
        </p:spPr>
        <p:txBody>
          <a:bodyPr wrap="square" lIns="0" tIns="0" rIns="0" bIns="0" rtlCol="0" anchor="ctr">
            <a:normAutofit/>
          </a:bodyPr>
          <a:lstStyle/>
          <a:p>
            <a:pPr algn="r" indent="0" marL="0">
              <a:buNone/>
            </a:pPr>
            <a:r>
              <a:rPr lang="en-US" sz="1100" dirty="0">
                <a:solidFill>
                  <a:srgbClr val="F3C77A"/>
                </a:solidFill>
                <a:latin typeface="Aptos" pitchFamily="34" charset="0"/>
                <a:ea typeface="Aptos" pitchFamily="34" charset="-122"/>
                <a:cs typeface="Aptos" pitchFamily="34" charset="-120"/>
              </a:rPr>
              <a:t>₹15k</a:t>
            </a:r>
            <a:endParaRPr lang="en-US" sz="1100" dirty="0"/>
          </a:p>
        </p:txBody>
      </p:sp>
      <p:sp>
        <p:nvSpPr>
          <p:cNvPr id="52" name="Shape 50"/>
          <p:cNvSpPr/>
          <p:nvPr/>
        </p:nvSpPr>
        <p:spPr>
          <a:xfrm>
            <a:off x="7461504" y="3822192"/>
            <a:ext cx="3877056" cy="0"/>
          </a:xfrm>
          <a:prstGeom prst="line">
            <a:avLst/>
          </a:prstGeom>
          <a:noFill/>
          <a:ln w="5080">
            <a:solidFill>
              <a:srgbClr val="30475A"/>
            </a:solidFill>
            <a:prstDash val="solid"/>
          </a:ln>
        </p:spPr>
      </p:sp>
      <p:sp>
        <p:nvSpPr>
          <p:cNvPr id="53" name="Text 51"/>
          <p:cNvSpPr/>
          <p:nvPr/>
        </p:nvSpPr>
        <p:spPr>
          <a:xfrm>
            <a:off x="7461504" y="3950208"/>
            <a:ext cx="2606040" cy="228600"/>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CRM + follow-up</a:t>
            </a:r>
            <a:endParaRPr lang="en-US" sz="1100" dirty="0"/>
          </a:p>
        </p:txBody>
      </p:sp>
      <p:sp>
        <p:nvSpPr>
          <p:cNvPr id="54" name="Text 52"/>
          <p:cNvSpPr/>
          <p:nvPr/>
        </p:nvSpPr>
        <p:spPr>
          <a:xfrm>
            <a:off x="10442448" y="3950208"/>
            <a:ext cx="859536" cy="228600"/>
          </a:xfrm>
          <a:prstGeom prst="rect">
            <a:avLst/>
          </a:prstGeom>
          <a:noFill/>
          <a:ln/>
        </p:spPr>
        <p:txBody>
          <a:bodyPr wrap="square" lIns="0" tIns="0" rIns="0" bIns="0" rtlCol="0" anchor="ctr">
            <a:normAutofit/>
          </a:bodyPr>
          <a:lstStyle/>
          <a:p>
            <a:pPr algn="r" indent="0" marL="0">
              <a:buNone/>
            </a:pPr>
            <a:r>
              <a:rPr lang="en-US" sz="1100" dirty="0">
                <a:solidFill>
                  <a:srgbClr val="F3C77A"/>
                </a:solidFill>
                <a:latin typeface="Aptos" pitchFamily="34" charset="0"/>
                <a:ea typeface="Aptos" pitchFamily="34" charset="-122"/>
                <a:cs typeface="Aptos" pitchFamily="34" charset="-120"/>
              </a:rPr>
              <a:t>₹10k</a:t>
            </a:r>
            <a:endParaRPr lang="en-US" sz="1100" dirty="0"/>
          </a:p>
        </p:txBody>
      </p:sp>
      <p:sp>
        <p:nvSpPr>
          <p:cNvPr id="55" name="Shape 53"/>
          <p:cNvSpPr/>
          <p:nvPr/>
        </p:nvSpPr>
        <p:spPr>
          <a:xfrm>
            <a:off x="7461504" y="4270248"/>
            <a:ext cx="3877056" cy="0"/>
          </a:xfrm>
          <a:prstGeom prst="line">
            <a:avLst/>
          </a:prstGeom>
          <a:noFill/>
          <a:ln w="5080">
            <a:solidFill>
              <a:srgbClr val="30475A"/>
            </a:solidFill>
            <a:prstDash val="solid"/>
          </a:ln>
        </p:spPr>
      </p:sp>
      <p:sp>
        <p:nvSpPr>
          <p:cNvPr id="56" name="Text 54"/>
          <p:cNvSpPr/>
          <p:nvPr/>
        </p:nvSpPr>
        <p:spPr>
          <a:xfrm>
            <a:off x="7461504" y="4398264"/>
            <a:ext cx="2606040" cy="228600"/>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Partner activation</a:t>
            </a:r>
            <a:endParaRPr lang="en-US" sz="1100" dirty="0"/>
          </a:p>
        </p:txBody>
      </p:sp>
      <p:sp>
        <p:nvSpPr>
          <p:cNvPr id="57" name="Text 55"/>
          <p:cNvSpPr/>
          <p:nvPr/>
        </p:nvSpPr>
        <p:spPr>
          <a:xfrm>
            <a:off x="10442448" y="4398264"/>
            <a:ext cx="859536" cy="228600"/>
          </a:xfrm>
          <a:prstGeom prst="rect">
            <a:avLst/>
          </a:prstGeom>
          <a:noFill/>
          <a:ln/>
        </p:spPr>
        <p:txBody>
          <a:bodyPr wrap="square" lIns="0" tIns="0" rIns="0" bIns="0" rtlCol="0" anchor="ctr">
            <a:normAutofit/>
          </a:bodyPr>
          <a:lstStyle/>
          <a:p>
            <a:pPr algn="r" indent="0" marL="0">
              <a:buNone/>
            </a:pPr>
            <a:r>
              <a:rPr lang="en-US" sz="1100" dirty="0">
                <a:solidFill>
                  <a:srgbClr val="F3C77A"/>
                </a:solidFill>
                <a:latin typeface="Aptos" pitchFamily="34" charset="0"/>
                <a:ea typeface="Aptos" pitchFamily="34" charset="-122"/>
                <a:cs typeface="Aptos" pitchFamily="34" charset="-120"/>
              </a:rPr>
              <a:t>₹5k</a:t>
            </a:r>
            <a:endParaRPr lang="en-US" sz="1100" dirty="0"/>
          </a:p>
        </p:txBody>
      </p:sp>
      <p:sp>
        <p:nvSpPr>
          <p:cNvPr id="58" name="Shape 56"/>
          <p:cNvSpPr/>
          <p:nvPr/>
        </p:nvSpPr>
        <p:spPr>
          <a:xfrm>
            <a:off x="7461504" y="4718304"/>
            <a:ext cx="3877056" cy="0"/>
          </a:xfrm>
          <a:prstGeom prst="line">
            <a:avLst/>
          </a:prstGeom>
          <a:noFill/>
          <a:ln w="5080">
            <a:solidFill>
              <a:srgbClr val="30475A"/>
            </a:solidFill>
            <a:prstDash val="solid"/>
          </a:ln>
        </p:spPr>
      </p:sp>
      <p:sp>
        <p:nvSpPr>
          <p:cNvPr id="59" name="Text 57"/>
          <p:cNvSpPr/>
          <p:nvPr/>
        </p:nvSpPr>
        <p:spPr>
          <a:xfrm>
            <a:off x="7461504" y="4846320"/>
            <a:ext cx="2606040" cy="228600"/>
          </a:xfrm>
          <a:prstGeom prst="rect">
            <a:avLst/>
          </a:prstGeom>
          <a:noFill/>
          <a:ln/>
        </p:spPr>
        <p:txBody>
          <a:bodyPr wrap="square" lIns="0" tIns="0" rIns="0" bIns="0" rtlCol="0" anchor="ctr">
            <a:normAutofit/>
          </a:bodyPr>
          <a:lstStyle/>
          <a:p>
            <a:pPr indent="0" marL="0">
              <a:buNone/>
            </a:pPr>
            <a:r>
              <a:rPr lang="en-US" sz="1100" dirty="0">
                <a:solidFill>
                  <a:srgbClr val="F2F7FB"/>
                </a:solidFill>
                <a:latin typeface="Aptos" pitchFamily="34" charset="0"/>
                <a:ea typeface="Aptos" pitchFamily="34" charset="-122"/>
                <a:cs typeface="Aptos" pitchFamily="34" charset="-120"/>
              </a:rPr>
              <a:t>Withheld reserve</a:t>
            </a:r>
            <a:endParaRPr lang="en-US" sz="1100" dirty="0"/>
          </a:p>
        </p:txBody>
      </p:sp>
      <p:sp>
        <p:nvSpPr>
          <p:cNvPr id="60" name="Text 58"/>
          <p:cNvSpPr/>
          <p:nvPr/>
        </p:nvSpPr>
        <p:spPr>
          <a:xfrm>
            <a:off x="10442448" y="4846320"/>
            <a:ext cx="859536" cy="228600"/>
          </a:xfrm>
          <a:prstGeom prst="rect">
            <a:avLst/>
          </a:prstGeom>
          <a:noFill/>
          <a:ln/>
        </p:spPr>
        <p:txBody>
          <a:bodyPr wrap="square" lIns="0" tIns="0" rIns="0" bIns="0" rtlCol="0" anchor="ctr">
            <a:normAutofit/>
          </a:bodyPr>
          <a:lstStyle/>
          <a:p>
            <a:pPr algn="r" indent="0" marL="0">
              <a:buNone/>
            </a:pPr>
            <a:r>
              <a:rPr lang="en-US" sz="1100" dirty="0">
                <a:solidFill>
                  <a:srgbClr val="F3C77A"/>
                </a:solidFill>
                <a:latin typeface="Aptos" pitchFamily="34" charset="0"/>
                <a:ea typeface="Aptos" pitchFamily="34" charset="-122"/>
                <a:cs typeface="Aptos" pitchFamily="34" charset="-120"/>
              </a:rPr>
              <a:t>₹10k</a:t>
            </a:r>
            <a:endParaRPr lang="en-US" sz="1100" dirty="0"/>
          </a:p>
        </p:txBody>
      </p:sp>
      <p:sp>
        <p:nvSpPr>
          <p:cNvPr id="61" name="Shape 59"/>
          <p:cNvSpPr/>
          <p:nvPr/>
        </p:nvSpPr>
        <p:spPr>
          <a:xfrm>
            <a:off x="7461504" y="5166360"/>
            <a:ext cx="3877056" cy="0"/>
          </a:xfrm>
          <a:prstGeom prst="line">
            <a:avLst/>
          </a:prstGeom>
          <a:noFill/>
          <a:ln w="5080">
            <a:solidFill>
              <a:srgbClr val="30475A"/>
            </a:solidFill>
            <a:prstDash val="solid"/>
          </a:ln>
        </p:spPr>
      </p:sp>
      <p:sp>
        <p:nvSpPr>
          <p:cNvPr id="62" name="Text 60"/>
          <p:cNvSpPr/>
          <p:nvPr/>
        </p:nvSpPr>
        <p:spPr>
          <a:xfrm>
            <a:off x="7461504" y="5751576"/>
            <a:ext cx="3840480" cy="210312"/>
          </a:xfrm>
          <a:prstGeom prst="rect">
            <a:avLst/>
          </a:prstGeom>
          <a:noFill/>
          <a:ln/>
        </p:spPr>
        <p:txBody>
          <a:bodyPr wrap="square" lIns="0" tIns="0" rIns="0" bIns="0" rtlCol="0" anchor="ctr">
            <a:normAutofit/>
          </a:bodyPr>
          <a:lstStyle/>
          <a:p>
            <a:pPr indent="0" marL="0">
              <a:buNone/>
            </a:pPr>
            <a:r>
              <a:rPr lang="en-US" sz="1150" b="1" dirty="0">
                <a:solidFill>
                  <a:srgbClr val="58DFC7"/>
                </a:solidFill>
                <a:latin typeface="Aptos" pitchFamily="34" charset="0"/>
                <a:ea typeface="Aptos" pitchFamily="34" charset="-122"/>
                <a:cs typeface="Aptos" pitchFamily="34" charset="-120"/>
              </a:rPr>
              <a:t>TOTAL  ₹1,00,000   ·   100%</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84632" y="265176"/>
            <a:ext cx="5486400" cy="219456"/>
          </a:xfrm>
          <a:prstGeom prst="rect">
            <a:avLst/>
          </a:prstGeom>
          <a:noFill/>
          <a:ln/>
        </p:spPr>
        <p:txBody>
          <a:bodyPr wrap="square" lIns="0" tIns="0" rIns="0" bIns="0" rtlCol="0" anchor="ctr">
            <a:normAutofit/>
          </a:bodyPr>
          <a:lstStyle/>
          <a:p>
            <a:pPr indent="0" marL="0">
              <a:buNone/>
            </a:pPr>
            <a:r>
              <a:rPr lang="en-US" sz="1000" b="1" spc="150" kern="0" dirty="0">
                <a:solidFill>
                  <a:srgbClr val="58DFC7"/>
                </a:solidFill>
                <a:latin typeface="Aptos" pitchFamily="34" charset="0"/>
                <a:ea typeface="Aptos" pitchFamily="34" charset="-122"/>
                <a:cs typeface="Aptos" pitchFamily="34" charset="-120"/>
              </a:rPr>
              <a:t>QUICK  /  US GO-TO-MARKET</a:t>
            </a:r>
            <a:endParaRPr lang="en-US" sz="1000" dirty="0"/>
          </a:p>
        </p:txBody>
      </p:sp>
      <p:sp>
        <p:nvSpPr>
          <p:cNvPr id="3" name="Text 1"/>
          <p:cNvSpPr/>
          <p:nvPr/>
        </p:nvSpPr>
        <p:spPr>
          <a:xfrm>
            <a:off x="10607040" y="265176"/>
            <a:ext cx="1051560" cy="219456"/>
          </a:xfrm>
          <a:prstGeom prst="rect">
            <a:avLst/>
          </a:prstGeom>
          <a:noFill/>
          <a:ln/>
        </p:spPr>
        <p:txBody>
          <a:bodyPr wrap="square" lIns="0" tIns="0" rIns="0" bIns="0" rtlCol="0" anchor="ctr">
            <a:normAutofit/>
          </a:bodyPr>
          <a:lstStyle/>
          <a:p>
            <a:pPr algn="r" indent="0" marL="0">
              <a:buNone/>
            </a:pPr>
            <a:r>
              <a:rPr lang="en-US" sz="1000" dirty="0">
                <a:solidFill>
                  <a:srgbClr val="ADC0D0"/>
                </a:solidFill>
                <a:latin typeface="Aptos" pitchFamily="34" charset="0"/>
                <a:ea typeface="Aptos" pitchFamily="34" charset="-122"/>
                <a:cs typeface="Aptos" pitchFamily="34" charset="-120"/>
              </a:rPr>
              <a:t>08 / 09</a:t>
            </a:r>
            <a:endParaRPr lang="en-US" sz="1000" dirty="0"/>
          </a:p>
        </p:txBody>
      </p:sp>
      <p:sp>
        <p:nvSpPr>
          <p:cNvPr id="4" name="Shape 2"/>
          <p:cNvSpPr/>
          <p:nvPr/>
        </p:nvSpPr>
        <p:spPr>
          <a:xfrm>
            <a:off x="484632" y="621792"/>
            <a:ext cx="11219688" cy="0"/>
          </a:xfrm>
          <a:prstGeom prst="line">
            <a:avLst/>
          </a:prstGeom>
          <a:noFill/>
          <a:ln w="12700">
            <a:solidFill>
              <a:srgbClr val="30475A"/>
            </a:solidFill>
            <a:prstDash val="solid"/>
          </a:ln>
        </p:spPr>
      </p:sp>
      <p:sp>
        <p:nvSpPr>
          <p:cNvPr id="5" name="Text 3"/>
          <p:cNvSpPr/>
          <p:nvPr/>
        </p:nvSpPr>
        <p:spPr>
          <a:xfrm>
            <a:off x="484632" y="777240"/>
            <a:ext cx="11201400" cy="484632"/>
          </a:xfrm>
          <a:prstGeom prst="rect">
            <a:avLst/>
          </a:prstGeom>
          <a:noFill/>
          <a:ln/>
        </p:spPr>
        <p:txBody>
          <a:bodyPr wrap="square" lIns="0" tIns="0" rIns="0" bIns="0" rtlCol="0" anchor="ctr">
            <a:normAutofit/>
          </a:bodyPr>
          <a:lstStyle/>
          <a:p>
            <a:pPr indent="0" marL="0">
              <a:buNone/>
            </a:pPr>
            <a:r>
              <a:rPr lang="en-US" sz="2400" b="1" dirty="0">
                <a:solidFill>
                  <a:srgbClr val="F2F7FB"/>
                </a:solidFill>
                <a:latin typeface="Aptos" pitchFamily="34" charset="0"/>
                <a:ea typeface="Aptos" pitchFamily="34" charset="-122"/>
                <a:cs typeface="Aptos" pitchFamily="34" charset="-120"/>
              </a:rPr>
              <a:t>A ₹2,700 lead can imply ₹54k—or ₹270k—media CAC.</a:t>
            </a:r>
            <a:endParaRPr lang="en-US" sz="2400" dirty="0"/>
          </a:p>
        </p:txBody>
      </p:sp>
      <p:sp>
        <p:nvSpPr>
          <p:cNvPr id="6" name="Text 4"/>
          <p:cNvSpPr/>
          <p:nvPr/>
        </p:nvSpPr>
        <p:spPr>
          <a:xfrm>
            <a:off x="484632" y="1307592"/>
            <a:ext cx="11155680" cy="320040"/>
          </a:xfrm>
          <a:prstGeom prst="rect">
            <a:avLst/>
          </a:prstGeom>
          <a:noFill/>
          <a:ln/>
        </p:spPr>
        <p:txBody>
          <a:bodyPr wrap="square" lIns="0" tIns="0" rIns="0" bIns="0" rtlCol="0" anchor="ctr">
            <a:normAutofit/>
          </a:bodyPr>
          <a:lstStyle/>
          <a:p>
            <a:pPr indent="0" marL="0">
              <a:buNone/>
            </a:pPr>
            <a:r>
              <a:rPr lang="en-US" sz="1120" dirty="0">
                <a:solidFill>
                  <a:srgbClr val="ADC0D0"/>
                </a:solidFill>
                <a:latin typeface="Aptos" pitchFamily="34" charset="0"/>
                <a:ea typeface="Aptos" pitchFamily="34" charset="-122"/>
                <a:cs typeface="Aptos" pitchFamily="34" charset="-120"/>
              </a:rPr>
              <a:t>Qualification and lead-to-customer conversion, not an appealing CPL, determine viable scale.</a:t>
            </a:r>
            <a:endParaRPr lang="en-US" sz="1120" dirty="0"/>
          </a:p>
        </p:txBody>
      </p:sp>
      <p:sp>
        <p:nvSpPr>
          <p:cNvPr id="7" name="Shape 5"/>
          <p:cNvSpPr/>
          <p:nvPr/>
        </p:nvSpPr>
        <p:spPr>
          <a:xfrm>
            <a:off x="484632" y="6492240"/>
            <a:ext cx="11219688" cy="0"/>
          </a:xfrm>
          <a:prstGeom prst="line">
            <a:avLst/>
          </a:prstGeom>
          <a:noFill/>
          <a:ln w="12700">
            <a:solidFill>
              <a:srgbClr val="30475A"/>
            </a:solidFill>
            <a:prstDash val="solid"/>
          </a:ln>
        </p:spPr>
      </p:sp>
      <p:sp>
        <p:nvSpPr>
          <p:cNvPr id="8" name="Text 6"/>
          <p:cNvSpPr/>
          <p:nvPr/>
        </p:nvSpPr>
        <p:spPr>
          <a:xfrm>
            <a:off x="502920" y="6565392"/>
            <a:ext cx="8229600" cy="155448"/>
          </a:xfrm>
          <a:prstGeom prst="rect">
            <a:avLst/>
          </a:prstGeom>
          <a:noFill/>
          <a:ln/>
        </p:spPr>
        <p:txBody>
          <a:bodyPr wrap="square" lIns="0" tIns="0" rIns="0" bIns="0" rtlCol="0" anchor="ctr">
            <a:normAutofit/>
          </a:bodyPr>
          <a:lstStyle/>
          <a:p>
            <a:pPr indent="0" marL="0">
              <a:buNone/>
            </a:pPr>
            <a:r>
              <a:rPr lang="en-US" sz="810" spc="100" kern="0" dirty="0">
                <a:solidFill>
                  <a:srgbClr val="ADC0D0"/>
                </a:solidFill>
                <a:latin typeface="Aptos" pitchFamily="34" charset="0"/>
                <a:ea typeface="Aptos" pitchFamily="34" charset="-122"/>
                <a:cs typeface="Aptos" pitchFamily="34" charset="-120"/>
              </a:rPr>
              <a:t>METRICS / UNIT ECONOMICS</a:t>
            </a:r>
            <a:endParaRPr lang="en-US" sz="810" dirty="0"/>
          </a:p>
        </p:txBody>
      </p:sp>
      <p:sp>
        <p:nvSpPr>
          <p:cNvPr id="9" name="Text 7"/>
          <p:cNvSpPr/>
          <p:nvPr/>
        </p:nvSpPr>
        <p:spPr>
          <a:xfrm>
            <a:off x="8092440" y="6565392"/>
            <a:ext cx="3611880" cy="155448"/>
          </a:xfrm>
          <a:prstGeom prst="rect">
            <a:avLst/>
          </a:prstGeom>
          <a:noFill/>
          <a:ln/>
        </p:spPr>
        <p:txBody>
          <a:bodyPr wrap="square" lIns="0" tIns="0" rIns="0" bIns="0" rtlCol="0" anchor="ctr">
            <a:normAutofit/>
          </a:bodyPr>
          <a:lstStyle/>
          <a:p>
            <a:pPr algn="r" indent="0" marL="0">
              <a:buNone/>
            </a:pPr>
            <a:r>
              <a:rPr lang="en-US" sz="750" dirty="0">
                <a:solidFill>
                  <a:srgbClr val="ADC0D0"/>
                </a:solidFill>
                <a:latin typeface="Aptos" pitchFamily="34" charset="0"/>
                <a:ea typeface="Aptos" pitchFamily="34" charset="-122"/>
                <a:cs typeface="Aptos" pitchFamily="34" charset="-120"/>
              </a:rPr>
              <a:t>Prepared 13 Oct 2026 · decision proposal, not company results</a:t>
            </a:r>
            <a:endParaRPr lang="en-US" sz="750" dirty="0"/>
          </a:p>
        </p:txBody>
      </p:sp>
      <p:sp>
        <p:nvSpPr>
          <p:cNvPr id="10" name="Shape 8"/>
          <p:cNvSpPr/>
          <p:nvPr/>
        </p:nvSpPr>
        <p:spPr>
          <a:xfrm>
            <a:off x="548640" y="1892808"/>
            <a:ext cx="6547104" cy="2542032"/>
          </a:xfrm>
          <a:prstGeom prst="roundRect">
            <a:avLst>
              <a:gd name="adj" fmla="val 4676"/>
            </a:avLst>
          </a:prstGeom>
          <a:solidFill>
            <a:srgbClr val="122639"/>
          </a:solidFill>
          <a:ln w="12700">
            <a:solidFill>
              <a:srgbClr val="122639"/>
            </a:solidFill>
            <a:prstDash val="solid"/>
          </a:ln>
        </p:spPr>
      </p:sp>
      <p:sp>
        <p:nvSpPr>
          <p:cNvPr id="11" name="Text 9"/>
          <p:cNvSpPr/>
          <p:nvPr/>
        </p:nvSpPr>
        <p:spPr>
          <a:xfrm>
            <a:off x="768096" y="2093976"/>
            <a:ext cx="6080760" cy="265176"/>
          </a:xfrm>
          <a:prstGeom prst="rect">
            <a:avLst/>
          </a:prstGeom>
          <a:noFill/>
          <a:ln/>
        </p:spPr>
        <p:txBody>
          <a:bodyPr wrap="square" lIns="0" tIns="0" rIns="0" bIns="0" rtlCol="0" anchor="ctr">
            <a:normAutofit/>
          </a:bodyPr>
          <a:lstStyle/>
          <a:p>
            <a:pPr indent="0" marL="0">
              <a:buNone/>
            </a:pPr>
            <a:r>
              <a:rPr lang="en-US" sz="1300" b="1" dirty="0">
                <a:solidFill>
                  <a:srgbClr val="58DFC7"/>
                </a:solidFill>
                <a:latin typeface="Aptos" pitchFamily="34" charset="0"/>
                <a:ea typeface="Aptos" pitchFamily="34" charset="-122"/>
                <a:cs typeface="Aptos" pitchFamily="34" charset="-120"/>
              </a:rPr>
              <a:t>Observed CPL   ×   hypothetical win probability</a:t>
            </a:r>
            <a:endParaRPr lang="en-US" sz="1300" dirty="0"/>
          </a:p>
        </p:txBody>
      </p:sp>
      <p:sp>
        <p:nvSpPr>
          <p:cNvPr id="12" name="Text 10"/>
          <p:cNvSpPr/>
          <p:nvPr/>
        </p:nvSpPr>
        <p:spPr>
          <a:xfrm>
            <a:off x="813816" y="2596896"/>
            <a:ext cx="612648" cy="274320"/>
          </a:xfrm>
          <a:prstGeom prst="rect">
            <a:avLst/>
          </a:prstGeom>
          <a:noFill/>
          <a:ln/>
        </p:spPr>
        <p:txBody>
          <a:bodyPr wrap="square" lIns="0" tIns="0" rIns="0" bIns="0" rtlCol="0" anchor="ctr">
            <a:normAutofit/>
          </a:bodyPr>
          <a:lstStyle/>
          <a:p>
            <a:pPr indent="0" marL="0">
              <a:buNone/>
            </a:pPr>
            <a:r>
              <a:rPr lang="en-US" sz="1600" b="1" dirty="0">
                <a:solidFill>
                  <a:srgbClr val="F3C77A"/>
                </a:solidFill>
                <a:latin typeface="Aptos" pitchFamily="34" charset="0"/>
                <a:ea typeface="Aptos" pitchFamily="34" charset="-122"/>
                <a:cs typeface="Aptos" pitchFamily="34" charset="-120"/>
              </a:rPr>
              <a:t>1%</a:t>
            </a:r>
            <a:endParaRPr lang="en-US" sz="1600" dirty="0"/>
          </a:p>
        </p:txBody>
      </p:sp>
      <p:sp>
        <p:nvSpPr>
          <p:cNvPr id="13" name="Text 11"/>
          <p:cNvSpPr/>
          <p:nvPr/>
        </p:nvSpPr>
        <p:spPr>
          <a:xfrm>
            <a:off x="1691640" y="2596896"/>
            <a:ext cx="1819656" cy="292608"/>
          </a:xfrm>
          <a:prstGeom prst="rect">
            <a:avLst/>
          </a:prstGeom>
          <a:noFill/>
          <a:ln/>
        </p:spPr>
        <p:txBody>
          <a:bodyPr wrap="square" lIns="0" tIns="0" rIns="0" bIns="0" rtlCol="0" anchor="ctr">
            <a:normAutofit/>
          </a:bodyPr>
          <a:lstStyle/>
          <a:p>
            <a:pPr indent="0" marL="0">
              <a:buNone/>
            </a:pPr>
            <a:r>
              <a:rPr lang="en-US" sz="1600" b="1" dirty="0">
                <a:solidFill>
                  <a:srgbClr val="F2F7FB"/>
                </a:solidFill>
                <a:latin typeface="Aptos" pitchFamily="34" charset="0"/>
                <a:ea typeface="Aptos" pitchFamily="34" charset="-122"/>
                <a:cs typeface="Aptos" pitchFamily="34" charset="-120"/>
              </a:rPr>
              <a:t>₹2,70,000</a:t>
            </a:r>
            <a:endParaRPr lang="en-US" sz="1600" dirty="0"/>
          </a:p>
        </p:txBody>
      </p:sp>
      <p:sp>
        <p:nvSpPr>
          <p:cNvPr id="14" name="Text 12"/>
          <p:cNvSpPr/>
          <p:nvPr/>
        </p:nvSpPr>
        <p:spPr>
          <a:xfrm>
            <a:off x="3986784" y="2596896"/>
            <a:ext cx="2706624" cy="274320"/>
          </a:xfrm>
          <a:prstGeom prst="rect">
            <a:avLst/>
          </a:prstGeom>
          <a:noFill/>
          <a:ln/>
        </p:spPr>
        <p:txBody>
          <a:bodyPr wrap="square" lIns="0" tIns="0" rIns="0" bIns="0" rtlCol="0" anchor="ctr">
            <a:normAutofit/>
          </a:bodyPr>
          <a:lstStyle/>
          <a:p>
            <a:pPr indent="0" marL="0">
              <a:buNone/>
            </a:pPr>
            <a:r>
              <a:rPr lang="en-US" sz="1100" dirty="0">
                <a:solidFill>
                  <a:srgbClr val="ADC0D0"/>
                </a:solidFill>
                <a:latin typeface="Aptos" pitchFamily="34" charset="0"/>
                <a:ea typeface="Aptos" pitchFamily="34" charset="-122"/>
                <a:cs typeface="Aptos" pitchFamily="34" charset="-120"/>
              </a:rPr>
              <a:t>Media alone fails cap</a:t>
            </a:r>
            <a:endParaRPr lang="en-US" sz="1100" dirty="0"/>
          </a:p>
        </p:txBody>
      </p:sp>
      <p:sp>
        <p:nvSpPr>
          <p:cNvPr id="15" name="Shape 13"/>
          <p:cNvSpPr/>
          <p:nvPr/>
        </p:nvSpPr>
        <p:spPr>
          <a:xfrm>
            <a:off x="777240" y="2990088"/>
            <a:ext cx="6044184" cy="0"/>
          </a:xfrm>
          <a:prstGeom prst="line">
            <a:avLst/>
          </a:prstGeom>
          <a:noFill/>
          <a:ln w="6985">
            <a:solidFill>
              <a:srgbClr val="30475A"/>
            </a:solidFill>
            <a:prstDash val="solid"/>
          </a:ln>
        </p:spPr>
      </p:sp>
      <p:sp>
        <p:nvSpPr>
          <p:cNvPr id="16" name="Text 14"/>
          <p:cNvSpPr/>
          <p:nvPr/>
        </p:nvSpPr>
        <p:spPr>
          <a:xfrm>
            <a:off x="813816" y="3108960"/>
            <a:ext cx="612648" cy="274320"/>
          </a:xfrm>
          <a:prstGeom prst="rect">
            <a:avLst/>
          </a:prstGeom>
          <a:noFill/>
          <a:ln/>
        </p:spPr>
        <p:txBody>
          <a:bodyPr wrap="square" lIns="0" tIns="0" rIns="0" bIns="0" rtlCol="0" anchor="ctr">
            <a:normAutofit/>
          </a:bodyPr>
          <a:lstStyle/>
          <a:p>
            <a:pPr indent="0" marL="0">
              <a:buNone/>
            </a:pPr>
            <a:r>
              <a:rPr lang="en-US" sz="1600" b="1" dirty="0">
                <a:solidFill>
                  <a:srgbClr val="F3C77A"/>
                </a:solidFill>
                <a:latin typeface="Aptos" pitchFamily="34" charset="0"/>
                <a:ea typeface="Aptos" pitchFamily="34" charset="-122"/>
                <a:cs typeface="Aptos" pitchFamily="34" charset="-120"/>
              </a:rPr>
              <a:t>3%</a:t>
            </a:r>
            <a:endParaRPr lang="en-US" sz="1600" dirty="0"/>
          </a:p>
        </p:txBody>
      </p:sp>
      <p:sp>
        <p:nvSpPr>
          <p:cNvPr id="17" name="Text 15"/>
          <p:cNvSpPr/>
          <p:nvPr/>
        </p:nvSpPr>
        <p:spPr>
          <a:xfrm>
            <a:off x="1691640" y="3108960"/>
            <a:ext cx="1819656" cy="292608"/>
          </a:xfrm>
          <a:prstGeom prst="rect">
            <a:avLst/>
          </a:prstGeom>
          <a:noFill/>
          <a:ln/>
        </p:spPr>
        <p:txBody>
          <a:bodyPr wrap="square" lIns="0" tIns="0" rIns="0" bIns="0" rtlCol="0" anchor="ctr">
            <a:normAutofit/>
          </a:bodyPr>
          <a:lstStyle/>
          <a:p>
            <a:pPr indent="0" marL="0">
              <a:buNone/>
            </a:pPr>
            <a:r>
              <a:rPr lang="en-US" sz="1600" b="1" dirty="0">
                <a:solidFill>
                  <a:srgbClr val="F2F7FB"/>
                </a:solidFill>
                <a:latin typeface="Aptos" pitchFamily="34" charset="0"/>
                <a:ea typeface="Aptos" pitchFamily="34" charset="-122"/>
                <a:cs typeface="Aptos" pitchFamily="34" charset="-120"/>
              </a:rPr>
              <a:t>₹90,000</a:t>
            </a:r>
            <a:endParaRPr lang="en-US" sz="1600" dirty="0"/>
          </a:p>
        </p:txBody>
      </p:sp>
      <p:sp>
        <p:nvSpPr>
          <p:cNvPr id="18" name="Text 16"/>
          <p:cNvSpPr/>
          <p:nvPr/>
        </p:nvSpPr>
        <p:spPr>
          <a:xfrm>
            <a:off x="3986784" y="3108960"/>
            <a:ext cx="2706624" cy="274320"/>
          </a:xfrm>
          <a:prstGeom prst="rect">
            <a:avLst/>
          </a:prstGeom>
          <a:noFill/>
          <a:ln/>
        </p:spPr>
        <p:txBody>
          <a:bodyPr wrap="square" lIns="0" tIns="0" rIns="0" bIns="0" rtlCol="0" anchor="ctr">
            <a:normAutofit/>
          </a:bodyPr>
          <a:lstStyle/>
          <a:p>
            <a:pPr indent="0" marL="0">
              <a:buNone/>
            </a:pPr>
            <a:r>
              <a:rPr lang="en-US" sz="1100" dirty="0">
                <a:solidFill>
                  <a:srgbClr val="ADC0D0"/>
                </a:solidFill>
                <a:latin typeface="Aptos" pitchFamily="34" charset="0"/>
                <a:ea typeface="Aptos" pitchFamily="34" charset="-122"/>
                <a:cs typeface="Aptos" pitchFamily="34" charset="-120"/>
              </a:rPr>
              <a:t>Consumes full cap</a:t>
            </a:r>
            <a:endParaRPr lang="en-US" sz="1100" dirty="0"/>
          </a:p>
        </p:txBody>
      </p:sp>
      <p:sp>
        <p:nvSpPr>
          <p:cNvPr id="19" name="Shape 17"/>
          <p:cNvSpPr/>
          <p:nvPr/>
        </p:nvSpPr>
        <p:spPr>
          <a:xfrm>
            <a:off x="777240" y="3502152"/>
            <a:ext cx="6044184" cy="0"/>
          </a:xfrm>
          <a:prstGeom prst="line">
            <a:avLst/>
          </a:prstGeom>
          <a:noFill/>
          <a:ln w="6985">
            <a:solidFill>
              <a:srgbClr val="30475A"/>
            </a:solidFill>
            <a:prstDash val="solid"/>
          </a:ln>
        </p:spPr>
      </p:sp>
      <p:sp>
        <p:nvSpPr>
          <p:cNvPr id="20" name="Text 18"/>
          <p:cNvSpPr/>
          <p:nvPr/>
        </p:nvSpPr>
        <p:spPr>
          <a:xfrm>
            <a:off x="813816" y="3621024"/>
            <a:ext cx="612648" cy="274320"/>
          </a:xfrm>
          <a:prstGeom prst="rect">
            <a:avLst/>
          </a:prstGeom>
          <a:noFill/>
          <a:ln/>
        </p:spPr>
        <p:txBody>
          <a:bodyPr wrap="square" lIns="0" tIns="0" rIns="0" bIns="0" rtlCol="0" anchor="ctr">
            <a:normAutofit/>
          </a:bodyPr>
          <a:lstStyle/>
          <a:p>
            <a:pPr indent="0" marL="0">
              <a:buNone/>
            </a:pPr>
            <a:r>
              <a:rPr lang="en-US" sz="1600" b="1" dirty="0">
                <a:solidFill>
                  <a:srgbClr val="F3C77A"/>
                </a:solidFill>
                <a:latin typeface="Aptos" pitchFamily="34" charset="0"/>
                <a:ea typeface="Aptos" pitchFamily="34" charset="-122"/>
                <a:cs typeface="Aptos" pitchFamily="34" charset="-120"/>
              </a:rPr>
              <a:t>5%</a:t>
            </a:r>
            <a:endParaRPr lang="en-US" sz="1600" dirty="0"/>
          </a:p>
        </p:txBody>
      </p:sp>
      <p:sp>
        <p:nvSpPr>
          <p:cNvPr id="21" name="Text 19"/>
          <p:cNvSpPr/>
          <p:nvPr/>
        </p:nvSpPr>
        <p:spPr>
          <a:xfrm>
            <a:off x="1691640" y="3621024"/>
            <a:ext cx="1819656" cy="292608"/>
          </a:xfrm>
          <a:prstGeom prst="rect">
            <a:avLst/>
          </a:prstGeom>
          <a:noFill/>
          <a:ln/>
        </p:spPr>
        <p:txBody>
          <a:bodyPr wrap="square" lIns="0" tIns="0" rIns="0" bIns="0" rtlCol="0" anchor="ctr">
            <a:normAutofit/>
          </a:bodyPr>
          <a:lstStyle/>
          <a:p>
            <a:pPr indent="0" marL="0">
              <a:buNone/>
            </a:pPr>
            <a:r>
              <a:rPr lang="en-US" sz="1600" b="1" dirty="0">
                <a:solidFill>
                  <a:srgbClr val="F2F7FB"/>
                </a:solidFill>
                <a:latin typeface="Aptos" pitchFamily="34" charset="0"/>
                <a:ea typeface="Aptos" pitchFamily="34" charset="-122"/>
                <a:cs typeface="Aptos" pitchFamily="34" charset="-120"/>
              </a:rPr>
              <a:t>₹54,000</a:t>
            </a:r>
            <a:endParaRPr lang="en-US" sz="1600" dirty="0"/>
          </a:p>
        </p:txBody>
      </p:sp>
      <p:sp>
        <p:nvSpPr>
          <p:cNvPr id="22" name="Text 20"/>
          <p:cNvSpPr/>
          <p:nvPr/>
        </p:nvSpPr>
        <p:spPr>
          <a:xfrm>
            <a:off x="3986784" y="3621024"/>
            <a:ext cx="2706624" cy="274320"/>
          </a:xfrm>
          <a:prstGeom prst="rect">
            <a:avLst/>
          </a:prstGeom>
          <a:noFill/>
          <a:ln/>
        </p:spPr>
        <p:txBody>
          <a:bodyPr wrap="square" lIns="0" tIns="0" rIns="0" bIns="0" rtlCol="0" anchor="ctr">
            <a:normAutofit/>
          </a:bodyPr>
          <a:lstStyle/>
          <a:p>
            <a:pPr indent="0" marL="0">
              <a:buNone/>
            </a:pPr>
            <a:r>
              <a:rPr lang="en-US" sz="1100" dirty="0">
                <a:solidFill>
                  <a:srgbClr val="58DFC7"/>
                </a:solidFill>
                <a:latin typeface="Aptos" pitchFamily="34" charset="0"/>
                <a:ea typeface="Aptos" pitchFamily="34" charset="-122"/>
                <a:cs typeface="Aptos" pitchFamily="34" charset="-120"/>
              </a:rPr>
              <a:t>₹36k before other CAC</a:t>
            </a:r>
            <a:endParaRPr lang="en-US" sz="1100" dirty="0"/>
          </a:p>
        </p:txBody>
      </p:sp>
      <p:sp>
        <p:nvSpPr>
          <p:cNvPr id="23" name="Shape 21"/>
          <p:cNvSpPr/>
          <p:nvPr/>
        </p:nvSpPr>
        <p:spPr>
          <a:xfrm>
            <a:off x="777240" y="4014216"/>
            <a:ext cx="6044184" cy="0"/>
          </a:xfrm>
          <a:prstGeom prst="line">
            <a:avLst/>
          </a:prstGeom>
          <a:noFill/>
          <a:ln w="6985">
            <a:solidFill>
              <a:srgbClr val="30475A"/>
            </a:solidFill>
            <a:prstDash val="solid"/>
          </a:ln>
        </p:spPr>
      </p:sp>
      <p:sp>
        <p:nvSpPr>
          <p:cNvPr id="24" name="Shape 22"/>
          <p:cNvSpPr/>
          <p:nvPr/>
        </p:nvSpPr>
        <p:spPr>
          <a:xfrm>
            <a:off x="7315200" y="1892808"/>
            <a:ext cx="4325112" cy="2542032"/>
          </a:xfrm>
          <a:prstGeom prst="roundRect">
            <a:avLst>
              <a:gd name="adj" fmla="val 4676"/>
            </a:avLst>
          </a:prstGeom>
          <a:solidFill>
            <a:srgbClr val="102130"/>
          </a:solidFill>
          <a:ln w="12700">
            <a:solidFill>
              <a:srgbClr val="102130"/>
            </a:solidFill>
            <a:prstDash val="solid"/>
          </a:ln>
        </p:spPr>
      </p:sp>
      <p:sp>
        <p:nvSpPr>
          <p:cNvPr id="25" name="Text 23"/>
          <p:cNvSpPr/>
          <p:nvPr/>
        </p:nvSpPr>
        <p:spPr>
          <a:xfrm>
            <a:off x="7534656" y="2093976"/>
            <a:ext cx="3749040" cy="256032"/>
          </a:xfrm>
          <a:prstGeom prst="rect">
            <a:avLst/>
          </a:prstGeom>
          <a:noFill/>
          <a:ln/>
        </p:spPr>
        <p:txBody>
          <a:bodyPr wrap="square" lIns="0" tIns="0" rIns="0" bIns="0" rtlCol="0" anchor="ctr">
            <a:normAutofit/>
          </a:bodyPr>
          <a:lstStyle/>
          <a:p>
            <a:pPr indent="0" marL="0">
              <a:buNone/>
            </a:pPr>
            <a:r>
              <a:rPr lang="en-US" sz="1200" b="1" dirty="0">
                <a:solidFill>
                  <a:srgbClr val="58DFC7"/>
                </a:solidFill>
                <a:latin typeface="Aptos" pitchFamily="34" charset="0"/>
                <a:ea typeface="Aptos" pitchFamily="34" charset="-122"/>
                <a:cs typeface="Aptos" pitchFamily="34" charset="-120"/>
              </a:rPr>
              <a:t>Hypothetical payback guardrail</a:t>
            </a:r>
            <a:endParaRPr lang="en-US" sz="1200" dirty="0"/>
          </a:p>
        </p:txBody>
      </p:sp>
      <p:sp>
        <p:nvSpPr>
          <p:cNvPr id="26" name="Text 24"/>
          <p:cNvSpPr/>
          <p:nvPr/>
        </p:nvSpPr>
        <p:spPr>
          <a:xfrm>
            <a:off x="7534656" y="2651760"/>
            <a:ext cx="1554480" cy="420624"/>
          </a:xfrm>
          <a:prstGeom prst="rect">
            <a:avLst/>
          </a:prstGeom>
          <a:noFill/>
          <a:ln/>
        </p:spPr>
        <p:txBody>
          <a:bodyPr wrap="square" lIns="0" tIns="0" rIns="0" bIns="0" rtlCol="0" anchor="ctr">
            <a:normAutofit/>
          </a:bodyPr>
          <a:lstStyle/>
          <a:p>
            <a:pPr indent="0" marL="0">
              <a:buNone/>
            </a:pPr>
            <a:r>
              <a:rPr lang="en-US" sz="2000" b="1" dirty="0">
                <a:solidFill>
                  <a:srgbClr val="F3C77A"/>
                </a:solidFill>
                <a:latin typeface="Aptos" pitchFamily="34" charset="0"/>
                <a:ea typeface="Aptos" pitchFamily="34" charset="-122"/>
                <a:cs typeface="Aptos" pitchFamily="34" charset="-120"/>
              </a:rPr>
              <a:t>₹20,000</a:t>
            </a:r>
            <a:endParaRPr lang="en-US" sz="2000" dirty="0"/>
          </a:p>
        </p:txBody>
      </p:sp>
      <p:sp>
        <p:nvSpPr>
          <p:cNvPr id="27" name="Text 25"/>
          <p:cNvSpPr/>
          <p:nvPr/>
        </p:nvSpPr>
        <p:spPr>
          <a:xfrm>
            <a:off x="9180576" y="2724912"/>
            <a:ext cx="2011680" cy="237744"/>
          </a:xfrm>
          <a:prstGeom prst="rect">
            <a:avLst/>
          </a:prstGeom>
          <a:noFill/>
          <a:ln/>
        </p:spPr>
        <p:txBody>
          <a:bodyPr wrap="square" lIns="0" tIns="0" rIns="0" bIns="0" rtlCol="0" anchor="ctr">
            <a:normAutofit/>
          </a:bodyPr>
          <a:lstStyle/>
          <a:p>
            <a:pPr indent="0" marL="0">
              <a:buNone/>
            </a:pPr>
            <a:r>
              <a:rPr lang="en-US" sz="1100" dirty="0">
                <a:solidFill>
                  <a:srgbClr val="ADC0D0"/>
                </a:solidFill>
                <a:latin typeface="Aptos" pitchFamily="34" charset="0"/>
                <a:ea typeface="Aptos" pitchFamily="34" charset="-122"/>
                <a:cs typeface="Aptos" pitchFamily="34" charset="-120"/>
              </a:rPr>
              <a:t>chain MRR</a:t>
            </a:r>
            <a:endParaRPr lang="en-US" sz="1100" dirty="0"/>
          </a:p>
        </p:txBody>
      </p:sp>
      <p:sp>
        <p:nvSpPr>
          <p:cNvPr id="28" name="Text 26"/>
          <p:cNvSpPr/>
          <p:nvPr/>
        </p:nvSpPr>
        <p:spPr>
          <a:xfrm>
            <a:off x="7534656" y="3182112"/>
            <a:ext cx="3675888" cy="274320"/>
          </a:xfrm>
          <a:prstGeom prst="rect">
            <a:avLst/>
          </a:prstGeom>
          <a:noFill/>
          <a:ln/>
        </p:spPr>
        <p:txBody>
          <a:bodyPr wrap="square" lIns="0" tIns="0" rIns="0" bIns="0" rtlCol="0" anchor="ctr">
            <a:normAutofit/>
          </a:bodyPr>
          <a:lstStyle/>
          <a:p>
            <a:pPr indent="0" marL="0">
              <a:buNone/>
            </a:pPr>
            <a:r>
              <a:rPr lang="en-US" sz="1200" dirty="0">
                <a:solidFill>
                  <a:srgbClr val="F2F7FB"/>
                </a:solidFill>
                <a:latin typeface="Aptos" pitchFamily="34" charset="0"/>
                <a:ea typeface="Aptos" pitchFamily="34" charset="-122"/>
                <a:cs typeface="Aptos" pitchFamily="34" charset="-120"/>
              </a:rPr>
              <a:t>× 75% contribution × 6 months</a:t>
            </a:r>
            <a:endParaRPr lang="en-US" sz="1200" dirty="0"/>
          </a:p>
        </p:txBody>
      </p:sp>
      <p:sp>
        <p:nvSpPr>
          <p:cNvPr id="29" name="Shape 27"/>
          <p:cNvSpPr/>
          <p:nvPr/>
        </p:nvSpPr>
        <p:spPr>
          <a:xfrm>
            <a:off x="7534656" y="3602736"/>
            <a:ext cx="3730752" cy="0"/>
          </a:xfrm>
          <a:prstGeom prst="line">
            <a:avLst/>
          </a:prstGeom>
          <a:noFill/>
          <a:ln w="12700">
            <a:solidFill>
              <a:srgbClr val="30475A"/>
            </a:solidFill>
            <a:prstDash val="solid"/>
          </a:ln>
        </p:spPr>
      </p:sp>
      <p:sp>
        <p:nvSpPr>
          <p:cNvPr id="30" name="Text 28"/>
          <p:cNvSpPr/>
          <p:nvPr/>
        </p:nvSpPr>
        <p:spPr>
          <a:xfrm>
            <a:off x="7534656" y="3794760"/>
            <a:ext cx="3767328" cy="365760"/>
          </a:xfrm>
          <a:prstGeom prst="rect">
            <a:avLst/>
          </a:prstGeom>
          <a:noFill/>
          <a:ln/>
        </p:spPr>
        <p:txBody>
          <a:bodyPr wrap="square" lIns="0" tIns="0" rIns="0" bIns="0" rtlCol="0" anchor="ctr">
            <a:normAutofit/>
          </a:bodyPr>
          <a:lstStyle/>
          <a:p>
            <a:pPr indent="0" marL="0">
              <a:buNone/>
            </a:pPr>
            <a:r>
              <a:rPr lang="en-US" sz="1500" b="1" dirty="0">
                <a:solidFill>
                  <a:srgbClr val="58DFC7"/>
                </a:solidFill>
                <a:latin typeface="Aptos" pitchFamily="34" charset="0"/>
                <a:ea typeface="Aptos" pitchFamily="34" charset="-122"/>
                <a:cs typeface="Aptos" pitchFamily="34" charset="-120"/>
              </a:rPr>
              <a:t>= ₹90,000 total CAC cap</a:t>
            </a:r>
            <a:endParaRPr lang="en-US" sz="1500" dirty="0"/>
          </a:p>
        </p:txBody>
      </p:sp>
      <p:sp>
        <p:nvSpPr>
          <p:cNvPr id="31" name="Shape 29"/>
          <p:cNvSpPr/>
          <p:nvPr/>
        </p:nvSpPr>
        <p:spPr>
          <a:xfrm>
            <a:off x="548640" y="4709160"/>
            <a:ext cx="11082528" cy="1225296"/>
          </a:xfrm>
          <a:prstGeom prst="roundRect">
            <a:avLst>
              <a:gd name="adj" fmla="val 9701"/>
            </a:avLst>
          </a:prstGeom>
          <a:solidFill>
            <a:srgbClr val="19354A"/>
          </a:solidFill>
          <a:ln w="12700">
            <a:solidFill>
              <a:srgbClr val="19354A"/>
            </a:solidFill>
            <a:prstDash val="solid"/>
          </a:ln>
        </p:spPr>
      </p:sp>
      <p:sp>
        <p:nvSpPr>
          <p:cNvPr id="32" name="Text 30"/>
          <p:cNvSpPr/>
          <p:nvPr/>
        </p:nvSpPr>
        <p:spPr>
          <a:xfrm>
            <a:off x="758952" y="4892040"/>
            <a:ext cx="5486400" cy="256032"/>
          </a:xfrm>
          <a:prstGeom prst="rect">
            <a:avLst/>
          </a:prstGeom>
          <a:noFill/>
          <a:ln/>
        </p:spPr>
        <p:txBody>
          <a:bodyPr wrap="square" lIns="0" tIns="0" rIns="0" bIns="0" rtlCol="0" anchor="ctr">
            <a:normAutofit/>
          </a:bodyPr>
          <a:lstStyle/>
          <a:p>
            <a:pPr indent="0" marL="0">
              <a:buNone/>
            </a:pPr>
            <a:r>
              <a:rPr lang="en-US" sz="1200" b="1" dirty="0">
                <a:solidFill>
                  <a:srgbClr val="58DFC7"/>
                </a:solidFill>
                <a:latin typeface="Aptos" pitchFamily="34" charset="0"/>
                <a:ea typeface="Aptos" pitchFamily="34" charset="-122"/>
                <a:cs typeface="Aptos" pitchFamily="34" charset="-120"/>
              </a:rPr>
              <a:t>ACCOUNT-LEVEL FUNNEL &amp; STAGE OWNERS</a:t>
            </a:r>
            <a:endParaRPr lang="en-US" sz="1200" dirty="0"/>
          </a:p>
        </p:txBody>
      </p:sp>
      <p:sp>
        <p:nvSpPr>
          <p:cNvPr id="33" name="Text 31"/>
          <p:cNvSpPr/>
          <p:nvPr/>
        </p:nvSpPr>
        <p:spPr>
          <a:xfrm>
            <a:off x="758952" y="5303520"/>
            <a:ext cx="10552176" cy="356616"/>
          </a:xfrm>
          <a:prstGeom prst="rect">
            <a:avLst/>
          </a:prstGeom>
          <a:noFill/>
          <a:ln/>
        </p:spPr>
        <p:txBody>
          <a:bodyPr wrap="square" lIns="0" tIns="0" rIns="0" bIns="0" rtlCol="0" anchor="ctr">
            <a:normAutofit/>
          </a:bodyPr>
          <a:lstStyle/>
          <a:p>
            <a:pPr indent="0" marL="0">
              <a:buNone/>
            </a:pPr>
            <a:r>
              <a:rPr lang="en-US" sz="1300" b="1" dirty="0">
                <a:solidFill>
                  <a:srgbClr val="F2F7FB"/>
                </a:solidFill>
                <a:latin typeface="Aptos" pitchFamily="34" charset="0"/>
                <a:ea typeface="Aptos" pitchFamily="34" charset="-122"/>
                <a:cs typeface="Aptos" pitchFamily="34" charset="-120"/>
              </a:rPr>
              <a:t>Source → verified ICP account → booked → held → sales-accepted SQL → pilot → paying logo → live locations → retention</a:t>
            </a:r>
            <a:endParaRPr lang="en-US" sz="1300" dirty="0"/>
          </a:p>
        </p:txBody>
      </p:sp>
      <p:sp>
        <p:nvSpPr>
          <p:cNvPr id="34" name="Text 32"/>
          <p:cNvSpPr/>
          <p:nvPr/>
        </p:nvSpPr>
        <p:spPr>
          <a:xfrm>
            <a:off x="758952" y="5916168"/>
            <a:ext cx="10716768" cy="228600"/>
          </a:xfrm>
          <a:prstGeom prst="rect">
            <a:avLst/>
          </a:prstGeom>
          <a:noFill/>
          <a:ln/>
        </p:spPr>
        <p:txBody>
          <a:bodyPr wrap="square" lIns="0" tIns="0" rIns="0" bIns="0" rtlCol="0" anchor="ctr">
            <a:normAutofit/>
          </a:bodyPr>
          <a:lstStyle/>
          <a:p>
            <a:pPr indent="0" marL="0">
              <a:buNone/>
            </a:pPr>
            <a:r>
              <a:rPr lang="en-US" sz="1000" dirty="0">
                <a:solidFill>
                  <a:srgbClr val="ADC0D0"/>
                </a:solidFill>
                <a:latin typeface="Aptos" pitchFamily="34" charset="0"/>
                <a:ea typeface="Aptos" pitchFamily="34" charset="-122"/>
                <a:cs typeface="Aptos" pitchFamily="34" charset="-120"/>
              </a:rPr>
              <a:t>Daily: source + sales SLA   ·   Weekly: fit, holds, SQL, objections   ·   Monthly: mature wins, full CAC, cohort payback</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84632" y="265176"/>
            <a:ext cx="5486400" cy="219456"/>
          </a:xfrm>
          <a:prstGeom prst="rect">
            <a:avLst/>
          </a:prstGeom>
          <a:noFill/>
          <a:ln/>
        </p:spPr>
        <p:txBody>
          <a:bodyPr wrap="square" lIns="0" tIns="0" rIns="0" bIns="0" rtlCol="0" anchor="ctr">
            <a:normAutofit/>
          </a:bodyPr>
          <a:lstStyle/>
          <a:p>
            <a:pPr indent="0" marL="0">
              <a:buNone/>
            </a:pPr>
            <a:r>
              <a:rPr lang="en-US" sz="1000" b="1" spc="150" kern="0" dirty="0">
                <a:solidFill>
                  <a:srgbClr val="58DFC7"/>
                </a:solidFill>
                <a:latin typeface="Aptos" pitchFamily="34" charset="0"/>
                <a:ea typeface="Aptos" pitchFamily="34" charset="-122"/>
                <a:cs typeface="Aptos" pitchFamily="34" charset="-120"/>
              </a:rPr>
              <a:t>QUICK  /  US GO-TO-MARKET</a:t>
            </a:r>
            <a:endParaRPr lang="en-US" sz="1000" dirty="0"/>
          </a:p>
        </p:txBody>
      </p:sp>
      <p:sp>
        <p:nvSpPr>
          <p:cNvPr id="3" name="Text 1"/>
          <p:cNvSpPr/>
          <p:nvPr/>
        </p:nvSpPr>
        <p:spPr>
          <a:xfrm>
            <a:off x="10607040" y="265176"/>
            <a:ext cx="1051560" cy="219456"/>
          </a:xfrm>
          <a:prstGeom prst="rect">
            <a:avLst/>
          </a:prstGeom>
          <a:noFill/>
          <a:ln/>
        </p:spPr>
        <p:txBody>
          <a:bodyPr wrap="square" lIns="0" tIns="0" rIns="0" bIns="0" rtlCol="0" anchor="ctr">
            <a:normAutofit/>
          </a:bodyPr>
          <a:lstStyle/>
          <a:p>
            <a:pPr algn="r" indent="0" marL="0">
              <a:buNone/>
            </a:pPr>
            <a:r>
              <a:rPr lang="en-US" sz="1000" dirty="0">
                <a:solidFill>
                  <a:srgbClr val="ADC0D0"/>
                </a:solidFill>
                <a:latin typeface="Aptos" pitchFamily="34" charset="0"/>
                <a:ea typeface="Aptos" pitchFamily="34" charset="-122"/>
                <a:cs typeface="Aptos" pitchFamily="34" charset="-120"/>
              </a:rPr>
              <a:t>09 / 09</a:t>
            </a:r>
            <a:endParaRPr lang="en-US" sz="1000" dirty="0"/>
          </a:p>
        </p:txBody>
      </p:sp>
      <p:sp>
        <p:nvSpPr>
          <p:cNvPr id="4" name="Shape 2"/>
          <p:cNvSpPr/>
          <p:nvPr/>
        </p:nvSpPr>
        <p:spPr>
          <a:xfrm>
            <a:off x="484632" y="621792"/>
            <a:ext cx="11219688" cy="0"/>
          </a:xfrm>
          <a:prstGeom prst="line">
            <a:avLst/>
          </a:prstGeom>
          <a:noFill/>
          <a:ln w="12700">
            <a:solidFill>
              <a:srgbClr val="30475A"/>
            </a:solidFill>
            <a:prstDash val="solid"/>
          </a:ln>
        </p:spPr>
      </p:sp>
      <p:sp>
        <p:nvSpPr>
          <p:cNvPr id="5" name="Text 3"/>
          <p:cNvSpPr/>
          <p:nvPr/>
        </p:nvSpPr>
        <p:spPr>
          <a:xfrm>
            <a:off x="484632" y="777240"/>
            <a:ext cx="11201400" cy="484632"/>
          </a:xfrm>
          <a:prstGeom prst="rect">
            <a:avLst/>
          </a:prstGeom>
          <a:noFill/>
          <a:ln/>
        </p:spPr>
        <p:txBody>
          <a:bodyPr wrap="square" lIns="0" tIns="0" rIns="0" bIns="0" rtlCol="0" anchor="ctr">
            <a:normAutofit/>
          </a:bodyPr>
          <a:lstStyle/>
          <a:p>
            <a:pPr indent="0" marL="0">
              <a:buNone/>
            </a:pPr>
            <a:r>
              <a:rPr lang="en-US" sz="2400" b="1" dirty="0">
                <a:solidFill>
                  <a:srgbClr val="F2F7FB"/>
                </a:solidFill>
                <a:latin typeface="Aptos" pitchFamily="34" charset="0"/>
                <a:ea typeface="Aptos" pitchFamily="34" charset="-122"/>
                <a:cs typeface="Aptos" pitchFamily="34" charset="-120"/>
              </a:rPr>
              <a:t>Three facts would let me start building pipeline next Monday.</a:t>
            </a:r>
            <a:endParaRPr lang="en-US" sz="2400" dirty="0"/>
          </a:p>
        </p:txBody>
      </p:sp>
      <p:sp>
        <p:nvSpPr>
          <p:cNvPr id="6" name="Text 4"/>
          <p:cNvSpPr/>
          <p:nvPr/>
        </p:nvSpPr>
        <p:spPr>
          <a:xfrm>
            <a:off x="484632" y="1307592"/>
            <a:ext cx="11155680" cy="320040"/>
          </a:xfrm>
          <a:prstGeom prst="rect">
            <a:avLst/>
          </a:prstGeom>
          <a:noFill/>
          <a:ln/>
        </p:spPr>
        <p:txBody>
          <a:bodyPr wrap="square" lIns="0" tIns="0" rIns="0" bIns="0" rtlCol="0" anchor="ctr">
            <a:normAutofit/>
          </a:bodyPr>
          <a:lstStyle/>
          <a:p>
            <a:pPr indent="0" marL="0">
              <a:buNone/>
            </a:pPr>
            <a:r>
              <a:rPr lang="en-US" sz="1120" dirty="0">
                <a:solidFill>
                  <a:srgbClr val="ADC0D0"/>
                </a:solidFill>
                <a:latin typeface="Aptos" pitchFamily="34" charset="0"/>
                <a:ea typeface="Aptos" pitchFamily="34" charset="-122"/>
                <a:cs typeface="Aptos" pitchFamily="34" charset="-120"/>
              </a:rPr>
              <a:t>Thank you. The operating plan is designed to earn investment through evidence, not optimism.</a:t>
            </a:r>
            <a:endParaRPr lang="en-US" sz="1120" dirty="0"/>
          </a:p>
        </p:txBody>
      </p:sp>
      <p:sp>
        <p:nvSpPr>
          <p:cNvPr id="7" name="Shape 5"/>
          <p:cNvSpPr/>
          <p:nvPr/>
        </p:nvSpPr>
        <p:spPr>
          <a:xfrm>
            <a:off x="484632" y="6492240"/>
            <a:ext cx="11219688" cy="0"/>
          </a:xfrm>
          <a:prstGeom prst="line">
            <a:avLst/>
          </a:prstGeom>
          <a:noFill/>
          <a:ln w="12700">
            <a:solidFill>
              <a:srgbClr val="30475A"/>
            </a:solidFill>
            <a:prstDash val="solid"/>
          </a:ln>
        </p:spPr>
      </p:sp>
      <p:sp>
        <p:nvSpPr>
          <p:cNvPr id="8" name="Text 6"/>
          <p:cNvSpPr/>
          <p:nvPr/>
        </p:nvSpPr>
        <p:spPr>
          <a:xfrm>
            <a:off x="502920" y="6565392"/>
            <a:ext cx="8229600" cy="155448"/>
          </a:xfrm>
          <a:prstGeom prst="rect">
            <a:avLst/>
          </a:prstGeom>
          <a:noFill/>
          <a:ln/>
        </p:spPr>
        <p:txBody>
          <a:bodyPr wrap="square" lIns="0" tIns="0" rIns="0" bIns="0" rtlCol="0" anchor="ctr">
            <a:normAutofit/>
          </a:bodyPr>
          <a:lstStyle/>
          <a:p>
            <a:pPr indent="0" marL="0">
              <a:buNone/>
            </a:pPr>
            <a:r>
              <a:rPr lang="en-US" sz="810" spc="100" kern="0" dirty="0">
                <a:solidFill>
                  <a:srgbClr val="ADC0D0"/>
                </a:solidFill>
                <a:latin typeface="Aptos" pitchFamily="34" charset="0"/>
                <a:ea typeface="Aptos" pitchFamily="34" charset="-122"/>
                <a:cs typeface="Aptos" pitchFamily="34" charset="-120"/>
              </a:rPr>
              <a:t>DECISION / THANK YOU</a:t>
            </a:r>
            <a:endParaRPr lang="en-US" sz="810" dirty="0"/>
          </a:p>
        </p:txBody>
      </p:sp>
      <p:sp>
        <p:nvSpPr>
          <p:cNvPr id="9" name="Text 7"/>
          <p:cNvSpPr/>
          <p:nvPr/>
        </p:nvSpPr>
        <p:spPr>
          <a:xfrm>
            <a:off x="8092440" y="6565392"/>
            <a:ext cx="3611880" cy="155448"/>
          </a:xfrm>
          <a:prstGeom prst="rect">
            <a:avLst/>
          </a:prstGeom>
          <a:noFill/>
          <a:ln/>
        </p:spPr>
        <p:txBody>
          <a:bodyPr wrap="square" lIns="0" tIns="0" rIns="0" bIns="0" rtlCol="0" anchor="ctr">
            <a:normAutofit/>
          </a:bodyPr>
          <a:lstStyle/>
          <a:p>
            <a:pPr algn="r" indent="0" marL="0">
              <a:buNone/>
            </a:pPr>
            <a:r>
              <a:rPr lang="en-US" sz="750" dirty="0">
                <a:solidFill>
                  <a:srgbClr val="ADC0D0"/>
                </a:solidFill>
                <a:latin typeface="Aptos" pitchFamily="34" charset="0"/>
                <a:ea typeface="Aptos" pitchFamily="34" charset="-122"/>
                <a:cs typeface="Aptos" pitchFamily="34" charset="-120"/>
              </a:rPr>
              <a:t>Prepared 13 Oct 2026 · decision proposal, not company results</a:t>
            </a:r>
            <a:endParaRPr lang="en-US" sz="750" dirty="0"/>
          </a:p>
        </p:txBody>
      </p:sp>
      <p:sp>
        <p:nvSpPr>
          <p:cNvPr id="10" name="Shape 8"/>
          <p:cNvSpPr/>
          <p:nvPr/>
        </p:nvSpPr>
        <p:spPr>
          <a:xfrm>
            <a:off x="585216" y="1984248"/>
            <a:ext cx="10991088" cy="996696"/>
          </a:xfrm>
          <a:prstGeom prst="roundRect">
            <a:avLst>
              <a:gd name="adj" fmla="val 11927"/>
            </a:avLst>
          </a:prstGeom>
          <a:solidFill>
            <a:srgbClr val="122639"/>
          </a:solidFill>
          <a:ln w="12700">
            <a:solidFill>
              <a:srgbClr val="122639"/>
            </a:solidFill>
            <a:prstDash val="solid"/>
          </a:ln>
        </p:spPr>
      </p:sp>
      <p:sp>
        <p:nvSpPr>
          <p:cNvPr id="11" name="Text 9"/>
          <p:cNvSpPr/>
          <p:nvPr/>
        </p:nvSpPr>
        <p:spPr>
          <a:xfrm>
            <a:off x="813816" y="2212848"/>
            <a:ext cx="576072" cy="393192"/>
          </a:xfrm>
          <a:prstGeom prst="rect">
            <a:avLst/>
          </a:prstGeom>
          <a:noFill/>
          <a:ln/>
        </p:spPr>
        <p:txBody>
          <a:bodyPr wrap="square" lIns="0" tIns="0" rIns="0" bIns="0" rtlCol="0" anchor="ctr">
            <a:normAutofit/>
          </a:bodyPr>
          <a:lstStyle/>
          <a:p>
            <a:pPr indent="0" marL="0">
              <a:buNone/>
            </a:pPr>
            <a:r>
              <a:rPr lang="en-US" sz="2200" b="1" dirty="0">
                <a:solidFill>
                  <a:srgbClr val="F3C77A"/>
                </a:solidFill>
                <a:latin typeface="Aptos" pitchFamily="34" charset="0"/>
                <a:ea typeface="Aptos" pitchFamily="34" charset="-122"/>
                <a:cs typeface="Aptos" pitchFamily="34" charset="-120"/>
              </a:rPr>
              <a:t>01</a:t>
            </a:r>
            <a:endParaRPr lang="en-US" sz="2200" dirty="0"/>
          </a:p>
        </p:txBody>
      </p:sp>
      <p:sp>
        <p:nvSpPr>
          <p:cNvPr id="12" name="Text 10"/>
          <p:cNvSpPr/>
          <p:nvPr/>
        </p:nvSpPr>
        <p:spPr>
          <a:xfrm>
            <a:off x="1581912" y="2148840"/>
            <a:ext cx="4498848" cy="365760"/>
          </a:xfrm>
          <a:prstGeom prst="rect">
            <a:avLst/>
          </a:prstGeom>
          <a:noFill/>
          <a:ln/>
        </p:spPr>
        <p:txBody>
          <a:bodyPr wrap="square" lIns="0" tIns="0" rIns="0" bIns="0" rtlCol="0" anchor="ctr">
            <a:normAutofit/>
          </a:bodyPr>
          <a:lstStyle/>
          <a:p>
            <a:pPr indent="0" marL="0">
              <a:buNone/>
            </a:pPr>
            <a:r>
              <a:rPr lang="en-US" sz="1700" b="1" dirty="0">
                <a:solidFill>
                  <a:srgbClr val="F2F7FB"/>
                </a:solidFill>
                <a:latin typeface="Aptos" pitchFamily="34" charset="0"/>
                <a:ea typeface="Aptos" pitchFamily="34" charset="-122"/>
                <a:cs typeface="Aptos" pitchFamily="34" charset="-120"/>
              </a:rPr>
              <a:t>A 90-day, source-level CRM export</a:t>
            </a:r>
            <a:endParaRPr lang="en-US" sz="1700" dirty="0"/>
          </a:p>
        </p:txBody>
      </p:sp>
      <p:sp>
        <p:nvSpPr>
          <p:cNvPr id="13" name="Text 11"/>
          <p:cNvSpPr/>
          <p:nvPr/>
        </p:nvSpPr>
        <p:spPr>
          <a:xfrm>
            <a:off x="6254496" y="2148840"/>
            <a:ext cx="4809744" cy="576072"/>
          </a:xfrm>
          <a:prstGeom prst="rect">
            <a:avLst/>
          </a:prstGeom>
          <a:noFill/>
          <a:ln/>
        </p:spPr>
        <p:txBody>
          <a:bodyPr wrap="square" lIns="0" tIns="0" rIns="0" bIns="0" rtlCol="0" anchor="ctr">
            <a:normAutofit/>
          </a:bodyPr>
          <a:lstStyle/>
          <a:p>
            <a:pPr indent="0" marL="0">
              <a:buNone/>
            </a:pPr>
            <a:r>
              <a:rPr lang="en-US" sz="1140" dirty="0">
                <a:solidFill>
                  <a:srgbClr val="ADC0D0"/>
                </a:solidFill>
                <a:latin typeface="Aptos" pitchFamily="34" charset="0"/>
                <a:ea typeface="Aptos" pitchFamily="34" charset="-122"/>
                <a:cs typeface="Aptos" pitchFamily="34" charset="-120"/>
              </a:rPr>
              <a:t>True ICP fit, holds, accepted opportunities, paying groups, stage lag and owner.</a:t>
            </a:r>
            <a:endParaRPr lang="en-US" sz="1140" dirty="0"/>
          </a:p>
        </p:txBody>
      </p:sp>
      <p:sp>
        <p:nvSpPr>
          <p:cNvPr id="14" name="Shape 12"/>
          <p:cNvSpPr/>
          <p:nvPr/>
        </p:nvSpPr>
        <p:spPr>
          <a:xfrm>
            <a:off x="585216" y="3145536"/>
            <a:ext cx="10991088" cy="996696"/>
          </a:xfrm>
          <a:prstGeom prst="roundRect">
            <a:avLst>
              <a:gd name="adj" fmla="val 11927"/>
            </a:avLst>
          </a:prstGeom>
          <a:solidFill>
            <a:srgbClr val="122639"/>
          </a:solidFill>
          <a:ln w="12700">
            <a:solidFill>
              <a:srgbClr val="122639"/>
            </a:solidFill>
            <a:prstDash val="solid"/>
          </a:ln>
        </p:spPr>
      </p:sp>
      <p:sp>
        <p:nvSpPr>
          <p:cNvPr id="15" name="Text 13"/>
          <p:cNvSpPr/>
          <p:nvPr/>
        </p:nvSpPr>
        <p:spPr>
          <a:xfrm>
            <a:off x="813816" y="3374136"/>
            <a:ext cx="576072" cy="393192"/>
          </a:xfrm>
          <a:prstGeom prst="rect">
            <a:avLst/>
          </a:prstGeom>
          <a:noFill/>
          <a:ln/>
        </p:spPr>
        <p:txBody>
          <a:bodyPr wrap="square" lIns="0" tIns="0" rIns="0" bIns="0" rtlCol="0" anchor="ctr">
            <a:normAutofit/>
          </a:bodyPr>
          <a:lstStyle/>
          <a:p>
            <a:pPr indent="0" marL="0">
              <a:buNone/>
            </a:pPr>
            <a:r>
              <a:rPr lang="en-US" sz="2200" b="1" dirty="0">
                <a:solidFill>
                  <a:srgbClr val="F3C77A"/>
                </a:solidFill>
                <a:latin typeface="Aptos" pitchFamily="34" charset="0"/>
                <a:ea typeface="Aptos" pitchFamily="34" charset="-122"/>
                <a:cs typeface="Aptos" pitchFamily="34" charset="-120"/>
              </a:rPr>
              <a:t>02</a:t>
            </a:r>
            <a:endParaRPr lang="en-US" sz="2200" dirty="0"/>
          </a:p>
        </p:txBody>
      </p:sp>
      <p:sp>
        <p:nvSpPr>
          <p:cNvPr id="16" name="Text 14"/>
          <p:cNvSpPr/>
          <p:nvPr/>
        </p:nvSpPr>
        <p:spPr>
          <a:xfrm>
            <a:off x="1581912" y="3310128"/>
            <a:ext cx="4498848" cy="365760"/>
          </a:xfrm>
          <a:prstGeom prst="rect">
            <a:avLst/>
          </a:prstGeom>
          <a:noFill/>
          <a:ln/>
        </p:spPr>
        <p:txBody>
          <a:bodyPr wrap="square" lIns="0" tIns="0" rIns="0" bIns="0" rtlCol="0" anchor="ctr">
            <a:normAutofit/>
          </a:bodyPr>
          <a:lstStyle/>
          <a:p>
            <a:pPr indent="0" marL="0">
              <a:buNone/>
            </a:pPr>
            <a:r>
              <a:rPr lang="en-US" sz="1700" b="1" dirty="0">
                <a:solidFill>
                  <a:srgbClr val="F2F7FB"/>
                </a:solidFill>
                <a:latin typeface="Aptos" pitchFamily="34" charset="0"/>
                <a:ea typeface="Aptos" pitchFamily="34" charset="-122"/>
                <a:cs typeface="Aptos" pitchFamily="34" charset="-120"/>
              </a:rPr>
              <a:t>A US readiness + pricing walkthrough</a:t>
            </a:r>
            <a:endParaRPr lang="en-US" sz="1700" dirty="0"/>
          </a:p>
        </p:txBody>
      </p:sp>
      <p:sp>
        <p:nvSpPr>
          <p:cNvPr id="17" name="Text 15"/>
          <p:cNvSpPr/>
          <p:nvPr/>
        </p:nvSpPr>
        <p:spPr>
          <a:xfrm>
            <a:off x="6254496" y="3310128"/>
            <a:ext cx="4809744" cy="576072"/>
          </a:xfrm>
          <a:prstGeom prst="rect">
            <a:avLst/>
          </a:prstGeom>
          <a:noFill/>
          <a:ln/>
        </p:spPr>
        <p:txBody>
          <a:bodyPr wrap="square" lIns="0" tIns="0" rIns="0" bIns="0" rtlCol="0" anchor="ctr">
            <a:normAutofit/>
          </a:bodyPr>
          <a:lstStyle/>
          <a:p>
            <a:pPr indent="0" marL="0">
              <a:buNone/>
            </a:pPr>
            <a:r>
              <a:rPr lang="en-US" sz="1140" dirty="0">
                <a:solidFill>
                  <a:srgbClr val="ADC0D0"/>
                </a:solidFill>
                <a:latin typeface="Aptos" pitchFamily="34" charset="0"/>
                <a:ea typeface="Aptos" pitchFamily="34" charset="-122"/>
                <a:cs typeface="Aptos" pitchFamily="34" charset="-120"/>
              </a:rPr>
              <a:t>Live feature demo, hardware/payments, data import, support, contractual plans.</a:t>
            </a:r>
            <a:endParaRPr lang="en-US" sz="1140" dirty="0"/>
          </a:p>
        </p:txBody>
      </p:sp>
      <p:sp>
        <p:nvSpPr>
          <p:cNvPr id="18" name="Shape 16"/>
          <p:cNvSpPr/>
          <p:nvPr/>
        </p:nvSpPr>
        <p:spPr>
          <a:xfrm>
            <a:off x="585216" y="4306824"/>
            <a:ext cx="10991088" cy="996696"/>
          </a:xfrm>
          <a:prstGeom prst="roundRect">
            <a:avLst>
              <a:gd name="adj" fmla="val 11927"/>
            </a:avLst>
          </a:prstGeom>
          <a:solidFill>
            <a:srgbClr val="122639"/>
          </a:solidFill>
          <a:ln w="12700">
            <a:solidFill>
              <a:srgbClr val="122639"/>
            </a:solidFill>
            <a:prstDash val="solid"/>
          </a:ln>
        </p:spPr>
      </p:sp>
      <p:sp>
        <p:nvSpPr>
          <p:cNvPr id="19" name="Text 17"/>
          <p:cNvSpPr/>
          <p:nvPr/>
        </p:nvSpPr>
        <p:spPr>
          <a:xfrm>
            <a:off x="813816" y="4535424"/>
            <a:ext cx="576072" cy="393192"/>
          </a:xfrm>
          <a:prstGeom prst="rect">
            <a:avLst/>
          </a:prstGeom>
          <a:noFill/>
          <a:ln/>
        </p:spPr>
        <p:txBody>
          <a:bodyPr wrap="square" lIns="0" tIns="0" rIns="0" bIns="0" rtlCol="0" anchor="ctr">
            <a:normAutofit/>
          </a:bodyPr>
          <a:lstStyle/>
          <a:p>
            <a:pPr indent="0" marL="0">
              <a:buNone/>
            </a:pPr>
            <a:r>
              <a:rPr lang="en-US" sz="2200" b="1" dirty="0">
                <a:solidFill>
                  <a:srgbClr val="F3C77A"/>
                </a:solidFill>
                <a:latin typeface="Aptos" pitchFamily="34" charset="0"/>
                <a:ea typeface="Aptos" pitchFamily="34" charset="-122"/>
                <a:cs typeface="Aptos" pitchFamily="34" charset="-120"/>
              </a:rPr>
              <a:t>03</a:t>
            </a:r>
            <a:endParaRPr lang="en-US" sz="2200" dirty="0"/>
          </a:p>
        </p:txBody>
      </p:sp>
      <p:sp>
        <p:nvSpPr>
          <p:cNvPr id="20" name="Text 18"/>
          <p:cNvSpPr/>
          <p:nvPr/>
        </p:nvSpPr>
        <p:spPr>
          <a:xfrm>
            <a:off x="1581912" y="4471416"/>
            <a:ext cx="4498848" cy="365760"/>
          </a:xfrm>
          <a:prstGeom prst="rect">
            <a:avLst/>
          </a:prstGeom>
          <a:noFill/>
          <a:ln/>
        </p:spPr>
        <p:txBody>
          <a:bodyPr wrap="square" lIns="0" tIns="0" rIns="0" bIns="0" rtlCol="0" anchor="ctr">
            <a:normAutofit/>
          </a:bodyPr>
          <a:lstStyle/>
          <a:p>
            <a:pPr indent="0" marL="0">
              <a:buNone/>
            </a:pPr>
            <a:r>
              <a:rPr lang="en-US" sz="1700" b="1" dirty="0">
                <a:solidFill>
                  <a:srgbClr val="F2F7FB"/>
                </a:solidFill>
                <a:latin typeface="Aptos" pitchFamily="34" charset="0"/>
                <a:ea typeface="Aptos" pitchFamily="34" charset="-122"/>
                <a:cs typeface="Aptos" pitchFamily="34" charset="-120"/>
              </a:rPr>
              <a:t>One sales owner + a weekly review</a:t>
            </a:r>
            <a:endParaRPr lang="en-US" sz="1700" dirty="0"/>
          </a:p>
        </p:txBody>
      </p:sp>
      <p:sp>
        <p:nvSpPr>
          <p:cNvPr id="21" name="Text 19"/>
          <p:cNvSpPr/>
          <p:nvPr/>
        </p:nvSpPr>
        <p:spPr>
          <a:xfrm>
            <a:off x="6254496" y="4471416"/>
            <a:ext cx="4809744" cy="576072"/>
          </a:xfrm>
          <a:prstGeom prst="rect">
            <a:avLst/>
          </a:prstGeom>
          <a:noFill/>
          <a:ln/>
        </p:spPr>
        <p:txBody>
          <a:bodyPr wrap="square" lIns="0" tIns="0" rIns="0" bIns="0" rtlCol="0" anchor="ctr">
            <a:normAutofit/>
          </a:bodyPr>
          <a:lstStyle/>
          <a:p>
            <a:pPr indent="0" marL="0">
              <a:buNone/>
            </a:pPr>
            <a:r>
              <a:rPr lang="en-US" sz="1140" dirty="0">
                <a:solidFill>
                  <a:srgbClr val="ADC0D0"/>
                </a:solidFill>
                <a:latin typeface="Aptos" pitchFamily="34" charset="0"/>
                <a:ea typeface="Aptos" pitchFamily="34" charset="-122"/>
                <a:cs typeface="Aptos" pitchFamily="34" charset="-120"/>
              </a:rPr>
              <a:t>US-time overlap, agreed reply SLA, mutual qualification criteria and budget gates.</a:t>
            </a:r>
            <a:endParaRPr lang="en-US" sz="1140" dirty="0"/>
          </a:p>
        </p:txBody>
      </p:sp>
      <p:sp>
        <p:nvSpPr>
          <p:cNvPr id="22" name="Shape 20"/>
          <p:cNvSpPr/>
          <p:nvPr/>
        </p:nvSpPr>
        <p:spPr>
          <a:xfrm>
            <a:off x="585216" y="5687568"/>
            <a:ext cx="10991088" cy="475488"/>
          </a:xfrm>
          <a:prstGeom prst="roundRect">
            <a:avLst>
              <a:gd name="adj" fmla="val 25000"/>
            </a:avLst>
          </a:prstGeom>
          <a:solidFill>
            <a:srgbClr val="19354A"/>
          </a:solidFill>
          <a:ln w="12700">
            <a:solidFill>
              <a:srgbClr val="19354A"/>
            </a:solidFill>
            <a:prstDash val="solid"/>
          </a:ln>
        </p:spPr>
      </p:sp>
      <p:sp>
        <p:nvSpPr>
          <p:cNvPr id="23" name="Text 21"/>
          <p:cNvSpPr/>
          <p:nvPr/>
        </p:nvSpPr>
        <p:spPr>
          <a:xfrm>
            <a:off x="822960" y="5806440"/>
            <a:ext cx="10469880" cy="228600"/>
          </a:xfrm>
          <a:prstGeom prst="rect">
            <a:avLst/>
          </a:prstGeom>
          <a:noFill/>
          <a:ln/>
        </p:spPr>
        <p:txBody>
          <a:bodyPr wrap="square" lIns="0" tIns="0" rIns="0" bIns="0" rtlCol="0" anchor="ctr">
            <a:normAutofit/>
          </a:bodyPr>
          <a:lstStyle/>
          <a:p>
            <a:pPr indent="0" marL="0">
              <a:buNone/>
            </a:pPr>
            <a:r>
              <a:rPr lang="en-US" sz="1120" b="1" dirty="0">
                <a:solidFill>
                  <a:srgbClr val="58DFC7"/>
                </a:solidFill>
                <a:latin typeface="Aptos" pitchFamily="34" charset="0"/>
                <a:ea typeface="Aptos" pitchFamily="34" charset="-122"/>
                <a:cs typeface="Aptos" pitchFamily="34" charset="-120"/>
              </a:rPr>
              <a:t>Remote-ready execution = US-overlap availability + shared CRM truth + documented decisions + co-owned operator demos.</a:t>
            </a:r>
            <a:endParaRPr lang="en-US" sz="11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Independent candidate case assessment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Growth: Qualified Pipeline Before Lead Volume</dc:title>
  <dc:subject>Quick Dry Cleaning Software | US Growth Marketing Manager case assignment</dc:subject>
  <dc:creator>Manash Protim Deori</dc:creator>
  <cp:lastModifiedBy>Manash Protim Deori</cp:lastModifiedBy>
  <cp:revision>1</cp:revision>
  <dcterms:created xsi:type="dcterms:W3CDTF">2026-10-13T02:09:46Z</dcterms:created>
  <dcterms:modified xsi:type="dcterms:W3CDTF">2026-10-13T02:09:46Z</dcterms:modified>
</cp:coreProperties>
</file>