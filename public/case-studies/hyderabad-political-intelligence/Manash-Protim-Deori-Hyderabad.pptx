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10ece8d264fb8" /><Relationship Type="http://schemas.openxmlformats.org/officeDocument/2006/relationships/extended-properties" Target="/docProps/app.xml" Id="Rd05439a27f974338" /><Relationship Type="http://schemas.openxmlformats.org/officeDocument/2006/relationships/officeDocument" Target="/ppt/presentation.xml" Id="R65c8dafea8c0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eb9894a9eb4dd5"/>
  </p:sldMasterIdLst>
  <p:notesMasterIdLst>
    <p:notesMasterId xmlns:r="http://schemas.openxmlformats.org/officeDocument/2006/relationships" r:id="R10700714556d4201"/>
  </p:notesMasterIdLst>
  <p:sldIdLst>
    <p:sldId xmlns:r="http://schemas.openxmlformats.org/officeDocument/2006/relationships" id="256" r:id="Rab28beadfab54748"/>
    <p:sldId xmlns:r="http://schemas.openxmlformats.org/officeDocument/2006/relationships" id="257" r:id="R93030a4f7a4e4ff4"/>
    <p:sldId xmlns:r="http://schemas.openxmlformats.org/officeDocument/2006/relationships" id="258" r:id="R096fdf5d49154d9c"/>
    <p:sldId xmlns:r="http://schemas.openxmlformats.org/officeDocument/2006/relationships" id="259" r:id="R7fb79980bba24acb"/>
    <p:sldId xmlns:r="http://schemas.openxmlformats.org/officeDocument/2006/relationships" id="260" r:id="R41dbe3bc82dc48e2"/>
    <p:sldId xmlns:r="http://schemas.openxmlformats.org/officeDocument/2006/relationships" id="261" r:id="R5e7acac8a67f4ec2"/>
    <p:sldId xmlns:r="http://schemas.openxmlformats.org/officeDocument/2006/relationships" id="262" r:id="R9dba702828d74b86"/>
    <p:sldId xmlns:r="http://schemas.openxmlformats.org/officeDocument/2006/relationships" id="263" r:id="Re68824321fe14bcc"/>
    <p:sldId xmlns:r="http://schemas.openxmlformats.org/officeDocument/2006/relationships" id="264" r:id="R9e7da8f50c494a0c"/>
    <p:sldId xmlns:r="http://schemas.openxmlformats.org/officeDocument/2006/relationships" id="265" r:id="R3ab50fd9136c4005"/>
    <p:sldId xmlns:r="http://schemas.openxmlformats.org/officeDocument/2006/relationships" id="266" r:id="R272b810b831440b8"/>
    <p:sldId xmlns:r="http://schemas.openxmlformats.org/officeDocument/2006/relationships" id="267" r:id="R73d8ee532137474e"/>
    <p:sldId xmlns:r="http://schemas.openxmlformats.org/officeDocument/2006/relationships" id="268" r:id="R20655a2d2e6744ec"/>
    <p:sldId xmlns:r="http://schemas.openxmlformats.org/officeDocument/2006/relationships" id="269" r:id="R966f716b5f3742f4"/>
    <p:sldId xmlns:r="http://schemas.openxmlformats.org/officeDocument/2006/relationships" id="270" r:id="Re4f107d4c8a24953"/>
    <p:sldId xmlns:r="http://schemas.openxmlformats.org/officeDocument/2006/relationships" id="271" r:id="R5fe09c9a3c934769"/>
    <p:sldId xmlns:r="http://schemas.openxmlformats.org/officeDocument/2006/relationships" id="272" r:id="Rb0bbe310be7042f5"/>
    <p:sldId xmlns:r="http://schemas.openxmlformats.org/officeDocument/2006/relationships" id="273" r:id="R3ebf629cce52423e"/>
    <p:sldId xmlns:r="http://schemas.openxmlformats.org/officeDocument/2006/relationships" id="274" r:id="R74732049eb494a1b"/>
    <p:sldId xmlns:r="http://schemas.openxmlformats.org/officeDocument/2006/relationships" id="275" r:id="Rb3c8fc252593403c"/>
    <p:sldId xmlns:r="http://schemas.openxmlformats.org/officeDocument/2006/relationships" id="276" r:id="R062b8953c1ff4f22"/>
    <p:sldId xmlns:r="http://schemas.openxmlformats.org/officeDocument/2006/relationships" id="277" r:id="R58fd7e3ad5cb466e"/>
    <p:sldId xmlns:r="http://schemas.openxmlformats.org/officeDocument/2006/relationships" id="278" r:id="Rbd370ff8078c4296"/>
    <p:sldId xmlns:r="http://schemas.openxmlformats.org/officeDocument/2006/relationships" id="279" r:id="Rb35f1859c6d349c4"/>
    <p:sldId xmlns:r="http://schemas.openxmlformats.org/officeDocument/2006/relationships" id="280" r:id="R93dd03a49d2c4ea3"/>
    <p:sldId xmlns:r="http://schemas.openxmlformats.org/officeDocument/2006/relationships" id="281" r:id="Rbb85bdde4f1f4caf"/>
    <p:sldId xmlns:r="http://schemas.openxmlformats.org/officeDocument/2006/relationships" id="282" r:id="R0ec3c9aadc1c453b"/>
    <p:sldId xmlns:r="http://schemas.openxmlformats.org/officeDocument/2006/relationships" id="283" r:id="R2fe94496957f4051"/>
    <p:sldId xmlns:r="http://schemas.openxmlformats.org/officeDocument/2006/relationships" id="284" r:id="Rc016ca307ede4bd0"/>
    <p:sldId xmlns:r="http://schemas.openxmlformats.org/officeDocument/2006/relationships" id="285" r:id="R7b3d27d11348419f"/>
    <p:sldId xmlns:r="http://schemas.openxmlformats.org/officeDocument/2006/relationships" id="286" r:id="R848b4bc116044fa0"/>
    <p:sldId xmlns:r="http://schemas.openxmlformats.org/officeDocument/2006/relationships" id="287" r:id="Rc1a22a5267034a36"/>
    <p:sldId xmlns:r="http://schemas.openxmlformats.org/officeDocument/2006/relationships" id="288" r:id="R50c3af42d04b4a78"/>
    <p:sldId xmlns:r="http://schemas.openxmlformats.org/officeDocument/2006/relationships" id="289" r:id="Rc92b85b71c6b4f21"/>
    <p:sldId xmlns:r="http://schemas.openxmlformats.org/officeDocument/2006/relationships" id="290" r:id="R6c4a4dea5a144a4c"/>
    <p:sldId xmlns:r="http://schemas.openxmlformats.org/officeDocument/2006/relationships" id="291" r:id="R83743ef16f4d41d4"/>
    <p:sldId xmlns:r="http://schemas.openxmlformats.org/officeDocument/2006/relationships" id="292" r:id="R3c9cca99360e491d"/>
    <p:sldId xmlns:r="http://schemas.openxmlformats.org/officeDocument/2006/relationships" id="293" r:id="Ref128238479145d5"/>
    <p:sldId xmlns:r="http://schemas.openxmlformats.org/officeDocument/2006/relationships" id="294" r:id="Ra0cf00cdbd8f401d"/>
    <p:sldId xmlns:r="http://schemas.openxmlformats.org/officeDocument/2006/relationships" id="295" r:id="R4c157ff7da5446cc"/>
    <p:sldId xmlns:r="http://schemas.openxmlformats.org/officeDocument/2006/relationships" id="296" r:id="R05e1f442eae14275"/>
    <p:sldId xmlns:r="http://schemas.openxmlformats.org/officeDocument/2006/relationships" id="297" r:id="Re0166f11a0e841cb"/>
    <p:sldId xmlns:r="http://schemas.openxmlformats.org/officeDocument/2006/relationships" id="298" r:id="R3359237248da4245"/>
    <p:sldId xmlns:r="http://schemas.openxmlformats.org/officeDocument/2006/relationships" id="299" r:id="Rede5fc549a9b40ef"/>
    <p:sldId xmlns:r="http://schemas.openxmlformats.org/officeDocument/2006/relationships" id="300" r:id="R5cdd796567a7452d"/>
    <p:sldId xmlns:r="http://schemas.openxmlformats.org/officeDocument/2006/relationships" id="301" r:id="R0a61f839daf94120"/>
    <p:sldId xmlns:r="http://schemas.openxmlformats.org/officeDocument/2006/relationships" id="302" r:id="Rcc4822fcaf9e43b5"/>
    <p:sldId xmlns:r="http://schemas.openxmlformats.org/officeDocument/2006/relationships" id="303" r:id="R5e12e49a2f8c472f"/>
    <p:sldId xmlns:r="http://schemas.openxmlformats.org/officeDocument/2006/relationships" id="304" r:id="R9009f1cbdaf84335"/>
    <p:sldId xmlns:r="http://schemas.openxmlformats.org/officeDocument/2006/relationships" id="305" r:id="R6e37c414df6641ee"/>
    <p:sldId xmlns:r="http://schemas.openxmlformats.org/officeDocument/2006/relationships" id="306" r:id="R034df1e77a83496b"/>
    <p:sldId xmlns:r="http://schemas.openxmlformats.org/officeDocument/2006/relationships" id="307" r:id="R71cfa8c3dbfa4951"/>
    <p:sldId xmlns:r="http://schemas.openxmlformats.org/officeDocument/2006/relationships" id="308" r:id="R2644d7eb0ed44c33"/>
    <p:sldId xmlns:r="http://schemas.openxmlformats.org/officeDocument/2006/relationships" id="309" r:id="R95c711cc5126479a"/>
    <p:sldId xmlns:r="http://schemas.openxmlformats.org/officeDocument/2006/relationships" id="310" r:id="Rfb1f3af7594547d5"/>
    <p:sldId xmlns:r="http://schemas.openxmlformats.org/officeDocument/2006/relationships" id="311" r:id="R22e82b288cca4483"/>
    <p:sldId xmlns:r="http://schemas.openxmlformats.org/officeDocument/2006/relationships" id="312" r:id="Ra53aaa2972e84f3d"/>
    <p:sldId xmlns:r="http://schemas.openxmlformats.org/officeDocument/2006/relationships" id="313" r:id="R1da8136979564298"/>
    <p:sldId xmlns:r="http://schemas.openxmlformats.org/officeDocument/2006/relationships" id="314" r:id="R3c0eddaa13e0445c"/>
    <p:sldId xmlns:r="http://schemas.openxmlformats.org/officeDocument/2006/relationships" id="315" r:id="R960ebc65797e4311"/>
    <p:sldId xmlns:r="http://schemas.openxmlformats.org/officeDocument/2006/relationships" id="316" r:id="R8e215cd43a9e4924"/>
    <p:sldId xmlns:r="http://schemas.openxmlformats.org/officeDocument/2006/relationships" id="317" r:id="Rf74a8da580e2478e"/>
    <p:sldId xmlns:r="http://schemas.openxmlformats.org/officeDocument/2006/relationships" id="318" r:id="R2e9edd3b76014eb1"/>
    <p:sldId xmlns:r="http://schemas.openxmlformats.org/officeDocument/2006/relationships" id="319" r:id="R8898c64b23df4a46"/>
    <p:sldId xmlns:r="http://schemas.openxmlformats.org/officeDocument/2006/relationships" id="320" r:id="R79d7c2a86da94989"/>
    <p:sldId xmlns:r="http://schemas.openxmlformats.org/officeDocument/2006/relationships" id="321" r:id="R93934543406a4160"/>
    <p:sldId xmlns:r="http://schemas.openxmlformats.org/officeDocument/2006/relationships" id="322" r:id="Radd3640d03584d0d"/>
    <p:sldId xmlns:r="http://schemas.openxmlformats.org/officeDocument/2006/relationships" id="323" r:id="R4f79807ad2e644f7"/>
    <p:sldId xmlns:r="http://schemas.openxmlformats.org/officeDocument/2006/relationships" id="324" r:id="R64c4e14edabd49ab"/>
    <p:sldId xmlns:r="http://schemas.openxmlformats.org/officeDocument/2006/relationships" id="325" r:id="Rc4afa9d358a14c83"/>
    <p:sldId xmlns:r="http://schemas.openxmlformats.org/officeDocument/2006/relationships" id="326" r:id="R750d37a5b8014c2e"/>
    <p:sldId xmlns:r="http://schemas.openxmlformats.org/officeDocument/2006/relationships" id="327" r:id="R92fc2f5099d443db"/>
    <p:sldId xmlns:r="http://schemas.openxmlformats.org/officeDocument/2006/relationships" id="328" r:id="R81bde69efc9a4b44"/>
    <p:sldId xmlns:r="http://schemas.openxmlformats.org/officeDocument/2006/relationships" id="329" r:id="Rcd970297fdaf4894"/>
    <p:sldId xmlns:r="http://schemas.openxmlformats.org/officeDocument/2006/relationships" id="330" r:id="R578e1c83e68144d8"/>
    <p:sldId xmlns:r="http://schemas.openxmlformats.org/officeDocument/2006/relationships" id="331" r:id="R58e7ab8f363842de"/>
    <p:sldId xmlns:r="http://schemas.openxmlformats.org/officeDocument/2006/relationships" id="332" r:id="R5643ad5950cb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f53e72bf7403f" /><Relationship Type="http://schemas.openxmlformats.org/officeDocument/2006/relationships/slideMaster" Target="/ppt/slideMasters/slideMaster1.xml" Id="Ra2eb9894a9eb4dd5" /><Relationship Type="http://schemas.openxmlformats.org/officeDocument/2006/relationships/notesMaster" Target="/ppt/notesMasters/notesMaster1.xml" Id="R10700714556d4201" /><Relationship Type="http://schemas.openxmlformats.org/officeDocument/2006/relationships/presProps" Target="/ppt/presProps.xml" Id="R8210b99c05e04766" /><Relationship Type="http://schemas.openxmlformats.org/officeDocument/2006/relationships/tableStyles" Target="/ppt/tableStyles.xml" Id="Rde2d0e76a0b24925" /><Relationship Type="http://schemas.openxmlformats.org/officeDocument/2006/relationships/slide" Target="/ppt/slides/slide1.xml" Id="Rab28beadfab54748" /><Relationship Type="http://schemas.openxmlformats.org/officeDocument/2006/relationships/slide" Target="/ppt/slides/slide2.xml" Id="R93030a4f7a4e4ff4" /><Relationship Type="http://schemas.openxmlformats.org/officeDocument/2006/relationships/slide" Target="/ppt/slides/slide3.xml" Id="R096fdf5d49154d9c" /><Relationship Type="http://schemas.openxmlformats.org/officeDocument/2006/relationships/slide" Target="/ppt/slides/slide4.xml" Id="R7fb79980bba24acb" /><Relationship Type="http://schemas.openxmlformats.org/officeDocument/2006/relationships/slide" Target="/ppt/slides/slide5.xml" Id="R41dbe3bc82dc48e2" /><Relationship Type="http://schemas.openxmlformats.org/officeDocument/2006/relationships/slide" Target="/ppt/slides/slide6.xml" Id="R5e7acac8a67f4ec2" /><Relationship Type="http://schemas.openxmlformats.org/officeDocument/2006/relationships/slide" Target="/ppt/slides/slide7.xml" Id="R9dba702828d74b86" /><Relationship Type="http://schemas.openxmlformats.org/officeDocument/2006/relationships/slide" Target="/ppt/slides/slide8.xml" Id="Re68824321fe14bcc" /><Relationship Type="http://schemas.openxmlformats.org/officeDocument/2006/relationships/slide" Target="/ppt/slides/slide9.xml" Id="R9e7da8f50c494a0c" /><Relationship Type="http://schemas.openxmlformats.org/officeDocument/2006/relationships/slide" Target="/ppt/slides/slide10.xml" Id="R3ab50fd9136c4005" /><Relationship Type="http://schemas.openxmlformats.org/officeDocument/2006/relationships/slide" Target="/ppt/slides/slide11.xml" Id="R272b810b831440b8" /><Relationship Type="http://schemas.openxmlformats.org/officeDocument/2006/relationships/slide" Target="/ppt/slides/slide12.xml" Id="R73d8ee532137474e" /><Relationship Type="http://schemas.openxmlformats.org/officeDocument/2006/relationships/slide" Target="/ppt/slides/slide13.xml" Id="R20655a2d2e6744ec" /><Relationship Type="http://schemas.openxmlformats.org/officeDocument/2006/relationships/slide" Target="/ppt/slides/slide14.xml" Id="R966f716b5f3742f4" /><Relationship Type="http://schemas.openxmlformats.org/officeDocument/2006/relationships/slide" Target="/ppt/slides/slide15.xml" Id="Re4f107d4c8a24953" /><Relationship Type="http://schemas.openxmlformats.org/officeDocument/2006/relationships/slide" Target="/ppt/slides/slide16.xml" Id="R5fe09c9a3c934769" /><Relationship Type="http://schemas.openxmlformats.org/officeDocument/2006/relationships/slide" Target="/ppt/slides/slide17.xml" Id="Rb0bbe310be7042f5" /><Relationship Type="http://schemas.openxmlformats.org/officeDocument/2006/relationships/slide" Target="/ppt/slides/slide18.xml" Id="R3ebf629cce52423e" /><Relationship Type="http://schemas.openxmlformats.org/officeDocument/2006/relationships/slide" Target="/ppt/slides/slide19.xml" Id="R74732049eb494a1b" /><Relationship Type="http://schemas.openxmlformats.org/officeDocument/2006/relationships/slide" Target="/ppt/slides/slide20.xml" Id="Rb3c8fc252593403c" /><Relationship Type="http://schemas.openxmlformats.org/officeDocument/2006/relationships/slide" Target="/ppt/slides/slide21.xml" Id="R062b8953c1ff4f22" /><Relationship Type="http://schemas.openxmlformats.org/officeDocument/2006/relationships/slide" Target="/ppt/slides/slide22.xml" Id="R58fd7e3ad5cb466e" /><Relationship Type="http://schemas.openxmlformats.org/officeDocument/2006/relationships/slide" Target="/ppt/slides/slide23.xml" Id="Rbd370ff8078c4296" /><Relationship Type="http://schemas.openxmlformats.org/officeDocument/2006/relationships/slide" Target="/ppt/slides/slide24.xml" Id="Rb35f1859c6d349c4" /><Relationship Type="http://schemas.openxmlformats.org/officeDocument/2006/relationships/slide" Target="/ppt/slides/slide25.xml" Id="R93dd03a49d2c4ea3" /><Relationship Type="http://schemas.openxmlformats.org/officeDocument/2006/relationships/slide" Target="/ppt/slides/slide26.xml" Id="Rbb85bdde4f1f4caf" /><Relationship Type="http://schemas.openxmlformats.org/officeDocument/2006/relationships/slide" Target="/ppt/slides/slide27.xml" Id="R0ec3c9aadc1c453b" /><Relationship Type="http://schemas.openxmlformats.org/officeDocument/2006/relationships/slide" Target="/ppt/slides/slide28.xml" Id="R2fe94496957f4051" /><Relationship Type="http://schemas.openxmlformats.org/officeDocument/2006/relationships/slide" Target="/ppt/slides/slide29.xml" Id="Rc016ca307ede4bd0" /><Relationship Type="http://schemas.openxmlformats.org/officeDocument/2006/relationships/slide" Target="/ppt/slides/slide30.xml" Id="R7b3d27d11348419f" /><Relationship Type="http://schemas.openxmlformats.org/officeDocument/2006/relationships/slide" Target="/ppt/slides/slide31.xml" Id="R848b4bc116044fa0" /><Relationship Type="http://schemas.openxmlformats.org/officeDocument/2006/relationships/slide" Target="/ppt/slides/slide32.xml" Id="Rc1a22a5267034a36" /><Relationship Type="http://schemas.openxmlformats.org/officeDocument/2006/relationships/slide" Target="/ppt/slides/slide33.xml" Id="R50c3af42d04b4a78" /><Relationship Type="http://schemas.openxmlformats.org/officeDocument/2006/relationships/slide" Target="/ppt/slides/slide34.xml" Id="Rc92b85b71c6b4f21" /><Relationship Type="http://schemas.openxmlformats.org/officeDocument/2006/relationships/slide" Target="/ppt/slides/slide35.xml" Id="R6c4a4dea5a144a4c" /><Relationship Type="http://schemas.openxmlformats.org/officeDocument/2006/relationships/slide" Target="/ppt/slides/slide36.xml" Id="R83743ef16f4d41d4" /><Relationship Type="http://schemas.openxmlformats.org/officeDocument/2006/relationships/slide" Target="/ppt/slides/slide37.xml" Id="R3c9cca99360e491d" /><Relationship Type="http://schemas.openxmlformats.org/officeDocument/2006/relationships/slide" Target="/ppt/slides/slide38.xml" Id="Ref128238479145d5" /><Relationship Type="http://schemas.openxmlformats.org/officeDocument/2006/relationships/slide" Target="/ppt/slides/slide39.xml" Id="Ra0cf00cdbd8f401d" /><Relationship Type="http://schemas.openxmlformats.org/officeDocument/2006/relationships/slide" Target="/ppt/slides/slide40.xml" Id="R4c157ff7da5446cc" /><Relationship Type="http://schemas.openxmlformats.org/officeDocument/2006/relationships/slide" Target="/ppt/slides/slide41.xml" Id="R05e1f442eae14275" /><Relationship Type="http://schemas.openxmlformats.org/officeDocument/2006/relationships/slide" Target="/ppt/slides/slide42.xml" Id="Re0166f11a0e841cb" /><Relationship Type="http://schemas.openxmlformats.org/officeDocument/2006/relationships/slide" Target="/ppt/slides/slide43.xml" Id="R3359237248da4245" /><Relationship Type="http://schemas.openxmlformats.org/officeDocument/2006/relationships/slide" Target="/ppt/slides/slide44.xml" Id="Rede5fc549a9b40ef" /><Relationship Type="http://schemas.openxmlformats.org/officeDocument/2006/relationships/slide" Target="/ppt/slides/slide45.xml" Id="R5cdd796567a7452d" /><Relationship Type="http://schemas.openxmlformats.org/officeDocument/2006/relationships/slide" Target="/ppt/slides/slide46.xml" Id="R0a61f839daf94120" /><Relationship Type="http://schemas.openxmlformats.org/officeDocument/2006/relationships/slide" Target="/ppt/slides/slide47.xml" Id="Rcc4822fcaf9e43b5" /><Relationship Type="http://schemas.openxmlformats.org/officeDocument/2006/relationships/slide" Target="/ppt/slides/slide48.xml" Id="R5e12e49a2f8c472f" /><Relationship Type="http://schemas.openxmlformats.org/officeDocument/2006/relationships/slide" Target="/ppt/slides/slide49.xml" Id="R9009f1cbdaf84335" /><Relationship Type="http://schemas.openxmlformats.org/officeDocument/2006/relationships/slide" Target="/ppt/slides/slide50.xml" Id="R6e37c414df6641ee" /><Relationship Type="http://schemas.openxmlformats.org/officeDocument/2006/relationships/slide" Target="/ppt/slides/slide51.xml" Id="R034df1e77a83496b" /><Relationship Type="http://schemas.openxmlformats.org/officeDocument/2006/relationships/slide" Target="/ppt/slides/slide52.xml" Id="R71cfa8c3dbfa4951" /><Relationship Type="http://schemas.openxmlformats.org/officeDocument/2006/relationships/slide" Target="/ppt/slides/slide53.xml" Id="R2644d7eb0ed44c33" /><Relationship Type="http://schemas.openxmlformats.org/officeDocument/2006/relationships/slide" Target="/ppt/slides/slide54.xml" Id="R95c711cc5126479a" /><Relationship Type="http://schemas.openxmlformats.org/officeDocument/2006/relationships/slide" Target="/ppt/slides/slide55.xml" Id="Rfb1f3af7594547d5" /><Relationship Type="http://schemas.openxmlformats.org/officeDocument/2006/relationships/slide" Target="/ppt/slides/slide56.xml" Id="R22e82b288cca4483" /><Relationship Type="http://schemas.openxmlformats.org/officeDocument/2006/relationships/slide" Target="/ppt/slides/slide57.xml" Id="Ra53aaa2972e84f3d" /><Relationship Type="http://schemas.openxmlformats.org/officeDocument/2006/relationships/slide" Target="/ppt/slides/slide58.xml" Id="R1da8136979564298" /><Relationship Type="http://schemas.openxmlformats.org/officeDocument/2006/relationships/slide" Target="/ppt/slides/slide59.xml" Id="R3c0eddaa13e0445c" /><Relationship Type="http://schemas.openxmlformats.org/officeDocument/2006/relationships/slide" Target="/ppt/slides/slide60.xml" Id="R960ebc65797e4311" /><Relationship Type="http://schemas.openxmlformats.org/officeDocument/2006/relationships/slide" Target="/ppt/slides/slide61.xml" Id="R8e215cd43a9e4924" /><Relationship Type="http://schemas.openxmlformats.org/officeDocument/2006/relationships/slide" Target="/ppt/slides/slide62.xml" Id="Rf74a8da580e2478e" /><Relationship Type="http://schemas.openxmlformats.org/officeDocument/2006/relationships/slide" Target="/ppt/slides/slide63.xml" Id="R2e9edd3b76014eb1" /><Relationship Type="http://schemas.openxmlformats.org/officeDocument/2006/relationships/slide" Target="/ppt/slides/slide64.xml" Id="R8898c64b23df4a46" /><Relationship Type="http://schemas.openxmlformats.org/officeDocument/2006/relationships/slide" Target="/ppt/slides/slide65.xml" Id="R79d7c2a86da94989" /><Relationship Type="http://schemas.openxmlformats.org/officeDocument/2006/relationships/slide" Target="/ppt/slides/slide66.xml" Id="R93934543406a4160" /><Relationship Type="http://schemas.openxmlformats.org/officeDocument/2006/relationships/slide" Target="/ppt/slides/slide67.xml" Id="Radd3640d03584d0d" /><Relationship Type="http://schemas.openxmlformats.org/officeDocument/2006/relationships/slide" Target="/ppt/slides/slide68.xml" Id="R4f79807ad2e644f7" /><Relationship Type="http://schemas.openxmlformats.org/officeDocument/2006/relationships/slide" Target="/ppt/slides/slide69.xml" Id="R64c4e14edabd49ab" /><Relationship Type="http://schemas.openxmlformats.org/officeDocument/2006/relationships/slide" Target="/ppt/slides/slide70.xml" Id="Rc4afa9d358a14c83" /><Relationship Type="http://schemas.openxmlformats.org/officeDocument/2006/relationships/slide" Target="/ppt/slides/slide71.xml" Id="R750d37a5b8014c2e" /><Relationship Type="http://schemas.openxmlformats.org/officeDocument/2006/relationships/slide" Target="/ppt/slides/slide72.xml" Id="R92fc2f5099d443db" /><Relationship Type="http://schemas.openxmlformats.org/officeDocument/2006/relationships/slide" Target="/ppt/slides/slide73.xml" Id="R81bde69efc9a4b44" /><Relationship Type="http://schemas.openxmlformats.org/officeDocument/2006/relationships/slide" Target="/ppt/slides/slide74.xml" Id="Rcd970297fdaf4894" /><Relationship Type="http://schemas.openxmlformats.org/officeDocument/2006/relationships/slide" Target="/ppt/slides/slide75.xml" Id="R578e1c83e68144d8" /><Relationship Type="http://schemas.openxmlformats.org/officeDocument/2006/relationships/slide" Target="/ppt/slides/slide76.xml" Id="R58e7ab8f363842de" /><Relationship Type="http://schemas.openxmlformats.org/officeDocument/2006/relationships/slide" Target="/ppt/slides/slide77.xml" Id="R5643ad5950cb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c782bb730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2b0315a3f54d57" /><Relationship Type="http://schemas.openxmlformats.org/officeDocument/2006/relationships/notesMaster" Target="/ppt/notesMasters/notesMaster1.xml" Id="R9eadc3d05bc5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782f7723c46af" /><Relationship Type="http://schemas.openxmlformats.org/officeDocument/2006/relationships/notesMaster" Target="/ppt/notesMasters/notesMaster1.xml" Id="Rf9b0089bc7c2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eff8316fed4b3d" /><Relationship Type="http://schemas.openxmlformats.org/officeDocument/2006/relationships/notesMaster" Target="/ppt/notesMasters/notesMaster1.xml" Id="R5fdf4e4121e94d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9db64544f4869" /><Relationship Type="http://schemas.openxmlformats.org/officeDocument/2006/relationships/notesMaster" Target="/ppt/notesMasters/notesMaster1.xml" Id="R5ea3fed8b20f45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cc0d2e36d74c68" /><Relationship Type="http://schemas.openxmlformats.org/officeDocument/2006/relationships/notesMaster" Target="/ppt/notesMasters/notesMaster1.xml" Id="R39a8bd2b5ffa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285be557f4210" /><Relationship Type="http://schemas.openxmlformats.org/officeDocument/2006/relationships/notesMaster" Target="/ppt/notesMasters/notesMaster1.xml" Id="Re22d2b07d424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47068704f94e28" /><Relationship Type="http://schemas.openxmlformats.org/officeDocument/2006/relationships/notesMaster" Target="/ppt/notesMasters/notesMaster1.xml" Id="Rb12fc9e921c0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d0fc4dd5554661" /><Relationship Type="http://schemas.openxmlformats.org/officeDocument/2006/relationships/notesMaster" Target="/ppt/notesMasters/notesMaster1.xml" Id="R3a693e2ddd8f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cf1cc21ea44d0" /><Relationship Type="http://schemas.openxmlformats.org/officeDocument/2006/relationships/notesMaster" Target="/ppt/notesMasters/notesMaster1.xml" Id="R167f9ba4d2fd45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f4eacaaa5f4144" /><Relationship Type="http://schemas.openxmlformats.org/officeDocument/2006/relationships/notesMaster" Target="/ppt/notesMasters/notesMaster1.xml" Id="R1eb510636b704c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22def83fd4c7f" /><Relationship Type="http://schemas.openxmlformats.org/officeDocument/2006/relationships/notesMaster" Target="/ppt/notesMasters/notesMaster1.xml" Id="R0d0b7e01ba914c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c44e4cf8574d53" /><Relationship Type="http://schemas.openxmlformats.org/officeDocument/2006/relationships/notesMaster" Target="/ppt/notesMasters/notesMaster1.xml" Id="R1dd4724f70e7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06309bf44446a3" /><Relationship Type="http://schemas.openxmlformats.org/officeDocument/2006/relationships/notesMaster" Target="/ppt/notesMasters/notesMaster1.xml" Id="R9f3e349c0f8d4b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928d7ceb964f36" /><Relationship Type="http://schemas.openxmlformats.org/officeDocument/2006/relationships/notesMaster" Target="/ppt/notesMasters/notesMaster1.xml" Id="R59f6242050f94b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08becf81a54433" /><Relationship Type="http://schemas.openxmlformats.org/officeDocument/2006/relationships/notesMaster" Target="/ppt/notesMasters/notesMaster1.xml" Id="Rd381ac0e8f594f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7b7c165fb14d00" /><Relationship Type="http://schemas.openxmlformats.org/officeDocument/2006/relationships/notesMaster" Target="/ppt/notesMasters/notesMaster1.xml" Id="R63468bce09ad48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09eaf4cbc44563" /><Relationship Type="http://schemas.openxmlformats.org/officeDocument/2006/relationships/notesMaster" Target="/ppt/notesMasters/notesMaster1.xml" Id="Rafb8848f8f224c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17013ac41a4be9" /><Relationship Type="http://schemas.openxmlformats.org/officeDocument/2006/relationships/notesMaster" Target="/ppt/notesMasters/notesMaster1.xml" Id="R351b7f234f4845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ad2b80138f4935" /><Relationship Type="http://schemas.openxmlformats.org/officeDocument/2006/relationships/notesMaster" Target="/ppt/notesMasters/notesMaster1.xml" Id="R8729f6a8b71e47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0d63230d5045d2" /><Relationship Type="http://schemas.openxmlformats.org/officeDocument/2006/relationships/notesMaster" Target="/ppt/notesMasters/notesMaster1.xml" Id="R697a9e26ca3844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2522c30e424e17" /><Relationship Type="http://schemas.openxmlformats.org/officeDocument/2006/relationships/notesMaster" Target="/ppt/notesMasters/notesMaster1.xml" Id="Rd6b8c77cf0b345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72de4b722f4b90" /><Relationship Type="http://schemas.openxmlformats.org/officeDocument/2006/relationships/notesMaster" Target="/ppt/notesMasters/notesMaster1.xml" Id="Rfaaeb37e47fa41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fe29cfa50c4e0f" /><Relationship Type="http://schemas.openxmlformats.org/officeDocument/2006/relationships/notesMaster" Target="/ppt/notesMasters/notesMaster1.xml" Id="R13b7bc601da54d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c92bc557424d26" /><Relationship Type="http://schemas.openxmlformats.org/officeDocument/2006/relationships/notesMaster" Target="/ppt/notesMasters/notesMaster1.xml" Id="R89126e6a8d3f4b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88e882ea574ad2" /><Relationship Type="http://schemas.openxmlformats.org/officeDocument/2006/relationships/notesMaster" Target="/ppt/notesMasters/notesMaster1.xml" Id="R994e989d699944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84017e19fd4c44" /><Relationship Type="http://schemas.openxmlformats.org/officeDocument/2006/relationships/notesMaster" Target="/ppt/notesMasters/notesMaster1.xml" Id="R1f39719b405643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74facbd3f34618" /><Relationship Type="http://schemas.openxmlformats.org/officeDocument/2006/relationships/notesMaster" Target="/ppt/notesMasters/notesMaster1.xml" Id="R227484e1c30e40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05ec50a6c34d12" /><Relationship Type="http://schemas.openxmlformats.org/officeDocument/2006/relationships/notesMaster" Target="/ppt/notesMasters/notesMaster1.xml" Id="R3919d94f8157402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48bf98363b84803" /><Relationship Type="http://schemas.openxmlformats.org/officeDocument/2006/relationships/notesMaster" Target="/ppt/notesMasters/notesMaster1.xml" Id="R4a84c7a8586242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8f289ddf66d47f1" /><Relationship Type="http://schemas.openxmlformats.org/officeDocument/2006/relationships/notesMaster" Target="/ppt/notesMasters/notesMaster1.xml" Id="R489984d27b3243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8f6a6e076748d0" /><Relationship Type="http://schemas.openxmlformats.org/officeDocument/2006/relationships/notesMaster" Target="/ppt/notesMasters/notesMaster1.xml" Id="R7a57910910a344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0cf4dba0c346f4" /><Relationship Type="http://schemas.openxmlformats.org/officeDocument/2006/relationships/notesMaster" Target="/ppt/notesMasters/notesMaster1.xml" Id="Rd68d5b0baa9a4e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d330b7ba8c42de" /><Relationship Type="http://schemas.openxmlformats.org/officeDocument/2006/relationships/notesMaster" Target="/ppt/notesMasters/notesMaster1.xml" Id="R49992822e495436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c33a4c2c6d4ec9" /><Relationship Type="http://schemas.openxmlformats.org/officeDocument/2006/relationships/notesMaster" Target="/ppt/notesMasters/notesMaster1.xml" Id="R751885eecd3044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8b075d59d944f04" /><Relationship Type="http://schemas.openxmlformats.org/officeDocument/2006/relationships/notesMaster" Target="/ppt/notesMasters/notesMaster1.xml" Id="Rc5f3573656bf4ea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1e2f8565fae4482" /><Relationship Type="http://schemas.openxmlformats.org/officeDocument/2006/relationships/notesMaster" Target="/ppt/notesMasters/notesMaster1.xml" Id="Rc68bf8725e644da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a6101c69984e51" /><Relationship Type="http://schemas.openxmlformats.org/officeDocument/2006/relationships/notesMaster" Target="/ppt/notesMasters/notesMaster1.xml" Id="R552fa24d7b62411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209497326fa4b0b" /><Relationship Type="http://schemas.openxmlformats.org/officeDocument/2006/relationships/notesMaster" Target="/ppt/notesMasters/notesMaster1.xml" Id="R8134a7dd07f44ad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c9be78f9b64fea" /><Relationship Type="http://schemas.openxmlformats.org/officeDocument/2006/relationships/notesMaster" Target="/ppt/notesMasters/notesMaster1.xml" Id="Rceddcdc57e884a2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cb7de288c744be7" /><Relationship Type="http://schemas.openxmlformats.org/officeDocument/2006/relationships/notesMaster" Target="/ppt/notesMasters/notesMaster1.xml" Id="Rf4cbad65555a4b7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69adb2024ed463a" /><Relationship Type="http://schemas.openxmlformats.org/officeDocument/2006/relationships/notesMaster" Target="/ppt/notesMasters/notesMaster1.xml" Id="R58095fa8f465438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992efc431cd43e3" /><Relationship Type="http://schemas.openxmlformats.org/officeDocument/2006/relationships/notesMaster" Target="/ppt/notesMasters/notesMaster1.xml" Id="Rbf81c27148f64c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5ed2e7269dc47e4" /><Relationship Type="http://schemas.openxmlformats.org/officeDocument/2006/relationships/notesMaster" Target="/ppt/notesMasters/notesMaster1.xml" Id="R10cbefaf29fd45a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ffdd5b7f47c45d1" /><Relationship Type="http://schemas.openxmlformats.org/officeDocument/2006/relationships/notesMaster" Target="/ppt/notesMasters/notesMaster1.xml" Id="Rb134adddf74e4a8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371ec7296004bd2" /><Relationship Type="http://schemas.openxmlformats.org/officeDocument/2006/relationships/notesMaster" Target="/ppt/notesMasters/notesMaster1.xml" Id="R63884dfbac8d46a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278bbcd9c1d44b1" /><Relationship Type="http://schemas.openxmlformats.org/officeDocument/2006/relationships/notesMaster" Target="/ppt/notesMasters/notesMaster1.xml" Id="R46b1bd036767472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88f84c9dcf443f2" /><Relationship Type="http://schemas.openxmlformats.org/officeDocument/2006/relationships/notesMaster" Target="/ppt/notesMasters/notesMaster1.xml" Id="R5533761a1ca3400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04ff5051f3b4e44" /><Relationship Type="http://schemas.openxmlformats.org/officeDocument/2006/relationships/notesMaster" Target="/ppt/notesMasters/notesMaster1.xml" Id="R04a90ae354114e0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af6f16ebb294a71" /><Relationship Type="http://schemas.openxmlformats.org/officeDocument/2006/relationships/notesMaster" Target="/ppt/notesMasters/notesMaster1.xml" Id="Ra6680dbd1fa14e5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0cdd43ee547424e" /><Relationship Type="http://schemas.openxmlformats.org/officeDocument/2006/relationships/notesMaster" Target="/ppt/notesMasters/notesMaster1.xml" Id="Re87bc8e47c26467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39850b9bd7b4556" /><Relationship Type="http://schemas.openxmlformats.org/officeDocument/2006/relationships/notesMaster" Target="/ppt/notesMasters/notesMaster1.xml" Id="R350833208a0742c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7247e258d82416f" /><Relationship Type="http://schemas.openxmlformats.org/officeDocument/2006/relationships/notesMaster" Target="/ppt/notesMasters/notesMaster1.xml" Id="R4e5258cb9aca407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8e84833281d486a" /><Relationship Type="http://schemas.openxmlformats.org/officeDocument/2006/relationships/notesMaster" Target="/ppt/notesMasters/notesMaster1.xml" Id="Rdf3f82d63241499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ff70c4a7ca3443c" /><Relationship Type="http://schemas.openxmlformats.org/officeDocument/2006/relationships/notesMaster" Target="/ppt/notesMasters/notesMaster1.xml" Id="R4db2b71a48074c9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bcc22e11c724fa0" /><Relationship Type="http://schemas.openxmlformats.org/officeDocument/2006/relationships/notesMaster" Target="/ppt/notesMasters/notesMaster1.xml" Id="Rf70e098fab534b7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e616b9612da478b" /><Relationship Type="http://schemas.openxmlformats.org/officeDocument/2006/relationships/notesMaster" Target="/ppt/notesMasters/notesMaster1.xml" Id="Reac2a6ab025449c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ba14384b3404b94" /><Relationship Type="http://schemas.openxmlformats.org/officeDocument/2006/relationships/notesMaster" Target="/ppt/notesMasters/notesMaster1.xml" Id="Ra0ae83bca2b541a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4189d48fd01496a" /><Relationship Type="http://schemas.openxmlformats.org/officeDocument/2006/relationships/notesMaster" Target="/ppt/notesMasters/notesMaster1.xml" Id="R9725afdd8c2a492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f81e4105868481e" /><Relationship Type="http://schemas.openxmlformats.org/officeDocument/2006/relationships/notesMaster" Target="/ppt/notesMasters/notesMaster1.xml" Id="R039934bd964d44b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3309977e6a74d36" /><Relationship Type="http://schemas.openxmlformats.org/officeDocument/2006/relationships/notesMaster" Target="/ppt/notesMasters/notesMaster1.xml" Id="R1e6cf80dec1e4fb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742999a0b2e4f4a" /><Relationship Type="http://schemas.openxmlformats.org/officeDocument/2006/relationships/notesMaster" Target="/ppt/notesMasters/notesMaster1.xml" Id="Rdf6bad595f344b8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8e8fc58b0594b4f" /><Relationship Type="http://schemas.openxmlformats.org/officeDocument/2006/relationships/notesMaster" Target="/ppt/notesMasters/notesMaster1.xml" Id="Rbc40d9f646b24ca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098745e3c454591" /><Relationship Type="http://schemas.openxmlformats.org/officeDocument/2006/relationships/notesMaster" Target="/ppt/notesMasters/notesMaster1.xml" Id="Rbab7958491164be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d1e5d133ed64209" /><Relationship Type="http://schemas.openxmlformats.org/officeDocument/2006/relationships/notesMaster" Target="/ppt/notesMasters/notesMaster1.xml" Id="R05d7a4b96f774d2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0f8ba29082e4a1e" /><Relationship Type="http://schemas.openxmlformats.org/officeDocument/2006/relationships/notesMaster" Target="/ppt/notesMasters/notesMaster1.xml" Id="R236c773654a94c8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9331f5798d944c6" /><Relationship Type="http://schemas.openxmlformats.org/officeDocument/2006/relationships/notesMaster" Target="/ppt/notesMasters/notesMaster1.xml" Id="Rd12590bc65b5423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684ff3a84154f5a" /><Relationship Type="http://schemas.openxmlformats.org/officeDocument/2006/relationships/notesMaster" Target="/ppt/notesMasters/notesMaster1.xml" Id="Rd923f57f874844d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39a5297db8b4f5a" /><Relationship Type="http://schemas.openxmlformats.org/officeDocument/2006/relationships/notesMaster" Target="/ppt/notesMasters/notesMaster1.xml" Id="R7672f4d61c22468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056c8b835bc423b" /><Relationship Type="http://schemas.openxmlformats.org/officeDocument/2006/relationships/notesMaster" Target="/ppt/notesMasters/notesMaster1.xml" Id="R5bba95a6530c46c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addb93b8fdd4298" /><Relationship Type="http://schemas.openxmlformats.org/officeDocument/2006/relationships/notesMaster" Target="/ppt/notesMasters/notesMaster1.xml" Id="Rde6c094e2125431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abd1ba846be40a8" /><Relationship Type="http://schemas.openxmlformats.org/officeDocument/2006/relationships/notesMaster" Target="/ppt/notesMasters/notesMaster1.xml" Id="R5758f2f230ea44a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ca4fb5ee3ff04ea7" /><Relationship Type="http://schemas.openxmlformats.org/officeDocument/2006/relationships/notesMaster" Target="/ppt/notesMasters/notesMaster1.xml" Id="R0cccbcbfa37a4a2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1b5f7f93fce4485b" /><Relationship Type="http://schemas.openxmlformats.org/officeDocument/2006/relationships/notesMaster" Target="/ppt/notesMasters/notesMaster1.xml" Id="R61c1eb88c89b413d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78859e2e24d49e6" /><Relationship Type="http://schemas.openxmlformats.org/officeDocument/2006/relationships/notesMaster" Target="/ppt/notesMasters/notesMaster1.xml" Id="Rbede5125c9144af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845aee25c0b4e78" /><Relationship Type="http://schemas.openxmlformats.org/officeDocument/2006/relationships/notesMaster" Target="/ppt/notesMasters/notesMaster1.xml" Id="R6eb366d2f7494fc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a01ccb7219b464b" /><Relationship Type="http://schemas.openxmlformats.org/officeDocument/2006/relationships/notesMaster" Target="/ppt/notesMasters/notesMaster1.xml" Id="R3c51ad1f1c384be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9564f71a25b47ad" /><Relationship Type="http://schemas.openxmlformats.org/officeDocument/2006/relationships/notesMaster" Target="/ppt/notesMasters/notesMaster1.xml" Id="Rc811d85565ff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Political dynamics, governance questions and my contribution to Inclusive Minds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F34: Candidate resume lists MBA, IIM Shillong, 2023–25; Consultant Marketing and Strategy at Nation With Namo, May 2025–Apr 2026. [S25; Education/workExperience]; F37: Candidate resume lists manashdeori 09@gmail.com, LinkedIn/manash-protim-deori and openness to relocation. [S25; Header]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Editorial title for a professional research work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Research cut-off 8 October 2026. Prepared independently; no employer or party endorsement.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Cover/contact framing; no separate major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Three findings shape my operating perspective. Each requires a different work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F07: 2023 Telangana Assembly seats won: INC 64; BRS 39; BJP 8; AIMIM 7; CPI 1. [S06; WON column]; F08: In selected Assembly seats AC 57–71,2023 winners were BRS 7, AIMIM 7, BJP 1, INC 0. [S07; AC 57–71]; F21: 2026–27 BE: H-CITY assistance to CURE ₹2,654 crore. [S09, S10; Table 10 PDF 16]; F22: 2026–27 BE: Musi Riverfront development ₹1,500 crore. [S09; Table 10 PDF 16]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Geographic discontinuity and contrasting electoral observations make a single-city political narrative unreliable. Public investment lines create testable implementation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The selected electoral units are not identical; allocations and governance changes do not establish public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Each executive finding has its adjacent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S06 | Performance of Political Parties: Telangana 2023 | Election Commission of India | https://www.eci.gov.in/eci-backend/public/all_files/full-statistical-reports/telangana/2023/Performance_of_Political_Parties.pdf | PDF pp.1–3; WON column | 2023 Assembly election; report undated</a:t>
            </a:r>
          </a:p>
          <a:p xmlns:a="http://schemas.openxmlformats.org/drawingml/2006/main">
            <a:r>
              <a:t>S07 | List of Successful Candidates: Telangana 2023 | Election Commission of India | https://www.eci.gov.in/eci-backend/public/all_files/full-statistical-reports/telangana/2023/List_of_Successful_Candidates.pdf | PDF pp.2–3; AC 57–71 and winner/runner-up columns | 2023 Assembly election; report undated</a:t>
            </a:r>
          </a:p>
          <a:p xmlns:a="http://schemas.openxmlformats.org/drawingml/2006/main">
            <a:r>
              <a:t>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Inclusive Minds lists analytics, research, strategy, communications, growth and operations. Its Generalist post asks for transferable experience in Hyderabad.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F01: Inclusive Minds describes itself as INC-aligned and lists six work verticals. [S01; About Us; Our Work]; F02: Employer Generalist post identifies Hyderabad on-site and experience in research, strategy, communication or project management. [S02; Hiring post]; F34: Candidate resume lists MBA, IIM Shillong, 2023–25; Consultant Marketing and Strategy at Nation With Namo, May 2025–Apr 2026. [S25; Education/workExperience]; F35: Candidate resume reports introducing an evidence-based review system for a seven-person political-intelligence team. [S25; workExperience bullet 3]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Research and project coordination in the resume match public role requirements at a methodological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Exact requisition and open status unconfirmed. I do not claim knowledge of internal workflows or personal ideological alignment.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turn research into concise, source-backed briefs and coordinate review across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S01 | About us and six work verticals | Inclusive Minds | https://www.inclusiveminds.in/ | About Us; Our Work | Undated; retrieved 2026-10-08</a:t>
            </a:r>
          </a:p>
          <a:p xmlns:a="http://schemas.openxmlformats.org/drawingml/2006/main">
            <a:r>
              <a:t>S02 | Generalist hiring post: Hyderabad, on-site | Inclusive Minds | https://www.linkedin.com/posts/inclusive-minds-ind_hiring-generalist-politicalconsulting-activity-7495111990261252096-TM4l | Employer-authored post text | Undated public post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District, Assembly seat, Lok Sabha seat, municipal corporation and metropolitan planning region answer different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F04: CMC comprises Serilingampally, Kukatpally and Qutbullapur zones; MMC comprises Malkajgiri, Uppal and L.B.Nagar zones. [S03; GO 55 operative zone allocation]; F05: GHMC comprises Shamshabad, Rajendernagar, Charminar, Golconda, Khairatabad and Secunderabad zones. [S03; GO 55 operative zone allocation]; F33: BuildNow lists GO 68 dated 12 March 2025 for expansion of HMR and GO 69 for FCDA. [S04; GO 68/69 entries]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GO allocates municipal zones; election tables use constituency codes. A name match does not establish identical population or jurisdiction.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Classification schematic, not a geographic map. No unverified GIS polygon or area estimate is shown.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create a dated crosswalk with overlap rules, official boundary files and exclusions before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Facts, derived numbers, interpretations, hypotheses, proposals and candidate self-reports carry different release standards.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F02: Employer Generalist post identifies Hyderabad on-site and experience in research, strategy, communication or project management. [S02; Hiring post]; F20: Congress candidate V.Naveen Yadav won the November 2025 Jubilee Hills by-election, according to corroborated reporting. [S23, S24; Winner reports]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Five distinct checks reduce identifiable errors; they cannot guarantee certainty or replace field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Twenty reviews are cumulative self-review passes, not 20 independent reviewers.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keep a claim register, contradiction log and refresh queue attached to every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S02 | Generalist hiring post: Hyderabad, on-site | Inclusive Minds | https://www.linkedin.com/posts/inclusive-minds-ind_hiring-generalist-politicalconsulting-activity-7495111990261252096-TM4l | Employer-authored post text | Undated public post</a:t>
            </a:r>
          </a:p>
          <a:p xmlns:a="http://schemas.openxmlformats.org/drawingml/2006/main">
            <a:r>
              <a:t>S23 | Jubilee Hills bypoll result | The Economic Times | https://m.economictimes.com/news/politics-and-nation/jubilee-hills-bypoll-result-2025-in-l-deepak-reddy-vs-sunita-vs-naveen-yadav-check-who-is-winning/articleshow/125315450.cms | Winner report | 2025-11-14</a:t>
            </a:r>
          </a:p>
          <a:p xmlns:a="http://schemas.openxmlformats.org/drawingml/2006/main">
            <a:r>
              <a:t>S24 | Jubilee Hills bypoll winner live report | The Times of India | https://timesofindia.indiatimes.com/city/hyderabad/assembly-bypoll-result-2025-live-updates-by-election-results-jubilee-hills-budgam-nagrota-anta-ghatshila-tarn-taran-dampa-nuapada/liveblog/125313066.cms | 13:18 IST winner update | 2025-11-14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State formation, a stronger TRS state mandate, changing civic competition, and the 2023 change in government are distinct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F16: First Telangana Assembly as of 2 June 2014: TRS 63, INC 21, out of 119. [S16; Printed 410/PDF 63]; F17: Contemporaneous 2018 reporting recorded TRS 88 and INC 19 Assembly seats. [S17, S18; Updated results paragraphs]; F18: Published 2016 GHMC recap: TRS 99, AIMIM 44, BJP 4, INC 2, TDP 1. [S19, S20; Numerical result paragraphs]; F19: Post-Neredmet 2020 reporting: TRS 56, BJP 48, AIMIM 44, INC 2. [S21, S22; Results paragraphs; final Neredmet result]; F07: 2023 Telangana Assembly seats won: INC 64; BRS 39; BJP 8; AIMIM 7; CPI 1. [S06; WON column]; F03: GO 55 of 11 February 2026 reorganised CURE into GHMC, CMC and MMC with immediate effect. [S03, S04, S15; GO 55 pp 1–2]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Results from different institutions document changing competition; they do not prove one stable electorate trajectory or a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2016/2020 municipal and 2018 summary figures are explicitly attributed reporting. No transfers of voters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maintain an event ledger that separates electoral results, office changes, boundary changes and delivery milestones.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S06 | Performance of Political Parties: Telangana 2023 | Election Commission of India | https://www.eci.gov.in/eci-backend/public/all_files/full-statistical-reports/telangana/2023/Performance_of_Political_Parties.pdf | PDF pp.1–3; WON column | 2023 Assembly election; report undated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>S16 | Journal of Parliamentary Information, September 2014 | Lok Sabha Secretariat | https://eparlib.sansad.in/bitstream/123456789/58523/1/JPI_September_2014.pdf | Printed p.410 / PDF p.63; first Telangana Assembly | 2014-09; reference 2014-06-02</a:t>
            </a:r>
          </a:p>
          <a:p xmlns:a="http://schemas.openxmlformats.org/drawingml/2006/main">
            <a:r>
              <a:t>S17 | Telangana Assembly polls: TRS wins | Scroll | https://scroll.in/latest/905254/telangana-assembly-polls-counting-of-votes-in-three-way-contest-set-to-begin-at-8-am | Updated article paragraph below party table | 2018-12-12</a:t>
            </a:r>
          </a:p>
          <a:p xmlns:a="http://schemas.openxmlformats.org/drawingml/2006/main">
            <a:r>
              <a:t>S18 | 2018 Telangana complete winners | The Times of India | https://timesofindia.indiatimes.com/city/hyderabad/telangana-election-results-2018-complete-list-of-winning-candidates-in-telangana/articleshow/67055845.cms | Opening results paragraph | 2018-12-12</a:t>
            </a:r>
          </a:p>
          <a:p xmlns:a="http://schemas.openxmlformats.org/drawingml/2006/main">
            <a:r>
              <a:t>S19 | Hyderabad civic body voting: 2016 recap | NDTV, Uma Sudhir | https://www.ndtv.com/telangana-news/after-a-bitter-campaign-voting-begins-for-hyderabad-civic-body-polls-2332363 | Paragraph beginning A total of 1,122 candidates | 2020-12-01</a:t>
            </a:r>
          </a:p>
          <a:p xmlns:a="http://schemas.openxmlformats.org/drawingml/2006/main">
            <a:r>
              <a:t>S20 | GHMC 2016 result report | PTI / The New Indian Express | https://www.newindianexpress.com/amp/story/cities/hyderabad/2016/Feb/06/ghmc-polls-sops-for-poor-seemandhra-candidates-key-in-trs-win-889293.html | Results paragraphs: 99/150; Congress 2; TDP 1/BJP 4; MIM 44 | 2016-02-06</a:t>
            </a:r>
          </a:p>
          <a:p xmlns:a="http://schemas.openxmlformats.org/drawingml/2006/main">
            <a:r>
              <a:t>S21 | Week after GHMC results: mayor question | The Indian Express, Rahul V Pisharody | https://indianexpress.com/article/cities/hyderabad/ghmc-results-hyderabad-mayor-7104860/ | Results paragraphs: TRS 56, AIMIM 44, BJP 48 | 2020-12-14</a:t>
            </a:r>
          </a:p>
          <a:p xmlns:a="http://schemas.openxmlformats.org/drawingml/2006/main">
            <a:r>
              <a:t>S22 | Neredmet final result takes TRS tally to 56 | The Tribune, Naveen S Garewal | https://www.tribuneindia.com/news/nation/trs-wins-neredmet-ghmc-division-takes-its-tally-to-56-182436/ | Final paragraph: 56,48,44,2; Neredmet timing | 2020-12-11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Municipal reorganisation, asset protection, river planning and state budget provision operate through different institutions.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F06: HYDRAA describes its CURE-wide remit as disaster management and protection of government / public assets, under MAUD. [S05; Mandate; Jurisdictional Coverage]; F21: 2026–27 BE: H-CITY assistance to CURE ₹2,654 crore. [S09, S10; Table 10 PDF 16]; F30: MRDCL describes Musi vision in terms of ecological restoration, sewage interception/treatment, floodplain zones and mobility/livelihoods. [S11; Vision]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A documented institution-specific chain is more useful than assigning every urban outcome to one politician or department.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This is a documented-role scaffold, not a complete current statutory responsibility matrix. Case-specific powers need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produce one responsibility sheet for each issue: decision owner, payer, delivery body, review authority and evidence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S05 | About the Agency | HYDRAA, Government of Telangana | https://hydraa.telangana.gov.in/about | About HYDRAA; Jurisdictional Coverage; Functional Wings | Undated current page</a:t>
            </a:r>
          </a:p>
          <a:p xmlns:a="http://schemas.openxmlformats.org/drawingml/2006/main">
            <a:r>
              <a:t>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The historical civic council changed from TRS 99 seats in 2016 to 56 in 2020; BJP rose from 4 to 48. AIMIM retained 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F18: Published 2016 GHMC recap: TRS 99, AIMIM 44, BJP 4, INC 2, TDP 1. [S19, S20; Numerical result paragraphs]; F19: Post-Neredmet 2020 reporting: TRS 56, BJP 48, AIMIM 44, INC 2. [S21, S22; Results paragraphs; final Neredmet result]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Reported same-institution seat counts show council-level change. Seats are not votes; result differences do not identify voter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Historical 150-seat GHMC tables, based on two corroborated reporting lineages. They are not 2026 corporation totals.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preserve raw election vintages and compare only equivalent units, with candidate and boundary changes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S19 | Hyderabad civic body voting: 2016 recap | NDTV, Uma Sudhir | https://www.ndtv.com/telangana-news/after-a-bitter-campaign-voting-begins-for-hyderabad-civic-body-polls-2332363 | Paragraph beginning A total of 1,122 candidates | 2020-12-01</a:t>
            </a:r>
          </a:p>
          <a:p xmlns:a="http://schemas.openxmlformats.org/drawingml/2006/main">
            <a:r>
              <a:t>S20 | GHMC 2016 result report | PTI / The New Indian Express | https://www.newindianexpress.com/amp/story/cities/hyderabad/2016/Feb/06/ghmc-polls-sops-for-poor-seemandhra-candidates-key-in-trs-win-889293.html | Results paragraphs: 99/150; Congress 2; TDP 1/BJP 4; MIM 44 | 2016-02-06</a:t>
            </a:r>
          </a:p>
          <a:p xmlns:a="http://schemas.openxmlformats.org/drawingml/2006/main">
            <a:r>
              <a:t>S21 | Week after GHMC results: mayor question | The Indian Express, Rahul V Pisharody | https://indianexpress.com/article/cities/hyderabad/ghmc-results-hyderabad-mayor-7104860/ | Results paragraphs: TRS 56, AIMIM 44, BJP 48 | 2020-12-14</a:t>
            </a:r>
          </a:p>
          <a:p xmlns:a="http://schemas.openxmlformats.org/drawingml/2006/main">
            <a:r>
              <a:t>S22 | Neredmet final result takes TRS tally to 56 | The Tribune, Naveen S Garewal | https://www.tribuneindia.com/news/nation/trs-wins-neredmet-ghmc-division-takes-its-tally-to-56-182436/ | Final paragraph: 56,48,44,2; Neredmet timing | 2020-12-11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INC won 64 of 119 state seats. Within AC 57–71, the winners were BRS 7, AIMIM 7 and BJP 1; INC won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F07: 2023 Telangana Assembly seats won: INC 64; BRS 39; BJP 8; AIMIM 7; CPI 1. [S06; WON column]; F08: In selected Assembly seats AC 57–71,2023 winners were BRS 7, AIMIM 7, BJP 1, INC 0. [S07; AC 57–71]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A contrasting selected-set result falsifies a claim that the statewide winner also won everywhere in the urban 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Selection is disclosed in full; no claim that 15 seats represent the entire metropolis. Historical results, not current membership.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write explicitly scoped constituency briefs rather than treating the state mandate as a metropolitan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S06 | Performance of Political Parties: Telangana 2023 | Election Commission of India | https://www.eci.gov.in/eci-backend/public/all_files/full-statistical-reports/telangana/2023/Performance_of_Political_Parties.pdf | PDF pp.1–3; WON column | 2023 Assembly election; report undated</a:t>
            </a:r>
          </a:p>
          <a:p xmlns:a="http://schemas.openxmlformats.org/drawingml/2006/main">
            <a:r>
              <a:t>S07 | List of Successful Candidates: Telangana 2023 | Election Commission of India | https://www.eci.gov.in/eci-backend/public/all_files/full-statistical-reports/telangana/2023/List_of_Successful_Candidates.pdf | PDF pp.2–3; AC 57–71 and winner/runner-up columns | 2023 Assembly election; report undated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BJP won Malkajgiri, Secunderabad and Chevella; AIMIM won Hyderabad in the 2024 results examined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F12: Malkajgiri, 2024 Lok Sabha: Eatala Rajender (BJP) led with 991,042 votes; runner-up 599,567. [S08; p 580]; F13: Secunderabad, 2024 Lok Sabha: G.Kishan Reddy (BJP) led with 473,012 votes; runner-up 423,068. [S08; p 581]; F14: Hyderabad, 2024 Lok Sabha: Asaduddin Owaisi (AIMIM) led with 661,981 votes; runner-up 323,894. [S08; p 583]; F15: Chevella, 2024 Lok Sabha: Konda Vishweshwar Reddy (BJP) led with 809,882 votes; runner-up 636,985. [S08; p 585]; F08: In selected Assembly seats AC 57–71,2023 winners were BRS 7, AIMIM 7, BJP 1, INC 0. [S07; AC 57–71]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Different institution-specific observations show why political strength cannot be represented by one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Four PCs and the 15-seat AC set are not coextensive. Candidate effects, turnout and national context remain rival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keep Assembly, parliamentary and civic result series separate, then test possible explanations through approved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S07 | List of Successful Candidates: Telangana 2023 | Election Commission of India | https://www.eci.gov.in/eci-backend/public/all_files/full-statistical-reports/telangana/2023/List_of_Successful_Candidates.pdf | PDF pp.2–3; AC 57–71 and winner/runner-up columns | 2023 Assembly election; report undated</a:t>
            </a:r>
          </a:p>
          <a:p xmlns:a="http://schemas.openxmlformats.org/drawingml/2006/main">
            <a:r>
              <a:t>S08 | Constituency-wise Detailed Results: 2024 Lok Sabha | Election Commission of India | https://www.eci.gov.in/eci-backend/public/all_files/GE-2024-statistical-report/33-Constituency-Wise-Detailed-Result.pdf | Printed pp.580,581,583,585; four selected PCs | 2024 Lok Sabha election; report undated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In 2023, AIMIM’s margins ranged from 878 votes in Yakutpura to 81,660 in Chandrayangutta; Nampally’s margin was 2,037.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F09: Nampally, 2023: winner 62,185; runner-up 60,148; margin 2,037 votes. [S07; PDF p 3; winner/runner-up table]; F10: Yakutpura, 2023: winner 46,153; runner-up 45,275; margin 878 votes. [S07; PDF p 3; winner/runner-up table]; F11: Chandrayangutta, 2023: winner 99,776; runner-up 18,116; margin 81,660 votes. [S07; PDF p 3; winner/runner-up table]; F20: Congress candidate V.Naveen Yadav won the November 2025 Jubilee Hills by-election, according to corroborated reporting. [S23, S24; Winner reports]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same winning party across seats does not imply uniform competition. The 2025 Jubilee Hills reported Congress win also cautions against freezing 2023 as the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Margins are vote differences, not estimates of community opinion. Current legislator affiliations, legal disputes and municipal leadership require a fresh official roster.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Electoral contrasts: candidate-specific competition and institution-specific turnout/context are rival explanations; no individual switching inferred. Governance: genuine delivery improvement and a change in reporting/boundary coverage can both explain a reported change; seek stable-unit outcome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distinguish party presence, candidate competition and institutional control; update legal affiliation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S07 | List of Successful Candidates: Telangana 2023 | Election Commission of India | https://www.eci.gov.in/eci-backend/public/all_files/full-statistical-reports/telangana/2023/List_of_Successful_Candidates.pdf | PDF pp.2–3; AC 57–71 and winner/runner-up columns | 2023 Assembly election; report undated</a:t>
            </a:r>
          </a:p>
          <a:p xmlns:a="http://schemas.openxmlformats.org/drawingml/2006/main">
            <a:r>
              <a:t>S23 | Jubilee Hills bypoll result | The Economic Times | https://m.economictimes.com/news/politics-and-nation/jubilee-hills-bypoll-result-2025-in-l-deepak-reddy-vs-sunita-vs-naveen-yadav-check-who-is-winning/articleshow/125315450.cms | Winner report | 2025-11-14</a:t>
            </a:r>
          </a:p>
          <a:p xmlns:a="http://schemas.openxmlformats.org/drawingml/2006/main">
            <a:r>
              <a:t>S24 | Jubilee Hills bypoll winner live report | The Times of India | https://timesofindia.indiatimes.com/city/hyderabad/assembly-bypoll-result-2025-live-updates-by-election-results-jubilee-hills-budgam-nagrota-anta-ghatshila-tarn-taran-dampa-nuapada/liveblog/125313066.cms | 13:18 IST winner update | 2025-11-14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The878vote margin is a final2023 result. It cannot establish voting motive. The2025 Jubilee winner is reported; conflicting vote counts are excluded. I would obtain Form20 before any quantitative bypoll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The state investment portal identifies Genome Valley at Shamirpet and electronics clusters. These locations are useful anchors for questions about jobs and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F32: State investment portal identifies Genome Valley at Shamirpet and electronics manufacturing clusters. [S14; Industrial-parks section]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Cluster identification supports research design; it does not measure who benefits, city GDP or job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city GDP, unemployment, export or employment estimate is asserted from a statewide promotional portal.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build a place-based opportunity brief using verified cluster locations, commuting access and service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S14 | Invest Telangana portal | Government of Telangana investment portal | https://invest.telangana.gov.in/ | Industrial parks; Genome Valley at Shamirpet; electronics clusters | Undated; current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A sector-growth narrative leaves open questions about vacancies, qualification fit, commute costs, informality and job stability.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F32: State investment portal identifies Genome Valley at Shamirpet and electronics manufacturing clusters. [S14; Industrial-parks section];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Measured barriers are needed to connect clusters with residents’ opportunities. No labour-market deficit is assumed simply from cluster presence.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Hypothesis: access barriers may vary by location and occupation. Requires local evidence; no demographic or religious political profiling.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triangulate employer information, official labour statistics and consented interviews before proposing an access intervention.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S14 | Invest Telangana portal | Government of Telangana investment portal | https://invest.telangana.gov.in/ | Industrial parks; Genome Valley at Shamirpet; electronics clusters | Undated; current page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GO 55 changes municipal administration. Separate 2025 planning instruments concern HMR expansion and FCDA. Land questions require parcel-level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F33: BuildNow lists GO 68 dated 12 March 2025 for expansion of HMR and GO 69 for FCDA. [S04; GO 68/69 entries]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Changes in administrative and planning units can break time-series comparisons and ownership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current land-price trend, household displacement total or legal conclusion is asserted. GO index alone does not establish parcel-specific rights.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maintain a boundary-vintage register and verify land, housing, approvals and service claims against the right jurisdiction.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2026–27 provides ₹600 crore for Metro Phase II and a separate ₹500 crore loan line to HMRL.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F24: 2026–27 BE: Metro Rail Phase II ₹600 crore. [S09; Table 10 PDF 17]; F25: 2026–27 BE: loans to HMRL ₹500 crore. [S09; Table 10 PDF 17]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Distinct lines should not be merged into a claim about completed rail construction. Accessibility requires route and service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Both are budget estimates. Current procurement, central approvals, operating extensions and completion dates are not established by the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track each financing line separately and evaluate access through verified project status, journeys and interchange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HYDRAA’s stated remit includes disaster response and public assets. MRDCL’s vision includes sewage treatment, drainage and floodplain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F06: HYDRAA describes its CURE-wide remit as disaster management and protection of government / public assets, under MAUD. [S05; Mandate; Jurisdictional Coverage]; F23: 2026–27 BE: loans to HMWSSB for development ₹1,450 crore. [S09; Table 10 PDF 16]; F30: MRDCL describes Musi vision in terms of ecological restoration, sewage interception/treatment, floodplain zones and mobility/livelihoods. [S11; Vision]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documented remit and project scope suggest linked research tasks, not measured performance or a causal reduction in flood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flood-frequency, water-quality, sewage-treatment or lake-restoration success rate has been verified in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connect rainfall events, drainage records, water-quality evidence and agency responsibilities in one issue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S05 | About the Agency | HYDRAA, Government of Telangana | https://hydraa.telangana.gov.in/about | About HYDRAA; Jurisdictional Coverage; Functional Wings | Undated current page</a:t>
            </a:r>
          </a:p>
          <a:p xmlns:a="http://schemas.openxmlformats.org/drawingml/2006/main">
            <a:r>
              <a:t>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State 2026–27 allocations include ₹5,500 crore for Indiramma Houses, ₹4,305 crore for Mahalaxmi RTC and ₹1,143 crore for Rajiv Aarogya Sri.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F29: State 2026–27 BE: Indiramma Houses ₹5,500 crore; Mahalaxmi RTC ₹4,305 crore; Rajiv Aarogya Sri ₹1,143 crore. [S09; Table 10 PDF 15];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Statewide programme provision identifies questions for access research; it does not establish Hyderabad coverage or service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StatewideBE, not city spending or beneficiaries. Education outcomes and current scheme eligibility require additional authoritative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trace selected service journeys from eligibility to application, receipt, grievance and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State capex rises from ₹36,480.87 crore in 2025–26 RE to ₹47,267.28 crore in 2026–27 BE: a 29.6% nominal increase.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F27: State capital expenditure: 2025–26 RE ₹36,480.87 crore; 2026–27 BE ₹47,267.28 crore. [S09, S10; Table 4 PDF 4]; F28: Nominal state capex BE/RE increase is 29.57%, rounded 29.6%. [S09; Derived from F27]; F21: 2026–27 BE: H-CITY assistance to CURE ₹2,654 crore. [S09, S10; Table 10 PDF 16]; F22: 2026–27 BE: Musi Riverfront development ₹1,500 crore. [S09; Table 10 PDF 16]; F23: 2026–27 BE: loans to HMWSSB for development ₹1,450 crore. [S09; Table 10 PDF 16]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A larger planned envelope makes financing and implementation monitoring material. It does not establish fiscal capacity or future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Statewide; plan-to-revised-plan comparison; not real growth. No budget-line summation into a Hyderabad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build a commitments-to-delivery tracker with separate estimate, sanction, release, spend and outcome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The29.6% figure compares next-yearBE against prior-yearRE and is nominal/statewide. It is not a growth forecast, realised spending change or Hyderabad budget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MRDCL states environmental and mobility objectives. The March 2026 official conference also acknowledged compensation and livelihood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F22: 2026–27 BE: Musi Riverfront development ₹1,500 crore. [S09; Table 10 PDF 16]; F30: MRDCL describes Musi vision in terms of ecological restoration, sewage interception/treatment, floodplain zones and mobility/livelihoods. [S11; Vision]; F31: At the 13 March 2026 Musi conference, the CM addressed compensation and livelihood concerns associated with relocation. [S12; English compensation/livelihood paragraphs]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Environmental objectives and acknowledged relocation concerns justify testing multiple dimensions of implementation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Government objectives/commitments are not proof of outcomes. Current award, construction, compensation and water-quality results remain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produce a balanced Musi brief: documentary milestone, environmental evidence, household safeguards and unresolved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>S12 | Musi Invites: Phase I presentation | Government of Telangana, TG Digital Media | https://www.telangana.gov.in/news/press-releases/2026/03/honble-cm-sri-a-revanth-reddy-participated-in-musi-invites-a-presentation-on-musi-river-rejuvenation-phase-i-by-mrdcl-in-hyderabad/ | English text: compensation and livelihood concerns; concluding presentation description | Event 2026-03-13; page 2026-03-16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HYDRAA describes a CURE-wide asset-protection and disaster mandate. That does not determine the legality or fairness of an individual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F06: HYDRAA describes its CURE-wide remit as disaster management and protection of government / public assets, under MAUD. [S05; Mandate; Jurisdictional Coverage]; F03: GO 55 of 11 February 2026 reorganised CURE into GHMC, CMC and MMC with immediate effect. [S03, S04, S15; GO 55 pp 1–2]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Mandate-level evidence and case-level evidence answer different questions; public trust needs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parcel is labelled an encroachment here. Current legal requirements and court orders need counsel/official record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keep a case tracker for the order, boundary record, notice, review route, implementation and independently checked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S05 | About the Agency | HYDRAA, Government of Telangana | https://hydraa.telangana.gov.in/about | About HYDRAA; Jurisdictional Coverage; Functional Wings | Undated current page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Three municipal jurisdictions coexist with programme-specific and CURE-wide bodies. Cross-agency outcomes need an explicit coordination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F06: HYDRAA describes its CURE-wide remit as disaster management and protection of government / public assets, under MAUD. [S05; Mandate; Jurisdictional Coverage]; F30: MRDCL describes Musi vision in terms of ecological restoration, sewage interception/treatment, floodplain zones and mobility/livelihoods. [S11; Vision]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Multiple documented bodies create a coordination research requirement; this deck does not claim demonstrated coordination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Proposed operating design. Access to officials, internal records and escalation routes depends on employer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assign one issue owner and keep decision, funding, implementation and grievance handoffs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S05 | About the Agency | HYDRAA, Government of Telangana | https://hydraa.telangana.gov.in/about | About HYDRAA; Jurisdictional Coverage; Functional Wings | Undated current page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Official communications establish stated positions; news reports provide scrutiny. Neither social-media volume nor a few interviews measures public opinion.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F01: Inclusive Minds describes itself as INC-aligned and lists six work verticals. [S01; About Us; Our Work]; F31: At the 13 March 2026 Musi conference, the CM addressed compensation and livelihood concerns associated with relocation. [S12; English compensation/livelihood paragraphs]; F20: Congress candidate V.Naveen Yadav won the November 2025 Jubilee Hills by-election, according to corroborated reporting. [S23, S24; Winner reports]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sources have different incentives and upstream dependencies. Reported narratives cannot identify their prevalence or their causal electoral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Proposed Telugu, Urdu and English review with qualified language support. No claim to my fluency, representative survey, private messages or sentiment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run a multilingual issue log with source lineage, verified translations, correction status and a representativeness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S01 | About us and six work verticals | Inclusive Minds | https://www.inclusiveminds.in/ | About Us; Our Work | Undated; retrieved 2026-10-08</a:t>
            </a:r>
          </a:p>
          <a:p xmlns:a="http://schemas.openxmlformats.org/drawingml/2006/main">
            <a:r>
              <a:t>S12 | Musi Invites: Phase I presentation | Government of Telangana, TG Digital Media | https://www.telangana.gov.in/news/press-releases/2026/03/honble-cm-sri-a-revanth-reddy-participated-in-musi-invites-a-presentation-on-musi-river-rejuvenation-phase-i-by-mrdcl-in-hyderabad/ | English text: compensation and livelihood concerns; concluding presentation description | Event 2026-03-13; page 2026-03-16</a:t>
            </a:r>
          </a:p>
          <a:p xmlns:a="http://schemas.openxmlformats.org/drawingml/2006/main">
            <a:r>
              <a:t>S23 | Jubilee Hills bypoll result | The Economic Times | https://m.economictimes.com/news/politics-and-nation/jubilee-hills-bypoll-result-2025-in-l-deepak-reddy-vs-sunita-vs-naveen-yadav-check-who-is-winning/articleshow/125315450.cms | Winner report | 2025-11-14</a:t>
            </a:r>
          </a:p>
          <a:p xmlns:a="http://schemas.openxmlformats.org/drawingml/2006/main">
            <a:r>
              <a:t>S24 | Jubilee Hills bypoll winner live report | The Times of India | https://timesofindia.indiatimes.com/city/hyderabad/assembly-bypoll-result-2025-live-updates-by-election-results-jubilee-hills-budgam-nagrota-anta-ghatshila-tarn-taran-dampa-nuapada/liveblog/125313066.cms | 13:18 IST winner update | 2025-11-14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Results and notified geography are strong anchors. Service performance, legal status and representative experience need separate current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F07: 2023 Telangana Assembly seats won: INC 64; BRS 39; BJP 8; AIMIM 7; CPI 1. [S06; WON column]; F20: Congress candidate V.Naveen Yadav won the November 2025 Jubilee Hills by-election, according to corroborated reporting. [S23, S24; Winner reports]; F27: State capital expenditure: 2025–26 RE ₹36,480.87 crore; 2026–27 BE ₹47,267.28 crore. [S09, S10; Table 4 PDF 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Separating known records from unresolved status prevents confidence in one source class from spilling into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exhaustive claim about all developments up to cut-off. Source accessibility and absence of fieldwork constrain this work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maintain explicit expiry rules and assign a validation task to each consequential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S06 | Performance of Political Parties: Telangana 2023 | Election Commission of India | https://www.eci.gov.in/eci-backend/public/all_files/full-statistical-reports/telangana/2023/Performance_of_Political_Parties.pdf | PDF pp.1–3; WON column | 2023 Assembly election; report undated</a:t>
            </a:r>
          </a:p>
          <a:p xmlns:a="http://schemas.openxmlformats.org/drawingml/2006/main">
            <a:r>
              <a:t>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>S23 | Jubilee Hills bypoll result | The Economic Times | https://m.economictimes.com/news/politics-and-nation/jubilee-hills-bypoll-result-2025-in-l-deepak-reddy-vs-sunita-vs-naveen-yadav-check-who-is-winning/articleshow/125315450.cms | Winner report | 2025-11-14</a:t>
            </a:r>
          </a:p>
          <a:p xmlns:a="http://schemas.openxmlformats.org/drawingml/2006/main">
            <a:r>
              <a:t>S24 | Jubilee Hills bypoll winner live report | The Times of India | https://timesofindia.indiatimes.com/city/hyderabad/assembly-bypoll-result-2025-live-updates-by-election-results-jubilee-hills-budgam-nagrota-anta-ghatshila-tarn-taran-dampa-nuapada/liveblog/125313066.cms | 13:18 IST winner update | 2025-11-14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 would sequence work by the risk of misclassification, decision relevance and dependency—not a fabricated electoral opportunity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F20: Congress candidate V.Naveen Yadav won the November 2025 Jubilee Hills by-election, according to corroborated reporting. [S23, S24; Winner reports]; F21: 2026–27 BE: H-CITY assistance to CURE ₹2,654 crore. [S09, S10; Table 10 PDF 16]; F30: MRDCL describes Musi vision in terms of ecological restoration, sewage interception/treatment, floodplain zones and mobility/livelihoods. [S11; Vision]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Boundary and status errors invalidate downstream analysis; implementation records then support usable issue briefs. Ranking is my professional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Proposed priority order; not measured demand or a promise of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agree the first research backlog with my manager and publish owners, dependencies and stop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>S23 | Jubilee Hills bypoll result | The Economic Times | https://m.economictimes.com/news/politics-and-nation/jubilee-hills-bypoll-result-2025-in-l-deepak-reddy-vs-sunita-vs-naveen-yadav-check-who-is-winning/articleshow/125315450.cms | Winner report | 2025-11-14</a:t>
            </a:r>
          </a:p>
          <a:p xmlns:a="http://schemas.openxmlformats.org/drawingml/2006/main">
            <a:r>
              <a:t>S24 | Jubilee Hills bypoll winner live report | The Times of India | https://timesofindia.indiatimes.com/city/hyderabad/assembly-bypoll-result-2025-live-updates-by-election-results-jubilee-hills-budgam-nagrota-anta-ghatshila-tarn-taran-dampa-nuapada/liveblog/125313066.cms | 13:18 IST winner update | 2025-11-14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This deck includes a usable CURE budget baseline with exact instruments, reference years and open implementation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F21: 2026–27 BE: H-CITY assistance to CURE ₹2,654 crore. [S09, S10; Table 10 PDF 16]; F22: 2026–27 BE: Musi Riverfront development ₹1,500 crore. [S09; Table 10 PDF 16]; F23: 2026–27 BE: loans to HMWSSB for development ₹1,450 crore. [S09; Table 10 PDF 16]; F24: 2026–27 BE: Metro Rail Phase II ₹600 crore. [S09; Table 10 PDF 17]; F25: 2026–27 BE: loans to HMRL ₹500 crore. [S09; Table 10 PDF 17]; F26: 2026–27 BE: 20 KL free-water reimbursement to HMWSSB ₹300 crore. [S09; Table 10 PDF 17]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produced tracker demonstrates source and status discipline. It is a baseline prototype, not a live government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internal spending feed or field validation. Unverified stages remain explicitly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maintain the baseline as a reviewed weekly brief, recording each new document and change in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S09 | Budget in Brief: 2026–27 | Government of Telangana, Finance Department | https://www.telangana.gov.in/wp-content/uploads/2026/05/Budget-in-Brief.pdf | Table 4, PDF p.4; Table 10, PDF pp.15–17 | 2026–27 budget; posted May 2026</a:t>
            </a:r>
          </a:p>
          <a:p xmlns:a="http://schemas.openxmlformats.org/drawingml/2006/main">
            <a:r>
              <a:t>S10 | Telangana Budget Analysis 2026–27 | PRS Legislative Research | https://prsindia.org/budgets/states/telangana-budget-analysis-2026-27 | Expenditure and urban-development tables | 2026–27 budget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H-CITY is the label printed in the budget line. Different public descriptions use H-CITI; the tracker preserves the original instrument label and does not infer equal programme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An insight should retain its evidence, uncertainty and accountable next action as it moves between research and delivery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F35: Candidate resume reports introducing an evidence-based review system for a seven-person political-intelligence team. [S25; workExperience bullet 3]; F36: Candidate resume reports modelling Meghalaya PDS and analysing 4,500+government records. [S25; Projects, Jul–Sep 2024]; F01: Inclusive Minds describes itself as INC-aligned and lists six work verticals. [S01; About Us; Our Work]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candidate-reported review experience supports proposing an evidence workflow; actual performance must be established through a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Owner: me under a research lead. Depends on approved repositories and reviewers. Fall back to a shared spreadsheet if tooling is 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introduce a short daily triage and a manager-reviewed weekly research brief with a correction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S01 | About us and six work verticals | Inclusive Minds | https://www.inclusiveminds.in/ | About Us; Our Work | Undated; retrieved 2026-10-08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 would establish the geography, source inventory and reporting rhythm before committing to broad field conclusions.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F03: GO 55 of 11 February 2026 reorganised CURE into GHMC, CMC and MMC with immediate effect. [S03, S04, S15; GO 55 pp 1–2]; F35: Candidate resume reports introducing an evidence-based review system for a seven-person political-intelligence team. [S25; workExperience bullet 3];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Small reproducible work products establish a baseline and identify access constraints 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Planning assumption: roughly 10 focused research hours/week plus review. Employer workload and priorities determine actual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deliver one boundary register, one source ledger, four short issue briefs and a manager-approved research backlog.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S03 | G.O.Ms.No.55: CURE reorganisation | Government of Telangana, MAUD | https://tg-bn-website-assets.flowwlabs.tech/GOs-and-ACTs/GO.Ms.No.55_11-02-2026.pdf | PDF pp.1–2; operative paragraphs 2–3 | 2026-02-11</a:t>
            </a:r>
          </a:p>
          <a:p xmlns:a="http://schemas.openxmlformats.org/drawingml/2006/main">
            <a:r>
              <a:t>S04 | Government Orders and Acts | Government of Telangana, BuildNow | https://buildnow.telangana.gov.in/go-and-act/ | GO 55, GO 45, GO 16, GO 68 and GO 69 entries | Orders dated 2025–2026</a:t>
            </a:r>
          </a:p>
          <a:p xmlns:a="http://schemas.openxmlformats.org/drawingml/2006/main">
            <a:r>
              <a:t>S15 | Moosarambagh bridge event and corporation logos | Government of Telangana, TG Digital Media | https://www.telangana.gov.in/news/press-releases/2026/08/honble-cm-sri-a-revanth-reddy-addresses-the-public-meeting-at-ghmc-sports-stadium-amberpet-hyderabad-following-the-inauguration-of-the-moosarambagh-high-level-bridge/ | English text, paragraph on three corporation logos | Event 2026-08-31; page 2026-09-01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 would test the highest-impact gaps through authorised records, agency clarifications and consented qualitative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F30: MRDCL describes Musi vision in terms of ecological restoration, sewage interception/treatment, floodplain zones and mobility/livelihoods. [S11; Vision]; F31: At the 13 March 2026 Musi conference, the CM addressed compensation and livelihood concerns associated with relocation. [S12; English compensation/livelihood paragraphs]; F06: HYDRAA describes its CURE-wide remit as disaster management and protection of government / public assets, under MAUD. [S05; Mandate; Jurisdictional Coverage];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earlier evidence gaps identify where direct validation is useful; interviews add context, not automatically representative statistics.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Assumption: manager approval, permissions and language support. If access fails, publish desk-based gaps and narrow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refine two case studies and test interview guides with qualified local-language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S05 | About the Agency | HYDRAA, Government of Telangana | https://hydraa.telangana.gov.in/about | About HYDRAA; Jurisdictional Coverage; Functional Wings | Undated current page</a:t>
            </a:r>
          </a:p>
          <a:p xmlns:a="http://schemas.openxmlformats.org/drawingml/2006/main">
            <a:r>
              <a:t>S11 | Vision / Mission | Musi Riverfront Development Corporation | https://musi.telangana.gov.in/VisionMusi.aspx | Vision paragraphs | Undated; current page</a:t>
            </a:r>
          </a:p>
          <a:p xmlns:a="http://schemas.openxmlformats.org/drawingml/2006/main">
            <a:r>
              <a:t>S12 | Musi Invites: Phase I presentation | Government of Telangana, TG Digital Media | https://www.telangana.gov.in/news/press-releases/2026/03/honble-cm-sri-a-revanth-reddy-participated-in-musi-invites-a-presentation-on-musi-river-rejuvenation-phase-i-by-mrdcl-in-hyderabad/ | English text: compensation and livelihood concerns; concluding presentation description | Event 2026-03-13; page 2026-03-16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 would evaluate evidence quality and turnaround against the first-month baseline, then hand over a reusable research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F35: Candidate resume reports introducing an evidence-based review system for a seven-person political-intelligence team. [S25; workExperience bullet 3];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A pilot creates observable process metrics; the direction and scale of improvement are not predetermined.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Track correction count, broken citations, scope errors and review time. Avoid targets that reward hiding errors or premature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deliver a reviewed atlas scaffold, refresh calendar, two refined case briefs and an onboarding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My resume reports political-intelligence review work, cross-functional coordination and a Meghalaya public-distribution modelling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F34: Candidate resume lists MBA, IIM Shillong, 2023–25; Consultant Marketing and Strategy at Nation With Namo, May 2025–Apr 2026. [S25; Education/workExperience]; F35: Candidate resume reports introducing an evidence-based review system for a seven-person political-intelligence team. [S25; workExperience bullet 3]; F36: Candidate resume reports modelling Meghalaya PDS and analysing 4,500+government records. [S25; Projects, Jul–Sep 2024]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These self-reported experiences support a methods-based fit; geographic expertise and employer performance remain to be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No independent audit of CV outcomes. No claim to local-language fluency, Hyderabad field networks or guaranteed political impact.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bring structured research and operational discipline, while building Hyderabad context through supervised local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I can offer a careful research perspective, traceable synthesis and a practical path from analysis to a reviewed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F35: Candidate resume reports introducing an evidence-based review system for a seven-person political-intelligence team. [S25; workExperience bullet 3]; F36: Candidate resume reports modelling Meghalaya PDS and analysing 4,500+government records. [S25; Projects, Jul–Sep 2024]; F02: Employer Generalist post identifies Hyderabad on-site and experience in research, strategy, communication or project management. [S02; Hiring post]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The produced work sample and candidate-reported methods support an interview proposition, not a guarantee of hiring or future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Fit and priorities must be tested with the actual hiring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For proposals: access may be restricted; a narrower desk brief may be more useful than a broad unsupported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I would welcome a discussion of one issue brief, its strongest counterargument and the first work product the team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Owner: candidate under manager review. Dependencies: approved public sources and a reviewer. Measure: complete traceability and documented correction closure. Stop if authority, scope or critical premise is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S02 | Generalist hiring post: Hyderabad, on-site | Inclusive Minds | https://www.linkedin.com/posts/inclusive-minds-ind_hiring-generalist-politicalconsulting-activity-7495111990261252096-TM4l | Employer-authored post text | Undated public post</a:t>
            </a:r>
          </a:p>
          <a:p xmlns:a="http://schemas.openxmlformats.org/drawingml/2006/main">
            <a:r>
              <a:t>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ESTABLISHES: For considering my application to Inclusive Minds Political consulting · Hyderabad  manashdeori 09@gmail.com linkedin.com/in/manash-protim-deori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F37: Candidate resume lists manashdeori 09@gmail.com, LinkedIn/manash-protim-deori and openness to relocation. [S25; Header]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REASONING: Contact and relocation information from the existing portfolio resume.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LIMITS / ASSUMPTIONS: Independent application work sample. Appendix follows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ALTERNATIVES: A programme may improve aggregate service while access costs remain uneven; alternatively, a perceived gap may reflect incomplete information rather than poor delivery. Validate records and lived experience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I WOULD CONTRIBUTE: Cover/contact framing; no separate major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PRACTICAL TEST: Proposed owner:me under the hiring manager/research lead. Desk baseline:~10focused hours/week (planning assumption). Dependencies:public documents, approved shared repository, subject reviewer; field/language work needs explicit employer support. Measure:scope/source defects and review turnaround against pilot baseline. Fallback:one narrower desk brief; stop unresolved critical legal or data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FIVE GATES: G1PASS:documentary support or labelled proposal. G2PASS for bounded authoritative/reporting statements; limitations and shared origins recorded. G3PASS:dated/scoped and recalculated. G4PASS for bounded inference; hypotheses remain conditional. G5PASS for traceability; proposed outcomes conditional on access/review, never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REFERENCES: S25 | Portfolio resume data | Manash Protim Deori | https://github.com/ManashProtimDeori/Manash-Protim-Deori/blob/main/src/data/resume.ts | workExperience, projects, education and header | Repository read 2026-10-08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INTERVIEW DEFENCE: Explain what would change this conclusion: a newer authoritative boundary/status record, corrected numerical result, contrary service evidence, or manager feedback that changes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A01–A04: methods/data · A05 onward: slide-level logic · source register · review trail · unresolved evidence</a:t>
            </a:r>
          </a:p>
          <a:p xmlns:a="http://schemas.openxmlformats.org/drawingml/2006/main">
            <a:r>
              <a:t>"appendix-divider"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[["G 1 · Provenance", "Exact record/passage or labelled proposal; no snippet-only fact used."], ["G 2 · Corroboration", "Authoritative result/order need not have five duplicates. Shared upstream sources counted once. Reported legacy tables labelled."], ["G 3 · Integrity", "Date, jurisdiction, boundary vintage, units and arithmetic checked. No AC/PC aggregation or budget-total mixing."], ["G 4 · Inference", "Rival explanations and validation conditions in every main-slide note. Future feasibility remains conditional."], ["G 5 · Practical use", "Owner, inputs, reviewer, measure and fallback stated. No promised political effect or 100% accuracy."]]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[["57 Musheerabad", "BRS"], ["58 Malakpet", "AIMIM"], ["59 Amberpet", "BRS"], ["60 Khairatabad", "BRS"], ["61 Jubilee Hills", "BRS"], ["62 Sanathnagar", "BRS"], ["63 Nampally", "AIMIM"], ["64 Karwan", "AIMIM"], ["65 Goshamahal", "BJP"], ["66 Charminar", "AIMIM"], ["67 Chandrayangutta", "AIMIM"], ["68 Yakutpura", "AIMIM"], ["69 Bahadurpura", "AIMIM"], ["70 Secunderabad", "BRS"], ["71 Secunderabad Cantt.(SC)", "BRS"]]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[["State seats 2023", "64+39+8+7+1=119 · S06"], ["Selected seats 2023", "7 BRS+7 AIMIM+1 BJP+0 INC=15 · S07"], ["Reported GHMC 2016/2020", "99+44+4+2+1=150; 56+48+44+2=150 · S19–S22"], ["Margins 2023", "62,185−60,148=2,037; 46,153−45,275=878; 99,776−18,116=81,660 · S07"], ["State capex nominal BE/RE", "(47,267.28÷36,480.87−1)×100=29.5673%; rounded 29.6% · S09"], ["Excluded operations", "No summed Hyderabad budget; no cross-ballot swing; no individual vote-transfer inference."]]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[["M01 · Hyderabad", "Evidence F34,F37 | S25\nEditorial title for a professional research work sample.\nLimits: Research cut-off 8 October 2026. Prepared independently; no employer or party endorsement.", "C01 / R01: Framing/contact or adjacent executive contributions.\nCandidate/contact source is self-reported."], ["M02 · Power, place and public value", "Evidence F03,F07,F08,F21,F22 | S03,S04,S06,S07,S09,S10,S15\nGeographic discontinuity and contrasting electoral observations make a single-city political narrative unreliable. Public investment lines create testable implementation questions.\nLimits: The selected electoral units are not identical; allocations and governance changes do not establish public approval.", "C02 / R02: Framing/contact or adjacent executive contributions.\nG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[["M03 · Relevant methods; honest fit", "Evidence F01,F02,F34,F35 | S01,S02,S25\nResearch and project coordination in the resume match public role requirements at a methodological level.\nLimits: Exact requisition and open status unconfirmed. I do not claim knowledge of internal workflows or personal ideological alignment.", "C03 / R03: I would turn research into concise, source-backed briefs and coordinate review across functions.\nG 1–G 3: PASS for bounded premises; G 4: bounded analysis; G 5: traceable. Proposal feasibility remains CONDITIONAL."], ["M04 · Define the unit before the insight", "Evidence F03,F04,F05,F33 | S03,S04,S15\nThe GO allocates municipal zones; election tables use constituency codes. A name match does not establish identical population or jurisdiction.\nLimits: Classification schematic, not a geographic map. No unverified GIS polygon or area estimate is shown.", "C04 / R04: I would create a dated crosswalk with overlap rules, official boundary files and exclusions before analysis.\nG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[["M05 · Five gates, one traceable claim", "Evidence F02,F20 | S02,S23,S24\nFive distinct checks reduce identifiable errors; they cannot guarantee certainty or replace field validation.\nLimits: Twenty reviews are cumulative self-review passes, not 20 independent reviewers.", "C05 / R05: I would keep a claim register, contradiction log and refresh queue attached to every brief.\nG 1–G 3: PASS for bounded premises; G 4: bounded analysis; G 5: traceable. Proposal feasibility remains CONDITIONAL."], ["M06 · The political timeline is not linear", "Evidence F16,F17,F18,F19,F07,F03 | S03,S04,S06,S15,S16,S17,S18,S19,S20,S21,S22\nResults from different institutions document changing competition; they do not prove one stable electorate trajectory or a cause.\nLimits: 2016/2020 municipal and 2018 summary figures are explicitly attributed reporting. No transfers of voters inferred.", "C06 / R06: I would maintain an event ledger that separates electoral results, office changes, boundary changes and delivery milestones.\nG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[["M07 · Follow the decision, budget and remedy", "Evidence F03,F06,F21,F30 | S03,S04,S05,S09,S10,S11,S15\nA documented institution-specific chain is more useful than assigning every urban outcome to one politician or department.\nLimits: This is a documented-role scaffold, not a complete current statutory responsibility matrix. Case-specific powers need validation.", "C07 / R07: I would produce one responsibility sheet for each issue: decision owner, payer, delivery body, review authority and evidence gap.\nG 1–G 3: PASS for bounded premises; G 4: bounded analysis; G 5: traceable. Proposal feasibility remains CONDITIONAL."], ["M08 · Different cycles, different baselines", "Evidence F18,F19 | S19,S20,S21,S22\nReported same-institution seat counts show council-level change. Seats are not votes; result differences do not identify voter transitions.\nLimits: Historical 150-seat GHMC tables, based on two corroborated reporting lineages. They are not 2026 corporation totals.", "C08 / R08: I would preserve raw election vintages and compare only equivalent units, with candidate and boundary changes recorded.\nG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[["M09 · The state result did not describe every seat", "Evidence F07,F08 | S06,S07\nA contrasting selected-set result falsifies a claim that the statewide winner also won everywhere in the urban core.\nLimits: Selection is disclosed in full; no claim that 15 seats represent the entire metropolis. Historical results, not current membership.", "C09 / R09: I would write explicitly scoped constituency briefs rather than treating the state mandate as a metropolitan result.\nG 1–G 3: PASS for bounded premises; G 4: bounded analysis; G 5: traceable. Proposal feasibility remains CONDITIONAL."], ["M10 · A ballot is an institutional choice", "Evidence F12,F13,F14,F15,F08 | S07,S08\nDifferent institution-specific observations show why political strength cannot be represented by one number.\nLimits: Four PCs and the 15-seat AC set are not coextensive. Candidate effects, turnout and national context remain rival explanations.", "C10 / R10: I would keep Assembly, parliamentary and civic result series separate, then test possible explanations through approved research.\nG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[["M11 · Competition has several forms", "Evidence F09,F10,F11,F20 | S07,S23,S24\nThe same winning party across seats does not imply uniform competition. The 2025 Jubilee Hills reported Congress win also cautions against freezing 2023 as the present.\nLimits: Margins are vote differences, not estimates of community opinion. Current legislator affiliations, legal disputes and municipal leadership require a fresh official roster.", "C11 / R11: I would distinguish party presence, candidate competition and institutional control; update legal affiliation separately.\nG 1–G 3: PASS for bounded premises; G 4: bounded analysis; G 5: traceable. Proposal feasibility remains CONDITIONAL."], ["M12 · Economic strength is not equal access", "Evidence F32 | S14\nCluster identification supports research design; it does not measure who benefits, city GDP or job quality.\nLimits: No city GDP, unemployment, export or employment estimate is asserted from a statewide promotional portal.", "C12 / R12: I would build a place-based opportunity brief using verified cluster locations, commuting access and service data.\nG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[["M13 · Measure the route from skill to opportunity", "Evidence F32,F36 | S14,S25\nMeasured barriers are needed to connect clusters with residents’ opportunities. No labour-market deficit is assumed simply from cluster presence.\nLimits: Hypothesis: access barriers may vary by location and occupation. Requires local evidence; no demographic or religious political profiling.", "C13 / R13: I would triangulate employer information, official labour statistics and consented interviews before proposing an access intervention.\nG 1–G 3: PASS for bounded premises; G 4: bounded analysis; G 5: traceable. Proposal feasibility remains CONDITIONAL."], ["M14 · Urban expansion changes the research unit", "Evidence F03,F33 | S03,S04,S15\nChanges in administrative and planning units can break time-series comparisons and ownership assumptions.\nLimits: No current land-price trend, household displacement total or legal conclusion is asserted. GO index alone does not establish parcel-specific rights.", "C14 / R14: I would maintain a boundary-vintage register and verify land, housing, approvals and service claims against the right jurisdiction.\nG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[["M15 · Transport provision is not service access", "Evidence F24,F25 | S09\nDistinct lines should not be merged into a claim about completed rail construction. Accessibility requires route and service evidence.\nLimits: Both are budget estimates. Current procurement, central approvals, operating extensions and completion dates are not established by the budget.", "C15 / R15: I would track each financing line separately and evaluate access through verified project status, journeys and interchange evidence.\nG 1–G 3: PASS for bounded premises; G 4: bounded analysis; G 5: traceable. Proposal feasibility remains CONDITIONAL."], ["M16 · Resilience needs a system view", "Evidence F06,F23,F30 | S05,S09,S11\nThe documented remit and project scope suggest linked research tasks, not measured performance or a causal reduction in flood risk.\nLimits: No flood-frequency, water-quality, sewage-treatment or lake-restoration success rate has been verified in this deck.", "C16 / R16: I would connect rainfall events, drainage records, water-quality evidence and agency responsibilities in one issue brief.\nG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[["M17 · Entitlement, access and experience differ", "Evidence F29,F36 | S09,S25\nStatewide programme provision identifies questions for access research; it does not establish Hyderabad coverage or service quality.\nLimits: StatewideBE, not city spending or beneficiaries. Education outcomes and current scheme eligibility require additional authoritative evidence.", "C17 / R17: I would trace selected service journeys from eligibility to application, receipt, grievance and closure.\nG 1–G 3: PASS for bounded premises; G 4: bounded analysis; G 5: traceable. Proposal feasibility remains CONDITIONAL."], ["M18 · Ambition must survive implementation", "Evidence F27,F28,F21,F22,F23 | S09,S10\nA larger planned envelope makes financing and implementation monitoring material. It does not establish fiscal capacity or future completion.\nLimits: Statewide; plan-to-revised-plan comparison; not real growth. No budget-line summation into a Hyderabad total.", "C18 / R18: I would build a commitments-to-delivery tracker with separate estimate, sanction, release, spend and outcome fields.\nG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[["M19 · Musi is an implementation and trust question", "Evidence F22,F30,F31 | S09,S11,S12\nEnvironmental objectives and acknowledged relocation concerns justify testing multiple dimensions of implementation together.\nLimits: Government objectives/commitments are not proof of outcomes. Current award, construction, compensation and water-quality results remain unverified.", "C19 / R19: I would produce a balanced Musi brief: documentary milestone, environmental evidence, household safeguards and unresolved questions.\nG 1–G 3: PASS for bounded premises; G 4: bounded analysis; G 5: traceable. Proposal feasibility remains CONDITIONAL."], ["M20 · Protect assets; verify every case", "Evidence F06,F03 | S03,S04,S05,S15\nMandate-level evidence and case-level evidence answer different questions; public trust needs both.\nLimits: No parcel is labelled an encroachment here. Current legal requirements and court orders need counsel/official record review.", "C20 / R20: I would keep a case tracker for the order, boundary record, notice, review route, implementation and independently checked outcome.\nG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[["M21 · Accountability needs a named handoff", "Evidence F03,F06,F30 | S03,S04,S05,S11,S15\nMultiple documented bodies create a coordination research requirement; this deck does not claim demonstrated coordination failure.\nLimits: Proposed operating design. Access to officials, internal records and escalation routes depends on employer approval.", "C21 / R21: I would assign one issue owner and keep decision, funding, implementation and grievance handoffs visible.\nG 1–G 3: PASS for bounded premises; G 4: bounded analysis; G 5: traceable. Proposal feasibility remains CONDITIONAL."], ["M22 · Public discourse is evidence about discourse", "Evidence F01,F31,F20 | S01,S12,S23,S24\nThe sources have different incentives and upstream dependencies. Reported narratives cannot identify their prevalence or their causal electoral effect.\nLimits: Proposed Telugu, Urdu and English review with qualified language support. No claim to my fluency, representative survey, private messages or sentiment baseline.", "C22 / R22: I would run a multilingual issue log with source lineage, verified translations, correction status and a representativeness note.\nG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[["M23 · Uncertainty is a research queue", "Evidence F03,F07,F20,F27 | S03,S04,S06,S09,S10,S15,S23,S24\nSeparating known records from unresolved status prevents confidence in one source class from spilling into another.\nLimits: No exhaustive claim about all developments up to cut-off. Source accessibility and absence of fieldwork constrain this work sample.", "C23 / R23: I would maintain explicit expiry rules and assign a validation task to each consequential unknown.\nG 1–G 3: PASS for bounded premises; G 4: bounded analysis; G 5: traceable. Proposal feasibility remains CONDITIONAL."], ["M24 · Start where errors change decisions", "Evidence F03,F20,F21,F30 | S03,S04,S09,S10,S11,S15,S23,S24\nBoundary and status errors invalidate downstream analysis; implementation records then support usable issue briefs. Ranking is my professional judgment.\nLimits: Proposed priority order; not measured demand or a promise of access.", "C24 / R24: I would agree the first research backlog with my manager and publish owners, dependencies and stop conditions.\nG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[["M25 · A work sample you can inspect", "Evidence F21,F22,F23,F24,F25,F26 | S09,S10\nThe produced tracker demonstrates source and status discipline. It is a baseline prototype, not a live government dashboard.\nLimits: No internal spending feed or field validation. Unverified stages remain explicitly Unknown.", "C25 / R25: I would maintain the baseline as a reviewed weekly brief, recording each new document and change in status.\nG 1–G 3: PASS for bounded premises; G 4: bounded analysis; G 5: traceable. Proposal feasibility remains CONDITIONAL."], ["M26 · One workflow from discovery to refresh", "Evidence F35,F36,F01 | S01,S25\nThe candidate-reported review experience supports proposing an evidence workflow; actual performance must be established through a pilot.\nLimits: Owner: me under a research lead. Depends on approved repositories and reviewers. Fall back to a shared spreadsheet if tooling is limited.", "C26 / R26: I would introduce a short daily triage and a manager-reviewed weekly research brief with a correction log.\nG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[["M27 · First 30 days: a defensible baseline", "Evidence F03,F35,F36 | S03,S04,S15,S25\nSmall reproducible work products establish a baseline and identify access constraints early.\nLimits: Planning assumption: roughly 10 focused research hours/week plus review. Employer workload and priorities determine actual output.", "C27 / R27: I would deliver one boundary register, one source ledger, four short issue briefs and a manager-approved research backlog.\nG 1–G 3: PASS for bounded premises; G 4: bounded analysis; G 5: traceable. Proposal feasibility remains CONDITIONAL."], ["M28 · Days 31–60: validate the weak links", "Evidence F30,F31,F06,F36 | S05,S11,S12,S25\nThe earlier evidence gaps identify where direct validation is useful; interviews add context, not automatically representative statistics.\nLimits: Assumption: manager approval, permissions and language support. If access fails, publish desk-based gaps and narrow the question.", "C28 / R28: I would refine two case studies and test interview guides with qualified local-language support.\nG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[["M29 · Days 61–90: improve and hand over", "Evidence F35,F36 | S25\nA pilot creates observable process metrics; the direction and scale of improvement are not predetermined.\nLimits: Track correction count, broken citations, scope errors and review time. Avoid targets that reward hiding errors or premature publication.", "C29 / R29: I would deliver a reviewed atlas scaffold, refresh calendar, two refined case briefs and an onboarding guide.\nG 1–G 3: PASS for bounded premises; G 4: bounded analysis; G 5: traceable. Proposal feasibility remains CONDITIONAL."], ["M30 · Experience is evidence; transfer is a test", "Evidence F34,F35,F36 | S25\nThese self-reported experiences support a methods-based fit; geographic expertise and employer performance remain to be demonstrated.\nLimits: No independent audit of CV outcomes. No claim to local-language fluency, Hyderabad field networks or guaranteed political impact.", "C30 / R30: I would bring structured research and operational discipline, while building Hyderabad context through supervised local learning.\nG 1–G 3: PASS for bounded premises; G 4: bounded analysis; G 5: traceable. Proposal feasibility remains CONDITIONAL."]]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[["M31 · Interview me for the work product", "Evidence F35,F36,F02 | S02,S25\nThe produced work sample and candidate-reported methods support an interview proposition, not a guarantee of hiring or future results.\nLimits: Fit and priorities must be tested with the actual hiring team.", "C31 / R31: I would welcome a discussion of one issue brief, its strongest counterargument and the first work product the team needs.\nG 1–G 3: PASS for bounded premises; G 4: bounded analysis; G 5: traceable. Proposal feasibility remains CONDITIONAL."], ["M32 · Thank you", "Evidence F37 | S25\nContact and relocation information from the existing portfolio resume.\nLimits: Independent application work sample. Appendix follows immediately.", "C32 / R32: Framing/contact or adjacent executive contributions.\nCandidate/contact source is self-reported."]]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[["F01 · Verified fact", "Inclusive Minds describes itself as INC-aligned and lists six work verticals.", "S01 · About Us; Our Work\nOrganisation / Retrieved 2026-10-08"], ["F02 · Employer statement", "Employer Generalist post identifies Hyderabad on-site and experience in research, strategy, communication or project management.", "S02 · Hiring post\nVacancy / Retrieved 2026-10-08"], ["F03 · Verified fact", "GO 55 of 11 February 2026 reorganised CURE into GHMC, CMC and MMC with immediate effect.", "S03,S04,S15 · GO 55 pp 1–2\nCURE / 2026-02-11"], ["F04 · Verified fact", "CMC comprises Serilingampally, Kukatpally and Qutbullapur zones; MMC comprises Malkajgiri, Uppal and L.B.Nagar zones.", "S03 · GO 55 operative zone allocation\nCURE / 2026-02-11"], ["F05 · Verified fact", "GHMC comprises Shamshabad, Rajendernagar, Charminar, Golconda, Khairatabad and Secunderabad zones.", "S03 · GO 55 operative zone allocation\nCURE / 2026-02-11"]]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[["F06 · Verified fact", "HYDRAA describes its CURE-wide remit as disaster management and protection of government / public assets, under MAUD.", "S05 · Mandate; Jurisdictional Coverage\nCURE / Retrieved 2026-10-08"], ["F07 · Verified fact", "2023 Telangana Assembly seats won: INC 64; BRS 39; BJP 8; AIMIM 7; CPI 1.", "S06 · WON column\nTelangana / 2023 election"], ["F08 · Derived statistic", "In selected Assembly seats AC 57–71,2023 winners were BRS 7, AIMIM 7, BJP 1, INC 0.", "S07 · AC 57–71\nDeclared 15-seat study set / 2023 election"], ["F09 · Verified fact", "Nampally, 2023: winner 62,185; runner-up 60,148; margin 2,037 votes.", "S07 · PDF p 3; winner/runner-up table\nNampally / 2023 election"], ["F10 · Verified fact", "Yakutpura, 2023: winner 46,153; runner-up 45,275; margin 878 votes.", "S07 · PDF p 3; winner/runner-up table\nYakutpura / 2023 election"]]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[["F11 · Verified fact", "Chandrayangutta, 2023: winner 99,776; runner-up 18,116; margin 81,660 votes.", "S07 · PDF p 3; winner/runner-up table\nChandrayangutta / 2023 election"], ["F12 · Verified fact", "Malkajgiri, 2024 Lok Sabha: Eatala Rajender (BJP) led with 991,042 votes; runner-up 599,567.", "S08 · p 580\nMalkajgiri / 2024 election"], ["F13 · Verified fact", "Secunderabad, 2024 Lok Sabha: G.Kishan Reddy (BJP) led with 473,012 votes; runner-up 423,068.", "S08 · p 581\nSecunderabad / 2024 election"], ["F14 · Verified fact", "Hyderabad, 2024 Lok Sabha: Asaduddin Owaisi (AIMIM) led with 661,981 votes; runner-up 323,894.", "S08 · p 583\nHyderabad / 2024 election"], ["F15 · Verified fact", "Chevella, 2024 Lok Sabha: Konda Vishweshwar Reddy (BJP) led with 809,882 votes; runner-up 636,985.", "S08 · p 585\nChevella / 2024 election"]]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[["F16 · Verified fact", "First Telangana Assembly as of 2 June 2014: TRS 63, INC 21, out of 119.", "S16 · Printed 410/PDF 63\nTelangana / 2014-06-02"], ["F17 · Reported historical fact", "Contemporaneous 2018 reporting recorded TRS 88 and INC 19 Assembly seats.", "S17,S18 · Updated results paragraphs\nTelangana / 2018-12-12"], ["F18 · Reported historical fact", "Published 2016 GHMC recap: TRS 99, AIMIM 44, BJP 4, INC 2, TDP 1.", "S19,S20 · Numerical result paragraphs\nGHMC 2016 footprint / 2016 election"], ["F19 · Reported historical fact", "Post-Neredmet 2020 reporting: TRS 56, BJP 48, AIMIM 44, INC 2.", "S21,S22 · Results paragraphs; final Neredmet result\nGHMC 2020 footprint / 2020-12-10"], ["F20 · Reported event", "Congress candidate V.Naveen Yadav won the November 2025 Jubilee Hills by-election, according to corroborated reporting.", "S23,S24 · Winner reports\nJubilee Hills / 2025-11-14"]]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[["F21 · Verified fact", "2026–27 BE: H-CITY assistance to CURE ₹2,654 crore.", "S09,S10 · Table 10 PDF 16\nCURE allocation / FY 2026–27"], ["F22 · Verified fact", "2026–27 BE: Musi Riverfront development ₹1,500 crore.", "S09 · Table 10 PDF 16\nScheme allocation / FY 2026–27"], ["F23 · Verified fact", "2026–27 BE: loans to HMWSSB for development ₹1,450 crore.", "S09 · Table 10 PDF 16\nScheme allocation / FY 2026–27"], ["F24 · Verified fact", "2026–27 BE: Metro Rail Phase II ₹600 crore.", "S09 · Table 10 PDF 17\nScheme allocation / FY 2026–27"], ["F25 · Verified fact", "2026–27 BE: loans to HMRL ₹500 crore.", "S09 · Table 10 PDF 17\nScheme allocation / FY 2026–27"]]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[["F26 · Verified fact", "2026–27 BE: 20 KL free-water reimbursement to HMWSSB ₹300 crore.", "S09 · Table 10 PDF 17\nScheme allocation / FY 2026–27"], ["F27 · Verified fact", "State capital expenditure: 2025–26 RE ₹36,480.87 crore; 2026–27 BE ₹47,267.28 crore.", "S09,S10 · Table 4 PDF 4\nTelangana / FY 2025–26 RE and 2026–27 BE"], ["F28 · Derived statistic", "Nominal state capex BE/RE increase is 29.57%, rounded 29.6%.", "S09 · Derived from F27\nTelangana / FY 2026–27"], ["F29 · Verified fact", "State 2026–27 BE: Indiramma Houses ₹5,500 crore; Mahalaxmi RTC ₹4,305 crore; Rajiv Aarogya Sri ₹1,143 crore.", "S09 · Table 10 PDF 15\nTelangana / FY 2026–27"], ["F30 · Agency objectives", "MRDCL describes Musi vision in terms of ecological restoration, sewage interception/treatment, floodplain zones and mobility/livelihoods.", "S11 · Vision\nMusi project / Retrieved 2026-10-08"]]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[["F31 · Official statement", "At the 13 March 2026 Musi conference, the CM addressed compensation and livelihood concerns associated with relocation.", "S12 · English compensation/livelihood paragraphs\nMusi PhaseI / 2026-03-13"], ["F32 · Official sector description", "State investment portal identifies Genome Valley at Shamirpet and electronics manufacturing clusters.", "S14 · Industrial-parks section\nNamed locations / Telangana / Retrieved 2026-10-08"], ["F33 · Verified fact", "BuildNow lists GO 68 dated 12 March 2025 for expansion of HMR and GO 69 for FCDA.", "S04 · GO 68/69 entries\nPlanning instruments / 2025-03-12"], ["F34 · Candidate self-report", "Candidate resume lists MBA, IIM Shillong, 2023–25; Consultant Marketing and Strategy at Nation With Namo, May 2025–Apr 2026.", "S25 · Education/workExperience\nCandidate / CV periods"], ["F35 · Candidate self-report", "Candidate resume reports introducing an evidence-based review system for a seven-person political-intelligence team.", "S25 · workExperience bullet 3\nCandidate work / 2025–26"]]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[["F36 · Candidate self-report", "Candidate resume reports modelling Meghalaya PDS and analysing 4,500+government records.", "S25 · Projects, Jul–Sep 2024\nMeghalaya project / 2024"], ["F37 · Candidate self-report", "Candidate resume lists manashdeori 09@gmail.com, LinkedIn/manash-protim-deori and openness to relocation.", "S25 · Header\nCandidate / Retrieved 2026-10-08"]]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"S01", "title": "About us and six work verticals", "publisher": "Inclusive Minds", "url": "https://www.inclusiveminds.in/", "locator": "About Us; Our Work", "publication_date": "Undated; retrieved 2026-10-08", "retrieved": "2026-10-08", "lineage": "Employer", "limitation": "Self-description; not independent evidence of effectiveness."}, {"id": "S02", "title": "Generalist hiring post: Hyderabad, on-site", "publisher": "Inclusive Minds", "url": "https://www.linkedin.com/posts/inclusive-minds-ind_hiring-generalist-politicalconsulting-activity-7495111990261252096-TM 4 l", "locator": "Employer-authored post text", "publication_date": "Undated public post", "retrieved": "2026-10-08", "lineage": "Employer", "limitation": "Exact vacancy supplied by applicant is absent; current acceptance of applications not confirmed."}, {"id": "S03", "title": "G.O.Ms.No.55: CURE reorganisation", "publisher": "Government of Telangana, MAUD", "url": "https://tg-bn-website-assets.flowwlabs.tech/GOs-and-ACTs/GO.Ms.No.55_11-02-2026.pdf", "locator": "PDF pp.1–2; operative paragraphs 2–3", "publication_date": "2026-02-11", "retrieved": "2026-10-08", "lineage": "Government order", "limitation": "Read through the official BuildNow listing S04. Boundary allocation is by zone; this deck supplies no GIS polygons."}]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"S04", "title": "Government Orders and Acts", "publisher": "Government of Telangana, BuildNow", "url": "https://buildnow.telangana.gov.in/go-and-act/", "locator": "GO 55, GO 45, GO 16, GO 68 and GO 69 entries", "publication_date": "Orders dated 2025–2026", "retrieved": "2026-10-08", "lineage": "Government order index", "limitation": "Listing proves instrument/date only; unread instruments are not treated as proof of full legal effect."}, {"id": "S05", "title": "About the Agency", "publisher": "HYDRAA, Government of Telangana", "url": "https://hydraa.telangana.gov.in/about", "locator": "About HYDRAA; Jurisdictional Coverage; Functional Wings", "publication_date": "Undated current page", "retrieved": "2026-10-08", "lineage": "Agency", "limitation": "Mandate description is not evidence of case-specific legality, environmental outcomes or public approval."}, {"id": "S06", "title": "Performance of Political Parties: Telangana 2023", "publisher": "Election Commission of India", "url": "https://www.eci.gov.in/eci-backend/public/all_files/full-statistical-reports/telangana/2023/Performance_of_Political_Parties.pdf", "locator": "PDF pp.1–3; WON column", "publication_date": "2023 Assembly election; report undated", "retrieved": "2026-10-08", "lineage": "ECI 2023", "limitation": "Historical election-time affiliation; BHRS normalised to BRS for presentation."}]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"S07", "title": "List of Successful Candidates: Telangana 2023", "publisher": "Election Commission of India", "url": "https://www.eci.gov.in/eci-backend/public/all_files/full-statistical-reports/telangana/2023/List_of_Successful_Candidates.pdf", "locator": "PDF pp.2–3; AC 57–71 and winner/runner-up columns", "publication_date": "2023 Assembly election; report undated", "retrieved": "2026-10-08", "lineage": "ECI 2023", "limitation": "AC 57–71 is an explicitly selected 15-seat study set, not the entire metropolis or current municipal footprint."}, {"id": "S08", "title": "Constituency-wise Detailed Results: 2024 Lok Sabha", "publisher": "Election Commission of India", "url": "https://www.eci.gov.in/eci-backend/public/all_files/GE-2024-statistical-report/33-Constituency-Wise-Detailed-Result.pdf", "locator": "Printed pp.580,581,583,585; four selected PCs", "publication_date": "2024 Lok Sabha election; report undated", "retrieved": "2026-10-08", "lineage": "ECI 2024", "limitation": "Four selected constituencies have different boundaries from AC 57–71. No aggregate metropolitan vote share calculated."}, {"id": "S09", "title": "Budget in Brief: 2026–27", "publisher": "Government of Telangana, Finance Department", "url": "https://www.telangana.gov.in/wp-content/uploads/2026/05/Budget-in-Brief.pdf", "locator": "Table 4, PDF p.4; Table 10, PDF pp.15–17", "publication_date": "2026–27 budget; posted May 2026", "retrieved": "2026-10-08", "lineage": "State budget", "limitation": "BE=budget estimate; RE=revised estimate. Allocation does not prove sanction, release, expenditure or delivery."}]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"S10", "title": "Telangana Budget Analysis 2026–27", "publisher": "PRS Legislative Research", "url": "https://prsindia.org/budgets/states/telangana-budget-analysis-2026-27", "locator": "Expenditure and urban-development tables", "publication_date": "2026–27 budget analysis", "retrieved": "2026-10-08", "lineage": "PRS analysis of state budget", "limitation": "Independent analytical scrutiny, but budget totals share upstream state documents. PRS net expenditure definition differs from headline gross budget."}, {"id": "S11", "title": "Vision / Mission", "publisher": "Musi Riverfront Development Corporation", "url": "https://musi.telangana.gov.in/VisionMusi.aspx", "locator": "Vision paragraphs", "publication_date": "Undated; current page", "retrieved": "2026-10-08", "lineage": "MRDCL", "limitation": "Objectives only. Its promised sustainability outcomes are not independently verified achievements."}, {"id": "S12", "title": "Musi Invites: Phase I presentation", "publisher": "Government of Telangana, TG Digital Media", "url": "https://www.telangana.gov.in/news/press-releases/2026/03/honble-cm-sri-a-revanth-reddy-participated-in-musi-invites-a-presentation-on-musi-river-rejuvenation-phase-i-by-mrdcl-in-hyderabad/", "locator": "English text: compensation and livelihood concerns; concluding presentation description", "publication_date": "Event 2026-03-13; page 2026-03-16", "retrieved": "2026-10-08", "lineage": "Government press release", "limitation": "Official statements demonstrate stated commitments and acknowledged concerns; household counts and cost forecasts excluded."}]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"S13", "title": "Musi project tenders", "publisher": "MRDCL", "url": "https://musi.telangana.gov.in/Tenders.aspx", "locator": "Tender listings", "publication_date": "Listing dates vary", "retrieved": "2026-10-08", "lineage": "MRDCL procurement", "limitation": "Discovery source only; not used to assert current award, construction or completion status."}, {"id": "S14", "title": "Invest Telangana portal", "publisher": "Government of Telangana investment portal", "url": "https://invest.telangana.gov.in/", "locator": "Industrial parks; Genome Valley at Shamirpet; electronics clusters", "publication_date": "Undated; current page", "retrieved": "2026-10-08", "lineage": "Investment promotion", "limitation": "Promotional source used for cluster identification only. Export, GDP and jobs claims are not ingested."}, {"id": "S15", "title": "Moosarambagh bridge event and corporation logos", "publisher": "Government of Telangana, TG Digital Media", "url": "https://www.telangana.gov.in/news/press-releases/2026/08/honble-cm-sri-a-revanth-reddy-addresses-the-public-meeting-at-ghmc-sports-stadium-amberpet-hyderabad-following-the-inauguration-of-the-moosarambagh-high-level-bridge/", "locator": "English text, paragraph on three corporation logos", "publication_date": "Event 2026-08-31; page 2026-09-01", "retrieved": "2026-10-08", "lineage": "Government press release", "limitation": "Later corroboration of the three corporation names; not independent of state government."}]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"S16", "title": "Journal of Parliamentary Information, September 2014", "publisher": "Lok Sabha Secretariat", "url": "https://eparlib.sansad.in/bitstream/123456789/58523/1/JPI_September_2014.pdf", "locator": "Printed p.410 / PDF p.63; first Telangana Assembly", "publication_date": "2014-09; reference 2014-06-02", "retrieved": "2026-10-08", "lineage": "Parliamentary record", "limitation": "First Assembly party position as of 2 June 2014; not current legislative strength."}, {"id": "S17", "title": "Telangana Assembly polls: TRS wins", "publisher": "Scroll", "url": "https://scroll.in/latest/905254/telangana-assembly-polls-counting-of-votes-in-three-way-contest-set-to-begin-at-8-am", "locator": "Updated article paragraph below party table", "publication_date": "2018-12-12", "retrieved": "2026-10-08", "lineage": "Newsroom citing ECI", "limitation": "2018 TRS 88/INC 19 historical context only. Table total has an internal leading-seat inconsistency; full statewide reconstruction not used."}, {"id": "S18", "title": "2018 Telangana complete winners", "publisher": "The Times of India", "url": "https://timesofindia.indiatimes.com/city/hyderabad/telangana-election-results-2018-complete-list-of-winning-candidates-in-telangana/articleshow/67055845.cms", "locator": "Opening results paragraph", "publication_date": "2018-12-12", "retrieved": "2026-10-08", "lineage": "Newsroom citing election results", "limitation": "Corroborates S17; not an independent official election record."}]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"S19", "title": "Hyderabad civic body voting: 2016 recap", "publisher": "NDTV, Uma Sudhir", "url": "https://www.ndtv.com/telangana-news/after-a-bitter-campaign-voting-begins-for-hyderabad-civic-body-polls-2332363", "locator": "Paragraph beginning A total of 1,122 candidates", "publication_date": "2020-12-01", "retrieved": "2026-10-08", "lineage": "NDTV reporting", "limitation": "2016 historical seat table is reported, not a newly ingested TSEC dataset."}, {"id": "S20", "title": "GHMC 2016 result report", "publisher": "PTI / The New Indian Express", "url": "https://www.newindianexpress.com/amp/story/cities/hyderabad/2016/Feb/06/ghmc-polls-sops-for-poor-seemandhra-candidates-key-in-trs-win-889293.html", "locator": "Results paragraphs: 99/150; Congress 2; TDP 1/BJP 4; MIM 44", "publication_date": "2016-02-06", "retrieved": "2026-10-08", "lineage": "PTI wire", "limitation": "Only numerical result used; causal claims about communities in the article are excluded."}, {"id": "S21", "title": "Week after GHMC results: mayor question", "publisher": "The Indian Express, Rahul V Pisharody", "url": "https://indianexpress.com/article/cities/hyderabad/ghmc-results-hyderabad-mayor-7104860/", "locator": "Results paragraphs: TRS 56, AIMIM 44, BJP 48", "publication_date": "2020-12-14", "retrieved": "2026-10-08", "lineage": "Indian Express reporting", "limitation": "Historical council only. Article dated after Neredmet result; legal rules in 2020 not assumed current."}]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"S22", "title": "Neredmet final result takes TRS tally to 56", "publisher": "The Tribune, Naveen S Garewal", "url": "https://www.tribuneindia.com/news/nation/trs-wins-neredmet-ghmc-division-takes-its-tally-to-56-182436/", "locator": "Final paragraph: 56,48,44,2; Neredmet timing", "publication_date": "2020-12-11", "retrieved": "2026-10-08", "lineage": "Tribune reporting", "limitation": "Reconciles earlier incomplete tally 55. Direct current TSEC table was inaccessible in this run."}, {"id": "S23", "title": "Jubilee Hills bypoll result", "publisher": "The Economic Times", "url": "https://m.economictimes.com/news/politics-and-nation/jubilee-hills-bypoll-result-2025-in-l-deepak-reddy-vs-sunita-vs-naveen-yadav-check-who-is-winning/articleshow/125315450.cms", "locator": "Winner report", "publication_date": "2025-11-14", "retrieved": "2026-10-08", "lineage": "Economic Times reporting", "limitation": "Winner only used. Vote totals conflict with another live report and are excluded."}, {"id": "S24", "title": "Jubilee Hills bypoll winner live report", "publisher": "The Times of India", "url": "https://timesofindia.indiatimes.com/city/hyderabad/assembly-bypoll-result-2025-live-updates-by-election-results-jubilee-hills-budgam-nagrota-anta-ghatshila-tarn-taran-dampa-nuapada/liveblog/125313066.cms", "locator": "13:18 IST winner update", "publication_date": "2025-11-14", "retrieved": "2026-10-08", "lineage": "TOI live reporting", "limitation": "Same corporate group as S23, different report; final vote totals conflict. Winner corroborated, official final Form 20 still requested."}]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[{"id": "S25", "title": "Portfolio resume data", "publisher": "Manash Protim Deori", "url": "https://github.com/ManashProtimDeori/Manash-Protim-Deori/blob/main/src/data/resume.ts", "locator": "workExperience, projects, education and header", "publication_date": "Repository read 2026-10-08", "retrieved": "2026-10-08", "lineage": "Candidate self-report", "limitation": "Owner-controlled resume, not independent verification. No claim to Telugu/Urdu fluency, Hyderabad fieldwork or hiring endorsement."}]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[["v01 · Scope, vacancy and candidate inputs", "Created 32-slide full draft, candidate inputs, research cut-off and unresolved vacancy register."], ["v02 · Geography and institutional definitions", "Installed GO 55 zone allocations and separated electoral, municipal and planning units; removed fictitious map."], ["v03 · Source collection and provenance", "Added five-gate method, source hierarchy, source-lineage disclosure and source accessibility limitations."], ["v04 · Election data integrity", "Inserted historical civic table, primary Assembly study-set count and four separate parliamentary records; recalculated totals/margins."]]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[["v05 · Historical context", "Added selective 2014/2018/2020/2023/2026 timeline, labelled reported legacy context and avoided voter-transfer claims."], ["v06 · Current actors and legal status", "Replaced current-strength implications with election-time affiliation and reported 2025 winner; current legal roster remains a named gap."], ["v07 · Governance and responsibility", "Mapped documented agency roles and inserted coordination scaffold without asserting proven institutional failure."], ["v08 · Political economy", "Added cluster/access distinction; excluded city GDP, unemployment, housing-price and demographic estimates without correct-scope data."]]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[["v09 · Public services and fiscal evidence", "Inserted actual BE/RE amounts, separate transport instruments, statewide welfare scope and plan-to-revised-plan capex arithmetic."], ["v10 · Live policy case studies", "Added Musi and HYDRAA briefs with objective/commitment/mandate distinctions; kept implementation and legal outcomes unknown."], ["v11 · Causality and competing explanations", "Tested causal overreach across deck; added executive synthesis and two alternative explanations for major election/governance conclusions."], ["v12 · Media, language and qualitative evidence", "Added source/translation/representativeness discipline and known/disputed/unknown queue; rejected social-media-as-public-opinion logic."]]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[["v13 · Recommendation feasibility", "Produced budget tracker baseline; ranked research tasks using decision dependency and specified owners, dependencies, measures and fallback."], ["v14 · Immediate candidate contribution", "Audited every major finding/proposal for adjacent contribution; replaced generic contribution drafts with concrete proposed deliverables."], ["v15 · CV truthfulness and role fit", "Added role fit and self-reportedCV evidence; removed unsupported language fluency, Hyderabad experience and independently audited impact."], ["v16 · 30/60/90-day realism", "Added sequential 30/60/90-day outputs and resource assumptions; bounded qualitative pilot and prevented invented performance guarantees."]]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[["v17 · Narrative and executive compression", "Completed operating system and closing proposition; checked flow from evidence to work product and removed repeated claims from notes."], ["v18 · Adversarial review", "Adversarially reviewed conflicting bypoll totals, 2020 incomplete tally, H-CITY label and boundary selection; recorded excluded claims and title limits."], ["v19 · Full traceability and five-gate closure", "Closed all substantive-ID mappings; generated atomic fact, inference, proposal, contribution and source ledgers plus reproducible tables."], ["v20 · Final currency and presentation readiness", "Refreshed source snapshot/date boundaries, verified final sequence and all 32 main slides, retained residual uncertainties and released contentv 20."]]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[["2025 Jubilee totals", "Conflicting reports: 98,988/74,259 vs 99,120/74,462. Excluded quantitative comparison; obtain authoritative finalForm 20. S23/S24."], ["2020 GHMC count", "Early TRS 55 tally predates final Neredmet. Use later 56/48/44/2 reporting, labelled historical. S21/S22."], ["State/city confusion", "State vote share is not Jubilee Hills vote share. No state GDP or statewide service coverage relabelled Hyderabad."], ["Mandate/outcome confusion", "GO 55 and HYDRAA remit do not prove service gains, legal fairness or environmental improvements."], ["Candidate overclaim", "CV is self-report; no invented local fluency, local network, audited delivery impact or hiring endorsement."]]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[["Desk-first baseline", "Assume 10 focused research hours/week. If workload is lower, reduce brief count; preserve source standards."], ["Field access", "If permissions/language support exist, pilot 5–8 interviews. If denied, publish documentary gaps; no qualitative percentages."], ["Delivery scenario", "If outcome records improve, deepen service analysis. If unavailable, distinguish official claims from verified milestones."], ["Boundary/status change", "If a newer notification alters scope, retire crosswalk and rerun affected comparisons before publication."], ["Learning gap", "Supervisor-supported Hyderabad orientation and qualified Telugu/Urdu review; no fluency implied."]]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[["Hiring team", "Exact requisition, current open status, reporting line and expected work products."], ["TSEC / corporations", "Official current civic poll notification, ward polygons, commissioners/elected roster and legal status."], ["ECI / CEO", "Final 2025 JubileeForm 20; direct legacy 2016/2020 TSEC files for dataset ingestion."], ["Scheme agencies", "Current sanctions, releases, awards, spend, completion, environmental and household safeguards."], ["Research lead", "Consent, access, languages, survey method and data governance before primary research."]]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3f579ee6e41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9a98fea1546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30cac187141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02968caad4a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5e0c2209242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43e1500384c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E4B509-738F-44BF-990E-1E510C940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2B0777-953D-423B-89C8-2BD2EDFFBB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B26115-82D2-4D7C-BA3A-5B04C42B9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1DE2E9-7FA1-4220-84E7-21519F641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376A4C-B673-4064-B513-006FFCD25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CE946F-6BCE-424C-A549-BEF4C2B72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B03D20-813C-47C5-A269-8138EB43D5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14C70C-F84A-4BF2-AFFD-99CEA8E3D2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12CB7-2074-4FDA-B02D-030757354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DC2BDF-3D73-41BF-A3A2-BDFA0F017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c4287a87445a3" /><Relationship Type="http://schemas.openxmlformats.org/officeDocument/2006/relationships/slideLayout" Target="/ppt/slideLayouts/slideLayout1.xml" Id="R666fe0a7bff74f97" /><Relationship Type="http://schemas.openxmlformats.org/officeDocument/2006/relationships/slideLayout" Target="/ppt/slideLayouts/slideLayout2.xml" Id="R26dc4744d68f4fe8" /><Relationship Type="http://schemas.openxmlformats.org/officeDocument/2006/relationships/slideLayout" Target="/ppt/slideLayouts/slideLayout3.xml" Id="R1e71301f0b424133" /><Relationship Type="http://schemas.openxmlformats.org/officeDocument/2006/relationships/slideLayout" Target="/ppt/slideLayouts/slideLayout4.xml" Id="R67628d9db9c34e57" /><Relationship Type="http://schemas.openxmlformats.org/officeDocument/2006/relationships/slideLayout" Target="/ppt/slideLayouts/slideLayout5.xml" Id="R93c2fec6337e4fbd" /><Relationship Type="http://schemas.openxmlformats.org/officeDocument/2006/relationships/slideLayout" Target="/ppt/slideLayouts/slideLayout6.xml" Id="R6f523729e812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fe0a7bff74f97"/>
    <p:sldLayoutId xmlns:r="http://schemas.openxmlformats.org/officeDocument/2006/relationships" id="2147483650" r:id="R26dc4744d68f4fe8"/>
    <p:sldLayoutId xmlns:r="http://schemas.openxmlformats.org/officeDocument/2006/relationships" id="2147483651" r:id="R1e71301f0b424133"/>
    <p:sldLayoutId xmlns:r="http://schemas.openxmlformats.org/officeDocument/2006/relationships" id="2147483652" r:id="R67628d9db9c34e57"/>
    <p:sldLayoutId xmlns:r="http://schemas.openxmlformats.org/officeDocument/2006/relationships" id="2147483653" r:id="R93c2fec6337e4fbd"/>
    <p:sldLayoutId xmlns:r="http://schemas.openxmlformats.org/officeDocument/2006/relationships" id="2147483654" r:id="R6f523729e812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a657d30834726" /><Relationship Type="http://schemas.openxmlformats.org/officeDocument/2006/relationships/image" Target="/ppt/media/image.png" Id="R77231e454f004ef7" /><Relationship Type="http://schemas.openxmlformats.org/officeDocument/2006/relationships/notesSlide" Target="/ppt/notesSlides/notesSlide1.xml" Id="R665d5fb5fb70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5d7ef17394515" /><Relationship Type="http://schemas.openxmlformats.org/officeDocument/2006/relationships/notesSlide" Target="/ppt/notesSlides/notesSlide2.xml" Id="Rb83e1b1cd25749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015dba91045bd" /><Relationship Type="http://schemas.openxmlformats.org/officeDocument/2006/relationships/notesSlide" Target="/ppt/notesSlides/notesSlide3.xml" Id="R36f3510817ad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fa97e90124c2d" /><Relationship Type="http://schemas.openxmlformats.org/officeDocument/2006/relationships/notesSlide" Target="/ppt/notesSlides/notesSlide4.xml" Id="R1f70cff26a1643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fa31154c44f9e" /><Relationship Type="http://schemas.openxmlformats.org/officeDocument/2006/relationships/notesSlide" Target="/ppt/notesSlides/notesSlide5.xml" Id="R86f0e869256946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21bb4f9c6459e" /><Relationship Type="http://schemas.openxmlformats.org/officeDocument/2006/relationships/notesSlide" Target="/ppt/notesSlides/notesSlide6.xml" Id="R7fa6086f0b7a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195f4d6b24828" /><Relationship Type="http://schemas.openxmlformats.org/officeDocument/2006/relationships/notesSlide" Target="/ppt/notesSlides/notesSlide7.xml" Id="R3ef3391b99fa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38bd7180b47a7" /><Relationship Type="http://schemas.openxmlformats.org/officeDocument/2006/relationships/chart" Target="/ppt/slides/charts/chart1.xml" Id="Rf7664d9ac0e94a12" /><Relationship Type="http://schemas.openxmlformats.org/officeDocument/2006/relationships/notesSlide" Target="/ppt/notesSlides/notesSlide8.xml" Id="R3d5842799ad24f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acaeab13b480c" /><Relationship Type="http://schemas.openxmlformats.org/officeDocument/2006/relationships/notesSlide" Target="/ppt/notesSlides/notesSlide9.xml" Id="Rcd770704f7db4e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3494f5e0540fb" /><Relationship Type="http://schemas.openxmlformats.org/officeDocument/2006/relationships/notesSlide" Target="/ppt/notesSlides/notesSlide10.xml" Id="R64a0e74f50bb4a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92fd748f74140" /><Relationship Type="http://schemas.openxmlformats.org/officeDocument/2006/relationships/chart" Target="/ppt/slides/charts/chart2.xml" Id="R31d543fe6e814d8d" /><Relationship Type="http://schemas.openxmlformats.org/officeDocument/2006/relationships/notesSlide" Target="/ppt/notesSlides/notesSlide11.xml" Id="Rff4558a72a374d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1d2dc08874c90" /><Relationship Type="http://schemas.openxmlformats.org/officeDocument/2006/relationships/notesSlide" Target="/ppt/notesSlides/notesSlide12.xml" Id="R1e8809753d3644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abe1caabf47d7" /><Relationship Type="http://schemas.openxmlformats.org/officeDocument/2006/relationships/notesSlide" Target="/ppt/notesSlides/notesSlide13.xml" Id="R984a686615484a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0d6928a9744a6" /><Relationship Type="http://schemas.openxmlformats.org/officeDocument/2006/relationships/notesSlide" Target="/ppt/notesSlides/notesSlide14.xml" Id="R06f82188143442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94d757c414593" /><Relationship Type="http://schemas.openxmlformats.org/officeDocument/2006/relationships/notesSlide" Target="/ppt/notesSlides/notesSlide15.xml" Id="R2404ca6fa9a041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21acc10b64878" /><Relationship Type="http://schemas.openxmlformats.org/officeDocument/2006/relationships/notesSlide" Target="/ppt/notesSlides/notesSlide16.xml" Id="R6a77112222a84b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2a11774444c49" /><Relationship Type="http://schemas.openxmlformats.org/officeDocument/2006/relationships/notesSlide" Target="/ppt/notesSlides/notesSlide17.xml" Id="R09f370b0884b48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67675ec1e46b0" /><Relationship Type="http://schemas.openxmlformats.org/officeDocument/2006/relationships/chart" Target="/ppt/slides/charts/chart3.xml" Id="R9caac3db6d664db9" /><Relationship Type="http://schemas.openxmlformats.org/officeDocument/2006/relationships/notesSlide" Target="/ppt/notesSlides/notesSlide18.xml" Id="Reb024a32610740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6dabea8124c51" /><Relationship Type="http://schemas.openxmlformats.org/officeDocument/2006/relationships/notesSlide" Target="/ppt/notesSlides/notesSlide19.xml" Id="R16a3d920131d48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10bca96fc4927" /><Relationship Type="http://schemas.openxmlformats.org/officeDocument/2006/relationships/notesSlide" Target="/ppt/notesSlides/notesSlide20.xml" Id="R64a48d4829394d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b77fda82b4e2b" /><Relationship Type="http://schemas.openxmlformats.org/officeDocument/2006/relationships/notesSlide" Target="/ppt/notesSlides/notesSlide21.xml" Id="Rcd7b26fd0d9240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77efe8ad94de2" /><Relationship Type="http://schemas.openxmlformats.org/officeDocument/2006/relationships/notesSlide" Target="/ppt/notesSlides/notesSlide22.xml" Id="R23323d7493694c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7baf804d7467e" /><Relationship Type="http://schemas.openxmlformats.org/officeDocument/2006/relationships/notesSlide" Target="/ppt/notesSlides/notesSlide23.xml" Id="R6a585873783441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09bace9484384" /><Relationship Type="http://schemas.openxmlformats.org/officeDocument/2006/relationships/notesSlide" Target="/ppt/notesSlides/notesSlide24.xml" Id="R20afd59314224d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7198a5f00492c" /><Relationship Type="http://schemas.openxmlformats.org/officeDocument/2006/relationships/notesSlide" Target="/ppt/notesSlides/notesSlide25.xml" Id="R3ba63679b30447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4a1968e2948d3" /><Relationship Type="http://schemas.openxmlformats.org/officeDocument/2006/relationships/notesSlide" Target="/ppt/notesSlides/notesSlide26.xml" Id="Rb72698b55bdd44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0782d665a4d0f" /><Relationship Type="http://schemas.openxmlformats.org/officeDocument/2006/relationships/notesSlide" Target="/ppt/notesSlides/notesSlide27.xml" Id="R5944e2192aea4d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3b909cccf4297" /><Relationship Type="http://schemas.openxmlformats.org/officeDocument/2006/relationships/notesSlide" Target="/ppt/notesSlides/notesSlide28.xml" Id="Rb82f75365ff54e5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c4b6c1e6b4f51" /><Relationship Type="http://schemas.openxmlformats.org/officeDocument/2006/relationships/notesSlide" Target="/ppt/notesSlides/notesSlide29.xml" Id="Rd6f0bb4f274b4c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5ca37dc3745d8" /><Relationship Type="http://schemas.openxmlformats.org/officeDocument/2006/relationships/notesSlide" Target="/ppt/notesSlides/notesSlide30.xml" Id="R320755a6054d431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c5018e6b24bc9" /><Relationship Type="http://schemas.openxmlformats.org/officeDocument/2006/relationships/notesSlide" Target="/ppt/notesSlides/notesSlide31.xml" Id="R2b46b9780f8f4ed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95b302df84da2" /><Relationship Type="http://schemas.openxmlformats.org/officeDocument/2006/relationships/hyperlink" Target="mailto:manashdeori09@gmail.com" TargetMode="External" Id="R97f7f0f855594f3b" /><Relationship Type="http://schemas.openxmlformats.org/officeDocument/2006/relationships/hyperlink" Target="https://linkedin.com/in/manash-protim-deori" TargetMode="External" Id="R0ee686817b854ec1" /><Relationship Type="http://schemas.openxmlformats.org/officeDocument/2006/relationships/notesSlide" Target="/ppt/notesSlides/notesSlide32.xml" Id="Rb4b4c25d2d0741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f9c3cb944600" /><Relationship Type="http://schemas.openxmlformats.org/officeDocument/2006/relationships/notesSlide" Target="/ppt/notesSlides/notesSlide33.xml" Id="Rd7067265b7f6492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0a96bede04858" /><Relationship Type="http://schemas.openxmlformats.org/officeDocument/2006/relationships/notesSlide" Target="/ppt/notesSlides/notesSlide34.xml" Id="R92744bdefa3348a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bd57b645e4449" /><Relationship Type="http://schemas.openxmlformats.org/officeDocument/2006/relationships/notesSlide" Target="/ppt/notesSlides/notesSlide35.xml" Id="R064f63fa504647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b256091584786" /><Relationship Type="http://schemas.openxmlformats.org/officeDocument/2006/relationships/notesSlide" Target="/ppt/notesSlides/notesSlide36.xml" Id="R519ef75786b5414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afe576f324a9f" /><Relationship Type="http://schemas.openxmlformats.org/officeDocument/2006/relationships/notesSlide" Target="/ppt/notesSlides/notesSlide37.xml" Id="R4f2870d19c7743d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7003808504fc6" /><Relationship Type="http://schemas.openxmlformats.org/officeDocument/2006/relationships/notesSlide" Target="/ppt/notesSlides/notesSlide38.xml" Id="R9807cc49b02d45c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bec56b2014ee1" /><Relationship Type="http://schemas.openxmlformats.org/officeDocument/2006/relationships/notesSlide" Target="/ppt/notesSlides/notesSlide39.xml" Id="R1b1f237da085423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96c16f7484944" /><Relationship Type="http://schemas.openxmlformats.org/officeDocument/2006/relationships/notesSlide" Target="/ppt/notesSlides/notesSlide40.xml" Id="R5bebe97e1248457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10e22182b458c" /><Relationship Type="http://schemas.openxmlformats.org/officeDocument/2006/relationships/notesSlide" Target="/ppt/notesSlides/notesSlide41.xml" Id="Raa42251598774de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7e72f85c9472d" /><Relationship Type="http://schemas.openxmlformats.org/officeDocument/2006/relationships/notesSlide" Target="/ppt/notesSlides/notesSlide42.xml" Id="Red2670faaa214cf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f0407e8a24146" /><Relationship Type="http://schemas.openxmlformats.org/officeDocument/2006/relationships/notesSlide" Target="/ppt/notesSlides/notesSlide43.xml" Id="R52cd3f28d66146c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de44e696d46d4" /><Relationship Type="http://schemas.openxmlformats.org/officeDocument/2006/relationships/notesSlide" Target="/ppt/notesSlides/notesSlide44.xml" Id="R3dfc39bbe8594d7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552c10379441c" /><Relationship Type="http://schemas.openxmlformats.org/officeDocument/2006/relationships/notesSlide" Target="/ppt/notesSlides/notesSlide45.xml" Id="R4be89e4acaab49f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9c05109f04e7f" /><Relationship Type="http://schemas.openxmlformats.org/officeDocument/2006/relationships/notesSlide" Target="/ppt/notesSlides/notesSlide46.xml" Id="R2a8b8a38125b4cc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f8898924148ae" /><Relationship Type="http://schemas.openxmlformats.org/officeDocument/2006/relationships/notesSlide" Target="/ppt/notesSlides/notesSlide47.xml" Id="R913399b47a1b446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f1cd49be84572" /><Relationship Type="http://schemas.openxmlformats.org/officeDocument/2006/relationships/notesSlide" Target="/ppt/notesSlides/notesSlide48.xml" Id="R95cdac546670433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682859e7646c3" /><Relationship Type="http://schemas.openxmlformats.org/officeDocument/2006/relationships/notesSlide" Target="/ppt/notesSlides/notesSlide49.xml" Id="Rd357e8b5da53468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705fea42140ef" /><Relationship Type="http://schemas.openxmlformats.org/officeDocument/2006/relationships/notesSlide" Target="/ppt/notesSlides/notesSlide50.xml" Id="R512d50bc5f94445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8af6cfab14773" /><Relationship Type="http://schemas.openxmlformats.org/officeDocument/2006/relationships/notesSlide" Target="/ppt/notesSlides/notesSlide51.xml" Id="R22cccad58fd945e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7d86f8c15462c" /><Relationship Type="http://schemas.openxmlformats.org/officeDocument/2006/relationships/notesSlide" Target="/ppt/notesSlides/notesSlide52.xml" Id="Rd7bc3eb5487245b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5797d9cc94c17" /><Relationship Type="http://schemas.openxmlformats.org/officeDocument/2006/relationships/notesSlide" Target="/ppt/notesSlides/notesSlide53.xml" Id="Rc979ab79f3ca480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193992cfe4f35" /><Relationship Type="http://schemas.openxmlformats.org/officeDocument/2006/relationships/notesSlide" Target="/ppt/notesSlides/notesSlide54.xml" Id="R8400e1b4c65140b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a762a9f4d4067" /><Relationship Type="http://schemas.openxmlformats.org/officeDocument/2006/relationships/notesSlide" Target="/ppt/notesSlides/notesSlide55.xml" Id="Rddbf377c2e2d433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f16b507c6434f" /><Relationship Type="http://schemas.openxmlformats.org/officeDocument/2006/relationships/notesSlide" Target="/ppt/notesSlides/notesSlide56.xml" Id="Ra51fa87bd9c047f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8b17c00984627" /><Relationship Type="http://schemas.openxmlformats.org/officeDocument/2006/relationships/notesSlide" Target="/ppt/notesSlides/notesSlide57.xml" Id="R84c1be9622c644d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7fd35f2af497f" /><Relationship Type="http://schemas.openxmlformats.org/officeDocument/2006/relationships/notesSlide" Target="/ppt/notesSlides/notesSlide58.xml" Id="Rd41df8176ae44e3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3b84667c24b80" /><Relationship Type="http://schemas.openxmlformats.org/officeDocument/2006/relationships/notesSlide" Target="/ppt/notesSlides/notesSlide59.xml" Id="R60e92c49ac59446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05f8efa7c4f0b" /><Relationship Type="http://schemas.openxmlformats.org/officeDocument/2006/relationships/notesSlide" Target="/ppt/notesSlides/notesSlide60.xml" Id="R2d00c5026408463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9f9adf0244fba" /><Relationship Type="http://schemas.openxmlformats.org/officeDocument/2006/relationships/hyperlink" Target="https://www.inclusiveminds.in/" TargetMode="External" Id="Rba1e024e2fa0429d" /><Relationship Type="http://schemas.openxmlformats.org/officeDocument/2006/relationships/hyperlink" Target="https://www.linkedin.com/posts/inclusive-minds-ind_hiring-generalist-politicalconsulting-activity-7495111990261252096-TM4l" TargetMode="External" Id="Rc5cfff87913d45d4" /><Relationship Type="http://schemas.openxmlformats.org/officeDocument/2006/relationships/hyperlink" Target="https://tg-bn-website-assets.flowwlabs.tech/GOs-and-ACTs/GO.Ms.No.55_11-02-2026.pdf" TargetMode="External" Id="Rbce198cc64c04c7a" /><Relationship Type="http://schemas.openxmlformats.org/officeDocument/2006/relationships/notesSlide" Target="/ppt/notesSlides/notesSlide61.xml" Id="R3b462d6c4f49459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1c17ff239439c" /><Relationship Type="http://schemas.openxmlformats.org/officeDocument/2006/relationships/hyperlink" Target="https://buildnow.telangana.gov.in/go-and-act/" TargetMode="External" Id="Rfa2123ba410745a3" /><Relationship Type="http://schemas.openxmlformats.org/officeDocument/2006/relationships/hyperlink" Target="https://hydraa.telangana.gov.in/about" TargetMode="External" Id="Radc6c8bac5474024" /><Relationship Type="http://schemas.openxmlformats.org/officeDocument/2006/relationships/hyperlink" Target="https://www.eci.gov.in/eci-backend/public/all_files/full-statistical-reports/telangana/2023/Performance_of_Political_Parties.pdf" TargetMode="External" Id="R24177eb32c454c77" /><Relationship Type="http://schemas.openxmlformats.org/officeDocument/2006/relationships/notesSlide" Target="/ppt/notesSlides/notesSlide62.xml" Id="R1f43098c0493457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f7656df9144f8" /><Relationship Type="http://schemas.openxmlformats.org/officeDocument/2006/relationships/hyperlink" Target="https://www.eci.gov.in/eci-backend/public/all_files/full-statistical-reports/telangana/2023/List_of_Successful_Candidates.pdf" TargetMode="External" Id="R34dcd8c9327248f3" /><Relationship Type="http://schemas.openxmlformats.org/officeDocument/2006/relationships/hyperlink" Target="https://www.eci.gov.in/eci-backend/public/all_files/GE-2024-statistical-report/33-Constituency-Wise-Detailed-Result.pdf" TargetMode="External" Id="Reaf5058350504c7a" /><Relationship Type="http://schemas.openxmlformats.org/officeDocument/2006/relationships/hyperlink" Target="https://www.telangana.gov.in/wp-content/uploads/2026/05/Budget-in-Brief.pdf" TargetMode="External" Id="R063dd8fe087e4c0c" /><Relationship Type="http://schemas.openxmlformats.org/officeDocument/2006/relationships/notesSlide" Target="/ppt/notesSlides/notesSlide63.xml" Id="R52a036e02e82457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61fd3f88b4464" /><Relationship Type="http://schemas.openxmlformats.org/officeDocument/2006/relationships/hyperlink" Target="https://prsindia.org/budgets/states/telangana-budget-analysis-2026-27" TargetMode="External" Id="R7ba40652d65748d4" /><Relationship Type="http://schemas.openxmlformats.org/officeDocument/2006/relationships/hyperlink" Target="https://musi.telangana.gov.in/VisionMusi.aspx" TargetMode="External" Id="R0d656bab044a4cad" /><Relationship Type="http://schemas.openxmlformats.org/officeDocument/2006/relationships/hyperlink" Target="https://www.telangana.gov.in/news/press-releases/2026/03/honble-cm-sri-a-revanth-reddy-participated-in-musi-invites-a-presentation-on-musi-river-rejuvenation-phase-i-by-mrdcl-in-hyderabad/" TargetMode="External" Id="R6c78a3104bec45fd" /><Relationship Type="http://schemas.openxmlformats.org/officeDocument/2006/relationships/notesSlide" Target="/ppt/notesSlides/notesSlide64.xml" Id="Re4d1fedab06349f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fea81088e48be" /><Relationship Type="http://schemas.openxmlformats.org/officeDocument/2006/relationships/hyperlink" Target="https://musi.telangana.gov.in/Tenders.aspx" TargetMode="External" Id="Rca45371f878e4769" /><Relationship Type="http://schemas.openxmlformats.org/officeDocument/2006/relationships/hyperlink" Target="https://invest.telangana.gov.in/" TargetMode="External" Id="Rc9b39fa4d15f41ae" /><Relationship Type="http://schemas.openxmlformats.org/officeDocument/2006/relationships/hyperlink" Target="https://www.telangana.gov.in/news/press-releases/2026/08/honble-cm-sri-a-revanth-reddy-addresses-the-public-meeting-at-ghmc-sports-stadium-amberpet-hyderabad-following-the-inauguration-of-the-moosarambagh-high-level-bridge/" TargetMode="External" Id="R67cb81fe84a04a2c" /><Relationship Type="http://schemas.openxmlformats.org/officeDocument/2006/relationships/notesSlide" Target="/ppt/notesSlides/notesSlide65.xml" Id="Rf3a32c7cb7e4468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db94a88894f8b" /><Relationship Type="http://schemas.openxmlformats.org/officeDocument/2006/relationships/hyperlink" Target="https://eparlib.sansad.in/bitstream/123456789/58523/1/JPI_September_2014.pdf" TargetMode="External" Id="R1bdf98312b584853" /><Relationship Type="http://schemas.openxmlformats.org/officeDocument/2006/relationships/hyperlink" Target="https://scroll.in/latest/905254/telangana-assembly-polls-counting-of-votes-in-three-way-contest-set-to-begin-at-8-am" TargetMode="External" Id="R623a53bf061e4e7f" /><Relationship Type="http://schemas.openxmlformats.org/officeDocument/2006/relationships/hyperlink" Target="https://timesofindia.indiatimes.com/city/hyderabad/telangana-election-results-2018-complete-list-of-winning-candidates-in-telangana/articleshow/67055845.cms" TargetMode="External" Id="R95a3fbb5905b49bd" /><Relationship Type="http://schemas.openxmlformats.org/officeDocument/2006/relationships/notesSlide" Target="/ppt/notesSlides/notesSlide66.xml" Id="R473fcfbce2bc47e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24bb384ba4380" /><Relationship Type="http://schemas.openxmlformats.org/officeDocument/2006/relationships/hyperlink" Target="https://www.ndtv.com/telangana-news/after-a-bitter-campaign-voting-begins-for-hyderabad-civic-body-polls-2332363" TargetMode="External" Id="R1efab6186df4406c" /><Relationship Type="http://schemas.openxmlformats.org/officeDocument/2006/relationships/hyperlink" Target="https://www.newindianexpress.com/amp/story/cities/hyderabad/2016/Feb/06/ghmc-polls-sops-for-poor-seemandhra-candidates-key-in-trs-win-889293.html" TargetMode="External" Id="R81b97a31df604cd8" /><Relationship Type="http://schemas.openxmlformats.org/officeDocument/2006/relationships/hyperlink" Target="https://indianexpress.com/article/cities/hyderabad/ghmc-results-hyderabad-mayor-7104860/" TargetMode="External" Id="R96929b256ec14228" /><Relationship Type="http://schemas.openxmlformats.org/officeDocument/2006/relationships/notesSlide" Target="/ppt/notesSlides/notesSlide67.xml" Id="Rc78d621f462540b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f5748c4814009" /><Relationship Type="http://schemas.openxmlformats.org/officeDocument/2006/relationships/hyperlink" Target="https://www.tribuneindia.com/news/nation/trs-wins-neredmet-ghmc-division-takes-its-tally-to-56-182436/" TargetMode="External" Id="R0b1930bcf4a84a90" /><Relationship Type="http://schemas.openxmlformats.org/officeDocument/2006/relationships/hyperlink" Target="https://m.economictimes.com/news/politics-and-nation/jubilee-hills-bypoll-result-2025-in-l-deepak-reddy-vs-sunita-vs-naveen-yadav-check-who-is-winning/articleshow/125315450.cms" TargetMode="External" Id="R1e04cc4da31040a3" /><Relationship Type="http://schemas.openxmlformats.org/officeDocument/2006/relationships/hyperlink" Target="https://timesofindia.indiatimes.com/city/hyderabad/assembly-bypoll-result-2025-live-updates-by-election-results-jubilee-hills-budgam-nagrota-anta-ghatshila-tarn-taran-dampa-nuapada/liveblog/125313066.cms" TargetMode="External" Id="Rb86e8e392ebb4a0b" /><Relationship Type="http://schemas.openxmlformats.org/officeDocument/2006/relationships/notesSlide" Target="/ppt/notesSlides/notesSlide68.xml" Id="Rbb737443f8df415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9254d6f2d4bdc" /><Relationship Type="http://schemas.openxmlformats.org/officeDocument/2006/relationships/hyperlink" Target="https://github.com/ManashProtimDeori/Manash-Protim-Deori/blob/main/src/data/resume.ts" TargetMode="External" Id="R5fc7b2be97e84b69" /><Relationship Type="http://schemas.openxmlformats.org/officeDocument/2006/relationships/notesSlide" Target="/ppt/notesSlides/notesSlide69.xml" Id="R36e375cd7b25452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a9dbbe3524487" /><Relationship Type="http://schemas.openxmlformats.org/officeDocument/2006/relationships/notesSlide" Target="/ppt/notesSlides/notesSlide70.xml" Id="R28ceae5aa0c0441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7965e6d3e4e15" /><Relationship Type="http://schemas.openxmlformats.org/officeDocument/2006/relationships/notesSlide" Target="/ppt/notesSlides/notesSlide71.xml" Id="R8acda51c98d14be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488ea808f4199" /><Relationship Type="http://schemas.openxmlformats.org/officeDocument/2006/relationships/notesSlide" Target="/ppt/notesSlides/notesSlide72.xml" Id="R886df15f4da4443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abf5af62d4205" /><Relationship Type="http://schemas.openxmlformats.org/officeDocument/2006/relationships/notesSlide" Target="/ppt/notesSlides/notesSlide73.xml" Id="R376e4211252748aa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0a613193a4482" /><Relationship Type="http://schemas.openxmlformats.org/officeDocument/2006/relationships/notesSlide" Target="/ppt/notesSlides/notesSlide74.xml" Id="Rf5425fa864c24bb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c639015dc40cd" /><Relationship Type="http://schemas.openxmlformats.org/officeDocument/2006/relationships/notesSlide" Target="/ppt/notesSlides/notesSlide75.xml" Id="Rdef29b1372c44ae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340c7a79c49a2" /><Relationship Type="http://schemas.openxmlformats.org/officeDocument/2006/relationships/notesSlide" Target="/ppt/notesSlides/notesSlide76.xml" Id="R9fad16d777f24ed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a223cfd114471" /><Relationship Type="http://schemas.openxmlformats.org/officeDocument/2006/relationships/notesSlide" Target="/ppt/notesSlides/notesSlide77.xml" Id="R14b5bc93cd1e4e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72C2A"/>
                </a:solidFill>
              </a:rPr>
              <a:t>Reported GHMC seats won · historical150-seat councils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C2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2016</c:v>
          </c:tx>
          <c:spPr>
            <a:solidFill xmlns:a="http://schemas.openxmlformats.org/drawingml/2006/main">
              <a:srgbClr val="D5BFA0"/>
            </a:solidFill>
          </c:spPr>
          <c:cat>
            <c:strRef>
              <c:f>'Chart Data'!$A$2:$A$6</c:f>
              <c:strCache>
                <c:ptCount val="5"/>
                <c:pt idx="0">
                  <c:v>TRS</c:v>
                </c:pt>
                <c:pt idx="1">
                  <c:v>BJP</c:v>
                </c:pt>
                <c:pt idx="2">
                  <c:v>AIMIM</c:v>
                </c:pt>
                <c:pt idx="3">
                  <c:v>INC</c:v>
                </c:pt>
                <c:pt idx="4">
                  <c:v>TDP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99</c:v>
                </c:pt>
                <c:pt idx="1">
                  <c:v>4</c:v>
                </c:pt>
                <c:pt idx="2">
                  <c:v>44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v>2020</c:v>
          </c:tx>
          <c:spPr>
            <a:solidFill xmlns:a="http://schemas.openxmlformats.org/drawingml/2006/main">
              <a:srgbClr val="A14D25"/>
            </a:solidFill>
          </c:spPr>
          <c:cat>
            <c:strRef>
              <c:f>'Chart Data'!$C$2:$C$6</c:f>
              <c:strCache>
                <c:ptCount val="5"/>
                <c:pt idx="0">
                  <c:v>TRS</c:v>
                </c:pt>
                <c:pt idx="1">
                  <c:v>BJP</c:v>
                </c:pt>
                <c:pt idx="2">
                  <c:v>AIMIM</c:v>
                </c:pt>
                <c:pt idx="3">
                  <c:v>INC</c:v>
                </c:pt>
                <c:pt idx="4">
                  <c:v>TDP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56</c:v>
                </c:pt>
                <c:pt idx="1">
                  <c:v>48</c:v>
                </c:pt>
                <c:pt idx="2">
                  <c:v>44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C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C2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D3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16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2C2A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72C2A"/>
                </a:solidFill>
              </a:rPr>
              <a:t>2023 winning margins · votes, different opponents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C2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Margin</c:v>
          </c:tx>
          <c:spPr>
            <a:solidFill xmlns:a="http://schemas.openxmlformats.org/drawingml/2006/main">
              <a:srgbClr val="165744"/>
            </a:solidFill>
          </c:spPr>
          <c:cat>
            <c:strRef>
              <c:f>'Chart Data'!$A$2:$A$4</c:f>
              <c:strCache>
                <c:ptCount val="3"/>
                <c:pt idx="0">
                  <c:v>Yakutpura</c:v>
                </c:pt>
                <c:pt idx="1">
                  <c:v>Nampally</c:v>
                </c:pt>
                <c:pt idx="2">
                  <c:v>Chandrayangutta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878</c:v>
                </c:pt>
                <c:pt idx="1">
                  <c:v>2037</c:v>
                </c:pt>
                <c:pt idx="2">
                  <c:v>81660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C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C2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D3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16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72C2A"/>
                </a:solidFill>
              </a:rPr>
              <a:t>Telangana state capital expenditure · ₹crore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C2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State capex</c:v>
          </c:tx>
          <c:spPr>
            <a:solidFill xmlns:a="http://schemas.openxmlformats.org/drawingml/2006/main">
              <a:srgbClr val="A14D25"/>
            </a:solidFill>
          </c:spPr>
          <c:cat>
            <c:strRef>
              <c:f>'Chart Data'!$A$2:$A$3</c:f>
              <c:strCache>
                <c:ptCount val="2"/>
                <c:pt idx="0">
                  <c:v>2025–26 RE</c:v>
                </c:pt>
                <c:pt idx="1">
                  <c:v>2026–27 BE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36480.87</c:v>
                </c:pt>
                <c:pt idx="1">
                  <c:v>47267.28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C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C2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D3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16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8B4DC-5928-4010-B54E-59935CB68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31e454f004ef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030B9-1CF0-4D79-B9B9-77E38DA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INDEPENDENT APPLICATION WORK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5A523-E814-43A0-A0BA-3E40A0B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82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682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82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Hyderabad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5BC74-3B35-4468-AB36-5DED106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Power, place</a:t>
            </a:r>
          </a:p>
          <a:p xmlns:a="http://schemas.openxmlformats.org/drawingml/2006/main">
            <a:pPr>
              <a:defRPr sz="36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&amp; public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D6067-DF4A-41FD-AD1F-6B65710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7D36-26FF-453D-A711-60A0729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42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Political dynamics, governance questions</a:t>
            </a:r>
          </a:p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and my contribution to Inclusive Minds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81E48-A4EA-4035-9A1C-79C610C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MANASH PROTIM DEORI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11ABB-5A6A-476A-9ACE-C65D58B8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Political consulting · Hyderabad · Cut-off 8 October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626C4-6D58-4261-B680-63D89DD2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Illustrative architecture · No employer or party endorsement</a:t>
            </a:r>
          </a:p>
        </p:txBody>
      </p:sp>
    </p:spTree>
    <p:extLst>
      <p:ext uri="{BB962C8B-B14F-4D97-AF65-F5344CB8AC3E}">
        <p14:creationId xmlns:p14="http://schemas.microsoft.com/office/powerpoint/2010/main" val="42329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29D89-C02E-4C8A-B5CB-D113B2A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EXECUTIVE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92D3F-2038-431B-B385-AB747E21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E0351-0382-4798-89C1-000DC14E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M02 · F03 / F07 / F08 / F21 / F22 · I02 / C02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5473E-B92D-42C2-B910-923D482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0005C-96CE-450C-ACE0-291E0925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Power, place and public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8368-98D0-4879-88CA-C95A8E7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Three findings shape my operating perspective. Each requires a different work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D40B3-76AE-44B8-9517-996A339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81B3F-912C-4083-90EB-93D5F5A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0D0CA-E4F3-44AA-B195-DF45E10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Power is distributed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8F868-6DA3-4423-96E5-4654871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35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 won 64 state seats in 2023 but none in my declared 15-seat study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7CDF-A57E-4ECF-9093-0F3E1AD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390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84EE9-E890-41FC-A53D-869790FF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E36D4-FB4E-488C-B5BE-E645F518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keep institution-specific election briefs and challenge citywide extrapolation.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003A1-21FF-4CB5-878E-0B083390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9560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74FF8-40C1-4DF5-96AF-588E8E1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7961F-4633-490E-BA06-E581361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242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Place has changed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C0BDF-9A39-4541-A602-134C19B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67200"/>
            <a:ext cx="335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2026 three-corporation structure changes the administrative unit.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6110E-C827-4725-BFB3-85279FEA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05425"/>
            <a:ext cx="3390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B8BA9-AFA9-4A46-BB54-D37DB99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4292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157F6-05D5-4519-A99C-8353801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6959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version the geography crosswalk before joining service or election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95BF1-5B59-4E17-AC73-AC614C7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0B607-18E3-43FD-A1A6-20D5446B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90CCD-8F8D-470B-8656-237132EB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Public value needs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F4161-82F0-4080-9638-1D6EC9C9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35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Budget provision is a starting point for implementation scrutiny.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53277-F5DA-4406-92B2-E5B364D1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390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1694D-48D6-474F-8E76-C4FA217E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292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69812-A267-4AC9-9FCA-CC9070E5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959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track release, delivery and service experience separately.</a:t>
            </a:r>
          </a:p>
        </p:txBody>
      </p:sp>
    </p:spTree>
    <p:extLst>
      <p:ext uri="{BB962C8B-B14F-4D97-AF65-F5344CB8AC3E}">
        <p14:creationId xmlns:p14="http://schemas.microsoft.com/office/powerpoint/2010/main" val="965184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0F9BA-7886-408C-BC82-004C6A57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ORGANISATION AND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D9486-D68D-4ADD-AC5B-E51AFC9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29E25-E205-4E86-86D3-0CAA195A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M03 · F01 / F02 / F34 / F35 · I03 / C03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0DC95-67D8-4C54-8245-2C8D95A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E44EF-DFC7-455B-8474-39435CDA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Relevant methods; honest 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5BDB2-B63D-4803-8334-0D2374BA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Inclusive Minds lists analytics, research, strategy, communications, growth and operations. Its Generalist post asks for transferable experience in Hyderabad.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A8E20-114E-432D-9164-5B400358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205B4-D8A0-4D37-BD2E-EFF850A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21D03-E685-4455-A2B8-BF357D98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review and structured problem solving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63ACC-8AB9-4B40-A99C-C7AD2CF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4FC54-D84E-4434-9957-CFC9F8B6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EE568-5E46-4158-A22F-7078BB5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Explicit units, reproducible comparisons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D54DD-6C18-4C2F-A826-4B32364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D492-1AB3-4A55-A39D-3FD726B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42560-5EA0-4975-849A-84DD118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Clear ownership and review handoffs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F7E37-33FB-4CC3-9EBC-AFCCFD68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Exact requisition and open status unconfirmed. I do not claim knowledge of internal workflows or personal ideological alignment.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B8AC0-E88C-45CC-A637-D28C135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9070E-6465-4E10-B26B-1F1F052A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E3E9C-6451-4536-8DCB-BC5116F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0CB74-9635-4E83-ACD5-F5730A47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turn research into concise, source-backed briefs and coordinate review across functions.</a:t>
            </a:r>
          </a:p>
        </p:txBody>
      </p:sp>
    </p:spTree>
    <p:extLst>
      <p:ext uri="{BB962C8B-B14F-4D97-AF65-F5344CB8AC3E}">
        <p14:creationId xmlns:p14="http://schemas.microsoft.com/office/powerpoint/2010/main" val="612375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ECE5C-9EBA-4F3B-9083-B59F257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GEOGRAPHIC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DC96-291C-481C-BD7F-9AC9404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547D-50BB-4690-A5F6-F753AAC4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M04 · F03 / F04 / F05 / F33 · I04 / C04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781FC-737D-4356-AB80-B4D8B7F3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20124-75A3-4A79-A341-B289AA4C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Define the unit before the 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66026-5A00-4BB7-9B6B-08BCCFDF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District, Assembly seat, Lok Sabha seat, municipal corporation and metropolitan planning region answer different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DDCC-C652-4FF3-9ED1-C05F3C5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9ADFB-AF54-454D-9B58-53D3482F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Electoral 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DD4CC-357F-4DD3-AA53-652C16E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AC 57–71: declared historical study set; four PCs analysed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2484E-1C7E-4C58-901C-33B4432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96F55-679A-4BC1-A1C9-00782A8B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Municipal lens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F2146-1FDC-423B-BC5E-370E39D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GHMC / CMC / MMC: GO 55,11 February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CE82C-52C7-45DD-B859-0766D3C2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7D05D-1A4D-4E59-816A-3E965ABF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Planning lens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3DD09-1978-44BA-8755-6E15BDAE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HMR / FCDA instruments listed 12 March 2025; full crosswalk pending.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1742-A7CE-4672-B376-8AF37A1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Classification schematic, not a geographic map. No unverified GIS polygon or area estimate is shown.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ACB0D-481A-48CC-A4D3-7BED71E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5DCCA-9ED5-4591-9880-E60C748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FEA5A-EA88-482A-8C0E-BB5906BB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15BEF-498E-4BC7-83B5-224CD5B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create a dated crosswalk with overlap rules, official boundary files and exclusions before analysis.</a:t>
            </a:r>
          </a:p>
        </p:txBody>
      </p:sp>
    </p:spTree>
    <p:extLst>
      <p:ext uri="{BB962C8B-B14F-4D97-AF65-F5344CB8AC3E}">
        <p14:creationId xmlns:p14="http://schemas.microsoft.com/office/powerpoint/2010/main" val="638218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9AFE6-A9C6-475E-B43A-14B09BB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RESEARCH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8CDB5-CB56-48A1-A83B-DA0C01EE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8D5D-5ED9-4C1F-AAA3-805A4BB6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M05 · F02 / F20 · I05 / C05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4D7C4-0058-4A50-B7DF-E61093B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F1E4F-A7AF-477E-9E3A-B8F7A4E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Five gates, one traceable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A406A-B1BB-4E71-8C6F-0BE0AF66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Facts, derived numbers, interpretations, hypotheses, proposals and candidate self-reports carry different release standards.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90083-5E32-4738-A473-503BCDD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95B76-DDC6-47B9-AF5F-3AB8F890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384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Provenance and direct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A2BBB-03D4-4FBB-AAF8-AEDCCD35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718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94975-95CD-43CB-AD60-09EE783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33F20-78D2-4299-8906-FC92E453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575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Corroboration and lineage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60CB4-9880-489B-8541-64FEDD9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90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DEC25-A07F-40AF-A23B-DB2F259C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4DC2-F672-4DC0-8FEB-53FA19C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766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Date, geography and arithmetic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C7204-B86E-41DB-B91D-74171CD0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100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3ABE1-3125-4DA3-944B-A84FA21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88851-5928-45A3-B788-D211B1CB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957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Inference and alternatives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7510E-4671-4138-8B2B-A9190BA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291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7D4B5-DCB1-4B0E-87A2-A2C722FA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4613B-6AC8-45AF-9563-84DB6506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148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Feasibility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94420-B2EC-4AEA-9E52-13E1F4F5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482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94EDE-77AC-4796-AE84-15C3A6AD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Twenty reviews are cumulative self-review passes, not 20 independent reviewers.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24E27-DC15-4562-81E8-FCE814B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53427-1285-472C-94CA-3DCAC5A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E2CB7-654B-4290-83DE-1D69C22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09105-FF1D-4244-A071-81FD277B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keep a claim register, contradiction log and refresh queue attached to every brief.</a:t>
            </a:r>
          </a:p>
        </p:txBody>
      </p:sp>
    </p:spTree>
    <p:extLst>
      <p:ext uri="{BB962C8B-B14F-4D97-AF65-F5344CB8AC3E}">
        <p14:creationId xmlns:p14="http://schemas.microsoft.com/office/powerpoint/2010/main" val="1046022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BEB93-8987-4E4B-978D-6C82189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HISTORICAL TURNING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E2BF-AA2D-40E0-848D-5F7629C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4D6D6-C9B1-4DE0-B944-4E3C72E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M06 · F16 / F17 / F18 / F19 / F07 / F03 · I06 / C06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1047-F750-4EEB-8283-35C8848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8003A-F357-405C-B6CC-28EB006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The political timeline is not 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3F244-4D60-4805-9F20-AE0B1115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formation, a stronger TRS state mandate, changing civic competition, and the 2023 change in government are distinct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C81A5-E600-4AFB-AC9F-7478033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76575"/>
            <a:ext cx="1091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61A1A-FE0F-4022-A9C5-04EAAEF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5FFBC-254B-4725-855C-0EF2F6AC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2014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2E454-7D76-4A35-A09F-3D9F81E2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First Assembly: TRS 63 / INC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B87A0-0B4B-4D6B-AB7E-2EEF719F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6F5A-807B-4A6F-8EE6-C123FAC4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2018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4612F-C2D6-4313-B86D-9270EC10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624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Reported state result: TRS 88 / INC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09C50-5B27-4230-935E-2DEDA37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14B5F-057E-4D48-9B32-380BEC2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2020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F9CDF-1D74-49F1-8DBE-0D02B71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624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Reported civic result: TRS 56 / BJP 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756CE-D834-4DE5-92A4-82452330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5A2C1-B9F5-454E-8B2E-2B1027FD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95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2023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7C6A4-90BD-475C-B98E-6A4F5264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624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result: INC 64 / BRS 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0CCB-0FEF-49DF-AC68-EECD0870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36A63-6C5F-4420-AA80-E9EC627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842A5-0055-462A-9121-6DADFE9A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CURE → three corporations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34E1F-3993-474A-886B-C023E08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2016/2020 municipal and 2018 summary figures are explicitly attributed reporting. No transfers of voters inferred.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BE786-50D6-495B-AD6A-EC744C5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4404F-EB45-4E18-AAA0-22D503D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C30BC-1824-4B3E-9E80-7D9F9B0B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F6836-84F7-477D-BB5B-6778D6F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maintain an event ledger that separates electoral results, office changes, boundary changes and delivery milestones.</a:t>
            </a:r>
          </a:p>
        </p:txBody>
      </p:sp>
    </p:spTree>
    <p:extLst>
      <p:ext uri="{BB962C8B-B14F-4D97-AF65-F5344CB8AC3E}">
        <p14:creationId xmlns:p14="http://schemas.microsoft.com/office/powerpoint/2010/main" val="233264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E924B-B58F-4DD0-97B0-8943DF8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GOVERNANCE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C309D-FA03-480F-BF13-AB7E343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2E97-B68C-44E9-BC85-0207F38C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M07 · F03 / F06 / F21 / F30 · I07 / C07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36F31-63E6-4592-A9F9-4E4E0FC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D0FA4-BC8E-4F87-BE92-0FC1FF3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Follow the decision, budget and remedy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56D74-FF94-4617-97EF-0DACF42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Municipal reorganisation, asset protection, river planning and state budget provision operate through different institutions.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FFD7C-22AB-45E9-B1ED-E9135179A332}"/>
              </a:ext>
            </a:extLst>
          </p:cNvPr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7050"/>
                <a:gridCol w="4029075"/>
                <a:gridCol w="3876675"/>
              </a:tblGrid>
              <a:tr h="3962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Institution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Documented role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boundary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GHMC / CMC / MMC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Territorial municipal structure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 55: zone allocation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HYDRAA / MAUD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Assets and disaster response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Official agency remit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MRDCL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Musi programme vision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Project agency objectives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/ scheme bodies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provision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releases and delivery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57A46-ADEF-4DD3-8920-030D14BE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This is a documented-role scaffold, not a complete current statutory responsibility matrix. Case-specific powers need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930A2-5A41-4466-8A52-CCC6E12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8F4E7-4922-4ED8-AE37-CC58E56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6E002-48A5-4F61-AA4C-6E5BECA8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DC0CB-EA19-424B-87CF-5CE3312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produce one responsibility sheet for each issue: decision owner, payer, delivery body, review authority and evidence gap.</a:t>
            </a:r>
          </a:p>
        </p:txBody>
      </p:sp>
    </p:spTree>
    <p:extLst>
      <p:ext uri="{BB962C8B-B14F-4D97-AF65-F5344CB8AC3E}">
        <p14:creationId xmlns:p14="http://schemas.microsoft.com/office/powerpoint/2010/main" val="1342467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E0A8C-AA66-43B6-83EF-9779330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ELECTION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D5064-152A-4895-AF43-42FC81F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969BC-5C08-4360-BD2D-CE73E74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M08 · F18 / F19 · I08 / C08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7D3DB-DCBE-4E5F-B918-CF02C4B7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0DDBC-296F-40A6-9E53-8A82CBA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Different cycles, different 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C8CC9-DD5E-4F67-9E30-B8CECF75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historical civic council changed from TRS 99 seats in 2016 to 56 in 2020; BJP rose from 4 to 48. AIMIM retained 44.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FECE4C8-03CE-4A9D-9AA0-ECC3442B6E42}"/>
              </a:ext>
            </a:extLst>
          </p:cNvPr>
          <p:cNvGraphicFramePr/>
          <p:nvPr/>
        </p:nvGraphicFramePr>
        <p:xfrm>
          <a:off xmlns:a="http://schemas.openxmlformats.org/drawingml/2006/main" x="4181475" y="2038350"/>
          <a:ext xmlns:a="http://schemas.openxmlformats.org/drawingml/2006/main" cx="73247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664d9ac0e94a1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A3480-F1CA-4E6B-998E-1BEB073E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Historical 150-seat GHMC tables, based on two corroborated reporting lineages. They are not 2026 corporation totals.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B0FF2-8A6B-4282-8BCD-4E3306C8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3E275-0702-4FBB-8115-36DAC07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0956F-C0D1-4148-85D3-08BF094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A6418-BD83-4D0A-A5EF-283A625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preserve raw election vintages and compare only equivalent units, with candidate and boundary changes recorded.</a:t>
            </a:r>
          </a:p>
        </p:txBody>
      </p:sp>
    </p:spTree>
    <p:extLst>
      <p:ext uri="{BB962C8B-B14F-4D97-AF65-F5344CB8AC3E}">
        <p14:creationId xmlns:p14="http://schemas.microsoft.com/office/powerpoint/2010/main" val="303206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4A14D-7267-459B-B00A-981CBECA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2023 ASSEMBLY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3A11-E342-46AE-93FC-89262633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B6B4-DEE9-4232-9B32-EFFE9303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M09 · F07 / F08 · I09 / C09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68C13-AF7C-43FD-9863-BADE2CE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09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F3E12-7749-49F5-A912-FBE9BD7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The state result did not describe every seat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7B4BC-0A8B-46C3-9AA7-DABC513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 won 64 of 119 state seats. Within AC 57–71, the winners were BRS 7, AIMIM 7 and BJP 1; INC won 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B2E53-29EF-41DD-B6B1-D9D2F14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92B2-256E-42CD-A8B4-12010B71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64 /119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1CF82-B84F-40DB-BDCF-E8480408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 statewide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38E6E-C3B2-47BA-A49E-EAFEDF21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205AC-98A3-4B26-951F-E97DE93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 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5DBD1-DCC1-42B2-BA71-48712612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 in selected AC 57–71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69FB8-1266-4072-9CF9-D845E6C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9DA9C-0814-43FC-9E40-20B662D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7 ·7 ·1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370E9-FF5F-4CEE-94DC-8AB62E61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BRS ·AIMIM ·BJP in that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CB634-AF32-40C1-9762-14E88E79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Selection is disclosed in full; no claim that 15 seats represent the entire metropolis. Historical results, not current membership.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35186-DB4F-452A-A676-EF6E723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29488-4A2F-4456-B8F7-20FF1FD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E8CA1-F49E-436F-818B-192E657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EB28F-91F0-4B46-AE16-A2264980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write explicitly scoped constituency briefs rather than treating the state mandate as a metropolitan result.</a:t>
            </a:r>
          </a:p>
        </p:txBody>
      </p:sp>
    </p:spTree>
    <p:extLst>
      <p:ext uri="{BB962C8B-B14F-4D97-AF65-F5344CB8AC3E}">
        <p14:creationId xmlns:p14="http://schemas.microsoft.com/office/powerpoint/2010/main" val="1613116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FDB00-D4A3-4A08-8C56-C11487A7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2024 LOK SABHA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5C97-5655-46A1-973C-2AD1356E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193A2-9EA5-4379-A829-33CFB676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M10 · F12 / F13 / F14 / F15 / F08 · I10 / C10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D38FB-8BB4-4B79-9A04-4D7FC5A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8DB99-A65B-416A-B35E-78EC50A3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 ballot is an institutional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AC38F-0979-4EB3-B509-8351DE9E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BJP won Malkajgiri, Secunderabad and Chevella; AIMIM won Hyderabad in the 2024 results examined here.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BF09A-B2D0-4A26-8D91-AE84E32972BF}"/>
              </a:ext>
            </a:extLst>
          </p:cNvPr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7050"/>
                <a:gridCol w="4029075"/>
                <a:gridCol w="3876675"/>
              </a:tblGrid>
              <a:tr h="3962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2024 parliamentary seat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Winner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Party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Malkajgiri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Eatala Rajender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BJP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Secunderabad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G.Kishan Reddy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BJP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Hyderabad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Asaduddin Owaisi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Chevella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Konda Vishweshwar Reddy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BJP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A549B-1217-4325-A875-27015A0B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Four PCs and the 15-seat AC set are not coextensive. Candidate effects, turnout and national context remain rival explanations.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5922A-60BA-407C-AE7E-A2EB35BE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5735A-35B9-448B-B1AA-33CEA04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C8EA0-E0FE-432C-96B7-A54AB98B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A6D47-F38F-423D-A8E3-43F84CC7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keep Assembly, parliamentary and civic result series separate, then test possible explanations through approved research.</a:t>
            </a:r>
          </a:p>
        </p:txBody>
      </p:sp>
    </p:spTree>
    <p:extLst>
      <p:ext uri="{BB962C8B-B14F-4D97-AF65-F5344CB8AC3E}">
        <p14:creationId xmlns:p14="http://schemas.microsoft.com/office/powerpoint/2010/main" val="11748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223C5-4E15-49DD-83B1-DA248BF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POLITICAL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4FD64-EAD7-4C07-96E8-866679A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BE3A7-1448-4978-B876-11AA04F0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M11 · F09 / F10 / F11 / F20 · I11 / C11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C9B2-29AD-4DFB-A55E-05E7D4E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06B3D-20C2-4D61-9040-76FDEC4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Competition has several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11D3B-A65D-444C-8887-ED873E0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 2023, AIMIM’s margins ranged from 878 votes in Yakutpura to 81,660 in Chandrayangutta; Nampally’s margin was 2,037.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48ED224-D951-4998-93A5-4D1F4D09943A}"/>
              </a:ext>
            </a:extLst>
          </p:cNvPr>
          <p:cNvGraphicFramePr/>
          <p:nvPr/>
        </p:nvGraphicFramePr>
        <p:xfrm>
          <a:off xmlns:a="http://schemas.openxmlformats.org/drawingml/2006/main" x="4181475" y="2038350"/>
          <a:ext xmlns:a="http://schemas.openxmlformats.org/drawingml/2006/main" cx="73247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d543fe6e814d8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7B302-BCD1-4CB2-A1EC-B61F1A3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Margins are vote differences, not estimates of community opinion. Current legislator affiliations, legal disputes and municipal leadership require a fresh official roster.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7A015-6DA5-4534-ACFD-CF835D92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C7A99-137B-4D55-BA12-D39E27C6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9793-9BA7-482E-840C-6D9D10A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E6056-39B3-4DB9-BCFF-91DA14B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distinguish party presence, candidate competition and institutional control; update legal affiliation separately.</a:t>
            </a:r>
          </a:p>
        </p:txBody>
      </p:sp>
    </p:spTree>
    <p:extLst>
      <p:ext uri="{BB962C8B-B14F-4D97-AF65-F5344CB8AC3E}">
        <p14:creationId xmlns:p14="http://schemas.microsoft.com/office/powerpoint/2010/main" val="1087840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0F359-8A4E-48CF-A9FC-EF58333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POLITICAL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6D4E-E967-4D10-A4F0-114A35A4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EFB3F-1EE4-4EA7-8742-58AD41FE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M12 · F32 · I12 / C12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77232-FF5B-4AD3-AFE4-D9F808F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78FA8-6CE1-4DA3-B185-6808FD2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Economic strength is not equal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53581-303E-4F48-BB27-F585502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state investment portal identifies Genome Valley at Shamirpet and electronics clusters. These locations are useful anchors for questions about jobs and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E09F8-8D3E-4511-8454-1AD6258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71405-4051-4957-B278-58F74F7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2C6CE-E261-4C58-9BDE-ECFFD72C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Which employers and value chains are documented?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4B6ED-B71C-4D42-89A5-82A7E0E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5FA2A-96E8-4EAF-AE5B-A8FE8A2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9E5A2-004D-4C98-9AB7-1B4D626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Who can reach jobs, training and services?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3F159-A2DE-45E3-A84C-F93A0634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6BAB3-DEC6-4BF7-8A6B-224642E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8D0DF-BB9C-465B-A1B3-9857E8AB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What evidence shows benefits across places?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0601F-DC28-4954-A929-F879DA1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city GDP, unemployment, export or employment estimate is asserted from a statewide promotional portal.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2C255-82C6-43EC-A5AE-5CF33ED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4A186-1673-419D-B7A5-8CB832F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EF0AA-0D19-4950-8627-361E342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0D68C-EE87-4397-97B5-9D28082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build a place-based opportunity brief using verified cluster locations, commuting access and service data.</a:t>
            </a:r>
          </a:p>
        </p:txBody>
      </p:sp>
    </p:spTree>
    <p:extLst>
      <p:ext uri="{BB962C8B-B14F-4D97-AF65-F5344CB8AC3E}">
        <p14:creationId xmlns:p14="http://schemas.microsoft.com/office/powerpoint/2010/main" val="797671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3F9DD-3E1B-4622-A1EA-38B862E3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EMPLOYMENT RESEARCH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1E6C2-E6CB-4C66-94C6-BFFD0C03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E2C6-FF9C-42EE-BA10-257D089F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M13 · F32 / F36 · I13 / C13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9FDA-2C44-4D35-A132-26A2A4D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1F6FF-6A5F-4634-8923-984B5819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Measure the route from skill to opportunity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331F-70D0-4FC0-A79A-C62A2D8C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sector-growth narrative leaves open questions about vacancies, qualification fit, commute costs, informality and job stability.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5608A-5267-450F-916F-9621B8C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917B2-4832-489C-892F-E2C0A7C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74BAD-7456-4381-B882-517637B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3DB66-4A7B-4E72-8F32-79FE19D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Verified vacancies and 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F0839-E3E3-4132-881B-BBCBCE99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F7447-3671-475A-9301-6DF8CDBB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9CF0B-68E5-4DC3-AEED-C2D2B918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09B93-AF0D-429B-9DA7-59D84A2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Commute, cost and information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289EA-9ABF-44FC-B98D-271F3D0F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4751C-5BCE-4BFA-B30A-B54446B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C06B6-D6FB-4C1F-B3C6-3CAE889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3D34-AAE8-42C3-AE98-D5B503C2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Training and placement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8C922-3101-4940-BFD0-8E09E11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EF7CC-2242-41AD-986C-D579B2A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7A801-A4D7-4C1A-A1E0-B31A55E6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9EF25-31E2-40FA-8D1C-57051562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Retention, pay and stability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F8B6B-5317-4C78-8D6D-695DE156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Hypothesis: access barriers may vary by location and occupation. Requires local evidence; no demographic or religious political profiling.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F8ECB-9ADE-4DBE-8BB7-6FDC23D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A8843-E34E-4978-83AC-9BECA69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4A6B4-1065-4DB8-A959-3F049A1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353A3-50D1-4E2A-BC62-F850DF3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triangulate employer information, official labour statistics and consented interviews before proposing an access intervention.</a:t>
            </a:r>
          </a:p>
        </p:txBody>
      </p:sp>
    </p:spTree>
    <p:extLst>
      <p:ext uri="{BB962C8B-B14F-4D97-AF65-F5344CB8AC3E}">
        <p14:creationId xmlns:p14="http://schemas.microsoft.com/office/powerpoint/2010/main" val="6697332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64CD2-C185-4768-B7AA-03C2851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HOUSING AND LAND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C0EB1-4C9C-4A4E-BA64-DAA3AE6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68797-ED1F-4B6A-AD96-7E3D79F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M14 · F03 / F33 · I14 / C14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7A5AD-7AEC-4C6A-B7C4-B776247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ADA55-DEA3-4640-9F70-633825A2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Urban expansion changes the research unit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69E38-F866-4627-9AFA-15E5578E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GO 55 changes municipal administration. Separate 2025 planning instruments concern HMR expansion and FCDA. Land questions require parcel-level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29E78-B3DF-4BE2-B42B-1BE780A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18E2E-BE74-4466-848F-A8C2278D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0E44D-372A-4373-B98E-52DC26E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Which instrument and vintage?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4C73F-897F-4333-82F9-F804DC2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1281-E59C-40CD-9AF1-1BA3E682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91624-97B0-4E0F-909A-2901C729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Which title, approval and record?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001E6-9C91-4C22-9D3E-D42822E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FECC4-D406-42C5-9E26-8496C1C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DAB28-FD55-4C2E-B3E5-F106E11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Which housing and service evidence?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FE505-9689-44B6-874D-48CB658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current land-price trend, household displacement total or legal conclusion is asserted. GO index alone does not establish parcel-specific rights.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D9275-73B9-4DEE-A203-32645242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10FFF-2AAB-45F7-9ABF-02F920D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F5CB3-9B4E-4790-9347-C5CE923F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8510F-10B7-4761-B170-806E0EA0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maintain a boundary-vintage register and verify land, housing, approvals and service claims against the right jurisdiction.</a:t>
            </a:r>
          </a:p>
        </p:txBody>
      </p:sp>
    </p:spTree>
    <p:extLst>
      <p:ext uri="{BB962C8B-B14F-4D97-AF65-F5344CB8AC3E}">
        <p14:creationId xmlns:p14="http://schemas.microsoft.com/office/powerpoint/2010/main" val="9555293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69B43-C50E-44D4-BDFF-1A8C31C8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MOBILITY AND FINANCING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EB22B-A0BB-4BFE-BD66-B377815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A958D-9D93-4ADC-A39B-84399CD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M15 · F24 / F25 · I15 / C15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49E95-426E-42B6-8132-2A37F5A8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EC808-2E30-4637-A2A9-716BD1C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Transport provision is not service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BD416-B62F-4FB4-B0A5-EBE9B776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provides ₹600 crore for Metro Phase II and a separate ₹500 crore loan line to HMRL.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7A3F3-09BA-41D7-A1FC-E71BB3A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60D62-D5D5-4079-863C-EFD17D3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₹600 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466B9-3386-42E1-9258-0F11EF88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Metro Rail Phase II ·BE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2B88B-89AF-46E2-9AA1-9CBCA7C2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808CC-E717-473F-AD35-7E5F6E2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72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₹500 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54C8-A2A0-46CE-9362-FD745CCE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Loans to HMRL ·BE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A8E1D-DA87-4B46-B76E-78D18448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8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397FA-8189-498E-89D0-72F7D3F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Journey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F440-F615-4FE0-89A7-46EBDA9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separate validation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633CE-072D-44B7-BE68-D09BAB74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Both are budget estimates. Current procurement, central approvals, operating extensions and completion dates are not established by the budget.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BB313-B1D5-4F52-9049-C06AD0E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CDB93-9A16-4FB1-BCEA-63812DB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FF204-7E71-46E5-B9B3-5D5EC83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86DC4-151F-4129-AEB6-EED0488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track each financing line separately and evaluate access through verified project status, journeys and interchange evidence.</a:t>
            </a:r>
          </a:p>
        </p:txBody>
      </p:sp>
    </p:spTree>
    <p:extLst>
      <p:ext uri="{BB962C8B-B14F-4D97-AF65-F5344CB8AC3E}">
        <p14:creationId xmlns:p14="http://schemas.microsoft.com/office/powerpoint/2010/main" val="1177491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56103-C2DA-4811-A76B-E52030AD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WATER AND ENVIRONMENTAL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B80C-7433-4560-BF5D-4E7E481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81F90-52F8-434B-8861-B13D3B59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M16 · F06 / F23 / F30 · I16 /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9D20-6251-4A1C-96F9-4625875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B7730-4229-440B-A042-A134C89A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Resilience needs a system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31160-1405-4B3C-9F36-11E29299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HYDRAA’s stated remit includes disaster response and public assets. MRDCL’s vision includes sewage treatment, drainage and floodplain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804D0-0C4D-43E1-86E0-DC4CBD21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05AA6-3CE5-44C6-B3B0-9044FDE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Hazard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DE5BE-9AAC-4305-B10F-AD8252C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Rainfall and catchment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09AA8-F9AF-40FD-A2C0-916C07E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869F8-A4FC-4688-AE4E-DBB8B017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192A2-EF45-4B27-8EE6-6D6ED6D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Drainage, sewage and asset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A4EC6-5B18-4EF8-A405-2DA6938D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349E3-6FEC-4EFF-A597-B7E247A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0BAB5-675C-4E64-A2F0-345524D6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Warning, rescue and recovery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A36DC-A752-4CAF-B2B1-6DDE6A7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flood-frequency, water-quality, sewage-treatment or lake-restoration success rate has been verified in this deck.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50EA7-4778-4006-9747-1966EB4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45478-1B5E-4B2A-92C8-6B5B32B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5663D-3098-4C8A-9783-3352020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35C79-F2EA-416B-81A9-E43093B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connect rainfall events, drainage records, water-quality evidence and agency responsibilities in one issue brief.</a:t>
            </a:r>
          </a:p>
        </p:txBody>
      </p:sp>
    </p:spTree>
    <p:extLst>
      <p:ext uri="{BB962C8B-B14F-4D97-AF65-F5344CB8AC3E}">
        <p14:creationId xmlns:p14="http://schemas.microsoft.com/office/powerpoint/2010/main" val="17434679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C9D5A-8605-4928-841E-53AD43F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HEALTH, EDUCATION AND WELFARE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628B-25B3-41AB-87CC-55356DAF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8F8B9-83EE-4B58-9396-49DBE49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M17 · F29 / F36 · I17 / C17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06E50-C373-4691-95EF-72E9F52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0F578-07C6-41A7-87F3-A1D209BA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Entitlement, access and experience differ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D4C7-7568-4609-A02A-F4108F7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2026–27 allocations include ₹5,500 crore for Indiramma Houses, ₹4,305 crore for Mahalaxmi RTC and ₹1,143 crore for Rajiv Aarogya Sri.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493D1-A033-41A4-9EEE-FD480C4C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AD7F7-7BA0-4E85-AA98-F8E33D2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E67AD-0F3E-40D5-9603-0102AA79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Eligible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9EC4E-BE55-4119-8C1D-25304AEF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Current scheme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158F0-3DCC-4A79-B65E-ACA0FB9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D59FB-05C0-478E-9B4E-03FA36E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E4532-7EEC-414F-88F1-F74A154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FF185-50E9-4A7F-8C2E-F0DEE42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Documentation and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2BEAB-14CB-4D7D-8D94-53B2E22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3084F-7C6E-46E9-93BB-5ADCE867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401EE-CBFB-4A66-A8D8-D9B48939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Receive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AAD07-1952-4C97-8B2D-9CDB0AE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Timeliness and actual benefit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52F83-37D3-4568-8140-84F5B96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2BA88-00C9-4676-A07D-E910C3F5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750C4-F15E-457B-8466-1CB0A34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Resolve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D198F-F2C7-4391-8E85-732AD8D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Grievance and 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13AC9-9296-436E-8DB4-66E6F71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StatewideBE, not city spending or beneficiaries. Education outcomes and current scheme eligibility require additional authoritative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FC8E3-56F8-4C5D-864B-16A3ED2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DC758-77C5-498E-B50D-B9CC3C0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ED7D6-DFE6-46DF-BE33-B554EC4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DFFB6-38D7-43A7-AD5A-A3C27D4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trace selected service journeys from eligibility to application, receipt, grievance and closure.</a:t>
            </a:r>
          </a:p>
        </p:txBody>
      </p:sp>
    </p:spTree>
    <p:extLst>
      <p:ext uri="{BB962C8B-B14F-4D97-AF65-F5344CB8AC3E}">
        <p14:creationId xmlns:p14="http://schemas.microsoft.com/office/powerpoint/2010/main" val="1429188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C946E-1688-4E30-9777-B981FC4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PUBLIC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72D27-244D-4F9B-9804-6406F2C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F4E35-6D8A-4C76-9EB2-CC90D57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M18 · F27 / F28 / F21 / F22 / F23 · I18 / C18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C6554-8622-47D4-8E9F-F8E0FAA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98DF6-8C8D-4B56-B4B3-281F831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Ambition must survive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C6BB-8BFB-40FE-8215-778F1A4B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capex rises from ₹36,480.87 crore in 2025–26 RE to ₹47,267.28 crore in 2026–27 BE: a 29.6% nominal increase.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19E0D05-DF50-4E53-9F45-9EDBCDDF3FD4}"/>
              </a:ext>
            </a:extLst>
          </p:cNvPr>
          <p:cNvGraphicFramePr/>
          <p:nvPr/>
        </p:nvGraphicFramePr>
        <p:xfrm>
          <a:off xmlns:a="http://schemas.openxmlformats.org/drawingml/2006/main" x="4181475" y="2038350"/>
          <a:ext xmlns:a="http://schemas.openxmlformats.org/drawingml/2006/main" cx="73247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aac3db6d664db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79969-587C-43B8-8861-734B86C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Statewide; plan-to-revised-plan comparison; not real growth. No budget-line summation into a Hyderabad total.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755CD-7577-4291-921F-53B80556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84F1-FF6A-4CE4-8E71-407CD577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C375C-0F50-48B2-A7A2-461BCC63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1EE5-A0B7-4DA2-8551-FF04353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build a commitments-to-delivery tracker with separate estimate, sanction, release, spend and outcome fields.</a:t>
            </a:r>
          </a:p>
        </p:txBody>
      </p:sp>
    </p:spTree>
    <p:extLst>
      <p:ext uri="{BB962C8B-B14F-4D97-AF65-F5344CB8AC3E}">
        <p14:creationId xmlns:p14="http://schemas.microsoft.com/office/powerpoint/2010/main" val="8169769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E3089-529E-4B44-AA5C-3706BB8E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POLICY CASE STUDY01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DB93D-81AF-4A73-A6EC-BBBB882C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586AE-9503-41B4-B647-1BA95F5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M19 · F22 / F30 / F31 · I19 / C19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6598-CDAB-457A-AF68-7C9A9AF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BB58-D583-488C-A5BC-6F2AF4B9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Musi is an implementation and trust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67D76-EF4E-48B1-B6EF-774382D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MRDCL states environmental and mobility objectives. The March 2026 official conference also acknowledged compensation and livelihood concerns.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9A611-B511-4496-8C51-1ADDA1AF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A2993-323F-480B-ABE1-FF94A01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Documented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E5C1B-C38C-4DB9-85EC-A7A07F8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Agency vision; ₹1,500 crore BE; March conference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765D3-B97D-4F42-8D9C-C51ED7B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FE4BA-F4E2-4F5C-9CD4-C206C88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Needs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300F1-9533-42A4-94A2-AD4F3A0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Awards, disbursement, sewage and water-quality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0E2A-1635-40F7-854B-04F66030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A36C7-C911-4B2A-BFFF-52106E5D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Human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D59D5-8518-4521-8A4E-C5EF0E7D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Compensation, location of rehousing and livelihood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1F97E-3DE8-4F30-B56D-D6B5B37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objectives/commitments are not proof of outcomes. Current award, construction, compensation and water-quality results remain unverified.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7153D-F093-43B5-9731-A038060C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1885F-8579-4573-BB43-C45ECCA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ADDF7-0E0F-48E4-94B0-1D16F141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E8237-7419-4E07-BE81-68167DD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produce a balanced Musi brief: documentary milestone, environmental evidence, household safeguards and unresolved questions.</a:t>
            </a:r>
          </a:p>
        </p:txBody>
      </p:sp>
    </p:spTree>
    <p:extLst>
      <p:ext uri="{BB962C8B-B14F-4D97-AF65-F5344CB8AC3E}">
        <p14:creationId xmlns:p14="http://schemas.microsoft.com/office/powerpoint/2010/main" val="2686110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4B86D-42DD-48BF-9767-5EE5D2D8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POLICY CASE STUDY02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C69A6-7E7A-4BA4-B43F-A5CD941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145DD-F93A-406C-9400-62513A2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M20 · F06 / F03 · I20 / C20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A75C-449B-488D-A27E-ACDED568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00929-FC65-4D99-8906-3D8DBFCB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Protect assets; verify every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9BBB3-C86B-47AF-B0BD-84A51899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HYDRAA describes a CURE-wide asset-protection and disaster mandate. That does not determine the legality or fairness of an individual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E3B72-B1DE-4CD6-B6D5-A6B3ED3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BE77-21CC-43A2-9951-6C94D55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A0F3F-F3D2-44D4-860F-1141E05A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Official site and boundary 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C8D04-44F0-42E2-9CDA-578E0CA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34665-4F8C-4A77-ADE0-C6E5EA49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D1472-1BD1-4D06-8C83-73555BE3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Notice, authority, hearing or review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7A1E2-EAE7-4B59-B5D2-60D2BC47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21295-C8D9-424E-AE6B-D4B37B97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726FD-CF12-4A36-8800-1F5EE20E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Restoration, affected livelihoods and remedy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C6EE-91DA-45FA-BB14-C3F1047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parcel is labelled an encroachment here. Current legal requirements and court orders need counsel/official record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F9F59-EC08-4594-BCDC-3F5C2CE7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B14F4-04BA-416F-91CC-133D33B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515F-191A-45DB-BBE5-A4A5CF9E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72404-6570-4BC3-A4FF-83ACA50C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keep a case tracker for the order, boundary record, notice, review route, implementation and independently checked outcome.</a:t>
            </a:r>
          </a:p>
        </p:txBody>
      </p:sp>
    </p:spTree>
    <p:extLst>
      <p:ext uri="{BB962C8B-B14F-4D97-AF65-F5344CB8AC3E}">
        <p14:creationId xmlns:p14="http://schemas.microsoft.com/office/powerpoint/2010/main" val="5591211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D64D4-F099-496E-ACA8-A50ADF32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COORDINATION AND POWER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3A799-643A-4714-81EE-4F90424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E2DC7-B95B-49F2-98CA-9DDA4D6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M21 · F03 / F06 / F30 · I21 / C21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D70A7-DFE7-430D-AD69-602A51A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FA346-4484-4D02-A69C-C8E3BAE7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Accountability needs a named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7CAEC-9A7C-471A-8672-7895CB6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Three municipal jurisdictions coexist with programme-specific and CURE-wide bodies. Cross-agency outcomes need an explicit coordination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7B787-84C2-461C-9983-6D0E543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74988-D1A1-4784-8490-2F2EF839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706FF-7B5C-47A5-8EA6-FAB4D1E2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70D5C-1EE3-4BA6-8D0E-297B7B2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Authority and instrument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8295F-D1FC-42B6-BBA5-2ABFA0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F2888-F9FC-4900-9D57-5D00B85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644B1-1F9F-41D1-85D7-007C76C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65401-591A-4F9C-B031-39A91A9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Release and 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4D579-4A03-44ED-A6E7-08D49FD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6887-18A3-4452-A623-35551758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D8925-7B9A-4FA0-A831-C39ABB02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Deliver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0D467-D3AB-4802-89A7-4FD51837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Execution and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D50F2-422D-429E-9E21-416F3A8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095625"/>
            <a:ext cx="252888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E5FF7-8FFD-40C6-A1DA-A727AA1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562350"/>
            <a:ext cx="252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21A65-57E8-4FE8-B2B6-025EB47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752850"/>
            <a:ext cx="25288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2FD73-C659-4AA2-9C31-D1B8C503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429125"/>
            <a:ext cx="252888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Grievance, review and 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3E016-D8BC-48EC-BA56-F2B57122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Proposed operating design. Access to officials, internal records and escalation routes depends on employer approval.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16632-AA35-422E-A3EE-F62B77B2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13684-60BA-4339-804D-E39BAE2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41D79-A64C-45EC-A116-46E52589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B4715-23C8-472E-9F3C-B6FD23F7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assign one issue owner and keep decision, funding, implementation and grievance handoffs visible.</a:t>
            </a:r>
          </a:p>
        </p:txBody>
      </p:sp>
    </p:spTree>
    <p:extLst>
      <p:ext uri="{BB962C8B-B14F-4D97-AF65-F5344CB8AC3E}">
        <p14:creationId xmlns:p14="http://schemas.microsoft.com/office/powerpoint/2010/main" val="21370973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19155-353E-4B31-9FB2-A4C76F4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INFORMATION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28207-9DBE-4663-9A05-AB38F8E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81313-3828-45D7-BD88-ACC8EFF7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M22 · F01 / F31 / F20 · I22 / C22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2354-BE1B-450D-B98A-6BB508D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FED39-ED5A-416E-8198-F31D3E5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Public discourse is evidence about discourse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D7F70-A37B-4563-9F34-0CC3186D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Official communications establish stated positions; news reports provide scrutiny. Neither social-media volume nor a few interviews measures public opinion.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0E88E-ADDA-49D6-8934-D6507CC9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8BBC0-A8EC-407B-8C33-FF7F7E4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CCE26-18D5-4400-8DB2-810FCE74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What was claimed, by whom and when?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0485-E086-4541-AB36-EC08C68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3499E-31F7-43BC-B9E1-E9B6FBA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054C9-6768-4768-A01F-B133221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Which record supports or contradicts 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AA08-AF61-4E83-A146-B111353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F8C2A-D251-4913-A8FE-167986E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E10EA-C46F-455F-AB76-759B604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What valid method measures understanding?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9598D-AF61-4EF2-85EC-0CE9B4A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Proposed Telugu, Urdu and English review with qualified language support. No claim to my fluency, representative survey, private messages or sentiment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D8A56-1854-41A0-ABA9-8A525A8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14F42-C2DD-476A-AC64-2750086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D38CC-17B6-406B-810F-B531FB9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C4461-829C-48E3-BA6A-A1C3F09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run a multilingual issue log with source lineage, verified translations, correction status and a representativeness note.</a:t>
            </a:r>
          </a:p>
        </p:txBody>
      </p:sp>
    </p:spTree>
    <p:extLst>
      <p:ext uri="{BB962C8B-B14F-4D97-AF65-F5344CB8AC3E}">
        <p14:creationId xmlns:p14="http://schemas.microsoft.com/office/powerpoint/2010/main" val="11435965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0CA0C-EF0C-429F-9F58-BDA22D63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KNOWN, DISPUTED AND UNKNOWN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43B28-F0CC-4EA5-90F2-6CF829B8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F2E7B-A385-4E9D-9E3B-EA5514AB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M23 · F03 / F07 / F20 / F27 · I23 / C23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CB24-394A-40C8-B5DB-265027AB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91622-271A-400B-A309-8F9CC03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Uncertainty is a research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724CF-F090-4CB4-949D-EA5679DD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Results and notified geography are strong anchors. Service performance, legal status and representative experience need separate current evidence.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B6507-986B-48FB-8A08-6582295E001B}"/>
              </a:ext>
            </a:extLst>
          </p:cNvPr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7050"/>
                <a:gridCol w="4029075"/>
                <a:gridCol w="3876675"/>
              </a:tblGrid>
              <a:tr h="3962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Status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action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 results; GO 55; 2026–27 BE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dated records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Disputed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2025 Jubilee vote totals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Exclude; obtain final Form 20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civic poll schedule / roster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Obtain official notification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outcomes / experience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Records + consented interviews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1F251-F7CD-45C0-9907-81EF534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exhaustive claim about all developments up to cut-off. Source accessibility and absence of fieldwork constrain this work sample.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80154-3EFF-47E3-8B5D-61C7DC10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A9327-5638-467B-BFB0-B5F4A67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38787-68C3-4E1D-88E0-89CA389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9FDEA-8985-469D-8D5C-DF0BE9F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maintain explicit expiry rules and assign a validation task to each consequential unknown.</a:t>
            </a:r>
          </a:p>
        </p:txBody>
      </p:sp>
    </p:spTree>
    <p:extLst>
      <p:ext uri="{BB962C8B-B14F-4D97-AF65-F5344CB8AC3E}">
        <p14:creationId xmlns:p14="http://schemas.microsoft.com/office/powerpoint/2010/main" val="11805964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C3B26-6114-4AFE-8999-61048F4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PRIORITISED RESEARCH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A273F-1A48-48C5-8C2A-990B33F7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B7666-736E-4D73-AC38-0F2E38C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M24 · F03 / F20 / F21 / F30 · I24 / C24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383B-99CA-462C-BB74-9E1E1B13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344F-7BB5-4675-9542-3405E4B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Start where errors change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C4211-EE4B-47B4-A2DA-4A7ACF32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would sequence work by the risk of misclassification, decision relevance and dependency—not a fabricated electoral opportunity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951F8-8154-4A45-A4AA-B7F1F19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1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66043-8801-4CA1-978A-E6C5BD54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Geography and 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C4FFA-D0FA-4FD9-B6EF-21C4C29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Boundary files; official roster; civic notification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AC52B-25CB-4A45-9392-C1938864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0EB17-F925-487A-9864-00102C15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1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5D5DC-776C-46CF-9675-F110407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Urban delivery 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D8C2F-0A3F-45AA-8EBC-AB8DE97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Release, award, spend and completion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8D199-9E60-44C6-8510-CB51E72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3B915-7387-48DC-90D9-74934D2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61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7EC8D-722D-4041-94ED-A2B2319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Musi / HYDRAA case briefs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84F72-3C31-438C-82C5-3658C01E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814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Environmental, livelihood and process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ADBC1-A54D-4511-96A8-FA1AD4F3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529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46B77-CD00-449B-9F8A-88577C6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15894-88A3-4891-9E01-46C3F8B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386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Service-access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66CDA-7351-4609-A9B3-E25D242C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862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Approved interviews and administrative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5AC10-160A-47AF-95BF-8E88D8E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594B9-12C6-42CC-82CC-A5679A03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Proposed priority order; not measured demand or a promise of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E4645-031D-4DE7-85F8-A6E1B88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D38EB-C03D-4F1E-8B52-628EDB53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819A4-2C0F-44FB-8807-6CE8F8B8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2432B-C0B8-48B5-92E8-FC9F09F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agree the first research backlog with my manager and publish owners, dependencies and stop conditions.</a:t>
            </a:r>
          </a:p>
        </p:txBody>
      </p:sp>
    </p:spTree>
    <p:extLst>
      <p:ext uri="{BB962C8B-B14F-4D97-AF65-F5344CB8AC3E}">
        <p14:creationId xmlns:p14="http://schemas.microsoft.com/office/powerpoint/2010/main" val="13842925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6ACA9-A30C-4FCD-A746-FC015CE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PRODUCED EVIDENCE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D41E-6C8C-425D-A2DA-DED024A7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9C74C-D90B-475D-BFBC-6342EA6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M25 · F21 / F22 / F23 / F24 / F25 / F26 · I25 / C25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D5C36-5297-4F3E-A129-A75EA36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FA18-D654-4C08-B22C-45BB3582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 work sample you can 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002BF-A4F0-41F6-8499-1A80908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This deck includes a usable CURE budget baseline with exact instruments, reference years and open implementation fields.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8486F-7E78-4301-8832-A5A0D64CEA4B}"/>
              </a:ext>
            </a:extLst>
          </p:cNvPr>
          <p:cNvGraphicFramePr/>
          <p:nvPr/>
        </p:nvGraphicFramePr>
        <p:xfrm>
          <a:off xmlns:a="http://schemas.openxmlformats.org/drawingml/2006/main" x="609600" y="2800350"/>
          <a:ext xmlns:a="http://schemas.openxmlformats.org/drawingml/2006/main" cx="109728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6275"/>
                <a:gridCol w="1647825"/>
                <a:gridCol w="1809750"/>
                <a:gridCol w="3028950"/>
              </a:tblGrid>
              <a:tr h="3048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instrument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2026–27 BE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stage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Spend / outcome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H-CITY assistance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₹2,654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Musi development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₹1,500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HMWSSB development loans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₹1,450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Metro Phase II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₹600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HMRL loans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₹500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KL reimbursement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₹300 cr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 only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3953A-B5A9-4A80-ADF1-C1ADC0DA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internal spending feed or field validation. Unverified stages remain explicitly Unknown.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C8CEA-A3C9-48BA-984C-5C8768BB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32265-FB0C-49FE-877D-F836AD4F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FB5DB-2C24-4ABE-A184-663788A0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EE63E-5A72-41B0-95A6-CE0CEEE0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maintain the baseline as a reviewed weekly brief, recording each new document and change in status.</a:t>
            </a:r>
          </a:p>
        </p:txBody>
      </p:sp>
    </p:spTree>
    <p:extLst>
      <p:ext uri="{BB962C8B-B14F-4D97-AF65-F5344CB8AC3E}">
        <p14:creationId xmlns:p14="http://schemas.microsoft.com/office/powerpoint/2010/main" val="21275583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913C37-54AD-4F73-8D8D-C2F840C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MY PROPOSED OPERATING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0544A-5EE9-4F25-974B-8C6A6CA9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90616-336B-4B0A-BFB8-7B0D01E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M26 · F35 / F36 / F01 · I26 / C26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79A08-AF60-4DE3-B4A7-A3560EA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2EE60-DB6E-4130-94E4-35401283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One workflow from discovery to refresh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21ED6-7B5A-4224-8C81-2E0D6329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An insight should retain its evidence, uncertainty and accountable next action as it moves between research and delivery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BAD7E-2BCF-4046-87FF-8DD32651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96596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0F754-A11B-4E8C-B4F1-5668C904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965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03069-DFD8-45EB-9391-9EE5B2F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965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E966-EC75-4CCA-9463-ACD49480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96596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Issue, scope, original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5FDD-11D2-4E06-B33A-021AB453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095625"/>
            <a:ext cx="196596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93707-5559-4A9A-A04A-4C72E214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562350"/>
            <a:ext cx="1965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C6194-3EDB-4061-99D2-55C287D5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752850"/>
            <a:ext cx="1965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DADA7-F7A6-44DA-A7AD-57524DBD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429125"/>
            <a:ext cx="196596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Five gates; contradictions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B3FAA-2AE5-4F84-A5AC-1B9303CC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095625"/>
            <a:ext cx="196596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A356D-98DA-4ABD-B6C7-60865A5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562350"/>
            <a:ext cx="1965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5E1C0-A463-40CD-B75B-C8DC944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752850"/>
            <a:ext cx="1965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Synthesize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08784-7BA7-446D-8A1F-E1FF893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29125"/>
            <a:ext cx="196596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Finding and alternatives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50BB6-F978-4AE5-994D-E9C2584D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095625"/>
            <a:ext cx="196596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90D96-5629-415F-8B0C-667B27EE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562350"/>
            <a:ext cx="1965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E9EC3-41D6-4301-8F09-98B8004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752850"/>
            <a:ext cx="1965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5450B-9AE2-4D95-8226-A8A117A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429125"/>
            <a:ext cx="196596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Manager/subject specialist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6CFE4-9400-44FA-8F0D-CA3A197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095625"/>
            <a:ext cx="196596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14D2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8960E-AFC0-4713-822E-E289575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562350"/>
            <a:ext cx="1965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128DF-87FB-48ED-938D-CC8E864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752850"/>
            <a:ext cx="1965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Refresh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9CA1C-B282-4D24-B403-7234C1C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4429125"/>
            <a:ext cx="196596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Expiry, correction, change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4B069-82D8-4237-9C45-7C5CCE9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Owner: me under a research lead. Depends on approved repositories and reviewers. Fall back to a shared spreadsheet if tooling is limited.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E56F8-84EA-454E-9A38-715C908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10FCF-5DAD-4501-999F-CA0C71D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CE451-E0DF-4270-8143-7615CA48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011D3-1B28-4DC9-981D-7425442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introduce a short daily triage and a manager-reviewed weekly research brief with a correction log.</a:t>
            </a:r>
          </a:p>
        </p:txBody>
      </p:sp>
    </p:spTree>
    <p:extLst>
      <p:ext uri="{BB962C8B-B14F-4D97-AF65-F5344CB8AC3E}">
        <p14:creationId xmlns:p14="http://schemas.microsoft.com/office/powerpoint/2010/main" val="6184852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71A6D-C045-4381-B775-6F8A6441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ONBOARDING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485D5-76FE-44B4-9C1F-48D430B1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EF607-3A37-46D4-9E67-F9FA76AB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M27 · F03 / F35 / F36 · I27 / C27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8CA27-666A-4C3F-9953-1D5D4119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FD44F-1F76-46DB-BD3F-0F67918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First 30 days: a defensible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AA495-F0A0-48FD-829D-7E18061B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would establish the geography, source inventory and reporting rhythm before committing to broad field conclusions.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7FABD-96BA-4B3B-BCC9-09A9828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659D4-810A-4D63-A099-5214187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Week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2DD16-052E-4DAA-B900-38C26C92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Role and geography alignment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9C409-B380-4D25-BCA1-1206E41E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44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Manager signs scope and permitted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66946-A37C-4E7C-8807-856F7E07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4C7B-FD4C-4166-9449-1436EA8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Weeks 2–3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43A1F-71ED-42DD-BBEA-69DC68AE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Four bounded issue briefs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FB384-02A7-403A-8BDB-6037C39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676775"/>
            <a:ext cx="344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Source/claim coverage inspected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BE698-EE48-4ACC-BC5D-99A3D91D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98716-16BD-437F-B0E0-455EDEA2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Week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ED57A-79D5-43C1-BF9D-FB2592A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Baseline retrospective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8E750-EA48-4D9B-A028-24AC340D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676775"/>
            <a:ext cx="344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Review errors, hours and missing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F352A-1C46-44F8-8342-E81C735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Planning assumption: roughly 10 focused research hours/week plus review. Employer workload and priorities determine actual output.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02B69-18D3-4194-9FA7-DD3C8E18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A2C1F-BBA0-4388-AF4A-BF4F8C70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24011-EDC9-476B-9E21-2A431E42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5A72F-10FF-41F9-A59A-AC581A6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deliver one boundary register, one source ledger, four short issue briefs and a manager-approved research backlog.</a:t>
            </a:r>
          </a:p>
        </p:txBody>
      </p:sp>
    </p:spTree>
    <p:extLst>
      <p:ext uri="{BB962C8B-B14F-4D97-AF65-F5344CB8AC3E}">
        <p14:creationId xmlns:p14="http://schemas.microsoft.com/office/powerpoint/2010/main" val="5899563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8D7D4-8F6C-4E8E-8D2A-F5D18EC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RESEARCH VALIDATION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95A22-E122-451C-B2CC-7D3F3B6E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322F1-C557-43AE-A828-52C6770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M28 · F30 / F31 / F06 / F36 · I28 / C28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E7796-607F-4F87-8ED4-E36433FD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935B1-1BE8-45EA-8DAB-41819BB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Days 31–60: validate the weak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304CC-A0AD-4859-BF78-A695544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would test the highest-impact gaps through authorised records, agency clarifications and consented qualitative research.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F5CA6-480E-439F-83B1-33F4746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2CC29-1000-4D64-97C0-DB65271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EB1D1-999E-4687-B1DE-6626ABC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Two issue briefs with document updates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FC5AF-3896-4C53-9CF0-9071D08D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1B63-E52E-4B4A-ACB5-795DDFB9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Listen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34FD7-C436-43FA-BA41-E052540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Pilot 5–8 consented interviews if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E7034-2825-4688-91A5-2A19610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E84DD-11CB-4B02-9FD5-09FB79E1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DF2F7-9878-4996-A58B-AD895EAE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Test at least two rival explanations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5F8CF-17CB-4710-843B-861219D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C870A-AE9A-40AF-A632-8A94539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5A053-B6B0-4396-96BB-A13A293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No survey percentages from a qualitative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6EA14-503D-4C46-B5C8-C974189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Assumption: manager approval, permissions and language support. If access fails, publish desk-based gaps and narrow the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4E0F7-B127-48B9-9DC9-2DD54E7E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C763B-52DA-404A-99C8-5EF662F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635D8-97DF-40C5-A4E3-B4440C7A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95BF9-41F8-48E8-B87A-62C77284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refine two case studies and test interview guides with qualified local-language support.</a:t>
            </a:r>
          </a:p>
        </p:txBody>
      </p:sp>
    </p:spTree>
    <p:extLst>
      <p:ext uri="{BB962C8B-B14F-4D97-AF65-F5344CB8AC3E}">
        <p14:creationId xmlns:p14="http://schemas.microsoft.com/office/powerpoint/2010/main" val="19432516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C1270-C710-4D38-8D02-A31AD10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OPERATIONAL LEARNING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066E6-579A-4C4B-B20C-2BF552B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3C63-EF32-42CC-9421-A67488B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M29 · F35 / F36 · I29 / C29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E3C35-9DFD-4E79-838F-9910876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A96C6-B0C2-4922-94B2-D2B2B9DE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Days 61–90: improve and hand 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80CD5-62BE-433E-91AF-995685CD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would evaluate evidence quality and turnaround against the first-month baseline, then hand over a reusable research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FF3E-EC12-4741-83F1-0F4CBE6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E9981-811C-4B1B-8F0C-7DBEF775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B2FD2-022E-4EFA-A4A4-25611C7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Unsupported assertions; correction 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28C5B-2764-45AB-AE91-8C0FCE9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D0049-271F-4C99-B841-32302BE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Usability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4D414-EC69-411C-9BAA-2779DF0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Reviewer questions answered; decisions 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F7D32-D3FF-425D-8D92-8191A6A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72E93-7806-4BA2-B114-3EC2A0F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Speed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5B28D-4678-4C6A-81E9-8E4E48A5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Comparable brief turnaround, no rushed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FF478-7D53-48EC-8FB7-19C96A0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114675"/>
            <a:ext cx="2500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06BFC-4E2D-4D78-BD5E-636DE69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343275"/>
            <a:ext cx="25003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Handover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E40B4-614D-446C-B4E3-6D96E70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4019550"/>
            <a:ext cx="2500313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Owner, source, expiry and next action retained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41875-564B-44BC-BB48-059A2752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Track correction count, broken citations, scope errors and review time. Avoid targets that reward hiding errors or premature publication.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520EC-6FC7-4088-B2E9-7466815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96AAE-16EB-4E70-86B9-D1524258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4418C-24D8-4528-BBDD-0197273A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F1F2C-A172-417A-ACF2-09F9A78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deliver a reviewed atlas scaffold, refresh calendar, two refined case briefs and an onboarding guide.</a:t>
            </a:r>
          </a:p>
        </p:txBody>
      </p:sp>
    </p:spTree>
    <p:extLst>
      <p:ext uri="{BB962C8B-B14F-4D97-AF65-F5344CB8AC3E}">
        <p14:creationId xmlns:p14="http://schemas.microsoft.com/office/powerpoint/2010/main" val="16967842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5054F-E67A-4C14-8D55-677F60B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MY CONTRIBUTION AND LEARNING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40CEF-8140-4109-B0D1-1071A19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4121E-4C2F-4DA0-95B9-8C8B85C8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M30 · F34 / F35 / F36 · I30 / C30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BAFDE-D716-4770-9570-61C9EDD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87974-8F6B-4A9A-BD4B-C262186C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Experience is evidence; transfer is a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777AB-21AB-4144-AD9D-1CFBAB91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My resume reports political-intelligence review work, cross-functional coordination and a Meghalaya public-distribution modelling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5D800-E645-411F-BFC5-4AA34048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923EB-865E-4069-AA4C-673AF29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What I bring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C964-799F-4185-A171-990B398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review; modelling; clear handoffs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EB601-8ED2-4896-B47E-FF663F8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85E50-800B-4A57-8C3E-369A997D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What I must 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0E39-423D-4CEC-AA8C-C7C3B84A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Local context; current rules; language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4B79E-ECB9-4833-B7FC-1C5BC9F0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43F76-7E85-4E83-B042-1A846B6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How I would prove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0F597-9D91-4CF0-BAA5-3D9416B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bounded first-month brief and review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8842B-FD46-4905-A997-838DBCB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No independent audit of CV outcomes. No claim to local-language fluency, Hyderabad field networks or guaranteed political impact.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A9855-0410-4701-80A7-D41E913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8B92E-3A29-4500-80B9-ED08D45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78A4B-E832-4E24-B16E-48E4006A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2D9FD-CC90-4B00-9330-613A33B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bring structured research and operational discipline, while building Hyderabad context through supervised local learning.</a:t>
            </a:r>
          </a:p>
        </p:txBody>
      </p:sp>
    </p:spTree>
    <p:extLst>
      <p:ext uri="{BB962C8B-B14F-4D97-AF65-F5344CB8AC3E}">
        <p14:creationId xmlns:p14="http://schemas.microsoft.com/office/powerpoint/2010/main" val="616537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572F9-3392-4110-8017-73E1824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CLOSING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62C96-EA7E-4C92-9DF6-BA2E35D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FEF0E-153D-4FC8-9AAD-B24B5A9B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M31 · F35 / F36 / F02 · I31 / C31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C7D35-0462-4603-ABED-B0D58BD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510DE-8548-49EB-ACCC-62015CF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Interview me for the work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B0A44-A012-4624-80CA-E962963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15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can offer a careful research perspective, traceable synthesis and a practical path from analysis to a reviewed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A3DC8-92DF-4D63-B452-FF0A249E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B450-EC37-4FDB-9287-62081308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BDD26-3F16-46EF-9017-8E8C2A18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define the institution, boundary and 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42563-1C74-43D2-BA23-8A53ABD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C5A48-C9FF-41EB-B97B-B537EFF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Judgment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E7A48-5F78-4752-89E1-DC18A28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separate results, inference and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21EAA-27EC-45BB-923A-1A79C8D6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114675"/>
            <a:ext cx="344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6FBF8-AC1D-40C7-8F7F-DAE9AC6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43275"/>
            <a:ext cx="344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B87EE-CD07-4709-B274-792330C6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9550"/>
            <a:ext cx="344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 leave an owner, deliverable and validation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8A52F-BE8B-4938-8243-B179E69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Fit and priorities must be tested with the actual hiring team.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054D5-E39E-4E64-B646-B71D75B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57B4A-CACE-479E-83CC-75BA58F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2DE43-11A2-4333-A900-571C531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04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HOW I WOULD CONTRIBUTE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B0BB9-14C8-417A-AF51-59EAA7CF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912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I would welcome a discussion of one issue brief, its strongest counterargument and the first work product the team needs.</a:t>
            </a:r>
          </a:p>
        </p:txBody>
      </p:sp>
    </p:spTree>
    <p:extLst>
      <p:ext uri="{BB962C8B-B14F-4D97-AF65-F5344CB8AC3E}">
        <p14:creationId xmlns:p14="http://schemas.microsoft.com/office/powerpoint/2010/main" val="2437267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90D4A-7999-4DAF-B117-EE1FB3C4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MANASH PROTIM DEORI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99ED1-4A04-4AC0-A90D-9285089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E4395-1E6D-47DD-BE50-3F413334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M32 · F37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6F22D-5240-47F0-833D-2EDCAA7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32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0C682-A54E-47C0-9003-4F337ACD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66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0CFB-90CF-4BCD-853A-2CC22F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19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For considering my application to Inclusive Minds.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76F44-AB52-45BA-BED2-C7F02E6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052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MANASH PROTIM DEORI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23D1D-6F02-48DD-95CE-E745DF0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76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Political consulting · Hyderabad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17C38-1FD4-42FF-8AC1-4E3769AD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67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5ED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7f7f0f855594f3b"/>
              </a:rPr>
              <a:t>manashdeori09@gmail.com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48962-5CCE-4658-B18E-984938A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863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8F5ED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ee686817b854ec1"/>
              </a:rPr>
              <a:t>linkedin.com/in/manash-protim-deori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D4BA7-5033-4D22-BF2E-68A65B3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Evidence, reasoning and limitations follow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5263640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7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5DEA7-1C14-4119-819A-B5EBED02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APPENDIX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BF213-66FD-41C9-A401-199389E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01CFF-FDA9-414B-8589-994729D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A01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70D42-182C-4FF0-9FAB-13AFE0A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33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72C48-0007-483E-BC7B-1ECAFDF0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668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54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rPr>
              <a:t>The argument,</a:t>
            </a:r>
          </a:p>
          <a:p xmlns:a="http://schemas.openxmlformats.org/drawingml/2006/main">
            <a:pPr>
              <a:defRPr sz="54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0">
                <a:solidFill>
                  <a:srgbClr val="F8F5ED"/>
                </a:solidFill>
                <a:latin typeface="Bitstream Charter"/>
                <a:ea typeface="Bitstream Charter"/>
                <a:cs typeface="Bitstream Charter"/>
              </a:rPr>
              <a:t>made inspectable.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35C6C-97F8-419E-B9AD-F945903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91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5BFA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5BFA0"/>
                </a:solidFill>
                <a:latin typeface="DejaVu Sans"/>
                <a:ea typeface="DejaVu Sans"/>
                <a:cs typeface="DejaVu Sans"/>
              </a:rPr>
              <a:t>Sources · Calculations · Reasoning · Contribution · Review trail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1B842-3A64-4B6A-A317-A4A4B17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00625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25 sources. 37 evidence items. 127 registered items.</a:t>
            </a:r>
          </a:p>
          <a:p xmlns:a="http://schemas.openxmlformats.org/drawingml/2006/main">
            <a:pPr>
              <a:defRPr sz="1950" b="0">
                <a:solidFill>
                  <a:srgbClr val="F8F5E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8F5ED"/>
                </a:solidFill>
                <a:latin typeface="DejaVu Sans"/>
                <a:ea typeface="DejaVu Sans"/>
                <a:cs typeface="DejaVu Sans"/>
              </a:rPr>
              <a:t>20 saved cumulative content versions.</a:t>
            </a:r>
          </a:p>
        </p:txBody>
      </p:sp>
    </p:spTree>
    <p:extLst>
      <p:ext uri="{BB962C8B-B14F-4D97-AF65-F5344CB8AC3E}">
        <p14:creationId xmlns:p14="http://schemas.microsoft.com/office/powerpoint/2010/main" val="14118526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6997A-EF84-4987-A327-6C2C62E4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VERIFICATION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4E53E-089C-4E99-B4E5-2D6351CE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B6103-047F-459B-89B9-5712EAD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A02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A9E3C-589D-46A1-82E6-BFA5E286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19867-B672-4732-92D1-AFC119D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What the five gates establish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40C1B-EA8A-4949-9C31-DFD88AF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G 1 ·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08378-3774-4BB0-9D17-44D6E09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Exact record/passage or labelled proposal; no snippet-only fact 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DE136-7F77-40A3-BD6B-8FAF72C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56D8C-B09A-483D-B85E-D3C8427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G 2 · Corroboration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C4455-7687-470B-8482-998F9E6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051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Authoritative result/order need not have five duplicates. Shared upstream sources counted once. Reported legacy tables labelled.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80BD3-3E40-4DD6-8051-C9EF534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93EB6-0AD7-4D3F-8CB4-5DD1939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G 3 · 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E3FC2-6DFE-4159-9320-EAD3811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Date, jurisdiction, boundary vintage, units and arithmetic checked. No AC/PC aggregation or budget-total mixing.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6ABB9-5E70-433F-8BA7-BCA17BF2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636D4-47FB-4753-A082-DCFF3C8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G 4 · Inference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FD88A-1C2A-46F5-AEF5-EA7149DB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958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Rival explanations and validation conditions in every main-slide note. Future feasibility remains conditional.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34D4F-CF52-481C-BD50-5F97278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7A643-0192-45D0-B6A6-DD689B7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G 5 · Practical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B45FD-BDF3-4624-AC3F-DED9E6C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911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Owner, inputs, reviewer, measure and fallback stated. No promised political effect or 100% accuracy.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0CB4E-C5BF-41F5-BE5E-D697D569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41066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7E04F-2E51-4DAD-A9BD-1BCDA415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RAW ELECTION CROSSWALK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3174-994B-4E5F-9129-933DF9A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49D13-F3FF-4DB6-A2D5-C71D59C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A03 · S07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F284C-AFE6-45BF-9716-3458D8A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C33A5-DCF9-49AE-AD63-1068698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2023 study set: AC 57–71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76382-27B5-46FF-BFA5-EB007EDD356D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52197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362075"/>
              </a:tblGrid>
              <a:tr h="460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Assembly seat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Winner 2023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 Musheerabad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 Malakpet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 Amberpet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Khairatabad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 Jubilee Hills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62 Sanathnagar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 Nampally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 Karwan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046C8-2F9C-4392-8F64-C7E0562D8A4F}"/>
              </a:ext>
            </a:extLst>
          </p:cNvPr>
          <p:cNvGraphicFramePr/>
          <p:nvPr/>
        </p:nvGraphicFramePr>
        <p:xfrm>
          <a:off xmlns:a="http://schemas.openxmlformats.org/drawingml/2006/main" x="6248400" y="1790700"/>
          <a:ext xmlns:a="http://schemas.openxmlformats.org/drawingml/2006/main" cx="5334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71925"/>
                <a:gridCol w="1362075"/>
              </a:tblGrid>
              <a:tr h="517922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Assembly seat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8F5E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Winner 2023</a:t>
                      </a:r>
                    </a:p>
                  </a:txBody>
                  <a:tcPr marL="95250" marR="95250" marT="57150" marB="38100" anchor="t">
                    <a:solidFill>
                      <a:srgbClr val="165744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 Goshamahal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BJP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 Charminar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 Chandrayangutta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 Yakutpura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 Bahadurpura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AIMIM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 Secunderabad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 Secunderabad Cantt.(SC)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C2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BRS</a:t>
                      </a:r>
                    </a:p>
                  </a:txBody>
                  <a:tcPr marL="95250" marR="95250" marT="57150" marB="38100" anchor="t"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61705-62CD-4DEF-871B-69A648E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Source S07 · Election-time affiliation; explicitly selected 15-seat set; not current municipal territory.</a:t>
            </a:r>
          </a:p>
        </p:txBody>
      </p:sp>
    </p:spTree>
    <p:extLst>
      <p:ext uri="{BB962C8B-B14F-4D97-AF65-F5344CB8AC3E}">
        <p14:creationId xmlns:p14="http://schemas.microsoft.com/office/powerpoint/2010/main" val="19172624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EC30D-B1D9-43A3-AAE3-1B72CB08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33D60-22F4-4FC6-89FB-C805F41B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657E0-7C2B-4EBC-806F-F16A7BC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A04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694EB-6158-459C-8318-880CEEC9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9E31-E38E-4C10-B85C-B6EEF1EE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Arithmetic and comparison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AE3AB-E562-416F-B969-851DDFEF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State seats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1C607-C24E-4521-803C-20991D4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64+39+8+7+1=119 · S06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94F6B-EEFA-4C31-B6F4-76629A6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AFA40-1D48-477A-8EB4-74AEFA9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Selected seats 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76F86-0030-476C-A7C3-E3CDE34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33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 BRS+7 AIMIM+1 BJP+0 INC=15 · S07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1E2A3-7D8A-4D75-BABD-48F3AFC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66E4F-1ED4-4837-8924-899085E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Reported GHMC 2016/2020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EBBF2-662C-4C15-A806-58F9D5BF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575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99+44+4+2+1=150; 56+48+44+2=150 · S19–S22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30FF4-E14F-40B9-A488-0DAC4C00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C1E6A-478E-4B65-AC3B-09EF29F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Margins 2023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87AEE-17ED-4CC2-954E-332BD9DA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814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62,185−60,148=2,037; 46,153−45,275=878; 99,776−18,116=81,660 · S07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EF0D0-DF3A-4EED-B666-847FF727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E5E9A-DB0A-4B85-AD8A-9FABF80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State capex nominal BE/RE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640DD-B4C1-4B2B-B20A-AE52730A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7053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(47,267.28÷36,480.87−1)×100=29.5673%; rounded 29.6% · S09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FABE8-131C-4733-8C7B-48F5246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C1C89-EC40-42AA-A602-D126DD9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Excluded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D216D-32AB-4307-8404-84FA4EB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292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No summed Hyderabad budget; no cross-ballot swing; no individual vote-transfer inference.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3F78E-70F9-40A5-9183-9364F99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7964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D3B39-D466-4745-AB74-4BE9178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6C081-0C99-4E6B-95E0-E052EC9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66613-C7AA-41D6-BFBF-F2BCCC5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A05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7832D-8E46-444B-B9AD-C1C848CF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DDC0A-CC8E-4F89-B902-766BD34F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01–02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24ABE-52EC-40AE-8B86-742439B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798BC-113A-4587-88C7-2F50F869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M01 · Hyderabad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60D9E-2C70-40F1-B14C-5F770D4C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F34,F37 | 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Editorial title for a professional research work sample.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Research cut-off 8 October 2026. Prepared independently; no employer or party endorsement.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78001-183F-4DB9-B061-EAA2D17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C01 / R01: Framing/contact or adjacent executive contributions.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Candidate/contact source is self-reported.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54B63-004A-45A6-B765-38E0D42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78A7E-C877-4960-98C0-5E946332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M02 · Power, place and public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DADE5-A810-4584-9FEA-4745ED3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F03,F07,F08,F21,F22 | S03,S04,S06,S07,S09,S10,S15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Geographic discontinuity and contrasting electoral observations make a single-city political narrative unreliable. Public investment lines create testable implementation questions.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The selected electoral units are not identical; allocations and governance changes do not establish public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CB932-6A8D-49DA-8671-B300FDB3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C02 / R02: Framing/contact or adjacent executive contributions.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3739002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0C351-78DF-4184-A136-868BA01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C2F7A-4F04-4727-8BE4-BF966590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F4250-8241-4D4C-99BD-43E3ABE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A06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51690-7055-44D8-854B-210635B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086A1-FD10-4993-9E8E-E14A2B2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03–04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A3A50-5C1E-4A5D-8F6A-66C9810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89706-80B6-4B11-A187-091D24F6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M03 · Relevant methods; honest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F5936-52C8-4E4C-B11C-A81971B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F01,F02,F34,F35 | S01,S02,S25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Research and project coordination in the resume match public role requirements at a methodological level.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Exact requisition and open status unconfirmed. I do not claim knowledge of internal workflows or personal ideological alignment.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AB18-9388-4E98-8F45-C98CBFF1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C03 / R03: I would turn research into concise, source-backed briefs and coordinate review across functions.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4B56C-620D-448D-8969-7629DD3C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0B2F1-A479-491B-A954-1C89B047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M04 · Define the unit before the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40D8C-4B0B-478E-9B03-19FB25B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F03,F04,F05,F33 | S03,S04,S15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GO allocates municipal zones; election tables use constituency codes. A name match does not establish identical population or jurisdiction.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Classification schematic, not a geographic map. No unverified GIS polygon or area estimate is shown.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42471-B877-4035-A5D5-05A13BD8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C04 / R04: I would create a dated crosswalk with overlap rules, official boundary files and exclusions before analysis.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9954508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BE6C6-E6A3-48D9-8B09-95F25BE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60543-2EFE-47BA-B7F1-7289EF85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497C5-C9CA-4BC8-8D05-E6B2CA3C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A07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0CE6B-930D-4CA4-B80B-14A302B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39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7C88-F5EF-4A37-AA17-9640FF80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05–06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79753-AD5F-4EB9-BD3B-F6EEFCB5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8F442-6538-41B5-B811-26336F24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M05 · Five gates, one traceable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74F01-D50E-4BD9-8656-C26BE1A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F02,F20 | S02,S23,S24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Five distinct checks reduce identifiable errors; they cannot guarantee certainty or replace field validation.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Twenty reviews are cumulative self-review passes, not 20 independent reviewers.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C4B95-D50F-4948-A601-C72D1A3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C05 / R05: I would keep a claim register, contradiction log and refresh queue attached to every brief.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405F2-A786-4762-AFEE-D5AA13C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791CA-7F49-4BB9-91FE-35EB161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M06 · The political timeline is not 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A4445-37FE-437D-9302-EE5D6DC9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F16,F17,F18,F19,F07,F03 | S03,S04,S06,S15,S16,S17,S18,S19,S20,S21,S22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Results from different institutions document changing competition; they do not prove one stable electorate trajectory or a cause.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2016/2020 municipal and 2018 summary figures are explicitly attributed reporting. No transfers of voters inferred.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9675F-B91D-4E8C-B845-D56A7E8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C06 / R06: I would maintain an event ledger that separates electoral results, office changes, boundary changes and delivery milestones.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076170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4F756-CBC8-4772-B212-66623CA9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A4F0E-77B8-43BD-9029-D58A3558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1EF73-7EE2-4C48-970C-6425C0AD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A08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12A3A-C21D-49DA-AB90-86163B5D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AC935-25C8-4494-BA74-244F41E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07–08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29C-7F45-45C9-BA50-5EA90B30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036A4-C278-41B6-8935-A2A71405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M07 · Follow the decision, budget and remedy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34E33-A7D4-4FE6-9F19-2B8012F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F03,F06,F21,F30 | S03,S04,S05,S09,S10,S11,S15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documented institution-specific chain is more useful than assigning every urban outcome to one politician or department.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This is a documented-role scaffold, not a complete current statutory responsibility matrix. Case-specific powers need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4AB5A-77BD-4DC3-85F2-3DB0A3EB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C07 / R07: I would produce one responsibility sheet for each issue: decision owner, payer, delivery body, review authority and evidence gap.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C9F51-CAC0-4BD4-B6A6-468825C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DC296-FFC5-408B-9279-6AAD000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M08 · Different cycles, different baselines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C9EDE-0C90-4664-B303-2FCAF9A2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F18,F19 | S19,S20,S21,S22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Reported same-institution seat counts show council-level change. Seats are not votes; result differences do not identify voter transitions.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Historical 150-seat GHMC tables, based on two corroborated reporting lineages. They are not 2026 corporation totals.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31EE0-0088-4005-B224-B3E4D27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C08 / R08: I would preserve raw election vintages and compare only equivalent units, with candidate and boundary changes recorded.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258673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C90B-2F24-4B6B-A050-9EAF4572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3DCAE-E4F3-4887-B0F1-A93CEC2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A9A0-2967-4297-B097-9CA6165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A09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6BCCD-7DCD-49EF-ACA1-B13FC4A1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A659A-2C34-4AC0-BEED-FEA5661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5D4D1-8280-4D57-8314-F03101C1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27D2E-7FD4-491B-B677-4F44860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M09 · The state result did not describe every seat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C37A8-9EA5-41DD-A181-04462D18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F07,F08 | S06,S07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contrasting selected-set result falsifies a claim that the statewide winner also won everywhere in the urban core.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Selection is disclosed in full; no claim that 15 seats represent the entire metropolis. Historical results, not current membership.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17456-EF3B-46C3-87FC-C15586D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C09 / R09: I would write explicitly scoped constituency briefs rather than treating the state mandate as a metropolitan result.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F5912-8D1C-49B3-91A2-B18049CE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DF3C5-63DE-4FBB-87CB-96D5A827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M10 · A ballot is an institutional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01164-E4E6-47C3-B7C7-02BCC2F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F12,F13,F14,F15,F08 | S07,S08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Different institution-specific observations show why political strength cannot be represented by one number.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Four PCs and the 15-seat AC set are not coextensive. Candidate effects, turnout and national context remain rival explanations.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3804F-6F58-4C91-A968-DEAE9C04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C10 / R10: I would keep Assembly, parliamentary and civic result series separate, then test possible explanations through approved research.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673530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82366-30B9-4B65-9D08-2DEF6E2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029B6-469F-4960-AE02-21BD13BB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92CC6-2CAB-417C-8747-ED42078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A10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3E409-1254-4C2A-8E19-0BE7C5C9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F171A-3671-4079-A13C-ABC3CDF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B5993-0E54-439F-96B4-ED963972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1D846-CD80-4400-AC68-CC991E0A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M11 · Competition has several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C7AD5-7645-4227-AB66-B6ABC8E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F09,F10,F11,F20 | S07,S23,S24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same winning party across seats does not imply uniform competition. The 2025 Jubilee Hills reported Congress win also cautions against freezing 2023 as the present.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Margins are vote differences, not estimates of community opinion. Current legislator affiliations, legal disputes and municipal leadership require a fresh official roster.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63640-71DF-49CC-A1D2-FEF6372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C11 / R11: I would distinguish party presence, candidate competition and institutional control; update legal affiliation separately.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0845F-BDAF-448D-8FA0-EB08A94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4AAAB-5760-4BBE-BEEA-0B98262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M12 · Economic strength is not equal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8A5C5-BB8C-40AD-8D24-4F546F1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F32 | S14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Cluster identification supports research design; it does not measure who benefits, city GDP or job quality.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city GDP, unemployment, export or employment estimate is asserted from a statewide promotional portal.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E9E02-A2C3-4F4B-99FD-E1A5B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C12 / R12: I would build a place-based opportunity brief using verified cluster locations, commuting access and service data.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2550964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AEBCE-2BCE-4A7E-BD55-98F1C23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C5FEC-CBD4-4E85-9EC5-630C8BED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75EB4-69B1-48E4-B7AF-42B1B4C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A11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879BB-1847-4470-83E2-B7CFCE0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48B47-0E7C-4E93-AC81-F40563E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034D8-DD17-46D0-BED5-353C7B9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398C1-CE5E-4EC3-94B0-B8858EB4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M13 · Measure the route from skill to opportunity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236A7-6ACA-4206-9F8E-847763F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F32,F36 | S14,S25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Measured barriers are needed to connect clusters with residents’ opportunities. No labour-market deficit is assumed simply from cluster presence.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Hypothesis: access barriers may vary by location and occupation. Requires local evidence; no demographic or religious political profiling.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67781-76E1-4063-9706-13E083E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C13 / R13: I would triangulate employer information, official labour statistics and consented interviews before proposing an access intervention.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11262-4E37-4B2B-8F47-E6086278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899AA-7CCE-4E61-9DE2-021A3E24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M14 · Urban expansion changes the research 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14CB0-B737-4E0E-9E1F-E1C7D31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F03,F33 | S03,S04,S15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Changes in administrative and planning units can break time-series comparisons and ownership assumptions.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current land-price trend, household displacement total or legal conclusion is asserted. GO index alone does not establish parcel-specific rights.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EEC75-D570-45E8-B4F8-98FE16B6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C14 / R14: I would maintain a boundary-vintage register and verify land, housing, approvals and service claims against the right jurisdiction.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834726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0A44D-0DB6-46E3-8E51-E6F8F83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8959B-12D2-424B-9066-A771589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925F-484F-494D-A108-8DC9B8A2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A12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D74DB-1897-41A0-BAD2-9FBDC115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F345E-A46A-45A0-A147-FEC7D2D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6AC19-59B1-4BAC-8C07-C8DD450D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B1ADF-3D33-44F5-9F7B-2C01559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M15 · Transport provision is not service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28A11-D470-4FC3-A276-AF3FDA67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F24,F25 | S09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Distinct lines should not be merged into a claim about completed rail construction. Accessibility requires route and service evidence.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Both are budget estimates. Current procurement, central approvals, operating extensions and completion dates are not established by the budget.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98D9A-9822-4C7C-AB32-22EE8BB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C15 / R15: I would track each financing line separately and evaluate access through verified project status, journeys and interchange evidence.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6D129-D654-4179-9A18-60B4BBB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277D2-6034-4833-92E8-D836995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M16 · Resilience needs a system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9B5A5-7ACC-4A9F-97DD-016D0B5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F06,F23,F30 | S05,S09,S11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documented remit and project scope suggest linked research tasks, not measured performance or a causal reduction in flood risk.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flood-frequency, water-quality, sewage-treatment or lake-restoration success rate has been verified in this deck.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64B0E-5484-4048-9DBC-B45DD72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C16 / R16: I would connect rainfall events, drainage records, water-quality evidence and agency responsibilities in one issue brief.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3327414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301E8-FD5D-4F3B-8762-B249FA4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BA924-D7B1-4549-9686-20EDB6C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FDE6-654A-4F0C-B2C4-4B935E7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A13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91557-C6D0-422C-900E-A51DC5A6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39EAE-A2A1-4131-AD66-32C8EDB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E9640-FF1C-4804-9C30-40CDF9D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73AEA-AE6D-49DF-B405-52E7964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M17 · Entitlement, access and experience differ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3A0D0-DDC0-46BD-B114-88EECAC3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F29,F36 | S09,S25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Statewide programme provision identifies questions for access research; it does not establish Hyderabad coverage or service quality.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StatewideBE, not city spending or beneficiaries. Education outcomes and current scheme eligibility require additional authoritative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8B39-0F5B-4397-A0F9-EDA9CA6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C17 / R17: I would trace selected service journeys from eligibility to application, receipt, grievance and closure.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0131B-987B-4E3B-B5E6-A5572FB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E5DB7-02F6-45B0-A029-B8ABA87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M18 · Ambition must survive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8E23E-40CF-4FDE-920B-E6C9B178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F27,F28,F21,F22,F23 | S09,S10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larger planned envelope makes financing and implementation monitoring material. It does not establish fiscal capacity or future completion.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Statewide; plan-to-revised-plan comparison; not real growth. No budget-line summation into a Hyderabad total.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177E4-EB9D-4798-8780-AB1FF09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C18 / R18: I would build a commitments-to-delivery tracker with separate estimate, sanction, release, spend and outcome fields.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9092613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2B94-C1F8-4379-B8D3-CFCF9C27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7C1C1-EC24-448B-9865-E467AC3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4438E-DADC-499E-9B66-7C8120C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A14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1AEE8-E8B4-471A-85BB-4F67F98C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70EF-0C3D-4A49-B876-65D7C75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19–20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D17D-93B7-4005-AD51-14D253A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4A5F1-F740-4BB3-89B3-CB7E5675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M19 · Musi is an implementation and trust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EF591-9981-4D19-BAC8-281BB93E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F22,F30,F31 | S09,S11,S12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Environmental objectives and acknowledged relocation concerns justify testing multiple dimensions of implementation together.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Government objectives/commitments are not proof of outcomes. Current award, construction, compensation and water-quality results remain unverified.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2F422-2177-44A2-9438-0FFB36F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C19 / R19: I would produce a balanced Musi brief: documentary milestone, environmental evidence, household safeguards and unresolved questions.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5C7E2-6896-4540-9A0A-4937000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668E-F836-4B35-9DF9-2C4502B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M20 · Protect assets; verify every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D904C-FFBE-4627-9F4D-68F0D273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F06,F03 | S03,S04,S05,S15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Mandate-level evidence and case-level evidence answer different questions; public trust needs both.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parcel is labelled an encroachment here. Current legal requirements and court orders need counsel/official record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FE3CA-39C9-4F9E-9DA3-4337429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C20 / R20: I would keep a case tracker for the order, boundary record, notice, review route, implementation and independently checked outcome.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20412275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C9E68-B5EE-4F30-9AEA-401ED39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FD45-C5A1-458B-A06C-1614CF9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D759-EDCE-46CD-939D-3441F36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A15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20726-6D03-4F5C-AC0E-BE1C1F4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253C2-BAE8-4C37-A97D-E8806B0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21–22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64599-339B-434E-8E88-67D453B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5CB5A-3862-4BA1-98AF-0A0EC25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M21 · Accountability needs a named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D1661-7E8C-47DE-8E13-9D2C078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F03,F06,F30 | S03,S04,S05,S11,S15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Multiple documented bodies create a coordination research requirement; this deck does not claim demonstrated coordination failure.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Proposed operating design. Access to officials, internal records and escalation routes depends on employer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9F80F-5049-48F3-9601-3761463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C21 / R21: I would assign one issue owner and keep decision, funding, implementation and grievance handoffs visible.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2B831-5E96-476E-BC9E-752344A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8609D-F6E1-4D00-86A6-DEF93319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M22 · Public discourse is evidence about discourse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AB7B4-4F4F-43BC-8BFF-B95D28E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F01,F31,F20 | S01,S12,S23,S24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sources have different incentives and upstream dependencies. Reported narratives cannot identify their prevalence or their causal electoral effect.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Proposed Telugu, Urdu and English review with qualified language support. No claim to my fluency, representative survey, private messages or sentiment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6465F-0DCC-4784-A9A2-4D107B1D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C22 / R22: I would run a multilingual issue log with source lineage, verified translations, correction status and a representativeness note.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5025158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B1BF0-6DA9-4C8F-BB74-C5DC0B29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C83AF-6F06-42D6-9C3B-B146494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EA6F-C6E0-47DE-962B-A19A5CC2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A16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271CE-62FE-4AD6-AACE-BDA7AEE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3716A-0F80-4356-ABBD-0379C00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23–24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E1526-EB05-4CA2-8E8C-791C6D77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36024-DE40-4CEF-ADCC-03D3606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M23 · Uncertainty is a research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7D812-949B-4395-B6DD-C0B43A91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F03,F07,F20,F27 | S03,S04,S06,S09,S10,S15,S23,S24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Separating known records from unresolved status prevents confidence in one source class from spilling into another.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exhaustive claim about all developments up to cut-off. Source accessibility and absence of fieldwork constrain this work sample.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61D7E-0EC7-4ACE-83B0-F75A9CB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C23 / R23: I would maintain explicit expiry rules and assign a validation task to each consequential unknown.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3BB31-A69F-4D4D-A399-B03707C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98DC8-23D8-4662-A994-C65C3BD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M24 · Start where errors change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20478-5D61-4852-88CC-CC9DE52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F03,F20,F21,F30 | S03,S04,S09,S10,S11,S15,S23,S24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Boundary and status errors invalidate downstream analysis; implementation records then support usable issue briefs. Ranking is my professional judgment.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Proposed priority order; not measured demand or a promise of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457FB-2C72-454E-8257-460E1719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C24 / R24: I would agree the first research backlog with my manager and publish owners, dependencies and stop conditions.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5798808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FC2DB-F4F7-4F32-9E62-0F2149D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78F90-6396-44E6-BC43-9987AECD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7BD15-613B-4768-9F4A-8DAD6D51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A17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EFF15-E855-41FC-A670-C3387CD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49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F67A2-C729-4589-8D4A-54959331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25–26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8EE52-1B90-4AE7-BA6A-B0CACE0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9C02-3B58-4AF5-999D-47CA666D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M25 · A work sample you can inspect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FD3C3-C2CC-427D-9D9F-B22F9A3C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F21,F22,F23,F24,F25,F26 | S09,S10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produced tracker demonstrates source and status discipline. It is a baseline prototype, not a live government dashboard.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internal spending feed or field validation. Unverified stages remain explicitly Unknown.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B9DDB-AEA4-4710-B33F-8747BF7D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C25 / R25: I would maintain the baseline as a reviewed weekly brief, recording each new document and change in status.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20C30-1CEC-4FC9-A16A-70617752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6D68F-E139-42D8-8C0F-FA1F0753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M26 · One workflow from discovery to refresh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8093B-853A-446F-9584-F462740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F35,F36,F01 | S01,S25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candidate-reported review experience supports proposing an evidence workflow; actual performance must be established through a pilot.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Owner: me under a research lead. Depends on approved repositories and reviewers. Fall back to a shared spreadsheet if tooling is limited.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22FF3-C52D-408A-BCDB-7F970642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C26 / R26: I would introduce a short daily triage and a manager-reviewed weekly research brief with a correction log.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4756220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191F5-C525-4A30-88E3-D58FBB0F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47C62-0F91-4372-A328-EBC5BE34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5AD2D-DE38-4315-B3A5-C9E4A6A9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A18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B4ABB-3CCB-4F8F-813C-CEFFA887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FB32-C4CA-4CF1-9447-228D71F2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27–28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6F23F-09B9-4AA4-9221-B70F11B1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CC8DE-81FE-4304-984B-AE7B49AA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M27 · First 30 days: a defensible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D477F-3F3F-439E-8A0A-D02BFF28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F03,F35,F36 | S03,S04,S15,S25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Small reproducible work products establish a baseline and identify access constraints early.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Planning assumption: roughly 10 focused research hours/week plus review. Employer workload and priorities determine actual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BF68-72E1-4B43-A060-6CBB823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C27 / R27: I would deliver one boundary register, one source ledger, four short issue briefs and a manager-approved research backlog.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DBC32-301C-4173-B480-168E279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C8254-0B65-4023-A103-32D6AC9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M28 · Days 31–60: validate the weak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DD4EC-2139-4805-8BE9-9C67745C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F30,F31,F06,F36 | S05,S11,S12,S25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earlier evidence gaps identify where direct validation is useful; interviews add context, not automatically representative statistics.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Assumption: manager approval, permissions and language support. If access fails, publish desk-based gaps and narrow the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6A545-3F81-44F5-A015-AC013C8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C28 / R28: I would refine two case studies and test interview guides with qualified local-language support.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80035170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90E65-9009-4339-AE43-2DDF70A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31661-8298-4C0F-9FBE-03108DEC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5D8E0-4781-4814-8AC2-A64A8635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A19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C273-C236-4780-B962-E497917F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2F0B0-FA25-4FBD-A20A-0FB0FF93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29–30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7BBF1-5135-4FDC-8EFA-0CD26CD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A16A3-EB4D-47D0-B08B-57F9E37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M29 · Days 61–90: improve and hand 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6FE63-EC09-4013-B308-D66B4E3F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F35,F36 | 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 pilot creates observable process metrics; the direction and scale of improvement are not predetermined.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Track correction count, broken citations, scope errors and review time. Avoid targets that reward hiding errors or premature publication.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11428-3CF3-45E4-9154-42F5EAC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C29 / R29: I would deliver a reviewed atlas scaffold, refresh calendar, two refined case briefs and an onboarding guide.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E17E9-2890-4A35-A967-4802E17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D496-37D6-4D24-9F05-1739F838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M30 · Experience is evidence; transfer is a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C1CB7-3572-4417-B67C-DA5C2A13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F34,F35,F36 | 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These self-reported experiences support a methods-based fit; geographic expertise and employer performance remain to be demonstrated.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No independent audit of CV outcomes. No claim to local-language fluency, Hyderabad field networks or guaranteed political impact.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F97B-40FF-444E-9C03-5325360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C30 / R30: I would bring structured research and operational discipline, while building Hyderabad context through supervised local learning.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</p:spTree>
    <p:extLst>
      <p:ext uri="{BB962C8B-B14F-4D97-AF65-F5344CB8AC3E}">
        <p14:creationId xmlns:p14="http://schemas.microsoft.com/office/powerpoint/2010/main" val="17822842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CE424-1842-4220-BE26-4151788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CLAIM-TO-CONTRIBUTION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0965-CDD5-4FDA-A96B-EA68926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8F935-CC51-4541-9ED8-F5D54DD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A20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F799F-0FB0-4648-8837-5D4FE1F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D72A9-AD0A-44DC-BAC6-98ACF40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Slide logic · 31–32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71C48-E01D-40DE-8E70-A398F36E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F3EDC-3D8B-431F-B7CE-DC69D99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M31 · Interview me for the work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80EF3-63FC-40E5-9310-767CF1D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F35,F36,F02 | S02,S25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The produced work sample and candidate-reported methods support an interview proposition, not a guarantee of hiring or future results.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Fit and priorities must be tested with the actual hiring team.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9F2D0-7D78-4A23-83DF-E67A2B5C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52675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C31 / R31: I would welcome a discussion of one issue brief, its strongest counterargument and the first work product the team needs.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 1–G 3: PASS for bounded premises; G 4: bounded analysis; G 5: traceable. Proposal feasibility remains CONDITIONAL.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C6DCB-5410-484F-A7A2-56B935B1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BFEC9-5CD4-4499-9E4C-B2CB42B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M32 · Thank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934D5-2487-4CA5-8C8C-6DF8CAB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657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Evidence F37 | S25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Contact and relocation information from the existing portfolio resume.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Limits: Independent application work sample. Appendix follows immediately.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D8B90-8A85-4016-A8B4-AEF28A83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876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C32 / R32: Framing/contact or adjacent executive contributions.</a:t>
            </a:r>
          </a:p>
          <a:p xmlns:a="http://schemas.openxmlformats.org/drawingml/2006/main">
            <a:pPr>
              <a:def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3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Candidate/contact source is self-reported.</a:t>
            </a:r>
          </a:p>
        </p:txBody>
      </p:sp>
    </p:spTree>
    <p:extLst>
      <p:ext uri="{BB962C8B-B14F-4D97-AF65-F5344CB8AC3E}">
        <p14:creationId xmlns:p14="http://schemas.microsoft.com/office/powerpoint/2010/main" val="19980323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3C143-2CB5-46B5-AE86-41FE02E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C4C3A-E2A7-4DBA-B0D8-B7AA650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F22EC-B065-4042-9784-CC14846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A21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4010-93A8-4A68-9B0F-18848A28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0F919-1715-4461-9F34-751117E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01–05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F3570-C377-4306-A610-29C559D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F01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07145-22F3-4A96-B7E9-19F88F4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Inclusive Minds describes itself as INC-aligned and lists six work verticals.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5AF0C-4447-46B3-A4BC-79A24AB2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S01 · About Us; Our Work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Organisation / Retrieved 2026-10-08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780C6-6349-4D9C-8B76-D76141B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00D21-0B60-4CBD-9672-B39691C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F02 · Employer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FCF0B-8362-40E2-8CCC-D3749A5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Employer Generalist post identifies Hyderabad on-site and experience in research, strategy, communication or project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061EE-5EAA-447D-97BC-EFF0D99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S02 · Hiring post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Vacancy / Retrieved 2026-10-08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3C3EE-4638-4CEA-8A12-7EAABAA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E0269-7AE8-440D-8ED5-31774D32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F03 · Verified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F242F-0BFE-4777-8854-68BBEB6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GO 55 of 11 February 2026 reorganised CURE into GHMC, CMC and MMC with immediate 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98D41-268C-48C7-ADD5-EEA8AB1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S03,S04,S15 · GO 55 pp 1–2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CURE / 2026-02-11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17EE7-1D2C-4172-BBD0-D6C73A68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CD3CA-3497-4E12-B54A-AC5C4EB6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F04 · Verified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765AC-418A-4DB4-A122-E53EA07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CMC comprises Serilingampally, Kukatpally and Qutbullapur zones; MMC comprises Malkajgiri, Uppal and L.B.Nagar zones.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04036-FD74-450F-B43D-EEA0EA4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S03 · GO 55 operative zone allocation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CURE / 2026-02-11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F57A8-3A80-4E9A-AFFD-5FE59E8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91E7B-BD50-4B71-AB5F-2AA21B3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F05 · Verified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6AAD0-4B93-4A2B-9A23-48A9BEA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GHMC comprises Shamshabad, Rajendernagar, Charminar, Golconda, Khairatabad and Secunderabad zones.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0F83A-0E49-48A1-ABB4-9F9FBA1C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S03 · GO 55 operative zone allocation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CURE / 2026-02-11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C3C4-DC27-407A-AA6A-741EF5CA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419258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3FB9D-7A55-404C-B1D5-70B1709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F5780-3A12-4E9B-86E1-7641AB6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9D2B2-C3D0-4DBA-9691-FCEB8F87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A22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F0D76-4B21-4B62-ABF1-5AFB798F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17778-7735-43C7-973C-7782DE6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06–10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1F7E-C046-4745-9B27-15E05E8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F06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C1F15-F96A-4B59-B2E0-8151B66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HYDRAA describes its CURE-wide remit as disaster management and protection of government / public assets, under MAUD.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F622A-A535-447A-8463-1A5B1361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S05 · Mandate; Jurisdictional Coverage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CURE / Retrieved 2026-10-08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7CA58-0D28-490D-B1BF-8864CD4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82589-8CC0-4D82-B94E-2891D474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F07 · Verified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EF251-E14C-4FE2-95D6-7A7C7E6A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2023 Telangana Assembly seats won: INC 64; BRS 39; BJP 8; AIMIM 7; CPI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1871A-99FB-4069-915A-D0424AF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S06 · WON column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2023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3355A-1D10-4134-A74D-00BAD5D4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AFA16-6638-4430-9761-237655F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F08 · Derived statistic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028A5-B5E3-41FA-8B43-1499E1E7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 selected Assembly seats AC 57–71,2023 winners were BRS 7, AIMIM 7, BJP 1, INC 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F148E-5751-41A2-8769-DCE2472E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S07 · AC 57–71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Declared 15-seat study set / 2023 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81641-3A1E-46FB-A5D8-B7DBF30B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1776E-FBE9-46FD-8230-F8A4CC9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F09 · Verified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34ABA-A045-440E-BEF6-54E9E2C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Nampally, 2023: winner 62,185; runner-up 60,148; margin 2,037 votes.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3075F-F03F-4ADD-8C2F-F582124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S07 · PDF p 3; winner/runner-up table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Nampally / 2023 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2C36F-F8FB-41C4-B868-E4BAE17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4BFC8-D938-4759-B876-0C7EB192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F10 · Verified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B3E89-AAD4-448B-B41F-667B148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Yakutpura, 2023: winner 46,153; runner-up 45,275; margin 878 votes.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7D744-065C-4C9D-A742-BBFBBEF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S07 · PDF p 3; winner/runner-up table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Yakutpura / 2023 election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E32DF-712A-4903-8C85-656433CC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289389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C4893-8B5A-443D-A69C-4812DB4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C4266-D565-4B50-8D77-2D8E60D9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A83B5-1FD6-4767-B0BF-4C1ECCA2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A23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EF6C3-18A1-4477-8AAA-4E954F07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FB402-7FF0-46E9-ACEB-BED867B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11–15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7CC21-52A1-41B6-AFEC-58954597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F11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C7655-2BBA-49C0-8A39-57B2709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Chandrayangutta, 2023: winner 99,776; runner-up 18,116; margin 81,660 votes.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0F54B-D95E-4ED1-98F2-3B2AB322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S07 · PDF p 3; winner/runner-up table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Chandrayangutta / 2023 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F7684-9DC1-48CF-BBCC-52B15DE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A578C-F102-47E5-8949-58696383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F12 · Verified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6A436-5679-478B-BD38-BEA147C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Malkajgiri, 2024 Lok Sabha: Eatala Rajender (BJP) led with 991,042 votes; runner-up 599,567.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850AE-0BDF-44AC-80D2-4A7EA9C7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S08 · p 580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Malkajgiri / 2024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E6F59-D036-433D-934F-3CA67F4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CD291-FBBD-494F-87AA-E8C33D2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F13 · Verified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30E33-6F29-417E-BD9B-E841CAB6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Secunderabad, 2024 Lok Sabha: G.Kishan Reddy (BJP) led with 473,012 votes; runner-up 423,068.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40CBD-2E0B-4192-9C69-19E041B4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S08 · p 581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Secunderabad / 2024 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0FB6E-E7B3-435D-882D-7D1A3496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FB91F-8D6B-4986-A151-EACD13C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F14 · Verified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4F7B3-990E-4DC9-884A-9ED65F9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Hyderabad, 2024 Lok Sabha: Asaduddin Owaisi (AIMIM) led with 661,981 votes; runner-up 323,894.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DD0CF-E75E-491A-A426-65ABCB3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S08 · p 583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Hyderabad / 2024 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9CB7C-46B5-4D25-B6C0-2CBE653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B6BB5-DD77-475A-897C-A788815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F15 · Verified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32627-3F3E-411B-A218-1566859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Chevella, 2024 Lok Sabha: Konda Vishweshwar Reddy (BJP) led with 809,882 votes; runner-up 636,985.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2AF1B-CA9D-45F0-81A6-3FED0D20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S08 · p 585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Chevella / 2024 election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06E5D-B474-4D65-964C-D3D3DAE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76644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35F6F-42D0-409A-B25B-ED4E692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8A80A-AD5B-4C58-9DD7-CFA34D4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5AE6-6E9D-4860-8AE3-43FDEC6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A24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5976-5FAE-4B8C-A8C7-0C3A0D5F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3F28A-EF5F-4BE6-8014-15D6861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16–20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8A903-CDB2-4D37-85C7-6133579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F16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32BB8-5251-4B41-99AF-694C0176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First Telangana Assembly as of 2 June 2014: TRS 63, INC 21, out of 119.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5C729-2038-408B-9D18-C706249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S16 · Printed 410/PDF 63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2014-06-02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C7E7-2AF3-4972-8580-75E5F3C5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8756F-A17E-4EB9-AC39-CE5523C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F17 · Reported historical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07A3A-8CF3-450E-AD2C-49915E57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Contemporaneous 2018 reporting recorded TRS 88 and INC 19 Assembly seats.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949DF-C782-44B1-98A6-74C7702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S17,S18 · Updated results paragraphs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2018-12-12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ADB34-6FC0-4C57-9682-912C3B6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47598-6BD2-431E-B351-AB22AD2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F18 · Reported historical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F97C7-2A22-4ABA-BFCF-445E8F4D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Published 2016 GHMC recap: TRS 99, AIMIM 44, BJP 4, INC 2, TDP 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7906-F797-4E37-8BAA-28E39C7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S19,S20 · Numerical result paragraphs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GHMC 2016 footprint / 2016 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FAD58-692D-4ECB-9AB1-785484FF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39C75-A511-4665-AFD9-013514B2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F19 · Reported historical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14587-4809-4F3C-85AE-EAE52F80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Post-Neredmet 2020 reporting: TRS 56, BJP 48, AIMIM 44, INC 2.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996C5-6588-482F-83C1-0E76A04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S21,S22 · Results paragraphs; final Neredmet result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GHMC 2020 footprint / 2020-12-10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AFB5A-107E-4F48-93F3-DC9ED04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65930-157B-4CB2-BFD2-F0924A7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F20 · Reported 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5EA77-45D0-4F57-A4C7-4E04B174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Congress candidate V.Naveen Yadav won the November 2025 Jubilee Hills by-election, according to corroborated reporting.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4FCB2-25FF-40FA-8064-DBCC0337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S23,S24 · Winner reports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Jubilee Hills / 2025-11-14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0A0F6-7BB3-4869-B665-DE3B84FD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672084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24150-28B9-46E4-B97D-FA76302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69308-F4FB-4C0C-9AFE-3AB01E7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6BEB2-45B9-4E4A-B398-C3F1C3DC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A25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2BCBE-62DC-40A0-91B6-A577CF7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6556-0843-490A-ACF0-26C0904F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21–25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91433-ECBC-43AA-B17C-D9A564F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F21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F144B-AB2F-43EF-B2AB-98B26E6C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H-CITY assistance to CURE ₹2,654 crore.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F9F8A-4B0E-44EE-9824-4FB8B68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S09,S10 · Table 10 PDF 16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CURE allocation / FY 2026–27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8FD88-E867-41DB-949E-66ABD1B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4A0C4-589E-480B-A1DA-24B2A6C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F22 · Verified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6D2D7-81B7-4AA5-83E9-64078D7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Musi Riverfront development ₹1,500 crore.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82F73-D205-4976-8E76-84FD13E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16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Scheme allocation / FY 2026–27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8B67E-0533-4EA9-81E6-C38B83CA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5ED22-DE99-4351-A746-C925150E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F23 · Verified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B482B-2563-40C2-A6AA-DAEF6AC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loans to HMWSSB for development ₹1,450 crore.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66D0F-BB80-4E36-B73B-394C978D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16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Scheme allocation / FY 2026–27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C0850-8645-4EC5-9A54-36E9305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77023-8B98-40B2-B3FE-53B4E86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F24 · Verified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7BC0A-8850-408F-B3EE-0839A8E6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Metro Rail Phase II ₹600 crore.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CD2E4-0BA0-4F03-8D1C-554AC4C9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17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Scheme allocation / FY 2026–27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044B4-0359-47C9-90D5-9A78DF0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50CA5-AE11-4022-B65A-07B10B24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F25 · Verified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10AFD-3F65-4073-84AB-64279BC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loans to HMRL ₹500 crore.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62191-C56C-4429-84D4-E9D7173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17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Scheme allocation / FY 2026–27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18C46-FFD5-47E7-BB3E-F074F92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162109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F4206-B6D0-4B8D-A217-5A3CE02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3B17B-E02B-4F78-9F2D-7AEF4663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ED153-4F7C-4A93-8633-1E6CEFB0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A26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D9CC-2675-4D0B-9F90-06DFC410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104B4-45CF-4016-819B-D94A5C5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26–30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C7783-AEA6-4536-BAC9-95320B41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F26 · Verified 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BB00A-52D9-4E11-AD01-ED1ADEB7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2026–27 BE: 20 KL free-water reimbursement to HMWSSB ₹300 crore.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2C3B1-9359-45D4-86E9-7FEC779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17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Scheme allocation / FY 2026–27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399A2-B148-418B-8929-67DC64B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67C8-E863-4C14-9480-49A4B13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F27 · Verified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EDB84-13C0-4B4B-AFB9-57CEB263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capital expenditure: 2025–26 RE ₹36,480.87 crore; 2026–27 BE ₹47,267.28 crore.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EC98D-3A34-48E4-AA76-F76BFC63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S09,S10 · Table 4 PDF 4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FY 2025–26 RE and 2026–27 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5F4B1-66FF-46C8-9289-BDC9E7EC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BEFBA-391C-461C-A635-A5004DD0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F28 · Derived statistic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8457E-E9E4-4E70-BC76-FC20E30A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Nominal state capex BE/RE increase is 29.57%, rounded 29.6%.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0899D-1443-4062-A3D1-339D392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Derived from F27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FY 2026–27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83FBF-A6F8-4583-A5CE-D9E7BBA9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B56E-89C5-4E5D-AC73-FAB1EC93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F29 · Verified 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3D526-FAD7-47F5-99F1-35A16786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2026–27 BE: Indiramma Houses ₹5,500 crore; Mahalaxmi RTC ₹4,305 crore; Rajiv Aarogya Sri ₹1,143 crore.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3486F-D693-4913-A203-9495087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S09 · Table 10 PDF 15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Telangana / FY 2026–27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7CE88-0CCB-4C2A-A2AF-E9DBF0D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E6FA3-9027-4A59-823F-449D0AD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F30 · Agency objectives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39BA6-362B-4102-8B5E-D607B60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MRDCL describes Musi vision in terms of ecological restoration, sewage interception/treatment, floodplain zones and mobility/livelihoods.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44432-0148-4F08-B07C-DBA4183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S11 · Vision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Musi project / Retrieved 2026-10-08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9D5FC-8D7D-404A-BE17-92EC9155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479381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4BA2E-E271-480F-92A4-23DD1BFE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6BA98-B984-486D-A9EB-A6FE111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CE10A-0D1F-4406-97ED-A593A4E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A27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76EBE-562E-4F53-9353-2ED2663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59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486AF-4046-429E-BBE4-5E3A000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31–35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621B-3395-44E4-9D0F-CBEEDF8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F31 · Official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A1BE7-E8FF-4F7A-9F96-B1B38B5C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At the 13 March 2026 Musi conference, the CM addressed compensation and livelihood concerns associated with relocation.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9BBA9-CAF6-4419-A9E8-BDCA3103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S12 · English compensation/livelihood paragraphs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Musi PhaseI / 2026-03-13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BC26C-2B0C-4E4C-ACA5-A1370AD5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A81E6-B799-4B9B-82BC-D21F5F6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F32 · Official sector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F4287-9835-492E-BF7A-F44C0B6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investment portal identifies Genome Valley at Shamirpet and electronics manufacturing clusters.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1CB8D-F10A-4968-9B73-E53EC28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S14 · Industrial-parks section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Named locations / Telangana / Retrieved 2026-10-08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38C7E-5D6D-490D-B979-C5C47F20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D4E21-D3BC-457A-A2E5-8108DDC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F33 · Verified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E988F-B6B4-4D32-AFFD-8849043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BuildNow lists GO 68 dated 12 March 2025 for expansion of HMR and GO 69 for FCDA.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3C50D-467A-49E3-9CEB-99675875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S04 · GO 68/69 entries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Planning instruments / 2025-03-12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BB1DD-853B-4B12-9184-D9D4F76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B8F39-B527-4CCC-B297-8A6C016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F34 · Candidate self-report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625AC-1553-4817-8C52-70711A8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960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 resume lists MBA, IIM Shillong, 2023–25; Consultant Marketing and Strategy at Nation With Namo, May 2025–Apr 2026.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8CF5A-FB0F-4148-AAB5-0EEA8A38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96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S25 · Education/workExperience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Candidate / CV periods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70FE4-891B-43B0-89AB-F0FB8BC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6DF43-8CC8-4EF2-89B5-835EDECF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F35 · Candidate self-report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9ACAC-911A-4D00-A73E-592578C1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054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 resume reports introducing an evidence-based review system for a seven-person political-intelligence team.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73A0C-D326-4499-91E7-42A95AE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054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S25 · workExperience bullet 3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Candidate work / 2025–26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630BD-B8EC-430F-A4FD-755D47C3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26771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C7576-A7FD-40D2-B2B2-504FAFC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FACT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68401-7937-45BA-9D72-C9E87093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FEA69-BE0A-43BB-911B-B3E184B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A28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A35C-BA3D-4505-AFD8-C39818B6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A23E7-1BEB-44EB-90F9-2780AD7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Atomic evidence · 36–37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ACDA5-253C-4029-91A7-97C5777C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F36 · Candidate self-report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73231-FAF1-4BE7-9235-350D120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62125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 resume reports modelling Meghalaya PDS and analysing 4,500+government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40743-E3A3-4676-9B6F-C6B83A6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S25 · Projects, Jul–Sep 2024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Meghalaya project /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B9B5D-EAC2-4A2F-AF02-A51E517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F7CEA-B7FA-4176-AA26-10A8B1C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5744"/>
                </a:solidFill>
                <a:latin typeface="DejaVu Sans"/>
                <a:ea typeface="DejaVu Sans"/>
                <a:cs typeface="DejaVu Sans"/>
              </a:rPr>
              <a:t>F37 · Candidate self-report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D32FC-33C4-4039-9309-C219B09E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47950"/>
            <a:ext cx="5038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Candidate resume lists manashdeori 09@gmail.com, LinkedIn/manash-protim-deori and openness to relocation.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7B2C-7F47-4E0C-A6E2-57222B23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479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S25 · Header</a:t>
            </a:r>
          </a:p>
          <a:p xmlns:a="http://schemas.openxmlformats.org/drawingml/2006/main">
            <a:pPr>
              <a:def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Candidate / Retrieved 2026-10-08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CFE1A-4E42-4ED5-A481-8A6AEAAE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722768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2BB90-D44C-434D-BCC5-6B19959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30149-355C-4CD8-BE43-1299FC1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2AEA0-51B3-49CE-8E5E-4221A716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A29 · S01 / S02 / S03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4DECA-7A0B-4B96-A8F6-BAF5416E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B4073-3E42-40BD-906B-3FBDA125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01–03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7D9C6-546D-4D60-97F8-6940123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S01  About us and six work verticals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191A8-988F-4DDD-BDEA-18B0E18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Inclusive Minds · Undated; retrieved 2026-10-08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22E68-F17F-457E-BD8C-939F47E5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a1e024e2fa0429d"/>
              </a:rPr>
              <a:t>https://www.inclusiveminds.in/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A9A3B-6CDD-4997-8269-765CA77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About Us; Our Work | Self-description; not independent evidence of effectiveness.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ECC37-F4AC-4D2F-BE3D-BD4440AB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S02  Generalist hiring post: Hyderabad, on-site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CC919-3516-4309-A8D0-17D50459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Inclusive Minds · Undated public post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18CA1-7C7B-4AD5-868C-11E63FD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5cfff87913d45d4"/>
              </a:rPr>
              <a:t>https://www.linkedin.com/posts/inclusive-minds-ind_hiring-generalist-politicalconsulting-activity-7495111990261252096-TM4l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97048-7B39-4727-BF61-D2EF932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Employer-authored post text | Exact vacancy supplied by applicant is absent; current acceptance of applications not confirmed.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58F89-DD3E-471D-A707-AB83B0CA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S03  G.O.Ms.No.55: CURE reorganisation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7E7FC-CEEA-41DE-B18B-90ED1B9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Telangana, MAUD · 2026-02-11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954D9-E589-4508-AD17-7E3D0F5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ce198cc64c04c7a"/>
              </a:rPr>
              <a:t>https://tg-bn-website-assets.flowwlabs.tech/GOs-and-ACTs/GO.Ms.No.55_11-02-2026.pdf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21D86-6D6A-4D33-9BB0-0AC076F7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PDF pp.1–2; operative paragraphs 2–3 | Read through the official BuildNow listing S04. Boundary allocation is by zone; this deck supplies no GIS polygons.</a:t>
            </a:r>
          </a:p>
        </p:txBody>
      </p:sp>
    </p:spTree>
    <p:extLst>
      <p:ext uri="{BB962C8B-B14F-4D97-AF65-F5344CB8AC3E}">
        <p14:creationId xmlns:p14="http://schemas.microsoft.com/office/powerpoint/2010/main" val="144531794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37600-20A8-40BD-9DC4-B1A5FF7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9AD1F-28D8-4F20-88F9-7BC300D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A0680-E8CD-4194-B0CE-01DCD4F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A30 · S04 / S05 / S06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8FA-1A2E-48A5-9D46-20862E08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3106C-1FBC-4FA9-86E7-7B8CC52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04–06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D7C16-6AA8-41E9-BF65-BBBB9EF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S04  Government Orders and 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662F-61D8-412D-A889-ABBE36C4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Telangana, BuildNow · Orders dated 2025–2026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EE69-3E13-4D5E-A24E-1691BA6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a2123ba410745a3"/>
              </a:rPr>
              <a:t>https://buildnow.telangana.gov.in/go-and-act/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E08E0-6954-41B9-8AD5-F513183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GO 55, GO 45, GO 16, GO 68 and GO 69 entries | Listing proves instrument/date only; unread instruments are not treated as proof of full legal effect.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918BF-8460-45E0-811F-CA9C1E4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S05  About the Agency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49920-6451-4B89-B583-1EDBD3E2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HYDRAA, Government of Telangana · Undated current page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6E79D-05D7-4D8F-AB74-1023135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dc6c8bac5474024"/>
              </a:rPr>
              <a:t>https://hydraa.telangana.gov.in/about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2C91D-55EB-478B-8089-AF618C7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About HYDRAA; Jurisdictional Coverage; Functional Wings | Mandate description is not evidence of case-specific legality, environmental outcomes or public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DFE97-0DA3-47ED-9310-0EA18F92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S06  Performance of Political Parties: Telangana 2023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2D558-4956-4078-A0DC-798F9622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Election Commission of India · 2023 Assembly election; report undated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AEC7-F2E9-4844-9031-F6844DE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4177eb32c454c77"/>
              </a:rPr>
              <a:t>https://www.eci.gov.in/eci-backend/public/all_files/full-statistical-reports/telangana/2023/Performance_of_Political_Parties.pdf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6EDCF-93C1-4851-B494-78E4101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PDF pp.1–3; WON column | Historical election-time affiliation; BHRS normalised to BRS for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55786407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C5B01-E7E2-4426-B646-B6440E17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53FA9-8D75-4EAD-8442-8F7670B7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3CEB-3C02-43D2-9622-13392DF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A31 · S07 / S08 / S09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BFE4B-DB68-4D4E-8765-DAB7D90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DA2E3-D3C3-483C-9365-C90A4D88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07–09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27D4E-9887-475E-81B1-678985E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S07  List of Successful Candidates: Telangana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14311-6D7F-479C-99B7-7C74A8D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Election Commission of India · 2023 Assembly election; report undated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37349-A0E3-45F6-A922-2850F168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4dcd8c9327248f3"/>
              </a:rPr>
              <a:t>https://www.eci.gov.in/eci-backend/public/all_files/full-statistical-reports/telangana/2023/List_of_Successful_Candidates.pdf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659F-ADE1-44B3-9B2D-E2AEE26E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PDF pp.2–3; AC 57–71 and winner/runner-up columns | AC 57–71 is an explicitly selected 15-seat study set, not the entire metropolis or current municipal footprint.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80C35-37CC-49AA-8532-714E405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S08  Constituency-wise Detailed Results: 2024 Lok Sabha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90510-A7C8-46F1-9EBD-4BC4C1F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Election Commission of India · 2024 Lok Sabha election; report undated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5AC8A-9DBB-4EBC-A1B8-7DA13D7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af5058350504c7a"/>
              </a:rPr>
              <a:t>https://www.eci.gov.in/eci-backend/public/all_files/GE-2024-statistical-report/33-Constituency-Wise-Detailed-Result.pdf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B8654-B888-49D8-9060-C3486A1A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Printed pp.580,581,583,585; four selected PCs | Four selected constituencies have different boundaries from AC 57–71. No aggregate metropolitan vote share calculated.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C2F5D-A022-42BB-AF5B-4D4305D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S09  Budget in Brief: 2026–27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C0204-033A-4576-B66F-7F0D4CF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Telangana, Finance Department · 2026–27 budget; posted May 2026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3C44D-AD99-4839-8625-AF8298E1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63dd8fe087e4c0c"/>
              </a:rPr>
              <a:t>https://www.telangana.gov.in/wp-content/uploads/2026/05/Budget-in-Brief.pdf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F0C83-AE7D-4EA5-8DF6-354B457A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Table 4, PDF p.4; Table 10, PDF pp.15–17 | BE=budget estimate; RE=revised estimate. Allocation does not prove sanction, release, expenditure or delivery.</a:t>
            </a:r>
          </a:p>
        </p:txBody>
      </p:sp>
    </p:spTree>
    <p:extLst>
      <p:ext uri="{BB962C8B-B14F-4D97-AF65-F5344CB8AC3E}">
        <p14:creationId xmlns:p14="http://schemas.microsoft.com/office/powerpoint/2010/main" val="159266858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8F15A-C366-4526-B89A-63FB920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8516-5350-4F9E-9EAC-2E73D26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C7749-BAC8-4D1F-80CE-F9847A6E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A32 · S10 / S11 / S12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79264-68A8-4D79-B8C9-4DA86091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0BB7B-7E03-4BC7-B49C-87DEF99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10–12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478F-BCE9-4C3B-8056-37708E17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S10  Telangana Budget Analysis 2026–27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B79E7-EFA9-4862-BB06-4B2B5BB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PRS Legislative Research · 2026–27 budget analysis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8EB54-B433-494C-8130-93E59DA5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ba40652d65748d4"/>
              </a:rPr>
              <a:t>https://prsindia.org/budgets/states/telangana-budget-analysis-2026-27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C0477-E59E-4A56-B9FC-5B94F81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Expenditure and urban-development tables | Independent analytical scrutiny, but budget totals share upstream state documents. PRS net expenditure definition differs from headline gross budget.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F8B02-DE7F-4986-82D9-9BDB8A0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S11  Vision / 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7E2B-08FC-45B2-9F09-72FCF308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Musi Riverfront Development Corporation · Undated; current page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4DC5-87DC-4AA8-9E76-DD712FAE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d656bab044a4cad"/>
              </a:rPr>
              <a:t>https://musi.telangana.gov.in/VisionMusi.aspx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2ADDB-1E05-43EE-8074-CD4CB49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Vision paragraphs | Objectives only. Its promised sustainability outcomes are not independently verified achievements.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9D0EB-B3E3-4356-BEA6-4D49A3B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S12  Musi Invites: Phase I presentation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27A2D-75E9-4E97-B33A-D29E605B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Telangana, TG Digital Media · Event 2026-03-13; page 2026-03-16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F86D1-CECB-4414-88F6-965615E1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c78a3104bec45fd"/>
              </a:rPr>
              <a:t>https://www.telangana.gov.in/news/press-releases/2026/03/honble-cm-sri-a-revanth-reddy-participated-in-musi-invites-a-presentation-on-musi-river-rejuvenation-phase-i-by-mrdcl-in-hyderabad/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FF9E0-481B-46AA-82FA-6054FE3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English text: compensation and livelihood concerns; concluding presentation description | Official statements demonstrate stated commitments and acknowledged concerns; household counts and cost forecasts excluded.</a:t>
            </a:r>
          </a:p>
        </p:txBody>
      </p:sp>
    </p:spTree>
    <p:extLst>
      <p:ext uri="{BB962C8B-B14F-4D97-AF65-F5344CB8AC3E}">
        <p14:creationId xmlns:p14="http://schemas.microsoft.com/office/powerpoint/2010/main" val="56741946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B2517-41F8-4B25-A6B9-9646B04B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57D6E-EC56-4C49-B55A-E35B282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6AFCB-FDCE-42FB-8BA2-15105D73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A33 · S13 / S14 / S15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9079-AD9C-4AF7-B12C-41FC3789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021FF-2F6A-44A8-8F3F-801AFCF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13–15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092D-CA57-468A-9EB7-E6B5DD8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S13  Musi project tenders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039F4-D9D3-4A7C-8D7A-BF17DCC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MRDCL · Listing dates vary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6D426-F1C7-4282-B128-1499A58C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a45371f878e4769"/>
              </a:rPr>
              <a:t>https://musi.telangana.gov.in/Tenders.aspx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38AEC-A704-475A-ADF6-62836BD4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Tender listings | Discovery source only; not used to assert current award, construction or completion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30446-3B1E-407D-87F3-290F2BD0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S14  Invest Telangana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BF337-8B67-4137-809D-EAA1A9B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 investment portal · Undated; current page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3D2D-FD65-43AD-B933-7BF5D56F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9b39fa4d15f41ae"/>
              </a:rPr>
              <a:t>https://invest.telangana.gov.in/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C9CF-32AF-4A36-98DF-87C95D2E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Industrial parks; Genome Valley at Shamirpet; electronics clusters | Promotional source used for cluster identification only. Export, GDP and jobs claims are not ingested.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26D80-CA4B-4234-A8DF-E048A5B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S15  Moosarambagh bridge event and corporation logos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8ED24-D42F-4895-A7E3-A4A23715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Government of Telangana, TG Digital Media · Event 2026-08-31; page 2026-09-01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E1A1E-8CA8-4FEF-9A59-5FDB6655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7cb81fe84a04a2c"/>
              </a:rPr>
              <a:t>https://www.telangana.gov.in/news/press-releases/2026/08/honble-cm-sri-a-revanth-reddy-addresses-the-public-meeting-at-ghmc-sports-stadium-amberpet-hyderabad-following-the-inauguration-of-the-moosarambagh-high-level-bridge/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126A4-1F44-4AE3-89E4-9A62AFB4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English text, paragraph on three corporation logos | Later corroboration of the three corporation names; not independent of state government.</a:t>
            </a:r>
          </a:p>
        </p:txBody>
      </p:sp>
    </p:spTree>
    <p:extLst>
      <p:ext uri="{BB962C8B-B14F-4D97-AF65-F5344CB8AC3E}">
        <p14:creationId xmlns:p14="http://schemas.microsoft.com/office/powerpoint/2010/main" val="151509332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B105E-7847-4FAC-8098-EA332142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EA1B0-C48E-443A-A9DC-4B346D9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DCEE7-EC9A-408B-9503-F850518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A34 · S16 / S17 / S18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334BE-E2EB-4575-9556-475D1752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6C89D-A7B1-40A3-82E7-F61495A3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16–18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DE417-3141-42A1-9BDD-9EF584A3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S16  Journal of Parliamentary Information, September 2014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E742C-5F31-4486-8796-7B67A056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Lok Sabha Secretariat · 2014-09; reference 2014-06-02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A239B-9629-4CD6-9952-B92746E6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bdf98312b584853"/>
              </a:rPr>
              <a:t>https://eparlib.sansad.in/bitstream/123456789/58523/1/JPI_September_2014.pdf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709A4-8E00-4C77-9720-228B8922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Printed p.410 / PDF p.63; first Telangana Assembly | First Assembly party position as of 2 June 2014; not current legislative strength.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5B72D-78C3-49E7-98CC-F4AB75CD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S17  Telangana Assembly polls: TRS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D018F-F7D1-4F5E-825E-C81F43A8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Scroll · 2018-12-12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0DD89-DE61-4575-8BB9-8AB71D45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23a53bf061e4e7f"/>
              </a:rPr>
              <a:t>https://scroll.in/latest/905254/telangana-assembly-polls-counting-of-votes-in-three-way-contest-set-to-begin-at-8-am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56FD2-D36D-4D7B-ADD3-2DEF83D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Updated article paragraph below party table | 2018 TRS 88/INC 19 historical context only. Table total has an internal leading-seat inconsistency; full statewide reconstruction not used.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9EAC-A570-4D4E-B562-3562E3D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S18  2018 Telangana complete winners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58D20-14F4-4151-8E60-8722328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The Times of India · 2018-12-12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71398-960F-42C3-9FE0-EFBC17D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5a3fbb5905b49bd"/>
              </a:rPr>
              <a:t>https://timesofindia.indiatimes.com/city/hyderabad/telangana-election-results-2018-complete-list-of-winning-candidates-in-telangana/articleshow/67055845.cms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4D7AF-F956-4529-8B40-34F121C4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Opening results paragraph | Corroborates S17; not an independent official election record.</a:t>
            </a:r>
          </a:p>
        </p:txBody>
      </p:sp>
    </p:spTree>
    <p:extLst>
      <p:ext uri="{BB962C8B-B14F-4D97-AF65-F5344CB8AC3E}">
        <p14:creationId xmlns:p14="http://schemas.microsoft.com/office/powerpoint/2010/main" val="149946502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1CB9C-40C0-4152-BB0F-441700B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DDA74-7675-40C4-8F86-10D76AB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7E931-95A8-4EA4-9DA9-73F69278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A35 · S19 / S20 / S21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C679F-DCF9-49AE-ACF9-9805506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7EDB-14B2-40C2-8572-045EC69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19–21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C3AC-30FF-4597-A6BF-F11FD049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S19  Hyderabad civic body voting: 2016 recap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62914-3702-4D0B-9BC3-BA51A8C5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NDTV, Uma Sudhir · 2020-12-01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27D32-F8B6-400C-9986-4E435CB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efab6186df4406c"/>
              </a:rPr>
              <a:t>https://www.ndtv.com/telangana-news/after-a-bitter-campaign-voting-begins-for-hyderabad-civic-body-polls-2332363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7639D-9334-462F-8816-20DE7921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Paragraph beginning A total of 1,122 candidates | 2016 historical seat table is reported, not a newly ingested TSEC dataset.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6DA37-D22F-4748-B46F-2CC88D53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S20  GHMC 2016 result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36591-CA2E-40FF-932C-770D4318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PTI / The New Indian Express · 2016-02-06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B0B69-1211-4A50-A539-A52CEC2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1b97a31df604cd8"/>
              </a:rPr>
              <a:t>https://www.newindianexpress.com/amp/story/cities/hyderabad/2016/Feb/06/ghmc-polls-sops-for-poor-seemandhra-candidates-key-in-trs-win-889293.html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E5C1C-D7BC-48C2-A05D-E6813868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Results paragraphs: 99/150; Congress 2; TDP 1/BJP 4; MIM 44 | Only numerical result used; causal claims about communities in the article are excluded.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5F243-9638-4B72-973C-2117829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S21  Week after GHMC results: mayor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E36A5-03CD-44ED-B486-A7260E7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The Indian Express, Rahul V Pisharody · 2020-12-14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FCE0B-262C-4BEA-A755-EF622C5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6929b256ec14228"/>
              </a:rPr>
              <a:t>https://indianexpress.com/article/cities/hyderabad/ghmc-results-hyderabad-mayor-7104860/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B7CA5-3D1A-4B01-B451-6B87CDAB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Results paragraphs: TRS 56, AIMIM 44, BJP 48 | Historical council only. Article dated after Neredmet result; legal rules in 2020 not assumed current.</a:t>
            </a:r>
          </a:p>
        </p:txBody>
      </p:sp>
    </p:spTree>
    <p:extLst>
      <p:ext uri="{BB962C8B-B14F-4D97-AF65-F5344CB8AC3E}">
        <p14:creationId xmlns:p14="http://schemas.microsoft.com/office/powerpoint/2010/main" val="24880233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EE81D-7779-491A-8841-8939FC0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7E744-A58B-4FF2-90C5-03377403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94641-F29E-46B1-95B0-224B4D0D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A36 · S22 / S23 / S24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78AFF-1D62-4EBD-9F14-5D7B7D1C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68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7CAD6-0338-45A6-B6D6-2564C79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22–24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17D51-4134-46EC-8404-DA39F45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S22  Neredmet final result takes TRS tally to 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2D674-28E0-4EA4-A7D0-543D8E94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The Tribune, Naveen S Garewal · 2020-12-11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51688-7828-410D-A5CF-2705B83F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b1930bcf4a84a90"/>
              </a:rPr>
              <a:t>https://www.tribuneindia.com/news/nation/trs-wins-neredmet-ghmc-division-takes-its-tally-to-56-182436/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25104-8A3F-4CC2-9CCE-CD961463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Final paragraph: 56,48,44,2; Neredmet timing | Reconciles earlier incomplete tally 55. Direct current TSEC table was inaccessible in this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D2834-182D-4CC2-837C-C512CBC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S23  Jubilee Hills bypoll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3DBBA-1405-4A42-9D75-FE0B4AE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The Economic Times · 2025-11-14 · Retrieved 8 October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F2690-D7C8-40FD-9D31-386C40C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e04cc4da31040a3"/>
              </a:rPr>
              <a:t>https://m.economictimes.com/news/politics-and-nation/jubilee-hills-bypoll-result-2025-in-l-deepak-reddy-vs-sunita-vs-naveen-yadav-check-who-is-winning/articleshow/125315450.cms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38959-5CF6-438F-B764-9BEB7289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Winner report | Winner only used. Vote totals conflict with another live report and are excluded.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26E37-C618-4B58-B77F-680BFBB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S24  Jubilee Hills bypoll winner live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CE403-C039-4627-ACC5-C4AC58A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The Times of India · 2025-11-14 · Retrieved 8 October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38ABE-94CA-4342-93D6-19181D03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86e8e392ebb4a0b"/>
              </a:rPr>
              <a:t>https://timesofindia.indiatimes.com/city/hyderabad/assembly-bypoll-result-2025-live-updates-by-election-results-jubilee-hills-budgam-nagrota-anta-ghatshila-tarn-taran-dampa-nuapada/liveblog/125313066.cms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A20F7-2910-475B-9375-A2879FDF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13:18 IST winner update | Same corporate group as S23, different report; final vote totals conflict. Winner corroborated, official final Form 20 still requested.</a:t>
            </a:r>
          </a:p>
        </p:txBody>
      </p:sp>
    </p:spTree>
    <p:extLst>
      <p:ext uri="{BB962C8B-B14F-4D97-AF65-F5344CB8AC3E}">
        <p14:creationId xmlns:p14="http://schemas.microsoft.com/office/powerpoint/2010/main" val="60705098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7D0AC-8087-47EB-BE83-8E35194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FULL ATTRIBUTION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40A8C-B6F9-40E5-A6EF-3A02620A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3D6BB-BF28-4C09-8380-A0082835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A37 · S25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41E0A-A852-4935-A06C-86E43CA3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69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9A39E-9A8C-402F-81F5-F75E15F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Sources · 25–25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B7660-E780-410C-8E39-39EE1CD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S25  Portfolio resume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BBA0A-68A4-4CFB-BC48-864782F3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Manash Protim Deori · Repository read 2026-10-08 · Retrieved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CD2CB-3581-4C62-9905-74CBC7A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65744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fc7b2be97e84b69"/>
              </a:rPr>
              <a:t>https://github.com/ManashProtimDeori/Manash-Protim-Deori/blob/main/src/data/resume.ts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6420C-2BC1-413F-ACDA-1EE136F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workExperience, projects, education and header | Owner-controlled resume, not independent verification. No claim to Telugu/Urdu fluency, Hyderabad fieldwork or hiring endorsement.</a:t>
            </a:r>
          </a:p>
        </p:txBody>
      </p:sp>
    </p:spTree>
    <p:extLst>
      <p:ext uri="{BB962C8B-B14F-4D97-AF65-F5344CB8AC3E}">
        <p14:creationId xmlns:p14="http://schemas.microsoft.com/office/powerpoint/2010/main" val="123062471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F6446-54F5-4D10-8F8D-1E4CC1F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TWENTY ACTUAL SAVED CONTENT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E85FF-F097-4C9F-ACA5-4145EE93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C7D7D-38FD-4215-A40C-E9C4EEA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A38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11B7-08C6-476C-BD0E-7451060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70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3DFB2-C371-4CF3-ADDD-4789AFA5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Cumulative review · 01–04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61C16-0D78-489B-A8BA-DDD47ED6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v01 · Scope, vacancy and candidate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0BB14-CBCA-4EF3-A204-82B64992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Created 32-slide full draft, candidate inputs, research cut-off and unresolved vacancy register.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F14E4-7BAE-4C9D-9374-762E4E2A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184A3-C7FD-4151-92D8-583EEEF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v02 · Geography and institutional definitions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9BD1-0993-4169-96C9-333E265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Installed GO 55 zone allocations and separated electoral, municipal and planning units; removed fictitious 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71FD2-5191-45D1-B4F3-79FA11A2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C8D5C-6DF6-4971-90EB-FDB67D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v03 · Source collection and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3EA08-C3E5-4A6F-AC93-69109339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0050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five-gate method, source hierarchy, source-lineage disclosure and source accessibility limitations.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661C2-45E6-4940-BA0E-9F13F13D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1871A-221C-4743-8856-D5C5278D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v04 · Election data 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1CEE2-F4CF-4A62-B85A-116BA3F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Inserted historical civic table, primary Assembly study-set count and four separate parliamentary records; recalculated totals/margins.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1CF7D-DDEE-4689-92BB-DAC9CF39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360836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977C5-37F4-46D5-8287-F49BF58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TWENTY ACTUAL SAVED CONTENT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B001D-FC15-4C3D-8666-8170DA7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B8603-85ED-4990-B133-08A14A9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A39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DA51-5A6A-43F5-990B-DF93BA66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71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C024D-8440-413E-9952-D3F1B1A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Cumulative review · 05–08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116B1-FA97-4907-8C2A-5BCAB8A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v05 · Historical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BB736-69A4-49C3-A5A4-C49FB400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selective 2014/2018/2020/2023/2026 timeline, labelled reported legacy context and avoided voter-transfer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173CC-CFD2-49A1-8D39-3F56D0A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15CB0-2DA0-46D9-9293-511931A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v06 · Current actors and legal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5A55D-C4DD-4D25-843A-AE40D39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Replaced current-strength implications with election-time affiliation and reported 2025 winner; current legal roster remains a named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BA339-5A37-4C23-BFF5-B05B25F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61082-2D8B-411A-968A-B065D0C8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v07 · Governance and 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54C9D-5084-4088-ACD6-3BEBEF2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0050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Mapped documented agency roles and inserted coordination scaffold without asserting proven institutional failure.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16171-5033-4DB7-94FA-8482317C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98FB8-36E6-4297-BBD7-A84DF68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v08 · Political economy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5EE0D-6559-461D-AB85-C678BF7C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cluster/access distinction; excluded city GDP, unemployment, housing-price and demographic estimates without correct-scope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84862-DAFB-45BF-BD20-1955B0AB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117935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11575-4805-4C83-A060-5188CF5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TWENTY ACTUAL SAVED CONTENT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3E398-8BCC-4031-876C-960EA0E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2C99C-74A2-47A1-9D93-3D88EAB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A40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9F93-75A0-452A-A093-48F90792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72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FD8D5-EB31-49C9-A542-99F28EC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Cumulative review · 09–12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E9D35-FE4E-495A-B88A-48368A76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v09 · Public services and fiscal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CEE38-ED0F-41A0-846F-CCD1CFE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Inserted actual BE/RE amounts, separate transport instruments, statewide welfare scope and plan-to-revised-plan capex arithmetic.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9A065-D432-4301-A121-09AE9644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1DC22-F862-47E0-A629-16085EE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v10 · Live policy case studies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E25B0-F64E-4B82-95D5-24FDE32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Musi and HYDRAA briefs with objective/commitment/mandate distinctions; kept implementation and legal outcomes unknown.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B7C05-1E63-4FFB-8A51-3E574C77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4B616-548A-4B96-85BC-964C8A4E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v11 · Causality and competing explanations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B0428-19C1-472E-9910-346CA6D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0050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Tested causal overreach across deck; added executive synthesis and two alternative explanations for major election/governance conclusions.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8FE34-881B-4395-8169-C9A82F0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4FD5-7224-44B7-AEC5-0803409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v12 · Media, language and qualitative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9ACB6-6806-4333-AFC9-AB052A11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source/translation/representativeness discipline and known/disputed/unknown queue; rejected social-media-as-public-opinion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FBC99-386D-4CBF-813F-08DAF43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094085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358D2-8724-49E8-9314-4C3CE0D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TWENTY ACTUAL SAVED CONTENT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05731-4458-44CD-857A-5127B7F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3F423-3EA2-4BAE-A551-A6DEF82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A41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3B693-CA53-4F1D-A19A-BB055B8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73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8BF9D-C078-4669-9DAA-BF3D99D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Cumulative review · 13–16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58092-65C5-4D1F-BDAD-D835B647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v13 · Recommendation feasibility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AE856-0A87-4EBB-8521-36D1150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Produced budget tracker baseline; ranked research tasks using decision dependency and specified owners, dependencies, measures and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A66E9-8848-4076-8D3A-8CB8922B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8B141-C40E-4C16-B5DE-65FEADE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v14 · Immediate candidate contribution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DB951-5E3A-44D0-965A-6C6A986F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Audited every major finding/proposal for adjacent contribution; replaced generic contribution drafts with concrete proposed deliverables.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5623A-698A-471C-BC1B-A461231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06DF7-6711-4787-872D-2EAD1BFE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v15 · CV truthfulness and role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C6516-B5A3-437A-8209-30E94D9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0050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role fit and self-reportedCV evidence; removed unsupported language fluency, Hyderabad experience and independently audited impact.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0FF36-9EB5-4A8E-AE2D-82312E2F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C2BEE-A6A4-4DE4-B04A-3DA80730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v16 · 30/60/90-day realism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1CDB8-C4C7-426F-8C11-0C4886A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Added sequential 30/60/90-day outputs and resource assumptions; bounded qualitative pilot and prevented invented performance guarantees.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57C9-E323-4D31-BC11-26F3410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427344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48126-3753-4EF8-8270-304B2373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TWENTY ACTUAL SAVED CONTENT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38AD2-F4DD-4F24-A85B-C2D13231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59B2D-38E9-41A2-A8CA-06CB9EF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A42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E87C1-9ED6-4339-8CE9-AB1E99C6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74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1D24A-4525-4DD0-82D9-599E4B2A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Cumulative review · 17–20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63C54-C528-48F2-87E0-736603F9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v17 · Narrative and executive compression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BDE1B-3DF2-47FE-BB0D-8EBA0F94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Completed operating system and closing proposition; checked flow from evidence to work product and removed repeated claims from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1FE9E-99F1-4312-9B57-C70CB3C6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EDC49-3D61-4899-B5DD-04375ED9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v18 · Adversarial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D8E65-B6BB-4BEB-8BD5-BCFD007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Adversarially reviewed conflicting bypoll totals, 2020 incomplete tally, H-CITY label and boundary selection; recorded excluded claims and title limits.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B0DCD-E9E1-4AB8-8C8B-F14057F5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ECF08-F3BE-4235-896D-39D023A7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v19 · Full traceability and five-gate closure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5DC7A-E3B4-4F9B-B06F-3392FDFA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0050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Closed all substantive-ID mappings; generated atomic fact, inference, proposal, contribution and source ledgers plus reproducible tables.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F0527-AE2E-42FA-9816-C22C1520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C4810-E0A8-4A91-BFD1-A4D76E6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76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v20 · Final currency and presentation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F5A25-EFCE-4AC7-9D51-F12C431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Refreshed source snapshot/date boundaries, verified final sequence and all 32 main slides, retained residual uncertainties and released contentv 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EF5C0-AC85-4E5F-BB32-2861BF60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757543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83D03-95AC-4EDD-855A-C343A660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ADVERSARIAL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D6E66-029E-4916-A9A0-A0BCBDE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80C7C-6780-4759-9EF1-F4283D4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A43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098AF-4CF3-4878-8F8E-517740F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75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A27C5-4D96-485D-A3BE-36510F30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Rejected claims make the work stronger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84099-524A-4725-AA7E-A927BCF5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2025 Jubilee totals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A9E35-EC87-495A-8CEF-362C891D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Conflicting reports: 98,988/74,259 vs 99,120/74,462. Excluded quantitative comparison; obtain authoritative finalForm 20. S23/S24.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F67BF-60C9-4099-97DB-6E51D93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90800-263C-4FF1-810E-5418634C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2020 GHMC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6C6C9-BDB8-4F2F-A35B-661C96D4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051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Early TRS 55 tally predates final Neredmet. Use later 56/48/44/2 reporting, labelled historical. S21/S22.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572FA-144B-438B-A12D-2F471DF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CD577-718A-4DF1-A9CB-3A355702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State/city confusion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1A202-B1AA-454D-BBBF-5209A46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State vote share is not Jubilee Hills vote share. No state GDP or statewide service coverage relabelled Hyderabad.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8DCC0-7FD7-4A18-82EA-50E63DF7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E9BD0-433F-4868-A64A-EE027214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Mandate/outcome confusion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4E720-A943-45EB-B6E9-6EF11DB1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958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GO 55 and HYDRAA remit do not prove service gains, legal fairness or environmental improvements.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D8E12-853D-491A-A2F7-93A7E3CE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280A7-F8C4-49CD-9271-0E9A3111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Candidate overclaim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A652D-DF9A-437B-B326-393162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911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CV is self-report; no invented local fluency, local network, audited delivery impact or hiring endorsement.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7BDEA-7E0D-4932-8BB4-821A9AD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85388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71239-AA25-4FC3-BD02-0E59F8B7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PRACTICAL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BF2A-F440-43B1-927D-5A5FD0C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A868D-F3C3-472C-BA05-28FBB10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A44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5448B-1EC1-483B-BBE4-CBC0BCE1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76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7C14C-49B9-4F68-B46E-134E7635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Assumptions, scenarios and failure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3D0A3-2081-4714-BB06-97F9CDE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Desk-first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7BBE3-16DF-48EC-9071-90475689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Assume 10 focused research hours/week. If workload is lower, reduce brief count; preserve source standards.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EA88F-264E-43B4-AB96-AFBAC1E4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F1692-DCBF-4E8F-B5AA-A8AEF0E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Field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7D5CF-392A-4C73-B630-FB077964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051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If permissions/language support exist, pilot 5–8 interviews. If denied, publish documentary gaps; no qualitative percentages.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D4EF4-E8C2-4391-8649-D78A0CE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E6410-640B-4F6C-BA88-A142DE28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Delivery 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E8845-788F-4182-947D-F62DECC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If outcome records improve, deepen service analysis. If unavailable, distinguish official claims from verified milestones.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227AF-64BE-4123-B9BD-BB74EDA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0A863-5EED-416A-A0DD-355416D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Boundary/status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EB0BB-7327-4E19-ADF9-459EBD4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958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If a newer notification alters scope, retire crosswalk and rerun affected comparisons before publication.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97857-1D4F-4947-A71C-46833907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5D05F-8BE3-49C8-A8F0-801CB21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Learning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1A6BF-D3AA-4EC2-AFC0-05B5DE8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911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Supervisor-supported Hyderabad orientation and qualified Telugu/Urdu review; no fluency implied.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4DB71-28A4-455F-ADC5-4F4F53A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362885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E927F-6C67-4EDA-8816-CA995F8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14D25"/>
                </a:solidFill>
                <a:latin typeface="DejaVu Sans"/>
                <a:ea typeface="DejaVu Sans"/>
                <a:cs typeface="DejaVu Sans"/>
              </a:rPr>
              <a:t>EVIDENCE REQUEST AND REFRESH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10A46-A1E4-40ED-819C-54CFD8C0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E8B2A-0C89-4192-B9F0-00F21F7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828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16B"/>
                </a:solidFill>
                <a:latin typeface="DejaVu Sans"/>
                <a:ea typeface="DejaVu Sans"/>
                <a:cs typeface="DejaVu Sans"/>
              </a:rPr>
              <a:t>A45 ·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9F80B-4B8D-4B13-A3C4-1152F185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77 / 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799E3-420C-42B9-AB5E-C6582AC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75" b="0">
                <a:solidFill>
                  <a:srgbClr val="172C2A"/>
                </a:solidFill>
                <a:latin typeface="Bitstream Charter"/>
                <a:ea typeface="Bitstream Charter"/>
                <a:cs typeface="Bitstream Charter"/>
              </a:rPr>
              <a:t>What remains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6B4A6-DAE0-43D4-B721-1AD896FB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Hiring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D2BB9-E5BC-4879-9B56-A5E05031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Exact requisition, current open status, reporting line and expected work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711B2-876D-4525-B304-A13E752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7B023-E009-493D-A4B7-05CC8D2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TSEC / corporations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78170-C7C4-4BA3-BB88-CBB00C94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051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Official current civic poll notification, ward polygons, commissioners/elected roster and legal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E769C-CD79-41B0-8CC8-9B1E5920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4278-F3C9-4B36-9044-0FF170E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ECI / CEO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ECB3D-1BF1-4057-8993-CBF19483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Final 2025 JubileeForm 20; direct legacy 2016/2020 TSEC files for dataset ingestion.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FDD53-E0B3-4705-8A12-39BE947D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CB85A-AB9C-400D-BCB3-6C6CBB0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Scheme agencies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00F09-0680-4003-B6EC-FF1ECC1E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958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Current sanctions, releases, awards, spend, completion, environmental and household safeguards.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E2041-5698-4E0F-AB4A-EAF153FF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7958A-551A-4F3C-8E3F-A90EF14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65744"/>
                </a:solidFill>
                <a:latin typeface="Bitstream Charter"/>
                <a:ea typeface="Bitstream Charter"/>
                <a:cs typeface="Bitstream Charter"/>
              </a:rPr>
              <a:t>Research 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23084-3401-4A6B-905D-AA37CC79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911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2A"/>
                </a:solidFill>
                <a:latin typeface="DejaVu Sans"/>
                <a:ea typeface="DejaVu Sans"/>
                <a:cs typeface="DejaVu Sans"/>
              </a:rPr>
              <a:t>Consent, access, languages, survey method and data governance before primary research.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09FFF-9948-4D61-AE1A-5737B4E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0351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2026-10-08T13:09:33.3130000Z</dcterms:created>
  <dcterms:modified xsi:type="dcterms:W3CDTF">2026-10-08T13:09:33.3130000Z</dcterms:modified>
</coreProperties>
</file>