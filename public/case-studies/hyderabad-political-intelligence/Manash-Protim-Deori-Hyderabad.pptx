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3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882cb6c1c34b67" /><Relationship Type="http://schemas.openxmlformats.org/officeDocument/2006/relationships/extended-properties" Target="/docProps/app.xml" Id="R9a5475a0fc89445a" /><Relationship Type="http://schemas.openxmlformats.org/officeDocument/2006/relationships/officeDocument" Target="/ppt/presentation.xml" Id="R81cad0688a9048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a26dcf2aa1492f"/>
  </p:sldMasterIdLst>
  <p:notesMasterIdLst>
    <p:notesMasterId xmlns:r="http://schemas.openxmlformats.org/officeDocument/2006/relationships" r:id="Ra2a7c036aa71438f"/>
  </p:notesMasterIdLst>
  <p:sldIdLst>
    <p:sldId xmlns:r="http://schemas.openxmlformats.org/officeDocument/2006/relationships" id="256" r:id="Re1868c8062c54eb4"/>
    <p:sldId xmlns:r="http://schemas.openxmlformats.org/officeDocument/2006/relationships" id="257" r:id="R8b08ddbeeb0a4d84"/>
    <p:sldId xmlns:r="http://schemas.openxmlformats.org/officeDocument/2006/relationships" id="258" r:id="Ra4be31f81f3943fa"/>
    <p:sldId xmlns:r="http://schemas.openxmlformats.org/officeDocument/2006/relationships" id="259" r:id="Ra024cbae63574b51"/>
    <p:sldId xmlns:r="http://schemas.openxmlformats.org/officeDocument/2006/relationships" id="260" r:id="R8721b596bb704aea"/>
    <p:sldId xmlns:r="http://schemas.openxmlformats.org/officeDocument/2006/relationships" id="261" r:id="R4b96674b58714143"/>
    <p:sldId xmlns:r="http://schemas.openxmlformats.org/officeDocument/2006/relationships" id="262" r:id="Rdb0df45668d6497e"/>
    <p:sldId xmlns:r="http://schemas.openxmlformats.org/officeDocument/2006/relationships" id="263" r:id="R68fd6885287a487c"/>
    <p:sldId xmlns:r="http://schemas.openxmlformats.org/officeDocument/2006/relationships" id="264" r:id="R3ffc4bd4f2b4423d"/>
    <p:sldId xmlns:r="http://schemas.openxmlformats.org/officeDocument/2006/relationships" id="265" r:id="Rc2ad31c606764937"/>
    <p:sldId xmlns:r="http://schemas.openxmlformats.org/officeDocument/2006/relationships" id="266" r:id="Rabbca246a91147ba"/>
    <p:sldId xmlns:r="http://schemas.openxmlformats.org/officeDocument/2006/relationships" id="267" r:id="R293605f57874426f"/>
    <p:sldId xmlns:r="http://schemas.openxmlformats.org/officeDocument/2006/relationships" id="268" r:id="Ra49ba9c2d8654e9e"/>
    <p:sldId xmlns:r="http://schemas.openxmlformats.org/officeDocument/2006/relationships" id="269" r:id="Rb87a58070a2d42ce"/>
    <p:sldId xmlns:r="http://schemas.openxmlformats.org/officeDocument/2006/relationships" id="270" r:id="R32d08b8f65434e22"/>
    <p:sldId xmlns:r="http://schemas.openxmlformats.org/officeDocument/2006/relationships" id="271" r:id="Rd25e3b097bfa4e1c"/>
    <p:sldId xmlns:r="http://schemas.openxmlformats.org/officeDocument/2006/relationships" id="272" r:id="Rb4c26f78c4e743b5"/>
    <p:sldId xmlns:r="http://schemas.openxmlformats.org/officeDocument/2006/relationships" id="273" r:id="Rcbf2b8330bec48f5"/>
    <p:sldId xmlns:r="http://schemas.openxmlformats.org/officeDocument/2006/relationships" id="274" r:id="R461c686e8a174754"/>
    <p:sldId xmlns:r="http://schemas.openxmlformats.org/officeDocument/2006/relationships" id="275" r:id="R1cb7f24e23484c5c"/>
    <p:sldId xmlns:r="http://schemas.openxmlformats.org/officeDocument/2006/relationships" id="276" r:id="R2a158a7e305d43bf"/>
    <p:sldId xmlns:r="http://schemas.openxmlformats.org/officeDocument/2006/relationships" id="277" r:id="Rb244b3ddfb034129"/>
    <p:sldId xmlns:r="http://schemas.openxmlformats.org/officeDocument/2006/relationships" id="278" r:id="Re5c16908dac34183"/>
    <p:sldId xmlns:r="http://schemas.openxmlformats.org/officeDocument/2006/relationships" id="279" r:id="Ra539f7b115924c2b"/>
    <p:sldId xmlns:r="http://schemas.openxmlformats.org/officeDocument/2006/relationships" id="280" r:id="Rb839faabdfcf4daa"/>
    <p:sldId xmlns:r="http://schemas.openxmlformats.org/officeDocument/2006/relationships" id="281" r:id="Ra8a75e715d7c483d"/>
    <p:sldId xmlns:r="http://schemas.openxmlformats.org/officeDocument/2006/relationships" id="282" r:id="Rf57c1fbbc81244bf"/>
    <p:sldId xmlns:r="http://schemas.openxmlformats.org/officeDocument/2006/relationships" id="283" r:id="R435fd16ad9344aec"/>
    <p:sldId xmlns:r="http://schemas.openxmlformats.org/officeDocument/2006/relationships" id="284" r:id="R4c4d9927162b4b5f"/>
    <p:sldId xmlns:r="http://schemas.openxmlformats.org/officeDocument/2006/relationships" id="285" r:id="R3721c7632b3842a0"/>
    <p:sldId xmlns:r="http://schemas.openxmlformats.org/officeDocument/2006/relationships" id="286" r:id="R0454f4952acf4785"/>
    <p:sldId xmlns:r="http://schemas.openxmlformats.org/officeDocument/2006/relationships" id="287" r:id="Ra2ce534a28854ba8"/>
    <p:sldId xmlns:r="http://schemas.openxmlformats.org/officeDocument/2006/relationships" id="288" r:id="Rd0197fb33a8a4fee"/>
    <p:sldId xmlns:r="http://schemas.openxmlformats.org/officeDocument/2006/relationships" id="289" r:id="Rfefa8b6e95a54603"/>
    <p:sldId xmlns:r="http://schemas.openxmlformats.org/officeDocument/2006/relationships" id="290" r:id="R989855e662ad45d5"/>
    <p:sldId xmlns:r="http://schemas.openxmlformats.org/officeDocument/2006/relationships" id="291" r:id="R32c95ae0a8b64ea7"/>
    <p:sldId xmlns:r="http://schemas.openxmlformats.org/officeDocument/2006/relationships" id="292" r:id="R884c778a5def4b1f"/>
    <p:sldId xmlns:r="http://schemas.openxmlformats.org/officeDocument/2006/relationships" id="293" r:id="Rd0b0055008394f90"/>
    <p:sldId xmlns:r="http://schemas.openxmlformats.org/officeDocument/2006/relationships" id="294" r:id="Rc7efab3b9bcd404b"/>
    <p:sldId xmlns:r="http://schemas.openxmlformats.org/officeDocument/2006/relationships" id="295" r:id="Rf8e39fc1ffee4f10"/>
    <p:sldId xmlns:r="http://schemas.openxmlformats.org/officeDocument/2006/relationships" id="296" r:id="Ra8998aee70dc48dd"/>
    <p:sldId xmlns:r="http://schemas.openxmlformats.org/officeDocument/2006/relationships" id="297" r:id="R78fab3d5b09d4ac8"/>
    <p:sldId xmlns:r="http://schemas.openxmlformats.org/officeDocument/2006/relationships" id="298" r:id="Rd6f240ddd6174086"/>
    <p:sldId xmlns:r="http://schemas.openxmlformats.org/officeDocument/2006/relationships" id="299" r:id="R006b9c82325a476e"/>
    <p:sldId xmlns:r="http://schemas.openxmlformats.org/officeDocument/2006/relationships" id="300" r:id="R5631037d4d2e4847"/>
    <p:sldId xmlns:r="http://schemas.openxmlformats.org/officeDocument/2006/relationships" id="301" r:id="Rb2eba36f3aa84479"/>
    <p:sldId xmlns:r="http://schemas.openxmlformats.org/officeDocument/2006/relationships" id="302" r:id="R683eb24575fe4ebd"/>
    <p:sldId xmlns:r="http://schemas.openxmlformats.org/officeDocument/2006/relationships" id="303" r:id="Re143503918f24120"/>
    <p:sldId xmlns:r="http://schemas.openxmlformats.org/officeDocument/2006/relationships" id="304" r:id="R926bed140cc14a49"/>
    <p:sldId xmlns:r="http://schemas.openxmlformats.org/officeDocument/2006/relationships" id="305" r:id="R2d102a20d72b4f81"/>
    <p:sldId xmlns:r="http://schemas.openxmlformats.org/officeDocument/2006/relationships" id="306" r:id="Rad176e893c0248a1"/>
    <p:sldId xmlns:r="http://schemas.openxmlformats.org/officeDocument/2006/relationships" id="307" r:id="R4ec524e8789c4b76"/>
    <p:sldId xmlns:r="http://schemas.openxmlformats.org/officeDocument/2006/relationships" id="308" r:id="R1b3698f6b3104fae"/>
    <p:sldId xmlns:r="http://schemas.openxmlformats.org/officeDocument/2006/relationships" id="309" r:id="R02c0ef9ff76444c4"/>
    <p:sldId xmlns:r="http://schemas.openxmlformats.org/officeDocument/2006/relationships" id="310" r:id="R04de07ea4113465e"/>
    <p:sldId xmlns:r="http://schemas.openxmlformats.org/officeDocument/2006/relationships" id="311" r:id="R6ca1d1ddb14747b7"/>
    <p:sldId xmlns:r="http://schemas.openxmlformats.org/officeDocument/2006/relationships" id="312" r:id="Rca5c42ee37594ac8"/>
    <p:sldId xmlns:r="http://schemas.openxmlformats.org/officeDocument/2006/relationships" id="313" r:id="R78a105cf74e04080"/>
    <p:sldId xmlns:r="http://schemas.openxmlformats.org/officeDocument/2006/relationships" id="314" r:id="Rc1fb0df9c2484ebf"/>
    <p:sldId xmlns:r="http://schemas.openxmlformats.org/officeDocument/2006/relationships" id="315" r:id="R526ee5985ad545b1"/>
    <p:sldId xmlns:r="http://schemas.openxmlformats.org/officeDocument/2006/relationships" id="316" r:id="R0f869b14a77f43f4"/>
    <p:sldId xmlns:r="http://schemas.openxmlformats.org/officeDocument/2006/relationships" id="317" r:id="R265e9dee45b140f1"/>
    <p:sldId xmlns:r="http://schemas.openxmlformats.org/officeDocument/2006/relationships" id="318" r:id="R51937f1499224f21"/>
    <p:sldId xmlns:r="http://schemas.openxmlformats.org/officeDocument/2006/relationships" id="319" r:id="Rebaac927c1d74d23"/>
    <p:sldId xmlns:r="http://schemas.openxmlformats.org/officeDocument/2006/relationships" id="320" r:id="R5f4eeaf8e2904bd3"/>
    <p:sldId xmlns:r="http://schemas.openxmlformats.org/officeDocument/2006/relationships" id="321" r:id="R15672f7b773e43c0"/>
    <p:sldId xmlns:r="http://schemas.openxmlformats.org/officeDocument/2006/relationships" id="322" r:id="R8d4793b5e25d43b5"/>
    <p:sldId xmlns:r="http://schemas.openxmlformats.org/officeDocument/2006/relationships" id="323" r:id="Rc9acdd31619b4178"/>
    <p:sldId xmlns:r="http://schemas.openxmlformats.org/officeDocument/2006/relationships" id="324" r:id="Rb32b6feccfdc4c96"/>
    <p:sldId xmlns:r="http://schemas.openxmlformats.org/officeDocument/2006/relationships" id="325" r:id="R90701b234e684fe2"/>
    <p:sldId xmlns:r="http://schemas.openxmlformats.org/officeDocument/2006/relationships" id="326" r:id="Rb3d2b560962c46a2"/>
    <p:sldId xmlns:r="http://schemas.openxmlformats.org/officeDocument/2006/relationships" id="327" r:id="Rf19456597b96447c"/>
    <p:sldId xmlns:r="http://schemas.openxmlformats.org/officeDocument/2006/relationships" id="328" r:id="Rc0fef41d93534729"/>
    <p:sldId xmlns:r="http://schemas.openxmlformats.org/officeDocument/2006/relationships" id="329" r:id="R1df83ac851134337"/>
    <p:sldId xmlns:r="http://schemas.openxmlformats.org/officeDocument/2006/relationships" id="330" r:id="R5b14d9417c6047de"/>
    <p:sldId xmlns:r="http://schemas.openxmlformats.org/officeDocument/2006/relationships" id="331" r:id="R916791d075b54d73"/>
    <p:sldId xmlns:r="http://schemas.openxmlformats.org/officeDocument/2006/relationships" id="332" r:id="R2dcc1c3f71af447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bf2b75bce34500" /><Relationship Type="http://schemas.openxmlformats.org/officeDocument/2006/relationships/slideMaster" Target="/ppt/slideMasters/slideMaster1.xml" Id="Raca26dcf2aa1492f" /><Relationship Type="http://schemas.openxmlformats.org/officeDocument/2006/relationships/notesMaster" Target="/ppt/notesMasters/notesMaster1.xml" Id="Ra2a7c036aa71438f" /><Relationship Type="http://schemas.openxmlformats.org/officeDocument/2006/relationships/presProps" Target="/ppt/presProps.xml" Id="Ra985724d98fb4ea8" /><Relationship Type="http://schemas.openxmlformats.org/officeDocument/2006/relationships/tableStyles" Target="/ppt/tableStyles.xml" Id="R92558795cce34930" /><Relationship Type="http://schemas.openxmlformats.org/officeDocument/2006/relationships/slide" Target="/ppt/slides/slide1.xml" Id="Re1868c8062c54eb4" /><Relationship Type="http://schemas.openxmlformats.org/officeDocument/2006/relationships/slide" Target="/ppt/slides/slide2.xml" Id="R8b08ddbeeb0a4d84" /><Relationship Type="http://schemas.openxmlformats.org/officeDocument/2006/relationships/slide" Target="/ppt/slides/slide3.xml" Id="Ra4be31f81f3943fa" /><Relationship Type="http://schemas.openxmlformats.org/officeDocument/2006/relationships/slide" Target="/ppt/slides/slide4.xml" Id="Ra024cbae63574b51" /><Relationship Type="http://schemas.openxmlformats.org/officeDocument/2006/relationships/slide" Target="/ppt/slides/slide5.xml" Id="R8721b596bb704aea" /><Relationship Type="http://schemas.openxmlformats.org/officeDocument/2006/relationships/slide" Target="/ppt/slides/slide6.xml" Id="R4b96674b58714143" /><Relationship Type="http://schemas.openxmlformats.org/officeDocument/2006/relationships/slide" Target="/ppt/slides/slide7.xml" Id="Rdb0df45668d6497e" /><Relationship Type="http://schemas.openxmlformats.org/officeDocument/2006/relationships/slide" Target="/ppt/slides/slide8.xml" Id="R68fd6885287a487c" /><Relationship Type="http://schemas.openxmlformats.org/officeDocument/2006/relationships/slide" Target="/ppt/slides/slide9.xml" Id="R3ffc4bd4f2b4423d" /><Relationship Type="http://schemas.openxmlformats.org/officeDocument/2006/relationships/slide" Target="/ppt/slides/slide10.xml" Id="Rc2ad31c606764937" /><Relationship Type="http://schemas.openxmlformats.org/officeDocument/2006/relationships/slide" Target="/ppt/slides/slide11.xml" Id="Rabbca246a91147ba" /><Relationship Type="http://schemas.openxmlformats.org/officeDocument/2006/relationships/slide" Target="/ppt/slides/slide12.xml" Id="R293605f57874426f" /><Relationship Type="http://schemas.openxmlformats.org/officeDocument/2006/relationships/slide" Target="/ppt/slides/slide13.xml" Id="Ra49ba9c2d8654e9e" /><Relationship Type="http://schemas.openxmlformats.org/officeDocument/2006/relationships/slide" Target="/ppt/slides/slide14.xml" Id="Rb87a58070a2d42ce" /><Relationship Type="http://schemas.openxmlformats.org/officeDocument/2006/relationships/slide" Target="/ppt/slides/slide15.xml" Id="R32d08b8f65434e22" /><Relationship Type="http://schemas.openxmlformats.org/officeDocument/2006/relationships/slide" Target="/ppt/slides/slide16.xml" Id="Rd25e3b097bfa4e1c" /><Relationship Type="http://schemas.openxmlformats.org/officeDocument/2006/relationships/slide" Target="/ppt/slides/slide17.xml" Id="Rb4c26f78c4e743b5" /><Relationship Type="http://schemas.openxmlformats.org/officeDocument/2006/relationships/slide" Target="/ppt/slides/slide18.xml" Id="Rcbf2b8330bec48f5" /><Relationship Type="http://schemas.openxmlformats.org/officeDocument/2006/relationships/slide" Target="/ppt/slides/slide19.xml" Id="R461c686e8a174754" /><Relationship Type="http://schemas.openxmlformats.org/officeDocument/2006/relationships/slide" Target="/ppt/slides/slide20.xml" Id="R1cb7f24e23484c5c" /><Relationship Type="http://schemas.openxmlformats.org/officeDocument/2006/relationships/slide" Target="/ppt/slides/slide21.xml" Id="R2a158a7e305d43bf" /><Relationship Type="http://schemas.openxmlformats.org/officeDocument/2006/relationships/slide" Target="/ppt/slides/slide22.xml" Id="Rb244b3ddfb034129" /><Relationship Type="http://schemas.openxmlformats.org/officeDocument/2006/relationships/slide" Target="/ppt/slides/slide23.xml" Id="Re5c16908dac34183" /><Relationship Type="http://schemas.openxmlformats.org/officeDocument/2006/relationships/slide" Target="/ppt/slides/slide24.xml" Id="Ra539f7b115924c2b" /><Relationship Type="http://schemas.openxmlformats.org/officeDocument/2006/relationships/slide" Target="/ppt/slides/slide25.xml" Id="Rb839faabdfcf4daa" /><Relationship Type="http://schemas.openxmlformats.org/officeDocument/2006/relationships/slide" Target="/ppt/slides/slide26.xml" Id="Ra8a75e715d7c483d" /><Relationship Type="http://schemas.openxmlformats.org/officeDocument/2006/relationships/slide" Target="/ppt/slides/slide27.xml" Id="Rf57c1fbbc81244bf" /><Relationship Type="http://schemas.openxmlformats.org/officeDocument/2006/relationships/slide" Target="/ppt/slides/slide28.xml" Id="R435fd16ad9344aec" /><Relationship Type="http://schemas.openxmlformats.org/officeDocument/2006/relationships/slide" Target="/ppt/slides/slide29.xml" Id="R4c4d9927162b4b5f" /><Relationship Type="http://schemas.openxmlformats.org/officeDocument/2006/relationships/slide" Target="/ppt/slides/slide30.xml" Id="R3721c7632b3842a0" /><Relationship Type="http://schemas.openxmlformats.org/officeDocument/2006/relationships/slide" Target="/ppt/slides/slide31.xml" Id="R0454f4952acf4785" /><Relationship Type="http://schemas.openxmlformats.org/officeDocument/2006/relationships/slide" Target="/ppt/slides/slide32.xml" Id="Ra2ce534a28854ba8" /><Relationship Type="http://schemas.openxmlformats.org/officeDocument/2006/relationships/slide" Target="/ppt/slides/slide33.xml" Id="Rd0197fb33a8a4fee" /><Relationship Type="http://schemas.openxmlformats.org/officeDocument/2006/relationships/slide" Target="/ppt/slides/slide34.xml" Id="Rfefa8b6e95a54603" /><Relationship Type="http://schemas.openxmlformats.org/officeDocument/2006/relationships/slide" Target="/ppt/slides/slide35.xml" Id="R989855e662ad45d5" /><Relationship Type="http://schemas.openxmlformats.org/officeDocument/2006/relationships/slide" Target="/ppt/slides/slide36.xml" Id="R32c95ae0a8b64ea7" /><Relationship Type="http://schemas.openxmlformats.org/officeDocument/2006/relationships/slide" Target="/ppt/slides/slide37.xml" Id="R884c778a5def4b1f" /><Relationship Type="http://schemas.openxmlformats.org/officeDocument/2006/relationships/slide" Target="/ppt/slides/slide38.xml" Id="Rd0b0055008394f90" /><Relationship Type="http://schemas.openxmlformats.org/officeDocument/2006/relationships/slide" Target="/ppt/slides/slide39.xml" Id="Rc7efab3b9bcd404b" /><Relationship Type="http://schemas.openxmlformats.org/officeDocument/2006/relationships/slide" Target="/ppt/slides/slide40.xml" Id="Rf8e39fc1ffee4f10" /><Relationship Type="http://schemas.openxmlformats.org/officeDocument/2006/relationships/slide" Target="/ppt/slides/slide41.xml" Id="Ra8998aee70dc48dd" /><Relationship Type="http://schemas.openxmlformats.org/officeDocument/2006/relationships/slide" Target="/ppt/slides/slide42.xml" Id="R78fab3d5b09d4ac8" /><Relationship Type="http://schemas.openxmlformats.org/officeDocument/2006/relationships/slide" Target="/ppt/slides/slide43.xml" Id="Rd6f240ddd6174086" /><Relationship Type="http://schemas.openxmlformats.org/officeDocument/2006/relationships/slide" Target="/ppt/slides/slide44.xml" Id="R006b9c82325a476e" /><Relationship Type="http://schemas.openxmlformats.org/officeDocument/2006/relationships/slide" Target="/ppt/slides/slide45.xml" Id="R5631037d4d2e4847" /><Relationship Type="http://schemas.openxmlformats.org/officeDocument/2006/relationships/slide" Target="/ppt/slides/slide46.xml" Id="Rb2eba36f3aa84479" /><Relationship Type="http://schemas.openxmlformats.org/officeDocument/2006/relationships/slide" Target="/ppt/slides/slide47.xml" Id="R683eb24575fe4ebd" /><Relationship Type="http://schemas.openxmlformats.org/officeDocument/2006/relationships/slide" Target="/ppt/slides/slide48.xml" Id="Re143503918f24120" /><Relationship Type="http://schemas.openxmlformats.org/officeDocument/2006/relationships/slide" Target="/ppt/slides/slide49.xml" Id="R926bed140cc14a49" /><Relationship Type="http://schemas.openxmlformats.org/officeDocument/2006/relationships/slide" Target="/ppt/slides/slide50.xml" Id="R2d102a20d72b4f81" /><Relationship Type="http://schemas.openxmlformats.org/officeDocument/2006/relationships/slide" Target="/ppt/slides/slide51.xml" Id="Rad176e893c0248a1" /><Relationship Type="http://schemas.openxmlformats.org/officeDocument/2006/relationships/slide" Target="/ppt/slides/slide52.xml" Id="R4ec524e8789c4b76" /><Relationship Type="http://schemas.openxmlformats.org/officeDocument/2006/relationships/slide" Target="/ppt/slides/slide53.xml" Id="R1b3698f6b3104fae" /><Relationship Type="http://schemas.openxmlformats.org/officeDocument/2006/relationships/slide" Target="/ppt/slides/slide54.xml" Id="R02c0ef9ff76444c4" /><Relationship Type="http://schemas.openxmlformats.org/officeDocument/2006/relationships/slide" Target="/ppt/slides/slide55.xml" Id="R04de07ea4113465e" /><Relationship Type="http://schemas.openxmlformats.org/officeDocument/2006/relationships/slide" Target="/ppt/slides/slide56.xml" Id="R6ca1d1ddb14747b7" /><Relationship Type="http://schemas.openxmlformats.org/officeDocument/2006/relationships/slide" Target="/ppt/slides/slide57.xml" Id="Rca5c42ee37594ac8" /><Relationship Type="http://schemas.openxmlformats.org/officeDocument/2006/relationships/slide" Target="/ppt/slides/slide58.xml" Id="R78a105cf74e04080" /><Relationship Type="http://schemas.openxmlformats.org/officeDocument/2006/relationships/slide" Target="/ppt/slides/slide59.xml" Id="Rc1fb0df9c2484ebf" /><Relationship Type="http://schemas.openxmlformats.org/officeDocument/2006/relationships/slide" Target="/ppt/slides/slide60.xml" Id="R526ee5985ad545b1" /><Relationship Type="http://schemas.openxmlformats.org/officeDocument/2006/relationships/slide" Target="/ppt/slides/slide61.xml" Id="R0f869b14a77f43f4" /><Relationship Type="http://schemas.openxmlformats.org/officeDocument/2006/relationships/slide" Target="/ppt/slides/slide62.xml" Id="R265e9dee45b140f1" /><Relationship Type="http://schemas.openxmlformats.org/officeDocument/2006/relationships/slide" Target="/ppt/slides/slide63.xml" Id="R51937f1499224f21" /><Relationship Type="http://schemas.openxmlformats.org/officeDocument/2006/relationships/slide" Target="/ppt/slides/slide64.xml" Id="Rebaac927c1d74d23" /><Relationship Type="http://schemas.openxmlformats.org/officeDocument/2006/relationships/slide" Target="/ppt/slides/slide65.xml" Id="R5f4eeaf8e2904bd3" /><Relationship Type="http://schemas.openxmlformats.org/officeDocument/2006/relationships/slide" Target="/ppt/slides/slide66.xml" Id="R15672f7b773e43c0" /><Relationship Type="http://schemas.openxmlformats.org/officeDocument/2006/relationships/slide" Target="/ppt/slides/slide67.xml" Id="R8d4793b5e25d43b5" /><Relationship Type="http://schemas.openxmlformats.org/officeDocument/2006/relationships/slide" Target="/ppt/slides/slide68.xml" Id="Rc9acdd31619b4178" /><Relationship Type="http://schemas.openxmlformats.org/officeDocument/2006/relationships/slide" Target="/ppt/slides/slide69.xml" Id="Rb32b6feccfdc4c96" /><Relationship Type="http://schemas.openxmlformats.org/officeDocument/2006/relationships/slide" Target="/ppt/slides/slide70.xml" Id="R90701b234e684fe2" /><Relationship Type="http://schemas.openxmlformats.org/officeDocument/2006/relationships/slide" Target="/ppt/slides/slide71.xml" Id="Rb3d2b560962c46a2" /><Relationship Type="http://schemas.openxmlformats.org/officeDocument/2006/relationships/slide" Target="/ppt/slides/slide72.xml" Id="Rf19456597b96447c" /><Relationship Type="http://schemas.openxmlformats.org/officeDocument/2006/relationships/slide" Target="/ppt/slides/slide73.xml" Id="Rc0fef41d93534729" /><Relationship Type="http://schemas.openxmlformats.org/officeDocument/2006/relationships/slide" Target="/ppt/slides/slide74.xml" Id="R1df83ac851134337" /><Relationship Type="http://schemas.openxmlformats.org/officeDocument/2006/relationships/slide" Target="/ppt/slides/slide75.xml" Id="R5b14d9417c6047de" /><Relationship Type="http://schemas.openxmlformats.org/officeDocument/2006/relationships/slide" Target="/ppt/slides/slide76.xml" Id="R916791d075b54d73" /><Relationship Type="http://schemas.openxmlformats.org/officeDocument/2006/relationships/slide" Target="/ppt/slides/slide77.xml" Id="R2dcc1c3f71af44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68e5d3508c43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DejaVu Sans"/>
        <a:ea typeface=""/>
        <a:cs typeface=""/>
      </a:majorFont>
      <a:minorFont>
        <a:latin typeface="DejaVu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8a6078e8c94e6a" /><Relationship Type="http://schemas.openxmlformats.org/officeDocument/2006/relationships/notesMaster" Target="/ppt/notesMasters/notesMaster1.xml" Id="Rdcbbb8ee235d4b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7a6f924c2c46f2" /><Relationship Type="http://schemas.openxmlformats.org/officeDocument/2006/relationships/notesMaster" Target="/ppt/notesMasters/notesMaster1.xml" Id="R390c5b44cc4645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85a19edda414a58" /><Relationship Type="http://schemas.openxmlformats.org/officeDocument/2006/relationships/notesMaster" Target="/ppt/notesMasters/notesMaster1.xml" Id="R0a12a6ea868245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d6ac0a28bb4c23" /><Relationship Type="http://schemas.openxmlformats.org/officeDocument/2006/relationships/notesMaster" Target="/ppt/notesMasters/notesMaster1.xml" Id="R7927f365306e4e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6e8a3a636e491b" /><Relationship Type="http://schemas.openxmlformats.org/officeDocument/2006/relationships/notesMaster" Target="/ppt/notesMasters/notesMaster1.xml" Id="Rceea33fda5f242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88c0f3bf3744ec" /><Relationship Type="http://schemas.openxmlformats.org/officeDocument/2006/relationships/notesMaster" Target="/ppt/notesMasters/notesMaster1.xml" Id="R8fffff1d283c4d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94f387e990422e" /><Relationship Type="http://schemas.openxmlformats.org/officeDocument/2006/relationships/notesMaster" Target="/ppt/notesMasters/notesMaster1.xml" Id="Rc58c458db136402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778d5ef26334746" /><Relationship Type="http://schemas.openxmlformats.org/officeDocument/2006/relationships/notesMaster" Target="/ppt/notesMasters/notesMaster1.xml" Id="Rea61f418a8904f8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dc2ad24f8c646b2" /><Relationship Type="http://schemas.openxmlformats.org/officeDocument/2006/relationships/notesMaster" Target="/ppt/notesMasters/notesMaster1.xml" Id="R44b2d28e6c3348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833987218a04de3" /><Relationship Type="http://schemas.openxmlformats.org/officeDocument/2006/relationships/notesMaster" Target="/ppt/notesMasters/notesMaster1.xml" Id="R47528af39350480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047c7b88e8f412c" /><Relationship Type="http://schemas.openxmlformats.org/officeDocument/2006/relationships/notesMaster" Target="/ppt/notesMasters/notesMaster1.xml" Id="R45bb47248a1b4e2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41f88ec59204e48" /><Relationship Type="http://schemas.openxmlformats.org/officeDocument/2006/relationships/notesMaster" Target="/ppt/notesMasters/notesMaster1.xml" Id="R555c72ad8c9d48d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c1a2f34d06c4552" /><Relationship Type="http://schemas.openxmlformats.org/officeDocument/2006/relationships/notesMaster" Target="/ppt/notesMasters/notesMaster1.xml" Id="R37b869b8b860494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dc427ef4acd45cb" /><Relationship Type="http://schemas.openxmlformats.org/officeDocument/2006/relationships/notesMaster" Target="/ppt/notesMasters/notesMaster1.xml" Id="Re7b011e5420f41e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1fcf90b23954ed5" /><Relationship Type="http://schemas.openxmlformats.org/officeDocument/2006/relationships/notesMaster" Target="/ppt/notesMasters/notesMaster1.xml" Id="R1572428bd1684b5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4d9ee69c0fb4915" /><Relationship Type="http://schemas.openxmlformats.org/officeDocument/2006/relationships/notesMaster" Target="/ppt/notesMasters/notesMaster1.xml" Id="Rfb0cf8ef4bb4473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077655f9a02474d" /><Relationship Type="http://schemas.openxmlformats.org/officeDocument/2006/relationships/notesMaster" Target="/ppt/notesMasters/notesMaster1.xml" Id="Rce9da745c7e4495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acd23400c4e4c0f" /><Relationship Type="http://schemas.openxmlformats.org/officeDocument/2006/relationships/notesMaster" Target="/ppt/notesMasters/notesMaster1.xml" Id="R79d05014925342e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4d64051a4e844f3" /><Relationship Type="http://schemas.openxmlformats.org/officeDocument/2006/relationships/notesMaster" Target="/ppt/notesMasters/notesMaster1.xml" Id="Rc809ce82af34421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2a1cf78d5c24a06" /><Relationship Type="http://schemas.openxmlformats.org/officeDocument/2006/relationships/notesMaster" Target="/ppt/notesMasters/notesMaster1.xml" Id="R57cd778de793415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e204cbd35e94e28" /><Relationship Type="http://schemas.openxmlformats.org/officeDocument/2006/relationships/notesMaster" Target="/ppt/notesMasters/notesMaster1.xml" Id="R7bf2c7d376ea48b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888b9211a1e495f" /><Relationship Type="http://schemas.openxmlformats.org/officeDocument/2006/relationships/notesMaster" Target="/ppt/notesMasters/notesMaster1.xml" Id="R7a285b2d5c1c403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7e06ca588074569" /><Relationship Type="http://schemas.openxmlformats.org/officeDocument/2006/relationships/notesMaster" Target="/ppt/notesMasters/notesMaster1.xml" Id="R7bf8a3b5a6824b3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5f6dcaf05214e40" /><Relationship Type="http://schemas.openxmlformats.org/officeDocument/2006/relationships/notesMaster" Target="/ppt/notesMasters/notesMaster1.xml" Id="Rb44f323cca87401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15f184ad20647a4" /><Relationship Type="http://schemas.openxmlformats.org/officeDocument/2006/relationships/notesMaster" Target="/ppt/notesMasters/notesMaster1.xml" Id="R2b1903957b924f8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4a78da671b1468a" /><Relationship Type="http://schemas.openxmlformats.org/officeDocument/2006/relationships/notesMaster" Target="/ppt/notesMasters/notesMaster1.xml" Id="R0cbd16c9a514466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a94cdc1be7c43d8" /><Relationship Type="http://schemas.openxmlformats.org/officeDocument/2006/relationships/notesMaster" Target="/ppt/notesMasters/notesMaster1.xml" Id="Rc670d81f01214ef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8afb2a68f5849ae" /><Relationship Type="http://schemas.openxmlformats.org/officeDocument/2006/relationships/notesMaster" Target="/ppt/notesMasters/notesMaster1.xml" Id="R324997153aea458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5171dd839a240e4" /><Relationship Type="http://schemas.openxmlformats.org/officeDocument/2006/relationships/notesMaster" Target="/ppt/notesMasters/notesMaster1.xml" Id="R881114c3f2f840d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7f02ef9c6db47ad" /><Relationship Type="http://schemas.openxmlformats.org/officeDocument/2006/relationships/notesMaster" Target="/ppt/notesMasters/notesMaster1.xml" Id="R9a4b10c3680447d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298bd747a784f25" /><Relationship Type="http://schemas.openxmlformats.org/officeDocument/2006/relationships/notesMaster" Target="/ppt/notesMasters/notesMaster1.xml" Id="Reeb5461a797844d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34fa5bd3c8441d8" /><Relationship Type="http://schemas.openxmlformats.org/officeDocument/2006/relationships/notesMaster" Target="/ppt/notesMasters/notesMaster1.xml" Id="R3c51fbfb624b439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cb835c67db2470a" /><Relationship Type="http://schemas.openxmlformats.org/officeDocument/2006/relationships/notesMaster" Target="/ppt/notesMasters/notesMaster1.xml" Id="R1cec8af22e2a40a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f1474871ba242c4" /><Relationship Type="http://schemas.openxmlformats.org/officeDocument/2006/relationships/notesMaster" Target="/ppt/notesMasters/notesMaster1.xml" Id="Raf9abcdf15424e6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3cb78b7e0ed4d08" /><Relationship Type="http://schemas.openxmlformats.org/officeDocument/2006/relationships/notesMaster" Target="/ppt/notesMasters/notesMaster1.xml" Id="R29175aec011249c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778e13aba5d4ee4" /><Relationship Type="http://schemas.openxmlformats.org/officeDocument/2006/relationships/notesMaster" Target="/ppt/notesMasters/notesMaster1.xml" Id="R3a0f9d1fe1f142c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1528a4a8ef63476f" /><Relationship Type="http://schemas.openxmlformats.org/officeDocument/2006/relationships/notesMaster" Target="/ppt/notesMasters/notesMaster1.xml" Id="R41a05b5048304894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e27b4cc2d19a4cce" /><Relationship Type="http://schemas.openxmlformats.org/officeDocument/2006/relationships/notesMaster" Target="/ppt/notesMasters/notesMaster1.xml" Id="R94ccea6770034e5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50b137e9d004796" /><Relationship Type="http://schemas.openxmlformats.org/officeDocument/2006/relationships/notesMaster" Target="/ppt/notesMasters/notesMaster1.xml" Id="Rc926284174a74df1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41f540a0a7e4173" /><Relationship Type="http://schemas.openxmlformats.org/officeDocument/2006/relationships/notesMaster" Target="/ppt/notesMasters/notesMaster1.xml" Id="R3f9ca45ea03344c3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cebb1d249fa4b86" /><Relationship Type="http://schemas.openxmlformats.org/officeDocument/2006/relationships/notesMaster" Target="/ppt/notesMasters/notesMaster1.xml" Id="R14b7cc64b5a4421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4ba5bea6d4448bc" /><Relationship Type="http://schemas.openxmlformats.org/officeDocument/2006/relationships/notesMaster" Target="/ppt/notesMasters/notesMaster1.xml" Id="R0df15bc655e54da3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303b538b3b614ae2" /><Relationship Type="http://schemas.openxmlformats.org/officeDocument/2006/relationships/notesMaster" Target="/ppt/notesMasters/notesMaster1.xml" Id="R9463e7f7aaae4e2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34e4e0a19aae4a97" /><Relationship Type="http://schemas.openxmlformats.org/officeDocument/2006/relationships/notesMaster" Target="/ppt/notesMasters/notesMaster1.xml" Id="R62269c8bbc98489b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f634e22d8cf44d1" /><Relationship Type="http://schemas.openxmlformats.org/officeDocument/2006/relationships/notesMaster" Target="/ppt/notesMasters/notesMaster1.xml" Id="R87fdd46db42e4f01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5e6a8fa98ec94519" /><Relationship Type="http://schemas.openxmlformats.org/officeDocument/2006/relationships/notesMaster" Target="/ppt/notesMasters/notesMaster1.xml" Id="Rd0d7f45016024e00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a2b463b73c974482" /><Relationship Type="http://schemas.openxmlformats.org/officeDocument/2006/relationships/notesMaster" Target="/ppt/notesMasters/notesMaster1.xml" Id="R1187f92a7a7d407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0e47ee9946745cb" /><Relationship Type="http://schemas.openxmlformats.org/officeDocument/2006/relationships/notesMaster" Target="/ppt/notesMasters/notesMaster1.xml" Id="R9dfe907280ac4ea4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e826fbb1c29242b2" /><Relationship Type="http://schemas.openxmlformats.org/officeDocument/2006/relationships/notesMaster" Target="/ppt/notesMasters/notesMaster1.xml" Id="Rf33e367f9499406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34aef91e97ea4e2d" /><Relationship Type="http://schemas.openxmlformats.org/officeDocument/2006/relationships/notesMaster" Target="/ppt/notesMasters/notesMaster1.xml" Id="R27548012a11b4469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cea63b3a6c65402f" /><Relationship Type="http://schemas.openxmlformats.org/officeDocument/2006/relationships/notesMaster" Target="/ppt/notesMasters/notesMaster1.xml" Id="R09022a92e8e040d8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cd9fdd06cd924b33" /><Relationship Type="http://schemas.openxmlformats.org/officeDocument/2006/relationships/notesMaster" Target="/ppt/notesMasters/notesMaster1.xml" Id="Ra87e08ea66b44875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cd5c84932b0c4b6b" /><Relationship Type="http://schemas.openxmlformats.org/officeDocument/2006/relationships/notesMaster" Target="/ppt/notesMasters/notesMaster1.xml" Id="R6ce33295f8454b78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2e162eb35cbe4a2a" /><Relationship Type="http://schemas.openxmlformats.org/officeDocument/2006/relationships/notesMaster" Target="/ppt/notesMasters/notesMaster1.xml" Id="R8b325518a1014aaa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a9c5d4b508234768" /><Relationship Type="http://schemas.openxmlformats.org/officeDocument/2006/relationships/notesMaster" Target="/ppt/notesMasters/notesMaster1.xml" Id="R5cdb6c0538d7475e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c27b8f8d1ab1422c" /><Relationship Type="http://schemas.openxmlformats.org/officeDocument/2006/relationships/notesMaster" Target="/ppt/notesMasters/notesMaster1.xml" Id="R6fe27a2764de452a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07e0e657d78e48d1" /><Relationship Type="http://schemas.openxmlformats.org/officeDocument/2006/relationships/notesMaster" Target="/ppt/notesMasters/notesMaster1.xml" Id="R5df7e81977a04e8b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9351e63fe80443de" /><Relationship Type="http://schemas.openxmlformats.org/officeDocument/2006/relationships/notesMaster" Target="/ppt/notesMasters/notesMaster1.xml" Id="R126a579a74684b49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b2799f09999841b7" /><Relationship Type="http://schemas.openxmlformats.org/officeDocument/2006/relationships/notesMaster" Target="/ppt/notesMasters/notesMaster1.xml" Id="R245f09c181f54fca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0b0e17d5b22344b8" /><Relationship Type="http://schemas.openxmlformats.org/officeDocument/2006/relationships/notesMaster" Target="/ppt/notesMasters/notesMaster1.xml" Id="R2e07481e1d28497e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b090b9c114444531" /><Relationship Type="http://schemas.openxmlformats.org/officeDocument/2006/relationships/notesMaster" Target="/ppt/notesMasters/notesMaster1.xml" Id="R6eba04b215354bd4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671e9b3305f64014" /><Relationship Type="http://schemas.openxmlformats.org/officeDocument/2006/relationships/notesMaster" Target="/ppt/notesMasters/notesMaster1.xml" Id="R8861b53d09954003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c769cef4666c4a2a" /><Relationship Type="http://schemas.openxmlformats.org/officeDocument/2006/relationships/notesMaster" Target="/ppt/notesMasters/notesMaster1.xml" Id="Rdcf83d393d794992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b847f5db6c8246ea" /><Relationship Type="http://schemas.openxmlformats.org/officeDocument/2006/relationships/notesMaster" Target="/ppt/notesMasters/notesMaster1.xml" Id="Ree63a556e1d54aad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90a0784918804e7c" /><Relationship Type="http://schemas.openxmlformats.org/officeDocument/2006/relationships/notesMaster" Target="/ppt/notesMasters/notesMaster1.xml" Id="Rbfec97f339ae4f81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0bb8f84c88344ad8" /><Relationship Type="http://schemas.openxmlformats.org/officeDocument/2006/relationships/notesMaster" Target="/ppt/notesMasters/notesMaster1.xml" Id="R0b5038c32ca74e8b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dc3e0e8e60234af7" /><Relationship Type="http://schemas.openxmlformats.org/officeDocument/2006/relationships/notesMaster" Target="/ppt/notesMasters/notesMaster1.xml" Id="R6c00b78e8a6d455c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9424643bfc0a4e89" /><Relationship Type="http://schemas.openxmlformats.org/officeDocument/2006/relationships/notesMaster" Target="/ppt/notesMasters/notesMaster1.xml" Id="R845f407343db4a8d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06e15c30c5664f46" /><Relationship Type="http://schemas.openxmlformats.org/officeDocument/2006/relationships/notesMaster" Target="/ppt/notesMasters/notesMaster1.xml" Id="Rafd875f5a7ec4530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758fd31e9e444217" /><Relationship Type="http://schemas.openxmlformats.org/officeDocument/2006/relationships/notesMaster" Target="/ppt/notesMasters/notesMaster1.xml" Id="R065033bbb4374d18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1a74a2b70f144906" /><Relationship Type="http://schemas.openxmlformats.org/officeDocument/2006/relationships/notesMaster" Target="/ppt/notesMasters/notesMaster1.xml" Id="R24d82f3788094cfc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00948ed1aa5c4306" /><Relationship Type="http://schemas.openxmlformats.org/officeDocument/2006/relationships/notesMaster" Target="/ppt/notesMasters/notesMaster1.xml" Id="R021a71c57edd489a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ee73333270654fa8" /><Relationship Type="http://schemas.openxmlformats.org/officeDocument/2006/relationships/notesMaster" Target="/ppt/notesMasters/notesMaster1.xml" Id="Re98b3b8869574ce4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dad207160de44dea" /><Relationship Type="http://schemas.openxmlformats.org/officeDocument/2006/relationships/notesMaster" Target="/ppt/notesMasters/notesMaster1.xml" Id="R158ee0dd32024dbb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7ff5a32ad3cb409c" /><Relationship Type="http://schemas.openxmlformats.org/officeDocument/2006/relationships/notesMaster" Target="/ppt/notesMasters/notesMaster1.xml" Id="Rd8130123c710443a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1ddc49b62a8843fb" /><Relationship Type="http://schemas.openxmlformats.org/officeDocument/2006/relationships/notesMaster" Target="/ppt/notesMasters/notesMaster1.xml" Id="R784346dfd2e94d93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02a23119c35d42e4" /><Relationship Type="http://schemas.openxmlformats.org/officeDocument/2006/relationships/notesMaster" Target="/ppt/notesMasters/notesMaster1.xml" Id="R6e4a22a9316944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Political dynamics, governance questions and my contribution to Inclusive Minds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F34 (Qualified): Candidate resume lists MBA, IIM Shillong, 2023–25; Consultant Marketing and Strategy at Nation With Namo, May 2025–Apr 2026. [S25; Education/workExperience]; F37 (Qualified): Candidate resume lists manashdeori09@gmail.com, LinkedIn/manash-protim-deori and openness to relocation. [S25; Header]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Editorial title for a professional research work sample.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Research cut-off 8 October 2026. Prepared independently; no employer or party endorsement.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Editorial framing or contact information; no independent substantive recommendation.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Framing/contact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Framing/contact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Contact fields reflect candidate self-report.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2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Editorial title for a professional research work sample. Evidence status: Qualified premises. Research cut-off 8 October 2026. Prepared independently; no employer or party endorsement.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Three findings shape my operating perspective. Each requires a different work product.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F03 (Supported): GO 55 of 11 February 2026 reorganised CURE into GHMC, CMC and MMC with immediate effect. [S03, S04, S15; GO 55 pp 1–2]; F07 (Supported): 2023 Telangana Assembly seats won: INC 64; BRS 39; BJP 8; AIMIM 7; CPI 1. [S06; WON column]; F08 (Blocked): In selected Assembly seats AC 57–71,2023 winners were BRS 7, AIMIM 7, BJP 1, INC 0. [S07; AC 57–71]; F21 (Supported): 2026–27 BE: H-CITY assistance to CURE ₹2,654 crore. [S09, S10; S09 p.16, Table 10, row 32]; F22 (Supported): 2026–27 BE: Musi Riverfront development ₹1,500 crore. [S09; S09 p.16, Table 10, row 36]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These institution-specific results cannot be collapsed into one citywide result. Budget provisions create questions about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Selected units differ. The 15-seat source recheck is pending. Budget estimates and boundary changes do not establish public approval.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A difference may reflect institutional boundaries, election context or candidate competition; it does not identify switching voters.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Maintain separate institution-specific briefs with a dated geography crosswalk.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Adjacent executive contributions are shown.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Institution-specific briefing pack. Inputs: Dated results and boundary records. Owner: candidate under research lead; reviewer: manager/subject specialist. Acceptance: Separate unit/date/source in every comparison.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4 supported, 1 blocked.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S03 | G.O.Ms.No.55: CURE reorganisation | Government of Telangana, MAUD | https://tg-bn-website-assets.flowwlabs.tech/GOs-and-ACTs/GO.Ms.No.55_11-02-2026.pdf | PDF pp.1–2; operative paragraphs 2–3 | 2026-02-11 | Local fresh retrieval successful</a:t>
            </a:r>
          </a:p>
          <a:p xmlns:a="http://schemas.openxmlformats.org/drawingml/2006/main">
            <a:r>
              <a:t>S04 | Government Orders and Acts | Government of Telangana, BuildNow | https://buildnow.telangana.gov.in/go-and-act/ | GO 55, GO 45, GO 16, GO 68 and GO 69 entries | Orders dated 2025–2026 | Local fresh retrieval successful</a:t>
            </a:r>
          </a:p>
          <a:p xmlns:a="http://schemas.openxmlformats.org/drawingml/2006/main">
            <a:r>
              <a:t>S06 | Performance of Political Parties: Telangana 2023 | Election Commission of India | https://www.eci.gov.in/eci-backend/public/all_files/full-statistical-reports/telangana/2023/Performance_of_Political_Parties.pdf | Performance of Political Parties, printed p.1, WON column | 2023 Assembly election; report undated | Fresh original route unavailable; relevant source passages subsequently readable via web retrieval</a:t>
            </a:r>
          </a:p>
          <a:p xmlns:a="http://schemas.openxmlformats.org/drawingml/2006/main">
            <a:r>
              <a:t>S07 | List of Successful Candidates: Telangana 2023 | Election Commission of India | https://www.eci.gov.in/eci-backend/public/all_files/full-statistical-reports/telangana/2023/List_of_Successful_Candidates.pdf | PDF pp.2–3; AC 57–71 and winner/runner-up columns | 2023 Assembly election; report undated | Fresh original route unavailable; partial web retrieval did not clear target rows</a:t>
            </a:r>
          </a:p>
          <a:p xmlns:a="http://schemas.openxmlformats.org/drawingml/2006/main">
            <a:r>
              <a:t>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</a:t>
            </a:r>
          </a:p>
          <a:p xmlns:a="http://schemas.openxmlformats.org/drawingml/2006/main">
            <a:r>
              <a:t>S10 | Telangana Budget Analysis 2026–27 | PRS Legislative Research | https://prsindia.org/budgets/states/telangana-budget-analysis-2026-27 | Fiscal summary; Table 11 revenue receipts and Table 14 sector BE-to-actual comparison, 2024–25 | 2026–27 budget analysis | Local fresh retrieval successful</a:t>
            </a:r>
          </a:p>
          <a:p xmlns:a="http://schemas.openxmlformats.org/drawingml/2006/main">
            <a:r>
              <a:t>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These institution-specific results cannot be collapsed into one citywide result. Budget provisions create questions about implementation. Evidence status: Blocked premises. Selected units differ. The 15-seat source recheck is pending. Budget estimates and boundary changes do not establish public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Inclusive Minds lists analytics, research, strategy, communications, growth and operations. Its Generalist post asks for transferable experience in Hyderabad.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F01 (Supported): Inclusive Minds describes itself as INC-aligned and lists six work verticals. [S01; About Us; Our Work]; F02 (Qualified): Employer Generalist post identifies Hyderabad on-site and experience in research, strategy, communication or project management. [S02; Hiring post]; F34 (Qualified): Candidate resume lists MBA, IIM Shillong, 2023–25; Consultant Marketing and Strategy at Nation With Namo, May 2025–Apr 2026. [S25; Education/workExperience]; F35 (Qualified): Candidate resume reports introducing an evidence-based review system for a seven-person political-intelligence team. [S25; workExperience bullet 3]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Research and project coordination in the resume match public role requirements at a methodological level.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Exact requisition and open status unconfirmed. I do not claim knowledge of internal workflows or personal ideological alignment.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A public role description may differ from the actual vacancy. Transferable methods may still require substantial local learning.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Test fit against the actual requisition through one reviewed research brief.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turn research into concise, source-backed briefs and coordinate review across functions.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Role-to-work-product fit sheet. Inputs: Exact requisition, CV examples, pilot brief. Owner: candidate under research lead; reviewer: manager/subject specialist. Acceptance: Hiring manager accepts requirement/example links.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1 supported, 3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S01 | About us and six work verticals | Inclusive Minds | https://www.inclusiveminds.in/ | About Us; Our Work | Undated; retrieved 2026-10-08 | Local fresh retrieval successful</a:t>
            </a:r>
          </a:p>
          <a:p xmlns:a="http://schemas.openxmlformats.org/drawingml/2006/main">
            <a:r>
              <a:t>S02 | Generalist hiring post: Hyderabad, on-site | Inclusive Minds | https://www.linkedin.com/posts/inclusive-minds-ind_hiring-generalist-politicalconsulting-activity-7495111990261252096-TM4l | Employer-authored post text | Undated public post | Local fresh retrieval successful</a:t>
            </a:r>
          </a:p>
          <a:p xmlns:a="http://schemas.openxmlformats.org/drawingml/2006/main">
            <a:r>
              <a:t>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Research and project coordination in the resume match public role requirements at a methodological level. Evidence status: Qualified premises. Exact requisition and open status unconfirmed. I do not claim knowledge of internal workflows or personal ideological alignment.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District, Assembly seat, Lok Sabha seat, municipal corporation and metropolitan planning region answer different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F03 (Supported): GO 55 of 11 February 2026 reorganised CURE into GHMC, CMC and MMC with immediate effect. [S03, S04, S15; GO 55 pp 1–2]; F04 (Supported): CMC comprises Serilingampally, Kukatpally and Qutbullapur zones; MMC comprises Malkajgiri, Uppal and L.B.Nagar zones. [S03; GO 55 operative zone allocation]; F05 (Supported): GHMC comprises Shamshabad, Rajendernagar, Charminar, Golconda, Khairatabad and Secunderabad zones. [S03; GO 55 operative zone allocation]; F33 (Supported): BuildNow lists GO 68 dated 12 March 2025 for expansion of HMR and GO 69 for FCDA. [S04; GO 68/69 entries]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The GO allocates municipal zones; election tables use constituency codes. A name match does not establish identical population or jurisdiction.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AC 57–71 is a contiguous administrative-code study set, chosen for a bounded work sample. It excludes other metropolitan seats and is not representative.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A changed total can reflect a boundary revision or record coverage rather than a real service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Complete the dated official boundary crosswalk before joining datasets.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create a dated crosswalk with overlap rules, official boundary files and exclusions before analysis.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Geography crosswalk. Inputs: GO instruments and official polygons. Owner: candidate under research lead; reviewer: manager/subject specialist. Acceptance: Version, join keys, overlap rules and exclusions recorded.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4 supported.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S03 | G.O.Ms.No.55: CURE reorganisation | Government of Telangana, MAUD | https://tg-bn-website-assets.flowwlabs.tech/GOs-and-ACTs/GO.Ms.No.55_11-02-2026.pdf | PDF pp.1–2; operative paragraphs 2–3 | 2026-02-11 | Local fresh retrieval successful</a:t>
            </a:r>
          </a:p>
          <a:p xmlns:a="http://schemas.openxmlformats.org/drawingml/2006/main">
            <a:r>
              <a:t>S04 | Government Orders and Acts | Government of Telangana, BuildNow | https://buildnow.telangana.gov.in/go-and-act/ | GO 55, GO 45, GO 16, GO 68 and GO 69 entries | Orders dated 2025–2026 | Local fresh retrieval successful</a:t>
            </a:r>
          </a:p>
          <a:p xmlns:a="http://schemas.openxmlformats.org/drawingml/2006/main">
            <a:r>
              <a:t>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The GO allocates municipal zones; election tables use constituency codes. A name match does not establish identical population or jurisdiction. Evidence status: Supported premises. AC 57–71 is a contiguous administrative-code study set, chosen for a bounded work sample. It excludes other metropolitan seats and is not representative.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Facts, derived numbers, interpretations, hypotheses, proposals and candidate self-reports carry different release standards.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F02 (Qualified): Employer Generalist post identifies Hyderabad on-site and experience in research, strategy, communication or project management. [S02; Hiring post]; F20 (Qualified): Congress candidate V. Naveen Yadav won the November 2025 Jubilee Hills by-election, according to Times Group reporting. [S23, S24; Winner reports]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The five checks are designed to detect different errors. Their effect on quality and turnaround must be measured in a pilot.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Ten recent audit lenses are self-review, not ten independent confirmations. Earlier 20 content versions remain historical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More logged defects may reflect better detection. Fewer logged defects may reflect weaker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Attach a claim register and correction log to every brief.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keep a claim register, contradiction log and refresh queue attached to every brief.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Claim register and contradiction log. Inputs: Original passages and reviewer comments. Owner: candidate under research lead; reviewer: manager/subject specialist. Acceptance: Every consequential assertion has evidence status and next action.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2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S02 | Generalist hiring post: Hyderabad, on-site | Inclusive Minds | https://www.linkedin.com/posts/inclusive-minds-ind_hiring-generalist-politicalconsulting-activity-7495111990261252096-TM4l | Employer-authored post text | Undated public post | Local fresh retrieval successful</a:t>
            </a:r>
          </a:p>
          <a:p xmlns:a="http://schemas.openxmlformats.org/drawingml/2006/main">
            <a:r>
              <a:t>S23 | Jubilee Hills bypoll result | The Economic Times | https://m.economictimes.com/news/politics-and-nation/jubilee-hills-bypoll-result-2025-in-l-deepak-reddy-vs-sunita-vs-naveen-yadav-check-who-is-winning/articleshow/125315450.cms | Winner report | 2025-11-14 | Local fresh retrieval successful</a:t>
            </a:r>
          </a:p>
          <a:p xmlns:a="http://schemas.openxmlformats.org/drawingml/2006/main">
            <a:r>
              <a:t>S24 | Jubilee Hills bypoll winner live report | The Times of India | https://timesofindia.indiatimes.com/city/hyderabad/assembly-bypoll-result-2025-live-updates-by-election-results-jubilee-hills-budgam-nagrota-anta-ghatshila-tarn-taran-dampa-nuapada/liveblog/125313066.cms | 13:18 IST winner update | 2025-11-14 | Local fresh retrieval successful</a:t>
            </a:r>
          </a:p>
          <a:p xmlns:a="http://schemas.openxmlformats.org/drawingml/2006/main">
            <a:r>
              <a:t>S29 | Quality in qualitative evaluation | HM Treasury / GOV.UK | https://www.gov.uk/government/publications/the-magenta-book/quality-in-qualitative-evaluation-qqe-html | Framework questions 7–8: sample selection/coverage; question 18: auditability | 2003 framework; current HTML edition retrieved 2026-10-08 | Relevant framework sections read</a:t>
            </a:r>
          </a:p>
          <a:p xmlns:a="http://schemas.openxmlformats.org/drawingml/2006/main">
            <a:r>
              <a:t>S30 | Magenta Book: evaluation guidance | HM Treasury / GOV.UK | https://www.gov.uk/government/publications/the-magenta-book/magenta-book-central-government-guidance-on-evaluation-html | Quality principles; theory of change and evaluation-design sections | 2026 edition | Relevant sections read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The five checks are designed to detect different errors. Their effect on quality and turnaround must be measured in a pilot. Evidence status: Qualified premises. Ten recent audit lenses are self-review, not ten independent confirmations. Earlier 20 content versions remain historical records.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State, civic and by-election records describe different institutions and dates. Later by-elections require a separate event ledger.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F16 (Blocked): First Telangana Assembly as of 2 June 2014: TRS 63, INC 21, out of 119. [S16; Printed 410/PDF 63]; F17 (Qualified): Contemporaneous 2018 reporting recorded TRS 88 and INC 19 Assembly seats. [S17, S18; Updated results paragraphs]; F18 (Qualified): Published 2016 GHMC recap: TRS 99, AIMIM 44, BJP 4, INC 2, TDP 1. [S19, S20; Numerical result paragraphs]; F19 (Qualified): Post-Neredmet 2020 reporting: TRS 56, BJP 48, AIMIM 44, INC 2. [S21, S22; Results paragraphs; final Neredmet result]; F07 (Supported): 2023 Telangana Assembly seats won: INC 64; BRS 39; BJP 8; AIMIM 7; CPI 1. [S06; WON column]; F03 (Supported): GO 55 of 11 February 2026 reorganised CURE into GHMC, CMC and MMC with immediate effect. [S03, S04, S15; GO 55 pp 1–2]; F38 (Qualified): Congress won the 2024 Secunderabad Cantonment by-election, according to reporting. [S27; Opening paragraph; reported result 4 June 2024]; F20 (Qualified): Congress candidate V. Naveen Yadav won the November 2025 Jubilee Hills by-election, according to Times Group reporting. [S23, S24; Winner reports]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Separate election outcomes, by-elections, office changes and boundary changes. Historical outcomes do not establish present membership.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2014 fresh passage pending. Legacy/bypoll results are attributed reporting. No voter switching or current party-strength estimate.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Institution-specific results can change without one common citywide trend. Bypolls also have distinct candidate/context effects.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Maintain a dated event ledger that includes subsequent by-elections.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maintain an event ledger that separates electoral results, office changes, boundary changes and delivery milestones.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Political event ledger. Inputs: Results, by-elections, office/boundary notifications. Owner: candidate under research lead; reviewer: manager/subject specialist. Acceptance: Historical outcome and later status occupy separate dated rows.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1 blocked, 5 qualified, 2 supported.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S03 | G.O.Ms.No.55: CURE reorganisation | Government of Telangana, MAUD | https://tg-bn-website-assets.flowwlabs.tech/GOs-and-ACTs/GO.Ms.No.55_11-02-2026.pdf | PDF pp.1–2; operative paragraphs 2–3 | 2026-02-11 | Local fresh retrieval successful</a:t>
            </a:r>
          </a:p>
          <a:p xmlns:a="http://schemas.openxmlformats.org/drawingml/2006/main">
            <a:r>
              <a:t>S04 | Government Orders and Acts | Government of Telangana, BuildNow | https://buildnow.telangana.gov.in/go-and-act/ | GO 55, GO 45, GO 16, GO 68 and GO 69 entries | Orders dated 2025–2026 | Local fresh retrieval successful</a:t>
            </a:r>
          </a:p>
          <a:p xmlns:a="http://schemas.openxmlformats.org/drawingml/2006/main">
            <a:r>
              <a:t>S06 | Performance of Political Parties: Telangana 2023 | Election Commission of India | https://www.eci.gov.in/eci-backend/public/all_files/full-statistical-reports/telangana/2023/Performance_of_Political_Parties.pdf | Performance of Political Parties, printed p.1, WON column | 2023 Assembly election; report undated | Fresh original route unavailable; relevant source passages subsequently readable via web retrieval</a:t>
            </a:r>
          </a:p>
          <a:p xmlns:a="http://schemas.openxmlformats.org/drawingml/2006/main">
            <a:r>
              <a:t>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</a:t>
            </a:r>
          </a:p>
          <a:p xmlns:a="http://schemas.openxmlformats.org/drawingml/2006/main">
            <a:r>
              <a:t>S16 | Journal of Parliamentary Information, September 2014 | Lok Sabha Secretariat | https://eparlib.sansad.in/bitstream/123456789/58523/1/JPI_September_2014.pdf | Printed p.410 / PDF p.63; first Telangana Assembly | 2014-09; reference 2014-06-02 | Fresh original route unavailable; target passage not freshly cleared</a:t>
            </a:r>
          </a:p>
          <a:p xmlns:a="http://schemas.openxmlformats.org/drawingml/2006/main">
            <a:r>
              <a:t>S17 | Telangana Assembly polls: TRS wins | Scroll | https://scroll.in/latest/905254/telangana-assembly-polls-counting-of-votes-in-three-way-contest-set-to-begin-at-8-am | Updated article paragraph below party table | 2018-12-12 | Local fresh retrieval successful</a:t>
            </a:r>
          </a:p>
          <a:p xmlns:a="http://schemas.openxmlformats.org/drawingml/2006/main">
            <a:r>
              <a:t>S18 | 2018 Telangana complete winners | The Times of India | https://timesofindia.indiatimes.com/city/hyderabad/telangana-election-results-2018-complete-list-of-winning-candidates-in-telangana/articleshow/67055845.cms | Opening results paragraph | 2018-12-12 | Local fresh retrieval successful</a:t>
            </a:r>
          </a:p>
          <a:p xmlns:a="http://schemas.openxmlformats.org/drawingml/2006/main">
            <a:r>
              <a:t>S19 | Hyderabad civic body voting: 2016 recap | NDTV, Uma Sudhir | https://www.ndtv.com/telangana-news/after-a-bitter-campaign-voting-begins-for-hyderabad-civic-body-polls-2332363 | Paragraph beginning A total of 1,122 candidates | 2020-12-01 | Local fresh retrieval successful</a:t>
            </a:r>
          </a:p>
          <a:p xmlns:a="http://schemas.openxmlformats.org/drawingml/2006/main">
            <a:r>
              <a:t>S20 | GHMC 2016 result report | PTI / The New Indian Express | https://www.newindianexpress.com/amp/story/cities/hyderabad/2016/Feb/06/ghmc-polls-sops-for-poor-seemandhra-candidates-key-in-trs-win-889293.html | Results paragraphs: 99/150; Congress 2; TDP 1/BJP 4; MIM 44 | 2016-02-06 | Local fresh retrieval successful</a:t>
            </a:r>
          </a:p>
          <a:p xmlns:a="http://schemas.openxmlformats.org/drawingml/2006/main">
            <a:r>
              <a:t>S21 | Week after GHMC results: mayor question | The Indian Express, Rahul V Pisharody | https://indianexpress.com/article/cities/hyderabad/ghmc-results-hyderabad-mayor-7104860/ | Results paragraphs: TRS 56, AIMIM 44, BJP 48 | 2020-12-14 | Local fresh retrieval successful</a:t>
            </a:r>
          </a:p>
          <a:p xmlns:a="http://schemas.openxmlformats.org/drawingml/2006/main">
            <a:r>
              <a:t>S22 | Neredmet final result takes TRS tally to 56 | The Tribune, Naveen S Garewal | https://www.tribuneindia.com/news/nation/trs-wins-neredmet-ghmc-division-takes-its-tally-to-56-182436/ | Final paragraph: 56,48,44,2; Neredmet timing | 2020-12-11 | Local fresh retrieval successful</a:t>
            </a:r>
          </a:p>
          <a:p xmlns:a="http://schemas.openxmlformats.org/drawingml/2006/main">
            <a:r>
              <a:t>S23 | Jubilee Hills bypoll result | The Economic Times | https://m.economictimes.com/news/politics-and-nation/jubilee-hills-bypoll-result-2025-in-l-deepak-reddy-vs-sunita-vs-naveen-yadav-check-who-is-winning/articleshow/125315450.cms | Winner report | 2025-11-14 | Local fresh retrieval successful</a:t>
            </a:r>
          </a:p>
          <a:p xmlns:a="http://schemas.openxmlformats.org/drawingml/2006/main">
            <a:r>
              <a:t>S24 | Jubilee Hills bypoll winner live report | The Times of India | https://timesofindia.indiatimes.com/city/hyderabad/assembly-bypoll-result-2025-live-updates-by-election-results-jubilee-hills-budgam-nagrota-anta-ghatshila-tarn-taran-dampa-nuapada/liveblog/125313066.cms | 13:18 IST winner update | 2025-11-14 | Local fresh retrieval successful</a:t>
            </a:r>
          </a:p>
          <a:p xmlns:a="http://schemas.openxmlformats.org/drawingml/2006/main">
            <a:r>
              <a:t>S26 | 2024 Secunderabad Cantonment by-election records | Chief Electoral Officer Telangana | https://ceotelangana.nic.in/BYE_GE_2024.html | By-election index: result declaration and Form 20 links | 2024 by-election records | Index read; result document pending</a:t>
            </a:r>
          </a:p>
          <a:p xmlns:a="http://schemas.openxmlformats.org/drawingml/2006/main">
            <a:r>
              <a:t>S27 | Congress wins Secunderabad Cantonment by-election | The New Indian Express | https://www.newindianexpress.com/states/telangana/2024/Jun/05/congress-wins-byelection-to-secunderabad-cantonment | Opening paragraph: Congress win; result event 4 June 2024 | 2024-06-05 | Article read</a:t>
            </a:r>
          </a:p>
          <a:p xmlns:a="http://schemas.openxmlformats.org/drawingml/2006/main">
            <a:r>
              <a:t>S28 | 2025 Jubilee Hills by-election records | Chief Electoral Officer Telangana | https://ceotelangana.nic.in/BYE_GE_2025.HTML | Index: State Gazette Form 21-D declaration link | 2025 by-election records | Index read; declaration/Form 20 pending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Separate election outcomes, by-elections, office changes and boundary changes. Historical outcomes do not establish present membership. Evidence status: Blocked premises. 2014 fresh passage pending. Legacy/bypoll results are attributed reporting. No voter switching or current party-strength estimate.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Municipal reorganisation, asset protection, river planning and state budget provision operate through different institutions.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F03 (Supported): GO 55 of 11 February 2026 reorganised CURE into GHMC, CMC and MMC with immediate effect. [S03, S04, S15; GO 55 pp 1–2]; F06 (Supported): HYDRAA describes its CURE-wide remit as disaster management and protection of government / public assets, under MAUD. [S05; Mandate; Jurisdictional Coverage]; F21 (Supported): 2026–27 BE: H-CITY assistance to CURE ₹2,654 crore. [S09, S10; S09 p.16, Table 10, row 32]; F30 (Supported): MRDCL describes Musi vision in terms of ecological restoration, sewage interception/treatment, floodplain zones and mobility/livelihoods. [S11; Vision]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A documented institution-specific chain is more useful than assigning every urban outcome to one politician or department.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This is a documented-role scaffold, not a complete current statutory responsibility matrix. Case-specific powers need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An observed delay may arise from a handoff, funding, record access or a legitimate review process.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Document responsibility and evidence for each issue-specific handoff.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produce one responsibility sheet for each issue: decision owner, payer, delivery body, review authority and evidence gap.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Issue responsibility sheet. Inputs: Relevant powers, funding and grievance records. Owner: candidate under research lead; reviewer: manager/subject specialist. Acceptance: Decision, payer, delivery and review route source-linked.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4 supported.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S03 | G.O.Ms.No.55: CURE reorganisation | Government of Telangana, MAUD | https://tg-bn-website-assets.flowwlabs.tech/GOs-and-ACTs/GO.Ms.No.55_11-02-2026.pdf | PDF pp.1–2; operative paragraphs 2–3 | 2026-02-11 | Local fresh retrieval successful</a:t>
            </a:r>
          </a:p>
          <a:p xmlns:a="http://schemas.openxmlformats.org/drawingml/2006/main">
            <a:r>
              <a:t>S04 | Government Orders and Acts | Government of Telangana, BuildNow | https://buildnow.telangana.gov.in/go-and-act/ | GO 55, GO 45, GO 16, GO 68 and GO 69 entries | Orders dated 2025–2026 | Local fresh retrieval successful</a:t>
            </a:r>
          </a:p>
          <a:p xmlns:a="http://schemas.openxmlformats.org/drawingml/2006/main">
            <a:r>
              <a:t>S05 | About the Agency | HYDRAA, Government of Telangana | https://hydraa.telangana.gov.in/about | About HYDRAA; Jurisdictional Coverage; Functional Wings | Undated current page | Local fresh retrieval successful</a:t>
            </a:r>
          </a:p>
          <a:p xmlns:a="http://schemas.openxmlformats.org/drawingml/2006/main">
            <a:r>
              <a:t>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</a:t>
            </a:r>
          </a:p>
          <a:p xmlns:a="http://schemas.openxmlformats.org/drawingml/2006/main">
            <a:r>
              <a:t>S10 | Telangana Budget Analysis 2026–27 | PRS Legislative Research | https://prsindia.org/budgets/states/telangana-budget-analysis-2026-27 | Fiscal summary; Table 11 revenue receipts and Table 14 sector BE-to-actual comparison, 2024–25 | 2026–27 budget analysis | Local fresh retrieval successful</a:t>
            </a:r>
          </a:p>
          <a:p xmlns:a="http://schemas.openxmlformats.org/drawingml/2006/main">
            <a:r>
              <a:t>S11 | Vision / Mission | Musi Riverfront Development Corporation | https://musi.telangana.gov.in/VisionMusi.aspx | Vision paragraphs | Undated; current page | Local fresh retrieval successful</a:t>
            </a:r>
          </a:p>
          <a:p xmlns:a="http://schemas.openxmlformats.org/drawingml/2006/main">
            <a:r>
              <a:t>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A documented institution-specific chain is more useful than assigning every urban outcome to one politician or department. Evidence status: Supported premises. This is a documented-role scaffold, not a complete current statutory responsibility matrix. Case-specific powers need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The historical civic council changed from TRS 99 seats in 2016 to 56 in 2020; BJP rose from 4 to 48. AIMIM retained 44.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F18 (Qualified): Published 2016 GHMC recap: TRS 99, AIMIM 44, BJP 4, INC 2, TDP 1. [S19, S20; Numerical result paragraphs]; F19 (Qualified): Post-Neredmet 2020 reporting: TRS 56, BJP 48, AIMIM 44, INC 2. [S21, S22; Results paragraphs; final Neredmet result]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Reported same-institution seat counts show council-level change. Seats are not votes; result differences do not identify voter transitions.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Historical 150-seat GHMC tables, based on two corroborated reporting lineages. They are not 2026 corporation totals.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Seat changes can reflect turnout, candidates, boundaries or vote distribution. Seats alone do not separate those explanations.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Compare historical council counts only within equivalent election units.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preserve raw election vintages and compare only equivalent units, with candidate and boundary changes recorded.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Historical council comparison. Inputs: Final election files or labelled reports. Owner: candidate under research lead; reviewer: manager/subject specialist. Acceptance: Equivalent units and final-result vintage retained.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2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S19 | Hyderabad civic body voting: 2016 recap | NDTV, Uma Sudhir | https://www.ndtv.com/telangana-news/after-a-bitter-campaign-voting-begins-for-hyderabad-civic-body-polls-2332363 | Paragraph beginning A total of 1,122 candidates | 2020-12-01 | Local fresh retrieval successful</a:t>
            </a:r>
          </a:p>
          <a:p xmlns:a="http://schemas.openxmlformats.org/drawingml/2006/main">
            <a:r>
              <a:t>S20 | GHMC 2016 result report | PTI / The New Indian Express | https://www.newindianexpress.com/amp/story/cities/hyderabad/2016/Feb/06/ghmc-polls-sops-for-poor-seemandhra-candidates-key-in-trs-win-889293.html | Results paragraphs: 99/150; Congress 2; TDP 1/BJP 4; MIM 44 | 2016-02-06 | Local fresh retrieval successful</a:t>
            </a:r>
          </a:p>
          <a:p xmlns:a="http://schemas.openxmlformats.org/drawingml/2006/main">
            <a:r>
              <a:t>S21 | Week after GHMC results: mayor question | The Indian Express, Rahul V Pisharody | https://indianexpress.com/article/cities/hyderabad/ghmc-results-hyderabad-mayor-7104860/ | Results paragraphs: TRS 56, AIMIM 44, BJP 48 | 2020-12-14 | Local fresh retrieval successful</a:t>
            </a:r>
          </a:p>
          <a:p xmlns:a="http://schemas.openxmlformats.org/drawingml/2006/main">
            <a:r>
              <a:t>S22 | Neredmet final result takes TRS tally to 56 | The Tribune, Naveen S Garewal | https://www.tribuneindia.com/news/nation/trs-wins-neredmet-ghmc-division-takes-its-tally-to-56-182436/ | Final paragraph: 56,48,44,2; Neredmet timing | 2020-12-11 | Local fresh retrieval successful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Reported same-institution seat counts show council-level change. Seats are not votes; result differences do not identify voter transitions. Evidence status: Qualified premises. Historical 150-seat GHMC tables, based on two corroborated reporting lineages. They are not 2026 corporation totals.</a:t>
            </a:r>
          </a:p>
          <a:p xmlns:a="http://schemas.openxmlformats.org/drawingml/2006/main">
            <a:r>
              <a:t>CHART DATA: 2016: TRS=99, BJP=4, AIMIM=44, INC=2, TDP=1; 2020: TRS=56, BJP=48, AIMIM=44, INC=2, TDP=0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INC won 64 of 119 state seats. Within AC 57–71, the winners were BRS 7, AIMIM 7 and BJP 1; INC won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F07 (Supported): 2023 Telangana Assembly seats won: INC 64; BRS 39; BJP 8; AIMIM 7; CPI 1. [S06; WON column]; F08 (Blocked): In selected Assembly seats AC 57–71,2023 winners were BRS 7, AIMIM 7, BJP 1, INC 0. [S07; AC 57–71]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A contrasting selected-set result falsifies a claim that the statewide winner also won everywhere in the urban core.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Contiguous-code study set AC 57–71, not the full metropolis. Historical result table retained with fresh primary recheck pending.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The selected study set can differ from other metropolitan seats. Its result is not a representative estimate.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Publish the selection rationale and exclusions with each constituency brief.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write explicitly scoped constituency briefs rather than treating the state mandate as a metropolitan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Scoped constituency brief. Inputs: Selected-seat rows and selection rationale. Owner: candidate under research lead; reviewer: manager/subject specialist. Acceptance: All 15 units disclosed; blocked rows visibly pending.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1 supported, 1 blocked.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S06 | Performance of Political Parties: Telangana 2023 | Election Commission of India | https://www.eci.gov.in/eci-backend/public/all_files/full-statistical-reports/telangana/2023/Performance_of_Political_Parties.pdf | Performance of Political Parties, printed p.1, WON column | 2023 Assembly election; report undated | Fresh original route unavailable; relevant source passages subsequently readable via web retrieval</a:t>
            </a:r>
          </a:p>
          <a:p xmlns:a="http://schemas.openxmlformats.org/drawingml/2006/main">
            <a:r>
              <a:t>S07 | List of Successful Candidates: Telangana 2023 | Election Commission of India | https://www.eci.gov.in/eci-backend/public/all_files/full-statistical-reports/telangana/2023/List_of_Successful_Candidates.pdf | PDF pp.2–3; AC 57–71 and winner/runner-up columns | 2023 Assembly election; report undated | Fresh original route unavailable; partial web retrieval did not clear target rows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A contrasting selected-set result falsifies a claim that the statewide winner also won everywhere in the urban core. Evidence status: Blocked premises. Contiguous-code study set AC 57–71, not the full metropolis. Historical result table retained with fresh primary recheck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BJP won Malkajgiri, Secunderabad and Chevella; AIMIM won Hyderabad in the 2024 results examined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F12 (Supported): Malkajgiri, 2024 Lok Sabha: Eatala Rajender (BJP) led with 991,042 votes; runner-up 599,567. [S08; p 580]; F13 (Supported): Secunderabad, 2024 Lok Sabha: G.Kishan Reddy (BJP) led with 473,012 votes; runner-up 423,068. [S08; p 581]; F14 (Supported): Hyderabad, 2024 Lok Sabha: Asaduddin Owaisi (AIMIM) led with 661,981 votes; runner-up 323,894. [S08; p 583]; F15 (Supported): Chevella, 2024 Lok Sabha: Konda Vishweshwar Reddy (BJP) led with 809,882 votes; runner-up 636,985. [S08; p 585]; F08 (Blocked): In selected Assembly seats AC 57–71,2023 winners were BRS 7, AIMIM 7, BJP 1, INC 0. [S07; AC 57–71]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Different institution-specific observations show why political strength cannot be represented by one number.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Four PCs and the 15-seat AC set are not coextensive. Candidate effects, turnout and national context remain rival explanations.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National and state contests differ in units, candidates and timing; contrasting results do not prove voter conversion.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Keep Assembly, parliamentary and civic series separate.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keep Assembly, parliamentary and civic result series separate, then test possible explanations through approved research.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Separate AC / PC / civic series. Inputs: Original institution-specific results. Owner: candidate under research lead; reviewer: manager/subject specialist. Acceptance: No pooled swing or individual-voter inference.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4 supported, 1 blocked.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S07 | List of Successful Candidates: Telangana 2023 | Election Commission of India | https://www.eci.gov.in/eci-backend/public/all_files/full-statistical-reports/telangana/2023/List_of_Successful_Candidates.pdf | PDF pp.2–3; AC 57–71 and winner/runner-up columns | 2023 Assembly election; report undated | Fresh original route unavailable; partial web retrieval did not clear target rows</a:t>
            </a:r>
          </a:p>
          <a:p xmlns:a="http://schemas.openxmlformats.org/drawingml/2006/main">
            <a:r>
              <a:t>S08 | Constituency-wise Detailed Results: 2024 Lok Sabha | Election Commission of India | https://www.eci.gov.in/eci-backend/public/all_files/GE-2024-statistical-report/33-Constituency-Wise-Detailed-Result.pdf | Printed pp.580,581,583,585; four selected PCs | 2024 Lok Sabha election; report undated | Fresh original route unavailable; relevant source passages subsequently readable via web retrieval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Different institution-specific observations show why political strength cannot be represented by one number. Evidence status: Blocked premises. Four PCs and the 15-seat AC set are not coextensive. Candidate effects, turnout and national context remain rival explanations.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Among three examined 2023 seats, margins were 878 in Yakutpura, 2,037 in Nampally and 81,660 in Chandrayangutta.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F09 (Blocked): Nampally, 2023: winner 62,185; runner-up 60,148; margin 2,037 votes. [S07; PDF p 3; winner/runner-up table]; F10 (Blocked): Yakutpura, 2023: winner 46,153; runner-up 45,275; margin 878 votes. [S07; PDF p 3; winner/runner-up table]; F11 (Blocked): Chandrayangutta, 2023: winner 99,776; runner-up 18,116; margin 81,660 votes. [S07; PDF p 3; winner/runner-up table]; F20 (Qualified): Congress candidate V. Naveen Yadav won the November 2025 Jubilee Hills by-election, according to Times Group reporting. [S23, S24; Winner reports]; F38 (Qualified): Congress won the 2024 Secunderabad Cantonment by-election, according to reporting. [S27; Opening paragraph; reported result 4 June 2024]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Different margins within the three seats show varied competition. Later Cantonment and Jubilee by-elections need a separate status ledger.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Three selected seats, not a party-wide distribution. Arithmetic agrees internally. Fresh source-row check pending; no voting-motive inference.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Margins differ with the opponent, turnout and candidate context; they do not measure community motives.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Compare only the examined seats and refresh subsequent status separately.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distinguish party presence, candidate competition and institutional control; update legal affiliation separately.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Selected-seat competition note. Inputs: Winner/runner-up counts and later events. Owner: candidate under research lead; reviewer: manager/subject specialist. Acceptance: Margin inputs rechecked before quantitative reuse.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3 blocked, 2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S07 | List of Successful Candidates: Telangana 2023 | Election Commission of India | https://www.eci.gov.in/eci-backend/public/all_files/full-statistical-reports/telangana/2023/List_of_Successful_Candidates.pdf | PDF pp.2–3; AC 57–71 and winner/runner-up columns | 2023 Assembly election; report undated | Fresh original route unavailable; partial web retrieval did not clear target rows</a:t>
            </a:r>
          </a:p>
          <a:p xmlns:a="http://schemas.openxmlformats.org/drawingml/2006/main">
            <a:r>
              <a:t>S23 | Jubilee Hills bypoll result | The Economic Times | https://m.economictimes.com/news/politics-and-nation/jubilee-hills-bypoll-result-2025-in-l-deepak-reddy-vs-sunita-vs-naveen-yadav-check-who-is-winning/articleshow/125315450.cms | Winner report | 2025-11-14 | Local fresh retrieval successful</a:t>
            </a:r>
          </a:p>
          <a:p xmlns:a="http://schemas.openxmlformats.org/drawingml/2006/main">
            <a:r>
              <a:t>S24 | Jubilee Hills bypoll winner live report | The Times of India | https://timesofindia.indiatimes.com/city/hyderabad/assembly-bypoll-result-2025-live-updates-by-election-results-jubilee-hills-budgam-nagrota-anta-ghatshila-tarn-taran-dampa-nuapada/liveblog/125313066.cms | 13:18 IST winner update | 2025-11-14 | Local fresh retrieval successful</a:t>
            </a:r>
          </a:p>
          <a:p xmlns:a="http://schemas.openxmlformats.org/drawingml/2006/main">
            <a:r>
              <a:t>S26 | 2024 Secunderabad Cantonment by-election records | Chief Electoral Officer Telangana | https://ceotelangana.nic.in/BYE_GE_2024.html | By-election index: result declaration and Form 20 links | 2024 by-election records | Index read; result document pending</a:t>
            </a:r>
          </a:p>
          <a:p xmlns:a="http://schemas.openxmlformats.org/drawingml/2006/main">
            <a:r>
              <a:t>S27 | Congress wins Secunderabad Cantonment by-election | The New Indian Express | https://www.newindianexpress.com/states/telangana/2024/Jun/05/congress-wins-byelection-to-secunderabad-cantonment | Opening paragraph: Congress win; result event 4 June 2024 | 2024-06-05 | Article read</a:t>
            </a:r>
          </a:p>
          <a:p xmlns:a="http://schemas.openxmlformats.org/drawingml/2006/main">
            <a:r>
              <a:t>S28 | 2025 Jubilee Hills by-election records | Chief Electoral Officer Telangana | https://ceotelangana.nic.in/BYE_GE_2025.HTML | Index: State Gazette Form 21-D declaration link | 2025 by-election records | Index read; declaration/Form 20 pending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Different margins within the three seats show varied competition. Later Cantonment and Jubilee by-elections need a separate status ledger. Evidence status: Blocked premises. Three selected seats, not a party-wide distribution. Arithmetic agrees internally. Fresh source-row check pending; no voting-motive inference.</a:t>
            </a:r>
          </a:p>
          <a:p xmlns:a="http://schemas.openxmlformats.org/drawingml/2006/main">
            <a:r>
              <a:t>CHART DATA: Margin: Yakutpura=878, Nampally=2037, Chandrayangutta=81660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The state investment portal identifies Genome Valley at Shamirpet and electronics clusters. These locations are useful anchors for questions about jobs and services.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F32 (Qualified): State investment portal identifies Genome Valley at Shamirpet and electronics manufacturing clusters. [S14; Industrial-parks section]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Cluster presence does not establish broad access. Locations anchor research questions, but do not measure benefits, GDP or job quality.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No city GDP, unemployment, export or employment estimate is asserted from a statewide promotional portal.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Cluster presence can coexist with broad or uneven access. Neither distribution is established by a location directory.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Use verified cluster locations to frame a bounded opportunity-access brief.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build a place-based opportunity brief using verified cluster locations, commuting access and service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Opportunity-access brief. Inputs: Cluster locations, bounded commute/service measures. Owner: candidate under research lead; reviewer: manager/subject specialist. Acceptance: No promotional job/GDP statement used as an outcome.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1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S14 | Invest Telangana portal | Government of Telangana investment portal | https://invest.telangana.gov.in/ | Industrial parks; Genome Valley at Shamirpet; electronics clusters | Undated; current page | Local fresh retrieval successful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Cluster presence does not establish broad access. Locations anchor research questions, but do not measure benefits, GDP or job quality. Evidence status: Qualified premises. No city GDP, unemployment, export or employment estimate is asserted from a statewide promotional portal.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A sector-growth narrative leaves open questions about vacancies, qualification fit, commute costs, informality and job stability.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F32 (Qualified): State investment portal identifies Genome Valley at Shamirpet and electronics manufacturing clusters. [S14; Industrial-parks section]; F36 (Qualified): Candidate resume reports modelling Meghalaya PDS and analysing 4,500+government records. [S25; Projects, Jul–Sep 2024]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Measured barriers are needed to connect clusters with residents’ opportunities. No labour-market deficit is assumed simply from cluster presence.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Hypothesis: access barriers may vary by location and occupation. Requires local evidence; no demographic or religious political profiling.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An apparent access gap can reflect qualifications, transport, job quality or incomplete vacancy information.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Validate a defined access question before proposing an intervention.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triangulate employer information, official labour statistics and consented interviews before proposing an access intervention.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Access-question validation plan. Inputs: Named location/occupation, official labour data, guide. Owner: candidate under research lead; reviewer: manager/subject specialist. Acceptance: Question and observable measures agreed before recruitment.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2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S14 | Invest Telangana portal | Government of Telangana investment portal | https://invest.telangana.gov.in/ | Industrial parks; Genome Valley at Shamirpet; electronics clusters | Undated; current page | Local fresh retrieval successful</a:t>
            </a:r>
          </a:p>
          <a:p xmlns:a="http://schemas.openxmlformats.org/drawingml/2006/main">
            <a:r>
              <a:t>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Measured barriers are needed to connect clusters with residents’ opportunities. No labour-market deficit is assumed simply from cluster presence. Evidence status: Qualified premises. Hypothesis: access barriers may vary by location and occupation. Requires local evidence; no demographic or religious political profiling.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GO 55 changes municipal administration. Separate 2025 planning instruments concern HMR expansion and FCDA. Land questions require parcel-level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F03 (Supported): GO 55 of 11 February 2026 reorganised CURE into GHMC, CMC and MMC with immediate effect. [S03, S04, S15; GO 55 pp 1–2]; F33 (Supported): BuildNow lists GO 68 dated 12 March 2025 for expansion of HMR and GO 69 for FCDA. [S04; GO 68/69 entries]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Changes in administrative and planning units can break time-series comparisons and ownership assumptions.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No current land-price trend, household displacement total or legal conclusion is asserted. GO index alone does not establish parcel-specific rights.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A difference may reflect jurisdiction/record changes or underlying development. Parcel rights require distinct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Match each land or service claim to its dated jurisdiction and original record.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maintain a boundary-vintage register and verify land, housing, approvals and service claims against the right jurisdiction.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Boundary-vintage case register. Inputs: Full instruments, parcel and approval records. Owner: candidate under research lead; reviewer: manager/subject specialist. Acceptance: Right jurisdiction and effective date for every row.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2 supported.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S03 | G.O.Ms.No.55: CURE reorganisation | Government of Telangana, MAUD | https://tg-bn-website-assets.flowwlabs.tech/GOs-and-ACTs/GO.Ms.No.55_11-02-2026.pdf | PDF pp.1–2; operative paragraphs 2–3 | 2026-02-11 | Local fresh retrieval successful</a:t>
            </a:r>
          </a:p>
          <a:p xmlns:a="http://schemas.openxmlformats.org/drawingml/2006/main">
            <a:r>
              <a:t>S04 | Government Orders and Acts | Government of Telangana, BuildNow | https://buildnow.telangana.gov.in/go-and-act/ | GO 55, GO 45, GO 16, GO 68 and GO 69 entries | Orders dated 2025–2026 | Local fresh retrieval successful</a:t>
            </a:r>
          </a:p>
          <a:p xmlns:a="http://schemas.openxmlformats.org/drawingml/2006/main">
            <a:r>
              <a:t>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Changes in administrative and planning units can break time-series comparisons and ownership assumptions. Evidence status: Supported premises. No current land-price trend, household displacement total or legal conclusion is asserted. GO index alone does not establish parcel-specific rights.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2026–27 provides ₹600 crore for Metro Phase II and a separate ₹500 crore loan line to HMRL.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F24 (Supported): 2026–27 BE: Metro Rail Phase II ₹600 crore. [S09; S09 p.17, Table 10, row 50]; F25 (Supported): 2026–27 BE: loans to HMRL ₹500 crore. [S09; S09 p.17, Table 10, row 57]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Distinct lines should not be merged into a claim about completed rail construction. Accessibility requires route and service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Both are budget estimates. Current procurement, central approvals, operating extensions and completion dates are not established by the budget.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Budget provision can precede approval, award or spending. A completed asset can still provide uneven journey access.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Track each transport financing line through documented implementation stages.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track each financing line separately and evaluate access through verified project status, journeys and interchange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Transport implementation ledger. Inputs: Sanction, award, release, spend and service records. Owner: candidate under research lead; reviewer: manager/subject specialist. Acceptance: Financing provision kept separate from operating service.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2 supported.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Distinct lines should not be merged into a claim about completed rail construction. Accessibility requires route and service evidence. Evidence status: Supported premises. Both are budget estimates. Current procurement, central approvals, operating extensions and completion dates are not established by the budget.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HYDRAA’s stated remit includes disaster response and public assets. MRDCL’s vision includes sewage treatment, drainage and floodplain measures.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F06 (Supported): HYDRAA describes its CURE-wide remit as disaster management and protection of government / public assets, under MAUD. [S05; Mandate; Jurisdictional Coverage]; F23 (Supported): 2026–27 BE: loans to HMWSSB for development ₹1,450 crore. [S09; S09 p.16, Table 10, row 38]; F30 (Supported): MRDCL describes Musi vision in terms of ecological restoration, sewage interception/treatment, floodplain zones and mobility/livelihoods. [S11; Vision]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The documented remit and project scope suggest linked research tasks, not measured performance or a causal reduction in flood risk.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No flood-frequency, water-quality, sewage-treatment or lake-restoration success rate has been verified in this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Event severity and catchment conditions can change outcomes independently of an agency intervention.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Build a catchment-specific resilience brief using comparable event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connect rainfall events, drainage records, water-quality evidence and agency responsibilities in one issue brief.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Catchment resilience brief. Inputs: Rainfall, drainage and water-quality observations. Owner: candidate under research lead; reviewer: manager/subject specialist. Acceptance: Comparable events/units and missing series disclosed.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3 supported.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S05 | About the Agency | HYDRAA, Government of Telangana | https://hydraa.telangana.gov.in/about | About HYDRAA; Jurisdictional Coverage; Functional Wings | Undated current page | Local fresh retrieval successful</a:t>
            </a:r>
          </a:p>
          <a:p xmlns:a="http://schemas.openxmlformats.org/drawingml/2006/main">
            <a:r>
              <a:t>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</a:t>
            </a:r>
          </a:p>
          <a:p xmlns:a="http://schemas.openxmlformats.org/drawingml/2006/main">
            <a:r>
              <a:t>S11 | Vision / Mission | Musi Riverfront Development Corporation | https://musi.telangana.gov.in/VisionMusi.aspx | Vision paragraphs | Undated; current page | Local fresh retrieval successful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The documented remit and project scope suggest linked research tasks, not measured performance or a causal reduction in flood risk. Evidence status: Supported premises. No flood-frequency, water-quality, sewage-treatment or lake-restoration success rate has been verified in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State 2026–27 allocations include ₹5,500 crore for Indiramma Houses, ₹4,305 crore for Mahalaxmi RTC and ₹1,143 crore for Rajiv Aarogya Sri.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F29 (Supported): State 2026–27 BE: Indiramma Houses ₹5,500 crore; Mahalaxmi RTC ₹4,305 crore; Rajiv Aarogya Sri ₹1,143 crore. [S09; S09 p.15, Table 10, row 3/4/7]; F36 (Qualified): Candidate resume reports modelling Meghalaya PDS and analysing 4,500+government records. [S25; Projects, Jul–Sep 2024]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Statewide programme provision identifies questions for access research; it does not establish Hyderabad coverage or service quality.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StatewideBE, not city spending or beneficiaries. Education outcomes and current scheme eligibility require additional authoritative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A journey obstacle can arise from eligibility, documentation, capacity, information or record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Trace a selected service journey against current official eligibility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trace selected service journeys from eligibility to application, receipt, grievance and closure.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Scheme journey brief. Inputs: Current eligibility, application and grievance records. Owner: candidate under research lead; reviewer: manager/subject specialist. Acceptance: Each journey stage has a dated source or Unknown label.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1 supported, 1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</a:t>
            </a:r>
          </a:p>
          <a:p xmlns:a="http://schemas.openxmlformats.org/drawingml/2006/main">
            <a:r>
              <a:t>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Statewide programme provision identifies questions for access research; it does not establish Hyderabad coverage or service quality. Evidence status: Qualified premises. StatewideBE, not city spending or beneficiaries. Education outcomes and current scheme eligibility require additional authoritative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State capex: ₹36,480.87 crore in 2025–26 RE and ₹47,267.28 crore in 2026–27 BE, a 29.6% nominal increase. In 2024–25, PRS reports state revenue receipts 24% below BE.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F27 (Supported): State capital expenditure: 2025–26 RE ₹36,480.87 crore; 2026–27 BE ₹47,267.28 crore. [S09, S10; S09 p.4, row VII, RE/BE columns]; F28 (Supported): Nominal state capex BE/RE increase is 29.57%, rounded 29.6%. [S09; Derived from F27]; F21 (Supported): 2026–27 BE: H-CITY assistance to CURE ₹2,654 crore. [S09, S10; S09 p.16, Table 10, row 32]; F22 (Supported): 2026–27 BE: Musi Riverfront development ₹1,500 crore. [S09; S09 p.16, Table 10, row 36]; F23 (Supported): 2026–27 BE: loans to HMWSSB for development ₹1,450 crore. [S09; S09 p.16, Table 10, row 38]; F39 (Qualified): PRS reports 2024–25 state revenue receipts 24% below BE. [S10; Table 11, Revenue Receipts row]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A larger planned envelope makes financing and implementation monitoring material. It does not establish fiscal capacity or future completion.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Statewide RE-to-BE comparison. Prior BE-to-actual gap is context, not a forecast. Chart labels round to whole crore; exact values remain in the workbook.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A larger plan can reflect priorities or financing assumptions; prior shortfalls do not predict the next year.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Monitor financing and execution with explicit BE, RE and actual stages.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build a commitments-to-delivery tracker with separate estimate, sanction, release, spend and outcome fields.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Financing-to-delivery brief. Inputs: BE/RE/actual and release/outcome records. Owner: candidate under research lead; reviewer: manager/subject specialist. Acceptance: Nominal/statewide scope retained; no forecast from old shortfalls.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5 supported, 1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</a:t>
            </a:r>
          </a:p>
          <a:p xmlns:a="http://schemas.openxmlformats.org/drawingml/2006/main">
            <a:r>
              <a:t>S10 | Telangana Budget Analysis 2026–27 | PRS Legislative Research | https://prsindia.org/budgets/states/telangana-budget-analysis-2026-27 | Fiscal summary; Table 11 revenue receipts and Table 14 sector BE-to-actual comparison, 2024–25 | 2026–27 budget analysis | Local fresh retrieval successful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A larger planned envelope makes financing and implementation monitoring material. It does not establish fiscal capacity or future completion. Evidence status: Qualified premises. Statewide RE-to-BE comparison. Prior BE-to-actual gap is context, not a forecast. Chart labels round to whole crore; exact values remain in the workbook.</a:t>
            </a:r>
          </a:p>
          <a:p xmlns:a="http://schemas.openxmlformats.org/drawingml/2006/main">
            <a:r>
              <a:t>CHART DATA: State capex: 2025–26 RE=36480.87, 2026–27 BE=47267.28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MRDCL states environmental and mobility objectives. The March 2026 official conference also acknowledged compensation and livelihood concerns.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F22 (Supported): 2026–27 BE: Musi Riverfront development ₹1,500 crore. [S09; S09 p.16, Table 10, row 36]; F30 (Supported): MRDCL describes Musi vision in terms of ecological restoration, sewage interception/treatment, floodplain zones and mobility/livelihoods. [S11; Vision]; F31 (Supported): At the 13 March 2026 Musi conference, the CM addressed compensation and livelihood concerns associated with relocation. [S12; English compensation/livelihood paragraphs]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Environmental objectives and acknowledged relocation concerns justify testing multiple dimensions of implementation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Government objectives/commitments are not proof of outcomes. Current award, construction, compensation and water-quality results remain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Environmental progress and household costs can move differently; official commitments do not settle either outcome.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Evaluate the Musi case against documented milestones and household safeguards.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produce a balanced Musi brief: documentary milestone, environmental evidence, household safeguards and unresolved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Musi case brief. Inputs: Award, environment, compensation/rehousing records. Owner: candidate under research lead; reviewer: manager/subject specialist. Acceptance: Objectives, commitments and verified outcomes separated.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3 supported.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</a:t>
            </a:r>
          </a:p>
          <a:p xmlns:a="http://schemas.openxmlformats.org/drawingml/2006/main">
            <a:r>
              <a:t>S11 | Vision / Mission | Musi Riverfront Development Corporation | https://musi.telangana.gov.in/VisionMusi.aspx | Vision paragraphs | Undated; current page | Local fresh retrieval successful</a:t>
            </a:r>
          </a:p>
          <a:p xmlns:a="http://schemas.openxmlformats.org/drawingml/2006/main">
            <a:r>
              <a:t>S12 | Musi Invites: Phase I presentation | Government of Telangana, TG Digital Media | https://www.telangana.gov.in/news/press-releases/2026/03/honble-cm-sri-a-revanth-reddy-participated-in-musi-invites-a-presentation-on-musi-river-rejuvenation-phase-i-by-mrdcl-in-hyderabad/ | English text: compensation and livelihood concerns; concluding presentation description | Event 2026-03-13; page 2026-03-16 | Local fresh retrieval successful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Environmental objectives and acknowledged relocation concerns justify testing multiple dimensions of implementation together. Evidence status: Supported premises. Government objectives/commitments are not proof of outcomes. Current award, construction, compensation and water-quality results remain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HYDRAA describes a CURE-wide asset-protection and disaster mandate. That does not determine the legality or fairness of an individual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F06 (Supported): HYDRAA describes its CURE-wide remit as disaster management and protection of government / public assets, under MAUD. [S05; Mandate; Jurisdictional Coverage]; F03 (Supported): GO 55 of 11 February 2026 reorganised CURE into GHMC, CMC and MMC with immediate effect. [S03, S04, S15; GO 55 pp 1–2]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Mandate-level evidence and case-level evidence answer different questions; public trust needs both.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No parcel is labelled an encroachment here. Current legal requirements and court orders need counsel/official record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A mandate may exist while an individual action still requires distinct authority, boundary and procedural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Verify an individual case against its order, boundary and review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keep a case tracker for the order, boundary record, notice, review route, implementation and independently checked outcome.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Case evidence tracker. Inputs: Order, boundary, notice and review record. Owner: candidate under research lead; reviewer: manager/subject specialist. Acceptance: Legal conclusions withheld until case-specific review.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2 supported.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S03 | G.O.Ms.No.55: CURE reorganisation | Government of Telangana, MAUD | https://tg-bn-website-assets.flowwlabs.tech/GOs-and-ACTs/GO.Ms.No.55_11-02-2026.pdf | PDF pp.1–2; operative paragraphs 2–3 | 2026-02-11 | Local fresh retrieval successful</a:t>
            </a:r>
          </a:p>
          <a:p xmlns:a="http://schemas.openxmlformats.org/drawingml/2006/main">
            <a:r>
              <a:t>S04 | Government Orders and Acts | Government of Telangana, BuildNow | https://buildnow.telangana.gov.in/go-and-act/ | GO 55, GO 45, GO 16, GO 68 and GO 69 entries | Orders dated 2025–2026 | Local fresh retrieval successful</a:t>
            </a:r>
          </a:p>
          <a:p xmlns:a="http://schemas.openxmlformats.org/drawingml/2006/main">
            <a:r>
              <a:t>S05 | About the Agency | HYDRAA, Government of Telangana | https://hydraa.telangana.gov.in/about | About HYDRAA; Jurisdictional Coverage; Functional Wings | Undated current page | Local fresh retrieval successful</a:t>
            </a:r>
          </a:p>
          <a:p xmlns:a="http://schemas.openxmlformats.org/drawingml/2006/main">
            <a:r>
              <a:t>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Mandate-level evidence and case-level evidence answer different questions; public trust needs both. Evidence status: Supported premises. No parcel is labelled an encroachment here. Current legal requirements and court orders need counsel/official record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Three municipal jurisdictions coexist with programme-specific and CURE-wide bodies. Cross-agency outcomes need an explicit coordination record.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F03 (Supported): GO 55 of 11 February 2026 reorganised CURE into GHMC, CMC and MMC with immediate effect. [S03, S04, S15; GO 55 pp 1–2]; F06 (Supported): HYDRAA describes its CURE-wide remit as disaster management and protection of government / public assets, under MAUD. [S05; Mandate; Jurisdictional Coverage]; F30 (Supported): MRDCL describes Musi vision in terms of ecological restoration, sewage interception/treatment, floodplain zones and mobility/livelihoods. [S11; Vision]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Multiple documented bodies create a coordination research requirement; this deck does not claim demonstrated coordination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Proposed operating design. Access to officials, internal records and escalation routes depends on employer approval.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Multiple bodies may coordinate successfully or experience handoff issues. The institution list alone shows neither.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Assign an issue owner and document the accountable handoff.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assign one issue owner and keep decision, funding, implementation and grievance handoffs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Coordination handoff sheet. Inputs: Issue authority and approved escalation routes. Owner: candidate under research lead; reviewer: manager/subject specialist. Acceptance: Owner, trigger, escalation and evidence documented.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3 supported.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S03 | G.O.Ms.No.55: CURE reorganisation | Government of Telangana, MAUD | https://tg-bn-website-assets.flowwlabs.tech/GOs-and-ACTs/GO.Ms.No.55_11-02-2026.pdf | PDF pp.1–2; operative paragraphs 2–3 | 2026-02-11 | Local fresh retrieval successful</a:t>
            </a:r>
          </a:p>
          <a:p xmlns:a="http://schemas.openxmlformats.org/drawingml/2006/main">
            <a:r>
              <a:t>S04 | Government Orders and Acts | Government of Telangana, BuildNow | https://buildnow.telangana.gov.in/go-and-act/ | GO 55, GO 45, GO 16, GO 68 and GO 69 entries | Orders dated 2025–2026 | Local fresh retrieval successful</a:t>
            </a:r>
          </a:p>
          <a:p xmlns:a="http://schemas.openxmlformats.org/drawingml/2006/main">
            <a:r>
              <a:t>S05 | About the Agency | HYDRAA, Government of Telangana | https://hydraa.telangana.gov.in/about | About HYDRAA; Jurisdictional Coverage; Functional Wings | Undated current page | Local fresh retrieval successful</a:t>
            </a:r>
          </a:p>
          <a:p xmlns:a="http://schemas.openxmlformats.org/drawingml/2006/main">
            <a:r>
              <a:t>S11 | Vision / Mission | Musi Riverfront Development Corporation | https://musi.telangana.gov.in/VisionMusi.aspx | Vision paragraphs | Undated; current page | Local fresh retrieval successful</a:t>
            </a:r>
          </a:p>
          <a:p xmlns:a="http://schemas.openxmlformats.org/drawingml/2006/main">
            <a:r>
              <a:t>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Multiple documented bodies create a coordination research requirement; this deck does not claim demonstrated coordination failure. Evidence status: Supported premises. Proposed operating design. Access to officials, internal records and escalation routes depends on employer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Official communications establish stated positions; news reports provide scrutiny. Neither social-media volume nor a few interviews measures public opinion.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F01 (Supported): Inclusive Minds describes itself as INC-aligned and lists six work verticals. [S01; About Us; Our Work]; F31 (Supported): At the 13 March 2026 Musi conference, the CM addressed compensation and livelihood concerns associated with relocation. [S12; English compensation/livelihood paragraphs]; F20 (Qualified): Congress candidate V. Naveen Yadav won the November 2025 Jubilee Hills by-election, according to Times Group reporting. [S23, S24; Winner reports]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The sources have different incentives and upstream dependencies. Reported narratives cannot identify their prevalence or their causal electoral effect.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Proposed Telugu, Urdu and English review with qualified language support. No claim to my fluency, representative survey, private messages or sentiment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Outlet selection, translation and news intensity can change the observed discourse without changed population opinion.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Review a dated multilingual discourse corpus with a coverage note.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run a multilingual issue log with source lineage, verified translations, correction status and a representativeness note.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Multilingual discourse log. Inputs: Dated corpus, outlet choices, qualified translations. Owner: candidate under research lead; reviewer: manager/subject specialist. Acceptance: Coding and missing coverage documented; no prevalence claim.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2 supported, 1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S01 | About us and six work verticals | Inclusive Minds | https://www.inclusiveminds.in/ | About Us; Our Work | Undated; retrieved 2026-10-08 | Local fresh retrieval successful</a:t>
            </a:r>
          </a:p>
          <a:p xmlns:a="http://schemas.openxmlformats.org/drawingml/2006/main">
            <a:r>
              <a:t>S12 | Musi Invites: Phase I presentation | Government of Telangana, TG Digital Media | https://www.telangana.gov.in/news/press-releases/2026/03/honble-cm-sri-a-revanth-reddy-participated-in-musi-invites-a-presentation-on-musi-river-rejuvenation-phase-i-by-mrdcl-in-hyderabad/ | English text: compensation and livelihood concerns; concluding presentation description | Event 2026-03-13; page 2026-03-16 | Local fresh retrieval successful</a:t>
            </a:r>
          </a:p>
          <a:p xmlns:a="http://schemas.openxmlformats.org/drawingml/2006/main">
            <a:r>
              <a:t>S23 | Jubilee Hills bypoll result | The Economic Times | https://m.economictimes.com/news/politics-and-nation/jubilee-hills-bypoll-result-2025-in-l-deepak-reddy-vs-sunita-vs-naveen-yadav-check-who-is-winning/articleshow/125315450.cms | Winner report | 2025-11-14 | Local fresh retrieval successful</a:t>
            </a:r>
          </a:p>
          <a:p xmlns:a="http://schemas.openxmlformats.org/drawingml/2006/main">
            <a:r>
              <a:t>S24 | Jubilee Hills bypoll winner live report | The Times of India | https://timesofindia.indiatimes.com/city/hyderabad/assembly-bypoll-result-2025-live-updates-by-election-results-jubilee-hills-budgam-nagrota-anta-ghatshila-tarn-taran-dampa-nuapada/liveblog/125313066.cms | 13:18 IST winner update | 2025-11-14 | Local fresh retrieval successful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The sources have different incentives and upstream dependencies. Reported narratives cannot identify their prevalence or their causal electoral effect. Evidence status: Qualified premises. Proposed Telugu, Urdu and English review with qualified language support. No claim to my fluency, representative survey, private messages or sentiment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Results and notified geography are strong anchors. Service performance, legal status and representative experience need separate current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F03 (Supported): GO 55 of 11 February 2026 reorganised CURE into GHMC, CMC and MMC with immediate effect. [S03, S04, S15; GO 55 pp 1–2]; F07 (Supported): 2023 Telangana Assembly seats won: INC 64; BRS 39; BJP 8; AIMIM 7; CPI 1. [S06; WON column]; F20 (Qualified): Congress candidate V. Naveen Yadav won the November 2025 Jubilee Hills by-election, according to Times Group reporting. [S23, S24; Winner reports]; F27 (Supported): State capital expenditure: 2025–26 RE ₹36,480.87 crore; 2026–27 BE ₹47,267.28 crore. [S09, S10; S09 p.4, row VII, RE/BE columns]; F38 (Qualified): Congress won the 2024 Secunderabad Cantonment by-election, according to reporting. [S27; Opening paragraph; reported result 4 June 2024]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Separating known records from unresolved status prevents confidence in one source class from spilling into another.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Verification status is record-specific. A source index or correct calculation does not clear an unread original passage.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An unavailable record is an access gap, not proof that the underlying event or outcome did not happen.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Assign an owner, expiry trigger and validation task to each consequential unknown.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maintain explicit expiry rules and assign a validation task to each consequential unknown.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Evidence refresh queue. Inputs: Blocked facts and dynamic status records. Owner: candidate under research lead; reviewer: manager/subject specialist. Acceptance: Named owner, expiry trigger and exact required record.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3 supported, 2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S03 | G.O.Ms.No.55: CURE reorganisation | Government of Telangana, MAUD | https://tg-bn-website-assets.flowwlabs.tech/GOs-and-ACTs/GO.Ms.No.55_11-02-2026.pdf | PDF pp.1–2; operative paragraphs 2–3 | 2026-02-11 | Local fresh retrieval successful</a:t>
            </a:r>
          </a:p>
          <a:p xmlns:a="http://schemas.openxmlformats.org/drawingml/2006/main">
            <a:r>
              <a:t>S04 | Government Orders and Acts | Government of Telangana, BuildNow | https://buildnow.telangana.gov.in/go-and-act/ | GO 55, GO 45, GO 16, GO 68 and GO 69 entries | Orders dated 2025–2026 | Local fresh retrieval successful</a:t>
            </a:r>
          </a:p>
          <a:p xmlns:a="http://schemas.openxmlformats.org/drawingml/2006/main">
            <a:r>
              <a:t>S06 | Performance of Political Parties: Telangana 2023 | Election Commission of India | https://www.eci.gov.in/eci-backend/public/all_files/full-statistical-reports/telangana/2023/Performance_of_Political_Parties.pdf | Performance of Political Parties, printed p.1, WON column | 2023 Assembly election; report undated | Fresh original route unavailable; relevant source passages subsequently readable via web retrieval</a:t>
            </a:r>
          </a:p>
          <a:p xmlns:a="http://schemas.openxmlformats.org/drawingml/2006/main">
            <a:r>
              <a:t>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</a:t>
            </a:r>
          </a:p>
          <a:p xmlns:a="http://schemas.openxmlformats.org/drawingml/2006/main">
            <a:r>
              <a:t>S10 | Telangana Budget Analysis 2026–27 | PRS Legislative Research | https://prsindia.org/budgets/states/telangana-budget-analysis-2026-27 | Fiscal summary; Table 11 revenue receipts and Table 14 sector BE-to-actual comparison, 2024–25 | 2026–27 budget analysis | Local fresh retrieval successful</a:t>
            </a:r>
          </a:p>
          <a:p xmlns:a="http://schemas.openxmlformats.org/drawingml/2006/main">
            <a:r>
              <a:t>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</a:t>
            </a:r>
          </a:p>
          <a:p xmlns:a="http://schemas.openxmlformats.org/drawingml/2006/main">
            <a:r>
              <a:t>S23 | Jubilee Hills bypoll result | The Economic Times | https://m.economictimes.com/news/politics-and-nation/jubilee-hills-bypoll-result-2025-in-l-deepak-reddy-vs-sunita-vs-naveen-yadav-check-who-is-winning/articleshow/125315450.cms | Winner report | 2025-11-14 | Local fresh retrieval successful</a:t>
            </a:r>
          </a:p>
          <a:p xmlns:a="http://schemas.openxmlformats.org/drawingml/2006/main">
            <a:r>
              <a:t>S24 | Jubilee Hills bypoll winner live report | The Times of India | https://timesofindia.indiatimes.com/city/hyderabad/assembly-bypoll-result-2025-live-updates-by-election-results-jubilee-hills-budgam-nagrota-anta-ghatshila-tarn-taran-dampa-nuapada/liveblog/125313066.cms | 13:18 IST winner update | 2025-11-14 | Local fresh retrieval successful</a:t>
            </a:r>
          </a:p>
          <a:p xmlns:a="http://schemas.openxmlformats.org/drawingml/2006/main">
            <a:r>
              <a:t>S26 | 2024 Secunderabad Cantonment by-election records | Chief Electoral Officer Telangana | https://ceotelangana.nic.in/BYE_GE_2024.html | By-election index: result declaration and Form 20 links | 2024 by-election records | Index read; result document pending</a:t>
            </a:r>
          </a:p>
          <a:p xmlns:a="http://schemas.openxmlformats.org/drawingml/2006/main">
            <a:r>
              <a:t>S27 | Congress wins Secunderabad Cantonment by-election | The New Indian Express | https://www.newindianexpress.com/states/telangana/2024/Jun/05/congress-wins-byelection-to-secunderabad-cantonment | Opening paragraph: Congress win; result event 4 June 2024 | 2024-06-05 | Article read</a:t>
            </a:r>
          </a:p>
          <a:p xmlns:a="http://schemas.openxmlformats.org/drawingml/2006/main">
            <a:r>
              <a:t>S28 | 2025 Jubilee Hills by-election records | Chief Electoral Officer Telangana | https://ceotelangana.nic.in/BYE_GE_2025.HTML | Index: State Gazette Form 21-D declaration link | 2025 by-election records | Index read; declaration/Form 20 pending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Separating known records from unresolved status prevents confidence in one source class from spilling into another. Evidence status: Qualified premises. Verification status is record-specific. A source index or correct calculation does not clear an unread original passage.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I would sequence work by the risk of misclassification, decision relevance and dependency—not a fabricated electoral opportunity score.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F03 (Supported): GO 55 of 11 February 2026 reorganised CURE into GHMC, CMC and MMC with immediate effect. [S03, S04, S15; GO 55 pp 1–2]; F20 (Qualified): Congress candidate V. Naveen Yadav won the November 2025 Jubilee Hills by-election, according to Times Group reporting. [S23, S24; Winner reports]; F21 (Supported): 2026–27 BE: H-CITY assistance to CURE ₹2,654 crore. [S09, S10; S09 p.16, Table 10, row 32]; F30 (Supported): MRDCL describes Musi vision in terms of ecological restoration, sewage interception/treatment, floodplain zones and mobility/livelihoods. [S11; Vision]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Boundary and status errors invalidate downstream analysis; implementation records then support usable issue briefs. Ranking is my professional judgment.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Proposed priority order; not measured demand or a promise of access.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A different manager objective can justify a different priority order. Ranking remains professional judgment.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Sequence the backlog by classification risk and decision dependencies.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agree the first research backlog with my manager and publish owners, dependencies and stop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Approved research backlog. Inputs: Classification risks and decision dependencies. Owner: candidate under research lead; reviewer: manager/subject specialist. Acceptance: Manager accepts ordering and stop conditions.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3 supported, 1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S03 | G.O.Ms.No.55: CURE reorganisation | Government of Telangana, MAUD | https://tg-bn-website-assets.flowwlabs.tech/GOs-and-ACTs/GO.Ms.No.55_11-02-2026.pdf | PDF pp.1–2; operative paragraphs 2–3 | 2026-02-11 | Local fresh retrieval successful</a:t>
            </a:r>
          </a:p>
          <a:p xmlns:a="http://schemas.openxmlformats.org/drawingml/2006/main">
            <a:r>
              <a:t>S04 | Government Orders and Acts | Government of Telangana, BuildNow | https://buildnow.telangana.gov.in/go-and-act/ | GO 55, GO 45, GO 16, GO 68 and GO 69 entries | Orders dated 2025–2026 | Local fresh retrieval successful</a:t>
            </a:r>
          </a:p>
          <a:p xmlns:a="http://schemas.openxmlformats.org/drawingml/2006/main">
            <a:r>
              <a:t>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</a:t>
            </a:r>
          </a:p>
          <a:p xmlns:a="http://schemas.openxmlformats.org/drawingml/2006/main">
            <a:r>
              <a:t>S10 | Telangana Budget Analysis 2026–27 | PRS Legislative Research | https://prsindia.org/budgets/states/telangana-budget-analysis-2026-27 | Fiscal summary; Table 11 revenue receipts and Table 14 sector BE-to-actual comparison, 2024–25 | 2026–27 budget analysis | Local fresh retrieval successful</a:t>
            </a:r>
          </a:p>
          <a:p xmlns:a="http://schemas.openxmlformats.org/drawingml/2006/main">
            <a:r>
              <a:t>S11 | Vision / Mission | Musi Riverfront Development Corporation | https://musi.telangana.gov.in/VisionMusi.aspx | Vision paragraphs | Undated; current page | Local fresh retrieval successful</a:t>
            </a:r>
          </a:p>
          <a:p xmlns:a="http://schemas.openxmlformats.org/drawingml/2006/main">
            <a:r>
              <a:t>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</a:t>
            </a:r>
          </a:p>
          <a:p xmlns:a="http://schemas.openxmlformats.org/drawingml/2006/main">
            <a:r>
              <a:t>S23 | Jubilee Hills bypoll result | The Economic Times | https://m.economictimes.com/news/politics-and-nation/jubilee-hills-bypoll-result-2025-in-l-deepak-reddy-vs-sunita-vs-naveen-yadav-check-who-is-winning/articleshow/125315450.cms | Winner report | 2025-11-14 | Local fresh retrieval successful</a:t>
            </a:r>
          </a:p>
          <a:p xmlns:a="http://schemas.openxmlformats.org/drawingml/2006/main">
            <a:r>
              <a:t>S24 | Jubilee Hills bypoll winner live report | The Times of India | https://timesofindia.indiatimes.com/city/hyderabad/assembly-bypoll-result-2025-live-updates-by-election-results-jubilee-hills-budgam-nagrota-anta-ghatshila-tarn-taran-dampa-nuapada/liveblog/125313066.cms | 13:18 IST winner update | 2025-11-14 | Local fresh retrieval successful</a:t>
            </a:r>
          </a:p>
          <a:p xmlns:a="http://schemas.openxmlformats.org/drawingml/2006/main">
            <a:r>
              <a:t>S29 | Quality in qualitative evaluation | HM Treasury / GOV.UK | https://www.gov.uk/government/publications/the-magenta-book/quality-in-qualitative-evaluation-qqe-html | Framework questions 7–8: sample selection/coverage; question 18: auditability | 2003 framework; current HTML edition retrieved 2026-10-08 | Relevant framework sections read</a:t>
            </a:r>
          </a:p>
          <a:p xmlns:a="http://schemas.openxmlformats.org/drawingml/2006/main">
            <a:r>
              <a:t>S30 | Magenta Book: evaluation guidance | HM Treasury / GOV.UK | https://www.gov.uk/government/publications/the-magenta-book/magenta-book-central-government-guidance-on-evaluation-html | Quality principles; theory of change and evaluation-design sections | 2026 edition | Relevant sections read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Boundary and status errors invalidate downstream analysis; implementation records then support usable issue briefs. Ranking is my professional judgment. Evidence status: Qualified premises. Proposed priority order; not measured demand or a promise of access.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Six selected urban-related 2026–27 budget lines form a source-linked tracker. They are a prototype, with open implementation fields.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F21 (Supported): 2026–27 BE: H-CITY assistance to CURE ₹2,654 crore. [S09, S10; S09 p.16, Table 10, row 32]; F22 (Supported): 2026–27 BE: Musi Riverfront development ₹1,500 crore. [S09; S09 p.16, Table 10, row 36]; F23 (Supported): 2026–27 BE: loans to HMWSSB for development ₹1,450 crore. [S09; S09 p.16, Table 10, row 38]; F24 (Supported): 2026–27 BE: Metro Rail Phase II ₹600 crore. [S09; S09 p.17, Table 10, row 50]; F25 (Supported): 2026–27 BE: loans to HMRL ₹500 crore. [S09; S09 p.17, Table 10, row 57]; F26 (Supported): 2026–27 BE: 20 KL free-water reimbursement to HMWSSB ₹300 crore. [S09; S09 p.17, Table 10, row 69]; F40 (Qualified): PRS reports 2024–25 urban-development actuals 56% below BE. [S10; Table 14, Urban Development row]; F41 (Qualified): PRS reports 2024–25 transport actuals 33% below BE. [S10; Table 14, Transport row]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The selected rows support monitoring questions. They do not form a complete CURE total or a live delivery dashboard.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PRS: 2024–25 state urban-development actuals −56% vs BE, transport −33%. Historical context, not 2026–27 delivery.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Missing implementation data can mean an unpublished record or an incomplete process. Unknown is not zero spending.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Maintain a reviewed tracker of selected urban-related budget instruments.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maintain the baseline as a reviewed weekly brief, recording each new document and change in status.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Selected-instrument budget tracker. Inputs: Exact budget heads and subsequent documents. Owner: candidate under research lead; reviewer: manager/subject specialist. Acceptance: Inclusions/exclusions explicit; instruments never silently summed.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6 supported, 2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S09 | Budget in Brief: 2026–27 | Government of Telangana, Finance Department | https://www.telangana.gov.in/wp-content/uploads/2026/05/Budget-in-Brief.pdf | Printed p.4: VII Capital Expenditure; printed pp.15–17: Major Schemes Budget Allocation | 2026–27 budget; posted May 2026 | Local fresh retrieval successful</a:t>
            </a:r>
          </a:p>
          <a:p xmlns:a="http://schemas.openxmlformats.org/drawingml/2006/main">
            <a:r>
              <a:t>S10 | Telangana Budget Analysis 2026–27 | PRS Legislative Research | https://prsindia.org/budgets/states/telangana-budget-analysis-2026-27 | Fiscal summary; Table 11 revenue receipts and Table 14 sector BE-to-actual comparison, 2024–25 | 2026–27 budget analysis | Local fresh retrieval successful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The selected rows support monitoring questions. They do not form a complete CURE total or a live delivery dashboard. Evidence status: Qualified premises. PRS: 2024–25 state urban-development actuals −56% vs BE, transport −33%. Historical context, not 2026–27 delivery.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An insight should retain its evidence, uncertainty and accountable next action as it moves between research and delivery teams.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F35 (Qualified): Candidate resume reports introducing an evidence-based review system for a seven-person political-intelligence team. [S25; workExperience bullet 3]; F36 (Qualified): Candidate resume reports modelling Meghalaya PDS and analysing 4,500+government records. [S25; Projects, Jul–Sep 2024]; F01 (Supported): Inclusive Minds describes itself as INC-aligned and lists six work verticals. [S01; About Us; Our Work]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The candidate-reported review experience supports proposing an evidence workflow; actual performance must be established through a pilot.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Owner: me under a research lead. Depends on approved repositories and reviewers. Fall back to a shared spreadsheet if tooling is limited.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A pilot may improve detection, increase workload or need a simpler shared-sheet workflow.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Pilot a manager-reviewed research workflow with correction-closure criteria.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introduce a short daily triage and a manager-reviewed weekly research brief with a correction 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Workflow pilot and correction log. Inputs: Approved repository, reviewer, brief template. Owner: candidate under research lead; reviewer: manager/subject specialist. Acceptance: Review acceptance and correction-closure criteria agreed.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2 qualified, 1 supported.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S01 | About us and six work verticals | Inclusive Minds | https://www.inclusiveminds.in/ | About Us; Our Work | Undated; retrieved 2026-10-08 | Local fresh retrieval successful</a:t>
            </a:r>
          </a:p>
          <a:p xmlns:a="http://schemas.openxmlformats.org/drawingml/2006/main">
            <a:r>
              <a:t>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</a:t>
            </a:r>
          </a:p>
          <a:p xmlns:a="http://schemas.openxmlformats.org/drawingml/2006/main">
            <a:r>
              <a:t>S29 | Quality in qualitative evaluation | HM Treasury / GOV.UK | https://www.gov.uk/government/publications/the-magenta-book/quality-in-qualitative-evaluation-qqe-html | Framework questions 7–8: sample selection/coverage; question 18: auditability | 2003 framework; current HTML edition retrieved 2026-10-08 | Relevant framework sections read</a:t>
            </a:r>
          </a:p>
          <a:p xmlns:a="http://schemas.openxmlformats.org/drawingml/2006/main">
            <a:r>
              <a:t>S30 | Magenta Book: evaluation guidance | HM Treasury / GOV.UK | https://www.gov.uk/government/publications/the-magenta-book/magenta-book-central-government-guidance-on-evaluation-html | Quality principles; theory of change and evaluation-design sections | 2026 edition | Relevant sections read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The candidate-reported review experience supports proposing an evidence workflow; actual performance must be established through a pilot. Evidence status: Qualified premises. Owner: me under a research lead. Depends on approved repositories and reviewers. Fall back to a shared spreadsheet if tooling is limited.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I would establish the geography, source inventory and reporting rhythm before committing to broad field conclusions.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F03 (Supported): GO 55 of 11 February 2026 reorganised CURE into GHMC, CMC and MMC with immediate effect. [S03, S04, S15; GO 55 pp 1–2]; F35 (Qualified): Candidate resume reports introducing an evidence-based review system for a seven-person political-intelligence team. [S25; workExperience bullet 3]; F36 (Qualified): Candidate resume reports modelling Meghalaya PDS and analysing 4,500+government records. [S25; Projects, Jul–Sep 2024]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Small reproducible work products establish a baseline and identify access constraints early.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About 10 focused hours/week is a planning envelope to agree. Four briefs remain a conditional capacity target, not a promised output.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One complex brief can consume the planning envelope. Actual pilot effort should determine the output count.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Use the first brief’s measured effort to agree the first-month output count.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build the registers and one reviewed pilot brief, log sourcing and review effort, then agree the brief count with my manager.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Registers and one pilot brief. Inputs: Permitted sources and booked review time. Owner: candidate under research lead; reviewer: manager/subject specialist. Acceptance: Effort recorded before agreeing further brief counts.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1 supported, 2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S03 | G.O.Ms.No.55: CURE reorganisation | Government of Telangana, MAUD | https://tg-bn-website-assets.flowwlabs.tech/GOs-and-ACTs/GO.Ms.No.55_11-02-2026.pdf | PDF pp.1–2; operative paragraphs 2–3 | 2026-02-11 | Local fresh retrieval successful</a:t>
            </a:r>
          </a:p>
          <a:p xmlns:a="http://schemas.openxmlformats.org/drawingml/2006/main">
            <a:r>
              <a:t>S04 | Government Orders and Acts | Government of Telangana, BuildNow | https://buildnow.telangana.gov.in/go-and-act/ | GO 55, GO 45, GO 16, GO 68 and GO 69 entries | Orders dated 2025–2026 | Local fresh retrieval successful</a:t>
            </a:r>
          </a:p>
          <a:p xmlns:a="http://schemas.openxmlformats.org/drawingml/2006/main">
            <a:r>
              <a:t>S15 | Moosarambagh bridge event and corporation logos | Government of Telangana, TG Digital Media | https://www.telangana.gov.in/news/press-releases/2026/08/honble-cm-sri-a-revanth-reddy-addresses-the-public-meeting-at-ghmc-sports-stadium-amberpet-hyderabad-following-the-inauguration-of-the-moosarambagh-high-level-bridge/ | English text, paragraph on three corporation logos | Event 2026-08-31; page 2026-09-01 | Local fresh retrieval successful</a:t>
            </a:r>
          </a:p>
          <a:p xmlns:a="http://schemas.openxmlformats.org/drawingml/2006/main">
            <a:r>
              <a:t>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</a:t>
            </a:r>
          </a:p>
          <a:p xmlns:a="http://schemas.openxmlformats.org/drawingml/2006/main">
            <a:r>
              <a:t>S29 | Quality in qualitative evaluation | HM Treasury / GOV.UK | https://www.gov.uk/government/publications/the-magenta-book/quality-in-qualitative-evaluation-qqe-html | Framework questions 7–8: sample selection/coverage; question 18: auditability | 2003 framework; current HTML edition retrieved 2026-10-08 | Relevant framework sections read</a:t>
            </a:r>
          </a:p>
          <a:p xmlns:a="http://schemas.openxmlformats.org/drawingml/2006/main">
            <a:r>
              <a:t>S30 | Magenta Book: evaluation guidance | HM Treasury / GOV.UK | https://www.gov.uk/government/publications/the-magenta-book/magenta-book-central-government-guidance-on-evaluation-html | Quality principles; theory of change and evaluation-design sections | 2026 edition | Relevant sections read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Small reproducible work products establish a baseline and identify access constraints early. Evidence status: Qualified premises. About 10 focused hours/week is a planning envelope to agree. Four briefs remain a conditional capacity target, not a promised output.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I would test the highest-impact gaps through authorised records, agency clarifications and consented qualitative research.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F30 (Supported): MRDCL describes Musi vision in terms of ecological restoration, sewage interception/treatment, floodplain zones and mobility/livelihoods. [S11; Vision]; F31 (Supported): At the 13 March 2026 Musi conference, the CM addressed compensation and livelihood concerns associated with relocation. [S12; English compensation/livelihood paragraphs]; F06 (Supported): HYDRAA describes its CURE-wide remit as disaster management and protection of government / public assets, under MAUD. [S05; Mandate; Jurisdictional Coverage]; F36 (Qualified): Candidate resume reports modelling Meghalaya PDS and analysing 4,500+government records. [S25; Projects, Jul–Sep 2024]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The earlier evidence gaps identify where direct validation is useful; interviews add context, not automatically representative statistics.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Exploratory planning range. Define question, inclusion, consent, language support and stopping rule; no assured representativeness or saturation.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An interview account may be atypical; non-participation and missing language coverage limit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Use an approved purposive interview pilot to explore a bounded evidence gap.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refine two case studies and test interview guides with qualified local-language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Bounded qualitative pilot. Inputs: Purposive criteria, consent, guide, language support. Owner: candidate under research lead; reviewer: manager/subject specialist. Acceptance: Coverage gaps and stopping rule documented; no percentages.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3 supported, 1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S05 | About the Agency | HYDRAA, Government of Telangana | https://hydraa.telangana.gov.in/about | About HYDRAA; Jurisdictional Coverage; Functional Wings | Undated current page | Local fresh retrieval successful</a:t>
            </a:r>
          </a:p>
          <a:p xmlns:a="http://schemas.openxmlformats.org/drawingml/2006/main">
            <a:r>
              <a:t>S11 | Vision / Mission | Musi Riverfront Development Corporation | https://musi.telangana.gov.in/VisionMusi.aspx | Vision paragraphs | Undated; current page | Local fresh retrieval successful</a:t>
            </a:r>
          </a:p>
          <a:p xmlns:a="http://schemas.openxmlformats.org/drawingml/2006/main">
            <a:r>
              <a:t>S12 | Musi Invites: Phase I presentation | Government of Telangana, TG Digital Media | https://www.telangana.gov.in/news/press-releases/2026/03/honble-cm-sri-a-revanth-reddy-participated-in-musi-invites-a-presentation-on-musi-river-rejuvenation-phase-i-by-mrdcl-in-hyderabad/ | English text: compensation and livelihood concerns; concluding presentation description | Event 2026-03-13; page 2026-03-16 | Local fresh retrieval successful</a:t>
            </a:r>
          </a:p>
          <a:p xmlns:a="http://schemas.openxmlformats.org/drawingml/2006/main">
            <a:r>
              <a:t>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</a:t>
            </a:r>
          </a:p>
          <a:p xmlns:a="http://schemas.openxmlformats.org/drawingml/2006/main">
            <a:r>
              <a:t>S29 | Quality in qualitative evaluation | HM Treasury / GOV.UK | https://www.gov.uk/government/publications/the-magenta-book/quality-in-qualitative-evaluation-qqe-html | Framework questions 7–8: sample selection/coverage; question 18: auditability | 2003 framework; current HTML edition retrieved 2026-10-08 | Relevant framework sections read</a:t>
            </a:r>
          </a:p>
          <a:p xmlns:a="http://schemas.openxmlformats.org/drawingml/2006/main">
            <a:r>
              <a:t>S30 | Magenta Book: evaluation guidance | HM Treasury / GOV.UK | https://www.gov.uk/government/publications/the-magenta-book/magenta-book-central-government-guidance-on-evaluation-html | Quality principles; theory of change and evaluation-design sections | 2026 edition | Relevant sections read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The earlier evidence gaps identify where direct validation is useful; interviews add context, not automatically representative statistics. Evidence status: Qualified premises. Exploratory planning range. Define question, inclusion, consent, language support and stopping rule; no assured representativeness or saturation.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I would evaluate evidence quality and turnaround against the first-month baseline, then hand over a reusable research system.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F35 (Qualified): Candidate resume reports introducing an evidence-based review system for a seven-person political-intelligence team. [S25; workExperience bullet 3]; F36 (Qualified): Candidate resume reports modelling Meghalaya PDS and analysing 4,500+government records. [S25; Projects, Jul–Sep 2024]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A pilot creates observable process metrics; the direction and scale of improvement are not predetermined.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Agree denominators and compare similar briefs. More detected errors can reflect better review; counts alone do not measure improvement.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More corrections can indicate better detection. Faster briefs may differ in complexity or review depth.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Evaluate comparable briefs using defined quality and turnaround denominators.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deliver a reviewed atlas scaffold, refresh calendar, two refined case briefs and an onboarding guide.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Pilot evaluation and handover. Inputs: Audit denominator, correction log, comparable brief time. Owner: candidate under research lead; reviewer: manager/subject specialist. Acceptance: Baseline and quality denominators retained; open errors visible.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2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</a:t>
            </a:r>
          </a:p>
          <a:p xmlns:a="http://schemas.openxmlformats.org/drawingml/2006/main">
            <a:r>
              <a:t>S29 | Quality in qualitative evaluation | HM Treasury / GOV.UK | https://www.gov.uk/government/publications/the-magenta-book/quality-in-qualitative-evaluation-qqe-html | Framework questions 7–8: sample selection/coverage; question 18: auditability | 2003 framework; current HTML edition retrieved 2026-10-08 | Relevant framework sections read</a:t>
            </a:r>
          </a:p>
          <a:p xmlns:a="http://schemas.openxmlformats.org/drawingml/2006/main">
            <a:r>
              <a:t>S30 | Magenta Book: evaluation guidance | HM Treasury / GOV.UK | https://www.gov.uk/government/publications/the-magenta-book/magenta-book-central-government-guidance-on-evaluation-html | Quality principles; theory of change and evaluation-design sections | 2026 edition | Relevant sections read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A pilot creates observable process metrics; the direction and scale of improvement are not predetermined. Evidence status: Qualified premises. Agree denominators and compare similar briefs. More detected errors can reflect better review; counts alone do not measure improvement.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My resume reports political-intelligence review work, cross-functional coordination and a Meghalaya public-distribution modelling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F34 (Qualified): Candidate resume lists MBA, IIM Shillong, 2023–25; Consultant Marketing and Strategy at Nation With Namo, May 2025–Apr 2026. [S25; Education/workExperience]; F35 (Qualified): Candidate resume reports introducing an evidence-based review system for a seven-person political-intelligence team. [S25; workExperience bullet 3]; F36 (Qualified): Candidate resume reports modelling Meghalaya PDS and analysing 4,500+government records. [S25; Projects, Jul–Sep 2024]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These self-reported experiences support a methods-based fit; geographic expertise and employer performance remain to be demonstrated.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No independent audit of CV outcomes. No claim to local-language fluency, Hyderabad field networks or guaranteed political impact.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Experience may transfer partly, while local knowledge, language support and agency context require supervised learning.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Test transferable methods through a supervised Hyderabad work product.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bring structured research and operational discipline, while building Hyderabad context through supervised local learning.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Supervised proof-of-fit brief. Inputs: CV examples and local orientation. Owner: candidate under research lead; reviewer: manager/subject specialist. Acceptance: Self-report, observed work and learning gaps remain distinct.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3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These self-reported experiences support a methods-based fit; geographic expertise and employer performance remain to be demonstrated. Evidence status: Qualified premises. No independent audit of CV outcomes. No claim to local-language fluency, Hyderabad field networks or guaranteed political impact.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I can offer a careful research perspective, traceable synthesis and a practical path from analysis to a reviewed brief.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F35 (Qualified): Candidate resume reports introducing an evidence-based review system for a seven-person political-intelligence team. [S25; workExperience bullet 3]; F36 (Qualified): Candidate resume reports modelling Meghalaya PDS and analysing 4,500+government records. [S25; Projects, Jul–Sep 2024]; F02 (Qualified): Employer Generalist post identifies Hyderabad on-site and experience in research, strategy, communication or project management. [S02; Hiring post]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The produced work sample and candidate-reported methods support an interview proposition, not a guarantee of hiring or future results.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Fit and priorities must be tested with the actual hiring team.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The sample may fit a different work product than the vacancy needs. The hiring team must determine fit.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Use one inspectable brief to discuss fit with the hiring team.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I would welcome a discussion of one issue brief, its strongest counterargument and the first work product the team needs.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Output: Interview work-product discussion. Inputs: One brief, strongest counterargument, first team need. Owner: candidate under research lead; reviewer: manager/subject specialist. Acceptance: Hiring team defines fit and the next permitted deliverable. Effort: log pilot sourcing and review time before agreeing output count. If access/review fails, narrow the desk brief and retain unknowns.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3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S02 | Generalist hiring post: Hyderabad, on-site | Inclusive Minds | https://www.linkedin.com/posts/inclusive-minds-ind_hiring-generalist-politicalconsulting-activity-7495111990261252096-TM4l | Employer-authored post text | Undated public post | Local fresh retrieval successful</a:t>
            </a:r>
          </a:p>
          <a:p xmlns:a="http://schemas.openxmlformats.org/drawingml/2006/main">
            <a:r>
              <a:t>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The produced work sample and candidate-reported methods support an interview proposition, not a guarantee of hiring or future results. Evidence status: Qualified premises. Fit and priorities must be tested with the actual hiring team.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ESTABLISHES: For considering my application to Inclusive Minds Political consulting · Hyderabad  manashdeori09@gmail.com linkedin.com/in/manash-protim-deori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EVIDENCE: F37 (Qualified): Candidate resume lists manashdeori09@gmail.com, LinkedIn/manash-protim-deori and openness to relocation. [S25; Header]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REASONING: Contact and relocation information from the existing portfolio resume.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LIMITS / ASSUMPTIONS: Independent application work sample. Appendix follows immediately.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ALTERNATIVES: Editorial framing or contact information; no independent substantive recommendation.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RECOMMENDATION: Framing/contact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HOW I WOULD CONTRIBUTE: Framing/contact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PRACTICAL TEST: Contact fields reflect candidate self-report.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STATUS: Evidence as of 8 October 2026: 1 qualified. Inferences bounded. Proposals conditional.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REFERENCES: S25 | Portfolio resume data | Manash Protim Deori | https://github.com/ManashProtimDeori/Manash-Protim-Deori/blob/c5ab9d8ac00c9180b880fa50f3e5f99682e1dac1/src/data/resume.ts | workExperience, projects, education and header | Repository read 2026-10-08 | Read owner-controlled resume via GitHub at frozen commit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INTERVIEW DEFENCE: Contact and relocation information from the existing portfolio resume. Evidence status: Qualified premises. Independent application work sample. Appendix follows immediately.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Methods and data; slide-level reasoning; factual and source registers; historical self-review; unresolved records.</a:t>
            </a:r>
          </a:p>
          <a:p xmlns:a="http://schemas.openxmlformats.org/drawingml/2006/main">
            <a:r>
              <a:t>[]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[["Provenance", "Supported, Qualified or Blocked for each record. An unread original is not cleared by correct arithmetic."], ["Lineage", "Shared issuer and publisher records count once. ET/TOI share Times Group; PRS reuses state documents."], ["Integrity", "Original date, unit and fiscal stage retained. Chart/workbook values agree; PDF data are searchable."], ["Inference", "Interpretations remain bounded. Current legal status, officeholders and delivery require separate records."], ["Practical use", "Recommendations identify a work product and acceptance test. Effort/output counts remain conditional."]]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Contiguous-code study set selected for a bounded work sample; other metropolitan seats excluded. Fresh primary row recheck pending.</a:t>
            </a:r>
          </a:p>
          <a:p xmlns:a="http://schemas.openxmlformats.org/drawingml/2006/main">
            <a:r>
              <a:t>[["57 Musheerabad", "BRS"], ["58 Malakpet", "AIMIM"], ["59 Amberpet", "BRS"], ["60 Khairatabad", "BRS"], ["61 Jubilee Hills", "BRS"], ["62 Sanathnagar", "BRS"], ["63 Nampally", "AIMIM"], ["64 Karwan", "AIMIM"], ["65 Goshamahal", "BJP"], ["66 Charminar", "AIMIM"], ["67 Chandrayangutta", "AIMIM"], ["68 Yakutpura", "AIMIM"], ["69 Bahadurpura", "AIMIM"], ["70 Secunderabad", "BRS"], ["71 Secunderabad Cantt.(SC)", "BRS"]]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[["State seats 2023", "64+39+8+7+1=119. S06 official performance table."], ["Selected seats 2023", "7+7+1+0=15 internally. S07 target rows remain blocked for fresh recheck."], ["Reported GHMC councils", "2016: 99+44+4+2+1=150. 2020: 56+48+44+2=150. Historical reporting."], ["Three margins", "62,185−60,148=2,037; 46,153−45,275=878; 99,776−18,116=81,660. Inputs pending fresh check."], ["State capex", "(47,267.28 / 36,480.87 − 1) × 100 = 29.5673%, rounded 29.6%. Nominal RE-to-BE."], ["Prior execution context", "PRS 2024–25 BE-to-actual shortfalls are historical statewide context. No summed city budget or next-year forecast."]]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[["M01 · Hyderabad", "Candidate record: F34,F37. Self-reported.\nEditorial title for a professional research work sample.\nResearch cut-off 8 October 2026. Prepared independently; no employer or party endorsement.", "Editorial/contact framing. No substantive I/R/C claim ID assigned."], ["M02 · Power, place and public value", "Premises: F03,F07,F08,F21,F22.\nThese institution-specific results cannot be collapsed into one citywide result. Budget provisions create questions about implementation.\nEvidence as of 8 October 2026: 4 supported, 1 blocked. Inferences bounded. Proposals conditional.", "R02: Maintain separate institution-specific briefs with a dated geography crosswalk.\nC02: Contributions sit beside each executive finding.\nProposal requires manager acceptance and access."]]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[["M03 · Relevant methods; honest fit", "Premises: F01,F02,F34,F35.\nResearch and project coordination in the resume match public role requirements at a methodological level.\nEvidence as of 8 October 2026: 1 supported, 3 qualified. Inferences bounded. Proposals conditional.", "R03: Test fit against the actual requisition through one reviewed research brief.\nC03: I would turn research into concise, source-backed briefs and coordinate review across functions.\nProposal requires manager acceptance and access."], ["M04 · Define the unit before the insight", "Premises: F03,F04,F05,F33.\nThe GO allocates municipal zones; election tables use constituency codes. A name match does not establish identical population or jurisdiction.\nEvidence as of 8 October 2026: 4 supported. Inferences bounded. Proposals conditional.", "R04: Complete the dated official boundary crosswalk before joining datasets.\nC04: I would create a dated crosswalk with overlap rules, official boundary files and exclusions before analysis.\nProposal requires manager acceptance and access."]]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[["M05 · Five gates, one traceable claim", "Premises: F02,F20.\nThe five checks are designed to detect different errors. Their effect on quality and turnaround must be measured in a pilot.\nEvidence as of 8 October 2026: 2 qualified. Inferences bounded. Proposals conditional.", "R05: Attach a claim register and correction log to every brief.\nC05: I would keep a claim register, contradiction log and refresh queue attached to every brief.\nProposal requires manager acceptance and access."], ["M06 · The political timeline is not linear", "Premises: F16,F17,F18,F19,F07,F03,F38,F20.\nSeparate election outcomes, by-elections, office changes and boundary changes. Historical outcomes do not establish present membership.\nEvidence as of 8 October 2026: 1 blocked, 5 qualified, 2 supported. Inferences bounded. Proposals conditional.", "R06: Maintain a dated event ledger that includes subsequent by-elections.\nC06: I would maintain an event ledger that separates electoral results, office changes, boundary changes and delivery milestones.\nProposal requires manager acceptance and access."]]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[["M07 · Follow the decision, budget and remedy", "Premises: F03,F06,F21,F30.\nA documented institution-specific chain is more useful than assigning every urban outcome to one politician or department.\nEvidence as of 8 October 2026: 4 supported. Inferences bounded. Proposals conditional.", "R07: Document responsibility and evidence for each issue-specific handoff.\nC07: I would produce one responsibility sheet for each issue: decision owner, payer, delivery body, review authority and evidence gap.\nProposal requires manager acceptance and access."], ["M08 · Different cycles, different baselines", "Premises: F18,F19.\nReported same-institution seat counts show council-level change. Seats are not votes; result differences do not identify voter transitions.\nEvidence as of 8 October 2026: 2 qualified. Inferences bounded. Proposals conditional.", "R08: Compare historical council counts only within equivalent election units.\nC08: I would preserve raw election vintages and compare only equivalent units, with candidate and boundary changes recorded.\nProposal requires manager acceptance and access."]]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[["M09 · The state result did not describe every seat", "Premises: F07,F08.\nA contrasting selected-set result falsifies a claim that the statewide winner also won everywhere in the urban core.\nEvidence as of 8 October 2026: 1 supported, 1 blocked. Inferences bounded. Proposals conditional.", "R09: Publish the selection rationale and exclusions with each constituency brief.\nC09: I would write explicitly scoped constituency briefs rather than treating the state mandate as a metropolitan result.\nProposal requires manager acceptance and access."], ["M10 · A ballot is an institutional choice", "Premises: F12,F13,F14,F15,F08.\nDifferent institution-specific observations show why political strength cannot be represented by one number.\nEvidence as of 8 October 2026: 4 supported, 1 blocked. Inferences bounded. Proposals conditional.", "R10: Keep Assembly, parliamentary and civic series separate.\nC10: I would keep Assembly, parliamentary and civic result series separate, then test possible explanations through approved research.\nProposal requires manager acceptance and access."]]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[["M11 · Competition has several forms", "Premises: F09,F10,F11,F20,F38.\nDifferent margins within the three seats show varied competition. Later Cantonment and Jubilee by-elections need a separate status ledger.\nEvidence as of 8 October 2026: 3 blocked, 2 qualified. Inferences bounded. Proposals conditional.", "R11: Compare only the examined seats and refresh subsequent status separately.\nC11: I would distinguish party presence, candidate competition and institutional control; update legal affiliation separately.\nProposal requires manager acceptance and access."], ["M12 · Cluster presence and access questions", "Premises: F32.\nCluster presence does not establish broad access. Locations anchor research questions, but do not measure benefits, GDP or job quality.\nEvidence as of 8 October 2026: 1 qualified. Inferences bounded. Proposals conditional.", "R12: Use verified cluster locations to frame a bounded opportunity-access brief.\nC12: I would build a place-based opportunity brief using verified cluster locations, commuting access and service data.\nProposal requires manager acceptance and access."]]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[["M13 · Measure the route from skill to opportunity", "Premises: F32,F36.\nMeasured barriers are needed to connect clusters with residents’ opportunities. No labour-market deficit is assumed simply from cluster presence.\nEvidence as of 8 October 2026: 2 qualified. Inferences bounded. Proposals conditional.", "R13: Validate a defined access question before proposing an intervention.\nC13: I would triangulate employer information, official labour statistics and consented interviews before proposing an access intervention.\nProposal requires manager acceptance and access."], ["M14 · Urban expansion changes the research unit", "Premises: F03,F33.\nChanges in administrative and planning units can break time-series comparisons and ownership assumptions.\nEvidence as of 8 October 2026: 2 supported. Inferences bounded. Proposals conditional.", "R14: Match each land or service claim to its dated jurisdiction and original record.\nC14: I would maintain a boundary-vintage register and verify land, housing, approvals and service claims against the right jurisdiction.\nProposal requires manager acceptance and access."]]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[["M15 · Transport provision is not service access", "Premises: F24,F25.\nDistinct lines should not be merged into a claim about completed rail construction. Accessibility requires route and service evidence.\nEvidence as of 8 October 2026: 2 supported. Inferences bounded. Proposals conditional.", "R15: Track each transport financing line through documented implementation stages.\nC15: I would track each financing line separately and evaluate access through verified project status, journeys and interchange evidence.\nProposal requires manager acceptance and access."], ["M16 · Resilience needs a system view", "Premises: F06,F23,F30.\nThe documented remit and project scope suggest linked research tasks, not measured performance or a causal reduction in flood risk.\nEvidence as of 8 October 2026: 3 supported. Inferences bounded. Proposals conditional.", "R16: Build a catchment-specific resilience brief using comparable event records.\nC16: I would connect rainfall events, drainage records, water-quality evidence and agency responsibilities in one issue brief.\nProposal requires manager acceptance and access."]]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[["M17 · Entitlement, access and experience differ", "Premises: F29,F36.\nStatewide programme provision identifies questions for access research; it does not establish Hyderabad coverage or service quality.\nEvidence as of 8 October 2026: 1 supported, 1 qualified. Inferences bounded. Proposals conditional.", "R17: Trace a selected service journey against current official eligibility rules.\nC17: I would trace selected service journeys from eligibility to application, receipt, grievance and closure.\nProposal requires manager acceptance and access."], ["M18 · Ambition must survive implementation", "Premises: F27,F28,F21,F22,F23,F39.\nA larger planned envelope makes financing and implementation monitoring material. It does not establish fiscal capacity or future completion.\nEvidence as of 8 October 2026: 5 supported, 1 qualified. Inferences bounded. Proposals conditional.", "R18: Monitor financing and execution with explicit BE, RE and actual stages.\nC18: I would build a commitments-to-delivery tracker with separate estimate, sanction, release, spend and outcome fields.\nProposal requires manager acceptance and access."]]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[["M19 · Musi is an implementation and trust question", "Premises: F22,F30,F31.\nEnvironmental objectives and acknowledged relocation concerns justify testing multiple dimensions of implementation together.\nEvidence as of 8 October 2026: 3 supported. Inferences bounded. Proposals conditional.", "R19: Evaluate the Musi case against documented milestones and household safeguards.\nC19: I would produce a balanced Musi brief: documentary milestone, environmental evidence, household safeguards and unresolved questions.\nProposal requires manager acceptance and access."], ["M20 · Protect assets; verify every case", "Premises: F06,F03.\nMandate-level evidence and case-level evidence answer different questions; public trust needs both.\nEvidence as of 8 October 2026: 2 supported. Inferences bounded. Proposals conditional.", "R20: Verify an individual case against its order, boundary and review records.\nC20: I would keep a case tracker for the order, boundary record, notice, review route, implementation and independently checked outcome.\nProposal requires manager acceptance and access."]]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[["M21 · Accountability needs a named handoff", "Premises: F03,F06,F30.\nMultiple documented bodies create a coordination research requirement; this deck does not claim demonstrated coordination failure.\nEvidence as of 8 October 2026: 3 supported. Inferences bounded. Proposals conditional.", "R21: Assign an issue owner and document the accountable handoff.\nC21: I would assign one issue owner and keep decision, funding, implementation and grievance handoffs visible.\nProposal requires manager acceptance and access."], ["M22 · Public discourse is evidence about discourse", "Premises: F01,F31,F20.\nThe sources have different incentives and upstream dependencies. Reported narratives cannot identify their prevalence or their causal electoral effect.\nEvidence as of 8 October 2026: 2 supported, 1 qualified. Inferences bounded. Proposals conditional.", "R22: Review a dated multilingual discourse corpus with a coverage note.\nC22: I would run a multilingual issue log with source lineage, verified translations, correction status and a representativeness note.\nProposal requires manager acceptance and access."]]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[["M23 · Uncertainty is a research queue", "Premises: F03,F07,F20,F27,F38.\nSeparating known records from unresolved status prevents confidence in one source class from spilling into another.\nEvidence as of 8 October 2026: 3 supported, 2 qualified. Inferences bounded. Proposals conditional.", "R23: Assign an owner, expiry trigger and validation task to each consequential unknown.\nC23: I would maintain explicit expiry rules and assign a validation task to each consequential unknown.\nProposal requires manager acceptance and access."], ["M24 · Start where errors change decisions", "Premises: F03,F20,F21,F30.\nBoundary and status errors invalidate downstream analysis; implementation records then support usable issue briefs. Ranking is my professional judgment.\nEvidence as of 8 October 2026: 3 supported, 1 qualified. Inferences bounded. Proposals conditional.", "R24: Sequence the backlog by classification risk and decision dependencies.\nC24: I would agree the first research backlog with my manager and publish owners, dependencies and stop conditions.\nProposal requires manager acceptance and access."]]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[["M25 · A work sample you can inspect", "Premises: F21,F22,F23,F24,F25,F26,F40,F41.\nThe selected rows support monitoring questions. They do not form a complete CURE total or a live delivery dashboard.\nEvidence as of 8 October 2026: 6 supported, 2 qualified. Inferences bounded. Proposals conditional.", "R25: Maintain a reviewed tracker of selected urban-related budget instruments.\nC25: I would maintain the baseline as a reviewed weekly brief, recording each new document and change in status.\nProposal requires manager acceptance and access."], ["M26 · One workflow from discovery to refresh", "Premises: F35,F36,F01.\nThe candidate-reported review experience supports proposing an evidence workflow; actual performance must be established through a pilot.\nEvidence as of 8 October 2026: 2 qualified, 1 supported. Inferences bounded. Proposals conditional.", "R26: Pilot a manager-reviewed research workflow with correction-closure criteria.\nC26: I would introduce a short daily triage and a manager-reviewed weekly research brief with a correction log.\nProposal requires manager acceptance and access."]]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[["M27 · First 30 days: a defensible baseline", "Premises: F03,F35,F36.\nSmall reproducible work products establish a baseline and identify access constraints early.\nEvidence as of 8 October 2026: 1 supported, 2 qualified. Inferences bounded. Proposals conditional.", "R27: Use the first brief’s measured effort to agree the first-month output count.\nC27: I would build the registers and one reviewed pilot brief, log sourcing and review effort, then agree the brief count with my manager.\nProposal requires manager acceptance and access."], ["M28 · Days 31–60: validate the weak links", "Premises: F30,F31,F06,F36.\nThe earlier evidence gaps identify where direct validation is useful; interviews add context, not automatically representative statistics.\nEvidence as of 8 October 2026: 3 supported, 1 qualified. Inferences bounded. Proposals conditional.", "R28: Use an approved purposive interview pilot to explore a bounded evidence gap.\nC28: I would refine two case studies and test interview guides with qualified local-language support.\nProposal requires manager acceptance and access."]]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[["M29 · Days 61 to 90: improve and hand over", "Premises: F35,F36.\nA pilot creates observable process metrics; the direction and scale of improvement are not predetermined.\nEvidence as of 8 October 2026: 2 qualified. Inferences bounded. Proposals conditional.", "R29: Evaluate comparable briefs using defined quality and turnaround denominators.\nC29: I would deliver a reviewed atlas scaffold, refresh calendar, two refined case briefs and an onboarding guide.\nProposal requires manager acceptance and access."], ["M30 · Experience is evidence; transfer is a test", "Premises: F34,F35,F36.\nThese self-reported experiences support a methods-based fit; geographic expertise and employer performance remain to be demonstrated.\nEvidence as of 8 October 2026: 3 qualified. Inferences bounded. Proposals conditional.", "R30: Test transferable methods through a supervised Hyderabad work product.\nC30: I would bring structured research and operational discipline, while building Hyderabad context through supervised local learning.\nProposal requires manager acceptance and access."]]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[["M31 · Interview me for the work product", "Premises: F35,F36,F02.\nThe produced work sample and candidate-reported methods support an interview proposition, not a guarantee of hiring or future results.\nEvidence as of 8 October 2026: 3 qualified. Inferences bounded. Proposals conditional.", "R31: Use one inspectable brief to discuss fit with the hiring team.\nC31: I would welcome a discussion of one issue brief, its strongest counterargument and the first work product the team needs.\nProposal requires manager acceptance and access."], ["M32 · Thank you", "Candidate record: F37. Self-reported.\nContact and relocation information from the existing portfolio resume.\nIndependent application work sample. Appendix follows immediately.", "Editorial/contact framing. No substantive I/R/C claim ID assigned."]]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[["F01 · Supported", "Inclusive Minds describes itself as INC-aligned and lists six work verticals.", "S01 · About Us; Our Work\nRetrieved 2026-10-08"], ["F02 · Qualified", "Employer Generalist post identifies Hyderabad on-site and experience in research, strategy, communication or project management.", "S02 · Hiring post\nRetrieved 2026-10-08"], ["F03 · Supported", "GO 55 of 11 February 2026 reorganised CURE into GHMC, CMC and MMC with immediate effect.", "S03,S04,S15 · GO 55 pp 1–2\n2026-02-11"], ["F04 · Supported", "CMC comprises Serilingampally, Kukatpally and Qutbullapur zones; MMC comprises Malkajgiri, Uppal and L.B.Nagar zones.", "S03 · GO 55 operative zone allocation\n2026-02-11"], ["F05 · Supported", "GHMC comprises Shamshabad, Rajendernagar, Charminar, Golconda, Khairatabad and Secunderabad zones.", "S03 · GO 55 operative zone allocation\n2026-02-11"]]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[["F06 · Supported", "HYDRAA describes its CURE-wide remit as disaster management and protection of government / public assets, under MAUD.", "S05 · Mandate; Jurisdictional Coverage\nRetrieved 2026-10-08"], ["F07 · Supported", "2023 Telangana Assembly seats won: INC 64; BRS 39; BJP 8; AIMIM 7; CPI 1.", "S06 · WON column\n2023 election"], ["F08 · Blocked", "In selected Assembly seats AC 57–71,2023 winners were BRS 7, AIMIM 7, BJP 1, INC 0.", "S07 · AC 57–71\n2023 election"], ["F09 · Blocked", "Nampally, 2023: winner 62,185; runner-up 60,148; margin 2,037 votes.", "S07 · PDF p 3; winner/runner-up table\n2023 election"], ["F10 · Blocked", "Yakutpura, 2023: winner 46,153; runner-up 45,275; margin 878 votes.", "S07 · PDF p 3; winner/runner-up table\n2023 election"]]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[["F11 · Blocked", "Chandrayangutta, 2023: winner 99,776; runner-up 18,116; margin 81,660 votes.", "S07 · PDF p 3; winner/runner-up table\n2023 election"], ["F12 · Supported", "Malkajgiri, 2024 Lok Sabha: Eatala Rajender (BJP) led with 991,042 votes; runner-up 599,567.", "S08 · p 580\n2024 election"], ["F13 · Supported", "Secunderabad, 2024 Lok Sabha: G.Kishan Reddy (BJP) led with 473,012 votes; runner-up 423,068.", "S08 · p 581\n2024 election"], ["F14 · Supported", "Hyderabad, 2024 Lok Sabha: Asaduddin Owaisi (AIMIM) led with 661,981 votes; runner-up 323,894.", "S08 · p 583\n2024 election"], ["F15 · Supported", "Chevella, 2024 Lok Sabha: Konda Vishweshwar Reddy (BJP) led with 809,882 votes; runner-up 636,985.", "S08 · p 585\n2024 election"]]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[["F16 · Blocked", "First Telangana Assembly as of 2 June 2014: TRS 63, INC 21, out of 119.", "S16 · Printed 410/PDF 63\n2014-06-02"], ["F17 · Qualified", "Contemporaneous 2018 reporting recorded TRS 88 and INC 19 Assembly seats.", "S17,S18 · Updated results paragraphs\n2018-12-12"], ["F18 · Qualified", "Published 2016 GHMC recap: TRS 99, AIMIM 44, BJP 4, INC 2, TDP 1.", "S19,S20 · Numerical result paragraphs\n2016 election"], ["F19 · Qualified", "Post-Neredmet 2020 reporting: TRS 56, BJP 48, AIMIM 44, INC 2.", "S21,S22 · Results paragraphs; final Neredmet result\n2020-12-10"], ["F20 · Qualified", "Congress candidate V. Naveen Yadav won the November 2025 Jubilee Hills by-election, according to Times Group reporting.", "S23,S24 · Winner reports\n2025-11-14"]]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[["F21 · Supported", "2026–27 BE: H-CITY assistance to CURE ₹2,654 crore.", "S09,S10 · S09 p.16, Table 10, row 32\nFY 2026–27"], ["F22 · Supported", "2026–27 BE: Musi Riverfront development ₹1,500 crore.", "S09 · S09 p.16, Table 10, row 36\nFY 2026–27"], ["F23 · Supported", "2026–27 BE: loans to HMWSSB for development ₹1,450 crore.", "S09 · S09 p.16, Table 10, row 38\nFY 2026–27"], ["F24 · Supported", "2026–27 BE: Metro Rail Phase II ₹600 crore.", "S09 · S09 p.17, Table 10, row 50\nFY 2026–27"], ["F25 · Supported", "2026–27 BE: loans to HMRL ₹500 crore.", "S09 · S09 p.17, Table 10, row 57\nFY 2026–27"]]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[["F26 · Supported", "2026–27 BE: 20 KL free-water reimbursement to HMWSSB ₹300 crore.", "S09 · S09 p.17, Table 10, row 69\nFY 2026–27"], ["F27 · Supported", "State capital expenditure: 2025–26 RE ₹36,480.87 crore; 2026–27 BE ₹47,267.28 crore.", "S09,S10 · S09 p.4, row VII, RE/BE columns\nFY 2025–26 RE and 2026–27 BE"], ["F28 · Supported", "Nominal state capex BE/RE increase is 29.57%, rounded 29.6%.", "S09 · Derived from F27\nFY 2026–27"], ["F29 · Supported", "State 2026–27 BE: Indiramma Houses ₹5,500 crore; Mahalaxmi RTC ₹4,305 crore; Rajiv Aarogya Sri ₹1,143 crore.", "S09 · S09 p.15, Table 10, row 3/4/7\nFY 2026–27"], ["F30 · Supported", "MRDCL describes Musi vision in terms of ecological restoration, sewage interception/treatment, floodplain zones and mobility/livelihoods.", "S11 · Vision\nRetrieved 2026-10-08"]]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[["F31 · Supported", "At the 13 March 2026 Musi conference, the CM addressed compensation and livelihood concerns associated with relocation.", "S12 · English compensation/livelihood paragraphs\n2026-03-13"], ["F32 · Qualified", "State investment portal identifies Genome Valley at Shamirpet and electronics manufacturing clusters.", "S14 · Industrial-parks section\nRetrieved 2026-10-08"], ["F33 · Supported", "BuildNow lists GO 68 dated 12 March 2025 for expansion of HMR and GO 69 for FCDA.", "S04 · GO 68/69 entries\n2025-03-12"], ["F34 · Qualified", "Candidate resume lists MBA, IIM Shillong, 2023–25; Consultant Marketing and Strategy at Nation With Namo, May 2025–Apr 2026.", "S25 · Education/workExperience\nCV periods"], ["F35 · Qualified", "Candidate resume reports introducing an evidence-based review system for a seven-person political-intelligence team.", "S25 · workExperience bullet 3\n2025–26"]]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[["F36 · Qualified", "Candidate resume reports modelling Meghalaya PDS and analysing 4,500+government records.", "S25 · Projects, Jul–Sep 2024\n2024"], ["F37 · Qualified", "Candidate resume lists manashdeori09@gmail.com, LinkedIn/manash-protim-deori and openness to relocation.", "S25 · Header\nRetrieved 2026-10-08"], ["F38 · Qualified", "Congress won the 2024 Secunderabad Cantonment by-election, according to reporting.", "S27 · Opening paragraph; reported result 4 June 2024\n2024-06-04"], ["F39 · Qualified", "PRS reports 2024–25 state revenue receipts 24% below BE.", "S10 · Table 11, Revenue Receipts row\n2024–25 BE to actual"], ["F40 · Qualified", "PRS reports 2024–25 urban-development actuals 56% below BE.", "S10 · Table 14, Urban Development row\n2024–25 BE to actual"], ["F41 · Qualified", "PRS reports 2024–25 transport actuals 33% below BE.", "S10 · Table 14, Transport row\n2024–25 BE to actual"]]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[{"id": "S01", "title": "About us and six work verticals", "publisher": "Inclusive Minds", "url": "https://www.inclusiveminds.in/", "locator": "About Us; Our Work", "publication_date": "Undated; retrieved 2026-10-08", "retrieved": "2026-10-08", "lineage": "Employer", "limitation": "Self-description; not independent evidence of effectiveness.", "fresh_access": "Local fresh retrieval successful", "snapshot_sha256": "32e36e7ff584826148346dbb920ee7ce0ccbd0d04bf0dd30bcc7c50e9d764bff", "verification_date": "2026-10-08"}, {"id": "S02", "title": "Generalist hiring post: Hyderabad, on-site", "publisher": "Inclusive Minds", "url": "https://www.linkedin.com/posts/inclusive-minds-ind_hiring-generalist-politicalconsulting-activity-7495111990261252096-TM4l", "locator": "Employer-authored post text", "publication_date": "Undated public post", "retrieved": "2026-10-08", "lineage": "Employer", "limitation": "Exact vacancy supplied by applicant is absent; current acceptance of applications not confirmed.", "fresh_access": "Local fresh retrieval successful", "snapshot_sha256": "3eadb9a580257ffd9f12561798a8adcb8eeadeafb8144a31db26922af169a302", "verification_date": "2026-10-08"}, {"id": "S03", "title": "G.O.Ms.No.55: CURE reorganisation", "publisher": "Government of Telangana, MAUD", "url": "https://tg-bn-website-assets.flowwlabs.tech/GOs-and-ACTs/GO.Ms.No.55_11-02-2026.pdf", "locator": "PDF pp.1–2; operative paragraphs 2–3", "publication_date": "2026-02-11", "retrieved": "2026-10-08", "lineage": "Government order", "limitation": "Read through the official BuildNow listing S04. Boundary allocation is by zone; this deck supplies no GIS polygons.", "fresh_access": "Local fresh retrieval successful", "snapshot_sha256": "59586b4ccfdd3680e569f307a6a322b1bb6be81a57b18da63cd191194f440556", "verification_date": "2026-10-08"}]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[{"id": "S04", "title": "Government Orders and Acts", "publisher": "Government of Telangana, BuildNow", "url": "https://buildnow.telangana.gov.in/go-and-act/", "locator": "GO 55, GO 45, GO 16, GO 68 and GO 69 entries", "publication_date": "Orders dated 2025–2026", "retrieved": "2026-10-08", "lineage": "Government order index", "limitation": "Listing proves instrument/date only; unread instruments are not treated as proof of full legal effect.", "fresh_access": "Local fresh retrieval successful", "snapshot_sha256": "7ca76a459895fd3e4078b54522212bcedd4e944f6433074bbd0159d5703fd352", "verification_date": "2026-10-08"}, {"id": "S05", "title": "About the Agency", "publisher": "HYDRAA, Government of Telangana", "url": "https://hydraa.telangana.gov.in/about", "locator": "About HYDRAA; Jurisdictional Coverage; Functional Wings", "publication_date": "Undated current page", "retrieved": "2026-10-08", "lineage": "Agency", "limitation": "Mandate description is not evidence of case-specific legality, environmental outcomes or public approval.", "fresh_access": "Local fresh retrieval successful", "snapshot_sha256": "400c95801953cf43a7873c22dfa26fb59c682fc3a6e2388c94817f6dca90e266", "verification_date": "2026-10-08"}, {"id": "S06", "title": "Performance of Political Parties: Telangana 2023", "publisher": "Election Commission of India", "url": "https://www.eci.gov.in/eci-backend/public/all_files/full-statistical-reports/telangana/2023/Performance_of_Political_Parties.pdf", "locator": "Performance of Political Parties, printed p.1, WON column", "publication_date": "2023 Assembly election; report undated", "retrieved": "2026-10-08", "lineage": "ECI 2023", "limitation": "Historical election-time affiliation; BHRS normalised to BRS for presentation.", "fresh_access": "Fresh original route unavailable; relevant source passages subsequently readable via web retrieval", "verification_date": "2026-10-08"}]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[{"id": "S07", "title": "List of Successful Candidates: Telangana 2023", "publisher": "Election Commission of India", "url": "https://www.eci.gov.in/eci-backend/public/all_files/full-statistical-reports/telangana/2023/List_of_Successful_Candidates.pdf", "locator": "PDF pp.2–3; AC 57–71 and winner/runner-up columns", "publication_date": "2023 Assembly election; report undated", "retrieved": "2026-10-08", "lineage": "ECI 2023", "limitation": "AC 57–71 is an explicitly selected 15-seat study set, not the entire metropolis or current municipal footprint. Fresh target rows were inaccessible in the ten-round review. Retain as pending primary recheck.", "fresh_access": "Fresh original route unavailable; partial web retrieval did not clear target rows", "verification_date": "2026-10-08"}, {"id": "S08", "title": "Constituency-wise Detailed Results: 2024 Lok Sabha", "publisher": "Election Commission of India", "url": "https://www.eci.gov.in/eci-backend/public/all_files/GE-2024-statistical-report/33-Constituency-Wise-Detailed-Result.pdf", "locator": "Printed pp.580,581,583,585; four selected PCs", "publication_date": "2024 Lok Sabha election; report undated", "retrieved": "2026-10-08", "lineage": "ECI 2024", "limitation": "Four selected constituencies have different boundaries from AC 57–71. No aggregate metropolitan vote share calculated.", "fresh_access": "Fresh original route unavailable; relevant source passages subsequently readable via web retrieval", "verification_date": "2026-10-08"}, {"id": "S09", "title": "Budget in Brief: 2026–27", "publisher": "Government of Telangana, Finance Department", "url": "https://www.telangana.gov.in/wp-content/uploads/2026/05/Budget-in-Brief.pdf", "locator": "Printed p.4: VII Capital Expenditure; printed pp.15–17: Major Schemes Budget Allocation", "publication_date": "2026–27 budget; posted May 2026", "retrieved": "2026-10-08", "lineage": "State budget", "limitation": "BE=budget estimate; RE=revised estimate. Allocation does not prove sanction, release, expenditure or delivery.", "fresh_access": "Local fresh retrieval successful", "snapshot_sha256": "ad1588897119ec4379dfd3cf547b45876653fde016934e5f2726773c30f51d10", "verification_date": "2026-10-08"}]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[{"id": "S10", "title": "Telangana Budget Analysis 2026–27", "publisher": "PRS Legislative Research", "url": "https://prsindia.org/budgets/states/telangana-budget-analysis-2026-27", "locator": "Fiscal summary; Table 11 revenue receipts and Table 14 sector BE-to-actual comparison, 2024–25", "publication_date": "2026–27 budget analysis", "retrieved": "2026-10-08", "lineage": "PRS analysis of state budget", "limitation": "Independent analytical scrutiny, but budget totals share upstream state documents. PRS net expenditure definition differs from headline gross budget.", "fresh_access": "Local fresh retrieval successful", "snapshot_sha256": "a6f8228b05af6a703803404b51c3bfee393e0073475e4a043c91cc487838abe7", "verification_date": "2026-10-08"}, {"id": "S11", "title": "Vision / Mission", "publisher": "Musi Riverfront Development Corporation", "url": "https://musi.telangana.gov.in/VisionMusi.aspx", "locator": "Vision paragraphs", "publication_date": "Undated; current page", "retrieved": "2026-10-08", "lineage": "MRDCL", "limitation": "Objectives only. Its promised sustainability outcomes are not independently verified achievements.", "fresh_access": "Local fresh retrieval successful", "snapshot_sha256": "6ab95a48236b764e99e5ffd73f73fff252b4903f932beea839578bdfe39a7589", "verification_date": "2026-10-08"}, {"id": "S12", "title": "Musi Invites: Phase I presentation", "publisher": "Government of Telangana, TG Digital Media", "url": "https://www.telangana.gov.in/news/press-releases/2026/03/honble-cm-sri-a-revanth-reddy-participated-in-musi-invites-a-presentation-on-musi-river-rejuvenation-phase-i-by-mrdcl-in-hyderabad/", "locator": "English text: compensation and livelihood concerns; concluding presentation description", "publication_date": "Event 2026-03-13; page 2026-03-16", "retrieved": "2026-10-08", "lineage": "Government press release", "limitation": "Official statements demonstrate stated commitments and acknowledged concerns; household counts and cost forecasts excluded.", "fresh_access": "Local fresh retrieval successful", "snapshot_sha256": "3849445334e1da83f0dea3b56351ce038b0ed68b92a2a43e53b27f313210db97", "verification_date": "2026-10-08"}]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[{"id": "S13", "title": "Musi project tenders", "publisher": "MRDCL", "url": "https://musi.telangana.gov.in/Tenders.aspx", "locator": "Tender listings", "publication_date": "Listing dates vary", "retrieved": "2026-10-08", "lineage": "MRDCL procurement", "limitation": "Discovery source only; not used to assert current award, construction or completion status.", "fresh_access": "Local fresh retrieval successful", "snapshot_sha256": "6309ee514480d7fd7c4846ed1e92b581703aa2e8eba8e8628477fd8b92c28316", "verification_date": "2026-10-08"}, {"id": "S14", "title": "Invest Telangana portal", "publisher": "Government of Telangana investment portal", "url": "https://invest.telangana.gov.in/", "locator": "Industrial parks; Genome Valley at Shamirpet; electronics clusters", "publication_date": "Undated; current page", "retrieved": "2026-10-08", "lineage": "Investment promotion", "limitation": "Promotional source used for cluster identification only. Export, GDP and jobs claims are not ingested.", "fresh_access": "Local fresh retrieval successful", "snapshot_sha256": "099122c79193c5ce1e1288bc584a7721fbf34caab265e7d7ac71febec90a900a", "verification_date": "2026-10-08"}, {"id": "S15", "title": "Moosarambagh bridge event and corporation logos", "publisher": "Government of Telangana, TG Digital Media", "url": "https://www.telangana.gov.in/news/press-releases/2026/08/honble-cm-sri-a-revanth-reddy-addresses-the-public-meeting-at-ghmc-sports-stadium-amberpet-hyderabad-following-the-inauguration-of-the-moosarambagh-high-level-bridge/", "locator": "English text, paragraph on three corporation logos", "publication_date": "Event 2026-08-31; page 2026-09-01", "retrieved": "2026-10-08", "lineage": "Government press release", "limitation": "Later corroboration of the three corporation names; not independent of state government.", "fresh_access": "Local fresh retrieval successful", "snapshot_sha256": "4c8e575a038d54b4b92379534e5776c36acafc275c1743e915d5d3d22f37ba35", "verification_date": "2026-10-08"}]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[{"id": "S16", "title": "Journal of Parliamentary Information, September 2014", "publisher": "Lok Sabha Secretariat", "url": "https://eparlib.sansad.in/bitstream/123456789/58523/1/JPI_September_2014.pdf", "locator": "Printed p.410 / PDF p.63; first Telangana Assembly", "publication_date": "2014-09; reference 2014-06-02", "retrieved": "2026-10-08", "lineage": "Parliamentary record", "limitation": "First Assembly party position as of 2 June 2014; not current legislative strength. Relevant passage could not be freshly read in the ten-round review.", "fresh_access": "Fresh original route unavailable; target passage not freshly cleared", "verification_date": "2026-10-08"}, {"id": "S17", "title": "Telangana Assembly polls: TRS wins", "publisher": "Scroll", "url": "https://scroll.in/latest/905254/telangana-assembly-polls-counting-of-votes-in-three-way-contest-set-to-begin-at-8-am", "locator": "Updated article paragraph below party table", "publication_date": "2018-12-12", "retrieved": "2026-10-08", "lineage": "Newsroom citing ECI", "limitation": "2018 TRS 88/INC 19 historical context only. Table total has an internal leading-seat inconsistency; full statewide reconstruction not used.", "fresh_access": "Local fresh retrieval successful", "snapshot_sha256": "ce7252b05cb74e8894fa9931d184ef47e3c580098c1fc0858928749f685ecdcd", "verification_date": "2026-10-08"}, {"id": "S18", "title": "2018 Telangana complete winners", "publisher": "The Times of India", "url": "https://timesofindia.indiatimes.com/city/hyderabad/telangana-election-results-2018-complete-list-of-winning-candidates-in-telangana/articleshow/67055845.cms", "locator": "Opening results paragraph", "publication_date": "2018-12-12", "retrieved": "2026-10-08", "lineage": "Newsroom citing election results", "limitation": "Corroborates S17; not an independent official election record.", "fresh_access": "Local fresh retrieval successful", "snapshot_sha256": "56103c605c40c7bd6b8f81325c4d114e0994d3e1bd9beccd4df10419711d9590", "verification_date": "2026-10-08"}]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[{"id": "S19", "title": "Hyderabad civic body voting: 2016 recap", "publisher": "NDTV, Uma Sudhir", "url": "https://www.ndtv.com/telangana-news/after-a-bitter-campaign-voting-begins-for-hyderabad-civic-body-polls-2332363", "locator": "Paragraph beginning A total of 1,122 candidates", "publication_date": "2020-12-01", "retrieved": "2026-10-08", "lineage": "NDTV reporting", "limitation": "2016 historical seat table is reported, not a newly ingested TSEC dataset.", "fresh_access": "Local fresh retrieval successful", "snapshot_sha256": "bf71e8914ae406e5920c644be417172d650a490b68f5f67f6482ce31e09ad417", "verification_date": "2026-10-08"}, {"id": "S20", "title": "GHMC 2016 result report", "publisher": "PTI / The New Indian Express", "url": "https://www.newindianexpress.com/amp/story/cities/hyderabad/2016/Feb/06/ghmc-polls-sops-for-poor-seemandhra-candidates-key-in-trs-win-889293.html", "locator": "Results paragraphs: 99/150; Congress 2; TDP 1/BJP 4; MIM 44", "publication_date": "2016-02-06", "retrieved": "2026-10-08", "lineage": "PTI wire", "limitation": "Only numerical result used; causal claims about communities in the article are excluded.", "fresh_access": "Local fresh retrieval successful", "snapshot_sha256": "587c9e64a571b7d5c802e44577ff222e291c0ee49cf3bedf0a6502c645318fda", "verification_date": "2026-10-08"}, {"id": "S21", "title": "Week after GHMC results: mayor question", "publisher": "The Indian Express, Rahul V Pisharody", "url": "https://indianexpress.com/article/cities/hyderabad/ghmc-results-hyderabad-mayor-7104860/", "locator": "Results paragraphs: TRS 56, AIMIM 44, BJP 48", "publication_date": "2020-12-14", "retrieved": "2026-10-08", "lineage": "Indian Express reporting", "limitation": "Historical council only. Article dated after Neredmet result; legal rules in 2020 not assumed current.", "fresh_access": "Local fresh retrieval successful", "snapshot_sha256": "42b5494493cecc7ea26dea5a46e2baf313a8a3848df62236edbc503b794e901b", "verification_date": "2026-10-08"}]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[{"id": "S22", "title": "Neredmet final result takes TRS tally to 56", "publisher": "The Tribune, Naveen S Garewal", "url": "https://www.tribuneindia.com/news/nation/trs-wins-neredmet-ghmc-division-takes-its-tally-to-56-182436/", "locator": "Final paragraph: 56,48,44,2; Neredmet timing", "publication_date": "2020-12-11", "retrieved": "2026-10-08", "lineage": "Tribune reporting", "limitation": "Reconciles earlier incomplete tally 55. Direct current TSEC table was inaccessible in this run.", "fresh_access": "Local fresh retrieval successful", "snapshot_sha256": "3cd10ca1a4366935f6e5e56c327764826deca38a151c916c25fc9b9e7db4856f", "verification_date": "2026-10-08"}, {"id": "S23", "title": "Jubilee Hills bypoll result", "publisher": "The Economic Times", "url": "https://m.economictimes.com/news/politics-and-nation/jubilee-hills-bypoll-result-2025-in-l-deepak-reddy-vs-sunita-vs-naveen-yadav-check-who-is-winning/articleshow/125315450.cms", "locator": "Winner report", "publication_date": "2025-11-14", "retrieved": "2026-10-08", "lineage": "Times Group reporting; shared corporate lineage", "limitation": "Winner only used. Vote totals conflict with another live report and are excluded. Shares corporate lineage with S24. Count as one reporting lineage.", "fresh_access": "Local fresh retrieval successful", "snapshot_sha256": "0d515e284b6d0a4388811632ac8c42bab8b3ed57fa40b24f7b680fd786f2ee45", "verification_date": "2026-10-08"}, {"id": "S24", "title": "Jubilee Hills bypoll winner live report", "publisher": "The Times of India", "url": "https://timesofindia.indiatimes.com/city/hyderabad/assembly-bypoll-result-2025-live-updates-by-election-results-jubilee-hills-budgam-nagrota-anta-ghatshila-tarn-taran-dampa-nuapada/liveblog/125313066.cms", "locator": "13:18 IST winner update", "publication_date": "2025-11-14", "retrieved": "2026-10-08", "lineage": "Times Group reporting; shared corporate lineage", "limitation": "Same corporate group as S23. Winner supported as reporting, not two independent confirmations. Official final Form 20 pending.", "fresh_access": "Local fresh retrieval successful", "snapshot_sha256": "c57b19c3001041aca2e7ecfe58b9c7b06a85727e35504a7c056f44cfc7b4b5f6", "verification_date": "2026-10-08"}]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[{"id": "S25", "title": "Portfolio resume data", "publisher": "Manash Protim Deori", "url": "https://github.com/ManashProtimDeori/Manash-Protim-Deori/blob/c5ab9d8ac00c9180b880fa50f3e5f99682e1dac1/src/data/resume.ts", "locator": "workExperience, projects, education and header", "publication_date": "Repository read 2026-10-08", "retrieved": "2026-10-08", "lineage": "Candidate self-report", "limitation": "Owner-controlled resume, not independent verification. No claim to Telugu/Urdu fluency, Hyderabad fieldwork or hiring endorsement.", "fresh_access": "Read owner-controlled resume via GitHub at frozen commit", "verification_date": "2026-10-08"}, {"id": "S26", "title": "2024 Secunderabad Cantonment by-election records", "publisher": "Chief Electoral Officer Telangana", "url": "https://ceotelangana.nic.in/BYE_GE_2024.html", "locator": "By-election index: result declaration and Form 20 links", "publication_date": "2024 by-election records", "retrieved": "2026-10-08", "lineage": "CEO official index", "limitation": "Index read. Linked result declaration/Form 20 could not be retrieved. The index is not used to verify an unread result.", "fresh_access": "Index read; result document pending"}, {"id": "S27", "title": "Congress wins Secunderabad Cantonment by-election", "publisher": "The New Indian Express", "url": "https://www.newindianexpress.com/states/telangana/2024/Jun/05/congress-wins-byelection-to-secunderabad-cantonment", "locator": "Opening paragraph: Congress win; result event 4 June 2024", "publication_date": "2024-06-05", "retrieved": "2026-10-08", "lineage": "Express News Service reporting", "limitation": "Winner/event only. Vote totals and current party strength are not adopted. Official declaration remains pending.", "fresh_access": "Article read"}]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[{"id": "S28", "title": "2025 Jubilee Hills by-election records", "publisher": "Chief Electoral Officer Telangana", "url": "https://ceotelangana.nic.in/BYE_GE_2025.HTML", "locator": "Index: State Gazette Form 21-D declaration link", "publication_date": "2025 by-election records", "retrieved": "2026-10-08", "lineage": "CEO official index", "limitation": "Index read. Linked declaration PDF unavailable. No unread document content or disputed final vote total is adopted.", "fresh_access": "Index read; declaration/Form 20 pending"}, {"id": "S29", "title": "Quality in qualitative evaluation", "publisher": "HM Treasury / GOV.UK", "url": "https://www.gov.uk/government/publications/the-magenta-book/quality-in-qualitative-evaluation-qqe-html", "locator": "Framework questions 7–8: sample selection/coverage; question 18: auditability", "publication_date": "2003 framework; current HTML edition retrieved 2026-10-08", "retrieved": "2026-10-08", "lineage": "UK government methodological guidance", "limitation": "Supports research-design checks. Does not prescribe 5–8 interviews or validate this proposed Hyderabad pilot.", "fresh_access": "Relevant framework sections read"}, {"id": "S30", "title": "Magenta Book: evaluation guidance", "publisher": "HM Treasury / GOV.UK", "url": "https://www.gov.uk/government/publications/the-magenta-book/magenta-book-central-government-guidance-on-evaluation-html", "locator": "Quality principles; theory of change and evaluation-design sections", "publication_date": "2026 edition", "retrieved": "2026-10-08", "lineage": "UK government methodological guidance", "limitation": "Supports evaluation design, uncertainty and comparison. Local workload, outputs and future effectiveness remain untested.", "fresh_access": "Relevant sections read"}]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[["v01 · Scope, vacancy and candidate inputs", "Created 32-slide full draft, candidate inputs, research cut-off and unresolved vacancy register."], ["v02 · Geography and institutional definitions", "Installed GO 55 zone allocations and separated electoral, municipal and planning units"], ["v03 · Source collection and provenance", "Added five-gate method, source hierarchy, source-lineage disclosure and source accessibility limitations."], ["v04 · Election data integrity", "Inserted historical civic table, primary Assembly study-set count and four separate parliamentary records"], ["v05 · Historical context", "Added selective 2014/2018/2020/2023/2026 timeline, labelled reported legacy context and avoided voter-transfer claims."]]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[["v06 · Current actors and legal status", "Replaced current-strength implications with election-time affiliation and reported 2025 winner"], ["v07 · Governance and responsibility", "Mapped documented agency roles and inserted coordination scaffold without asserting proven institutional failure."], ["v08 · Political economy", "Added cluster/access distinction"], ["v09 · Public services and fiscal evidence", "Inserted actual BE/RE amounts, separate transport instruments, statewide welfare scope and plan-to-revised-plan capex arithmetic."], ["v10 · Live policy case studies", "Added Musi and HYDRAA briefs with objective/commitment/mandate distinctions"]]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[["v11 · Causality and competing explanations", "Tested causal overreach across deck"], ["v12 · Media, language and qualitative evidence", "Added source/translation/representativeness discipline and known/disputed/unknown queue"], ["v13 · Recommendation feasibility", "Produced budget tracker baseline"], ["v14 · Immediate candidate contribution", "Audited every major finding/proposal for adjacent contribution"], ["v15 · CV truthfulness and role fit", "Added role fit and self-reportedCV evidence"]]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[["v16 · 30/60/90-day realism", "Added sequential 30/60/90-day outputs and resource assumptions"], ["v17 · Narrative and executive compression", "Completed operating system and closing proposition"], ["v18 · Adversarial review", "Adversarially reviewed conflicting bypoll totals, 2020 incomplete tally, H-CITY label and boundary selection"], ["v19 · Full traceability and five-gate closure", "Closed all substantive-ID mappings"], ["v20 · Final currency and presentation readiness", "Refreshed source snapshot/date boundaries, verified final sequence and all 32 main slides, retained residual uncertainties and released contentv 20."]]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[["Fresh source gaps", "F08–F11 and F16 remain blocked. Retained historical inputs cannot be called freshly verified."], ["By-election status", "Cantonment 2024 and Jubilee 2025 wins are reported. Official declarations / final Form 20 still pending."], ["Shared lineage", "ET/TOI share Times Group. PRS/state budget figures share upstream state documents."], ["Selected scope", "Three margins, 15 selected ACs and six selected budget lines do not cover the full party, metropolis or CURE budget."], ["Candidate experience", "CV remains self-report. Local fluency, networks and independently audited impact are unclaimed."]]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[["Desk capacity", "Start with one brief. Log sourcing/review effort before agreeing quantities within the proposed 10-hour weekly envelope."], ["Interview coverage", "5–8 is exploratory and conditional. Explain purposive inclusion, missing voices, language review and stopping rule."], ["Quality denominator", "Unsupported claims / audited claims; closed / logged corrections. Keep newly detected errors visible."], ["Comparable turnaround", "Match scope and review depth before comparing brief time. A lower raw correction count does not prove improvement."], ["Access fallback", "Named reviewer and permitted records first. If unavailable, narrow the brief and retain precise unanswered questions."]]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[["Hiring manager", "Exact requisition/open status and first work product. Confirm before operational use."], ["ECI / CEO / Lok Sabha", "F08–F11 election rows; F16 passage from Lok Sabha Secretariat. Final 2024 Cantonment and 2025 Jubilee declaration/Form 20 before numerical reuse."], ["TSEC / corporations", "Current poll notification, ward polygons, officeholder/legal roster. Refresh whenever a new order or schedule appears."], ["Scheme agencies", "Sanction, award, release, spend, completion and safeguards. Update after every new document or reporting period."], ["Research lead", "Confirm question, permissions, language support, reviewer and pilot acceptance before fieldwork or output commitments."]]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e6a08984ae454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225bca5c7a424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7ce3a8f05946a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bd002cb2864f3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e60a2035314fb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2b1e71bc444cb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24C8F44-E24B-451C-B27E-0BEFA2776B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381930A-76F2-4524-804B-70857598302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2940564-3112-4C8B-9DFE-C13F922EB4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64E950D-9791-4CA3-A10B-6E5523A6C2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FD6AE26-DB81-4324-AF5B-08686F2DE6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12190A1-9B2C-4D29-B83F-76BC86B735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2250DD9-D293-43DB-980C-1F791DF4C5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7F11451-4197-4C6C-9061-C7547DDD444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1F3A2E-91B8-4063-A15E-154132095A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2F49C9A-27EB-463F-B0D9-DCF840FDB6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071a251a0b4726" /><Relationship Type="http://schemas.openxmlformats.org/officeDocument/2006/relationships/slideLayout" Target="/ppt/slideLayouts/slideLayout1.xml" Id="R1fabdd35560a475a" /><Relationship Type="http://schemas.openxmlformats.org/officeDocument/2006/relationships/slideLayout" Target="/ppt/slideLayouts/slideLayout2.xml" Id="Rdb6fa306ba6242f9" /><Relationship Type="http://schemas.openxmlformats.org/officeDocument/2006/relationships/slideLayout" Target="/ppt/slideLayouts/slideLayout3.xml" Id="R836aaadb56c948c8" /><Relationship Type="http://schemas.openxmlformats.org/officeDocument/2006/relationships/slideLayout" Target="/ppt/slideLayouts/slideLayout4.xml" Id="Rc7c3e268cd5a4cbd" /><Relationship Type="http://schemas.openxmlformats.org/officeDocument/2006/relationships/slideLayout" Target="/ppt/slideLayouts/slideLayout5.xml" Id="R1445cb506bb14a69" /><Relationship Type="http://schemas.openxmlformats.org/officeDocument/2006/relationships/slideLayout" Target="/ppt/slideLayouts/slideLayout6.xml" Id="Rbcc3c62e4c30491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abdd35560a475a"/>
    <p:sldLayoutId xmlns:r="http://schemas.openxmlformats.org/officeDocument/2006/relationships" id="2147483650" r:id="Rdb6fa306ba6242f9"/>
    <p:sldLayoutId xmlns:r="http://schemas.openxmlformats.org/officeDocument/2006/relationships" id="2147483651" r:id="R836aaadb56c948c8"/>
    <p:sldLayoutId xmlns:r="http://schemas.openxmlformats.org/officeDocument/2006/relationships" id="2147483652" r:id="Rc7c3e268cd5a4cbd"/>
    <p:sldLayoutId xmlns:r="http://schemas.openxmlformats.org/officeDocument/2006/relationships" id="2147483653" r:id="R1445cb506bb14a69"/>
    <p:sldLayoutId xmlns:r="http://schemas.openxmlformats.org/officeDocument/2006/relationships" id="2147483654" r:id="Rbcc3c62e4c30491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DejaVu Sans"/>
        <a:ea typeface=""/>
        <a:cs typeface=""/>
      </a:majorFont>
      <a:minorFont>
        <a:latin typeface="DejaVu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2f4c5b394f4696" /><Relationship Type="http://schemas.openxmlformats.org/officeDocument/2006/relationships/image" Target="/ppt/media/image.png" Id="Radf72dc2d4c14c15" /><Relationship Type="http://schemas.openxmlformats.org/officeDocument/2006/relationships/notesSlide" Target="/ppt/notesSlides/notesSlide1.xml" Id="R3eca95a9999548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aaf53dc0584666" /><Relationship Type="http://schemas.openxmlformats.org/officeDocument/2006/relationships/notesSlide" Target="/ppt/notesSlides/notesSlide2.xml" Id="Rbc96242de0bf45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27dc05bfcc402c" /><Relationship Type="http://schemas.openxmlformats.org/officeDocument/2006/relationships/notesSlide" Target="/ppt/notesSlides/notesSlide3.xml" Id="R4b1faa2073a9414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115131b1d84b33" /><Relationship Type="http://schemas.openxmlformats.org/officeDocument/2006/relationships/notesSlide" Target="/ppt/notesSlides/notesSlide4.xml" Id="R162308c053df4b4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8c4620f71e4e06" /><Relationship Type="http://schemas.openxmlformats.org/officeDocument/2006/relationships/notesSlide" Target="/ppt/notesSlides/notesSlide5.xml" Id="R15a7c87c983c42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666a7799df4567" /><Relationship Type="http://schemas.openxmlformats.org/officeDocument/2006/relationships/notesSlide" Target="/ppt/notesSlides/notesSlide6.xml" Id="Rc8be99af77cb48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67ac96391b496a" /><Relationship Type="http://schemas.openxmlformats.org/officeDocument/2006/relationships/notesSlide" Target="/ppt/notesSlides/notesSlide7.xml" Id="R1abbcba850034d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9f27161a57497c" /><Relationship Type="http://schemas.openxmlformats.org/officeDocument/2006/relationships/chart" Target="/ppt/slides/charts/chart1.xml" Id="R68f6ae762a72466b" /><Relationship Type="http://schemas.openxmlformats.org/officeDocument/2006/relationships/notesSlide" Target="/ppt/notesSlides/notesSlide8.xml" Id="R0b1b360424934aa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724b054b7c46b5" /><Relationship Type="http://schemas.openxmlformats.org/officeDocument/2006/relationships/notesSlide" Target="/ppt/notesSlides/notesSlide9.xml" Id="R26d8217038b54f9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8c0bb7568d4adf" /><Relationship Type="http://schemas.openxmlformats.org/officeDocument/2006/relationships/notesSlide" Target="/ppt/notesSlides/notesSlide10.xml" Id="R6856364ba4ef403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00fc96568f4f18" /><Relationship Type="http://schemas.openxmlformats.org/officeDocument/2006/relationships/chart" Target="/ppt/slides/charts/chart2.xml" Id="R75ac2057208c4b29" /><Relationship Type="http://schemas.openxmlformats.org/officeDocument/2006/relationships/notesSlide" Target="/ppt/notesSlides/notesSlide11.xml" Id="R42cf87b526bb41c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1397975df24388" /><Relationship Type="http://schemas.openxmlformats.org/officeDocument/2006/relationships/notesSlide" Target="/ppt/notesSlides/notesSlide12.xml" Id="R9966f5863c114b8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6671fa817a48a2" /><Relationship Type="http://schemas.openxmlformats.org/officeDocument/2006/relationships/notesSlide" Target="/ppt/notesSlides/notesSlide13.xml" Id="Rb58e5d4ceb6e41d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1b14a9dea54de9" /><Relationship Type="http://schemas.openxmlformats.org/officeDocument/2006/relationships/notesSlide" Target="/ppt/notesSlides/notesSlide14.xml" Id="Reb62b2e343f7467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20a00d1c73414f" /><Relationship Type="http://schemas.openxmlformats.org/officeDocument/2006/relationships/notesSlide" Target="/ppt/notesSlides/notesSlide15.xml" Id="R10d24755fa2e49e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168f775e3c4280" /><Relationship Type="http://schemas.openxmlformats.org/officeDocument/2006/relationships/notesSlide" Target="/ppt/notesSlides/notesSlide16.xml" Id="R7539c587c9aa46b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5b51e2d56f4e5c" /><Relationship Type="http://schemas.openxmlformats.org/officeDocument/2006/relationships/notesSlide" Target="/ppt/notesSlides/notesSlide17.xml" Id="Ra7f6e562ba7b4fd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658455422948e8" /><Relationship Type="http://schemas.openxmlformats.org/officeDocument/2006/relationships/chart" Target="/ppt/slides/charts/chart3.xml" Id="Rbc33589b1a9d47c6" /><Relationship Type="http://schemas.openxmlformats.org/officeDocument/2006/relationships/notesSlide" Target="/ppt/notesSlides/notesSlide18.xml" Id="R4350765888d0467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1ad9c144de466e" /><Relationship Type="http://schemas.openxmlformats.org/officeDocument/2006/relationships/notesSlide" Target="/ppt/notesSlides/notesSlide19.xml" Id="Rd6f246335f1142c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b42082358e43c9" /><Relationship Type="http://schemas.openxmlformats.org/officeDocument/2006/relationships/notesSlide" Target="/ppt/notesSlides/notesSlide20.xml" Id="R50aecab3625b41d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306befca9147d1" /><Relationship Type="http://schemas.openxmlformats.org/officeDocument/2006/relationships/notesSlide" Target="/ppt/notesSlides/notesSlide21.xml" Id="R3313495c55d84ba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5cd6a88ea44063" /><Relationship Type="http://schemas.openxmlformats.org/officeDocument/2006/relationships/notesSlide" Target="/ppt/notesSlides/notesSlide22.xml" Id="R12f918c455bd4db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2e9756372b4754" /><Relationship Type="http://schemas.openxmlformats.org/officeDocument/2006/relationships/notesSlide" Target="/ppt/notesSlides/notesSlide23.xml" Id="Rab85ee53cd91417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d61fc4c5754877" /><Relationship Type="http://schemas.openxmlformats.org/officeDocument/2006/relationships/notesSlide" Target="/ppt/notesSlides/notesSlide24.xml" Id="Rd62a4e71a14548b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4c46377dcc40da" /><Relationship Type="http://schemas.openxmlformats.org/officeDocument/2006/relationships/notesSlide" Target="/ppt/notesSlides/notesSlide25.xml" Id="R1da758b0bb704ee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ec5536e57e44c2" /><Relationship Type="http://schemas.openxmlformats.org/officeDocument/2006/relationships/notesSlide" Target="/ppt/notesSlides/notesSlide26.xml" Id="Rfd065b5eae1e434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c6347bab964de9" /><Relationship Type="http://schemas.openxmlformats.org/officeDocument/2006/relationships/notesSlide" Target="/ppt/notesSlides/notesSlide27.xml" Id="Rf36c3137ee31413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a076f25a27402c" /><Relationship Type="http://schemas.openxmlformats.org/officeDocument/2006/relationships/notesSlide" Target="/ppt/notesSlides/notesSlide28.xml" Id="R52152c9390ca450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bd71563aa6446d" /><Relationship Type="http://schemas.openxmlformats.org/officeDocument/2006/relationships/notesSlide" Target="/ppt/notesSlides/notesSlide29.xml" Id="Ra27f25a1639e414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acd2b1b1054c4b" /><Relationship Type="http://schemas.openxmlformats.org/officeDocument/2006/relationships/notesSlide" Target="/ppt/notesSlides/notesSlide30.xml" Id="Rf9692a17ff1b483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f520c48c1449e2" /><Relationship Type="http://schemas.openxmlformats.org/officeDocument/2006/relationships/notesSlide" Target="/ppt/notesSlides/notesSlide31.xml" Id="Ra2ee170f5b994c2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c6f25959634021" /><Relationship Type="http://schemas.openxmlformats.org/officeDocument/2006/relationships/hyperlink" Target="mailto:manashdeori09@gmail.com" TargetMode="External" Id="R80718acf050a4ae5" /><Relationship Type="http://schemas.openxmlformats.org/officeDocument/2006/relationships/hyperlink" Target="https://linkedin.com/in/manash-protim-deori" TargetMode="External" Id="R9b249e132c1a4ce6" /><Relationship Type="http://schemas.openxmlformats.org/officeDocument/2006/relationships/notesSlide" Target="/ppt/notesSlides/notesSlide32.xml" Id="R8e6fa280d0ec491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2a2286a22144c4" /><Relationship Type="http://schemas.openxmlformats.org/officeDocument/2006/relationships/notesSlide" Target="/ppt/notesSlides/notesSlide33.xml" Id="R1cc544bc5cfe446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0825dc122b42c3" /><Relationship Type="http://schemas.openxmlformats.org/officeDocument/2006/relationships/notesSlide" Target="/ppt/notesSlides/notesSlide34.xml" Id="Re978d53eec1d446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345355dac14d17" /><Relationship Type="http://schemas.openxmlformats.org/officeDocument/2006/relationships/notesSlide" Target="/ppt/notesSlides/notesSlide35.xml" Id="R4ef3f4572970425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90e9790f64454b" /><Relationship Type="http://schemas.openxmlformats.org/officeDocument/2006/relationships/notesSlide" Target="/ppt/notesSlides/notesSlide36.xml" Id="Ra2fdc7c927fd4960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61f6a84eb94999" /><Relationship Type="http://schemas.openxmlformats.org/officeDocument/2006/relationships/notesSlide" Target="/ppt/notesSlides/notesSlide37.xml" Id="R2655db241ff647a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85b79487df4245" /><Relationship Type="http://schemas.openxmlformats.org/officeDocument/2006/relationships/notesSlide" Target="/ppt/notesSlides/notesSlide38.xml" Id="R30463b7f789a4a6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ae08db22e04702" /><Relationship Type="http://schemas.openxmlformats.org/officeDocument/2006/relationships/notesSlide" Target="/ppt/notesSlides/notesSlide39.xml" Id="R61522ec88d8446f8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b668dd30744ae5" /><Relationship Type="http://schemas.openxmlformats.org/officeDocument/2006/relationships/notesSlide" Target="/ppt/notesSlides/notesSlide40.xml" Id="R815873ae204e424e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004d36d980481d" /><Relationship Type="http://schemas.openxmlformats.org/officeDocument/2006/relationships/notesSlide" Target="/ppt/notesSlides/notesSlide41.xml" Id="R86ce55e913a7497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de0f4258654453" /><Relationship Type="http://schemas.openxmlformats.org/officeDocument/2006/relationships/notesSlide" Target="/ppt/notesSlides/notesSlide42.xml" Id="R2219bfee5c214262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1aa772cb4b496b" /><Relationship Type="http://schemas.openxmlformats.org/officeDocument/2006/relationships/notesSlide" Target="/ppt/notesSlides/notesSlide43.xml" Id="R171d4e9d105245ff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fb327159c94b9d" /><Relationship Type="http://schemas.openxmlformats.org/officeDocument/2006/relationships/notesSlide" Target="/ppt/notesSlides/notesSlide44.xml" Id="Ra6ba48f61f9e4b96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34c3afc4264a4c" /><Relationship Type="http://schemas.openxmlformats.org/officeDocument/2006/relationships/notesSlide" Target="/ppt/notesSlides/notesSlide45.xml" Id="Rf10ae2c4dab1495f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44b93fcc604949" /><Relationship Type="http://schemas.openxmlformats.org/officeDocument/2006/relationships/notesSlide" Target="/ppt/notesSlides/notesSlide46.xml" Id="R6f736f5bc09846a1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0683d291d846dc" /><Relationship Type="http://schemas.openxmlformats.org/officeDocument/2006/relationships/notesSlide" Target="/ppt/notesSlides/notesSlide47.xml" Id="Rfece238f24844397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05474b45274a1b" /><Relationship Type="http://schemas.openxmlformats.org/officeDocument/2006/relationships/notesSlide" Target="/ppt/notesSlides/notesSlide48.xml" Id="R29efb1d044364fd1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650bc3b1c54436" /><Relationship Type="http://schemas.openxmlformats.org/officeDocument/2006/relationships/notesSlide" Target="/ppt/notesSlides/notesSlide49.xml" Id="R0f23dcc7ebf84d52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bcaf164ead4c74" /><Relationship Type="http://schemas.openxmlformats.org/officeDocument/2006/relationships/notesSlide" Target="/ppt/notesSlides/notesSlide50.xml" Id="R1f6eb13e330547f2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3284fb95eb4c10" /><Relationship Type="http://schemas.openxmlformats.org/officeDocument/2006/relationships/notesSlide" Target="/ppt/notesSlides/notesSlide51.xml" Id="Ree709c49a6054c3c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8bf25803a14dfd" /><Relationship Type="http://schemas.openxmlformats.org/officeDocument/2006/relationships/notesSlide" Target="/ppt/notesSlides/notesSlide52.xml" Id="R14809033eabf4fbb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45083a5aad4f36" /><Relationship Type="http://schemas.openxmlformats.org/officeDocument/2006/relationships/notesSlide" Target="/ppt/notesSlides/notesSlide53.xml" Id="R731dd43650744116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845f48395640b7" /><Relationship Type="http://schemas.openxmlformats.org/officeDocument/2006/relationships/notesSlide" Target="/ppt/notesSlides/notesSlide54.xml" Id="Rfca6ac4a161e484e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875390aad6491e" /><Relationship Type="http://schemas.openxmlformats.org/officeDocument/2006/relationships/notesSlide" Target="/ppt/notesSlides/notesSlide55.xml" Id="R2e0fff4af3274e8b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d71dc5341d46bf" /><Relationship Type="http://schemas.openxmlformats.org/officeDocument/2006/relationships/notesSlide" Target="/ppt/notesSlides/notesSlide56.xml" Id="R53c9c59298b6418c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f11ec333bc4a97" /><Relationship Type="http://schemas.openxmlformats.org/officeDocument/2006/relationships/notesSlide" Target="/ppt/notesSlides/notesSlide57.xml" Id="R5836a087546b46ce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98bf3394f0450c" /><Relationship Type="http://schemas.openxmlformats.org/officeDocument/2006/relationships/notesSlide" Target="/ppt/notesSlides/notesSlide58.xml" Id="R42a3617d886c494f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ded7bdf7c84498" /><Relationship Type="http://schemas.openxmlformats.org/officeDocument/2006/relationships/notesSlide" Target="/ppt/notesSlides/notesSlide59.xml" Id="Re76513a9ed6544d7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eea0b20b7c445a" /><Relationship Type="http://schemas.openxmlformats.org/officeDocument/2006/relationships/notesSlide" Target="/ppt/notesSlides/notesSlide60.xml" Id="Rc98f0fa6c8174ce1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dbb47525c64c9b" /><Relationship Type="http://schemas.openxmlformats.org/officeDocument/2006/relationships/hyperlink" Target="https://www.inclusiveminds.in/" TargetMode="External" Id="R6a52f57f48564d04" /><Relationship Type="http://schemas.openxmlformats.org/officeDocument/2006/relationships/hyperlink" Target="https://www.linkedin.com/posts/inclusive-minds-ind_hiring-generalist-politicalconsulting-activity-7495111990261252096-TM4l" TargetMode="External" Id="R076d5389c11c4dd3" /><Relationship Type="http://schemas.openxmlformats.org/officeDocument/2006/relationships/hyperlink" Target="https://tg-bn-website-assets.flowwlabs.tech/GOs-and-ACTs/GO.Ms.No.55_11-02-2026.pdf" TargetMode="External" Id="R98210fcf875c4ebd" /><Relationship Type="http://schemas.openxmlformats.org/officeDocument/2006/relationships/notesSlide" Target="/ppt/notesSlides/notesSlide61.xml" Id="R89c11e5a3d1d45b9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08264ac49f41cc" /><Relationship Type="http://schemas.openxmlformats.org/officeDocument/2006/relationships/hyperlink" Target="https://buildnow.telangana.gov.in/go-and-act/" TargetMode="External" Id="Rbcbe02a7586a485f" /><Relationship Type="http://schemas.openxmlformats.org/officeDocument/2006/relationships/hyperlink" Target="https://hydraa.telangana.gov.in/about" TargetMode="External" Id="R26c7a8a24a404ed6" /><Relationship Type="http://schemas.openxmlformats.org/officeDocument/2006/relationships/hyperlink" Target="https://www.eci.gov.in/eci-backend/public/all_files/full-statistical-reports/telangana/2023/Performance_of_Political_Parties.pdf" TargetMode="External" Id="R288050230ece4c74" /><Relationship Type="http://schemas.openxmlformats.org/officeDocument/2006/relationships/notesSlide" Target="/ppt/notesSlides/notesSlide62.xml" Id="Rd0c4491cb22549cb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33c75c455e407b" /><Relationship Type="http://schemas.openxmlformats.org/officeDocument/2006/relationships/hyperlink" Target="https://www.eci.gov.in/eci-backend/public/all_files/full-statistical-reports/telangana/2023/List_of_Successful_Candidates.pdf" TargetMode="External" Id="R1811e890dc6242d7" /><Relationship Type="http://schemas.openxmlformats.org/officeDocument/2006/relationships/hyperlink" Target="https://www.eci.gov.in/eci-backend/public/all_files/GE-2024-statistical-report/33-Constituency-Wise-Detailed-Result.pdf" TargetMode="External" Id="R5f827c8799e14a06" /><Relationship Type="http://schemas.openxmlformats.org/officeDocument/2006/relationships/hyperlink" Target="https://www.telangana.gov.in/wp-content/uploads/2026/05/Budget-in-Brief.pdf" TargetMode="External" Id="R0bf08a925c7a43be" /><Relationship Type="http://schemas.openxmlformats.org/officeDocument/2006/relationships/notesSlide" Target="/ppt/notesSlides/notesSlide63.xml" Id="R6c00feecad214226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767512fadf4c84" /><Relationship Type="http://schemas.openxmlformats.org/officeDocument/2006/relationships/hyperlink" Target="https://prsindia.org/budgets/states/telangana-budget-analysis-2026-27" TargetMode="External" Id="R4dfe59cb34fe4ae3" /><Relationship Type="http://schemas.openxmlformats.org/officeDocument/2006/relationships/hyperlink" Target="https://musi.telangana.gov.in/VisionMusi.aspx" TargetMode="External" Id="Re28e6ea710634f86" /><Relationship Type="http://schemas.openxmlformats.org/officeDocument/2006/relationships/hyperlink" Target="https://www.telangana.gov.in/news/press-releases/2026/03/honble-cm-sri-a-revanth-reddy-participated-in-musi-invites-a-presentation-on-musi-river-rejuvenation-phase-i-by-mrdcl-in-hyderabad/" TargetMode="External" Id="Rce461174f31d4b3f" /><Relationship Type="http://schemas.openxmlformats.org/officeDocument/2006/relationships/notesSlide" Target="/ppt/notesSlides/notesSlide64.xml" Id="R5d283975bf9e4ce4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a1715cdcd14f3e" /><Relationship Type="http://schemas.openxmlformats.org/officeDocument/2006/relationships/hyperlink" Target="https://musi.telangana.gov.in/Tenders.aspx" TargetMode="External" Id="R9cc6c567811349c9" /><Relationship Type="http://schemas.openxmlformats.org/officeDocument/2006/relationships/hyperlink" Target="https://invest.telangana.gov.in/" TargetMode="External" Id="R1c03e24348124afe" /><Relationship Type="http://schemas.openxmlformats.org/officeDocument/2006/relationships/hyperlink" Target="https://www.telangana.gov.in/news/press-releases/2026/08/honble-cm-sri-a-revanth-reddy-addresses-the-public-meeting-at-ghmc-sports-stadium-amberpet-hyderabad-following-the-inauguration-of-the-moosarambagh-high-level-bridge/" TargetMode="External" Id="Rd9b7c753a4a443d1" /><Relationship Type="http://schemas.openxmlformats.org/officeDocument/2006/relationships/notesSlide" Target="/ppt/notesSlides/notesSlide65.xml" Id="R0712c84df6e94ea3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4b40bca5654d0c" /><Relationship Type="http://schemas.openxmlformats.org/officeDocument/2006/relationships/hyperlink" Target="https://eparlib.sansad.in/bitstream/123456789/58523/1/JPI_September_2014.pdf" TargetMode="External" Id="R52e2f5e1fe8f4490" /><Relationship Type="http://schemas.openxmlformats.org/officeDocument/2006/relationships/hyperlink" Target="https://scroll.in/latest/905254/telangana-assembly-polls-counting-of-votes-in-three-way-contest-set-to-begin-at-8-am" TargetMode="External" Id="Rcf784f7e71dc4870" /><Relationship Type="http://schemas.openxmlformats.org/officeDocument/2006/relationships/hyperlink" Target="https://timesofindia.indiatimes.com/city/hyderabad/telangana-election-results-2018-complete-list-of-winning-candidates-in-telangana/articleshow/67055845.cms" TargetMode="External" Id="R7db0d32956e14240" /><Relationship Type="http://schemas.openxmlformats.org/officeDocument/2006/relationships/notesSlide" Target="/ppt/notesSlides/notesSlide66.xml" Id="Refcec932430446ca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005968edf84302" /><Relationship Type="http://schemas.openxmlformats.org/officeDocument/2006/relationships/hyperlink" Target="https://www.ndtv.com/telangana-news/after-a-bitter-campaign-voting-begins-for-hyderabad-civic-body-polls-2332363" TargetMode="External" Id="R9a8cf06063724fd1" /><Relationship Type="http://schemas.openxmlformats.org/officeDocument/2006/relationships/hyperlink" Target="https://www.newindianexpress.com/amp/story/cities/hyderabad/2016/Feb/06/ghmc-polls-sops-for-poor-seemandhra-candidates-key-in-trs-win-889293.html" TargetMode="External" Id="R72865a6409904e8c" /><Relationship Type="http://schemas.openxmlformats.org/officeDocument/2006/relationships/hyperlink" Target="https://indianexpress.com/article/cities/hyderabad/ghmc-results-hyderabad-mayor-7104860/" TargetMode="External" Id="R83b0f5ced30049d1" /><Relationship Type="http://schemas.openxmlformats.org/officeDocument/2006/relationships/notesSlide" Target="/ppt/notesSlides/notesSlide67.xml" Id="R8a72a9a919074fe9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e94b20edb64aca" /><Relationship Type="http://schemas.openxmlformats.org/officeDocument/2006/relationships/hyperlink" Target="https://www.tribuneindia.com/news/nation/trs-wins-neredmet-ghmc-division-takes-its-tally-to-56-182436/" TargetMode="External" Id="Rb3207a7724c247a3" /><Relationship Type="http://schemas.openxmlformats.org/officeDocument/2006/relationships/hyperlink" Target="https://m.economictimes.com/news/politics-and-nation/jubilee-hills-bypoll-result-2025-in-l-deepak-reddy-vs-sunita-vs-naveen-yadav-check-who-is-winning/articleshow/125315450.cms" TargetMode="External" Id="R394e44a248d34aed" /><Relationship Type="http://schemas.openxmlformats.org/officeDocument/2006/relationships/hyperlink" Target="https://timesofindia.indiatimes.com/city/hyderabad/assembly-bypoll-result-2025-live-updates-by-election-results-jubilee-hills-budgam-nagrota-anta-ghatshila-tarn-taran-dampa-nuapada/liveblog/125313066.cms" TargetMode="External" Id="R22340afce6474da8" /><Relationship Type="http://schemas.openxmlformats.org/officeDocument/2006/relationships/notesSlide" Target="/ppt/notesSlides/notesSlide68.xml" Id="R8561240b557b4b4f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40895795db47d3" /><Relationship Type="http://schemas.openxmlformats.org/officeDocument/2006/relationships/hyperlink" Target="https://github.com/ManashProtimDeori/Manash-Protim-Deori/blob/c5ab9d8ac00c9180b880fa50f3e5f99682e1dac1/src/data/resume.ts" TargetMode="External" Id="R2be3a5b27aeb46dc" /><Relationship Type="http://schemas.openxmlformats.org/officeDocument/2006/relationships/hyperlink" Target="https://ceotelangana.nic.in/BYE_GE_2024.html" TargetMode="External" Id="Rc12a1d467f094ef5" /><Relationship Type="http://schemas.openxmlformats.org/officeDocument/2006/relationships/hyperlink" Target="https://www.newindianexpress.com/states/telangana/2024/Jun/05/congress-wins-byelection-to-secunderabad-cantonment" TargetMode="External" Id="R420fb4be19154c75" /><Relationship Type="http://schemas.openxmlformats.org/officeDocument/2006/relationships/notesSlide" Target="/ppt/notesSlides/notesSlide69.xml" Id="Rc9f06aebac304d4b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81b1578a2c47e5" /><Relationship Type="http://schemas.openxmlformats.org/officeDocument/2006/relationships/hyperlink" Target="https://ceotelangana.nic.in/BYE_GE_2025.HTML" TargetMode="External" Id="Re9a73c1c943648eb" /><Relationship Type="http://schemas.openxmlformats.org/officeDocument/2006/relationships/hyperlink" Target="https://www.gov.uk/government/publications/the-magenta-book/quality-in-qualitative-evaluation-qqe-html" TargetMode="External" Id="Rf212acdda0754c97" /><Relationship Type="http://schemas.openxmlformats.org/officeDocument/2006/relationships/hyperlink" Target="https://www.gov.uk/government/publications/the-magenta-book/magenta-book-central-government-guidance-on-evaluation-html" TargetMode="External" Id="R629c85af3b0b49e6" /><Relationship Type="http://schemas.openxmlformats.org/officeDocument/2006/relationships/notesSlide" Target="/ppt/notesSlides/notesSlide70.xml" Id="Rf6850fbf945e4de9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79f471ec164d74" /><Relationship Type="http://schemas.openxmlformats.org/officeDocument/2006/relationships/notesSlide" Target="/ppt/notesSlides/notesSlide71.xml" Id="R274ef14e02ad48e0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eb89be5f994706" /><Relationship Type="http://schemas.openxmlformats.org/officeDocument/2006/relationships/notesSlide" Target="/ppt/notesSlides/notesSlide72.xml" Id="R7e2eaff3cc844c3c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4382f479d24ff2" /><Relationship Type="http://schemas.openxmlformats.org/officeDocument/2006/relationships/notesSlide" Target="/ppt/notesSlides/notesSlide73.xml" Id="R0ad072e23d1a4b82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efc06d9851402f" /><Relationship Type="http://schemas.openxmlformats.org/officeDocument/2006/relationships/notesSlide" Target="/ppt/notesSlides/notesSlide74.xml" Id="Re6a7aadc1cb04dac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e83c7f15e24bf2" /><Relationship Type="http://schemas.openxmlformats.org/officeDocument/2006/relationships/notesSlide" Target="/ppt/notesSlides/notesSlide75.xml" Id="Rf91bb78e3f894fa3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aebd6322ac455f" /><Relationship Type="http://schemas.openxmlformats.org/officeDocument/2006/relationships/notesSlide" Target="/ppt/notesSlides/notesSlide76.xml" Id="R97c7fc9c09194521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ff2e1ca9ea4edc" /><Relationship Type="http://schemas.openxmlformats.org/officeDocument/2006/relationships/notesSlide" Target="/ppt/notesSlides/notesSlide77.xml" Id="R9951aa7a67db4bc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72C2A"/>
                </a:solidFill>
              </a:rPr>
              <a:t>Reported GHMC seats won · historical150-seat councils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172C2A"/>
              </a:solidFill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2016</c:v>
          </c:tx>
          <c:spPr>
            <a:solidFill xmlns:a="http://schemas.openxmlformats.org/drawingml/2006/main">
              <a:srgbClr val="D5BFA0"/>
            </a:solidFill>
          </c:spPr>
          <c:cat>
            <c:strRef>
              <c:f>'Chart Data'!$A$2:$A$6</c:f>
              <c:strCache>
                <c:ptCount val="5"/>
                <c:pt idx="0">
                  <c:v>TRS</c:v>
                </c:pt>
                <c:pt idx="1">
                  <c:v>BJP</c:v>
                </c:pt>
                <c:pt idx="2">
                  <c:v>AIMIM</c:v>
                </c:pt>
                <c:pt idx="3">
                  <c:v>INC</c:v>
                </c:pt>
                <c:pt idx="4">
                  <c:v>TDP</c:v>
                </c:pt>
              </c:strCache>
            </c:strRef>
          </c:cat>
          <c:val>
            <c:numRef>
              <c:f>'Chart Data'!$B$2:$B$6</c:f>
              <c:numCache>
                <c:formatCode>#,##0</c:formatCode>
                <c:ptCount val="5"/>
                <c:pt idx="0">
                  <c:v>99</c:v>
                </c:pt>
                <c:pt idx="1">
                  <c:v>4</c:v>
                </c:pt>
                <c:pt idx="2">
                  <c:v>44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v>2020</c:v>
          </c:tx>
          <c:spPr>
            <a:solidFill xmlns:a="http://schemas.openxmlformats.org/drawingml/2006/main">
              <a:srgbClr val="A14D25"/>
            </a:solidFill>
          </c:spPr>
          <c:cat>
            <c:strRef>
              <c:f>'Chart Data'!$C$2:$C$6</c:f>
              <c:strCache>
                <c:ptCount val="5"/>
                <c:pt idx="0">
                  <c:v>TRS</c:v>
                </c:pt>
                <c:pt idx="1">
                  <c:v>BJP</c:v>
                </c:pt>
                <c:pt idx="2">
                  <c:v>AIMIM</c:v>
                </c:pt>
                <c:pt idx="3">
                  <c:v>INC</c:v>
                </c:pt>
                <c:pt idx="4">
                  <c:v>TDP</c:v>
                </c:pt>
              </c:strCache>
            </c:strRef>
          </c:cat>
          <c:val>
            <c:numRef>
              <c:f>'Chart Data'!$D$2:$D$6</c:f>
              <c:numCache>
                <c:formatCode>#,##0</c:formatCode>
                <c:ptCount val="5"/>
                <c:pt idx="0">
                  <c:v>56</c:v>
                </c:pt>
                <c:pt idx="1">
                  <c:v>48</c:v>
                </c:pt>
                <c:pt idx="2">
                  <c:v>44</c:v>
                </c:pt>
                <c:pt idx="3">
                  <c:v>2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72C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DD3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C2A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1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DD3"/>
              </a:solidFill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16B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172C2A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72C2A"/>
                </a:solidFill>
              </a:rPr>
              <a:t>2023 winning margins · votes, different opponents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172C2A"/>
              </a:solidFill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Margin</c:v>
          </c:tx>
          <c:spPr>
            <a:solidFill xmlns:a="http://schemas.openxmlformats.org/drawingml/2006/main">
              <a:srgbClr val="165744"/>
            </a:solidFill>
          </c:spPr>
          <c:cat>
            <c:strRef>
              <c:f>'Chart Data'!$A$2:$A$4</c:f>
              <c:strCache>
                <c:ptCount val="3"/>
                <c:pt idx="0">
                  <c:v>Yakutpura</c:v>
                </c:pt>
                <c:pt idx="1">
                  <c:v>Nampally</c:v>
                </c:pt>
                <c:pt idx="2">
                  <c:v>Chandrayangutta</c:v>
                </c:pt>
              </c:strCache>
            </c:strRef>
          </c:cat>
          <c:val>
            <c:numRef>
              <c:f>'Chart Data'!$B$2:$B$4</c:f>
              <c:numCache>
                <c:formatCode>#,##0</c:formatCode>
                <c:ptCount val="3"/>
                <c:pt idx="0">
                  <c:v>878</c:v>
                </c:pt>
                <c:pt idx="1">
                  <c:v>2037</c:v>
                </c:pt>
                <c:pt idx="2">
                  <c:v>81660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72C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DD3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C2A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DD3"/>
              </a:solidFill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16B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72C2A"/>
                </a:solidFill>
              </a:rPr>
              <a:t>Telangana state capital expenditure · ₹crore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172C2A"/>
              </a:solidFill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State capex</c:v>
          </c:tx>
          <c:spPr>
            <a:solidFill xmlns:a="http://schemas.openxmlformats.org/drawingml/2006/main">
              <a:srgbClr val="A14D25"/>
            </a:solidFill>
          </c:spPr>
          <c:cat>
            <c:strRef>
              <c:f>'Chart Data'!$A$2:$A$3</c:f>
              <c:strCache>
                <c:ptCount val="2"/>
                <c:pt idx="0">
                  <c:v>2025–26 RE</c:v>
                </c:pt>
                <c:pt idx="1">
                  <c:v>2026–27 BE</c:v>
                </c:pt>
              </c:strCache>
            </c:strRef>
          </c:cat>
          <c:val>
            <c:numRef>
              <c:f>'Chart Data'!$B$2:$B$3</c:f>
              <c:numCache>
                <c:formatCode>#,##0</c:formatCode>
                <c:ptCount val="2"/>
                <c:pt idx="0">
                  <c:v>36480.87</c:v>
                </c:pt>
                <c:pt idx="1">
                  <c:v>47267.28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72C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DD3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C2A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5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DD3"/>
              </a:solidFill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16B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01E7AD-AB0D-4B69-9376-AB8054B25E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f72dc2d4c14c1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D01A31-798B-4E99-A104-95BCC03E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INDEPENDENT APPLICATION WORK SAMPLE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9BC9CF-0EE6-4B66-BDA4-1DCEF504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657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682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682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682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Hyderabad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461BFC-DC0E-4865-875B-9B307B7F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9055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Power, place</a:t>
            </a:r>
          </a:p>
          <a:p xmlns:a="http://schemas.openxmlformats.org/drawingml/2006/main">
            <a:pPr>
              <a:defRPr sz="36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&amp; public value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4EE3D-41DE-4735-A939-9995E578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1143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4D2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DFB524-52E7-4F9E-98D7-A98736BB9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542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Political dynamics, governance questions</a:t>
            </a:r>
          </a:p>
          <a:p xmlns:a="http://schemas.openxmlformats.org/drawingml/2006/main">
            <a: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and my contribution to Inclusive Minds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C5E6B-9FAC-4FE9-B126-8D49A9CE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86425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MANASH PROTIM DEORI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D9BD6C-6E92-4D39-BED9-47D94F6D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Political consulting · Hyderabad · Cut-off 8 October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70087C-0639-4E33-B3D4-D4A5E8B8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8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Illustrative architecture · No employer or party endorsement</a:t>
            </a:r>
          </a:p>
        </p:txBody>
      </p:sp>
    </p:spTree>
    <p:extLst>
      <p:ext uri="{BB962C8B-B14F-4D97-AF65-F5344CB8AC3E}">
        <p14:creationId xmlns:p14="http://schemas.microsoft.com/office/powerpoint/2010/main" val="3267830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971496-D4A6-4A25-A751-760B8657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EXECUTIVE ASSESSMENT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090E88-AE44-407A-8956-9338B428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8FFAAD-5558-437F-A0B6-543A5D71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M02 · F03 / F07 / F08 / F21 / F22 · I02 / R02 / C02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869F82-DB56-45E9-88F7-2F75E7F7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02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209724-867D-48A7-AC1A-B0498F49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Power, place and public value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46F1DE-2A24-4E1E-BE7B-B29AAA13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Three findings shape my operating perspective. Each requires a different work product.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2F8AC4-8961-4348-BAF6-DF35735C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339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65A316-49E3-4D16-8C87-33848B68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199223-E490-461E-B1E3-EB479981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Power is distributed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45EFA3-4214-4717-9E2B-55FD0484E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335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INC won 64 statewide seats. The deck’s selected 2023 table shows 0 of 15. Primary recheck pending.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307726-828D-426A-A2E7-D6D0305F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33909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1EABB6-2C12-48C4-B2E8-F1D6C61D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2925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00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2CD0A1-8F85-4DD2-BD95-B56EECC6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9595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keep institution-specific election briefs and challenge citywide extrapolation.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72F457-F623-4320-A426-DAAD783C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895600"/>
            <a:ext cx="339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1A369B-5B21-4F01-B8E1-FB44A1F0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06705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5A7223-C74A-45BB-AFAA-6B40F7ED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524250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Place has changed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55F050-9AA3-4E4B-B5AB-3974624CE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267200"/>
            <a:ext cx="335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The 2026 three-corporation structure changes the administrative unit.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F97C60-892B-404F-A4C4-56BC7B08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5305425"/>
            <a:ext cx="33909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B4852F-DA6C-48E3-A0B8-D69AAD85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42925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00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1CFFB8-0880-4572-8735-05D56BBA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569595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version the geography crosswalk before joining service or election data.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D3C00E-0E80-4663-8283-C5B58E75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95600"/>
            <a:ext cx="339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747A2B-2316-4366-8764-AFBE3F4D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6705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97C327-DF11-4C6A-B41D-F986E796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24250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Public value needs proof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9851C1-491F-4D2E-AC95-CABDA220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67200"/>
            <a:ext cx="335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Budget provision is a starting point for implementation scrutiny.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B156DA-78CC-459C-85F5-32306A35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05425"/>
            <a:ext cx="33909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46233F-95E4-4AED-B8DD-77BE8A5A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42925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00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E7529B-0761-42D2-A1B5-4C8964259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9595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track release, delivery and service experience separately.</a:t>
            </a:r>
          </a:p>
        </p:txBody>
      </p:sp>
    </p:spTree>
    <p:extLst>
      <p:ext uri="{BB962C8B-B14F-4D97-AF65-F5344CB8AC3E}">
        <p14:creationId xmlns:p14="http://schemas.microsoft.com/office/powerpoint/2010/main" val="19942068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812960-A1BD-45ED-AE20-919D1BF8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ORGANISATION AND ROLE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364EB-7305-4545-8B37-BA993445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AEE628-C1AB-4254-88DE-21D76290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M03 · F01 / F02 / F34 / F35 · I03 / R03 / C03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CF0D77-203C-495C-81FA-638A45A9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03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6656D1-07CD-4D49-B715-81E2EA5E4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Relevant methods; honest fit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54BA6F-F888-4423-866F-00A06F6D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Inclusive Minds lists analytics, research, strategy, communications, growth and operations. Its Generalist post asks for transferable experience in Hyderabad.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FD78CE-3434-4A37-BA7B-0D94AAAD2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66679E-3538-4684-AA36-AED7B437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Research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D6DF3E-C336-441B-B072-1A969E22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review and structured problem solving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5623A7-9E12-4F33-A288-40D94A263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BF735-E741-4F21-9459-1C4AF94C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Analytics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BE27F5-784C-4F00-9D8D-805311C8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Explicit units, reproducible comparisons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A4119B-12E2-49A2-862B-396C884B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DF7B71-F3CD-45FD-8F63-04ACD718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Delivery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9CE69D-0597-4375-9EA9-5A5F1042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Clear ownership and review handoffs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4FC09F-99F9-4773-B286-46DA6729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Exact requisition and open status unconfirmed. I do not claim knowledge of internal workflows or personal ideological alignment.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9EF03D-0A0D-4F0B-912A-18B8BCAD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C8E520-91DC-4EE6-98AA-6CF7FCE1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3397CA-B206-42CF-B691-4A7F952B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784614-6A74-486C-B020-3D174681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turn research into concise, source-backed briefs and coordinate review across functions.</a:t>
            </a:r>
          </a:p>
        </p:txBody>
      </p:sp>
    </p:spTree>
    <p:extLst>
      <p:ext uri="{BB962C8B-B14F-4D97-AF65-F5344CB8AC3E}">
        <p14:creationId xmlns:p14="http://schemas.microsoft.com/office/powerpoint/2010/main" val="16998133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021434-286D-439B-A59B-92C04CDD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GEOGRAPHIC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AAC4BE-0108-40B0-BF29-B80AE053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4C0C6B-86E5-4A24-B60A-BFEAD156E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M04 · F03 / F04 / F05 / F33 · I04 / R04 / C04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464D47-F1AC-4E18-BB76-3017FC56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04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FFA2D8-1387-4A73-8386-1FAD26CE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Define the unit before the insight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7F3AEF-32FF-4220-BD76-F1FEC33E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District, Assembly seat, Lok Sabha seat, municipal corporation and metropolitan planning region answer different questions.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8A5D26-8076-4DE7-9520-5A2876E8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3A56F6-2BED-4690-BBF9-4E89D862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Electoral lens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2177AD-4E74-43CF-87EB-1F05E272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AC 57–71: declared historical study set; four PCs analysed separately.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E71D7F-86AE-43B7-91A4-C3231F3B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8176D0-EBA6-4C9E-98FE-A8C722E0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Municipal lens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86FB8F-F396-4906-9580-13B8054B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GHMC / CMC / MMC: GO 55,11 February 2026.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A1B4F6-CC6C-46DA-BB3E-AC9E8406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3D6D7F-9FC8-44A6-BC6C-C2F7A355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Planning lens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AD7D6D-9463-455E-B764-989F099C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HMR / FCDA instruments listed 12 March 2025; full crosswalk pending.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6E16B6-3856-43B8-87FA-81BE4999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AC 57–71 is a contiguous administrative-code study set, chosen for a bounded work sample. It excludes other metropolitan seats and is not representative.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F3E2F1-E1D0-4770-B035-975ADE52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15DB44-D3CC-45DB-A4C5-8220CA0C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E6DBCB-B620-4797-A63C-9D327C1A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02D057-D05F-48BE-910C-2F3889BB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create a dated crosswalk with overlap rules, official boundary files and exclusions before analysis.</a:t>
            </a:r>
          </a:p>
        </p:txBody>
      </p:sp>
    </p:spTree>
    <p:extLst>
      <p:ext uri="{BB962C8B-B14F-4D97-AF65-F5344CB8AC3E}">
        <p14:creationId xmlns:p14="http://schemas.microsoft.com/office/powerpoint/2010/main" val="13373413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661D30-F06F-4843-9753-E1761CBD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RESEARCH DISCIPLINE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9EB2A7-9477-458C-86FD-59534075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E543D7-1844-4B39-9B1F-3CCCB21A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M05 · F02 / F20 · I05 / R05 / C05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FFCCA9-FD38-41EC-9323-E0211FD6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05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F447C-46E5-4DC5-96CD-67AC6753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Five gates, one traceable claim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4FE1A9-4071-4E45-9F00-61371E141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Facts, derived numbers, interpretations, hypotheses, proposals and candidate self-reports carry different release standards.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8D2A95-5D30-4D63-90D6-FBE2241D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52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95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87E415-7F2B-4AE6-AC92-F994439F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838450"/>
            <a:ext cx="10001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Provenance and direct support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052A22-C9F3-492A-AFFF-0B1382F7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17182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27CBEA-7D75-48D5-AEA5-F8B48FAC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95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DC05E7-E184-4827-81B0-44E7C6C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257550"/>
            <a:ext cx="10001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Corroboration and lineage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14E073-1986-4561-ABFA-A4D46C488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59092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6E7A17-AF4F-4A30-81AA-6CBAD222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52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95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5ACA19-B6F1-40A8-9CA9-2DD975A3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676650"/>
            <a:ext cx="10001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Date, geography and arithmetic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622266-4606-4D7F-852E-81343B0C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01002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48ECD4-2306-4FA8-94C6-77EDC4FE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52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95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F3E773-2017-48DE-B0DD-4DEEFB57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095750"/>
            <a:ext cx="10001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Inference and alternatives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146C47-D14A-46DB-826F-9458BD66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42912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253F52-9C35-45E5-B561-AE3964993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52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95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E4BF56-4DCE-4737-99F2-4D19C5E4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14850"/>
            <a:ext cx="10001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Feasibility and traceability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E3274F-2BBF-4BB1-ABBC-8D8162A1D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84822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3A0957-B369-49E1-A37D-2D465153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Ten recent audit lenses are self-review, not ten independent confirmations. Earlier 20 content versions remain historical records.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D6C084-284B-407D-A90D-546046E0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78C387-086C-49D5-94D9-B3A5B3E9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C6E2BB-D658-4014-84E4-D7BF816FC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495179-8364-43C3-8656-7A6AE0B37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keep a claim register, contradiction log and refresh queue attached to every brief.</a:t>
            </a:r>
          </a:p>
        </p:txBody>
      </p:sp>
    </p:spTree>
    <p:extLst>
      <p:ext uri="{BB962C8B-B14F-4D97-AF65-F5344CB8AC3E}">
        <p14:creationId xmlns:p14="http://schemas.microsoft.com/office/powerpoint/2010/main" val="18319909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F84863-6461-4E47-8E8C-7DB28095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HISTORICAL TURNING POINTS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2D635-642B-40AE-9C17-70B0F542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676DF9-1F3C-4B97-9B1C-6E3172AF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M06 · F16 / F17 / F18 / F19 / F07 / F03 / F38 / F20 · I06 / R06 / C06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6019A1-FDF7-43C6-A59F-F1313CF0C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06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F1955-C570-431D-8FCA-F46C23AC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The political timeline is not linear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0211D6-E600-4189-819B-357EA4CA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State, civic and by-election records describe different institutions and dates. Later by-elections require a separate event ledger.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578A5-2DA9-47BC-87EB-9FF41D5E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076575"/>
            <a:ext cx="10915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C338BB-45E2-40F8-8107-8F30FD07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4D2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A6B0C5-B551-4EF0-A281-13061F3A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2014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ABE295-23DA-42B7-8AE4-0F1ABDD2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160972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First Assembly: TRS 63 / INC 21. Fresh recheck pending.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A5F85-3A4A-4BC2-A9C1-2D5EAE81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0289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4D2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FEDAD8-6C0A-48F1-A8A3-C2B626CD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2956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2018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9D58C5-7366-4A55-AD10-9E0E41EA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962400"/>
            <a:ext cx="160972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Reported Assembly result: TRS 88 / INC 19.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7E0DD0-E651-4A5E-A10D-CCF0EC45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289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4D2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9D8AB8-0393-4878-A1B6-F3237653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956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2020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5EB07C-6EBF-46CE-A9DE-54B9ABF5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962400"/>
            <a:ext cx="160972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Reported civic result: TRS 56 / BJP 48.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F08458-612E-43C2-877C-400B6A2A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289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4D2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C38A93-531D-4225-B716-F74EC70D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956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2023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42502F-58CF-4A28-8BF5-DA6E0E03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62400"/>
            <a:ext cx="160972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State result: INC 64 / BRS 39.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E47C82-F383-4EEF-B5B8-98D4CA06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289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4D2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1EA5A4-EF4F-4F44-86F3-D6F55458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956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2024–25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E2C886-45EC-4F3B-B8DC-CAF84598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962400"/>
            <a:ext cx="160972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Reported INC bypoll wins: Cantonment, then Jubilee Hills.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0602AD-18CB-4BDD-8600-3685DA95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0289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4D2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C29D92-CB68-4142-B2C2-32D189A3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2956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2026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EB9EAD-BB89-41C8-8247-754BEFB1A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962400"/>
            <a:ext cx="160972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GO 55: three municipal corporations.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ECB169-D82F-499B-85CB-E1C7DF9A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2014 fresh passage pending. Legacy/bypoll results are attributed reporting. No voter switching or current party-strength estimate.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5186C4-91D1-44DC-A9E2-46AC4A7E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CABC54-1C56-4FC9-ADDE-43D092C5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E6A3DA-8120-42AA-B2A0-24DB2686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3B82DF-BC3E-4583-B293-94FCC85A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maintain an event ledger that separates electoral results, office changes, boundary changes and delivery milestones.</a:t>
            </a:r>
          </a:p>
        </p:txBody>
      </p:sp>
    </p:spTree>
    <p:extLst>
      <p:ext uri="{BB962C8B-B14F-4D97-AF65-F5344CB8AC3E}">
        <p14:creationId xmlns:p14="http://schemas.microsoft.com/office/powerpoint/2010/main" val="8354742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DCE74C-05AC-42FE-8038-63861794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GOVERNANCE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64F626-5E32-4714-8E61-9BF9B19B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72C871-18CD-4A86-863F-15DE7CB2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M07 · F03 / F06 / F21 / F30 · I07 / R07 / C07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AEA859-5EC2-4254-8C31-9D64D45C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07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222E0A-18F8-40F6-99E2-7105E7CB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Follow the decision, budget and remedy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C10EC7-D810-4368-8BD9-0811A936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Municipal reorganisation, asset protection, river planning and state budget provision operate through different institutions.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15E0D6-B7E4-4A02-8279-52BA04E0F770}"/>
              </a:ext>
            </a:extLst>
          </p:cNvPr>
          <p:cNvGraphicFramePr/>
          <p:nvPr/>
        </p:nvGraphicFramePr>
        <p:xfrm>
          <a:off xmlns:a="http://schemas.openxmlformats.org/drawingml/2006/main" x="609600" y="2943225"/>
          <a:ext xmlns:a="http://schemas.openxmlformats.org/drawingml/2006/main" cx="10972800" cy="1981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67050"/>
                <a:gridCol w="4029075"/>
                <a:gridCol w="3876675"/>
              </a:tblGrid>
              <a:tr h="39624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Institution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Documented role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Evidence boundary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GHMC / CMC / MMC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Territorial municipal structure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GO 55: zone allocation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HYDRAA / MAUD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Assets and disaster response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Official agency remit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MRDCL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Musi programme vision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Project agency objectives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Finance / scheme bodies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Budget provision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Separate releases and delivery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214C2D-C235-4E9F-8361-DE27AB43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This is a documented-role scaffold, not a complete current statutory responsibility matrix. Case-specific powers need validation.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D94DBE-8F55-4234-95A4-4DDEDC4E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25A18A-9084-4E9D-963F-9EABAD4E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713DD8-5C9E-4F27-BA9E-8CBE2B7C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05DA93-6222-4B8C-B499-B7F1E71D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produce one responsibility sheet for each issue: decision owner, payer, delivery body, review authority and evidence gap.</a:t>
            </a:r>
          </a:p>
        </p:txBody>
      </p:sp>
    </p:spTree>
    <p:extLst>
      <p:ext uri="{BB962C8B-B14F-4D97-AF65-F5344CB8AC3E}">
        <p14:creationId xmlns:p14="http://schemas.microsoft.com/office/powerpoint/2010/main" val="209778899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34A153-1184-42C7-9EEB-0233FC88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ELECTION HISTORY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7DF77F-F93D-4CD2-BB78-B9EBBD15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44A073-E7DE-4769-A18C-1DC9C409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M08 · F18 / F19 · I08 / R08 / C08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29BCE7-C27C-4A3A-B59A-E537D1A1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08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A8998F-6961-4E73-AA2B-303987AC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Different cycles, different baselines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B3344A-D1CB-4341-A563-1F322289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31432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The historical civic council changed from TRS 99 seats in 2016 to 56 in 2020; BJP rose from 4 to 48. AIMIM retained 44.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13B6CB7C-BAA5-48C3-9FC7-284CA1B0B016}"/>
              </a:ext>
            </a:extLst>
          </p:cNvPr>
          <p:cNvGraphicFramePr/>
          <p:nvPr/>
        </p:nvGraphicFramePr>
        <p:xfrm>
          <a:off xmlns:a="http://schemas.openxmlformats.org/drawingml/2006/main" x="4181475" y="2038350"/>
          <a:ext xmlns:a="http://schemas.openxmlformats.org/drawingml/2006/main" cx="7324725" cy="2905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8f6ae762a72466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B43405-F644-49D8-83C7-6D0EC52E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Historical 150-seat GHMC tables, based on two corroborated reporting lineages. They are not 2026 corporation totals.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27F24F-525A-4ADB-A0DD-5D61E09BF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6B76F3-CF15-4CC7-9778-6AEC4EDC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26A0D6-5924-408B-83E4-8D1C1CD0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51FA8B-6A81-4083-8C96-059B8D99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preserve raw election vintages and compare only equivalent units, with candidate and boundary changes recorded.</a:t>
            </a:r>
          </a:p>
        </p:txBody>
      </p:sp>
    </p:spTree>
    <p:extLst>
      <p:ext uri="{BB962C8B-B14F-4D97-AF65-F5344CB8AC3E}">
        <p14:creationId xmlns:p14="http://schemas.microsoft.com/office/powerpoint/2010/main" val="9249461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F0617C-60F5-4540-8E1D-9E207703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2023 ASSEMBLY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6C7FBC-C236-48E0-9AC9-A556DC37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59B434-E09F-42CF-B391-BF399F0D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M09 · F07 / F08 · I09 / R09 / C09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9A9C29-7684-49B1-AC5E-3B6B5E281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09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738BB-E62C-4A52-B3EB-38C41DF2C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The state result did not describe every seat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E1AC9E-B327-4FBA-B0FD-9F4C36AB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INC won 64 of 119 state seats. Within AC 57–71, the winners were BRS 7, AIMIM 7 and BJP 1; INC won 0.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38842F-528F-4FDB-9E4A-C8418356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3381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9583C6-781B-4B1C-9E58-C23ACA6C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47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72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472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472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64 /119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F33B43-7480-4D6B-AA97-5F74412B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INC statewide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4AF320-D4F7-4AE4-A000-7DEE101F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076575"/>
            <a:ext cx="3381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01217E-313B-45F0-B80C-73670DBB3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333750"/>
            <a:ext cx="347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72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472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472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 /15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68AB78-ADEE-4DE5-A5DF-BE9D92CF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219575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INC in selected AC 57–71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12AF39-827A-4B5E-95B0-815A4BA5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76575"/>
            <a:ext cx="3381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BA7740-D8A1-48F5-AE48-C879BF147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33750"/>
            <a:ext cx="347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72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472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472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7 ·7 ·1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D0009F-15FA-46E7-87E4-08AED29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9575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BRS ·AIMIM ·BJP in that set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E8C9CB-AB7B-4DD8-BBB2-6B60E802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Contiguous-code study set AC 57–71, not the full metropolis. Historical result table retained with fresh primary recheck pending.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EBF4E8-E934-4B9D-A38B-BECA556A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A0A31E-2EBA-4E06-A1EB-E1E8BA2E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D03A0D-EA2C-45FD-8317-DB602CD1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5B33A5-C436-47D6-A22C-E1FB517A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write explicitly scoped constituency briefs rather than treating the state mandate as a metropolitan result.</a:t>
            </a:r>
          </a:p>
        </p:txBody>
      </p:sp>
    </p:spTree>
    <p:extLst>
      <p:ext uri="{BB962C8B-B14F-4D97-AF65-F5344CB8AC3E}">
        <p14:creationId xmlns:p14="http://schemas.microsoft.com/office/powerpoint/2010/main" val="194963698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1FAB97-C892-498F-A765-C80BF5EF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2024 LOK SABHA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FDD61-A576-4586-BAD8-7BA2D2253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D88BA5-0848-4C91-B476-0B61BA91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M10 · F12 / F13 / F14 / F15 / F08 · I10 / R10 / C10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22C18D-A7C8-43ED-8582-5D27F158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10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3BE829-7E84-4CCC-B965-F222D1E2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A ballot is an institutional choice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BC7CCB-4C86-4EAF-83FD-C873E02E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BJP won Malkajgiri, Secunderabad and Chevella; AIMIM won Hyderabad in the 2024 results examined here.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EEDA1-C647-4625-A060-F9EC066E5AE2}"/>
              </a:ext>
            </a:extLst>
          </p:cNvPr>
          <p:cNvGraphicFramePr/>
          <p:nvPr/>
        </p:nvGraphicFramePr>
        <p:xfrm>
          <a:off xmlns:a="http://schemas.openxmlformats.org/drawingml/2006/main" x="609600" y="2943225"/>
          <a:ext xmlns:a="http://schemas.openxmlformats.org/drawingml/2006/main" cx="10972800" cy="1981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67050"/>
                <a:gridCol w="4029075"/>
                <a:gridCol w="3876675"/>
              </a:tblGrid>
              <a:tr h="39624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2024 parliamentary seat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Winner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Party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Malkajgiri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Eatala Rajender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BJP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Secunderabad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G.Kishan Reddy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BJP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Hyderabad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Asaduddin Owaisi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AIMIM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Chevella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Konda Vishweshwar Reddy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BJP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60861B-D243-433F-BCC3-592C7077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Four PCs and the 15-seat AC set are not coextensive. Candidate effects, turnout and national context remain rival explanations.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56441A-E57C-4A34-A9D1-41F8948C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B5792F-F392-4984-A6E4-623B28B6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7EA316-8903-42D0-BAAD-86F452D9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E17D2A-E093-40BF-B2F1-61F9D9E1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keep Assembly, parliamentary and civic result series separate, then test possible explanations through approved research.</a:t>
            </a:r>
          </a:p>
        </p:txBody>
      </p:sp>
    </p:spTree>
    <p:extLst>
      <p:ext uri="{BB962C8B-B14F-4D97-AF65-F5344CB8AC3E}">
        <p14:creationId xmlns:p14="http://schemas.microsoft.com/office/powerpoint/2010/main" val="13669568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E0E33D-1377-42A7-AA7A-50395763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POLITICAL 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88FAD7-7041-4546-A862-45816101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BE5538-475E-4627-B622-616E7139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M11 · F09 / F10 / F11 / F20 / F38 · I11 / R11 / C11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AB2525-719A-4FF2-898E-B214FA693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11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EDB77C-87B8-4820-B8A6-21313F1E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Competition has several forms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C4152-B017-43DF-892A-564C0321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31432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Among three examined 2023 seats, margins were 878 in Yakutpura, 2,037 in Nampally and 81,660 in Chandrayangutta.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4AD24F07-17C7-4D07-B4B1-2E4A14BBF0A5}"/>
              </a:ext>
            </a:extLst>
          </p:cNvPr>
          <p:cNvGraphicFramePr/>
          <p:nvPr/>
        </p:nvGraphicFramePr>
        <p:xfrm>
          <a:off xmlns:a="http://schemas.openxmlformats.org/drawingml/2006/main" x="4181475" y="2038350"/>
          <a:ext xmlns:a="http://schemas.openxmlformats.org/drawingml/2006/main" cx="7324725" cy="2905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5ac2057208c4b2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51B936-4C4F-4AA6-9059-0183E0DB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Three selected seats, not a party-wide distribution. Arithmetic agrees internally. Fresh source-row check pending; no voting-motive inference.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1A8B54-76C7-482B-8EA9-0B1DB7B6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C031EC-B555-4B46-84AC-73A1549C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FDF10E-A16D-46CD-B127-F81C7902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FC71C3-C54A-4B54-BA49-D9188A93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distinguish party presence, candidate competition and institutional control; update legal affiliation separately.</a:t>
            </a:r>
          </a:p>
        </p:txBody>
      </p:sp>
    </p:spTree>
    <p:extLst>
      <p:ext uri="{BB962C8B-B14F-4D97-AF65-F5344CB8AC3E}">
        <p14:creationId xmlns:p14="http://schemas.microsoft.com/office/powerpoint/2010/main" val="18872357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1B6497-C8A3-4C75-8D59-F0C3C41C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POLITICAL ECONOMY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F1DFAC-BCDF-4BA3-93DE-AC59013A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CEE3D9-2338-4F92-9DF0-03C306F8F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M12 · F32 · I12 / R12 / C12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B4DD4-021B-47DB-9FC8-18E1667F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12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39A409-A65A-4CCC-9C17-C4F5E438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Cluster presence and access questions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556CB-0D97-4593-9A78-D7DABF22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The state investment portal identifies Genome Valley at Shamirpet and electronics clusters. These locations are useful anchors for questions about jobs and services.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473B03-AECC-4AE2-8DCD-9C219F56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74E71-AD0D-420F-9C3F-06BAB4B2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Production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6C0591-D369-444B-8FCE-ADCAF8A9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Which employers and value chains are documented?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1E720F-F74F-474E-813E-6A1643FA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E88AB1-C076-48D8-84B9-6446965F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Access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488D99-F661-4B68-9029-0A9AA2AF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Who can reach jobs, training and services?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211C59-292B-4139-85B6-0A0AEBA2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1CE4D2-90BB-4056-B425-5961E0ED2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Distribution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7CE35D-B012-4208-8AF8-0420BD49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What evidence shows benefits across places?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D62E5C-6441-45C9-9F28-144B508A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No city GDP, unemployment, export or employment estimate is asserted from a statewide promotional portal.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BB01D5-0673-4234-8537-8F3AF9EE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73FC83-9CC8-4A26-BC1A-05C0231F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B1EF23-2FF4-4278-A253-7C401321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53412A-FAEA-4AB1-87B2-4616D583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build a place-based opportunity brief using verified cluster locations, commuting access and service data.</a:t>
            </a:r>
          </a:p>
        </p:txBody>
      </p:sp>
    </p:spTree>
    <p:extLst>
      <p:ext uri="{BB962C8B-B14F-4D97-AF65-F5344CB8AC3E}">
        <p14:creationId xmlns:p14="http://schemas.microsoft.com/office/powerpoint/2010/main" val="11617115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F066A8-15DD-404F-A66B-CC727401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EMPLOYMENT RESEARCH AGENDA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8854C6-ADF5-4178-B250-B41D23692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C6ED7F-0DB7-4C4E-B48F-8A09B92C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M13 · F32 / F36 · I13 / R13 / C13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32EF15-A1B3-483E-8CEB-776E6687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13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CF443B-00B6-49B4-83E4-FB7EC961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Measure the route from skill to opportunity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626A3-4778-4226-AECC-4952FA47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 sector-growth narrative leaves open questions about vacancies, qualification fit, commute costs, informality and job stability.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A84DC8-4A73-4A99-BDF3-CA26583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2528888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D3AE9F-7E61-46A7-8215-01F9BD6F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25288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B7E8CC-D8F2-46CB-9E57-052211E0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25288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Demand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7E1A70-FA94-47BC-B1CF-ACFCAF6F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2528888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Verified vacancies and skills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1C1923-93A5-419E-8DF5-341066B6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3095625"/>
            <a:ext cx="2528888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3203F9-53B0-416F-9397-1E0BF756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3562350"/>
            <a:ext cx="25288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C8E739-E40A-41B2-8208-4E10079A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3752850"/>
            <a:ext cx="25288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Access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0953E7-6EBC-4A32-89A3-7D20818B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4429125"/>
            <a:ext cx="2528888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Commute, cost and information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991ADE-9CAD-43EB-BF88-705292C9B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095625"/>
            <a:ext cx="2528888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90CDD3-3D38-4B4F-B2BC-869E387D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562350"/>
            <a:ext cx="25288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5A8631-454A-4FD6-8BD5-717DE2C5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752850"/>
            <a:ext cx="25288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Match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FD5899-0CFF-46EC-82EE-67BD9E2F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429125"/>
            <a:ext cx="2528888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Training and placement evidence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DFDAC0-CC27-4A7F-8F9A-4CA5AC48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3513" y="3095625"/>
            <a:ext cx="2528888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61A1C6-F8A8-46D9-8F15-F06CAEFA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3513" y="3562350"/>
            <a:ext cx="25288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579553-2DBA-4D3B-8F8E-69704F0C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3513" y="3752850"/>
            <a:ext cx="25288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Quality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A7B265-7FA5-4D1D-B5DA-E31BCA74A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3513" y="4429125"/>
            <a:ext cx="2528888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Retention, pay and stability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403A6D-0267-4DDD-8545-7B0022F94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Hypothesis: access barriers may vary by location and occupation. Requires local evidence; no demographic or religious political profiling.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390D57-390C-443D-AD9C-8DE65E8F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31A7F5-E4F1-449E-ACA9-9C75F3BE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06D6E3-B3C4-4C5D-925B-B1673D2B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6DFA1B-B26D-4BCE-B7DC-2C9267B4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triangulate employer information, official labour statistics and consented interviews before proposing an access intervention.</a:t>
            </a:r>
          </a:p>
        </p:txBody>
      </p:sp>
    </p:spTree>
    <p:extLst>
      <p:ext uri="{BB962C8B-B14F-4D97-AF65-F5344CB8AC3E}">
        <p14:creationId xmlns:p14="http://schemas.microsoft.com/office/powerpoint/2010/main" val="74066795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9B38C7-FDE8-45EB-BB88-6E851022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HOUSING AND LAND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F0BC46-021D-4719-8373-3652B83D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0F0ED7-49A4-4797-B826-251275B28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M14 · F03 / F33 · I14 / R14 / C14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6F9DE8-F519-4DA2-BE11-DB60696A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14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1C1774-D465-4669-A2FB-74E21E8A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Urban expansion changes the research unit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E85262-25A9-4A7E-93ED-EBDFD5FF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GO 55 changes municipal administration. Separate 2025 planning instruments concern HMR expansion and FCDA. Land questions require parcel-level evidence.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16C4E3-2131-46EF-8FBA-6DAFC069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C1CE6E-67E7-4B98-9318-C0B4A8505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EF2E3F-EEB5-4A67-B2D6-FB815151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Which instrument and vintage?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949300-8ECA-43B5-80A1-AF4FA39C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3C00F2-A3EF-4F93-B5A1-3E316554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Rights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4E363D-D4A8-4CA6-AADB-B8F6C6F2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Which title, approval and record?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81C81B-60A4-4CA5-98C9-F8AD1400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358714-A96A-4079-89CF-1DC6A6B6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Access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810E32-C8AC-411F-A320-5679C7BA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Which housing and service evidence?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CB7305-CDBA-44B8-AB24-E605B2A9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No current land-price trend, household displacement total or legal conclusion is asserted. GO index alone does not establish parcel-specific rights.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AD7E52-6BFE-4F30-9901-5F716201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1864BB-833D-4CF6-A284-610FD289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A067B0-E4CC-43D2-B282-38EBB2C4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0443BE-26AD-49FA-89F8-AE320035A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maintain a boundary-vintage register and verify land, housing, approvals and service claims against the right jurisdiction.</a:t>
            </a:r>
          </a:p>
        </p:txBody>
      </p:sp>
    </p:spTree>
    <p:extLst>
      <p:ext uri="{BB962C8B-B14F-4D97-AF65-F5344CB8AC3E}">
        <p14:creationId xmlns:p14="http://schemas.microsoft.com/office/powerpoint/2010/main" val="166059291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8AD9A6-B1BB-4E4F-989C-1B3B2469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MOBILITY AND FINANCING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DB87ED-3615-49F8-990A-2C527250F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D24B42-8BBB-4317-BB73-AFB4FF18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M15 · F24 / F25 · I15 / R15 / C15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D5C410-38CC-4F90-9D16-5E8639A5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15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5C57A5-5CD1-431E-A346-547226DC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Transport provision is not service access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4AD7E4-6BD4-49BC-9A7F-13046AA3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2026–27 provides ₹600 crore for Metro Phase II and a separate ₹500 crore loan line to HMRL.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720319-7DF4-4477-8BC1-3119D6698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3381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23C2B5-5DEE-47E0-BC43-FD32D924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47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72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472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472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₹600 cr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C13BCA-1372-4A67-8310-A91A93EEF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Metro Rail Phase II ·BE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151D1A-AD3F-48E7-9CEC-B0DA4DC6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076575"/>
            <a:ext cx="3381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CF474A-D249-44B6-B826-0F330B70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333750"/>
            <a:ext cx="347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72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472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472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₹500 cr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99DBA0-D801-4899-9DF2-FF743D41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219575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Loans to HMRL ·BE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3017A0-F5E4-4F04-B0F7-8D0BE3F3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76575"/>
            <a:ext cx="3381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070D77-9E11-4BCC-9BEF-74B78851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33750"/>
            <a:ext cx="34766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Journey access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6162A0-5CEB-4D52-BACA-957B2076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9575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 separate validation question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986894-4D77-424B-ADFC-C364C7DF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Both are budget estimates. Current procurement, central approvals, operating extensions and completion dates are not established by the budget.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E64ADE-551D-4AC2-AB28-CF361932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118619-0CDC-4E5A-AA24-1DD7D3F1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D6D229-1E50-44F6-AB28-C74CB314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CF265B-E275-439E-8BBB-DF8849DCF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track each financing line separately and evaluate access through verified project status, journeys and interchange evidence.</a:t>
            </a:r>
          </a:p>
        </p:txBody>
      </p:sp>
    </p:spTree>
    <p:extLst>
      <p:ext uri="{BB962C8B-B14F-4D97-AF65-F5344CB8AC3E}">
        <p14:creationId xmlns:p14="http://schemas.microsoft.com/office/powerpoint/2010/main" val="144613099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7C094F-9C09-4F1A-8955-10990ABA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WATER AND ENVIRONMENTAL SERVICES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ABB12-58A1-4883-A8A8-8F1F8241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064E0-8D1B-45C8-91C8-0910659E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M16 · F06 / F23 / F30 · I16 / R16 / C16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D72243-9A16-48A1-BBE8-E77CFA72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16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1530A9-30A7-47DB-B2D3-3E6D83AD6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Resilience needs a system 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7824E9-573A-4119-BBCC-319F3811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HYDRAA’s stated remit includes disaster response and public assets. MRDCL’s vision includes sewage treatment, drainage and floodplain measures.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F91768-7B5B-4139-BE0C-8010D803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A9848B-311F-452F-A36E-46F33A93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Hazard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7AD984-81EE-4C50-8D66-FC0A9C04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Rainfall and catchment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47F79E-6483-4A99-9FC8-92003D2E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617ED1-EC03-497D-9FEC-9571FCEC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Infrastructure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9E60E7-C085-422F-B3DF-C316F662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Drainage, sewage and asset condition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9D8697-6A0C-4B8A-9A5C-34371418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3CB0A7-F0F3-4186-813A-19D813AF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Response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6A60A9-465F-46EB-826B-03CC4F9D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Warning, rescue and recovery records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64C87A-DCBA-4415-AFF7-8FF6B3DF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No flood-frequency, water-quality, sewage-treatment or lake-restoration success rate has been verified in this deck.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515789-4A25-4304-8E5F-AD5ED95B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81BFF6-EC27-43F4-9290-0A35550C6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CBEC49-40F3-4207-84CE-2C9EDC53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E2E0A1-8B06-484D-B6DF-A271EBA5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connect rainfall events, drainage records, water-quality evidence and agency responsibilities in one issue brief.</a:t>
            </a:r>
          </a:p>
        </p:txBody>
      </p:sp>
    </p:spTree>
    <p:extLst>
      <p:ext uri="{BB962C8B-B14F-4D97-AF65-F5344CB8AC3E}">
        <p14:creationId xmlns:p14="http://schemas.microsoft.com/office/powerpoint/2010/main" val="27536134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F38E48-3A42-4A9D-BBED-12FE9096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HEALTH, EDUCATION AND WELFARE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3F167-1FEF-477E-A964-FD8AFA90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609EE1-FB4D-4F2B-A7DD-17F1D604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M17 · F29 / F36 · I17 / R17 / C17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2A6B88-EBCC-4710-9F81-E08A58E6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17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C7DF93-3A7F-4264-AB38-AE41E264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Entitlement, access and experience differ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4394D4-1732-451D-B764-5A677F89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State 2026–27 allocations include ₹5,500 crore for Indiramma Houses, ₹4,305 crore for Mahalaxmi RTC and ₹1,143 crore for Rajiv Aarogya Sri.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F635CA-F76D-4749-9403-870CDAD2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2528888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10BFF-B4A5-4885-B01A-B0C72A6B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25288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79DFA9-5A41-4E5B-B0C4-74FF2B49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25288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Eligible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47CE45-4CC3-4541-BAF3-9CE95DB7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2528888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Current scheme rules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E8050A-422C-479E-A3B1-85B5DA1E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3095625"/>
            <a:ext cx="2528888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CADEE5-F77B-4B2B-8A9D-83AF82BA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3562350"/>
            <a:ext cx="25288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2B1C03-FDFF-4892-9323-F6C2E5A9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3752850"/>
            <a:ext cx="25288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Apply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B3CBCC-54EF-4488-83F0-DBD29D5E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4429125"/>
            <a:ext cx="2528888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Documentation and channel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839BE7-1DC3-4C92-8AF0-D211F4AD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095625"/>
            <a:ext cx="2528888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92AD63-AC26-448D-A9CD-7A5C5774E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562350"/>
            <a:ext cx="25288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AC9699-0A91-4D86-8386-7AE59C7B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752850"/>
            <a:ext cx="25288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Receive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7EF8BB-EC2D-4E75-880E-4BF8C50A8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429125"/>
            <a:ext cx="2528888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Timeliness and actual benefit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F23D1E-AB8E-4456-9D57-CB13F6B09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3513" y="3095625"/>
            <a:ext cx="2528888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33EE9C-323C-4EEC-B554-58FF848E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3513" y="3562350"/>
            <a:ext cx="25288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D9E2E0-4A64-4B8C-8624-8395F8CA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3513" y="3752850"/>
            <a:ext cx="25288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Resolve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7E35F8-8745-43A8-B3B6-372D7A46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3513" y="4429125"/>
            <a:ext cx="2528888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Grievance and closure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142AE3-3F11-46AC-AE45-7A7F26B1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StatewideBE, not city spending or beneficiaries. Education outcomes and current scheme eligibility require additional authoritative evidence.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D86971-EA67-4365-9188-05DD53A0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B30877-7F8E-43B2-BEB9-4620B9F1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EF101D-F316-4597-83DB-DA7094DC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92AF45-B075-44BA-A8E2-112A04A6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trace selected service journeys from eligibility to application, receipt, grievance and closure.</a:t>
            </a:r>
          </a:p>
        </p:txBody>
      </p:sp>
    </p:spTree>
    <p:extLst>
      <p:ext uri="{BB962C8B-B14F-4D97-AF65-F5344CB8AC3E}">
        <p14:creationId xmlns:p14="http://schemas.microsoft.com/office/powerpoint/2010/main" val="168868086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95D2BE-7BA6-40D8-BAC8-78E5D70D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PUBLIC FINANCE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C3A6DD-B24B-4DBB-A2BA-3A4B5A16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2E40AD-774E-4BBD-8ABB-1028DC27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M18 · F27 / F28 / F21 / F22 / F23 / F39 · I18 / R18 / C18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BFB99C-F5DA-4FA6-9644-7E461379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18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A28DE2-B77E-47D3-BCEA-E064C65E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Ambition must survive implementation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7F10F6-10C3-4C02-80E4-DE202186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31432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State capex: ₹36,480.87 crore in 2025–26 RE and ₹47,267.28 crore in 2026–27 BE, a 29.6% nominal increase. In 2024–25, PRS reports state revenue receipts 24% below BE.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05DCF9C0-E4D2-461A-A9E7-9EB76E9C67C7}"/>
              </a:ext>
            </a:extLst>
          </p:cNvPr>
          <p:cNvGraphicFramePr/>
          <p:nvPr/>
        </p:nvGraphicFramePr>
        <p:xfrm>
          <a:off xmlns:a="http://schemas.openxmlformats.org/drawingml/2006/main" x="4181475" y="2038350"/>
          <a:ext xmlns:a="http://schemas.openxmlformats.org/drawingml/2006/main" cx="7324725" cy="2905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33589b1a9d47c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D5CD09-8A5F-4BDB-8040-4EE4A0E0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Statewide RE-to-BE comparison. Prior BE-to-actual gap is context, not a forecast. Chart labels round to whole crore; exact values remain in the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B75E25-BDE8-4FC6-8B70-4E0CFC6B3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63570C-0F48-4087-9643-7EFD5183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C9F6F1-3F36-463F-B2A7-E1B441BB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2872EA-F522-43A6-BEC6-414072C4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build a commitments-to-delivery tracker with separate estimate, sanction, release, spend and outcome fields.</a:t>
            </a:r>
          </a:p>
        </p:txBody>
      </p:sp>
    </p:spTree>
    <p:extLst>
      <p:ext uri="{BB962C8B-B14F-4D97-AF65-F5344CB8AC3E}">
        <p14:creationId xmlns:p14="http://schemas.microsoft.com/office/powerpoint/2010/main" val="53885815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7A9B5E-7223-41F4-8621-E1E096B4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POLICY CASE STUDY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31B146-608F-47F1-9AB7-D7D17C37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F4E40B-FA52-4E10-9808-8E453DF9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M19 · F22 / F30 / F31 · I19 / R19 / C19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B94A6-FDA4-41F6-9D81-DAB8EB3C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19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CCC95-C74B-4877-B6B7-F3229362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Musi is an implementation and trust 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7F9BE-55C3-46C6-83A6-D9902A95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MRDCL states environmental and mobility objectives. The March 2026 official conference also acknowledged compensation and livelihood concerns.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51F959-5756-4422-9CE5-0D836AA0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9FE47A-7CD9-4614-922C-DD281CE8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Documented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C317C8-8F60-40CB-8488-C9EB074F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Agency vision; ₹1,500 crore BE; March conference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A77388-0376-400D-B50F-C9E7925F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9AB9D8-AA98-4595-B744-3CC0AB5D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Needs proof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A58B05-E8FD-4392-8521-AE6EC4E0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Awards, disbursement, sewage and water-quality results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6EB913-3062-459C-BBA2-968C84E6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1D5B9-973A-48F9-ACC0-C59F4CBC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Human impact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6B6116-C2B9-41B3-A2B1-F856A588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Compensation, location of rehousing and livelihood access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9DC3C0-CC07-4383-ADA1-42A9CC10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Government objectives/commitments are not proof of outcomes. Current award, construction, compensation and water-quality results remain unverified.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65411C-AC9D-465D-AD60-0C9A290AC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A5B4C8-5B6B-4132-A9F3-EF97C0EB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A3C22C-4713-4B9A-90C1-993BD22E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732BAA-4D42-44D6-B514-AE43DECF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produce a balanced Musi brief: documentary milestone, environmental evidence, household safeguards and unresolved questions.</a:t>
            </a:r>
          </a:p>
        </p:txBody>
      </p:sp>
    </p:spTree>
    <p:extLst>
      <p:ext uri="{BB962C8B-B14F-4D97-AF65-F5344CB8AC3E}">
        <p14:creationId xmlns:p14="http://schemas.microsoft.com/office/powerpoint/2010/main" val="60756678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A0E6EC-3C2E-4601-BECA-90C48C93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POLICY CASE STUDY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D4008-C0E6-4749-BDBC-9F7D34CD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8E4D7F-E737-4A0C-B6B3-91237D26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M20 · F06 / F03 · I20 / R20 / C20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96BDCA-8B90-474C-BDA5-EF041722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20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93EEAE-2FBA-475C-93C3-0FFC529E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Protect assets; verify every case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A3249-FB8E-48ED-817C-52EAB264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HYDRAA describes a CURE-wide asset-protection and disaster mandate. That does not determine the legality or fairness of an individual action.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E17E51-A1B9-48A0-A953-4B64DA06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00770D-C2DE-4971-8942-E89DAB0D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Record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0E5069-88F4-429A-9E30-7659280D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Official site and boundary documentation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8EE877-1BD4-4551-918E-097DE6A7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708711-160D-4BBC-8B78-C1DDBA88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Process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5DED57-DC40-41F1-88ED-F46F4B21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Notice, authority, hearing or review record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905E7B-2585-47F0-A356-C8A86D80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6D5522-6A35-483B-ABF3-477982CB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Outcome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E0AB8E-7718-403C-B339-E01F406F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Restoration, affected livelihoods and remedy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ABA67A-4EB5-4AF7-AA28-00C7D854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No parcel is labelled an encroachment here. Current legal requirements and court orders need counsel/official record review.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2A181E-611E-4ED2-9C09-78DBBB82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511E82-F0E1-4DAB-8690-1B27BAE7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429A0F-4D71-41EC-BE34-C5FB7277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8BC159-7100-436C-BCA5-1BAEAD58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keep a case tracker for the order, boundary record, notice, review route, implementation and independently checked outcome.</a:t>
            </a:r>
          </a:p>
        </p:txBody>
      </p:sp>
    </p:spTree>
    <p:extLst>
      <p:ext uri="{BB962C8B-B14F-4D97-AF65-F5344CB8AC3E}">
        <p14:creationId xmlns:p14="http://schemas.microsoft.com/office/powerpoint/2010/main" val="186371605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AC9066-2B3C-4483-AC1E-63DFFE93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COORDINATION AND POWER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BB1B28-0601-4AB9-B744-07E4CC8E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9D7C7B-BC2B-4F17-9F84-34D2652F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M21 · F03 / F06 / F30 · I21 / R21 / C21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53568C-53D2-430E-85AF-BA55CA2A7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21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67FE3-AECB-4657-8DD6-61B334C1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Accountability needs a named handoff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A7D98-2702-4CF6-8132-35460A9E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Three municipal jurisdictions coexist with programme-specific and CURE-wide bodies. Cross-agency outcomes need an explicit coordination record.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28538-31E4-4E99-B072-CB997AD3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2528888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8A953B-C495-4694-BD61-6AEEA67D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25288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B656A3-E410-4F5A-9E03-943BA1BA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25288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Decide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13B213-B0C8-4B06-BE58-055B87616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2528888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Authority and instrument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C3ABCA-473F-4378-A473-D8F17B1E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3095625"/>
            <a:ext cx="2528888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984CEE-EE5E-495B-93C7-49BCBA8C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3562350"/>
            <a:ext cx="25288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D519EF-D444-4B9B-AEB2-12C94BC1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3752850"/>
            <a:ext cx="25288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Fund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3F63F6-590C-4581-B182-E0F6C672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38" y="4429125"/>
            <a:ext cx="2528888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Release and payment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B1D78D-AB3A-4D40-83AF-6C26F9DB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095625"/>
            <a:ext cx="2528888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CE016A-3162-4C13-8A18-8B06A391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562350"/>
            <a:ext cx="25288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AA03F3-9341-4E51-97D7-8357A457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752850"/>
            <a:ext cx="25288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Deliver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7E956B-F1E7-4AB2-8AB9-52576128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429125"/>
            <a:ext cx="2528888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Execution and service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A2CD47-B068-41ED-A89B-B033420E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3513" y="3095625"/>
            <a:ext cx="2528888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6FD25C-19F0-4203-BF43-2B97314F9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3513" y="3562350"/>
            <a:ext cx="25288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305330-9A34-4C33-AA6D-8F3F59D7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3513" y="3752850"/>
            <a:ext cx="25288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Answer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153961-6769-46A3-A97F-D542C691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3513" y="4429125"/>
            <a:ext cx="2528888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Grievance, review and closure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C3EA79-A8EE-4D53-AC86-2C3E6242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Proposed operating design. Access to officials, internal records and escalation routes depends on employer approval.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34273C-52A9-4492-9F97-9C584BC1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401F2E-F188-4390-8759-CD0774DA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A5AED1-9490-49C0-83B3-26278B9B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2A23B5-0CC6-49DD-BDA3-0E36E88A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assign one issue owner and keep decision, funding, implementation and grievance handoffs visible.</a:t>
            </a:r>
          </a:p>
        </p:txBody>
      </p:sp>
    </p:spTree>
    <p:extLst>
      <p:ext uri="{BB962C8B-B14F-4D97-AF65-F5344CB8AC3E}">
        <p14:creationId xmlns:p14="http://schemas.microsoft.com/office/powerpoint/2010/main" val="125036160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FC9FA7-E0C8-49CD-9A6F-7F802386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INFORMATION QUALITY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9591DE-E4CC-4124-8268-9A27A463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87D1A3-CB95-467C-BE5A-B550F7FB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M22 · F01 / F31 / F20 · I22 / R22 / C22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288BE8-C9E2-4D55-B551-5CAF18BD0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22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7B3AA8-A3E5-4347-917B-A8884C650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Public discourse is evidence about discourse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B97FE5-51BB-442A-A178-A71B826D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Official communications establish stated positions; news reports provide scrutiny. Neither social-media volume nor a few interviews measures public opinion.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C1E3C7-7921-4214-9414-89FED468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44407A-CA4A-4750-B9F2-90CCA76B7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Statement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5F6D43-3F8D-4076-A6C1-E0CB117F7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What was claimed, by whom and when?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C4A93C-E1DC-4323-B384-92E05693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27D880-F3BA-4BD0-9512-AD2AEF63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5FECAA-7991-4455-8D08-DCFFCF4A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Which record supports or contradicts it?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E3C508-829D-4DF1-A863-589764E2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98F754-9484-49DA-838B-667C99EF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Reception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5F6DB6-9ED1-49C9-8866-C7FA4B47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What valid method measures understanding?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C51EAE-1589-4E90-A040-4C15B3DB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Proposed Telugu, Urdu and English review with qualified language support. No claim to my fluency, representative survey, private messages or sentiment baseline.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E610C6-2380-462D-B7B9-C87ED5ED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B01117-78D1-4BCD-A103-9B54B3F7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EEFDDF-68E6-4F50-BBF6-2E65880D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697D8B-DFE5-41AB-9998-9722415A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run a multilingual issue log with source lineage, verified translations, correction status and a representativeness note.</a:t>
            </a:r>
          </a:p>
        </p:txBody>
      </p:sp>
    </p:spTree>
    <p:extLst>
      <p:ext uri="{BB962C8B-B14F-4D97-AF65-F5344CB8AC3E}">
        <p14:creationId xmlns:p14="http://schemas.microsoft.com/office/powerpoint/2010/main" val="133714965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778201-D13E-4798-AF17-DA255143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KNOWN, DISPUTED AND UNKNOWN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210251-F722-4DA8-9003-21F2246B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0BDCFC-B49A-4684-8754-F87D7B53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M23 · F03 / F07 / F20 / F27 / F38 · I23 / R23 / C23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073A16-1A42-4254-A39D-6B65110B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23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4C4D3-7660-42F2-8B90-CD0793AE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Uncertainty is a research queue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C7F99-1087-42DA-9664-AF61FB20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Results and notified geography are strong anchors. Service performance, legal status and representative experience need separate current evidence.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21DD68-B586-4319-91A7-C2E5CA025955}"/>
              </a:ext>
            </a:extLst>
          </p:cNvPr>
          <p:cNvGraphicFramePr/>
          <p:nvPr/>
        </p:nvGraphicFramePr>
        <p:xfrm>
          <a:off xmlns:a="http://schemas.openxmlformats.org/drawingml/2006/main" x="609600" y="2943225"/>
          <a:ext xmlns:a="http://schemas.openxmlformats.org/drawingml/2006/main" cx="10972800" cy="1981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67050"/>
                <a:gridCol w="4029075"/>
                <a:gridCol w="3876675"/>
              </a:tblGrid>
              <a:tr h="39624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Status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Evidence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Next action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Supported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2023 state totals, GO 55, 2026–27 BE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Keep document date and scope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Pending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15-seat rows, three margins, 2014 passage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Obtain readable primary passages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Reported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2024 Cantonment / 2025 Jubilee wins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Official declarations / Form 20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Unknown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Current civic roster and service outcomes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Assign official record refresh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8580BD-12DC-4B76-AAAE-9DDECCA7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Verification status is record-specific. A source index or correct calculation does not clear an unread original passage.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BCE0A8-47AA-40CE-9743-FCDB2545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DE228E-8374-4B25-9567-280C3644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602852-BCF6-48D3-9E00-785E81D3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2F8F83-B6C2-4E50-97C7-6501FA51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maintain explicit expiry rules and assign a validation task to each consequential unknown.</a:t>
            </a:r>
          </a:p>
        </p:txBody>
      </p:sp>
    </p:spTree>
    <p:extLst>
      <p:ext uri="{BB962C8B-B14F-4D97-AF65-F5344CB8AC3E}">
        <p14:creationId xmlns:p14="http://schemas.microsoft.com/office/powerpoint/2010/main" val="156363614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CE32B1-2B66-4C4C-BC6C-C996CC39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PRIORITISED RESEARCH AGENDA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CA8DE0-93EB-40E7-8EE1-90C04251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CCC273-1720-457F-9182-734E5693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M24 · F03 / F20 / F21 / F30 · I24 / R24 / C24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962033-4975-45A2-B800-B727D4EA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24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484741-7CD9-4CAC-B5DD-9AD22B9F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Start where errors change decisions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DC4E68-71FA-4D8E-97D8-589BD376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 would sequence work by the risk of misclassification, decision relevance and dependency—not a fabricated electoral opportunity score.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824E0D-F402-40EE-907A-4F9F8E8C4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619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8050FD-0D4D-4486-A586-FE2F378DE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24175"/>
            <a:ext cx="342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Geography and current status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C14593-9777-4C35-8601-A3810551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971800"/>
            <a:ext cx="628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Boundary files; official roster; civic notification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454CD2-A170-4814-A0EF-945CD04B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343275"/>
            <a:ext cx="1014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AB8669-9EFE-4037-BAA8-1F6596E3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619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0687F4-BD7D-49E1-BC0D-00A000E0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29000"/>
            <a:ext cx="342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Urban delivery ledger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736298-4EC5-4FB4-83EE-97BB8967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476625"/>
            <a:ext cx="628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Release, award, spend and completion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3CB926-1957-4B12-9C62-84557AE0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48100"/>
            <a:ext cx="1014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8BD8F0-5BA1-44FD-ACC0-1E8973E7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619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9EEDB7-1B0F-416F-99DA-61F494A0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33825"/>
            <a:ext cx="342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Musi / HYDRAA case briefs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8AF984-F57E-47C3-ADCC-95BE3E746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981450"/>
            <a:ext cx="628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Environmental, livelihood and process records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2D9A8D-C31F-46AE-A938-A6A9F27D9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52925"/>
            <a:ext cx="1014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5B6D3B-49B8-4351-A75D-9CE7C7C3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619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74C65F-F8AE-4AD2-B6DA-2701C35B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438650"/>
            <a:ext cx="342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Service-access validation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E8B1B0-D1C2-4760-A7E6-97F760C7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486275"/>
            <a:ext cx="628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Approved interviews and administrative 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7989C7-4EA8-40DA-A69D-9B83206F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857750"/>
            <a:ext cx="1014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79330C-E0D4-4852-9FB1-82A7929D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Proposed priority order; not measured demand or a promise of access.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24F408-9B65-4513-93D3-A367CE155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634AB7-70E7-4AD9-978D-F91E6D18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0D4D68-EBB8-4404-984C-CCAAF4AE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AB6B5F-D26F-429B-8457-CD17CCF2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agree the first research backlog with my manager and publish owners, dependencies and stop conditions.</a:t>
            </a:r>
          </a:p>
        </p:txBody>
      </p:sp>
    </p:spTree>
    <p:extLst>
      <p:ext uri="{BB962C8B-B14F-4D97-AF65-F5344CB8AC3E}">
        <p14:creationId xmlns:p14="http://schemas.microsoft.com/office/powerpoint/2010/main" val="182899302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5160FA-B081-4988-99D0-E40102AC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PRODUCED EVIDENCE BRIEF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3C5CE0-0AEF-4295-A1A1-D4D4D91D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04FD0F-38A0-4F3D-9F21-D34861CC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M25 · F21 / F22 / F23 / F24 / F25 / F26 / F40 / F41 · I25 / R25 / C25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4477D-CFCE-40C7-B9E2-0D677162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25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B757B6-1995-4AB2-BC51-8F0A4FC9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A work sample you can inspect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9ECB62-8009-425D-BC04-69DCA4DA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Six selected urban-related 2026–27 budget lines form a source-linked tracker. They are a prototype, with open implementation fields.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722ED7-9ED6-47A6-B2B3-49092590D3A8}"/>
              </a:ext>
            </a:extLst>
          </p:cNvPr>
          <p:cNvGraphicFramePr/>
          <p:nvPr/>
        </p:nvGraphicFramePr>
        <p:xfrm>
          <a:off xmlns:a="http://schemas.openxmlformats.org/drawingml/2006/main" x="609600" y="2800350"/>
          <a:ext xmlns:a="http://schemas.openxmlformats.org/drawingml/2006/main" cx="10972800" cy="2133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86275"/>
                <a:gridCol w="1647825"/>
                <a:gridCol w="1809750"/>
                <a:gridCol w="3028950"/>
              </a:tblGrid>
              <a:tr h="304800"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Budget instrument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2026–27 BE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Verified stage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38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Spend / outcome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H-CITY assistance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₹2,654 cr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BE only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Unknown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Musi development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₹1,500 cr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BE only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Unknown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HMWSSB development loans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₹1,450 cr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BE only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Unknown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Metro Phase II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₹600 cr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BE only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Unknown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HMRL loans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₹500 cr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BE only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Unknown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20 KL reimbursement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₹300 cr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BE only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13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Unknown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E1CE2E-5158-4A34-8472-2155CCC9D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PRS: 2024–25 state urban-development actuals −56% vs BE, transport −33%. Historical context, not 2026–27 delivery.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AA4CEF-4C5D-4CC1-B936-7E062D05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83525C-9D04-4CFD-94DE-7123EFB2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95FCB4-3BCA-4C0A-B5BB-428ED215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FDB2F1-0D47-4AE1-BE39-80775151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maintain the baseline as a reviewed weekly brief, recording each new document and change in status.</a:t>
            </a:r>
          </a:p>
        </p:txBody>
      </p:sp>
    </p:spTree>
    <p:extLst>
      <p:ext uri="{BB962C8B-B14F-4D97-AF65-F5344CB8AC3E}">
        <p14:creationId xmlns:p14="http://schemas.microsoft.com/office/powerpoint/2010/main" val="555171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E1E303-411F-486D-875D-5D82316B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MY PROPOSED OPERATING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BCF416-49A5-4426-AC1B-071FBBB4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30D285-5B73-4767-A19E-F43B3C61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M26 · F35 / F36 / F01 · I26 / R26 / C26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6DE457-D82C-46F8-97F5-BD1CC262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26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0E582A-EE08-4D8D-944A-89703ACB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One workflow from discovery to refresh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9DBD6E-E0FB-4DC8-ADD1-696C2185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An insight should retain its evidence, uncertainty and accountable next action as it moves between research and delivery teams.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6BD955-1480-47C9-90C5-B7BF6042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196596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4F52B3-C240-483E-8FAD-2C141697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9659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4AA616-FBB4-4155-B651-FEF2A945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19659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Discover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0B5584-91E2-475C-A78B-00304B71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96596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Question and original record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E75DDC-DFDA-47BB-ABB8-C65CD481E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1310" y="3095625"/>
            <a:ext cx="196596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66FCDD-9A33-41A7-A30F-DE78D269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1310" y="3562350"/>
            <a:ext cx="19659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2370C2-B945-4CC8-A729-24DD4B86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1310" y="3752850"/>
            <a:ext cx="19659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Verify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C59A6D-01A2-46B4-9FE5-B6528116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1310" y="4429125"/>
            <a:ext cx="196596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Source status and contradictions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E3FE7B-A877-4045-8F6A-D8105ED0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3095625"/>
            <a:ext cx="196596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AB5AEC-40F6-45CA-A05F-FCAE295C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3562350"/>
            <a:ext cx="19659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4DDEEB-CAC6-45EA-858F-34C2FF49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3752850"/>
            <a:ext cx="19659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Synthesize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559976-1387-4628-AD2D-E39EFBCC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429125"/>
            <a:ext cx="196596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Finding and rival explanation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EDD8E6-C966-431B-81E7-D8498FA5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095625"/>
            <a:ext cx="196596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C9163C-8DC0-47CE-992C-5CD825F74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562350"/>
            <a:ext cx="19659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5CCB09-09D6-45FB-B620-77E0CE23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752850"/>
            <a:ext cx="19659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Review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AEEE04-304E-4B28-A889-75F09787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429125"/>
            <a:ext cx="196596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Acceptance and correction closure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90F8D3-7C4D-485B-9666-5228503B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6440" y="3095625"/>
            <a:ext cx="196596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A14D25"/>
                </a:solidFill>
                <a:latin typeface="Bitstream Charter"/>
                <a:ea typeface="Bitstream Charter"/>
                <a:cs typeface="Bitstream Charter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4CD4F5-4B1A-42AA-ABCB-0414A8F2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6440" y="3562350"/>
            <a:ext cx="19659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389D72-2D94-4A98-A16B-35550B05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6440" y="3752850"/>
            <a:ext cx="19659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Refresh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6A88F2-6F70-4C91-BF53-E765637F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6440" y="4429125"/>
            <a:ext cx="196596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Named owner and expiry trigger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3EBD27-2D32-46A3-96F3-92A5707B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Owner: me under a research lead. Depends on approved repositories and reviewers. Fall back to a shared spreadsheet if tooling is limited.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919668-14AD-4707-B46E-8ED7BDA5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2AEB50-FA47-4303-98AC-3931CF81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27831F-6A2C-4F9B-8755-6E09D1A7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EB4FA5-792F-46FC-A933-7825348F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introduce a short daily triage and a manager-reviewed weekly research brief with a correction log.</a:t>
            </a:r>
          </a:p>
        </p:txBody>
      </p:sp>
    </p:spTree>
    <p:extLst>
      <p:ext uri="{BB962C8B-B14F-4D97-AF65-F5344CB8AC3E}">
        <p14:creationId xmlns:p14="http://schemas.microsoft.com/office/powerpoint/2010/main" val="28821196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2EE25E-29E5-4066-A641-7D850393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ONBOARDING PROPOSAL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BD67CB-8069-4A5F-A627-67DF8E2F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41BFE5-28A0-44A6-9559-4329B4D9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M27 · F03 / F35 / F36 · I27 / R27 / C27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B84EB6-35AD-4D49-8634-E9D58A24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27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14992B-AA39-4E6D-8F82-6687784E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First 30 days: a defensible baseline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98AC5-A93E-402D-A60A-405667B6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 would establish the geography, source inventory and reporting rhythm before committing to broad field conclusions.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3D14EF-9970-487D-B5C4-EE87D234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AFD3C4-0A86-497E-90FC-1D6D610D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Week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BD3F5B-A799-4C39-8805-C1D837CD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Role and geography alignment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04FE4-A338-460E-B37A-914CB92E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3441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Agree scope, records and reviewer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1B552B-E3CB-46E1-96F4-FBC83860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F52331-91C5-4A9C-A3FB-3CF37969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Weeks 2–3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453A6-F83A-4E62-897B-D93E9297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One bounded pilot brief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9DF0BF-6AD5-4FCA-A55A-A81BF6E3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4676775"/>
            <a:ext cx="3441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Log effort and review acceptance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A761FE-6DDA-4E82-83A8-F793320F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E01D44-2664-49F4-A8DE-F8C13DB7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Week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D29976-2C18-4B50-A30B-253FE856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Capacity and backlog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AD7A9A-DE23-4166-AC16-E30060FF1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4676775"/>
            <a:ext cx="3441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Agree further outputs from the pilot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D1052D-CB7F-44F3-AAC1-3D5531A2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About 10 focused hours/week is a planning envelope to agree. Four briefs remain a conditional capacity target, not a promised output.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BBAF70-E6BC-4F40-9B1E-DDDD7445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8E2663-DAE4-4FD2-873E-168D9987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1CB08A-E2F2-446F-9374-AFAC36F6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EB293D-9355-46B2-8167-713783EB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build the registers and one reviewed pilot brief, log sourcing and review effort, then agree the brief count with my manager.</a:t>
            </a:r>
          </a:p>
        </p:txBody>
      </p:sp>
    </p:spTree>
    <p:extLst>
      <p:ext uri="{BB962C8B-B14F-4D97-AF65-F5344CB8AC3E}">
        <p14:creationId xmlns:p14="http://schemas.microsoft.com/office/powerpoint/2010/main" val="147033742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0604DF-9844-4412-8AD4-CAB123D4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RESEARCH VALIDATION PROPOSAL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2CCEBF-5F3C-4E8D-BDFD-8E93E446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8D7F09-3D53-484F-AF3B-8C19E4EE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M28 · F30 / F31 / F06 / F36 · I28 / R28 / C28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8B204D-C74C-46DD-A108-7B792F00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28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82F70B-0BBA-4000-BD8A-05B36088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Days 31–60: validate the weak links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3468F4-FBED-4AA8-9E1C-FCD46566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 would test the highest-impact gaps through authorised records, agency clarifications and consented qualitative research.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26A0B5-FDA5-4545-B86F-859620C55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25003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623FC3-1194-4A97-8929-8AAE4F1C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2500313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Validate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C44B3A-678A-4B00-A646-04C34250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2500313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Update two case briefs if access allows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CD6CE2-7E07-4C07-8FDB-26210EF1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3114675"/>
            <a:ext cx="25003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C11848-22E7-4348-A9D6-DCE6FE43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3343275"/>
            <a:ext cx="2500313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Select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B48207-AF17-4ADF-BB73-954EC62A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4019550"/>
            <a:ext cx="2500313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Purposive 5–8 interview pilot if approved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E79E0D-80B2-4D37-8048-570B552E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114675"/>
            <a:ext cx="25003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543FF3-DD78-4344-B98E-51DE79DE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343275"/>
            <a:ext cx="2500313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Document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C4A53F-39FC-456F-93D9-46A4B80E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019550"/>
            <a:ext cx="2500313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Missing voices, language review, stopping rule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4A3ECE-4FC8-40BB-A50E-03BC7C67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3114675"/>
            <a:ext cx="25003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DB4AD1-CFB3-4CF9-98D6-4120F98E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3343275"/>
            <a:ext cx="2500313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95C242-2BBB-4162-9E59-5764D643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4019550"/>
            <a:ext cx="2500313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Context only, no survey percentages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9A06B3-132F-4FA9-A70B-FE4B5D67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Exploratory planning range. Define question, inclusion, consent, language support and stopping rule; no assured representativeness or saturation.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A9D9FE-9C57-4E40-8998-063A9EB3F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BE2834-2819-4571-AFB5-379761D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E9CF93-56B9-414E-9197-C6518339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E70DA6-9B7B-47B1-A097-25BD49B5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refine two case studies and test interview guides with qualified local-language support.</a:t>
            </a:r>
          </a:p>
        </p:txBody>
      </p:sp>
    </p:spTree>
    <p:extLst>
      <p:ext uri="{BB962C8B-B14F-4D97-AF65-F5344CB8AC3E}">
        <p14:creationId xmlns:p14="http://schemas.microsoft.com/office/powerpoint/2010/main" val="25909313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36A495-D70F-4CE2-8568-73C7696E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OPERATIONAL LEARNING PROPOSAL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ACDBA6-4D80-4425-9DB3-4BC33A4A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A2F124-8359-42AD-B50C-D1CE430C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M29 · F35 / F36 · I29 / R29 / C29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37FC83-1469-4CB9-83B6-297C598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29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B3ED4D-E52F-4747-9FE0-3B1C450B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Days 61 to 90: improve and hand over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763F5-9CB2-4AB4-ADEA-1B173C53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 would evaluate evidence quality and turnaround against the first-month baseline, then hand over a reusable research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DC08D6-1915-4AEF-94DE-161F2418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25003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49C61C-A29F-446C-A157-457223BE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2500313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Quality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F690DC-E335-4918-AF46-812ACC28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2500313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Unsupported claims per audited 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DB01FD-F24F-46A7-9803-C3CFBF2D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3114675"/>
            <a:ext cx="25003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003C88-9495-4144-BA71-448D2A15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3343275"/>
            <a:ext cx="2500313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Closure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74606A-1EC0-4F5C-8EBA-6994E73E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4019550"/>
            <a:ext cx="2500313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Closed corrections / logged corrections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48B4A8-E3B4-4CFF-8F3C-1E3A2758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114675"/>
            <a:ext cx="25003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FE40CA-FAA0-4D3D-9255-D01BFAE1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343275"/>
            <a:ext cx="2500313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Speed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26CC3B-64A7-4297-A2DC-74D82618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019550"/>
            <a:ext cx="2500313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Time for comparable reviewed briefs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B74270-7F33-448D-AE31-734DD0B0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3114675"/>
            <a:ext cx="25003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853F39-D089-4DC9-8DFD-A525A4D1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3343275"/>
            <a:ext cx="2500313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Handover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C2F04E-4378-455D-9CED-298E60CF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2088" y="4019550"/>
            <a:ext cx="2500313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Owner, expiry and next evidence task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6A45E4-9C31-468E-9116-F21CD4BE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Agree denominators and compare similar briefs. More detected errors can reflect better review; counts alone do not measure improvement.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18DB25-39E6-4137-A37C-CC6AF12F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7EE1A0-D0EA-4B28-9C7A-2B3877D8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06908D-27F6-42BD-84DC-768C9A14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8D7A90-4AC7-4B8A-9569-F66AF2623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deliver a reviewed atlas scaffold, refresh calendar, two refined case briefs and an onboarding guide.</a:t>
            </a:r>
          </a:p>
        </p:txBody>
      </p:sp>
    </p:spTree>
    <p:extLst>
      <p:ext uri="{BB962C8B-B14F-4D97-AF65-F5344CB8AC3E}">
        <p14:creationId xmlns:p14="http://schemas.microsoft.com/office/powerpoint/2010/main" val="149502848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3AB091-7545-4E90-A2FD-D69AA92E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MY CONTRIBUTION AND LEARNING GAPS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B819BF-EFFE-4979-9FEB-CBD2E824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17B5AD-7E6B-4D59-90EA-D5A76966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M30 · F34 / F35 / F36 · I30 / R30 / C30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6E02A3-1B16-47F6-A13C-F7765C2E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30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8B37B6-4C19-4A84-902C-3D0CEAD2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Experience is evidence; transfer is a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D3F72D-6948-4F27-AFE1-A554F2CA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My resume reports political-intelligence review work, cross-functional coordination and a Meghalaya public-distribution modelling project.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3BF99E-43BD-4A4A-9372-22FC228B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F68F53-75EB-429F-BA68-14EC64E3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What I bring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90129-ED85-408F-8A51-DF572694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review; modelling; clear handoffs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3F2570-017D-47FC-B3D3-936A4F03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6F3D1B-98E3-49D0-949B-05220D28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What I must learn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756D3-4757-485F-A5DA-7DA26E04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Local context; current rules; language support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69AE2F-8BB4-42B6-A646-ECA2A6BB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53A2FD-C0BD-4489-AA77-68C65466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How I would prove fit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0B7162-AAC0-4646-A8DE-AC7EB19A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 bounded first-month brief and review pilot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D94391-B17C-49D9-95C4-F14C7BFD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No independent audit of CV outcomes. No claim to local-language fluency, Hyderabad field networks or guaranteed political impact.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5A813A-2D59-469A-8712-4872731F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5428A3-814F-4CBE-A2BC-0ED23B28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E2E808-73FB-4AF1-B320-9E090772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D0F4D0-E2A8-4C1C-8F5E-782728CA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bring structured research and operational discipline, while building Hyderabad context through supervised local learning.</a:t>
            </a:r>
          </a:p>
        </p:txBody>
      </p:sp>
    </p:spTree>
    <p:extLst>
      <p:ext uri="{BB962C8B-B14F-4D97-AF65-F5344CB8AC3E}">
        <p14:creationId xmlns:p14="http://schemas.microsoft.com/office/powerpoint/2010/main" val="126957650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DFDC7F-7E36-4A0F-8D5F-02097262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CLOSING PROPOSITION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7229EB-6158-4292-A720-3790733C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047B35-4261-472B-BE7E-3DE26839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M31 · F35 / F36 / F02 · I31 / R31 / C31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6764FA-60C9-4569-B164-E8178E10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31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A418A5-D396-44E7-A372-1BFB4B34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96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Interview me for the work product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0ADDD6-3E1A-4B4F-BCEB-7FD776B7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156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 can offer a careful research perspective, traceable synthesis and a practical path from analysis to a reviewed brief.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A71F5D-0167-4413-9967-0D80CC6E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52736E-C462-4977-84DF-822D7216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Precision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6F4F66-8550-491F-B9E5-61591099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 define the institution, boundary and date.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94D47D-1FF8-4103-9633-2DDA049C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DC992-9425-433B-B3F5-56A66CAD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Judgment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5716CF-3F83-4DA2-9F38-AA6114E9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 separate results, inference and uncertainty.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F98B9F-CFE4-4FC3-9C01-9B06DEB3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114675"/>
            <a:ext cx="3441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154B37-A1AF-4599-B542-74F4B5FC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343275"/>
            <a:ext cx="3441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Execution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33CE25-0AC2-4FBF-94FD-28980715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4019550"/>
            <a:ext cx="3441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 leave an owner, deliverable and validation path.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1592D5-9281-4746-9FB4-2B07C456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13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Fit and priorities must be tested with the actual hiring team.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F8E953-AF1F-4165-B042-3B6E0ADA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57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06CBDF-B4A8-43E8-A580-72AF32FE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81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D933EB-2469-4568-BB8A-2893F358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534025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HOW I WOULD CONTRIBUTE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23995E-1D86-43B4-B345-D53E3EB2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791200"/>
            <a:ext cx="10334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I would welcome a discussion of one issue brief, its strongest counterargument and the first work product the team needs.</a:t>
            </a:r>
          </a:p>
        </p:txBody>
      </p:sp>
    </p:spTree>
    <p:extLst>
      <p:ext uri="{BB962C8B-B14F-4D97-AF65-F5344CB8AC3E}">
        <p14:creationId xmlns:p14="http://schemas.microsoft.com/office/powerpoint/2010/main" val="104549333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172C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A22CEE-DC14-49E7-BA4A-B367791C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MANASH PROTIM DEORI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EE1106-92D8-4FE5-800D-D42A6D31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1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2DA45E-6575-4479-B0F9-B5EA5DD9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M32 · F37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D53A75-75F8-4373-8814-7923878B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32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29C0DD-C939-4160-8DE7-11CFA7D0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90487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6600" b="0">
                <a:solidFill>
                  <a:srgbClr val="F8F5ED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6600" b="0">
                <a:solidFill>
                  <a:srgbClr val="F8F5E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6600" b="0">
                <a:solidFill>
                  <a:srgbClr val="F8F5ED"/>
                </a:solidFill>
                <a:latin typeface="Bitstream Charter"/>
                <a:ea typeface="Bitstream Charter"/>
                <a:cs typeface="Bitstream Charter"/>
              </a:rPr>
              <a:t>Thank you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6AD761-139D-453D-9159-1F013E47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819400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For considering my application to Inclusive Minds.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310FB4-3ADD-4483-971A-48CEBBEB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705225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MANASH PROTIM DEORI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2C4072-B346-42D4-BF8A-E29C1807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0767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Political consulting · Hyderabad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435FDE-580F-4107-9AC0-379AB95F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6672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F8F5ED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80718acf050a4ae5"/>
              </a:rPr>
              <a:t>manashdeori09@gmail.com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24B81-89D3-4136-8A15-C1443B4D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0863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8F5ED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9b249e132c1a4ce6"/>
              </a:rPr>
              <a:t>linkedin.com/in/manash-protim-deori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37A91F-F039-4C6A-BEEB-BBE82AB9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95312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Evidence, reasoning and limitations follow in the appendix.</a:t>
            </a:r>
          </a:p>
        </p:txBody>
      </p:sp>
    </p:spTree>
    <p:extLst>
      <p:ext uri="{BB962C8B-B14F-4D97-AF65-F5344CB8AC3E}">
        <p14:creationId xmlns:p14="http://schemas.microsoft.com/office/powerpoint/2010/main" val="209209832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172C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320DA2-76B7-453E-9E35-E2222EA9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APPENDIX NAVIGATION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2107E7-11E8-483E-AA84-ADF11ECE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61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729978-3BB1-4154-B936-FD5E9966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A01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FE686-42F1-4A72-B648-BDD94DD6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33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7C3008-D25A-4A2C-946F-AE4F6459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6680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0">
                <a:solidFill>
                  <a:srgbClr val="F8F5ED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5400" b="0">
                <a:solidFill>
                  <a:srgbClr val="F8F5E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5400" b="0">
                <a:solidFill>
                  <a:srgbClr val="F8F5ED"/>
                </a:solidFill>
                <a:latin typeface="Bitstream Charter"/>
                <a:ea typeface="Bitstream Charter"/>
                <a:cs typeface="Bitstream Charter"/>
              </a:rPr>
              <a:t>The argument,</a:t>
            </a:r>
          </a:p>
          <a:p xmlns:a="http://schemas.openxmlformats.org/drawingml/2006/main">
            <a:pPr>
              <a:defRPr sz="5400" b="0">
                <a:solidFill>
                  <a:srgbClr val="F8F5E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5400" b="0">
                <a:solidFill>
                  <a:srgbClr val="F8F5ED"/>
                </a:solidFill>
                <a:latin typeface="Bitstream Charter"/>
                <a:ea typeface="Bitstream Charter"/>
                <a:cs typeface="Bitstream Charter"/>
              </a:rPr>
              <a:t>made inspectable.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181C20-9C3C-4021-9A21-7D330703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1910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5BFA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D5BFA0"/>
                </a:solidFill>
                <a:latin typeface="DejaVu Sans"/>
                <a:ea typeface="DejaVu Sans"/>
                <a:cs typeface="DejaVu Sans"/>
              </a:rPr>
              <a:t>Sources · Calculations · Reasoning · Contribution · Review trail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556202-6752-4F10-ACD9-6E5159DF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9339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30 sources. 41 factual records. 131 registered items.</a:t>
            </a:r>
          </a:p>
          <a:p xmlns:a="http://schemas.openxmlformats.org/drawingml/2006/main">
            <a:pPr>
              <a:defRPr sz="1800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10 recent self-review lenses.</a:t>
            </a:r>
          </a:p>
          <a:p xmlns:a="http://schemas.openxmlformats.org/drawingml/2006/main">
            <a:pPr>
              <a:defRPr sz="1800" b="0">
                <a:solidFill>
                  <a:srgbClr val="F8F5E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8F5ED"/>
                </a:solidFill>
                <a:latin typeface="DejaVu Sans"/>
                <a:ea typeface="DejaVu Sans"/>
                <a:cs typeface="DejaVu Sans"/>
              </a:rPr>
              <a:t>20 historical content versions retained.</a:t>
            </a:r>
          </a:p>
        </p:txBody>
      </p:sp>
    </p:spTree>
    <p:extLst>
      <p:ext uri="{BB962C8B-B14F-4D97-AF65-F5344CB8AC3E}">
        <p14:creationId xmlns:p14="http://schemas.microsoft.com/office/powerpoint/2010/main" val="42055339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E872FE-DE91-4246-8B0F-2B7FF16D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VERIFICATION STANDARD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A4B735-629B-4DA7-8034-AC613B0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1575A2-1D68-45F6-9F51-F0140FDF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A02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31BE91-4548-450A-81F8-FE0BA5368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34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069465-9D5D-461A-9B73-07F1508E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Evidence status and release conditions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4CD9C7-70C0-44AE-8E1A-316A2E33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Provenance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CB00E8-25A3-47D3-BF35-9ED642F6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8097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Supported, Qualified or Blocked for each record. An unread original is not cleared by correct arithmetic.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902BB0-488C-4810-8437-5A2EAC8A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F9E60B-5353-49BF-81F0-AB43F32B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Lineage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ACCD51-DEE8-4A76-B7BE-4D15A7791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051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Shared issuer and publisher records count once. ET/TOI share Times Group; PRS reuses state documents.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A8BD68-E77E-445B-9D9C-563B006AB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4ECF19-534A-4B9C-8034-A503A3AE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Integrity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4F7F69-B380-468C-B997-F6783910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6004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Original date, unit and fiscal stage retained. Chart/workbook values agree; PDF data are searchable.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F10933-ECF0-43D7-9831-3CB0B4157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3B6BD6-B651-4D89-90E4-396A5BBC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Inference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36AA73-F57C-4442-9A0A-B2AD98A6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958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Interpretations remain bounded. Current legal status, officeholders and delivery require separate records.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2BCCA3-7E7E-4B2F-8E19-3DE11B8C1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F51025-6683-4850-A01A-B0D6A8A6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Practical 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03288D-A6D8-4F65-ADFC-A44C0F33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53911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Recommendations identify a work product and acceptance test. Effort/output counts remain conditional.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5B8F3E-C5EC-4FA8-B2D7-EC055C33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64790567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68EF93-A9DD-4384-A3C1-EF74AD4CD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RAW ELECTION CROSSWALK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296E23-A532-40A6-8224-058544CF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42DB29-FA13-44EC-B0CE-7E1DDB4B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A03 · S07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97BFB-3720-4392-8163-20B7A2DF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35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041E1E-DC8C-433D-9E1D-CDE22602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2023 study set: AC 57–71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9DF441-7B56-4F48-89B6-CDC6FAF3FA1F}"/>
              </a:ext>
            </a:extLst>
          </p:cNvPr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5219700" cy="4143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57625"/>
                <a:gridCol w="1362075"/>
              </a:tblGrid>
              <a:tr h="46037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Assembly seat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Winner 2023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57 Musheerabad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BRS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58 Malakpet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AIMIM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59 Amberpet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BRS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60 Khairatabad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BRS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61 Jubilee Hills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BRS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62 Sanathnagar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BRS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63 Nampally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AIMIM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64 Karwan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AIMIM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986B84-53D9-479D-9C1B-FE13DB12B9E1}"/>
              </a:ext>
            </a:extLst>
          </p:cNvPr>
          <p:cNvGraphicFramePr/>
          <p:nvPr/>
        </p:nvGraphicFramePr>
        <p:xfrm>
          <a:off xmlns:a="http://schemas.openxmlformats.org/drawingml/2006/main" x="6248400" y="1790700"/>
          <a:ext xmlns:a="http://schemas.openxmlformats.org/drawingml/2006/main" cx="5334000" cy="4143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71925"/>
                <a:gridCol w="1362075"/>
              </a:tblGrid>
              <a:tr h="517922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Assembly seat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8F5ED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Winner 2023</a:t>
                      </a:r>
                    </a:p>
                  </a:txBody>
                  <a:tcPr marL="95250" marR="95250" marT="57150" marB="38100" anchor="t">
                    <a:solidFill>
                      <a:srgbClr val="165744"/>
                    </a:solidFill>
                  </a:tcPr>
                </a:tc>
              </a:tr>
              <a:tr h="517922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65 Goshamahal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BJP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517922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66 Charminar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AIMIM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517922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67 Chandrayangutta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AIMIM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517922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68 Yakutpura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AIMIM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517922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69 Bahadurpura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AIMIM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517922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70 Secunderabad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BRS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  <a:tr h="517922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71 Secunderabad Cantt.(SC)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C2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BRS</a:t>
                      </a:r>
                    </a:p>
                  </a:txBody>
                  <a:tcPr marL="95250" marR="95250" marT="57150" marB="38100" anchor="t">
                    <a:solidFill>
                      <a:srgbClr val="F8F5ED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3D7D81-F874-4DD6-B040-F73DC881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Source S07. Selected historical 15-seat set; fresh primary row check pending. Other metropolitan seats excluded.</a:t>
            </a:r>
          </a:p>
        </p:txBody>
      </p:sp>
    </p:spTree>
    <p:extLst>
      <p:ext uri="{BB962C8B-B14F-4D97-AF65-F5344CB8AC3E}">
        <p14:creationId xmlns:p14="http://schemas.microsoft.com/office/powerpoint/2010/main" val="46392506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F6171F-D01D-42D9-B5F7-40143928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REPRODUCIBILITY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F400C6-C225-4C2D-A869-A92871B3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486D22-B61E-4DB9-9E97-AE5547AB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A04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1CF237-5508-40A1-942F-B4DC76EB5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36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F459AF-0E7C-40D6-83B8-472791CB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Arithmetic and comparison rules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C3C2A1-654A-47BF-AB7E-44254AB5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State seats 2023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FE1DC4-C860-45C4-A3F9-62D82E29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809750"/>
            <a:ext cx="714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64+39+8+7+1=119. S06 official performance table.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88A596-33AC-48DF-A0AD-7ECA75F7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1774F7-E381-492B-A626-E41D6F3D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347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Selected seats 2023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759618-5664-4E51-A80A-7FE2AE9B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533650"/>
            <a:ext cx="714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7+7+1+0=15 internally. S07 target rows remain blocked for fresh recheck.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BED911-682E-45EA-9852-AF7EC3A6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FE88DE-8509-4689-9860-69A5CB38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347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Reported GHMC councils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23F084-48B2-4F4E-97F2-D9F2C48E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257550"/>
            <a:ext cx="714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2016: 99+44+4+2+1=150. 2020: 56+48+44+2=150. Historical reporting.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5CF643-4060-47C3-8CC6-3DB89517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8F80EF-CB7B-400C-BE52-5EB0AACD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347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Three margins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9A1ED5-DFDC-4706-89F6-A4E8EEA4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981450"/>
            <a:ext cx="714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62,185−60,148=2,037; 46,153−45,275=878; 99,776−18,116=81,660. Inputs pending fresh check.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5E0FFB-8ECD-48E2-8E72-514479B5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CFEDB2-9BB0-435B-951B-7BF828E6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347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State capex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D69FD5-1684-4BED-BD33-280DF5E3F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705350"/>
            <a:ext cx="714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(47,267.28 / 36,480.87 − 1) × 100 = 29.5673%, rounded 29.6%. Nominal RE-to-BE.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29C06D-E965-4F9E-9AB5-7F88C8A8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A87CBC-9DD3-4330-B966-2B6790966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347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Prior execution context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6C44E2-279B-41D0-BFBB-507CADCA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5429250"/>
            <a:ext cx="714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PRS 2024–25 BE-to-actual shortfalls are historical statewide context. No summed city budget or next-year forecast.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4F57C5-7D53-4A0F-998E-99953FCA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6725141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B0AB3E-1A0D-464F-B3AB-A5FFCE0E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B16702-26C7-432E-9B3D-0A52D149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F26D05-5C22-49D0-8EA5-BACF6627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A05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92C7F6-BB4A-4617-8742-94990F6B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37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BFEBFB-586C-4860-AACD-D751189C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01–02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091109-5062-4AB5-8313-5653BA13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FB652-949A-47E9-BE12-D28B7E05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M01 · Hyderabad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15C7D-4067-465A-9306-6C4F8080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Candidate record: F34,F37. Self-reported.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Editorial title for a professional research work sample.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Research cut-off 8 October 2026. Prepared independently; no employer or party endorsement.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BB804D-C8A4-4579-A1D3-B2D8C78B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Editorial/contact framing. No substantive I/R/C claim ID assigned.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4A31E7-57B5-474F-9778-CDB153B1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DF680-7482-4698-A03D-44E6CE65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M02 · Power, place and public value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34AD94-81CD-4D2A-AA00-9E718B3C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F03,F07,F08,F21,F22.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These institution-specific results cannot be collapsed into one citywide result. Budget provisions create questions about implementation.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4 supported, 1 blocked. Inferences bounded. Proposals conditional.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ACE88D-E6B9-432B-ABC9-39B98F433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R02: Maintain separate institution-specific briefs with a dated geography crosswalk.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C02: Contributions sit beside each executive finding.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</p:spTree>
    <p:extLst>
      <p:ext uri="{BB962C8B-B14F-4D97-AF65-F5344CB8AC3E}">
        <p14:creationId xmlns:p14="http://schemas.microsoft.com/office/powerpoint/2010/main" val="73411808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5E20E5-8B82-42BA-B91E-190D9C26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C74BEF-6075-4476-8DBD-C7F65B17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9BD55-B92D-4FF8-AB66-66D86E8A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A06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0CFE15-3A15-4DAD-AF8F-380F1F7B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38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009930-290B-4A65-B860-E3DD125C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03–04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1B737A-5929-4B07-8F29-284BB4C9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D8DFB9-6CF1-46CE-AF7B-A9B298C3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M03 · Relevant methods; honest 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E7BCF4-BE5C-4B5C-918A-3BAE415E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F01,F02,F34,F35.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Research and project coordination in the resume match public role requirements at a methodological level.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1 supported, 3 qualified. Inferences bounded. Proposals conditional.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118C2A-42DA-46EC-A85E-795D2011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R03: Test fit against the actual requisition through one reviewed research brief.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C03: I would turn research into concise, source-backed briefs and coordinate review across functions.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91837C-93C7-449C-8A65-2C56079F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087676-3DCB-4D63-9F75-E32B1B9E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M04 · Define the unit before the insight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6671CE-95F6-49C9-A722-DAF3FFEB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F03,F04,F05,F33.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The GO allocates municipal zones; election tables use constituency codes. A name match does not establish identical population or jurisdiction.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4 supported. Inferences bounded. Proposals conditional.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1FB98A-2DDF-4248-BB7B-244C1C77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R04: Complete the dated official boundary crosswalk before joining datasets.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C04: I would create a dated crosswalk with overlap rules, official boundary files and exclusions before analysis.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</p:spTree>
    <p:extLst>
      <p:ext uri="{BB962C8B-B14F-4D97-AF65-F5344CB8AC3E}">
        <p14:creationId xmlns:p14="http://schemas.microsoft.com/office/powerpoint/2010/main" val="210562791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1CD857-95CE-48A1-8BDB-F535ECA1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05556F-B7E9-426F-B672-2A188060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D91D63-5B57-4597-9FF5-FC56B894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A07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7778D5-C69D-4D07-91D8-4EE7D5B8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39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FE8DAB-699E-4037-B2EF-86AAA1B6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05–06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2A512B-F49E-46FA-A6A3-549114C7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10BB0A-95FD-4EC4-919B-746129D93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M05 · Five gates, one traceable claim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542D08-05E7-4478-A5AC-70DFE886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F02,F20.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The five checks are designed to detect different errors. Their effect on quality and turnaround must be measured in a pilot.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2 qualified. Inferences bounded. Proposals conditional.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CFC72B-B042-4279-9EE9-D90CF9CA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R05: Attach a claim register and correction log to every brief.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C05: I would keep a claim register, contradiction log and refresh queue attached to every brief.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A58E3B-EE90-4E6F-9589-07BE9C29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E53C9D-0D34-41BC-9642-128E8D76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M06 · The political timeline is not linear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72859A-0E36-4F12-946C-B0475EFC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F16,F17,F18,F19,F07,F03,F38,F20.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Separate election outcomes, by-elections, office changes and boundary changes. Historical outcomes do not establish present membership.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1 blocked, 5 qualified, 2 supported. Inferences bounded. Proposals conditional.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9A531E-4CEE-4F56-BC93-B2CF4624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R06: Maintain a dated event ledger that includes subsequent by-elections.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C06: I would maintain an event ledger that separates electoral results, office changes, boundary changes and delivery milestones.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</p:spTree>
    <p:extLst>
      <p:ext uri="{BB962C8B-B14F-4D97-AF65-F5344CB8AC3E}">
        <p14:creationId xmlns:p14="http://schemas.microsoft.com/office/powerpoint/2010/main" val="61446013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9BFCDE-A772-421A-8BC1-B51DEE60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C17BF6-4DF2-421A-A760-B7A3A028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FC78C2-30FB-4D84-88B9-C1E78475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A08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D49E22-DDB1-4EC6-97C0-6F1FFE60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40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F4B851-6ABA-45E9-9111-D5D6FC8C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07–08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0F21F7-4B18-487C-A05B-EBB26264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A073F8-7330-4EA4-86E0-597DBFEA8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M07 · Follow the decision, budget and remedy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029098-5055-4D87-8A05-C6874D44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F03,F06,F21,F30.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 documented institution-specific chain is more useful than assigning every urban outcome to one politician or department.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4 supported. Inferences bounded. Proposals conditional.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7A6870-5E42-4E43-A816-2AA5F7C5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R07: Document responsibility and evidence for each issue-specific handoff.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C07: I would produce one responsibility sheet for each issue: decision owner, payer, delivery body, review authority and evidence gap.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1E0301-7572-4460-9874-A0E88A03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53BABC-385F-4A12-8F8C-A50FC28F9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M08 · Different cycles, different baselines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95E24E-4070-4826-BB70-8AE0D940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F18,F19.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Reported same-institution seat counts show council-level change. Seats are not votes; result differences do not identify voter transitions.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2 qualified. Inferences bounded. Proposals conditional.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D9B104-2104-4844-8CEA-CCFA3ED7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R08: Compare historical council counts only within equivalent election units.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C08: I would preserve raw election vintages and compare only equivalent units, with candidate and boundary changes recorded.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</p:spTree>
    <p:extLst>
      <p:ext uri="{BB962C8B-B14F-4D97-AF65-F5344CB8AC3E}">
        <p14:creationId xmlns:p14="http://schemas.microsoft.com/office/powerpoint/2010/main" val="1604595724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4A0B99-F292-4BA0-A1BB-5A379B18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AEFED3-B7DD-41C0-937C-97AF70F9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78FFD-41B2-494D-8C6E-126710BB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A09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0B38CD-C4B5-4EDE-AAB5-CA7BD2A9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41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DAA5D6-B2DD-4447-B1F3-84793406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09–10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34D3BD-E7CF-4587-B069-B1830083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9F5E1E-1E8E-4FF5-898D-CC630188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M09 · The state result did not describe every seat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C70467-2672-4D27-AC61-4A3CD86C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F07,F08.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 contrasting selected-set result falsifies a claim that the statewide winner also won everywhere in the urban core.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1 supported, 1 blocked. Inferences bounded. Proposals conditional.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0A51CE-0D5A-42B1-90D2-C036CA8B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R09: Publish the selection rationale and exclusions with each constituency brief.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C09: I would write explicitly scoped constituency briefs rather than treating the state mandate as a metropolitan result.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BB800D-7589-4078-8B61-6C5586BD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DA9E69-4224-429C-B89F-9334CA49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M10 · A ballot is an institutional choice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44A117-C5D7-44B8-99C6-42144E23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F12,F13,F14,F15,F08.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Different institution-specific observations show why political strength cannot be represented by one number.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4 supported, 1 blocked. Inferences bounded. Proposals conditional.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AF5CD5-C8F5-4585-8018-463DF8C2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R10: Keep Assembly, parliamentary and civic series separate.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C10: I would keep Assembly, parliamentary and civic result series separate, then test possible explanations through approved research.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</p:spTree>
    <p:extLst>
      <p:ext uri="{BB962C8B-B14F-4D97-AF65-F5344CB8AC3E}">
        <p14:creationId xmlns:p14="http://schemas.microsoft.com/office/powerpoint/2010/main" val="732294816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75E1FD-F978-4784-A126-5EF9DFA0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B09536-613A-49FD-9EC4-E1C6269E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1B2161-2498-40BF-8A1C-7F254472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A10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D6C13A-5FFF-4B3C-8BAB-FE75EEDB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42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A032EE-6D06-4A07-AE29-BB7661C0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11–12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E72135-85C3-435F-90E3-16BABBE7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72D2E-0675-4C95-9194-5ED3176F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M11 · Competition has several forms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A001E8-ED5C-4875-B581-90D4D0AA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F09,F10,F11,F20,F38.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Different margins within the three seats show varied competition. Later Cantonment and Jubilee by-elections need a separate status ledger.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3 blocked, 2 qualified. Inferences bounded. Proposals conditional.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6720A7-D807-42A0-BC4A-490EA035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R11: Compare only the examined seats and refresh subsequent status separately.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C11: I would distinguish party presence, candidate competition and institutional control; update legal affiliation separately.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01D6F2-2874-40AC-801A-25488084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A841D0-85F9-46C8-8ECC-E8501D80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M12 · Cluster presence and access questions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1AC3CC-3059-4744-92B1-7C061E02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F32.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Cluster presence does not establish broad access. Locations anchor research questions, but do not measure benefits, GDP or job quality.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1 qualified. Inferences bounded. Proposals conditional.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BDB96-2E38-49B4-9F3F-06595705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R12: Use verified cluster locations to frame a bounded opportunity-access brief.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C12: I would build a place-based opportunity brief using verified cluster locations, commuting access and service data.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</p:spTree>
    <p:extLst>
      <p:ext uri="{BB962C8B-B14F-4D97-AF65-F5344CB8AC3E}">
        <p14:creationId xmlns:p14="http://schemas.microsoft.com/office/powerpoint/2010/main" val="145850221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5A7A6F-4144-4956-A239-08D8251A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63D89B-CE2C-44F6-83B5-8A70AF54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19E477-C6B5-4BC2-9E96-9068C224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A11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49FB39-B90A-476A-B1B3-07A700EE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43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0F2F93-C8D0-43FC-B9B4-B0EB3B7E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13–14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2671BE-80AA-4F95-8143-798B7139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2EF565-9CED-4502-981F-4232E3D0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M13 · Measure the route from skill to opportunity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62B21A-F43E-41D5-A92B-05699392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F32,F36.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Measured barriers are needed to connect clusters with residents’ opportunities. No labour-market deficit is assumed simply from cluster presence.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2 qualified. Inferences bounded. Proposals conditional.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EE1CB6-D711-487F-9EAA-10AC6875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R13: Validate a defined access question before proposing an intervention.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C13: I would triangulate employer information, official labour statistics and consented interviews before proposing an access intervention.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4239DB-D5E7-4159-9282-B210A324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9B3BD0-ECD0-4FDC-80DB-2896B1EA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M14 · Urban expansion changes the research unit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4F9228-F918-42C4-9686-43747EEF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F03,F33.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Changes in administrative and planning units can break time-series comparisons and ownership assumptions.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2 supported. Inferences bounded. Proposals conditional.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062087-FB3D-4F09-BC28-8274B73A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R14: Match each land or service claim to its dated jurisdiction and original record.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C14: I would maintain a boundary-vintage register and verify land, housing, approvals and service claims against the right jurisdiction.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</p:spTree>
    <p:extLst>
      <p:ext uri="{BB962C8B-B14F-4D97-AF65-F5344CB8AC3E}">
        <p14:creationId xmlns:p14="http://schemas.microsoft.com/office/powerpoint/2010/main" val="2060932878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0BE335-0891-4393-A465-43452F76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8B68E-F77F-45B5-BCF1-14D1C70D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1AF4A8-3CAD-4223-A83F-812E4E45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A12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05FA07-713E-46CC-906D-A32F9C46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44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597CD-1F7F-4834-88F9-C464465E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15–16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E9EC3E-B6F4-4F50-9BB1-06EC2C1D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6144E-9C10-4437-8F84-8AA826E5A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M15 · Transport provision is not service access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0A5707-5634-4DBE-BBDF-16B33BD5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F24,F25.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Distinct lines should not be merged into a claim about completed rail construction. Accessibility requires route and service evidence.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2 supported. Inferences bounded. Proposals conditional.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FDD99-2A24-4CBF-AEA1-8C4A425D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R15: Track each transport financing line through documented implementation stages.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C15: I would track each financing line separately and evaluate access through verified project status, journeys and interchange evidence.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3A1272-4918-4A60-9982-7FBDE878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00E629-D490-48C1-AE99-EB63300F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M16 · Resilience needs a system 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E34958-1385-4797-869F-A5ECE1A7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F06,F23,F30.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The documented remit and project scope suggest linked research tasks, not measured performance or a causal reduction in flood risk.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3 supported. Inferences bounded. Proposals conditional.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4BF7C6-D2AE-4F93-8CFE-717B86D8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R16: Build a catchment-specific resilience brief using comparable event records.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C16: I would connect rainfall events, drainage records, water-quality evidence and agency responsibilities in one issue brief.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</p:spTree>
    <p:extLst>
      <p:ext uri="{BB962C8B-B14F-4D97-AF65-F5344CB8AC3E}">
        <p14:creationId xmlns:p14="http://schemas.microsoft.com/office/powerpoint/2010/main" val="895983666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A9BCC4-68E3-45F1-8B98-07D1DA3A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4FEDB-B379-4BF3-B7D4-0B2CE1C53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2167AC-BD77-49DF-BCD8-D7DBFB1E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A13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015792-9650-4661-A87F-FC10F4C7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45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92CB9-A401-4204-87AD-77D788F9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17–18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759A23-A610-429F-82A8-B7FC89EF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C00C00-F288-4A6A-BC9B-D16743E0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M17 · Entitlement, access and experience differ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732B73-9C73-45B7-818D-9CCC1872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F29,F36.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Statewide programme provision identifies questions for access research; it does not establish Hyderabad coverage or service quality.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1 supported, 1 qualified. Inferences bounded. Proposals conditional.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3BA62A-093A-4E25-922E-C6F29445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R17: Trace a selected service journey against current official eligibility rules.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C17: I would trace selected service journeys from eligibility to application, receipt, grievance and closure.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A286E4-4031-475B-90BA-9D0D9731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F27177-4B4F-41DF-910B-91B74EA0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M18 · Ambition must survive implementation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2E2688-844D-4F16-B9AD-02013D83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F27,F28,F21,F22,F23,F39.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 larger planned envelope makes financing and implementation monitoring material. It does not establish fiscal capacity or future completion.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5 supported, 1 qualified. Inferences bounded. Proposals conditional.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733D55-3228-4774-B9D3-9E62F41F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R18: Monitor financing and execution with explicit BE, RE and actual stages.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C18: I would build a commitments-to-delivery tracker with separate estimate, sanction, release, spend and outcome fields.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</p:spTree>
    <p:extLst>
      <p:ext uri="{BB962C8B-B14F-4D97-AF65-F5344CB8AC3E}">
        <p14:creationId xmlns:p14="http://schemas.microsoft.com/office/powerpoint/2010/main" val="104915580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87EE26-D915-4C44-B7EB-5D6BE234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70F20E-B3BF-4848-94AA-D61C0091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94EC33-0BDE-4C00-8E81-C5A7753B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A14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4C7706-D3BF-4B17-93AE-256B687F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46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3215A-8166-4100-97E4-F766B8D8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19–20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F1242-5664-41EE-A51D-F4BE9A10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373578-D49E-407D-BFBF-99C7C59C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M19 · Musi is an implementation and trust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29D2F-97A6-48B7-A4E7-5E746312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F22,F30,F31.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Environmental objectives and acknowledged relocation concerns justify testing multiple dimensions of implementation together.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3 supported. Inferences bounded. Proposals conditional.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D6ED5-DDBD-4944-9E7D-C1DC3AB0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R19: Evaluate the Musi case against documented milestones and household safeguards.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C19: I would produce a balanced Musi brief: documentary milestone, environmental evidence, household safeguards and unresolved questions.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69352C-C959-47F1-B352-7BF68B56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6BF5F4-BA84-49B1-AC53-2245CA05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M20 · Protect assets; verify every case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9638D6-7977-41A1-AE3E-9110B143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F06,F03.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Mandate-level evidence and case-level evidence answer different questions; public trust needs both.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2 supported. Inferences bounded. Proposals conditional.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5751DE-FA15-41CA-A234-DE00AFC7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R20: Verify an individual case against its order, boundary and review records.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C20: I would keep a case tracker for the order, boundary record, notice, review route, implementation and independently checked outcome.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</p:spTree>
    <p:extLst>
      <p:ext uri="{BB962C8B-B14F-4D97-AF65-F5344CB8AC3E}">
        <p14:creationId xmlns:p14="http://schemas.microsoft.com/office/powerpoint/2010/main" val="868966255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45B76E-23E2-4FC1-947C-05BA3448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DFCD4F-5DB9-4BDD-AF52-CDAB0A00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841CAE-71A1-4EBA-AE00-A3BAB37D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A15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49E1F7-4338-42B0-BF33-7D2F62AD3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47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1DF68A-EACF-4F35-8DDE-2103F0AB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21–22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3ED142-E62D-46AB-98AD-48329987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C769BE-A260-4C83-AD20-370FF8BC6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M21 · Accountability needs a named handoff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A8BB0F-2F8E-4EC6-85BB-FBD7E779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F03,F06,F30.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Multiple documented bodies create a coordination research requirement; this deck does not claim demonstrated coordination failure.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3 supported. Inferences bounded. Proposals conditional.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9CAD7-FD94-482F-8BBF-6727F827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R21: Assign an issue owner and document the accountable handoff.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C21: I would assign one issue owner and keep decision, funding, implementation and grievance handoffs visible.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10D729-8687-48B6-B48D-EA247976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241BEB-0D4E-49F2-90A8-FB2852AB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M22 · Public discourse is evidence about discourse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8DEC84-B678-4EC7-B65D-165676E7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F01,F31,F20.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The sources have different incentives and upstream dependencies. Reported narratives cannot identify their prevalence or their causal electoral effect.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2 supported, 1 qualified. Inferences bounded. Proposals conditional.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F5A72A-F0C3-4549-A6E2-F19757D1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R22: Review a dated multilingual discourse corpus with a coverage note.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C22: I would run a multilingual issue log with source lineage, verified translations, correction status and a representativeness note.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</p:spTree>
    <p:extLst>
      <p:ext uri="{BB962C8B-B14F-4D97-AF65-F5344CB8AC3E}">
        <p14:creationId xmlns:p14="http://schemas.microsoft.com/office/powerpoint/2010/main" val="76646380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914922-179D-47BF-B5E3-81685512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9F8A25-7158-480F-9713-FE3B9961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B61FBE-0038-44AF-8647-1FD44E19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A16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ED93EB-1896-4969-A4F6-2078FD62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48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FA2243-9112-4A74-BDA5-FB8F6589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23–24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A8ED96-6ED0-41F2-986A-C78849A23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460D20-EBFB-456B-93C1-6DCC3065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M23 · Uncertainty is a research queue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B7C06-15D3-41A6-89C3-819A7181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F03,F07,F20,F27,F38.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Separating known records from unresolved status prevents confidence in one source class from spilling into another.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3 supported, 2 qualified. Inferences bounded. Proposals conditional.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91B0C4-6B13-4184-AC87-44453581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R23: Assign an owner, expiry trigger and validation task to each consequential unknown.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C23: I would maintain explicit expiry rules and assign a validation task to each consequential unknown.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A8FF42-DCB3-4276-95CE-03ABBA0B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E6B7E6-B718-478E-9461-B7BBD461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M24 · Start where errors change decisions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24CE55-65A7-4003-8983-D318910D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F03,F20,F21,F30.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Boundary and status errors invalidate downstream analysis; implementation records then support usable issue briefs. Ranking is my professional judgment.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3 supported, 1 qualified. Inferences bounded. Proposals conditional.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071552-0995-405C-8B10-1957689A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R24: Sequence the backlog by classification risk and decision dependencies.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C24: I would agree the first research backlog with my manager and publish owners, dependencies and stop conditions.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</p:spTree>
    <p:extLst>
      <p:ext uri="{BB962C8B-B14F-4D97-AF65-F5344CB8AC3E}">
        <p14:creationId xmlns:p14="http://schemas.microsoft.com/office/powerpoint/2010/main" val="167084671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BE9D92-B4DD-466B-B227-9B91DF3F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846E5-3ACC-4250-A685-E8F51BDE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253A0E-F3F7-4FF1-9DD6-197A9ECD8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A17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E3F39A-09DD-4107-AE2F-898B8699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49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F8B45-443A-41B1-B4DC-1CDF852E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25–26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ADC059-5DE6-46D0-8A3C-8897469F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FAA707-C5F5-425A-82B5-C19AA9A0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M25 · A work sample you can inspect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190802-3215-4B72-8DD0-DF8493FE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F21,F22,F23,F24,F25,F26,F40,F41.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The selected rows support monitoring questions. They do not form a complete CURE total or a live delivery dashboard.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6 supported, 2 qualified. Inferences bounded. Proposals conditional.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7B7BE1-6BC2-4693-8049-67730839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R25: Maintain a reviewed tracker of selected urban-related budget instruments.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C25: I would maintain the baseline as a reviewed weekly brief, recording each new document and change in status.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2EA292-A339-40D3-92B8-D90A3423B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D0EFD-FA04-4F9C-A0FC-EB8706EE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M26 · One workflow from discovery to refresh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2A5A80-6185-4B15-8466-6FFDBEC0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F35,F36,F01.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The candidate-reported review experience supports proposing an evidence workflow; actual performance must be established through a pilot.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2 qualified, 1 supported. Inferences bounded. Proposals conditional.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5C1BDC-8AB8-453B-9300-6146DC8E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R26: Pilot a manager-reviewed research workflow with correction-closure criteria.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C26: I would introduce a short daily triage and a manager-reviewed weekly research brief with a correction log.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</p:spTree>
    <p:extLst>
      <p:ext uri="{BB962C8B-B14F-4D97-AF65-F5344CB8AC3E}">
        <p14:creationId xmlns:p14="http://schemas.microsoft.com/office/powerpoint/2010/main" val="72766868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433413-EEC2-4013-A03F-BF26E5E7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AE5262-664F-4CC2-8DD4-A1E82F42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268C2C-C4E6-4C1D-93E9-C8C73988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A18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6CD57-79AB-41A9-AB56-C6E07633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50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3A2FA8-4408-4547-A8ED-7F41056A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27–28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520B7-2445-438C-B474-822F3B22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B86482-1DDA-46FE-90D9-128650BC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M27 · First 30 days: a defensible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6DB0AE-2E74-4DD9-B4BA-F1477F4D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F03,F35,F36.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Small reproducible work products establish a baseline and identify access constraints early.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1 supported, 2 qualified. Inferences bounded. Proposals conditional.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180811-AA03-43BF-B30E-441A267F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R27: Use the first brief’s measured effort to agree the first-month output count.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C27: I would build the registers and one reviewed pilot brief, log sourcing and review effort, then agree the brief count with my manager.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572489-EB00-4297-9CE8-7FDF71EE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AAB665-608B-4806-80BD-4CEA3BF3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M28 · Days 31–60: validate the weak links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D24901-81A1-4BBA-BEB1-911A2E9A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F30,F31,F06,F36.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The earlier evidence gaps identify where direct validation is useful; interviews add context, not automatically representative statistics.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3 supported, 1 qualified. Inferences bounded. Proposals conditional.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376C62-A545-4982-BD5A-1BC5878C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R28: Use an approved purposive interview pilot to explore a bounded evidence gap.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C28: I would refine two case studies and test interview guides with qualified local-language support.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</p:spTree>
    <p:extLst>
      <p:ext uri="{BB962C8B-B14F-4D97-AF65-F5344CB8AC3E}">
        <p14:creationId xmlns:p14="http://schemas.microsoft.com/office/powerpoint/2010/main" val="1195439424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724CBB-85C3-4DC5-8B81-85DC4A2D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1506CE-48E1-40D5-889C-842A02AB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3F544A-D76E-44BC-91B9-B52B670D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A19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2343CB-21C7-40B1-BAA6-059D2EAB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51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11865E-5B97-4061-ABC8-6637EEF5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29–30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0B822-5FEA-4C9E-9C2B-771011C4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784F0A-EA87-4FD2-9AB8-D2DCACD0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M29 · Days 61 to 90: improve and hand over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C7939E-A07E-4B17-9EEA-FBDB17EAA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F35,F36.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 pilot creates observable process metrics; the direction and scale of improvement are not predetermined.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2 qualified. Inferences bounded. Proposals conditional.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68B6DF-1BBD-46DF-B0D9-6EBB859A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R29: Evaluate comparable briefs using defined quality and turnaround denominators.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C29: I would deliver a reviewed atlas scaffold, refresh calendar, two refined case briefs and an onboarding guide.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910864-7F3E-4750-AEE0-5CFF355F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2B3295-368A-404F-9D48-F7912AF3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M30 · Experience is evidence; transfer is a 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6A3D45-0E6E-49C1-88F0-AAB7C67C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F34,F35,F36.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These self-reported experiences support a methods-based fit; geographic expertise and employer performance remain to be demonstrated.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3 qualified. Inferences bounded. Proposals conditional.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9C1F74-82AD-405D-ACDE-42F92E3D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R30: Test transferable methods through a supervised Hyderabad work product.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C30: I would bring structured research and operational discipline, while building Hyderabad context through supervised local learning.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</p:spTree>
    <p:extLst>
      <p:ext uri="{BB962C8B-B14F-4D97-AF65-F5344CB8AC3E}">
        <p14:creationId xmlns:p14="http://schemas.microsoft.com/office/powerpoint/2010/main" val="73080904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B60200-20EE-4A18-AFDC-21E431AE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CLAIM-TO-CONTRIBUTION LEDGER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DB3BC0-581D-40BB-A94D-7F1A404B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CD69E4-6F39-4813-8953-9DA091CF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A20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75F834-C71F-4E34-9BC8-1CF81DEC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52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8BFD32-26CE-42DF-97E8-CCB7DD59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Slide logic · 31–32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EDD93-F2B5-47EA-962F-79D28461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5D5D80-7843-49EE-9642-1494F9A3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M31 · Interview me for the work product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777342-8A48-451A-8946-77643BCD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Premises: F35,F36,F02.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The produced work sample and candidate-reported methods support an interview proposition, not a guarantee of hiring or future results.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Evidence as of 8 October 2026: 3 qualified. Inferences bounded. Proposals conditional.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EAFCC9-0DBD-4FC4-A502-4CF4BEC07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52675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R31: Use one inspectable brief to discuss fit with the hiring team.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C31: I would welcome a discussion of one issue brief, its strongest counterargument and the first work product the team needs.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Proposal requires manager acceptance and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8F65C5-BF9E-4353-92CE-B66E6350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BF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45F92E-0E9A-452C-B016-00207497B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M32 · Thank you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6DAD82-2C94-4A7A-AF3F-FC769D5E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6578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Candidate record: F37. Self-reported.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Contact and relocation information from the existing portfolio resume.</a:t>
            </a:r>
          </a:p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Independent application work sample. Appendix follows immediately.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E0A0A4-FE4D-46ED-ADF6-073040AE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52950"/>
            <a:ext cx="48768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3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Editorial/contact framing. No substantive I/R/C claim ID assigned.</a:t>
            </a:r>
          </a:p>
        </p:txBody>
      </p:sp>
    </p:spTree>
    <p:extLst>
      <p:ext uri="{BB962C8B-B14F-4D97-AF65-F5344CB8AC3E}">
        <p14:creationId xmlns:p14="http://schemas.microsoft.com/office/powerpoint/2010/main" val="903175857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9163BB-E774-4148-9B12-EC5513F8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FACT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52DBC3-CDDA-4EE3-9088-E3138516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9BEB29-0A9E-49D3-B49C-1558834B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A21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7CCB26-A916-4555-B7E8-1842BEC1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53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F36F0A-5A33-4042-ACD4-4B8093B0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Factual records · F01–F05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A3A8A5-9330-4F58-994C-61ED204E3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F01 · Supported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655EED-E3DB-4B1B-92EB-6D458F17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621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Inclusive Minds describes itself as INC-aligned and lists six work verticals.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EA98F9-E56D-4CC8-8313-87062AAE9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76212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S01 · About Us; Our Work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Retrieved 2026-10-08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A28088-8BF0-4400-9AA2-CDAC5CABE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99720A-5699-4A51-AF83-0BEC72E8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F02 · Qualified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695347-8F6A-4EA3-A5DE-300D1320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647950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Employer Generalist post identifies Hyderabad on-site and experience in research, strategy, communication or project management.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DE82E7-48B4-43A2-B44F-FF839E08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47950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S02 · Hiring post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Retrieved 2026-10-08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C0C941-2604-41A7-8517-78F659229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497EC9-E847-40F0-BEC1-260BB39F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F03 · Supported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748906-34F9-45FA-B838-67408A5C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53377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GO 55 of 11 February 2026 reorganised CURE into GHMC, CMC and MMC with immediate effect.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E2368E-63EF-4F13-ADF0-B20A4FA8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5337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S03,S04,S15 · GO 55 pp 1–2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2026-02-11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070007-A31C-4AF5-BBDC-C73BA807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EE6D7F-8C5F-41BE-9D61-088B504A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F04 · Supported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8EBBFD-8B1D-4EF1-9B3E-55DF9F37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19600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CMC comprises Serilingampally, Kukatpally and Qutbullapur zones; MMC comprises Malkajgiri, Uppal and L.B.Nagar zones.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F266FC-4D53-4EB5-9055-54A347D2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419600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S03 · GO 55 operative zone allocation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2026-02-11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0D392C-96F5-48CC-A4DB-B4804673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710048-5F37-41DC-9492-29C8ACD5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F05 · Supported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4D0B17-1110-42EC-81D9-7AAC2E40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3054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GHMC comprises Shamshabad, Rajendernagar, Charminar, Golconda, Khairatabad and Secunderabad zones.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30C518-5B93-4C62-AC3D-CDAF8E01D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530542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S03 · GO 55 operative zone allocation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2026-02-11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8DF31C-E0C5-4047-B1BA-9C21415D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95717274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F0C146-909E-4339-A606-19EA9DEE8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FACT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83B123-65A3-4A43-AA66-0C4794E1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C54D00-01ED-48CC-B011-F0ABF3A5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A22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2921A5-8CB1-45CF-B991-7B0864B8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54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1B2B31-7D30-4116-802E-BBDAB345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Factual records · F06–F10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A2353C-4658-42FE-B3DA-7E0E6DCE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F06 · Supported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B375B1-47F9-457B-A44F-7DA25909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621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HYDRAA describes its CURE-wide remit as disaster management and protection of government / public assets, under MAUD.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548089-E655-4253-809A-DEEBD289B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76212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S05 · Mandate; Jurisdictional Coverage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Retrieved 2026-10-08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7B79C6-8F1F-430F-A1D0-B679D6EA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080165-B20C-47DE-ADFF-05219D9D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F07 · Supported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454997-42EB-44DF-83D1-376E2E82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647950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2023 Telangana Assembly seats won: INC 64; BRS 39; BJP 8; AIMIM 7; CPI 1.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C70673-09AC-482C-A354-55BFA2C4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47950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S06 · WON column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2023 election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005599-7993-4F9D-AFC4-9DCF37E10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315D22-9347-4CAC-9486-73C7853C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F08 · Blocked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69350A-DF06-4E07-8DE2-BD76168B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53377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In selected Assembly seats AC 57–71,2023 winners were BRS 7, AIMIM 7, BJP 1, INC 0.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03CDB4-DC2F-4924-A795-E439D78A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5337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S07 · AC 57–71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2023 election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425EDE-CCD5-4C7A-A2FB-0E96AB60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B5CA96-B9AE-4955-863C-4D87EC29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F09 · Blocked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13811A-A683-4A44-9A4B-848EDFB6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19600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Nampally, 2023: winner 62,185; runner-up 60,148; margin 2,037 votes.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8E01DA-1D3A-433D-9126-9BD9024A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419600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S07 · PDF p 3; winner/runner-up table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2023 election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09C31E-D6F9-4E4B-8A38-16B049B1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CD0A25-9F48-4C7B-B554-9E673514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F10 · Blocked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478D18-FF53-4E17-8643-2C2DE104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3054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Yakutpura, 2023: winner 46,153; runner-up 45,275; margin 878 votes.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D9B823-CED9-464E-AC2B-F8137C41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530542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S07 · PDF p 3; winner/runner-up table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2023 election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29FBA1-2B16-437E-970D-C54E670B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526470386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6267BE-14CD-43DC-BC7D-F2CFAD48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FACT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94C230-2C64-4C0D-96A4-CB5B554A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D4933B-159A-4D0E-8992-CF1716FE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A23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280FC8-AD34-4206-A942-15F3C180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55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EACA0C-644A-48B5-AD51-683AE2FCF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Factual records · F11–F15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4CD8B-9062-4B21-8A7A-AE93E56DF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F11 · Blocked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38A81A-65C7-4BC1-9EFB-7E74110E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621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Chandrayangutta, 2023: winner 99,776; runner-up 18,116; margin 81,660 votes.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348C2E-9A83-4F9E-88C5-8605A99C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76212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S07 · PDF p 3; winner/runner-up table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2023 election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02010C-47C7-42FE-8FD7-DA6E6649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9C994E-03DD-4BCC-8A82-DC549194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F12 · Supported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F9A7CC-3D12-4644-A88D-84BCDE2B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647950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Malkajgiri, 2024 Lok Sabha: Eatala Rajender (BJP) led with 991,042 votes; runner-up 599,567.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BB312B-1A0B-4BA3-81A5-F13D5676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47950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S08 · p 580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2024 election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1D7E86-0298-4918-9313-C3E359F0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73D0C1-513D-4E5D-8A9B-57EE3764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F13 · Supported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A9911D-697E-477F-98D6-8E6759F3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53377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Secunderabad, 2024 Lok Sabha: G.Kishan Reddy (BJP) led with 473,012 votes; runner-up 423,068.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8DCB89-19E7-4E17-B2A5-862D358E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5337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S08 · p 581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2024 election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9D2E6C-4A56-4700-A51B-17492870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F7817E-4931-42B9-94A5-CC304392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F14 · Supported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67D213-70A4-47EA-9A06-D48D2C54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19600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Hyderabad, 2024 Lok Sabha: Asaduddin Owaisi (AIMIM) led with 661,981 votes; runner-up 323,894.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DB050A-0343-440F-B77C-CE0C099E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419600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S08 · p 583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2024 election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68039E-2086-4E08-A35C-1EDF54C4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CB43F0-FA7E-4E5D-93A3-2D9EC496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F15 · Supported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0E98CD-D591-4DC3-B45E-89E65880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3054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Chevella, 2024 Lok Sabha: Konda Vishweshwar Reddy (BJP) led with 809,882 votes; runner-up 636,985.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A13DFF-7CA8-4336-A29A-D175BA9B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530542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S08 · p 585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2024 election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BA34D7-9D24-40BC-A3DF-D2AACB42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6282650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1D518F-DD89-451B-97DA-CB26312C2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FACT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15239C-A32F-4FC2-A875-65F1EEC0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2A798-5967-4876-981F-C7D82217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A24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7008CC-349C-4818-8E68-70549BCD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56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0E89C5-658F-475B-8F59-34C38C3E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Factual records · F16–F20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6DED7A-D29A-4837-8D55-2D025762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F16 · Blocked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74E7D2-E9D3-4F94-85FB-C64E4CBB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621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First Telangana Assembly as of 2 June 2014: TRS 63, INC 21, out of 119.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25FDF2-9AFD-45B7-9C35-84668DE5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76212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S16 · Printed 410/PDF 63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2014-06-02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C2DDF2-9BDE-485E-90CA-DE2E7CD1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1FD3A-99E3-4E2F-B0A6-454F841D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F17 · Qualified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D2ACF8-7D42-424A-B6BF-4265E3393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647950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Contemporaneous 2018 reporting recorded TRS 88 and INC 19 Assembly seats.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D9D7D3-0B78-440E-8B4C-70F3D6DD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47950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S17,S18 · Updated results paragraphs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2018-12-12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593E65-EDAF-4B8E-9170-36FAB268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995262-9DE0-468A-9BDE-AE0772C7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F18 · Qualified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8502FA-79DF-469E-B79A-E0B4C044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53377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Published 2016 GHMC recap: TRS 99, AIMIM 44, BJP 4, INC 2, TDP 1.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65499A-EC61-4601-8B86-FDE23696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5337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S19,S20 · Numerical result paragraphs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2016 election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6767CA-AD53-45E9-8219-A93B0B5B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A6BD4-A1B2-478B-BB6B-6492D18F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F19 · Qualified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34770F-1875-452C-BF08-260C9935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19600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Post-Neredmet 2020 reporting: TRS 56, BJP 48, AIMIM 44, INC 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C67B7F-CE38-428B-801D-F746EF65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419600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S21,S22 · Results paragraphs; final Neredmet result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2020-12-10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2C7C9-667E-4D05-9233-6D90A90F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0A0AB0-E2DD-4E09-AFB9-26511D08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F20 · Qualified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9EE5FC-82E1-428A-A13E-03337137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3054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Congress candidate V. Naveen Yadav won the November 2025 Jubilee Hills by-election, according to Times Group reporting.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8649DC-1780-4DCE-9602-0FAA622E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530542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S23,S24 · Winner reports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2025-11-14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5BF663-BDCD-4BEC-BFFC-4569A828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33394174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C55701-E5D3-4AA6-BB96-CFC863B8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FACT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579C62-641D-4F0E-907D-961ADEC0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CE7735-BB9F-467F-AD0B-DF7EAEBD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A25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02968B-105C-4007-A1AC-CE3B6B7FA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57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82F44-1153-46CD-B607-2F68551F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Factual records · F21–F25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9840D4-53BD-4BC2-AFF6-A793B974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F21 · Supported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D7837A-B19A-459A-901F-BB097B69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621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2026–27 BE: H-CITY assistance to CURE ₹2,654 crore.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06036F-0A46-4F79-BCA1-3B6A9AFF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76212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S09,S10 · S09 p.16, Table 10, row 32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FY 2026–27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FA951F-1ED1-4EBF-A305-676CB916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4BB503-82A1-4C5E-8EF8-951E027E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F22 · Supported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60AC0-F33E-4610-9D33-7274782A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647950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2026–27 BE: Musi Riverfront development ₹1,500 crore.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ACA007-E122-4854-BC2C-964F24F4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47950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S09 · S09 p.16, Table 10, row 36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FY 2026–27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6FCCED-1495-46FD-B3E5-2EBFEDBB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F835E9-2831-4BEE-AA21-45FA1A92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F23 · Supported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764821-3DBF-4DE7-BB29-CBD7AE941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53377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2026–27 BE: loans to HMWSSB for development ₹1,450 crore.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1F6722-2C0E-427A-BBF8-D5702AE4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5337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S09 · S09 p.16, Table 10, row 38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FY 2026–27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BCEBD5-D73B-48F8-BE70-F68DBE528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384339-F63D-429E-88E6-DBC61E02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F24 · Supported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405C67-3F50-496F-8E47-D354CE30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19600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2026–27 BE: Metro Rail Phase II ₹600 crore.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5DC4D4-A01A-43DC-A6C2-7AEE7DF6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419600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S09 · S09 p.17, Table 10, row 50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FY 2026–27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C8B519-B98F-46F1-AFAC-DE84E570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328220-0F43-4AFA-9EA5-15088EF5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F25 · Supported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B76E2D-8951-4764-A15E-105D234B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3054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2026–27 BE: loans to HMRL ₹500 crore.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349547-E6E7-419B-B4D4-76C14871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530542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S09 · S09 p.17, Table 10, row 57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FY 2026–27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F4095C-FFD9-45E7-A74F-AB50DC53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5286105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1C253E-8B5B-4DBD-968D-0D1E2684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FACT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F48020-6E46-4E6C-9296-7012CE06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1C77B0-21FF-4943-B57F-DCE4651B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A26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B7FF71-39CD-48DF-86DB-322E515B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58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E16E9C-F5AA-44E8-8AC2-1193CD20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Factual records · F26–F30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263710-4FF9-4CAB-AF48-C750045BB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F26 · Supported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5030C4-DA75-4537-AA7B-44F164BC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621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2026–27 BE: 20 KL free-water reimbursement to HMWSSB ₹300 crore.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4EDC44-F565-4890-BF1B-ED8CE1CA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76212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S09 · S09 p.17, Table 10, row 69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FY 2026–27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DEF2C8-5A03-4F76-B4FD-8F545F33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85F022-8668-484F-8AB7-6D423E5C5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F27 · Supported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98FF64-5E3D-4CBC-8126-38EFE3DF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647950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State capital expenditure: 2025–26 RE ₹36,480.87 crore; 2026–27 BE ₹47,267.28 crore.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4B9C1B-0DE5-412A-AA8C-6733A8DB9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47950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S09,S10 · S09 p.4, row VII, RE/BE columns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FY 2025–26 RE and 2026–27 BE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229D43-6F93-4460-BA08-2029E45F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6E8BDC-FB28-42E8-8DB5-9C91E574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F28 · Supported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5C971D-CEC2-4ACB-BC54-633D1C35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53377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Nominal state capex BE/RE increase is 29.57%, rounded 29.6%.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E50688-3A9B-4919-B69A-3353159A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5337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S09 · Derived from F27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FY 2026–27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57540A-B144-445F-B4DF-F4D71129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7E4903-87A2-4FA0-8557-57A4445F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F29 · Supported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790C97-4EA7-4667-A035-7E566269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19600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State 2026–27 BE: Indiramma Houses ₹5,500 crore; Mahalaxmi RTC ₹4,305 crore; Rajiv Aarogya Sri ₹1,143 crore.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F955D4-B724-40AA-901E-B9F60213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419600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S09 · S09 p.15, Table 10, row 3/4/7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FY 2026–27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476264-F397-47A7-8FF5-1F76C532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8BF094-22ED-4CEA-B801-083492AD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F30 · Supported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759B26-69E2-4220-94D3-792F3656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3054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MRDCL describes Musi vision in terms of ecological restoration, sewage interception/treatment, floodplain zones and mobility/livelihoods.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352817-DA5A-4DF7-8DA1-C0B51CEC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530542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S11 · Vision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Retrieved 2026-10-08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93EC4F-5E33-45BF-888A-278D176A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85899477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93BB11-B2A5-4379-8917-0843918E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FACT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C095AD-B7CF-4377-A475-87B21009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B7AA27-3AC8-4C64-8463-6E50FF7D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A27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033153-F953-482A-B65B-6D58677F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59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4DE5C3-728D-4544-985F-0FF55F61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Factual records · F31–F35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E1FA39-C043-454F-A690-CE39A911E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F31 · Supported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4D5F30-6FBA-411B-A24A-9F8361E51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621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At the 13 March 2026 Musi conference, the CM addressed compensation and livelihood concerns associated with relocation.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CB7587-EA34-4B50-BF27-9BB7B6B4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76212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S12 · English compensation/livelihood paragraphs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2026-03-13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CDD69A-8B73-425C-A615-468DCED6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CA7FA3-7F80-4766-BB15-001F7C72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F32 · Qualified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9EFC6B-7277-49F7-BC9E-6499CBFA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647950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State investment portal identifies Genome Valley at Shamirpet and electronics manufacturing clusters.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DE8F8A-91C2-49B6-AEBB-C145D553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47950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S14 · Industrial-parks section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Retrieved 2026-10-08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7016BA-B18C-4083-9572-42A27529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9FAC0B-04D7-46F0-9280-41F88E85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F33 · Supported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AD19ED-5CAE-4A51-8A3D-749DF968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53377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BuildNow lists GO 68 dated 12 March 2025 for expansion of HMR and GO 69 for FCDA.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69F46D-EAD5-45BF-8A7C-E6C71DB6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53377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S04 · GO 68/69 entries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2025-03-12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AEBD60-9CE2-47EE-AC93-E35747D4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73AD0A-E4EF-42BC-92BF-914C1C9B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F34 · Qualified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A0D327-069A-4771-8142-29FDE995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19600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Candidate resume lists MBA, IIM Shillong, 2023–25; Consultant Marketing and Strategy at Nation With Namo, May 2025–Apr 2026.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36438A-1DC4-4941-98B1-77B15DEB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419600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S25 · Education/workExperience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CV periods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1B5BCB-C903-46FD-A5BC-FA87A674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8993F0-21C0-44D8-9C36-8B4429A4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F35 · Qualified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F2806E-86FC-4052-892A-A3DEEEB8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3054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Candidate resume reports introducing an evidence-based review system for a seven-person political-intelligence team.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45D155-2DFD-4DC8-90C4-E0E2626F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5305425"/>
            <a:ext cx="295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S25 · workExperience bullet 3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2025–26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F0071A-44F6-44D3-A61D-00B728F7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512049595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F47221-AE9F-47BD-8185-768571A6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FACT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55C295-20E6-4776-8BBC-7859F7FA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5B09E5-5F62-4CC4-AD90-993D72CC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A28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276AE-BF4E-448F-B5D5-E2D07D33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60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A19BE1-CA54-4AFE-B1A2-53C04FC4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Factual records · F36–F41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5DB71-8531-4D45-90C3-1022235C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2571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F36 · Qualified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940D0B-1C6A-425B-9E40-67FDA0FB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62125"/>
            <a:ext cx="50387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Candidate resume reports modelling Meghalaya PDS and analysing 4,500+government records.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7E4882-304C-489E-8424-089C003D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1762125"/>
            <a:ext cx="2952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S25 · Projects, Jul–Sep 2024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3AC888-596B-4517-9E30-A8267F3E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770869-DD0F-4AFD-A502-792AFA47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2571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F37 · Qualified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C5153D-EA16-4FAD-95B2-DA9DEEDD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524125"/>
            <a:ext cx="50387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Candidate resume lists manashdeori09@gmail.com, LinkedIn/manash-protim-deori and openness to relocation.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679AE9-4F9E-4B5E-AFE0-E297E283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524125"/>
            <a:ext cx="2952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S25 · Header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Retrieved 2026-10-08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53DE71-750F-49D1-823B-05A1CA41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37E2B1-6980-4628-BDA0-A91CFACA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2571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F38 · Qualified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DB96C1-2F6F-4810-8BF4-6180767C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286125"/>
            <a:ext cx="50387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Congress won the 2024 Secunderabad Cantonment by-election, according to reporting.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9210C3-8D26-4DE7-A73B-7DC3311EF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286125"/>
            <a:ext cx="2952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S27 · Opening paragraph; reported result 4 June 2024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2024-06-04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BE41E4-DB2D-40EC-B77C-FC11F69EB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FF62F9-A320-41CF-93CE-7ACE11BC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2571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F39 · Qualified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EB06C0-490A-47EA-A0DC-7A628372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048125"/>
            <a:ext cx="50387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PRS reports 2024–25 state revenue receipts 24% below BE.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67E224-0F31-46B9-BA0B-A3EA118D3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048125"/>
            <a:ext cx="2952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S10 · Table 11, Revenue Receipts row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2024–25 BE to actual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45C11A-0C75-48D0-9BED-5F0E061D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E438CE-8A0B-4869-B153-3BD8B534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2571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F40 · Qualified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31F039-2CA4-4049-88EB-B3526EA9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10125"/>
            <a:ext cx="50387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PRS reports 2024–25 urban-development actuals 56% below BE.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F48F6C-2168-43F6-A776-A87C71B5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810125"/>
            <a:ext cx="2952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S10 · Table 14, Urban Development row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2024–25 BE to actual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61938A-3464-43F9-8C47-4089AE27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875A81-5D4E-4CC6-851F-D789D928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2571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165744"/>
                </a:solidFill>
                <a:latin typeface="DejaVu Sans"/>
                <a:ea typeface="DejaVu Sans"/>
                <a:cs typeface="DejaVu Sans"/>
              </a:rPr>
              <a:t>F41 · Qualified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08090F-019E-4732-89C1-8AFB5055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72125"/>
            <a:ext cx="50387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PRS reports 2024–25 transport actuals 33% below BE.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348D21-70C4-4687-8893-19236DDE0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5572125"/>
            <a:ext cx="2952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S10 · Table 14, Transport row</a:t>
            </a:r>
          </a:p>
          <a:p xmlns:a="http://schemas.openxmlformats.org/drawingml/2006/main">
            <a:pPr>
              <a:def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2024–25 BE to actual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614BC5-B57C-4B28-B7B0-A01F6BCC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544923108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CB6F0C-BE90-4E4E-90A1-D7E5A7DB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FULL ATTRIBUTION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D76604-54A3-4975-ABA0-EEE6A341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DB099C-8C96-442C-BE28-994C5C7E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A29 · S01 / S02 / S03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6E41FC-1718-44D3-9D22-1569E80B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61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AFF592-0ECE-478B-8DA9-6035AE77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Sources · S01–S03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FB686C-56BC-4EED-92F0-131947E0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S01  About us and six work verticals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362F8A-4BCA-4448-8B4A-980DBECC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Inclusive Minds · Undated; retrieved 2026-10-08 · Retrieved 8 October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6E6D9D-660C-4500-BF1B-F53E659D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6a52f57f48564d04"/>
              </a:rPr>
              <a:t>https://www.inclusiveminds.in/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8F9278-471D-4748-A2AF-E8E0C4B00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About Us; Our Work | Self-description; not independent evidence of effectiveness.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676EC2-5AE9-439A-A493-3AE2580A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S02  Generalist hiring post: Hyderabad, on-site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F54F9A-37B6-447E-AA35-9E65D535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Inclusive Minds · Undated public post · Retrieved 8 October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CEB54C-9B0D-47FC-9BD6-711ACABC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076d5389c11c4dd3"/>
              </a:rPr>
              <a:t>https://www.linkedin.com/posts/inclusive-minds-ind_hiring-generalist-politicalconsulting-activity-7495111990261252096-TM4l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598EE7-88C4-4A4D-AEA5-8F0152CC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Employer-authored post text | Exact vacancy supplied by applicant is absent; current acceptance of applications not confirmed.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BC9995-8F1A-4D17-AFAA-C9DD2866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S03  G.O.Ms.No.55: CURE reorganisation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F48B85-B2BA-45CE-AD15-7189900A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Government of Telangana, MAUD · 2026-02-11 · Retrieved 8 October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19171F-2EFD-47B9-9D9B-F61513B6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98210fcf875c4ebd"/>
              </a:rPr>
              <a:t>https://tg-bn-website-assets.flowwlabs.tech/GOs-and-ACTs/GO.Ms.No.55_11-02-2026.pdf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F62A84-298F-4538-8AD5-148394EFF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PDF pp.1–2; operative paragraphs 2–3 | Read through the official BuildNow listing S04. Boundary allocation is by zone; this deck supplies no GIS polygons.</a:t>
            </a:r>
          </a:p>
        </p:txBody>
      </p:sp>
    </p:spTree>
    <p:extLst>
      <p:ext uri="{BB962C8B-B14F-4D97-AF65-F5344CB8AC3E}">
        <p14:creationId xmlns:p14="http://schemas.microsoft.com/office/powerpoint/2010/main" val="667929906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CE347D-74E7-41DE-8A41-05479017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FULL ATTRIBUTION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594121-3AF0-43F3-8FA9-23582EED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F9AB45-B87B-4C16-9025-BB36F715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A30 · S04 / S05 / S06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0BC863-2795-4703-B423-26EB244A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62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604A8-5E25-4E42-8E3B-C74DCE3D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Sources · S04–S06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86FA13-B480-4071-939D-F572D383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S04  Government Orders and 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19E81D-8F98-4F53-B15D-F04236B9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Government of Telangana, BuildNow · Orders dated 2025–2026 · Retrieved 8 October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0668C5-7E49-4732-ACF8-D020F4CB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bcbe02a7586a485f"/>
              </a:rPr>
              <a:t>https://buildnow.telangana.gov.in/go-and-act/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5588CD-3E88-4AEE-8F19-4F3B4884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GO 55, GO 45, GO 16, GO 68 and GO 69 entries | Listing proves instrument/date only; unread instruments are not treated as proof of full legal effect.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D2B943-9C47-44FF-9ADE-502CB505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S05  About the Agency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12B383-31FC-420F-8A12-B5A867C63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HYDRAA, Government of Telangana · Undated current page · Retrieved 8 October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5EC27C-99CC-4056-B6B9-06119395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26c7a8a24a404ed6"/>
              </a:rPr>
              <a:t>https://hydraa.telangana.gov.in/about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0BCEAF-5111-453E-A34D-FBF8FF75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About HYDRAA; Jurisdictional Coverage; Functional Wings | Mandate description is not evidence of case-specific legality, environmental outcomes or public approval.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593A01-FE33-4107-A424-D75A770F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S06  Performance of Political Parties: Telangana 2023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C93749-6E84-4993-A2F5-948B115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Election Commission of India · 2023 Assembly election; report undated · Retrieved 8 October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8B2AE9-5C89-4E08-A974-5064D0DF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288050230ece4c74"/>
              </a:rPr>
              <a:t>https://www.eci.gov.in/eci-backend/public/all_files/full-statistical-reports/telangana/2023/Performance_of_Political_Parties.pdf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BA5918-2501-4A3C-B730-02739FD5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Performance of Political Parties, printed p.1, WON column | Historical election-time affiliation; BHRS normalised to BRS for presentation.</a:t>
            </a:r>
          </a:p>
        </p:txBody>
      </p:sp>
    </p:spTree>
    <p:extLst>
      <p:ext uri="{BB962C8B-B14F-4D97-AF65-F5344CB8AC3E}">
        <p14:creationId xmlns:p14="http://schemas.microsoft.com/office/powerpoint/2010/main" val="563000396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FA84B4-AB87-4D1B-9F66-F79B1B2B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FULL ATTRIBUTION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2BD9EE-76F7-40CE-96E3-9C52EF4E3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3B0C8-A960-484B-89F9-998701B54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A31 · S07 / S08 / S09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CAB991-ED1E-45F9-B102-E2D4F440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63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C80FF7-AD5A-412D-A027-1BF122F6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Sources · S07–S09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57C913-E50E-402F-8B98-CD3F1B0D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S07  List of Successful Candidates: Telangana 2023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A696A9-B1EF-4726-9791-6059402A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Election Commission of India · 2023 Assembly election; report undated · Retrieved 8 October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CF39C4-B655-4423-BD74-E06980C9E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1811e890dc6242d7"/>
              </a:rPr>
              <a:t>https://www.eci.gov.in/eci-backend/public/all_files/full-statistical-reports/telangana/2023/List_of_Successful_Candidates.pdf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F795D1-AAF2-4B6B-B473-943DE6C0E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PDF pp.2–3; AC 57–71 and winner/runner-up columns | AC 57–71 is an explicitly selected 15-seat study set, not the entire metropolis or current municipal footprint. Fresh target rows were inaccessible in the ten-round review. Retain as pending primary recheck.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EBBCC8-8325-4AC3-85E1-08030AD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S08  Constituency-wise Detailed Results: 2024 Lok Sabha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3101D1-C0FE-40F5-876A-30995F48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Election Commission of India · 2024 Lok Sabha election; report undated · Retrieved 8 October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B2760C-6395-4FC8-A8A3-654503D4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5f827c8799e14a06"/>
              </a:rPr>
              <a:t>https://www.eci.gov.in/eci-backend/public/all_files/GE-2024-statistical-report/33-Constituency-Wise-Detailed-Result.pdf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196221-AF1B-4147-98C6-2733E64B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Printed pp.580,581,583,585; four selected PCs | Four selected constituencies have different boundaries from AC 57–71. No aggregate metropolitan vote share calculated.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1F9BB7-7C0A-4527-AA5F-4D035670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S09  Budget in Brief: 2026–27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0FC8C7-7B66-46AE-963A-282C0A545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Government of Telangana, Finance Department · 2026–27 budget; posted May 2026 · Retrieved 8 October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A9B03F-42EA-4039-B400-CEBEFA78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0bf08a925c7a43be"/>
              </a:rPr>
              <a:t>https://www.telangana.gov.in/wp-content/uploads/2026/05/Budget-in-Brief.pdf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34DF35-89CD-471D-A6FA-DB17DA8F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Printed p.4: VII Capital Expenditure; printed pp.15–17: Major Schemes Budget Allocation | BE=budget estimate; RE=revised estimate. Allocation does not prove sanction, release, expenditure or delivery.</a:t>
            </a:r>
          </a:p>
        </p:txBody>
      </p:sp>
    </p:spTree>
    <p:extLst>
      <p:ext uri="{BB962C8B-B14F-4D97-AF65-F5344CB8AC3E}">
        <p14:creationId xmlns:p14="http://schemas.microsoft.com/office/powerpoint/2010/main" val="44862264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465503-A88D-419F-98E2-E5ED6326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FULL ATTRIBUTION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65623F-A67C-43F2-BC42-07ABCC05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9F76DE-37A6-4C03-9317-7535EB34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A32 · S10 / S11 / S12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CCF052-52D6-4D95-896A-1D5A0ED6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64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BAA3C3-C19D-40F0-8C4C-E0975ECD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Sources · S10–S12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46ED96-0B4A-461E-A540-D7072A6E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S10  Telangana Budget Analysis 2026–27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3DBCFE-39E2-4B3B-BD01-B6F697B3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PRS Legislative Research · 2026–27 budget analysis · Retrieved 8 October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B3023D-407A-44F0-920C-6C44D809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4dfe59cb34fe4ae3"/>
              </a:rPr>
              <a:t>https://prsindia.org/budgets/states/telangana-budget-analysis-2026-27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C28C01-D2A8-4954-9375-EAF82799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Fiscal summary; Table 11 revenue receipts and Table 14 sector BE-to-actual comparison, 2024–25 | Independent analytical scrutiny, but budget totals share upstream state documents. PRS net expenditure definition differs from headline gross budget.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094A33-7674-4495-BF06-D23AC6D9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S11  Vision / Mission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BFD308-5A08-4279-A137-B0D5A4DD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Musi Riverfront Development Corporation · Undated; current page · Retrieved 8 October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110DD6-6403-4C57-99E7-38F097C1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e28e6ea710634f86"/>
              </a:rPr>
              <a:t>https://musi.telangana.gov.in/VisionMusi.aspx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821E2B-0255-46F6-8D43-EEAF20FC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Vision paragraphs | Objectives only. Its promised sustainability outcomes are not independently verified achievements.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786573-C7F4-4501-BF52-B5EBC39B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S12  Musi Invites: Phase I presentation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199F5-6D65-4CF7-B437-0FA30BC4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Government of Telangana, TG Digital Media · Event 2026-03-13; page 2026-03-16 · Retrieved 8 October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835083-7333-4A33-9574-FBC694C4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ce461174f31d4b3f"/>
              </a:rPr>
              <a:t>https://www.telangana.gov.in/news/press-releases/2026/03/honble-cm-sri-a-revanth-reddy-participated-in-musi-invites-a-presentation-on-musi-river-rejuvenation-phase-i-by-mrdcl-in-hyderabad/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C61E69-7461-43D7-AAAC-0E7C01AB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English text: compensation and livelihood concerns; concluding presentation description | Official statements demonstrate stated commitments and acknowledged concerns; household counts and cost forecasts excluded.</a:t>
            </a:r>
          </a:p>
        </p:txBody>
      </p:sp>
    </p:spTree>
    <p:extLst>
      <p:ext uri="{BB962C8B-B14F-4D97-AF65-F5344CB8AC3E}">
        <p14:creationId xmlns:p14="http://schemas.microsoft.com/office/powerpoint/2010/main" val="119586936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FB82D0-087E-4457-8805-10416C47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FULL ATTRIBUTION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7E05A3-1770-4168-A2F8-D75268A7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C491F3-BDAE-40D8-9664-B1A48EBC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A33 · S13 / S14 / S15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27445B-CAB1-47CE-9AD7-9ECF3238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65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BEDF1B-0E8D-4327-8763-ED0D7B836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Sources · S13–S15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E6AF9-C4E3-430F-AFED-18A36837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S13  Musi project tenders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2F777-F0B8-4514-9354-211F038A5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MRDCL · Listing dates vary · Retrieved 8 October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7C9D21-9243-4076-ADD4-BE292360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9cc6c567811349c9"/>
              </a:rPr>
              <a:t>https://musi.telangana.gov.in/Tenders.aspx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03D96E-7084-44AE-A42B-FDD9D0DA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Tender listings | Discovery source only; not used to assert current award, construction or completion status.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4A5D45-1C3E-4FC1-ACD6-27AA48B2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S14  Invest Telangana portal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9AAC55-2892-4D71-A438-9FEB0B92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Government of Telangana investment portal · Undated; current page · Retrieved 8 October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02B9BC-B216-424D-95FF-32EDB7E9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1c03e24348124afe"/>
              </a:rPr>
              <a:t>https://invest.telangana.gov.in/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D8DC43-DF84-455F-9BE5-E1F7BECE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Industrial parks; Genome Valley at Shamirpet; electronics clusters | Promotional source used for cluster identification only. Export, GDP and jobs claims are not ingested.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67F757-B9CE-4570-AB67-6317B6F4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S15  Moosarambagh bridge event and corporation logos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A7D931-E4DC-428C-B2D1-4AF7E3CD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Government of Telangana, TG Digital Media · Event 2026-08-31; page 2026-09-01 · Retrieved 8 October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52B006-C2C0-4B5D-BED0-BD4C65CC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d9b7c753a4a443d1"/>
              </a:rPr>
              <a:t>https://www.telangana.gov.in/news/press-releases/2026/08/honble-cm-sri-a-revanth-reddy-addresses-the-public-meeting-at-ghmc-sports-stadium-amberpet-hyderabad-following-the-inauguration-of-the-moosarambagh-high-level-bridge/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44C35-9506-4C04-B2B4-303601EC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English text, paragraph on three corporation logos | Later corroboration of the three corporation names; not independent of state government.</a:t>
            </a:r>
          </a:p>
        </p:txBody>
      </p:sp>
    </p:spTree>
    <p:extLst>
      <p:ext uri="{BB962C8B-B14F-4D97-AF65-F5344CB8AC3E}">
        <p14:creationId xmlns:p14="http://schemas.microsoft.com/office/powerpoint/2010/main" val="2059187917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3CA3FA-37F2-422A-8713-487F95324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FULL ATTRIBUTION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7B240-587B-495E-B058-DA4D1A7C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CE2474-E5D0-47BA-B181-D91F775A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A34 · S16 / S17 / S18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8421F-AF4D-4DBE-B880-6282CDCC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66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EFFC61-E56D-4E0F-ABEE-FB9E8E23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Sources · S16–S18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8556BA-1166-4AA2-B524-66DD3BC3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S16  Journal of Parliamentary Information, September 2014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81497A-1767-4CB4-A3A7-137B8EF1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Lok Sabha Secretariat · 2014-09; reference 2014-06-02 · Retrieved 8 October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3E5AC-3B63-4679-8655-B68E1FF8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52e2f5e1fe8f4490"/>
              </a:rPr>
              <a:t>https://eparlib.sansad.in/bitstream/123456789/58523/1/JPI_September_2014.pdf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DC231F-4DAF-4E8F-BCF1-9B82C15A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Printed p.410 / PDF p.63; first Telangana Assembly | First Assembly party position as of 2 June 2014; not current legislative strength. Relevant passage could not be freshly read in the ten-round review.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0A5474-CA34-4FDC-A8BA-6BC87E8A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S17  Telangana Assembly polls: TRS wins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929EC8-1055-4436-816C-0733C024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Scroll · 2018-12-12 · Retrieved 8 October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58BD6A-6D89-41E7-BB64-E681F0F1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cf784f7e71dc4870"/>
              </a:rPr>
              <a:t>https://scroll.in/latest/905254/telangana-assembly-polls-counting-of-votes-in-three-way-contest-set-to-begin-at-8-am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3C8149-DE72-4B35-917F-7892F391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Updated article paragraph below party table | 2018 TRS 88/INC 19 historical context only. Table total has an internal leading-seat inconsistency; full statewide reconstruction not used.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F40663-2E88-4962-9A52-8995FF07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S18  2018 Telangana complete winners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2297E2-2CD8-4E5C-82EC-21656DC9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The Times of India · 2018-12-12 · Retrieved 8 October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760499-2D64-413C-A6BC-50F4C7EC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7db0d32956e14240"/>
              </a:rPr>
              <a:t>https://timesofindia.indiatimes.com/city/hyderabad/telangana-election-results-2018-complete-list-of-winning-candidates-in-telangana/articleshow/67055845.cms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416257-9D6D-422E-8960-2ACB857C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Opening results paragraph | Corroborates S17; not an independent official election record.</a:t>
            </a:r>
          </a:p>
        </p:txBody>
      </p:sp>
    </p:spTree>
    <p:extLst>
      <p:ext uri="{BB962C8B-B14F-4D97-AF65-F5344CB8AC3E}">
        <p14:creationId xmlns:p14="http://schemas.microsoft.com/office/powerpoint/2010/main" val="383293142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EDB0DA-F55B-4750-BA7C-F0AC65551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FULL ATTRIBUTION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A72635-9C07-41E8-A8A4-16D50FC2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975E09-31F7-46C7-9DCF-B8945D78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A35 · S19 / S20 / S21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6FE162-CA3F-4C97-8463-0C4F6559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67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BBA53F-839D-4991-B6E3-51CF9C20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Sources · S19–S21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3F0B20-A859-4069-B793-E64B8C37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S19  Hyderabad civic body voting: 2016 recap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DE15A2-F4FD-4776-A742-C86E0C25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NDTV, Uma Sudhir · 2020-12-01 · Retrieved 8 October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FC65E-74E0-456C-A816-B6D0EC6F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9a8cf06063724fd1"/>
              </a:rPr>
              <a:t>https://www.ndtv.com/telangana-news/after-a-bitter-campaign-voting-begins-for-hyderabad-civic-body-polls-2332363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FE79DD-DE1A-4026-9226-59E43A12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Paragraph beginning A total of 1,122 candidates | 2016 historical seat table is reported, not a newly ingested TSEC dataset.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F09780-E673-4C49-B434-1CAD2C07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S20  GHMC 2016 result report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0391D3-065C-4B8B-8250-63461185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PTI / The New Indian Express · 2016-02-06 · Retrieved 8 October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5DAC28-2F7B-4E05-93DD-3C112C1F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72865a6409904e8c"/>
              </a:rPr>
              <a:t>https://www.newindianexpress.com/amp/story/cities/hyderabad/2016/Feb/06/ghmc-polls-sops-for-poor-seemandhra-candidates-key-in-trs-win-889293.html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0DD9C0-A0ED-48A7-BEAB-5C5C5984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Results paragraphs: 99/150; Congress 2; TDP 1/BJP 4; MIM 44 | Only numerical result used; causal claims about communities in the article are excluded.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505AE2-8985-4E7F-BD62-56CB22810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S21  Week after GHMC results: mayor question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556C08-9B3D-41FF-9079-A403B40B6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The Indian Express, Rahul V Pisharody · 2020-12-14 · Retrieved 8 October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C07E46-6A60-4996-8905-5A9C0E7B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83b0f5ced30049d1"/>
              </a:rPr>
              <a:t>https://indianexpress.com/article/cities/hyderabad/ghmc-results-hyderabad-mayor-7104860/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6F2F4C-8ADA-429F-A72C-8FD90334F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Results paragraphs: TRS 56, AIMIM 44, BJP 48 | Historical council only. Article dated after Neredmet result; legal rules in 2020 not assumed current.</a:t>
            </a:r>
          </a:p>
        </p:txBody>
      </p:sp>
    </p:spTree>
    <p:extLst>
      <p:ext uri="{BB962C8B-B14F-4D97-AF65-F5344CB8AC3E}">
        <p14:creationId xmlns:p14="http://schemas.microsoft.com/office/powerpoint/2010/main" val="1235416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D0E8F7-37AD-4A0F-B4CD-8F902260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FULL ATTRIBUTION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AFB8AA-D898-4A7C-A68A-1485A17A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F8A38C-6554-4E77-B6E6-231348D5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A36 · S22 / S23 / S24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FAC743-CDFF-4676-B205-DF75BECE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68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E803F2-FF6A-40A1-9E5C-E29C1766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Sources · S22–S24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F50BB2-0FB4-4931-B325-0920BC324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S22  Neredmet final result takes TRS tally to 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2B5484-E6B5-4369-BEF6-272469AE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The Tribune, Naveen S Garewal · 2020-12-11 · Retrieved 8 October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3C671C-4812-4150-88A9-C39E8B46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b3207a7724c247a3"/>
              </a:rPr>
              <a:t>https://www.tribuneindia.com/news/nation/trs-wins-neredmet-ghmc-division-takes-its-tally-to-56-182436/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0F5776-DB43-41AE-BD3E-995597A7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Final paragraph: 56,48,44,2; Neredmet timing | Reconciles earlier incomplete tally 55. Direct current TSEC table was inaccessible in this run.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7E003A-769E-4528-B60A-FD0D8E9F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S23  Jubilee Hills bypoll result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E1E6E-A1A6-40A6-88C4-B0D1304D0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The Economic Times · 2025-11-14 · Retrieved 8 October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5FD5B-5D44-422D-AB36-0209CFA4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394e44a248d34aed"/>
              </a:rPr>
              <a:t>https://m.economictimes.com/news/politics-and-nation/jubilee-hills-bypoll-result-2025-in-l-deepak-reddy-vs-sunita-vs-naveen-yadav-check-who-is-winning/articleshow/125315450.cms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DB6C29-67EA-4EB9-A0DF-2E7CE45A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Winner report | Winner only used. Vote totals conflict with another live report and are excluded. Shares corporate lineage with S24. Count as one reporting lineage.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163BB-E37C-4BE8-9F57-A361E008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S24  Jubilee Hills bypoll winner live report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8B1778-43E7-4A6B-ACAD-147343A7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The Times of India · 2025-11-14 · Retrieved 8 October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D3A5BC-A0BF-48ED-B5DD-BFED4509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22340afce6474da8"/>
              </a:rPr>
              <a:t>https://timesofindia.indiatimes.com/city/hyderabad/assembly-bypoll-result-2025-live-updates-by-election-results-jubilee-hills-budgam-nagrota-anta-ghatshila-tarn-taran-dampa-nuapada/liveblog/125313066.cms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DB8910-04E2-40B4-BA8A-9FF690A2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13:18 IST winner update | Same corporate group as S23. Winner supported as reporting, not two independent confirmations. Official final Form 20 pending.</a:t>
            </a:r>
          </a:p>
        </p:txBody>
      </p:sp>
    </p:spTree>
    <p:extLst>
      <p:ext uri="{BB962C8B-B14F-4D97-AF65-F5344CB8AC3E}">
        <p14:creationId xmlns:p14="http://schemas.microsoft.com/office/powerpoint/2010/main" val="1968125126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B2D3D0-2B53-4735-88D1-F76130ED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FULL ATTRIBUTION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B6482B-B051-4550-8BB3-54128A27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57EA5C-67A2-49CE-87B7-012A521D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A37 · S25 / S26 / S27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9128F-BDA4-443B-BBB8-FEEFA925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69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B1EC8-41A5-4738-9B6E-6BBA496B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Sources · S25–S27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C68B13-054F-4AA5-A055-9DA93EED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S25  Portfolio resume 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7FDC4F-47C9-471E-8A32-B2B08429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Manash Protim Deori · Repository read 2026-10-08 · Retrieved 8 October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856265-0B43-4D6F-B4EC-84C2AC17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2be3a5b27aeb46dc"/>
              </a:rPr>
              <a:t>https://github.com/ManashProtimDeori/Manash-Protim-Deori/blob/c5ab9d8ac00c9180b880fa50f3e5f99682e1dac1/src/data/resume.ts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644A7C-A63D-44F4-880A-A2C5AE0E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workExperience, projects, education and header | Owner-controlled resume, not independent verification. No claim to Telugu/Urdu fluency, Hyderabad fieldwork or hiring endorsement.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138D55-CC29-43A6-91AD-2B8D6CD4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S26  2024 Secunderabad Cantonment by-election records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7EEA6C-FB46-4A8E-8311-14999FB7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Chief Electoral Officer Telangana · 2024 by-election records · Retrieved 8 October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B1FA10-98D4-471F-B1D2-6DD8AE28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c12a1d467f094ef5"/>
              </a:rPr>
              <a:t>https://ceotelangana.nic.in/BYE_GE_2024.html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845CB6-AC8E-4D97-A9A2-226DF000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By-election index: result declaration and Form 20 links | Index read. Linked result declaration/Form 20 could not be retrieved. The index is not used to verify an unread result.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6C3466-D97D-4B74-8337-7F5FED113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S27  Congress wins Secunderabad Cantonment by-election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18B2B0-95C9-4B7E-A3FD-5038DDA9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The New Indian Express · 2024-06-05 · Retrieved 8 October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0B211E-7844-40FB-8037-461B5EA1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420fb4be19154c75"/>
              </a:rPr>
              <a:t>https://www.newindianexpress.com/states/telangana/2024/Jun/05/congress-wins-byelection-to-secunderabad-cantonment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AD880-27F9-40E9-808D-0CF7CB84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Opening paragraph: Congress win; result event 4 June 2024 | Winner/event only. Vote totals and current party strength are not adopted. Official declaration remains pending.</a:t>
            </a:r>
          </a:p>
        </p:txBody>
      </p:sp>
    </p:spTree>
    <p:extLst>
      <p:ext uri="{BB962C8B-B14F-4D97-AF65-F5344CB8AC3E}">
        <p14:creationId xmlns:p14="http://schemas.microsoft.com/office/powerpoint/2010/main" val="1225246072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CCF7D5-A4A6-40DD-A58D-E4E245C5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FULL ATTRIBUTION REGISTER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E730ED-4B26-47D9-863C-99E5CC9F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8DAA8F-15E8-4688-A50D-4B9915E7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A38 · S28 / S29 / S30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0D69D0-1F5D-47E3-8117-B3A1535B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70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8CEB69-C335-482E-8341-E03A5754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Sources · S28–S30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2B90C-C07A-4C2B-BFFB-559C4110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S28  2025 Jubilee Hills by-election records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C240D4-853B-4E9E-95AF-B1E441E2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Chief Electoral Officer Telangana · 2025 by-election records · Retrieved 8 October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D542E4-70D4-47FD-BADD-0A95228C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e9a73c1c943648eb"/>
              </a:rPr>
              <a:t>https://ceotelangana.nic.in/BYE_GE_2025.HTML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FD3F6B-683C-4C56-9FAC-4F9862C3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Index: State Gazette Form 21-D declaration link | Index read. Linked declaration PDF unavailable. No unread document content or disputed final vote total is adopted.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B135F2-9C9B-49CC-BA8B-4AD03D82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S29  Quality in qualitative evaluation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119E7A-0276-44D0-9FCE-3D8F9DF7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HM Treasury / GOV.UK · 2003 framework; current HTML edition retrieved 2026-10-08 · Retrieved 8 October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FBFD79-D56D-4B68-A661-5324FBDF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f212acdda0754c97"/>
              </a:rPr>
              <a:t>https://www.gov.uk/government/publications/the-magenta-book/quality-in-qualitative-evaluation-qqe-html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865915-6190-4A70-B4BC-9276D654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Framework questions 7–8: sample selection/coverage; question 18: auditability | Supports research-design checks. Does not prescribe 5–8 interviews or validate this proposed Hyderabad pilot.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1CF06B-3451-4E1C-A9D3-C001A41D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S30  Magenta Book: evaluation guidance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C80E89-3461-481C-A65A-CB57007E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HM Treasury / GOV.UK · 2026 edition · Retrieved 8 October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2027ED-E0E6-487B-A2BE-3D5B8D82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165744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629c85af3b0b49e6"/>
              </a:rPr>
              <a:t>https://www.gov.uk/government/publications/the-magenta-book/magenta-book-central-government-guidance-on-evaluation-html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E38A39-A4CA-4C7D-9E6A-94E53335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088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Quality principles; theory of change and evaluation-design sections | Supports evaluation design, uncertainty and comparison. Local workload, outputs and future effectiveness remain untested.</a:t>
            </a:r>
          </a:p>
        </p:txBody>
      </p:sp>
    </p:spTree>
    <p:extLst>
      <p:ext uri="{BB962C8B-B14F-4D97-AF65-F5344CB8AC3E}">
        <p14:creationId xmlns:p14="http://schemas.microsoft.com/office/powerpoint/2010/main" val="575174459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A30FA1-A0BB-46B1-9938-DB487227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PRIOR CONTENT VERSIONS, NOT FRESH 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7F7D82-7464-428A-915B-2824DC5E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715723-E838-480C-B44D-86AE06AD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A39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A0FFB1-F536-482E-959D-4885CAC3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71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021FD-B089-4D40-9A0A-C5B75268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Historical self-review · 01–05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29A2AD-1746-4D52-929B-BFCB33E5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v01 · Scope, vacancy and candidate inputs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890F31-4BED-407D-8D6E-59E99EBE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8097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Created 32-slide full draft, candidate inputs, research cut-off and unresolved vacancy register.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AFD683-B5DF-4782-8463-AC31C376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364722-FCB7-489B-AACE-C39F2AC1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v02 · Geography and institutional definitions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6B04A-FF23-4805-A26F-FAD24294B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051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Installed GO 55 zone allocations and separated electoral, municipal and planning units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C3507E-2D89-495E-BED0-B15E8076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6FE8C3-A452-4200-B79A-3F7EDE4E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v03 · Source collection and provenance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0540C1-B121-40C4-A506-B35AC7BB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6004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Added five-gate method, source hierarchy, source-lineage disclosure and source accessibility limitations.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2DF462-688F-4176-8CEC-938ECD76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A514C5-CD4C-4CA4-AE87-DF2F49F9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v04 · Election data integrity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E34DC2-1A74-4FFB-BF58-BAF08AA42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958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Inserted historical civic table, primary Assembly study-set count and four separate parliamentary records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72F6A3-7658-468B-BC81-7879BA69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C57307-E670-4158-A8CB-2CF3F0F7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v05 · Historical context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4741C2-30D4-4F7F-B9BD-971E2B44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53911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Added selective 2014/2018/2020/2023/2026 timeline, labelled reported legacy context and avoided voter-transfer claims.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645272-B911-4A28-96E5-55447D9A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559102355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9EAACA-E9AE-43F7-895C-64BA2319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PRIOR CONTENT VERSIONS, NOT FRESH 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1F0612-9F4B-49D1-A823-D225A826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9629C0-812E-4DAF-BAA0-46FF03D2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A40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E9E71E-D4A3-475D-8360-08468B37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72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94857E-C0D6-4368-B055-FF5FFCDC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Historical self-review · 06–10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2ED7D8-89A4-4689-8AF7-89ECED544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v06 · Current actors and legal 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138152-9B47-488D-A874-73974115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8097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Replaced current-strength implications with election-time affiliation and reported 2025 winner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35E404-FEFC-42A9-A8CE-FBA5677E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54031F-9FFD-4742-9E37-0A0F5E3C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v07 · Governance and responsibility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DA5994-AB89-4DCB-B043-5D9B91EF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051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Mapped documented agency roles and inserted coordination scaffold without asserting proven institutional failure.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021A38-26B2-4460-A438-01BDF446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04311E-F9B3-49E7-ACB4-3EE7BD93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v08 · Political economy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D94549-A5C4-4659-B728-DF97255E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6004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Added cluster/access distinction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C3B141-AC86-45CE-9FC4-6D588B3D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A39C8C-5F40-4606-9703-FFF83344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v09 · Public services and fiscal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7BE5AB-A8F7-46C6-B061-E1EB73BE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958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Inserted actual BE/RE amounts, separate transport instruments, statewide welfare scope and plan-to-revised-plan capex arithmetic.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FD6356-1C9A-4869-ACF7-C1705130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91F738-6742-4322-B715-7003088D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v10 · Live policy case studies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3590BA-6911-40AE-A099-EFF95C77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53911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Added Musi and HYDRAA briefs with objective/commitment/mandate distinctions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FEF65B-FDAD-4E51-A086-BE2949E4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5828419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A7075C-2F82-4FAE-A2EB-FC6E39B8E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PRIOR CONTENT VERSIONS, NOT FRESH 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157BDE-DE3E-4854-979E-686B35EF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9BC4CC-7795-47B1-96C0-32590724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A41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A65C98-E38D-4EEE-A1E3-2164D715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73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9F26AB-12B5-4FA3-8CC8-CE4DA3FF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Historical self-review · 11–15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33CC50-9A57-46FB-A765-7D9CC5F05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v11 · Causality and competing explanations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1A22D6-5808-4DD1-8313-FC62EEDB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8097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Tested causal overreach across deck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98669C-FDC3-4FA1-B20F-596C8C88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851449-A2CF-4676-8CB8-9A91D6B2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v12 · Media, language and qualitative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A4E96F-6AAB-495E-BEB1-93DF8A2DB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051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Added source/translation/representativeness discipline and known/disputed/unknown queue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760D54-F45E-4267-8C74-67617069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2816BE-8B7D-4DA1-8116-BD981AD6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v13 · Recommendation feasibility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B60711-C4AC-432F-8F94-C2687562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6004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Produced budget tracker baseline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B4804B-0F8F-4F3A-94F9-26B47812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94CF80-35FB-41F5-B4DA-117C40AAC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v14 · Immediate candidate contribution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AAE697-4141-466A-AEB1-3A011443E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958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Audited every major finding/proposal for adjacent contribution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8C93F-F818-4BAD-BE6F-1DCDB1B4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6BF8F4-B2D5-47E8-BB40-EC1EAB01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v15 · CV truthfulness and role fit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2F9C84-A2EE-4038-881D-6F6A7BF9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53911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Added role fit and self-reportedCV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831439-8EAF-454A-BCC8-CCA0C2D3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07629722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3E35A5-DF56-4BF2-A7A2-137EC8E0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PRIOR CONTENT VERSIONS, NOT FRESH 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D98562-9F52-408F-ADFB-C6EFC77D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98570E-CA51-4B00-84A7-84273D918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A42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0E2A30-5208-44FB-88BD-522C2847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74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A6C7F-24E9-4D9D-BBDF-AF8B3DCC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Historical self-review · 16–20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7479C9-6AF2-4095-89F8-ACE12A75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v16 · 30/60/90-day realism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CDA28B-F92C-481C-8C2E-0828A368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8097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Added sequential 30/60/90-day outputs and resource assumptions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0EEB6E-B95E-4D3B-A7AE-03A78903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FAE86C-3C79-4D9B-9B44-D1DC998C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v17 · Narrative and executive compression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51CDC9-3DE4-4DAE-8FBA-C8C22F9BB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051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Completed operating system and closing proposition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2B0DFE-2B78-4E78-93C4-7973C8B1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C68EA9-DE5F-4FE1-8084-BCD578CB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v18 · Adversarial review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EBF910-7157-4CDD-B9D0-C732CCC93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6004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Adversarially reviewed conflicting bypoll totals, 2020 incomplete tally, H-CITY label and boundary selection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336291-0DC1-4954-B522-C929A6988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B7F256-986F-4B30-8C62-74D56741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v19 · Full traceability and five-gate closure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909AE4-827B-4150-B4FE-B5C73821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958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Closed all substantive-ID mappings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571BD6-DD1F-4946-BF58-B3C1CF62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48CF43-59D5-4CFF-A525-33839991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v20 · Final currency and presentation readiness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65C80A-4B97-4B9E-9B85-D033CE02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53911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Refreshed source snapshot/date boundaries, verified final sequence and all 32 main slides, retained residual uncertainties and released contentv 20.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5AB972-EB16-496E-977E-584A46D4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23674531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183302-D8E9-47C3-9D37-5C645CF0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LIMITS ON RELEASED CLAIMS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F6A05-FDBA-4EC7-939F-AF69D83A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3A9629-8F03-4387-9B06-86686FCD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A43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BFBF89-6986-4833-9CA4-044CC484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75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EF980E-DA1B-4E5F-A75F-9BD392EC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Evidence qualifications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CC45DE-2B5C-4F38-AFD1-5E82A8DA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Fresh source gaps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69A58C-77D3-4809-B508-3F1E3A98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8097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F08–F11 and F16 remain blocked. Retained historical inputs cannot be called freshly verified.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2513E3-2B13-4DA0-8069-131662F1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AF1EA3-21F1-496E-B6BA-86A98688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By-election status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0CA1A0-732E-47F8-9F45-F66B42D3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051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Cantonment 2024 and Jubilee 2025 wins are reported. Official declarations / final Form 20 still pending.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249C04-9124-4CE4-AEAA-B2753383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0A68F-E4A8-4306-9718-86517525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Shared lineage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40A4FD-2CED-4BE8-B54C-F01DB397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6004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ET/TOI share Times Group. PRS/state budget figures share upstream state documents.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97F9C4-C5A6-4856-8D19-E2234D40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4FD3F0-D1AD-44BC-9F54-06579472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Selected scope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64D8C3-83E9-459D-955D-4FF49C361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958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Three margins, 15 selected ACs and six selected budget lines do not cover the full party, metropolis or CURE budget.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9CA30F-0891-4400-A2A7-DCBDD0026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171062-C26D-40F8-8A4D-9A6E5962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Candidate experience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516A26-C1DC-4945-99F6-A66E64F4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53911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CV remains self-report. Local fluency, networks and independently audited impact are unclaimed.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C379ED-49E2-4035-9D1C-7D50EC80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64815287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E7DD9E-4B3E-4EFA-BF8E-9135C7780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PRACTICAL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CD5F5D-6BA9-417C-BA96-7EE190E0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6E12E3-119F-4308-B52A-A3CC5E44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A44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A4CAC2-C039-4FBB-970C-ABB7CE9F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76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A2A79A-8D15-422A-A218-4ABE53CE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Pilot assumptions and acceptance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2029A7-914C-4CF8-B89A-0DA1D952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Desk capacity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C163DF-3AE4-4894-982E-7879F906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8097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Start with one brief. Log sourcing/review effort before agreeing quantities within the proposed 10-hour weekly envelope.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E711BF-EC4A-4018-9E9B-0A7EBFF07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C9E9ED-8301-4187-8586-69268E6E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Interview coverage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3EA202-5B1C-4DB7-8CF1-1089FC9A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051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5–8 is exploratory and conditional. Explain purposive inclusion, missing voices, language review and stopping rule.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76B508-EDCE-470A-9023-6F117BCB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F64616-B638-4BB1-8754-8339DF50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Quality denominator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7BA720-0F01-46E6-9DC4-6900D68D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6004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Unsupported claims / audited claims; closed / logged corrections. Keep newly detected errors visible.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693704-94CF-4550-9145-89001E76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41CD01-B5CE-402C-84E2-9C6F407B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Comparable turnaround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4E0B4E-8501-4CD8-8ED3-4CEDEF1D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958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Match scope and review depth before comparing brief time. A lower raw correction count does not prove improvement.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340ACD-BC8D-41C5-BC94-B7614A41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76C5A0-3EFD-4927-82BE-DA7EAEDB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Access fallback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9B9523-37F3-4677-A6BA-32EB2586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53911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Named reviewer and permitted records first. If unavailable, narrow the brief and retain precise unanswered questions.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FF2D93-CF7B-47C9-999A-FF6C77F2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62059537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8F5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B971E2-2BC9-4915-A07E-8DDC918F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A14D25"/>
                </a:solidFill>
                <a:latin typeface="DejaVu Sans"/>
                <a:ea typeface="DejaVu Sans"/>
                <a:cs typeface="DejaVu Sans"/>
              </a:rPr>
              <a:t>NAMED RECORD REQUESTS AND EXPIRY RULES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C0DAAA-1C5E-4073-877C-73B55CE0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9AAB92-0339-42A7-A0A0-8349B2543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81775"/>
            <a:ext cx="8286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64716B"/>
                </a:solidFill>
                <a:latin typeface="DejaVu Sans"/>
                <a:ea typeface="DejaVu Sans"/>
                <a:cs typeface="DejaVu Sans"/>
              </a:rPr>
              <a:t>A45 ·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D4C685-CE03-4942-AF34-5BE019385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81775"/>
            <a:ext cx="11049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90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77 / 77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61CD97-9167-46D6-AB7F-F584CB99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90575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75" b="0">
                <a:solidFill>
                  <a:srgbClr val="172C2A"/>
                </a:solidFill>
                <a:latin typeface="Bitstream Charter"/>
                <a:ea typeface="Bitstream Charter"/>
                <a:cs typeface="Bitstream Charter"/>
              </a:rPr>
              <a:t>Evidence refresh queue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23BF96-006C-4D68-9835-848BD5D5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Hiring manager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8E833A-C3C9-4AAD-8F06-A1AA5301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8097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Exact requisition/open status and first work product. Confirm before operational use.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A43A5-4591-4FC0-80F3-4EB2F582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E3F7D9-2D90-455E-A9A4-D223B7359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ECI / CEO / Lok Sabha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0B6B22-107D-4994-8014-53B9390A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051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F08–F11 election rows; F16 passage from Lok Sabha Secretariat. Final 2024 Cantonment and 2025 Jubilee declaration/Form 20 before numerical reuse.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7E8010-5212-496F-9194-F8EAE649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2E6DFE-938F-4188-9E77-649C0E26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TSEC / corporations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6DE4F7-838F-495E-8E75-DC67BD60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6004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Current poll notification, ward polygons, officeholder/legal roster. Refresh whenever a new order or schedule appears.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3FAE2E-FD7E-4CC7-A759-2D4780EA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EE194C-688F-4190-8EA3-F0AE096E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Scheme agencies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DDB4E9-2139-4B96-B2A6-DEE02B2E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49580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Sanction, award, release, spend, completion and safeguards. Update after every new document or reporting period.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A12CCC-C8E0-43FF-B401-0FBD205F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88953A-646B-4EE4-A84D-54E1150E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76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65744"/>
                </a:solidFill>
                <a:latin typeface="Bitstream Charter"/>
                <a:ea typeface="Bitstream Charter"/>
                <a:cs typeface="Bitstream Charter"/>
              </a:rPr>
              <a:t>Research lead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4C1384-26C5-4422-8825-88AFF2AB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5391150"/>
            <a:ext cx="714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172C2A"/>
                </a:solidFill>
                <a:latin typeface="DejaVu Sans"/>
                <a:ea typeface="DejaVu Sans"/>
                <a:cs typeface="DejaVu Sans"/>
              </a:rPr>
              <a:t>Confirm question, permissions, language support, reviewer and pilot acceptance before fieldwork or output commitments.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29A27C-9620-4F58-AC8C-C2866D2E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2585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DejaVu Sans"/>
        <a:ea typeface=""/>
        <a:cs typeface=""/>
      </a:majorFont>
      <a:minorFont>
        <a:latin typeface="DejaVu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2026-10-08T17:33:10.0790000Z</dcterms:created>
  <dcterms:modified xsi:type="dcterms:W3CDTF">2026-10-08T17:33:10.0790000Z</dcterms:modified>
</coreProperties>
</file>