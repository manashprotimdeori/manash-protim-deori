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7097e06c6a4355" /><Relationship Type="http://schemas.openxmlformats.org/officeDocument/2006/relationships/extended-properties" Target="/docProps/app.xml" Id="R8ad104551ed34b4e" /><Relationship Type="http://schemas.openxmlformats.org/officeDocument/2006/relationships/officeDocument" Target="/ppt/presentation.xml" Id="Rbad7c02fb9f74448" /></Relationships>
</file>

<file path=ppt/presentation.xml><?xml version="1.0" encoding="utf-8"?>
<p:presentation xmlns:p="http://schemas.openxmlformats.org/presentationml/2006/main">
  <p:sldMasterIdLst>
    <p:sldMasterId xmlns:r="http://schemas.openxmlformats.org/officeDocument/2006/relationships" id="2147483648" r:id="Ra3bf79ed91464807"/>
  </p:sldMasterIdLst>
  <p:notesMasterIdLst>
    <p:notesMasterId xmlns:r="http://schemas.openxmlformats.org/officeDocument/2006/relationships" r:id="R76753b0ab0fe4e6e"/>
  </p:notesMasterIdLst>
  <p:sldIdLst>
    <p:sldId xmlns:r="http://schemas.openxmlformats.org/officeDocument/2006/relationships" id="256" r:id="R8ea1d01312e94e93"/>
    <p:sldId xmlns:r="http://schemas.openxmlformats.org/officeDocument/2006/relationships" id="257" r:id="R09d2b74b65514ad0"/>
    <p:sldId xmlns:r="http://schemas.openxmlformats.org/officeDocument/2006/relationships" id="258" r:id="R7dec9f505ba84431"/>
    <p:sldId xmlns:r="http://schemas.openxmlformats.org/officeDocument/2006/relationships" id="259" r:id="R7b61ef8355514860"/>
    <p:sldId xmlns:r="http://schemas.openxmlformats.org/officeDocument/2006/relationships" id="260" r:id="R7320196f6cfc4935"/>
    <p:sldId xmlns:r="http://schemas.openxmlformats.org/officeDocument/2006/relationships" id="261" r:id="R9b29a1d376be41b2"/>
    <p:sldId xmlns:r="http://schemas.openxmlformats.org/officeDocument/2006/relationships" id="262" r:id="Rd2d455cbd3204b63"/>
    <p:sldId xmlns:r="http://schemas.openxmlformats.org/officeDocument/2006/relationships" id="263" r:id="R0dfaefe81aed4eab"/>
    <p:sldId xmlns:r="http://schemas.openxmlformats.org/officeDocument/2006/relationships" id="264" r:id="Ref32386fc6a5478c"/>
    <p:sldId xmlns:r="http://schemas.openxmlformats.org/officeDocument/2006/relationships" id="265" r:id="R35e8e90df06346df"/>
    <p:sldId xmlns:r="http://schemas.openxmlformats.org/officeDocument/2006/relationships" id="266" r:id="R91823ff4d566456b"/>
    <p:sldId xmlns:r="http://schemas.openxmlformats.org/officeDocument/2006/relationships" id="267" r:id="R8c18abdf54d042e0"/>
    <p:sldId xmlns:r="http://schemas.openxmlformats.org/officeDocument/2006/relationships" id="268" r:id="R31105ec413e0488a"/>
    <p:sldId xmlns:r="http://schemas.openxmlformats.org/officeDocument/2006/relationships" id="269" r:id="R7ac7600755d2401d"/>
    <p:sldId xmlns:r="http://schemas.openxmlformats.org/officeDocument/2006/relationships" id="270" r:id="R22345cf4e8df4516"/>
    <p:sldId xmlns:r="http://schemas.openxmlformats.org/officeDocument/2006/relationships" id="271" r:id="R02c0510cac494296"/>
    <p:sldId xmlns:r="http://schemas.openxmlformats.org/officeDocument/2006/relationships" id="272" r:id="Re50415f715df4af4"/>
    <p:sldId xmlns:r="http://schemas.openxmlformats.org/officeDocument/2006/relationships" id="273" r:id="Rb094a113088848c1"/>
    <p:sldId xmlns:r="http://schemas.openxmlformats.org/officeDocument/2006/relationships" id="274" r:id="Ra587a3030cb3497e"/>
    <p:sldId xmlns:r="http://schemas.openxmlformats.org/officeDocument/2006/relationships" id="275" r:id="R893cc350aaee4bac"/>
    <p:sldId xmlns:r="http://schemas.openxmlformats.org/officeDocument/2006/relationships" id="276" r:id="Rb23bb2fff4ba49fe"/>
    <p:sldId xmlns:r="http://schemas.openxmlformats.org/officeDocument/2006/relationships" id="277" r:id="R1d2007e8e291498f"/>
    <p:sldId xmlns:r="http://schemas.openxmlformats.org/officeDocument/2006/relationships" id="278" r:id="Rff20b2a3ffbe4f2d"/>
    <p:sldId xmlns:r="http://schemas.openxmlformats.org/officeDocument/2006/relationships" id="279" r:id="R24efdd5c8fb14555"/>
    <p:sldId xmlns:r="http://schemas.openxmlformats.org/officeDocument/2006/relationships" id="280" r:id="R904e3fe947864fc0"/>
    <p:sldId xmlns:r="http://schemas.openxmlformats.org/officeDocument/2006/relationships" id="281" r:id="Rcae2bf683dcf4422"/>
    <p:sldId xmlns:r="http://schemas.openxmlformats.org/officeDocument/2006/relationships" id="282" r:id="R5c15b9ce7ee94f64"/>
    <p:sldId xmlns:r="http://schemas.openxmlformats.org/officeDocument/2006/relationships" id="283" r:id="R9be68867a49b4951"/>
    <p:sldId xmlns:r="http://schemas.openxmlformats.org/officeDocument/2006/relationships" id="284" r:id="R661ac60144964193"/>
    <p:sldId xmlns:r="http://schemas.openxmlformats.org/officeDocument/2006/relationships" id="285" r:id="R070a0d1c305d4070"/>
    <p:sldId xmlns:r="http://schemas.openxmlformats.org/officeDocument/2006/relationships" id="286" r:id="R4de51f2fd2584f61"/>
    <p:sldId xmlns:r="http://schemas.openxmlformats.org/officeDocument/2006/relationships" id="287" r:id="Rc1b6cd1c6c1c4a12"/>
    <p:sldId xmlns:r="http://schemas.openxmlformats.org/officeDocument/2006/relationships" id="288" r:id="Rdbd9041c10654c66"/>
    <p:sldId xmlns:r="http://schemas.openxmlformats.org/officeDocument/2006/relationships" id="289" r:id="Rb6e77a32f2ed4cb1"/>
    <p:sldId xmlns:r="http://schemas.openxmlformats.org/officeDocument/2006/relationships" id="290" r:id="Rdd011c89f5084282"/>
    <p:sldId xmlns:r="http://schemas.openxmlformats.org/officeDocument/2006/relationships" id="291" r:id="Rd1ef370f2dd84c70"/>
    <p:sldId xmlns:r="http://schemas.openxmlformats.org/officeDocument/2006/relationships" id="292" r:id="R7d7bb532e66947cb"/>
    <p:sldId xmlns:r="http://schemas.openxmlformats.org/officeDocument/2006/relationships" id="293" r:id="R9fba669495d1408f"/>
    <p:sldId xmlns:r="http://schemas.openxmlformats.org/officeDocument/2006/relationships" id="294" r:id="Re8cc735f68864695"/>
    <p:sldId xmlns:r="http://schemas.openxmlformats.org/officeDocument/2006/relationships" id="295" r:id="Rb4d8510852d5405d"/>
    <p:sldId xmlns:r="http://schemas.openxmlformats.org/officeDocument/2006/relationships" id="296" r:id="Rc5b3e1d62245452b"/>
    <p:sldId xmlns:r="http://schemas.openxmlformats.org/officeDocument/2006/relationships" id="297" r:id="R79d321e1d1d94f26"/>
    <p:sldId xmlns:r="http://schemas.openxmlformats.org/officeDocument/2006/relationships" id="298" r:id="R4066cb1424314aa1"/>
    <p:sldId xmlns:r="http://schemas.openxmlformats.org/officeDocument/2006/relationships" id="299" r:id="R619e9dbd10984049"/>
    <p:sldId xmlns:r="http://schemas.openxmlformats.org/officeDocument/2006/relationships" id="300" r:id="R63903dcc1837427e"/>
    <p:sldId xmlns:r="http://schemas.openxmlformats.org/officeDocument/2006/relationships" id="301" r:id="R3c5b0e5880b24fd4"/>
    <p:sldId xmlns:r="http://schemas.openxmlformats.org/officeDocument/2006/relationships" id="302" r:id="R1ff71b34cc09419c"/>
    <p:sldId xmlns:r="http://schemas.openxmlformats.org/officeDocument/2006/relationships" id="303" r:id="Rbb9c809d140f4e8c"/>
    <p:sldId xmlns:r="http://schemas.openxmlformats.org/officeDocument/2006/relationships" id="304" r:id="Ra335cebde16f47e2"/>
    <p:sldId xmlns:r="http://schemas.openxmlformats.org/officeDocument/2006/relationships" id="305" r:id="Rdeacda91184c4f2e"/>
    <p:sldId xmlns:r="http://schemas.openxmlformats.org/officeDocument/2006/relationships" id="306" r:id="R058798110dd7402d"/>
    <p:sldId xmlns:r="http://schemas.openxmlformats.org/officeDocument/2006/relationships" id="307" r:id="R35716f41a5584523"/>
    <p:sldId xmlns:r="http://schemas.openxmlformats.org/officeDocument/2006/relationships" id="308" r:id="Rdb2efb14eae44de4"/>
    <p:sldId xmlns:r="http://schemas.openxmlformats.org/officeDocument/2006/relationships" id="309" r:id="R260d8e889568414a"/>
    <p:sldId xmlns:r="http://schemas.openxmlformats.org/officeDocument/2006/relationships" id="310" r:id="Rf37a5116cab24615"/>
    <p:sldId xmlns:r="http://schemas.openxmlformats.org/officeDocument/2006/relationships" id="311" r:id="Rd6acd3f89b7e49b1"/>
    <p:sldId xmlns:r="http://schemas.openxmlformats.org/officeDocument/2006/relationships" id="312" r:id="R7708fd70189746a2"/>
    <p:sldId xmlns:r="http://schemas.openxmlformats.org/officeDocument/2006/relationships" id="313" r:id="R06c744f976a4474e"/>
    <p:sldId xmlns:r="http://schemas.openxmlformats.org/officeDocument/2006/relationships" id="314" r:id="R68dcf01a970c4242"/>
    <p:sldId xmlns:r="http://schemas.openxmlformats.org/officeDocument/2006/relationships" id="315" r:id="R88ac43904a7242d7"/>
    <p:sldId xmlns:r="http://schemas.openxmlformats.org/officeDocument/2006/relationships" id="316" r:id="R96b15b33f7384315"/>
    <p:sldId xmlns:r="http://schemas.openxmlformats.org/officeDocument/2006/relationships" id="317" r:id="Rce2a65583e47455a"/>
    <p:sldId xmlns:r="http://schemas.openxmlformats.org/officeDocument/2006/relationships" id="318" r:id="R0f3a110613a24f72"/>
    <p:sldId xmlns:r="http://schemas.openxmlformats.org/officeDocument/2006/relationships" id="319" r:id="Rfcef797096dc4407"/>
    <p:sldId xmlns:r="http://schemas.openxmlformats.org/officeDocument/2006/relationships" id="320" r:id="Rc4745ce7c4874a50"/>
    <p:sldId xmlns:r="http://schemas.openxmlformats.org/officeDocument/2006/relationships" id="321" r:id="Rd995ee761a39473f"/>
    <p:sldId xmlns:r="http://schemas.openxmlformats.org/officeDocument/2006/relationships" id="322" r:id="Rda44585214cf456b"/>
    <p:sldId xmlns:r="http://schemas.openxmlformats.org/officeDocument/2006/relationships" id="323" r:id="R1ef22e7b27524aee"/>
    <p:sldId xmlns:r="http://schemas.openxmlformats.org/officeDocument/2006/relationships" id="324" r:id="R84f663fe474b4394"/>
    <p:sldId xmlns:r="http://schemas.openxmlformats.org/officeDocument/2006/relationships" id="325" r:id="R86d204fd7a804643"/>
    <p:sldId xmlns:r="http://schemas.openxmlformats.org/officeDocument/2006/relationships" id="326" r:id="R0ed1b7f084b442df"/>
    <p:sldId xmlns:r="http://schemas.openxmlformats.org/officeDocument/2006/relationships" id="327" r:id="R5899bcd66056493b"/>
    <p:sldId xmlns:r="http://schemas.openxmlformats.org/officeDocument/2006/relationships" id="328" r:id="R93bda6f1677c4d53"/>
    <p:sldId xmlns:r="http://schemas.openxmlformats.org/officeDocument/2006/relationships" id="329" r:id="Rcd9d910636b74f52"/>
    <p:sldId xmlns:r="http://schemas.openxmlformats.org/officeDocument/2006/relationships" id="330" r:id="R5b346d0c00d94053"/>
    <p:sldId xmlns:r="http://schemas.openxmlformats.org/officeDocument/2006/relationships" id="331" r:id="Rd8917d5221ee440b"/>
    <p:sldId xmlns:r="http://schemas.openxmlformats.org/officeDocument/2006/relationships" id="332" r:id="Ra7ba4344e7e84d20"/>
    <p:sldId xmlns:r="http://schemas.openxmlformats.org/officeDocument/2006/relationships" id="333" r:id="R089c129762e548eb"/>
    <p:sldId xmlns:r="http://schemas.openxmlformats.org/officeDocument/2006/relationships" id="334" r:id="Ra6fa00aaf7924c11"/>
    <p:sldId xmlns:r="http://schemas.openxmlformats.org/officeDocument/2006/relationships" id="335" r:id="Rbdfb77857a514017"/>
    <p:sldId xmlns:r="http://schemas.openxmlformats.org/officeDocument/2006/relationships" id="336" r:id="Rb52bcfbb60a84b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27505f1a1141f9" /><Relationship Type="http://schemas.openxmlformats.org/officeDocument/2006/relationships/slideMaster" Target="/ppt/slideMasters/slideMaster1.xml" Id="Ra3bf79ed91464807" /><Relationship Type="http://schemas.openxmlformats.org/officeDocument/2006/relationships/notesMaster" Target="/ppt/notesMasters/notesMaster1.xml" Id="R76753b0ab0fe4e6e" /><Relationship Type="http://schemas.openxmlformats.org/officeDocument/2006/relationships/presProps" Target="/ppt/presProps.xml" Id="R7ef665df514140f3" /><Relationship Type="http://schemas.openxmlformats.org/officeDocument/2006/relationships/tableStyles" Target="/ppt/tableStyles.xml" Id="R99b659040c324f6d" /><Relationship Type="http://schemas.openxmlformats.org/officeDocument/2006/relationships/slide" Target="/ppt/slides/slide1.xml" Id="R8ea1d01312e94e93" /><Relationship Type="http://schemas.openxmlformats.org/officeDocument/2006/relationships/slide" Target="/ppt/slides/slide2.xml" Id="R09d2b74b65514ad0" /><Relationship Type="http://schemas.openxmlformats.org/officeDocument/2006/relationships/slide" Target="/ppt/slides/slide3.xml" Id="R7dec9f505ba84431" /><Relationship Type="http://schemas.openxmlformats.org/officeDocument/2006/relationships/slide" Target="/ppt/slides/slide4.xml" Id="R7b61ef8355514860" /><Relationship Type="http://schemas.openxmlformats.org/officeDocument/2006/relationships/slide" Target="/ppt/slides/slide5.xml" Id="R7320196f6cfc4935" /><Relationship Type="http://schemas.openxmlformats.org/officeDocument/2006/relationships/slide" Target="/ppt/slides/slide6.xml" Id="R9b29a1d376be41b2" /><Relationship Type="http://schemas.openxmlformats.org/officeDocument/2006/relationships/slide" Target="/ppt/slides/slide7.xml" Id="Rd2d455cbd3204b63" /><Relationship Type="http://schemas.openxmlformats.org/officeDocument/2006/relationships/slide" Target="/ppt/slides/slide8.xml" Id="R0dfaefe81aed4eab" /><Relationship Type="http://schemas.openxmlformats.org/officeDocument/2006/relationships/slide" Target="/ppt/slides/slide9.xml" Id="Ref32386fc6a5478c" /><Relationship Type="http://schemas.openxmlformats.org/officeDocument/2006/relationships/slide" Target="/ppt/slides/slide10.xml" Id="R35e8e90df06346df" /><Relationship Type="http://schemas.openxmlformats.org/officeDocument/2006/relationships/slide" Target="/ppt/slides/slide11.xml" Id="R91823ff4d566456b" /><Relationship Type="http://schemas.openxmlformats.org/officeDocument/2006/relationships/slide" Target="/ppt/slides/slide12.xml" Id="R8c18abdf54d042e0" /><Relationship Type="http://schemas.openxmlformats.org/officeDocument/2006/relationships/slide" Target="/ppt/slides/slide13.xml" Id="R31105ec413e0488a" /><Relationship Type="http://schemas.openxmlformats.org/officeDocument/2006/relationships/slide" Target="/ppt/slides/slide14.xml" Id="R7ac7600755d2401d" /><Relationship Type="http://schemas.openxmlformats.org/officeDocument/2006/relationships/slide" Target="/ppt/slides/slide15.xml" Id="R22345cf4e8df4516" /><Relationship Type="http://schemas.openxmlformats.org/officeDocument/2006/relationships/slide" Target="/ppt/slides/slide16.xml" Id="R02c0510cac494296" /><Relationship Type="http://schemas.openxmlformats.org/officeDocument/2006/relationships/slide" Target="/ppt/slides/slide17.xml" Id="Re50415f715df4af4" /><Relationship Type="http://schemas.openxmlformats.org/officeDocument/2006/relationships/slide" Target="/ppt/slides/slide18.xml" Id="Rb094a113088848c1" /><Relationship Type="http://schemas.openxmlformats.org/officeDocument/2006/relationships/slide" Target="/ppt/slides/slide19.xml" Id="Ra587a3030cb3497e" /><Relationship Type="http://schemas.openxmlformats.org/officeDocument/2006/relationships/slide" Target="/ppt/slides/slide20.xml" Id="R893cc350aaee4bac" /><Relationship Type="http://schemas.openxmlformats.org/officeDocument/2006/relationships/slide" Target="/ppt/slides/slide21.xml" Id="Rb23bb2fff4ba49fe" /><Relationship Type="http://schemas.openxmlformats.org/officeDocument/2006/relationships/slide" Target="/ppt/slides/slide22.xml" Id="R1d2007e8e291498f" /><Relationship Type="http://schemas.openxmlformats.org/officeDocument/2006/relationships/slide" Target="/ppt/slides/slide23.xml" Id="Rff20b2a3ffbe4f2d" /><Relationship Type="http://schemas.openxmlformats.org/officeDocument/2006/relationships/slide" Target="/ppt/slides/slide24.xml" Id="R24efdd5c8fb14555" /><Relationship Type="http://schemas.openxmlformats.org/officeDocument/2006/relationships/slide" Target="/ppt/slides/slide25.xml" Id="R904e3fe947864fc0" /><Relationship Type="http://schemas.openxmlformats.org/officeDocument/2006/relationships/slide" Target="/ppt/slides/slide26.xml" Id="Rcae2bf683dcf4422" /><Relationship Type="http://schemas.openxmlformats.org/officeDocument/2006/relationships/slide" Target="/ppt/slides/slide27.xml" Id="R5c15b9ce7ee94f64" /><Relationship Type="http://schemas.openxmlformats.org/officeDocument/2006/relationships/slide" Target="/ppt/slides/slide28.xml" Id="R9be68867a49b4951" /><Relationship Type="http://schemas.openxmlformats.org/officeDocument/2006/relationships/slide" Target="/ppt/slides/slide29.xml" Id="R661ac60144964193" /><Relationship Type="http://schemas.openxmlformats.org/officeDocument/2006/relationships/slide" Target="/ppt/slides/slide30.xml" Id="R070a0d1c305d4070" /><Relationship Type="http://schemas.openxmlformats.org/officeDocument/2006/relationships/slide" Target="/ppt/slides/slide31.xml" Id="R4de51f2fd2584f61" /><Relationship Type="http://schemas.openxmlformats.org/officeDocument/2006/relationships/slide" Target="/ppt/slides/slide32.xml" Id="Rc1b6cd1c6c1c4a12" /><Relationship Type="http://schemas.openxmlformats.org/officeDocument/2006/relationships/slide" Target="/ppt/slides/slide33.xml" Id="Rdbd9041c10654c66" /><Relationship Type="http://schemas.openxmlformats.org/officeDocument/2006/relationships/slide" Target="/ppt/slides/slide34.xml" Id="Rb6e77a32f2ed4cb1" /><Relationship Type="http://schemas.openxmlformats.org/officeDocument/2006/relationships/slide" Target="/ppt/slides/slide35.xml" Id="Rdd011c89f5084282" /><Relationship Type="http://schemas.openxmlformats.org/officeDocument/2006/relationships/slide" Target="/ppt/slides/slide36.xml" Id="Rd1ef370f2dd84c70" /><Relationship Type="http://schemas.openxmlformats.org/officeDocument/2006/relationships/slide" Target="/ppt/slides/slide37.xml" Id="R7d7bb532e66947cb" /><Relationship Type="http://schemas.openxmlformats.org/officeDocument/2006/relationships/slide" Target="/ppt/slides/slide38.xml" Id="R9fba669495d1408f" /><Relationship Type="http://schemas.openxmlformats.org/officeDocument/2006/relationships/slide" Target="/ppt/slides/slide39.xml" Id="Re8cc735f68864695" /><Relationship Type="http://schemas.openxmlformats.org/officeDocument/2006/relationships/slide" Target="/ppt/slides/slide40.xml" Id="Rb4d8510852d5405d" /><Relationship Type="http://schemas.openxmlformats.org/officeDocument/2006/relationships/slide" Target="/ppt/slides/slide41.xml" Id="Rc5b3e1d62245452b" /><Relationship Type="http://schemas.openxmlformats.org/officeDocument/2006/relationships/slide" Target="/ppt/slides/slide42.xml" Id="R79d321e1d1d94f26" /><Relationship Type="http://schemas.openxmlformats.org/officeDocument/2006/relationships/slide" Target="/ppt/slides/slide43.xml" Id="R4066cb1424314aa1" /><Relationship Type="http://schemas.openxmlformats.org/officeDocument/2006/relationships/slide" Target="/ppt/slides/slide44.xml" Id="R619e9dbd10984049" /><Relationship Type="http://schemas.openxmlformats.org/officeDocument/2006/relationships/slide" Target="/ppt/slides/slide45.xml" Id="R63903dcc1837427e" /><Relationship Type="http://schemas.openxmlformats.org/officeDocument/2006/relationships/slide" Target="/ppt/slides/slide46.xml" Id="R3c5b0e5880b24fd4" /><Relationship Type="http://schemas.openxmlformats.org/officeDocument/2006/relationships/slide" Target="/ppt/slides/slide47.xml" Id="R1ff71b34cc09419c" /><Relationship Type="http://schemas.openxmlformats.org/officeDocument/2006/relationships/slide" Target="/ppt/slides/slide48.xml" Id="Rbb9c809d140f4e8c" /><Relationship Type="http://schemas.openxmlformats.org/officeDocument/2006/relationships/slide" Target="/ppt/slides/slide49.xml" Id="Ra335cebde16f47e2" /><Relationship Type="http://schemas.openxmlformats.org/officeDocument/2006/relationships/slide" Target="/ppt/slides/slide50.xml" Id="Rdeacda91184c4f2e" /><Relationship Type="http://schemas.openxmlformats.org/officeDocument/2006/relationships/slide" Target="/ppt/slides/slide51.xml" Id="R058798110dd7402d" /><Relationship Type="http://schemas.openxmlformats.org/officeDocument/2006/relationships/slide" Target="/ppt/slides/slide52.xml" Id="R35716f41a5584523" /><Relationship Type="http://schemas.openxmlformats.org/officeDocument/2006/relationships/slide" Target="/ppt/slides/slide53.xml" Id="Rdb2efb14eae44de4" /><Relationship Type="http://schemas.openxmlformats.org/officeDocument/2006/relationships/slide" Target="/ppt/slides/slide54.xml" Id="R260d8e889568414a" /><Relationship Type="http://schemas.openxmlformats.org/officeDocument/2006/relationships/slide" Target="/ppt/slides/slide55.xml" Id="Rf37a5116cab24615" /><Relationship Type="http://schemas.openxmlformats.org/officeDocument/2006/relationships/slide" Target="/ppt/slides/slide56.xml" Id="Rd6acd3f89b7e49b1" /><Relationship Type="http://schemas.openxmlformats.org/officeDocument/2006/relationships/slide" Target="/ppt/slides/slide57.xml" Id="R7708fd70189746a2" /><Relationship Type="http://schemas.openxmlformats.org/officeDocument/2006/relationships/slide" Target="/ppt/slides/slide58.xml" Id="R06c744f976a4474e" /><Relationship Type="http://schemas.openxmlformats.org/officeDocument/2006/relationships/slide" Target="/ppt/slides/slide59.xml" Id="R68dcf01a970c4242" /><Relationship Type="http://schemas.openxmlformats.org/officeDocument/2006/relationships/slide" Target="/ppt/slides/slide60.xml" Id="R88ac43904a7242d7" /><Relationship Type="http://schemas.openxmlformats.org/officeDocument/2006/relationships/slide" Target="/ppt/slides/slide61.xml" Id="R96b15b33f7384315" /><Relationship Type="http://schemas.openxmlformats.org/officeDocument/2006/relationships/slide" Target="/ppt/slides/slide62.xml" Id="Rce2a65583e47455a" /><Relationship Type="http://schemas.openxmlformats.org/officeDocument/2006/relationships/slide" Target="/ppt/slides/slide63.xml" Id="R0f3a110613a24f72" /><Relationship Type="http://schemas.openxmlformats.org/officeDocument/2006/relationships/slide" Target="/ppt/slides/slide64.xml" Id="Rfcef797096dc4407" /><Relationship Type="http://schemas.openxmlformats.org/officeDocument/2006/relationships/slide" Target="/ppt/slides/slide65.xml" Id="Rc4745ce7c4874a50" /><Relationship Type="http://schemas.openxmlformats.org/officeDocument/2006/relationships/slide" Target="/ppt/slides/slide66.xml" Id="Rd995ee761a39473f" /><Relationship Type="http://schemas.openxmlformats.org/officeDocument/2006/relationships/slide" Target="/ppt/slides/slide67.xml" Id="Rda44585214cf456b" /><Relationship Type="http://schemas.openxmlformats.org/officeDocument/2006/relationships/slide" Target="/ppt/slides/slide68.xml" Id="R1ef22e7b27524aee" /><Relationship Type="http://schemas.openxmlformats.org/officeDocument/2006/relationships/slide" Target="/ppt/slides/slide69.xml" Id="R84f663fe474b4394" /><Relationship Type="http://schemas.openxmlformats.org/officeDocument/2006/relationships/slide" Target="/ppt/slides/slide70.xml" Id="R86d204fd7a804643" /><Relationship Type="http://schemas.openxmlformats.org/officeDocument/2006/relationships/slide" Target="/ppt/slides/slide71.xml" Id="R0ed1b7f084b442df" /><Relationship Type="http://schemas.openxmlformats.org/officeDocument/2006/relationships/slide" Target="/ppt/slides/slide72.xml" Id="R5899bcd66056493b" /><Relationship Type="http://schemas.openxmlformats.org/officeDocument/2006/relationships/slide" Target="/ppt/slides/slide73.xml" Id="R93bda6f1677c4d53" /><Relationship Type="http://schemas.openxmlformats.org/officeDocument/2006/relationships/slide" Target="/ppt/slides/slide74.xml" Id="Rcd9d910636b74f52" /><Relationship Type="http://schemas.openxmlformats.org/officeDocument/2006/relationships/slide" Target="/ppt/slides/slide75.xml" Id="R5b346d0c00d94053" /><Relationship Type="http://schemas.openxmlformats.org/officeDocument/2006/relationships/slide" Target="/ppt/slides/slide76.xml" Id="Rd8917d5221ee440b" /><Relationship Type="http://schemas.openxmlformats.org/officeDocument/2006/relationships/slide" Target="/ppt/slides/slide77.xml" Id="Ra7ba4344e7e84d20" /><Relationship Type="http://schemas.openxmlformats.org/officeDocument/2006/relationships/slide" Target="/ppt/slides/slide78.xml" Id="R089c129762e548eb" /><Relationship Type="http://schemas.openxmlformats.org/officeDocument/2006/relationships/slide" Target="/ppt/slides/slide79.xml" Id="Ra6fa00aaf7924c11" /><Relationship Type="http://schemas.openxmlformats.org/officeDocument/2006/relationships/slide" Target="/ppt/slides/slide80.xml" Id="Rbdfb77857a514017" /><Relationship Type="http://schemas.openxmlformats.org/officeDocument/2006/relationships/slide" Target="/ppt/slides/slide81.xml" Id="Rb52bcfbb60a84b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4c2c18a8c441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5caa716f1f4c4a" /><Relationship Type="http://schemas.openxmlformats.org/officeDocument/2006/relationships/notesMaster" Target="/ppt/notesMasters/notesMaster1.xml" Id="R71b93be269ac40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89c5a7a9904326" /><Relationship Type="http://schemas.openxmlformats.org/officeDocument/2006/relationships/notesMaster" Target="/ppt/notesMasters/notesMaster1.xml" Id="Rf779ebe1882045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8ff3423b7d4e4e" /><Relationship Type="http://schemas.openxmlformats.org/officeDocument/2006/relationships/notesMaster" Target="/ppt/notesMasters/notesMaster1.xml" Id="Raccc47a45a5a44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5e6ff4d4bf41c7" /><Relationship Type="http://schemas.openxmlformats.org/officeDocument/2006/relationships/notesMaster" Target="/ppt/notesMasters/notesMaster1.xml" Id="R5442ad6f29cc4b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8ee9a183e1486e" /><Relationship Type="http://schemas.openxmlformats.org/officeDocument/2006/relationships/notesMaster" Target="/ppt/notesMasters/notesMaster1.xml" Id="R27d55975f5f84c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b60425d7e24173" /><Relationship Type="http://schemas.openxmlformats.org/officeDocument/2006/relationships/notesMaster" Target="/ppt/notesMasters/notesMaster1.xml" Id="R33fd928ba5a94c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c529fbfde04ace" /><Relationship Type="http://schemas.openxmlformats.org/officeDocument/2006/relationships/notesMaster" Target="/ppt/notesMasters/notesMaster1.xml" Id="R93424f651c5849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33690639f1417c" /><Relationship Type="http://schemas.openxmlformats.org/officeDocument/2006/relationships/notesMaster" Target="/ppt/notesMasters/notesMaster1.xml" Id="R5a02568ea11d43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05dda90874453c" /><Relationship Type="http://schemas.openxmlformats.org/officeDocument/2006/relationships/notesMaster" Target="/ppt/notesMasters/notesMaster1.xml" Id="R441acbc7691840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d009d3623d4b2f" /><Relationship Type="http://schemas.openxmlformats.org/officeDocument/2006/relationships/notesMaster" Target="/ppt/notesMasters/notesMaster1.xml" Id="Rd3985b00134441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e1eac4b2994630" /><Relationship Type="http://schemas.openxmlformats.org/officeDocument/2006/relationships/notesMaster" Target="/ppt/notesMasters/notesMaster1.xml" Id="R8700723aa49243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87de6ca7d84966" /><Relationship Type="http://schemas.openxmlformats.org/officeDocument/2006/relationships/notesMaster" Target="/ppt/notesMasters/notesMaster1.xml" Id="R85a1aeb0b2c545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50c78fbcfa4c5d" /><Relationship Type="http://schemas.openxmlformats.org/officeDocument/2006/relationships/notesMaster" Target="/ppt/notesMasters/notesMaster1.xml" Id="R67f40834dc2041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597809936b4b46" /><Relationship Type="http://schemas.openxmlformats.org/officeDocument/2006/relationships/notesMaster" Target="/ppt/notesMasters/notesMaster1.xml" Id="R27ceb527d3834f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4f254d1ab04dde" /><Relationship Type="http://schemas.openxmlformats.org/officeDocument/2006/relationships/notesMaster" Target="/ppt/notesMasters/notesMaster1.xml" Id="R67cafcb01da04e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514be8691c4498" /><Relationship Type="http://schemas.openxmlformats.org/officeDocument/2006/relationships/notesMaster" Target="/ppt/notesMasters/notesMaster1.xml" Id="R20ded15f6d4048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9b0cf130b64ccd" /><Relationship Type="http://schemas.openxmlformats.org/officeDocument/2006/relationships/notesMaster" Target="/ppt/notesMasters/notesMaster1.xml" Id="R6d38848ae26646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f7bfe4f3a64397" /><Relationship Type="http://schemas.openxmlformats.org/officeDocument/2006/relationships/notesMaster" Target="/ppt/notesMasters/notesMaster1.xml" Id="Rf959ebd591274d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cac04332574562" /><Relationship Type="http://schemas.openxmlformats.org/officeDocument/2006/relationships/notesMaster" Target="/ppt/notesMasters/notesMaster1.xml" Id="Rb2e8cff1ef4d49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702b314f0645f4" /><Relationship Type="http://schemas.openxmlformats.org/officeDocument/2006/relationships/notesMaster" Target="/ppt/notesMasters/notesMaster1.xml" Id="R1cc0944fc6404c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0de50e7de34db5" /><Relationship Type="http://schemas.openxmlformats.org/officeDocument/2006/relationships/notesMaster" Target="/ppt/notesMasters/notesMaster1.xml" Id="R80a8f3eb7044420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686ba56ca045a2" /><Relationship Type="http://schemas.openxmlformats.org/officeDocument/2006/relationships/notesMaster" Target="/ppt/notesMasters/notesMaster1.xml" Id="R41211bfc86824b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90d82994824fbc" /><Relationship Type="http://schemas.openxmlformats.org/officeDocument/2006/relationships/notesMaster" Target="/ppt/notesMasters/notesMaster1.xml" Id="R7f5399e68d3e4e3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8bb9ac6642443e" /><Relationship Type="http://schemas.openxmlformats.org/officeDocument/2006/relationships/notesMaster" Target="/ppt/notesMasters/notesMaster1.xml" Id="R44738ee2d5624af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3ce99ce523c4bcc" /><Relationship Type="http://schemas.openxmlformats.org/officeDocument/2006/relationships/notesMaster" Target="/ppt/notesMasters/notesMaster1.xml" Id="Ra1ad941db29d4b2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a45c9022444972" /><Relationship Type="http://schemas.openxmlformats.org/officeDocument/2006/relationships/notesMaster" Target="/ppt/notesMasters/notesMaster1.xml" Id="R664d729b475a41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8734e3af0bb4669" /><Relationship Type="http://schemas.openxmlformats.org/officeDocument/2006/relationships/notesMaster" Target="/ppt/notesMasters/notesMaster1.xml" Id="R1cd3c82b8c034fa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b684e88d4a54210" /><Relationship Type="http://schemas.openxmlformats.org/officeDocument/2006/relationships/notesMaster" Target="/ppt/notesMasters/notesMaster1.xml" Id="Ra1f23b09cfb74cc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90d416a9a9845a7" /><Relationship Type="http://schemas.openxmlformats.org/officeDocument/2006/relationships/notesMaster" Target="/ppt/notesMasters/notesMaster1.xml" Id="R7c80729b8c274c8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6d51d825a714b04" /><Relationship Type="http://schemas.openxmlformats.org/officeDocument/2006/relationships/notesMaster" Target="/ppt/notesMasters/notesMaster1.xml" Id="Rfbc4de6d289645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ff8c93d5bc74325" /><Relationship Type="http://schemas.openxmlformats.org/officeDocument/2006/relationships/notesMaster" Target="/ppt/notesMasters/notesMaster1.xml" Id="R5ef4b818902b46a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c63369725f246a1" /><Relationship Type="http://schemas.openxmlformats.org/officeDocument/2006/relationships/notesMaster" Target="/ppt/notesMasters/notesMaster1.xml" Id="Rc77c4c27b41142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1a3576ce4d4463c" /><Relationship Type="http://schemas.openxmlformats.org/officeDocument/2006/relationships/notesMaster" Target="/ppt/notesMasters/notesMaster1.xml" Id="Rf9e97cecc28743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3d9b7e4842c42b4" /><Relationship Type="http://schemas.openxmlformats.org/officeDocument/2006/relationships/notesMaster" Target="/ppt/notesMasters/notesMaster1.xml" Id="Ra60e7162fed94cb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d3c7af053b64963" /><Relationship Type="http://schemas.openxmlformats.org/officeDocument/2006/relationships/notesMaster" Target="/ppt/notesMasters/notesMaster1.xml" Id="R257c536036e8406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27622db81c141e4" /><Relationship Type="http://schemas.openxmlformats.org/officeDocument/2006/relationships/notesMaster" Target="/ppt/notesMasters/notesMaster1.xml" Id="Re9d0a118d39e4bd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1132db53fbb4352" /><Relationship Type="http://schemas.openxmlformats.org/officeDocument/2006/relationships/notesMaster" Target="/ppt/notesMasters/notesMaster1.xml" Id="Rcf4e71c950fb4df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966561c6fc54876" /><Relationship Type="http://schemas.openxmlformats.org/officeDocument/2006/relationships/notesMaster" Target="/ppt/notesMasters/notesMaster1.xml" Id="R23b101f7e10b41f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76c92a852534317" /><Relationship Type="http://schemas.openxmlformats.org/officeDocument/2006/relationships/notesMaster" Target="/ppt/notesMasters/notesMaster1.xml" Id="R8b06fd08fce24b6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54bdac289684f31" /><Relationship Type="http://schemas.openxmlformats.org/officeDocument/2006/relationships/notesMaster" Target="/ppt/notesMasters/notesMaster1.xml" Id="R888b3936a5f44ee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3f0a4a895ab4ced" /><Relationship Type="http://schemas.openxmlformats.org/officeDocument/2006/relationships/notesMaster" Target="/ppt/notesMasters/notesMaster1.xml" Id="R88abb7c692ec42c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67f27a0aab64deb" /><Relationship Type="http://schemas.openxmlformats.org/officeDocument/2006/relationships/notesMaster" Target="/ppt/notesMasters/notesMaster1.xml" Id="R56a7f421b3a74e5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c65ccb87a5a4a31" /><Relationship Type="http://schemas.openxmlformats.org/officeDocument/2006/relationships/notesMaster" Target="/ppt/notesMasters/notesMaster1.xml" Id="R734f8a5b5cb9472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8cdb1e6d9dd488f" /><Relationship Type="http://schemas.openxmlformats.org/officeDocument/2006/relationships/notesMaster" Target="/ppt/notesMasters/notesMaster1.xml" Id="R9a0bc391a4ae43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3840867617c44e1" /><Relationship Type="http://schemas.openxmlformats.org/officeDocument/2006/relationships/notesMaster" Target="/ppt/notesMasters/notesMaster1.xml" Id="Rd92f059680734e5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2b03463c1694665" /><Relationship Type="http://schemas.openxmlformats.org/officeDocument/2006/relationships/notesMaster" Target="/ppt/notesMasters/notesMaster1.xml" Id="R738a16c23b4d401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9c55ed5a7774e26" /><Relationship Type="http://schemas.openxmlformats.org/officeDocument/2006/relationships/notesMaster" Target="/ppt/notesMasters/notesMaster1.xml" Id="R44b07de9413445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73321c76ffe4a33" /><Relationship Type="http://schemas.openxmlformats.org/officeDocument/2006/relationships/notesMaster" Target="/ppt/notesMasters/notesMaster1.xml" Id="R0b20cbaa98194f0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5f00a56b49449c1" /><Relationship Type="http://schemas.openxmlformats.org/officeDocument/2006/relationships/notesMaster" Target="/ppt/notesMasters/notesMaster1.xml" Id="Rf9c260f1348d4e0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483b2dc55f54c08" /><Relationship Type="http://schemas.openxmlformats.org/officeDocument/2006/relationships/notesMaster" Target="/ppt/notesMasters/notesMaster1.xml" Id="Rb16bc19c166a48d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39632ee193f45ce" /><Relationship Type="http://schemas.openxmlformats.org/officeDocument/2006/relationships/notesMaster" Target="/ppt/notesMasters/notesMaster1.xml" Id="R8a69d7d8b08b4f7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a32d0288d0c4490" /><Relationship Type="http://schemas.openxmlformats.org/officeDocument/2006/relationships/notesMaster" Target="/ppt/notesMasters/notesMaster1.xml" Id="Rd31f3985244b49c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132725ea6cb4369" /><Relationship Type="http://schemas.openxmlformats.org/officeDocument/2006/relationships/notesMaster" Target="/ppt/notesMasters/notesMaster1.xml" Id="R348d77d136bd40b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1dd7c0ab3de4172" /><Relationship Type="http://schemas.openxmlformats.org/officeDocument/2006/relationships/notesMaster" Target="/ppt/notesMasters/notesMaster1.xml" Id="Re95ae3734f17466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f982f4dbe984bb1" /><Relationship Type="http://schemas.openxmlformats.org/officeDocument/2006/relationships/notesMaster" Target="/ppt/notesMasters/notesMaster1.xml" Id="R014fff1fd650480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689f6f54cec44a3" /><Relationship Type="http://schemas.openxmlformats.org/officeDocument/2006/relationships/notesMaster" Target="/ppt/notesMasters/notesMaster1.xml" Id="R11af664e715f4b7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699f037dab04799" /><Relationship Type="http://schemas.openxmlformats.org/officeDocument/2006/relationships/notesMaster" Target="/ppt/notesMasters/notesMaster1.xml" Id="R1cd6042a9ab1480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b34d2c66a234636" /><Relationship Type="http://schemas.openxmlformats.org/officeDocument/2006/relationships/notesMaster" Target="/ppt/notesMasters/notesMaster1.xml" Id="R9ed325efc65d462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7f008b122ab4830" /><Relationship Type="http://schemas.openxmlformats.org/officeDocument/2006/relationships/notesMaster" Target="/ppt/notesMasters/notesMaster1.xml" Id="R8a3b7e55db9d4ab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028ff760e344266" /><Relationship Type="http://schemas.openxmlformats.org/officeDocument/2006/relationships/notesMaster" Target="/ppt/notesMasters/notesMaster1.xml" Id="R05b7be7d5d424ee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65a5bf51e344e8b" /><Relationship Type="http://schemas.openxmlformats.org/officeDocument/2006/relationships/notesMaster" Target="/ppt/notesMasters/notesMaster1.xml" Id="Rd2859fa07f2844a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fce6be4136f4458" /><Relationship Type="http://schemas.openxmlformats.org/officeDocument/2006/relationships/notesMaster" Target="/ppt/notesMasters/notesMaster1.xml" Id="Rdb11b74ef00e43d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083c4507d23407b" /><Relationship Type="http://schemas.openxmlformats.org/officeDocument/2006/relationships/notesMaster" Target="/ppt/notesMasters/notesMaster1.xml" Id="R1fc98c3ee022427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18283fa5f574a06" /><Relationship Type="http://schemas.openxmlformats.org/officeDocument/2006/relationships/notesMaster" Target="/ppt/notesMasters/notesMaster1.xml" Id="R9b55a2b811a34d7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b8c797c59ca4a1b" /><Relationship Type="http://schemas.openxmlformats.org/officeDocument/2006/relationships/notesMaster" Target="/ppt/notesMasters/notesMaster1.xml" Id="R44f79e837fe6463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66f7d4ec9c04695" /><Relationship Type="http://schemas.openxmlformats.org/officeDocument/2006/relationships/notesMaster" Target="/ppt/notesMasters/notesMaster1.xml" Id="Ra98bfd92d1154da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85bd11b54a1a4b4b" /><Relationship Type="http://schemas.openxmlformats.org/officeDocument/2006/relationships/notesMaster" Target="/ppt/notesMasters/notesMaster1.xml" Id="R5fcc0469316944d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e1b1a915a4144d1" /><Relationship Type="http://schemas.openxmlformats.org/officeDocument/2006/relationships/notesMaster" Target="/ppt/notesMasters/notesMaster1.xml" Id="Ra160cdcdb5ed45f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42d2a203d044199" /><Relationship Type="http://schemas.openxmlformats.org/officeDocument/2006/relationships/notesMaster" Target="/ppt/notesMasters/notesMaster1.xml" Id="R2ca6a06c0ddd407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b53bec918a24a82" /><Relationship Type="http://schemas.openxmlformats.org/officeDocument/2006/relationships/notesMaster" Target="/ppt/notesMasters/notesMaster1.xml" Id="R263d36fa410b4a02"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46c786fe3be417d" /><Relationship Type="http://schemas.openxmlformats.org/officeDocument/2006/relationships/notesMaster" Target="/ppt/notesMasters/notesMaster1.xml" Id="Ra44bf6386b4d448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9a39498e06b46df" /><Relationship Type="http://schemas.openxmlformats.org/officeDocument/2006/relationships/notesMaster" Target="/ppt/notesMasters/notesMaster1.xml" Id="R7750a9c75b234a6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3fb13c2b552463e" /><Relationship Type="http://schemas.openxmlformats.org/officeDocument/2006/relationships/notesMaster" Target="/ppt/notesMasters/notesMaster1.xml" Id="R3cbed7eb97c2459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f64340fe7224a2b" /><Relationship Type="http://schemas.openxmlformats.org/officeDocument/2006/relationships/notesMaster" Target="/ppt/notesMasters/notesMaster1.xml" Id="R02c0adde822940e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ec97a56077d41ad" /><Relationship Type="http://schemas.openxmlformats.org/officeDocument/2006/relationships/notesMaster" Target="/ppt/notesMasters/notesMaster1.xml" Id="R5ea445e742f548b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ef7d89af0dcf406a" /><Relationship Type="http://schemas.openxmlformats.org/officeDocument/2006/relationships/notesMaster" Target="/ppt/notesMasters/notesMaster1.xml" Id="R5295a79b2e48412f"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19ebdb5bd0c4a27" /><Relationship Type="http://schemas.openxmlformats.org/officeDocument/2006/relationships/notesMaster" Target="/ppt/notesMasters/notesMaster1.xml" Id="R79b1bd69610d4b2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f849b2bbbaa42c5" /><Relationship Type="http://schemas.openxmlformats.org/officeDocument/2006/relationships/notesMaster" Target="/ppt/notesMasters/notesMaster1.xml" Id="R5b2c4ba25d8545f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cbc3c0898b12409d" /><Relationship Type="http://schemas.openxmlformats.org/officeDocument/2006/relationships/notesMaster" Target="/ppt/notesMasters/notesMaster1.xml" Id="Rb9de76b661fb413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b01096ffe3341f7" /><Relationship Type="http://schemas.openxmlformats.org/officeDocument/2006/relationships/notesMaster" Target="/ppt/notesMasters/notesMaster1.xml" Id="Ra21dbacfe0b64459"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bfb9c2ba7c744c9" /><Relationship Type="http://schemas.openxmlformats.org/officeDocument/2006/relationships/notesMaster" Target="/ppt/notesMasters/notesMaster1.xml" Id="Rea50315db2304e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CO_FACT, BASELINE</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CO_FACT | Olam Agri factsheet, June 2026</a:t>
            </a:r>
          </a:p>
          <a:p xmlns:a="http://schemas.openxmlformats.org/drawingml/2006/main">
            <a:r>
              <a:t>https://www.olamagri.com/content/dam/olam-agri/assets/webp/au/au-pdfs/factsheet/olamagri-corporate-factsheet-2026.pdf</a:t>
            </a:r>
          </a:p>
          <a:p xmlns:a="http://schemas.openxmlformats.org/drawingml/2006/main">
            <a:r>
              <a:t>pp. 1–2; footprint, products, ownership</a:t>
            </a:r>
          </a:p>
          <a:p xmlns:a="http://schemas.openxmlformats.org/drawingml/2006/main">
            <a:r>
              <a:t>2025 operating facts; country locations do not prove assets or complete trade presence.</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A_PILOT</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BASELINE</a:t>
            </a:r>
          </a:p>
          <a:p xmlns:a="http://schemas.openxmlformats.org/drawingml/2006/main">
            <a:r>
              <a:t>Assumptions: </a:t>
            </a:r>
          </a:p>
          <a:p xmlns:a="http://schemas.openxmlformats.org/drawingml/2006/main">
            <a:r>
              <a:t>Calculations: C-LEGACY</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 report printed pp.10–11. FY2025 handled tonnage 49.474m differs from 53.740m sales volume; do not mix. Olam Group SGD figures and H1 2026 continuing operations have different perimeter.</a:t>
            </a:r>
          </a:p>
          <a:p xmlns:a="http://schemas.openxmlformats.org/drawingml/2006/main">
            <a:r>
              <a:t>Source lineage: CO_AR</a:t>
            </a:r>
          </a:p>
          <a:p xmlns:a="http://schemas.openxmlformats.org/drawingml/2006/main">
            <a:r>
              <a:t>Assumptions: </a:t>
            </a:r>
          </a:p>
          <a:p xmlns:a="http://schemas.openxmlformats.org/drawingml/2006/main">
            <a:r>
              <a:t>Calculations: C-E01</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CO_AR | Olam Agri Annual Report 2025</a:t>
            </a:r>
          </a:p>
          <a:p xmlns:a="http://schemas.openxmlformats.org/drawingml/2006/main">
            <a:r>
              <a:t>https://www.olamagri.com/content/dam/olam-agri/assets/webp/au/ar/annual-report-pdf/2025/annual-report-2025.pdf</a:t>
            </a:r>
          </a:p>
          <a:p xmlns:a="http://schemas.openxmlformats.org/drawingml/2006/main">
            <a:r>
              <a:t>Printed pp. 3, 10–11; CFO overview and performance charts</a:t>
            </a:r>
          </a:p>
          <a:p xmlns:a="http://schemas.openxmlformats.org/drawingml/2006/main">
            <a:r>
              <a:t>USD Agri figures. Handled and sales tonnage have different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A_TEMPLATE</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OECD, UN_WPP</a:t>
            </a:r>
          </a:p>
          <a:p xmlns:a="http://schemas.openxmlformats.org/drawingml/2006/main">
            <a:r>
              <a:t>Assumptions: A_OUTER, A_CAPEX</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OECD | OECD–FAO Agricultural Outlook 2026–2035</a:t>
            </a:r>
          </a:p>
          <a:p xmlns:a="http://schemas.openxmlformats.org/drawingml/2006/main">
            <a:r>
              <a:t>https://www.oecd.org/en/publications/oecd-fao-agricultural-outlook-2026-2035_47874669-en.html</a:t>
            </a:r>
          </a:p>
          <a:p xmlns:a="http://schemas.openxmlformats.org/drawingml/2006/main">
            <a:r>
              <a:t>Publication 29 June 2026; executive summary, methodology; DOI 10.1787/47874669-en</a:t>
            </a:r>
          </a:p>
          <a:p xmlns:a="http://schemas.openxmlformats.org/drawingml/2006/main">
            <a:r>
              <a:t>Official horizon ends 2035; no Olam capture forecast.</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Income PPP and urban shares are dated observations in the atlas, not future estimates. Diet, household size, purchasing power and channel evidence must identify category demand.</a:t>
            </a:r>
          </a:p>
          <a:p xmlns:a="http://schemas.openxmlformats.org/drawingml/2006/main">
            <a:r>
              <a:t>Source lineage: UN_WPP, WB_income_ppp, WB_urban</a:t>
            </a:r>
          </a:p>
          <a:p xmlns:a="http://schemas.openxmlformats.org/drawingml/2006/main">
            <a:r>
              <a:t>Assumptions: </a:t>
            </a:r>
          </a:p>
          <a:p xmlns:a="http://schemas.openxmlformats.org/drawingml/2006/main">
            <a:r>
              <a:t>Calculations: C-POP-NGA, C-POP-IND, C-POP-CHN, C-POP-JPN</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a:p xmlns:a="http://schemas.openxmlformats.org/drawingml/2006/main">
            <a:r>
              <a:t/>
            </a:r>
          </a:p>
          <a:p xmlns:a="http://schemas.openxmlformats.org/drawingml/2006/main">
            <a:r>
              <a:t>WB_income_ppp | World Bank WDI: NY.GDP.PCAP.PP.KD</a:t>
            </a:r>
          </a:p>
          <a:p xmlns:a="http://schemas.openxmlformats.org/drawingml/2006/main">
            <a:r>
              <a:t>https://api.worldbank.org/v2/country/all/indicator/NY.GDP.PCAP.PP.KD?date=2000:2025&amp;format=json&amp;per_page=20000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WB_urban | World Bank WDI: SP.URB.TOTL.IN.ZS</a:t>
            </a:r>
          </a:p>
          <a:p xmlns:a="http://schemas.openxmlformats.org/drawingml/2006/main">
            <a:r>
              <a:t>https://api.worldbank.org/v2/country/all/indicator/SP.URB.TOTL.IN.ZS?date=2000:2025&amp;format=json&amp;per_page=20000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A_PILOT, A_EXAMPLE</a:t>
            </a:r>
          </a:p>
          <a:p xmlns:a="http://schemas.openxmlformats.org/drawingml/2006/main">
            <a:r>
              <a:t>Calculations: C-E05, C-E06</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IPCC, WMO, WB_water_stress</a:t>
            </a:r>
          </a:p>
          <a:p xmlns:a="http://schemas.openxmlformats.org/drawingml/2006/main">
            <a:r>
              <a:t>Assumptions: A_SCENARIO</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IPCC | IPCC AR6 WGII Chapter 5: Food</a:t>
            </a:r>
          </a:p>
          <a:p xmlns:a="http://schemas.openxmlformats.org/drawingml/2006/main">
            <a:r>
              <a:t>https://www.ipcc.ch/report/ar6/wg2/chapter/chapter-5/</a:t>
            </a:r>
          </a:p>
          <a:p xmlns:a="http://schemas.openxmlformats.org/drawingml/2006/main">
            <a:r>
              <a:t>Chapter 5; food system risks, adaptation and regional limits</a:t>
            </a:r>
          </a:p>
          <a:p xmlns:a="http://schemas.openxmlformats.org/drawingml/2006/main">
            <a:r>
              <a:t>No country/crop coefficient transplanted to Olam assets.</a:t>
            </a:r>
          </a:p>
          <a:p xmlns:a="http://schemas.openxmlformats.org/drawingml/2006/main">
            <a:r>
              <a:t/>
            </a:r>
          </a:p>
          <a:p xmlns:a="http://schemas.openxmlformats.org/drawingml/2006/main">
            <a:r>
              <a:t>WMO | WMO State of the Global Climate 2025</a:t>
            </a:r>
          </a:p>
          <a:p xmlns:a="http://schemas.openxmlformats.org/drawingml/2006/main">
            <a:r>
              <a:t>https://wmo.int/publication-series/state-of-global-climate/state-of-global-climate-2025</a:t>
            </a:r>
          </a:p>
          <a:p xmlns:a="http://schemas.openxmlformats.org/drawingml/2006/main">
            <a:r>
              <a:t>23 March 2026 release; global temperature and climate indicators</a:t>
            </a:r>
          </a:p>
          <a:p xmlns:a="http://schemas.openxmlformats.org/drawingml/2006/main">
            <a:r>
              <a:t>Global annual anomaly is not local crop damage.</a:t>
            </a:r>
          </a:p>
          <a:p xmlns:a="http://schemas.openxmlformats.org/drawingml/2006/main">
            <a:r>
              <a:t/>
            </a:r>
          </a:p>
          <a:p xmlns:a="http://schemas.openxmlformats.org/drawingml/2006/main">
            <a:r>
              <a:t>WB_water_stress | World Bank WDI: ER.H2O.FWST.ZS</a:t>
            </a:r>
          </a:p>
          <a:p xmlns:a="http://schemas.openxmlformats.org/drawingml/2006/main">
            <a:r>
              <a:t>https://api.worldbank.org/v2/country/all/indicator/ER.H2O.FWST.ZS?date=2000:2025&amp;format=json&amp;per_page=20000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fitted gravity model: bilateral/product quantity, tariff and non-tariff treatment data are incomplete. Macro food import proxy uses same-year share × merchandise imports and is explicitly broad SITC food.</a:t>
            </a:r>
          </a:p>
          <a:p xmlns:a="http://schemas.openxmlformats.org/drawingml/2006/main">
            <a:r>
              <a:t>Source lineage: COMTRADE, EUDR, USDA_NGA, USDA_OIL</a:t>
            </a:r>
          </a:p>
          <a:p xmlns:a="http://schemas.openxmlformats.org/drawingml/2006/main">
            <a:r>
              <a:t>Assumptions: </a:t>
            </a:r>
          </a:p>
          <a:p xmlns:a="http://schemas.openxmlformats.org/drawingml/2006/main">
            <a:r>
              <a:t>Calculations: C-TRADE-NGA</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COMTRADE | UN Comtrade Nigeria wheat import preview</a:t>
            </a:r>
          </a:p>
          <a:p xmlns:a="http://schemas.openxmlformats.org/drawingml/2006/main">
            <a:r>
              <a:t>https://comtradeapi.un.org/public/v1/preview/C/A/HS?period=2024&amp;reporterCode=566&amp;cmdCode=1001&amp;flowCode=M&amp;partnerCode=0&amp;partner2Code=0&amp;customsCode=C00&amp;motCode=0&amp;maxRecords=500</a:t>
            </a:r>
          </a:p>
          <a:p xmlns:a="http://schemas.openxmlformats.org/drawingml/2006/main">
            <a:r>
              <a:t>2024, reporter 566, HS 1001, flow M, partner 0</a:t>
            </a:r>
          </a:p>
          <a:p xmlns:a="http://schemas.openxmlformats.org/drawingml/2006/main">
            <a:r>
              <a:t>CIF USD1.0475bn; net weight null, reported flag false. Never interpret quantity 0 with unit -1 as zero imports.</a:t>
            </a:r>
          </a:p>
          <a:p xmlns:a="http://schemas.openxmlformats.org/drawingml/2006/main">
            <a:r>
              <a:t/>
            </a:r>
          </a:p>
          <a:p xmlns:a="http://schemas.openxmlformats.org/drawingml/2006/main">
            <a:r>
              <a:t>EUDR | EU Regulation 2023/1115</a:t>
            </a:r>
          </a:p>
          <a:p xmlns:a="http://schemas.openxmlformats.org/drawingml/2006/main">
            <a:r>
              <a:t>https://eur-lex.europa.eu/eli/reg/2023/1115/oj/eng</a:t>
            </a:r>
          </a:p>
          <a:p xmlns:a="http://schemas.openxmlformats.org/drawingml/2006/main">
            <a:r>
              <a:t>Articles 3–4 and commodity/product annex</a:t>
            </a:r>
          </a:p>
          <a:p xmlns:a="http://schemas.openxmlformats.org/drawingml/2006/main">
            <a:r>
              <a:t>Product, amendments, implementation dates and jurisdiction require current counsel review; no legal clearance.</a:t>
            </a:r>
          </a:p>
          <a:p xmlns:a="http://schemas.openxmlformats.org/drawingml/2006/main">
            <a:r>
              <a:t/>
            </a:r>
          </a:p>
          <a:p xmlns:a="http://schemas.openxmlformats.org/drawingml/2006/main">
            <a:r>
              <a:t>USDA_NGA | USDA Nigeria Grain and Feed Annual 2026</a:t>
            </a:r>
          </a:p>
          <a:p xmlns:a="http://schemas.openxmlformats.org/drawingml/2006/main">
            <a:r>
              <a:t>https://apps.fas.usda.gov/newgainapi/api/Report/DownloadReportByFileName?fileName=Grain+and+Feed+Annual_Lagos_Nigeria_NI2026-0003.pdf</a:t>
            </a:r>
          </a:p>
          <a:p xmlns:a="http://schemas.openxmlformats.org/drawingml/2006/main">
            <a:r>
              <a:t>Wheat supply/trade and flour-demand narrative</a:t>
            </a:r>
          </a:p>
          <a:p xmlns:a="http://schemas.openxmlformats.org/drawingml/2006/main">
            <a:r>
              <a:t>Marketing-year trade estimates are not Olam orders.</a:t>
            </a:r>
          </a:p>
          <a:p xmlns:a="http://schemas.openxmlformats.org/drawingml/2006/main">
            <a:r>
              <a:t/>
            </a:r>
          </a:p>
          <a:p xmlns:a="http://schemas.openxmlformats.org/drawingml/2006/main">
            <a:r>
              <a:t>USDA_OIL | USDA Nigeria fiscal and trade policy changes 2026</a:t>
            </a:r>
          </a:p>
          <a:p xmlns:a="http://schemas.openxmlformats.org/drawingml/2006/main">
            <a:r>
              <a:t>https://apps.fas.usda.gov/newgainapi/api/Report/DownloadReportByFileName?fileName=Nigeria+Announces+2026+Fiscal+and+Trade+Policy+Changes_Lagos_Nigeria_NI2026-0010.pdf</a:t>
            </a:r>
          </a:p>
          <a:p xmlns:a="http://schemas.openxmlformats.org/drawingml/2006/main">
            <a:r>
              <a:t>Oilseeds/products and crude/refined policy discussion</a:t>
            </a:r>
          </a:p>
          <a:p xmlns:a="http://schemas.openxmlformats.org/drawingml/2006/main">
            <a:r>
              <a:t>Verify current HS subheading and Nigeria Customs rules before contracting.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import cocoa/coffee/ofi economics or OGH assets into Olam Agri. About page omission does not override explicit current factsheet inclusion; diligence sugar/biofuel before allocation.</a:t>
            </a:r>
          </a:p>
          <a:p xmlns:a="http://schemas.openxmlformats.org/drawingml/2006/main">
            <a:r>
              <a:t>Source lineage: CO_FACT, CO_ABOUT</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CO_FACT | Olam Agri factsheet, June 2026</a:t>
            </a:r>
          </a:p>
          <a:p xmlns:a="http://schemas.openxmlformats.org/drawingml/2006/main">
            <a:r>
              <a:t>https://www.olamagri.com/content/dam/olam-agri/assets/webp/au/au-pdfs/factsheet/olamagri-corporate-factsheet-2026.pdf</a:t>
            </a:r>
          </a:p>
          <a:p xmlns:a="http://schemas.openxmlformats.org/drawingml/2006/main">
            <a:r>
              <a:t>pp. 1–2; footprint, products, ownership</a:t>
            </a:r>
          </a:p>
          <a:p xmlns:a="http://schemas.openxmlformats.org/drawingml/2006/main">
            <a:r>
              <a:t>2025 operating facts; country locations do not prove assets or complete trade presence.</a:t>
            </a:r>
          </a:p>
          <a:p xmlns:a="http://schemas.openxmlformats.org/drawingml/2006/main">
            <a:r>
              <a:t/>
            </a:r>
          </a:p>
          <a:p xmlns:a="http://schemas.openxmlformats.org/drawingml/2006/main">
            <a:r>
              <a:t>CO_ABOUT | Olam Agri About Us</a:t>
            </a:r>
          </a:p>
          <a:p xmlns:a="http://schemas.openxmlformats.org/drawingml/2006/main">
            <a:r>
              <a:t>https://www.olamagri.com/about-us</a:t>
            </a:r>
          </a:p>
          <a:p xmlns:a="http://schemas.openxmlformats.org/drawingml/2006/main">
            <a:r>
              <a:t>At a glance, products and ownership blocks</a:t>
            </a:r>
          </a:p>
          <a:p xmlns:a="http://schemas.openxmlformats.org/drawingml/2006/main">
            <a:r>
              <a:t>Conflicting lower ownership text retained as a source conflict.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counts are generated from scripts/olam-analyse.py. Missing data remain null. Territories and separately reported economies are in a companion annex; no unlisted country is silently dropped.</a:t>
            </a:r>
          </a:p>
          <a:p xmlns:a="http://schemas.openxmlformats.org/drawingml/2006/main">
            <a:r>
              <a:t>Source lineage: UN_M49, UN_WPP</a:t>
            </a:r>
          </a:p>
          <a:p xmlns:a="http://schemas.openxmlformats.org/drawingml/2006/main">
            <a:r>
              <a:t>Assumptions: </a:t>
            </a:r>
          </a:p>
          <a:p xmlns:a="http://schemas.openxmlformats.org/drawingml/2006/main">
            <a:r>
              <a:t>Calculations: C-COVERAGE</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UN_M49 | UN Statistics Division M49</a:t>
            </a:r>
          </a:p>
          <a:p xmlns:a="http://schemas.openxmlformats.org/drawingml/2006/main">
            <a:r>
              <a:t>https://unstats.un.org/unsd/methodology/m49/overview/</a:t>
            </a:r>
          </a:p>
          <a:p xmlns:a="http://schemas.openxmlformats.org/drawingml/2006/main">
            <a:r>
              <a:t>Country/area codes and region/subregion table</a:t>
            </a:r>
          </a:p>
          <a:p xmlns:a="http://schemas.openxmlformats.org/drawingml/2006/main">
            <a:r>
              <a:t>Membership independently cross-checked to UN library current-member and observer guides; territories separate. Region classification follows UN M49.</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CO_NGA, CO_GHA, CO_SEN, CO_CMR, CO_MOZ, CO_ZAF, CO_IND, CO_VNM, CO_BRA, CO_FACT</a:t>
            </a:r>
          </a:p>
          <a:p xmlns:a="http://schemas.openxmlformats.org/drawingml/2006/main">
            <a:r>
              <a:t>Assumptions: A_TEMPLATE</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CO_NGA | Olam Agri Nigeria</a:t>
            </a:r>
          </a:p>
          <a:p xmlns:a="http://schemas.openxmlformats.org/drawingml/2006/main">
            <a:r>
              <a:t>https://www.olamagri.com/locations/nigeria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CO_GHA | Olam Agri Ghana</a:t>
            </a:r>
          </a:p>
          <a:p xmlns:a="http://schemas.openxmlformats.org/drawingml/2006/main">
            <a:r>
              <a:t>https://www.olamagri.com/locations/ghana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CO_SEN | Olam Agri Senegal</a:t>
            </a:r>
          </a:p>
          <a:p xmlns:a="http://schemas.openxmlformats.org/drawingml/2006/main">
            <a:r>
              <a:t>https://www.olamagri.com/locations/senegal</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CO_CMR | Olam Agri Cameroon</a:t>
            </a:r>
          </a:p>
          <a:p xmlns:a="http://schemas.openxmlformats.org/drawingml/2006/main">
            <a:r>
              <a:t>https://www.olamagri.com/locations/cameroon</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CO_MOZ | Olam Agri Mozambique</a:t>
            </a:r>
          </a:p>
          <a:p xmlns:a="http://schemas.openxmlformats.org/drawingml/2006/main">
            <a:r>
              <a:t>https://www.olamagri.com/locations/mozambique</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CO_ZAF | Olam Agri South-Africa</a:t>
            </a:r>
          </a:p>
          <a:p xmlns:a="http://schemas.openxmlformats.org/drawingml/2006/main">
            <a:r>
              <a:t>https://www.olamagri.com/locations/south-africa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CO_IND | Olam Agri India</a:t>
            </a:r>
          </a:p>
          <a:p xmlns:a="http://schemas.openxmlformats.org/drawingml/2006/main">
            <a:r>
              <a:t>https://www.olamagri.com/locations/india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CO_VNM | Olam Agri Vietnam</a:t>
            </a:r>
          </a:p>
          <a:p xmlns:a="http://schemas.openxmlformats.org/drawingml/2006/main">
            <a:r>
              <a:t>https://www.olamagri.com/locations/vietnam</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CO_BRA | Olam Agri Brazil</a:t>
            </a:r>
          </a:p>
          <a:p xmlns:a="http://schemas.openxmlformats.org/drawingml/2006/main">
            <a:r>
              <a:t>https://www.olamagri.com/locations/brazil</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CO_FACT | Olam Agri factsheet, June 2026</a:t>
            </a:r>
          </a:p>
          <a:p xmlns:a="http://schemas.openxmlformats.org/drawingml/2006/main">
            <a:r>
              <a:t>https://www.olamagri.com/content/dam/olam-agri/assets/webp/au/au-pdfs/factsheet/olamagri-corporate-factsheet-2026.pdf</a:t>
            </a:r>
          </a:p>
          <a:p xmlns:a="http://schemas.openxmlformats.org/drawingml/2006/main">
            <a:r>
              <a:t>pp. 1–2; footprint, products, ownership</a:t>
            </a:r>
          </a:p>
          <a:p xmlns:a="http://schemas.openxmlformats.org/drawingml/2006/main">
            <a:r>
              <a:t>2025 operating facts; country locations do not prove assets or complete trade presence.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A_TEMPLATE, A_RATE, A_TAX, A_OUTER, A_CAPEX</a:t>
            </a:r>
          </a:p>
          <a:p xmlns:a="http://schemas.openxmlformats.org/drawingml/2006/main">
            <a:r>
              <a:t>Calculations: C-DCF-plant-managed</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A_SCENARIO, A_RATE</a:t>
            </a:r>
          </a:p>
          <a:p xmlns:a="http://schemas.openxmlformats.org/drawingml/2006/main">
            <a:r>
              <a:t>Calculations: C-SCENARIOS</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matched normalized templates, not countries or fitted investments. A contracted trade template can lose money in adverse worlds if unhedged spread and stocks remain committed; actual contracts need reset/stop rules. Partner has different capex/cost/capacity, so result is conditional on those chosen inputs.</a:t>
            </a:r>
          </a:p>
          <a:p xmlns:a="http://schemas.openxmlformats.org/drawingml/2006/main">
            <a:r>
              <a:t>Source lineage: </a:t>
            </a:r>
          </a:p>
          <a:p xmlns:a="http://schemas.openxmlformats.org/drawingml/2006/main">
            <a:r>
              <a:t>Assumptions: A_TEMPLATE, A_SCENARIO, A_RATE, A_CAPEX</a:t>
            </a:r>
          </a:p>
          <a:p xmlns:a="http://schemas.openxmlformats.org/drawingml/2006/main">
            <a:r>
              <a:t>Calculations: C-DCF</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 solved by Brent root search on full 25-year NPV. Committed orders above physical capacity do not increase deliveries. Null threshold means capped deliveries never achieve zero NPV under that template. No legal or demand feasibility implied.</a:t>
            </a:r>
          </a:p>
          <a:p xmlns:a="http://schemas.openxmlformats.org/drawingml/2006/main">
            <a:r>
              <a:t>Source lineage: </a:t>
            </a:r>
          </a:p>
          <a:p xmlns:a="http://schemas.openxmlformats.org/drawingml/2006/main">
            <a:r>
              <a:t>Assumptions: A_TEMPLATE, A_RATE</a:t>
            </a:r>
          </a:p>
          <a:p xmlns:a="http://schemas.openxmlformats.org/drawingml/2006/main">
            <a:r>
              <a:t>Calculations: C-THRESHOLD</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Annual report printed CFO pp.10–11. Financing amount/tenor is disclosed, not allocated as model capex or guaranteed funding for this proposal.</a:t>
            </a:r>
          </a:p>
          <a:p xmlns:a="http://schemas.openxmlformats.org/drawingml/2006/main">
            <a:r>
              <a:t>Source lineage: CO_AR, CO_IND, CO_VNM</a:t>
            </a:r>
          </a:p>
          <a:p xmlns:a="http://schemas.openxmlformats.org/drawingml/2006/main">
            <a:r>
              <a:t>Assumptions: A_PILOT</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CO_AR | Olam Agri Annual Report 2025</a:t>
            </a:r>
          </a:p>
          <a:p xmlns:a="http://schemas.openxmlformats.org/drawingml/2006/main">
            <a:r>
              <a:t>https://www.olamagri.com/content/dam/olam-agri/assets/webp/au/ar/annual-report-pdf/2025/annual-report-2025.pdf</a:t>
            </a:r>
          </a:p>
          <a:p xmlns:a="http://schemas.openxmlformats.org/drawingml/2006/main">
            <a:r>
              <a:t>Printed pp. 3, 10–11; CFO overview and performance charts</a:t>
            </a:r>
          </a:p>
          <a:p xmlns:a="http://schemas.openxmlformats.org/drawingml/2006/main">
            <a:r>
              <a:t>USD Agri figures. Handled and sales tonnage have different definitions.</a:t>
            </a:r>
          </a:p>
          <a:p xmlns:a="http://schemas.openxmlformats.org/drawingml/2006/main">
            <a:r>
              <a:t/>
            </a:r>
          </a:p>
          <a:p xmlns:a="http://schemas.openxmlformats.org/drawingml/2006/main">
            <a:r>
              <a:t>CO_IND | Olam Agri India</a:t>
            </a:r>
          </a:p>
          <a:p xmlns:a="http://schemas.openxmlformats.org/drawingml/2006/main">
            <a:r>
              <a:t>https://www.olamagri.com/locations/india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CO_VNM | Olam Agri Vietnam</a:t>
            </a:r>
          </a:p>
          <a:p xmlns:a="http://schemas.openxmlformats.org/drawingml/2006/main">
            <a:r>
              <a:t>https://www.olamagri.com/locations/vietnam</a:t>
            </a:r>
          </a:p>
          <a:p xmlns:a="http://schemas.openxmlformats.org/drawingml/2006/main">
            <a:r>
              <a:t>Country capability/product sections</a:t>
            </a:r>
          </a:p>
          <a:p xmlns:a="http://schemas.openxmlformats.org/drawingml/2006/main">
            <a:r>
              <a:t>Capability evidence does not disclose incremental project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CO_FACT, CO_OWN, CO_ABOUT, CO_BRA</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CO_FACT | Olam Agri factsheet, June 2026</a:t>
            </a:r>
          </a:p>
          <a:p xmlns:a="http://schemas.openxmlformats.org/drawingml/2006/main">
            <a:r>
              <a:t>https://www.olamagri.com/content/dam/olam-agri/assets/webp/au/au-pdfs/factsheet/olamagri-corporate-factsheet-2026.pdf</a:t>
            </a:r>
          </a:p>
          <a:p xmlns:a="http://schemas.openxmlformats.org/drawingml/2006/main">
            <a:r>
              <a:t>pp. 1–2; footprint, products, ownership</a:t>
            </a:r>
          </a:p>
          <a:p xmlns:a="http://schemas.openxmlformats.org/drawingml/2006/main">
            <a:r>
              <a:t>2025 operating facts; country locations do not prove assets or complete trade presence.</a:t>
            </a:r>
          </a:p>
          <a:p xmlns:a="http://schemas.openxmlformats.org/drawingml/2006/main">
            <a:r>
              <a:t/>
            </a:r>
          </a:p>
          <a:p xmlns:a="http://schemas.openxmlformats.org/drawingml/2006/main">
            <a:r>
              <a:t>CO_OWN | Olam Group reorganisation / Olam Agri</a:t>
            </a:r>
          </a:p>
          <a:p xmlns:a="http://schemas.openxmlformats.org/drawingml/2006/main">
            <a:r>
              <a:t>https://www.olamgroup.com/investors/our-re-organisation.html</a:t>
            </a:r>
          </a:p>
          <a:p xmlns:a="http://schemas.openxmlformats.org/drawingml/2006/main">
            <a:r>
              <a:t>Olam Agri section: 27 April 2026 sale and 30 June CFG share issuance</a:t>
            </a:r>
          </a:p>
          <a:p xmlns:a="http://schemas.openxmlformats.org/drawingml/2006/main">
            <a:r>
              <a:t>About page lower text still says 81.11%; resolved to dated transaction 81.81%.</a:t>
            </a:r>
          </a:p>
          <a:p xmlns:a="http://schemas.openxmlformats.org/drawingml/2006/main">
            <a:r>
              <a:t/>
            </a:r>
          </a:p>
          <a:p xmlns:a="http://schemas.openxmlformats.org/drawingml/2006/main">
            <a:r>
              <a:t>CO_ABOUT | Olam Agri About Us</a:t>
            </a:r>
          </a:p>
          <a:p xmlns:a="http://schemas.openxmlformats.org/drawingml/2006/main">
            <a:r>
              <a:t>https://www.olamagri.com/about-us</a:t>
            </a:r>
          </a:p>
          <a:p xmlns:a="http://schemas.openxmlformats.org/drawingml/2006/main">
            <a:r>
              <a:t>At a glance, products and ownership blocks</a:t>
            </a:r>
          </a:p>
          <a:p xmlns:a="http://schemas.openxmlformats.org/drawingml/2006/main">
            <a:r>
              <a:t>Conflicting lower ownership text retained as a source conflict.</a:t>
            </a:r>
          </a:p>
          <a:p xmlns:a="http://schemas.openxmlformats.org/drawingml/2006/main">
            <a:r>
              <a:t/>
            </a:r>
          </a:p>
          <a:p xmlns:a="http://schemas.openxmlformats.org/drawingml/2006/main">
            <a:r>
              <a:t>CO_BRA | Olam Agri Brazil</a:t>
            </a:r>
          </a:p>
          <a:p xmlns:a="http://schemas.openxmlformats.org/drawingml/2006/main">
            <a:r>
              <a:t>https://www.olamagri.com/locations/brazil</a:t>
            </a:r>
          </a:p>
          <a:p xmlns:a="http://schemas.openxmlformats.org/drawingml/2006/main">
            <a:r>
              <a:t>Country capability/product sections</a:t>
            </a:r>
          </a:p>
          <a:p xmlns:a="http://schemas.openxmlformats.org/drawingml/2006/main">
            <a:r>
              <a:t>Capability evidence does not disclose incremental project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Preserved as historical screen: additive 2% availability+2% repeat; 1% mix ×70%; route0.6−service0.4; FX0.45+commodity0.30bn penalties; ramp50/80/100. 28%=historical policy anchor23%+5pp, not WACC. Repair at actual procurement, credit/cost basis, taxes, capex and currency; do not compare directly with real USD template.</a:t>
            </a:r>
          </a:p>
          <a:p xmlns:a="http://schemas.openxmlformats.org/drawingml/2006/main">
            <a:r>
              <a:t>Source lineage: BASELINE, CO_NGA, USDA_OIL</a:t>
            </a:r>
          </a:p>
          <a:p xmlns:a="http://schemas.openxmlformats.org/drawingml/2006/main">
            <a:r>
              <a:t>Assumptions: A_LEGACY</a:t>
            </a:r>
          </a:p>
          <a:p xmlns:a="http://schemas.openxmlformats.org/drawingml/2006/main">
            <a:r>
              <a:t>Calculations: C-LEGACY, C-E10</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a:p xmlns:a="http://schemas.openxmlformats.org/drawingml/2006/main">
            <a:r>
              <a:t/>
            </a:r>
          </a:p>
          <a:p xmlns:a="http://schemas.openxmlformats.org/drawingml/2006/main">
            <a:r>
              <a:t>CO_NGA | Olam Agri Nigeria</a:t>
            </a:r>
          </a:p>
          <a:p xmlns:a="http://schemas.openxmlformats.org/drawingml/2006/main">
            <a:r>
              <a:t>https://www.olamagri.com/locations/nigeria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USDA_OIL | USDA Nigeria fiscal and trade policy changes 2026</a:t>
            </a:r>
          </a:p>
          <a:p xmlns:a="http://schemas.openxmlformats.org/drawingml/2006/main">
            <a:r>
              <a:t>https://apps.fas.usda.gov/newgainapi/api/Report/DownloadReportByFileName?fileName=Nigeria+Announces+2026+Fiscal+and+Trade+Policy+Changes_Lagos_Nigeria_NI2026-0010.pdf</a:t>
            </a:r>
          </a:p>
          <a:p xmlns:a="http://schemas.openxmlformats.org/drawingml/2006/main">
            <a:r>
              <a:t>Oilseeds/products and crude/refined policy discussion</a:t>
            </a:r>
          </a:p>
          <a:p xmlns:a="http://schemas.openxmlformats.org/drawingml/2006/main">
            <a:r>
              <a:t>Verify current HS subheading and Nigeria Customs rules before contracting.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inputs only; usable output includes measured rejects. Need repeated paid orders, customer variance, cannibalisation and full Olam service costs. No Olam product performance claim.</a:t>
            </a:r>
          </a:p>
          <a:p xmlns:a="http://schemas.openxmlformats.org/drawingml/2006/main">
            <a:r>
              <a:t>Source lineage: </a:t>
            </a:r>
          </a:p>
          <a:p xmlns:a="http://schemas.openxmlformats.org/drawingml/2006/main">
            <a:r>
              <a:t>Assumptions: A_EXAMPLE, A_PILOT</a:t>
            </a:r>
          </a:p>
          <a:p xmlns:a="http://schemas.openxmlformats.org/drawingml/2006/main">
            <a:r>
              <a:t>Calculations: C-E05</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A_PILOT, A_EXAMPLE</a:t>
            </a:r>
          </a:p>
          <a:p xmlns:a="http://schemas.openxmlformats.org/drawingml/2006/main">
            <a:r>
              <a:t>Calculations: C-E06, C-E11</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actual/context; all example inputs here chosen. Raw capacity needs yield/by-product reconciliation. Orders beyond capacity are unmet demand, not revenue. Commercial readiness never relaxes physical conservation.</a:t>
            </a:r>
          </a:p>
          <a:p xmlns:a="http://schemas.openxmlformats.org/drawingml/2006/main">
            <a:r>
              <a:t>Source lineage: </a:t>
            </a:r>
          </a:p>
          <a:p xmlns:a="http://schemas.openxmlformats.org/drawingml/2006/main">
            <a:r>
              <a:t>Assumptions: A_EXAMPLE</a:t>
            </a:r>
          </a:p>
          <a:p xmlns:a="http://schemas.openxmlformats.org/drawingml/2006/main">
            <a:r>
              <a:t>Calculations: C-E02</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uses100% credit sales unlike80% convention in project template. Improvement is a transition release, not recurring earnings. Later changes depend on balances. Production model needs seasonal monthly peaks and eligible purchases. Managed plant funding peak22.564m in annual model is not proof of intra-year solvency.</a:t>
            </a:r>
          </a:p>
          <a:p xmlns:a="http://schemas.openxmlformats.org/drawingml/2006/main">
            <a:r>
              <a:t>Source lineage: </a:t>
            </a:r>
          </a:p>
          <a:p xmlns:a="http://schemas.openxmlformats.org/drawingml/2006/main">
            <a:r>
              <a:t>Assumptions: A_EXAMPLE, A_NWC</a:t>
            </a:r>
          </a:p>
          <a:p xmlns:a="http://schemas.openxmlformats.org/drawingml/2006/main">
            <a:r>
              <a:t>Calculations: C-E09</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ROIC requires committed tax/asset treatment and Olam invested-capital definitions; absent company project data, no company ROIC forecast is published. Native workbook contains annual cash and NPV, funding peak and capacity checks.</a:t>
            </a:r>
          </a:p>
          <a:p xmlns:a="http://schemas.openxmlformats.org/drawingml/2006/main">
            <a:r>
              <a:t>Source lineage: </a:t>
            </a:r>
          </a:p>
          <a:p xmlns:a="http://schemas.openxmlformats.org/drawingml/2006/main">
            <a:r>
              <a:t>Assumptions: A_TEMPLATE, A_TAX, A_RATE, A_CAPEX, A_NWC</a:t>
            </a:r>
          </a:p>
          <a:p xmlns:a="http://schemas.openxmlformats.org/drawingml/2006/main">
            <a:r>
              <a:t>Calculations: C-DCF-plant-managed</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Latent common z reduces volume and raises unit cost, stock days and hurdle; independent residual terms remain. Constructed PSD dependence, not estimated covariance. 2,500/5,000/10,000 run summaries in workbook and analysis JSON.</a:t>
            </a:r>
          </a:p>
          <a:p xmlns:a="http://schemas.openxmlformats.org/drawingml/2006/main">
            <a:r>
              <a:t>Source lineage: </a:t>
            </a:r>
          </a:p>
          <a:p xmlns:a="http://schemas.openxmlformats.org/drawingml/2006/main">
            <a:r>
              <a:t>Assumptions: A_STRESS, A_TEMPLATE</a:t>
            </a:r>
          </a:p>
          <a:p xmlns:a="http://schemas.openxmlformats.org/drawingml/2006/main">
            <a:r>
              <a:t>Calculations: C-STRESS, C-THRESHOLD</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A_PRIOR, A_STRESS</a:t>
            </a:r>
          </a:p>
          <a:p xmlns:a="http://schemas.openxmlformats.org/drawingml/2006/main">
            <a:r>
              <a:t>Calculations: C-E17, C-REGRET</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 min_a max_s [max_b V(b,s)−V(a,s)] for common feasible set; then compare value of optional information under explicitly chosen priors. Dynamic policy must avoid counting pilot benefit twice. Full-country optimization remains a proposed module.</a:t>
            </a:r>
          </a:p>
          <a:p xmlns:a="http://schemas.openxmlformats.org/drawingml/2006/main">
            <a:r>
              <a:t>Source lineage: </a:t>
            </a:r>
          </a:p>
          <a:p xmlns:a="http://schemas.openxmlformats.org/drawingml/2006/main">
            <a:r>
              <a:t>Assumptions: A_PRIOR</a:t>
            </a:r>
          </a:p>
          <a:p xmlns:a="http://schemas.openxmlformats.org/drawingml/2006/main">
            <a:r>
              <a:t>Calculations: C-REGRET, C-E20</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All6world payoffs: wait0; owned[9,14,−2,−8,−4,3]; partner[6,10,2,−1,1,5]; trade[4,7,1,0,2,4]. Owned wins central9 vs6 but maxregret8 vs4 partner. Same maximum capital, timing horizon and information. Payoffs chosen independently of full templates. No country recommendation proven by this example.</a:t>
            </a:r>
          </a:p>
          <a:p xmlns:a="http://schemas.openxmlformats.org/drawingml/2006/main">
            <a:r>
              <a:t>Source lineage: </a:t>
            </a:r>
          </a:p>
          <a:p xmlns:a="http://schemas.openxmlformats.org/drawingml/2006/main">
            <a:r>
              <a:t>Assumptions: A_PRIOR, A_EXAMPLE</a:t>
            </a:r>
          </a:p>
          <a:p xmlns:a="http://schemas.openxmlformats.org/drawingml/2006/main">
            <a:r>
              <a:t>Calculations: C-REGRET</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Country-clustered CR1 intervals. Retrospective latest-vintage temporal test and leave-region-out errors; no causal coefficient, country elasticity, calibrated probability or 2051 projection. Distinctive hypotheses: customer-economics learning may transfer better than demographics; seasonal cash may reverse volume ranking. Both remain unvalidated.</a:t>
            </a:r>
          </a:p>
          <a:p xmlns:a="http://schemas.openxmlformats.org/drawingml/2006/main">
            <a:r>
              <a:t>Source lineage: WB_food_index, WB_income_ppp, WB_urban, WB_cereal_yield</a:t>
            </a:r>
          </a:p>
          <a:p xmlns:a="http://schemas.openxmlformats.org/drawingml/2006/main">
            <a:r>
              <a:t>Assumptions: </a:t>
            </a:r>
          </a:p>
          <a:p xmlns:a="http://schemas.openxmlformats.org/drawingml/2006/main">
            <a:r>
              <a:t>Calculations: C-OLS</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WB_food_index | World Bank WDI: AG.PRD.FOOD.XD</a:t>
            </a:r>
          </a:p>
          <a:p xmlns:a="http://schemas.openxmlformats.org/drawingml/2006/main">
            <a:r>
              <a:t>https://api.worldbank.org/v2/country/all/indicator/AG.PRD.FOOD.XD?date=2000:2025&amp;format=json&amp;per_page=20000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WB_income_ppp | World Bank WDI: NY.GDP.PCAP.PP.KD</a:t>
            </a:r>
          </a:p>
          <a:p xmlns:a="http://schemas.openxmlformats.org/drawingml/2006/main">
            <a:r>
              <a:t>https://api.worldbank.org/v2/country/all/indicator/NY.GDP.PCAP.PP.KD?date=2000:2025&amp;format=json&amp;per_page=20000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WB_urban | World Bank WDI: SP.URB.TOTL.IN.ZS</a:t>
            </a:r>
          </a:p>
          <a:p xmlns:a="http://schemas.openxmlformats.org/drawingml/2006/main">
            <a:r>
              <a:t>https://api.worldbank.org/v2/country/all/indicator/SP.URB.TOTL.IN.ZS?date=2000:2025&amp;format=json&amp;per_page=20000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WB_cereal_yield | World Bank WDI: AG.YLD.CREL.KG</a:t>
            </a:r>
          </a:p>
          <a:p xmlns:a="http://schemas.openxmlformats.org/drawingml/2006/main">
            <a:r>
              <a:t>https://api.worldbank.org/v2/country/all/indicator/AG.YLD.CREL.KG?date=2000:2025&amp;format=json&amp;per_page=20000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DID, NOBEL_2021</a:t>
            </a:r>
          </a:p>
          <a:p xmlns:a="http://schemas.openxmlformats.org/drawingml/2006/main">
            <a:r>
              <a:t>Assumptions: A_PILOT</a:t>
            </a:r>
          </a:p>
          <a:p xmlns:a="http://schemas.openxmlformats.org/drawingml/2006/main">
            <a:r>
              <a:t>Calculations: C-E18, C-E19</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DID | Callaway &amp; Sant’Anna: Difference-in-differences</a:t>
            </a:r>
          </a:p>
          <a:p xmlns:a="http://schemas.openxmlformats.org/drawingml/2006/main">
            <a:r>
              <a:t>https://arxiv.org/abs/1803.09015</a:t>
            </a:r>
          </a:p>
          <a:p xmlns:a="http://schemas.openxmlformats.org/drawingml/2006/main">
            <a:r>
              <a:t>arXiv 1803.09015; identification with multiple time periods</a:t>
            </a:r>
          </a:p>
          <a:p xmlns:a="http://schemas.openxmlformats.org/drawingml/2006/main">
            <a:r>
              <a:t>No Olam treatment effect estimated; pilot design only.</a:t>
            </a:r>
          </a:p>
          <a:p xmlns:a="http://schemas.openxmlformats.org/drawingml/2006/main">
            <a:r>
              <a:t/>
            </a:r>
          </a:p>
          <a:p xmlns:a="http://schemas.openxmlformats.org/drawingml/2006/main">
            <a:r>
              <a:t>NOBEL_2021 | Economic Sciences prize 2021</a:t>
            </a:r>
          </a:p>
          <a:p xmlns:a="http://schemas.openxmlformats.org/drawingml/2006/main">
            <a:r>
              <a:t>https://www.nobelprize.org/prizes/economic-sciences/2021/summary/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OECD, UN_WPP</a:t>
            </a:r>
          </a:p>
          <a:p xmlns:a="http://schemas.openxmlformats.org/drawingml/2006/main">
            <a:r>
              <a:t>Assumptions: A_OUTER</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OECD | OECD–FAO Agricultural Outlook 2026–2035</a:t>
            </a:r>
          </a:p>
          <a:p xmlns:a="http://schemas.openxmlformats.org/drawingml/2006/main">
            <a:r>
              <a:t>https://www.oecd.org/en/publications/oecd-fao-agricultural-outlook-2026-2035_47874669-en.html</a:t>
            </a:r>
          </a:p>
          <a:p xmlns:a="http://schemas.openxmlformats.org/drawingml/2006/main">
            <a:r>
              <a:t>Publication 29 June 2026; executive summary, methodology; DOI 10.1787/47874669-en</a:t>
            </a:r>
          </a:p>
          <a:p xmlns:a="http://schemas.openxmlformats.org/drawingml/2006/main">
            <a:r>
              <a:t>Official horizon ends 2035; no Olam capture forecast.</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dossier has a next evidence gate. Triggers: if contribution interval fails minimum economic requirement, pause; if limit breached, stop shipments/commitments per agreed contract; if replication fails, localise before rolling out. Required floors/limits are set by Finance before pilot, not invented here.</a:t>
            </a:r>
          </a:p>
          <a:p xmlns:a="http://schemas.openxmlformats.org/drawingml/2006/main">
            <a:r>
              <a:t>Source lineage: </a:t>
            </a:r>
          </a:p>
          <a:p xmlns:a="http://schemas.openxmlformats.org/drawingml/2006/main">
            <a:r>
              <a:t>Assumptions: A_PILOT</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Resume evidence is self-described portfolio background. Olam scale recommendation depends on business data and team authority; no guarantee of implementation results.</a:t>
            </a:r>
          </a:p>
          <a:p xmlns:a="http://schemas.openxmlformats.org/drawingml/2006/main">
            <a:r>
              <a:t>Source lineage: BASELINE</a:t>
            </a:r>
          </a:p>
          <a:p xmlns:a="http://schemas.openxmlformats.org/drawingml/2006/main">
            <a:r>
              <a:t>Assumptions: </a:t>
            </a:r>
          </a:p>
          <a:p xmlns:a="http://schemas.openxmlformats.org/drawingml/2006/main">
            <a:r>
              <a:t>Calculations: C-CPM</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A_PILOT</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A_PILOT</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Currency: explicit USDm real2026 project template; legacy NGNbn separate. Year0=2026;25annualoperatingyears2027–2051. Cash-tax simplifyingassumptions. Confidence intervals concern estimation; chosenstressquantiles arenotforecastpredictionintervals.</a:t>
            </a:r>
          </a:p>
          <a:p xmlns:a="http://schemas.openxmlformats.org/drawingml/2006/main">
            <a:r>
              <a:t>Source lineage: </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Reported margin</a:t>
            </a:r>
          </a:p>
          <a:p xmlns:a="http://schemas.openxmlformats.org/drawingml/2006/main">
            <a:r>
              <a:t>Intuition: EBIT / revenue × 100</a:t>
            </a:r>
          </a:p>
          <a:p xmlns:a="http://schemas.openxmlformats.org/drawingml/2006/main">
            <a:r>
              <a:t>Formula and variable units: 703.7 / 28,666 × 100 = 2.4548%</a:t>
            </a:r>
          </a:p>
          <a:p xmlns:a="http://schemas.openxmlformats.org/drawingml/2006/main">
            <a:r>
              <a:t>Inputs: Reported/derived evidence; input register I-E01</a:t>
            </a:r>
          </a:p>
          <a:p xmlns:a="http://schemas.openxmlformats.org/drawingml/2006/main">
            <a:r>
              <a:t>Substitution/result: 2.45% derived EBIT margin</a:t>
            </a:r>
          </a:p>
          <a:p xmlns:a="http://schemas.openxmlformats.org/drawingml/2006/main">
            <a:r>
              <a:t>Interpretation and failure: Using rounded revenue of USD28.7bn gives 2.4519%; keep the same entity, period and currency.</a:t>
            </a:r>
          </a:p>
          <a:p xmlns:a="http://schemas.openxmlformats.org/drawingml/2006/main">
            <a:r>
              <a:t>Sensitivity: Revenue can grow while margin falls.</a:t>
            </a:r>
          </a:p>
          <a:p xmlns:a="http://schemas.openxmlformats.org/drawingml/2006/main">
            <a:r>
              <a:t>Lineage: C-E01; Calculation_Audit; scripts/olam-package.py examples.</a:t>
            </a:r>
          </a:p>
          <a:p xmlns:a="http://schemas.openxmlformats.org/drawingml/2006/main">
            <a:r>
              <a:t>Source lineage: CO_AR</a:t>
            </a:r>
          </a:p>
          <a:p xmlns:a="http://schemas.openxmlformats.org/drawingml/2006/main">
            <a:r>
              <a:t>Assumptions: </a:t>
            </a:r>
          </a:p>
          <a:p xmlns:a="http://schemas.openxmlformats.org/drawingml/2006/main">
            <a:r>
              <a:t>Calculations: C-E01</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CO_AR | Olam Agri Annual Report 2025</a:t>
            </a:r>
          </a:p>
          <a:p xmlns:a="http://schemas.openxmlformats.org/drawingml/2006/main">
            <a:r>
              <a:t>https://www.olamagri.com/content/dam/olam-agri/assets/webp/au/ar/annual-report-pdf/2025/annual-report-2025.pdf</a:t>
            </a:r>
          </a:p>
          <a:p xmlns:a="http://schemas.openxmlformats.org/drawingml/2006/main">
            <a:r>
              <a:t>Printed pp. 3, 10–11; CFO overview and performance charts</a:t>
            </a:r>
          </a:p>
          <a:p xmlns:a="http://schemas.openxmlformats.org/drawingml/2006/main">
            <a:r>
              <a:t>USD Agri figures. Handled and sales tonnage have different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Demand to delivered sales</a:t>
            </a:r>
          </a:p>
          <a:p xmlns:a="http://schemas.openxmlformats.org/drawingml/2006/main">
            <a:r>
              <a:t>Intuition: Population × demand per person × access × capture, capped by delivery</a:t>
            </a:r>
          </a:p>
          <a:p xmlns:a="http://schemas.openxmlformats.org/drawingml/2006/main">
            <a:r>
              <a:t>Formula and variable units: 1m people × 0.1t × 50% access × 20% capture = 10,000t orders; min(10,000, 8,000, 7,000) = 7,000t.</a:t>
            </a:r>
          </a:p>
          <a:p xmlns:a="http://schemas.openxmlformats.org/drawingml/2006/main">
            <a:r>
              <a:t>Inputs: Illustrative example—not Olam data; input register I-E02</a:t>
            </a:r>
          </a:p>
          <a:p xmlns:a="http://schemas.openxmlformats.org/drawingml/2006/main">
            <a:r>
              <a:t>Substitution/result: 7,000 delivered tonnes</a:t>
            </a:r>
          </a:p>
          <a:p xmlns:a="http://schemas.openxmlformats.org/drawingml/2006/main">
            <a:r>
              <a:t>Interpretation and failure: Demand, access and capture are chosen inputs. Unmet orders cannot count as revenue.</a:t>
            </a:r>
          </a:p>
          <a:p xmlns:a="http://schemas.openxmlformats.org/drawingml/2006/main">
            <a:r>
              <a:t>Sensitivity: If route capacity reaches 9,000t, plant capacity still caps delivery at 8,000t.</a:t>
            </a:r>
          </a:p>
          <a:p xmlns:a="http://schemas.openxmlformats.org/drawingml/2006/main">
            <a:r>
              <a:t>Lineage: C-E02;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C-E02</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Volume, revenue and EBITDA</a:t>
            </a:r>
          </a:p>
          <a:p xmlns:a="http://schemas.openxmlformats.org/drawingml/2006/main">
            <a:r>
              <a:t>Intuition: Volume × net price; volume × unit cost; contribution less fixed cash cost</a:t>
            </a:r>
          </a:p>
          <a:p xmlns:a="http://schemas.openxmlformats.org/drawingml/2006/main">
            <a:r>
              <a:t>Formula and variable units: 100,000t × USD400/t = USD40m revenue; costs = USD34m; contribution = USD6m; less USD2m fixed cost = USD4m EBITDA.</a:t>
            </a:r>
          </a:p>
          <a:p xmlns:a="http://schemas.openxmlformats.org/drawingml/2006/main">
            <a:r>
              <a:t>Inputs: Illustrative example—not Olam data; input register I-E03</a:t>
            </a:r>
          </a:p>
          <a:p xmlns:a="http://schemas.openxmlformats.org/drawingml/2006/main">
            <a:r>
              <a:t>Substitution/result: USD4m EBITDA</a:t>
            </a:r>
          </a:p>
          <a:p xmlns:a="http://schemas.openxmlformats.org/drawingml/2006/main">
            <a:r>
              <a:t>Interpretation and failure: EBITDA omits cash tax, capital spending and working cash. These are chosen saleable-volume and net-price inputs.</a:t>
            </a:r>
          </a:p>
          <a:p xmlns:a="http://schemas.openxmlformats.org/drawingml/2006/main">
            <a:r>
              <a:t>Sensitivity: A USD10/t price change at unchanged volume changes EBITDA by USD1m.</a:t>
            </a:r>
          </a:p>
          <a:p xmlns:a="http://schemas.openxmlformats.org/drawingml/2006/main">
            <a:r>
              <a:t>Lineage: C-E03;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C-E03</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Yield and by-products</a:t>
            </a:r>
          </a:p>
          <a:p xmlns:a="http://schemas.openxmlformats.org/drawingml/2006/main">
            <a:r>
              <a:t>Intuition: Input = main output / yield; output, by-product and loss sum to input</a:t>
            </a:r>
          </a:p>
          <a:p xmlns:a="http://schemas.openxmlformats.org/drawingml/2006/main">
            <a:r>
              <a:t>Formula and variable units: 100,000t output / 90% yield = 111,111t input; 6% by-product = 6,667t; 4% loss = 4,444t.</a:t>
            </a:r>
          </a:p>
          <a:p xmlns:a="http://schemas.openxmlformats.org/drawingml/2006/main">
            <a:r>
              <a:t>Inputs: Illustrative example—not Olam data; input register I-E04</a:t>
            </a:r>
          </a:p>
          <a:p xmlns:a="http://schemas.openxmlformats.org/drawingml/2006/main">
            <a:r>
              <a:t>Substitution/result: 111,111 tonnes of input</a:t>
            </a:r>
          </a:p>
          <a:p xmlns:a="http://schemas.openxmlformats.org/drawingml/2006/main">
            <a:r>
              <a:t>Interpretation and failure: By-products may earn revenue. Their quality, price and conversion cost need evidence.</a:t>
            </a:r>
          </a:p>
          <a:p xmlns:a="http://schemas.openxmlformats.org/drawingml/2006/main">
            <a:r>
              <a:t>Sensitivity: At 95% main yield, input is 105,263t. Reconcile the remaining mass separately.</a:t>
            </a:r>
          </a:p>
          <a:p xmlns:a="http://schemas.openxmlformats.org/drawingml/2006/main">
            <a:r>
              <a:t>Lineage: C-E04;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C-E04</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Customer cost per usable output</a:t>
            </a:r>
          </a:p>
          <a:p xmlns:a="http://schemas.openxmlformats.org/drawingml/2006/main">
            <a:r>
              <a:t>Intuition: Purchase and preparation cost / usable output</a:t>
            </a:r>
          </a:p>
          <a:p xmlns:a="http://schemas.openxmlformats.org/drawingml/2006/main">
            <a:r>
              <a:t>Formula and variable units: Offer A: (USD30 + USD5) / 45kg = USD0.7778/kg. Offer B: (USD32 + USD4) / 48kg = USD0.7500/kg.</a:t>
            </a:r>
          </a:p>
          <a:p xmlns:a="http://schemas.openxmlformats.org/drawingml/2006/main">
            <a:r>
              <a:t>Inputs: Illustrative example—not Olam data; input register I-E05</a:t>
            </a:r>
          </a:p>
          <a:p xmlns:a="http://schemas.openxmlformats.org/drawingml/2006/main">
            <a:r>
              <a:t>Substitution/result: B costs 3.57% less per usable kg</a:t>
            </a:r>
          </a:p>
          <a:p xmlns:a="http://schemas.openxmlformats.org/drawingml/2006/main">
            <a:r>
              <a:t>Interpretation and failure: Chosen flour-like inputs. Paid adoption also depends on cash, trust and availability.</a:t>
            </a:r>
          </a:p>
          <a:p xmlns:a="http://schemas.openxmlformats.org/drawingml/2006/main">
            <a:r>
              <a:t>Sensitivity: If B produces only 45kg, cost rises to USD0.80/kg and reverses the advantage.</a:t>
            </a:r>
          </a:p>
          <a:p xmlns:a="http://schemas.openxmlformats.org/drawingml/2006/main">
            <a:r>
              <a:t>Lineage: C-E05;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C-E05</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Pack cash and cost per meal</a:t>
            </a:r>
          </a:p>
          <a:p xmlns:a="http://schemas.openxmlformats.org/drawingml/2006/main">
            <a:r>
              <a:t>Intuition: Cash ticket differs from cost per use; assume 100g dry input per meal</a:t>
            </a:r>
          </a:p>
          <a:p xmlns:a="http://schemas.openxmlformats.org/drawingml/2006/main">
            <a:r>
              <a:t>Formula and variable units: Small: (₦600 + ₦100 prep) / 5 meals = ₦140/meal. Large: (₦2,000 + ₦400 prep) / 20 meals = ₦120/meal.</a:t>
            </a:r>
          </a:p>
          <a:p xmlns:a="http://schemas.openxmlformats.org/drawingml/2006/main">
            <a:r>
              <a:t>Inputs: Illustrative example—not Olam data; input register I-E06</a:t>
            </a:r>
          </a:p>
          <a:p xmlns:a="http://schemas.openxmlformats.org/drawingml/2006/main">
            <a:r>
              <a:t>Substitution/result: Small cash ticket ₦600; large pack 14.29% cheaper per meal</a:t>
            </a:r>
          </a:p>
          <a:p xmlns:a="http://schemas.openxmlformats.org/drawingml/2006/main">
            <a:r>
              <a:t>Interpretation and failure: Chosen Nigerian cash units and serving size. The large pack needs more upfront cash.</a:t>
            </a:r>
          </a:p>
          <a:p xmlns:a="http://schemas.openxmlformats.org/drawingml/2006/main">
            <a:r>
              <a:t>Sensitivity: Large purchase cash is 3.33 times the small pack, despite lower cost per meal.</a:t>
            </a:r>
          </a:p>
          <a:p xmlns:a="http://schemas.openxmlformats.org/drawingml/2006/main">
            <a:r>
              <a:t>Lineage: C-E06;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C-E06</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Percent versus percentage points</a:t>
            </a:r>
          </a:p>
          <a:p xmlns:a="http://schemas.openxmlformats.org/drawingml/2006/main">
            <a:r>
              <a:t>Intuition: Distinguish absolute percentage-point change from relative percentage change</a:t>
            </a:r>
          </a:p>
          <a:p xmlns:a="http://schemas.openxmlformats.org/drawingml/2006/main">
            <a:r>
              <a:t>Formula and variable units: 10% − 8% = 2 percentage points. Relative increase = (10 − 8) / 8 = 25%.</a:t>
            </a:r>
          </a:p>
          <a:p xmlns:a="http://schemas.openxmlformats.org/drawingml/2006/main">
            <a:r>
              <a:t>Inputs: Illustrative example—not Olam data; input register I-E07</a:t>
            </a:r>
          </a:p>
          <a:p xmlns:a="http://schemas.openxmlformats.org/drawingml/2006/main">
            <a:r>
              <a:t>Substitution/result: 2 percentage points; 25% relative increase</a:t>
            </a:r>
          </a:p>
          <a:p xmlns:a="http://schemas.openxmlformats.org/drawingml/2006/main">
            <a:r>
              <a:t>Interpretation and failure: A margin change is not the same measure as revenue growth.</a:t>
            </a:r>
          </a:p>
          <a:p xmlns:a="http://schemas.openxmlformats.org/drawingml/2006/main">
            <a:r>
              <a:t>Sensitivity: On USD100 revenue, profit rises from USD8 to USD10.</a:t>
            </a:r>
          </a:p>
          <a:p xmlns:a="http://schemas.openxmlformats.org/drawingml/2006/main">
            <a:r>
              <a:t>Lineage: C-E07;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C-E07</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Profit to free cash</a:t>
            </a:r>
          </a:p>
          <a:p xmlns:a="http://schemas.openxmlformats.org/drawingml/2006/main">
            <a:r>
              <a:t>Intuition: EBIT less tax, plus D&amp;A, less maintenance/growth capex and change in NWC</a:t>
            </a:r>
          </a:p>
          <a:p xmlns:a="http://schemas.openxmlformats.org/drawingml/2006/main">
            <a:r>
              <a:t>Formula and variable units: EBITDA 4 − D&amp;A 1 = EBIT 3; tax = 0.75. FCFF = 3 − 0.75 + 1 − 0.6 − 0.4 − 1 = 1.25 (USDm).</a:t>
            </a:r>
          </a:p>
          <a:p xmlns:a="http://schemas.openxmlformats.org/drawingml/2006/main">
            <a:r>
              <a:t>Inputs: Illustrative example—not Olam data; input register I-E08</a:t>
            </a:r>
          </a:p>
          <a:p xmlns:a="http://schemas.openxmlformats.org/drawingml/2006/main">
            <a:r>
              <a:t>Substitution/result: USD1.25m free cash flow</a:t>
            </a:r>
          </a:p>
          <a:p xmlns:a="http://schemas.openxmlformats.org/drawingml/2006/main">
            <a:r>
              <a:t>Interpretation and failure: Assume no prior tax losses, 25% tax, USD0.6m maintenance and USD0.4m growth capex.</a:t>
            </a:r>
          </a:p>
          <a:p xmlns:a="http://schemas.openxmlformats.org/drawingml/2006/main">
            <a:r>
              <a:t>Sensitivity: If NWC does not increase, this period’s cash rises by USD1m.</a:t>
            </a:r>
          </a:p>
          <a:p xmlns:a="http://schemas.openxmlformats.org/drawingml/2006/main">
            <a:r>
              <a:t>Lineage: C-E08;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C-E08</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Working-capital release</a:t>
            </a:r>
          </a:p>
          <a:p xmlns:a="http://schemas.openxmlformats.org/drawingml/2006/main">
            <a:r>
              <a:t>Intuition: Revenue basis for receivables; cost basis for inventory; DPO unchanged</a:t>
            </a:r>
          </a:p>
          <a:p xmlns:a="http://schemas.openxmlformats.org/drawingml/2006/main">
            <a:r>
              <a:t>Formula and variable units: AR: USD40m × 5 / 365 = USD0.547945m. Inventory: USD34m × 7 / 365 = USD0.652055m. Total = USD1.20m.</a:t>
            </a:r>
          </a:p>
          <a:p xmlns:a="http://schemas.openxmlformats.org/drawingml/2006/main">
            <a:r>
              <a:t>Inputs: Illustrative example—not Olam data; input register I-E09</a:t>
            </a:r>
          </a:p>
          <a:p xmlns:a="http://schemas.openxmlformats.org/drawingml/2006/main">
            <a:r>
              <a:t>Substitution/result: USD1.20m once-only cash release</a:t>
            </a:r>
          </a:p>
          <a:p xmlns:a="http://schemas.openxmlformats.org/drawingml/2006/main">
            <a:r>
              <a:t>Interpretation and failure: All sales are credit in this example. The transition release is not recurring annual profit.</a:t>
            </a:r>
          </a:p>
          <a:p xmlns:a="http://schemas.openxmlformats.org/drawingml/2006/main">
            <a:r>
              <a:t>Sensitivity: One further DSO day releases USD0.109589m at this sales base.</a:t>
            </a:r>
          </a:p>
          <a:p xmlns:a="http://schemas.openxmlformats.org/drawingml/2006/main">
            <a:r>
              <a:t>Lineage: C-E09;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C-E09</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Inherited Nigeria screen</a:t>
            </a:r>
          </a:p>
          <a:p xmlns:a="http://schemas.openxmlformats.org/drawingml/2006/main">
            <a:r>
              <a:t>Intuition: Inherited additive uplift and sales-day proxy; ramped three-year DCF</a:t>
            </a:r>
          </a:p>
          <a:p xmlns:a="http://schemas.openxmlformats.org/drawingml/2006/main">
            <a:r>
              <a:t>Formula and variable units: 100 × (2% + 2%) × 8% + 0.7 + 0.6 − 0.4 − 0.45 − 0.30 = 0.47; 100 × 7 / 365 = 1.9178 (NGNbn).</a:t>
            </a:r>
          </a:p>
          <a:p xmlns:a="http://schemas.openxmlformats.org/drawingml/2006/main">
            <a:r>
              <a:t>Inputs: Illustrative example—not Olam data; input register I-E10</a:t>
            </a:r>
          </a:p>
          <a:p xmlns:a="http://schemas.openxmlformats.org/drawingml/2006/main">
            <a:r>
              <a:t>Substitution/result: NPV −NGN2.0645bn; zero-NPV uplift NGN1.9928bn/year</a:t>
            </a:r>
          </a:p>
          <a:p xmlns:a="http://schemas.openxmlformats.org/drawingml/2006/main">
            <a:r>
              <a:t>Interpretation and failure: NGN4.2bn initial capital; 28% hurdle; 50/80/100% benefit ramp. Tax, replacement and actual cash bases are absent.</a:t>
            </a:r>
          </a:p>
          <a:p xmlns:a="http://schemas.openxmlformats.org/drawingml/2006/main">
            <a:r>
              <a:t>Sensitivity: Repair procurement FX overlap, AR/inventory/AP, capex, tax and currency before a production decision.</a:t>
            </a:r>
          </a:p>
          <a:p xmlns:a="http://schemas.openxmlformats.org/drawingml/2006/main">
            <a:r>
              <a:t>Lineage: C-E10; Calculation_Audit; scripts/olam-package.py examples.</a:t>
            </a:r>
          </a:p>
          <a:p xmlns:a="http://schemas.openxmlformats.org/drawingml/2006/main">
            <a:r>
              <a:t>Source lineage: BASELINE</a:t>
            </a:r>
          </a:p>
          <a:p xmlns:a="http://schemas.openxmlformats.org/drawingml/2006/main">
            <a:r>
              <a:t>Assumptions: A_EXAMPLE</a:t>
            </a:r>
          </a:p>
          <a:p xmlns:a="http://schemas.openxmlformats.org/drawingml/2006/main">
            <a:r>
              <a:t>Calculations: C-E10</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FX and commodity interaction</a:t>
            </a:r>
          </a:p>
          <a:p xmlns:a="http://schemas.openxmlformats.org/drawingml/2006/main">
            <a:r>
              <a:t>Intuition: Local imported cost = USD commodity price × local currency per USD</a:t>
            </a:r>
          </a:p>
          <a:p xmlns:a="http://schemas.openxmlformats.org/drawingml/2006/main">
            <a:r>
              <a:t>Formula and variable units: USD100 × ₦1,000/USD = ₦100,000. With both factors +10%: USD110 × ₦1,100 = ₦121,000, or +21%.</a:t>
            </a:r>
          </a:p>
          <a:p xmlns:a="http://schemas.openxmlformats.org/drawingml/2006/main">
            <a:r>
              <a:t>Inputs: Illustrative example—not Olam data; input register I-E11</a:t>
            </a:r>
          </a:p>
          <a:p xmlns:a="http://schemas.openxmlformats.org/drawingml/2006/main">
            <a:r>
              <a:t>Substitution/result: 21% combined input-cost increase</a:t>
            </a:r>
          </a:p>
          <a:p xmlns:a="http://schemas.openxmlformats.org/drawingml/2006/main">
            <a:r>
              <a:t>Interpretation and failure: Both shocks hit the same procurement base. Hedge effects need documented contracts.</a:t>
            </a:r>
          </a:p>
          <a:p xmlns:a="http://schemas.openxmlformats.org/drawingml/2006/main">
            <a:r>
              <a:t>Sensitivity: Chosen 70% cost pass-through recovers 14.7% initially; weaker customer volume may reduce retained margin.</a:t>
            </a:r>
          </a:p>
          <a:p xmlns:a="http://schemas.openxmlformats.org/drawingml/2006/main">
            <a:r>
              <a:t>Lineage: C-E11;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C-E11</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Finite NPV and commissioning</a:t>
            </a:r>
          </a:p>
          <a:p xmlns:a="http://schemas.openxmlformats.org/drawingml/2006/main">
            <a:r>
              <a:t>Intuition: Discount each dated free cash flow; do not compare only undiscounted totals</a:t>
            </a:r>
          </a:p>
          <a:p xmlns:a="http://schemas.openxmlformats.org/drawingml/2006/main">
            <a:r>
              <a:t>Formula and variable units: NPV = −5 + 2/1.10 + 2/1.10² + 2/1.10³ = −0.0263 (USDm).</a:t>
            </a:r>
          </a:p>
          <a:p xmlns:a="http://schemas.openxmlformats.org/drawingml/2006/main">
            <a:r>
              <a:t>Inputs: Illustrative example—not Olam data; input register I-E12</a:t>
            </a:r>
          </a:p>
          <a:p xmlns:a="http://schemas.openxmlformats.org/drawingml/2006/main">
            <a:r>
              <a:t>Substitution/result: NPV −USD0.0263m</a:t>
            </a:r>
          </a:p>
          <a:p xmlns:a="http://schemas.openxmlformats.org/drawingml/2006/main">
            <a:r>
              <a:t>Interpretation and failure: No terminal value. Staging USD3m now and USD2m in year 1, with cash in years 2–4, gives −USD0.2966m.</a:t>
            </a:r>
          </a:p>
          <a:p xmlns:a="http://schemas.openxmlformats.org/drawingml/2006/main">
            <a:r>
              <a:t>Sensitivity: Paying USD5m now with a one-year cash delay gives −USD0.4784m.</a:t>
            </a:r>
          </a:p>
          <a:p xmlns:a="http://schemas.openxmlformats.org/drawingml/2006/main">
            <a:r>
              <a:t>Lineage: C-E12;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C-E12</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Real and nominal consistency</a:t>
            </a:r>
          </a:p>
          <a:p xmlns:a="http://schemas.openxmlformats.org/drawingml/2006/main">
            <a:r>
              <a:t>Intuition: Consistent inflation of both cash and discount rate preserves NPV</a:t>
            </a:r>
          </a:p>
          <a:p xmlns:a="http://schemas.openxmlformats.org/drawingml/2006/main">
            <a:r>
              <a:t>Formula and variable units: (1.10 × 1.05) − 1 = 15.5% nominal hurdle. Year 1: 2.10 / 1.155 = 2.00 / 1.10.</a:t>
            </a:r>
          </a:p>
          <a:p xmlns:a="http://schemas.openxmlformats.org/drawingml/2006/main">
            <a:r>
              <a:t>Inputs: Illustrative example—not Olam data; input register I-E13</a:t>
            </a:r>
          </a:p>
          <a:p xmlns:a="http://schemas.openxmlformats.org/drawingml/2006/main">
            <a:r>
              <a:t>Substitution/result: Real and nominal three-year NPVs both −USD0.0263m</a:t>
            </a:r>
          </a:p>
          <a:p xmlns:a="http://schemas.openxmlformats.org/drawingml/2006/main">
            <a:r>
              <a:t>Interpretation and failure: Nominal cash grows by 5% inflation and is discounted at 15.5%. Project and currency risk require separate care.</a:t>
            </a:r>
          </a:p>
          <a:p xmlns:a="http://schemas.openxmlformats.org/drawingml/2006/main">
            <a:r>
              <a:t>Sensitivity: Mixing nominal cash with a real hurdle overstates value.</a:t>
            </a:r>
          </a:p>
          <a:p xmlns:a="http://schemas.openxmlformats.org/drawingml/2006/main">
            <a:r>
              <a:t>Lineage: C-E13;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C-E13</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Operating versus investment break-even</a:t>
            </a:r>
          </a:p>
          <a:p xmlns:a="http://schemas.openxmlformats.org/drawingml/2006/main">
            <a:r>
              <a:t>Intuition: Operating break-even pays fixed cash cost; investment break-even also pays capital</a:t>
            </a:r>
          </a:p>
          <a:p xmlns:a="http://schemas.openxmlformats.org/drawingml/2006/main">
            <a:r>
              <a:t>Formula and variable units: USD2m / (USD400 − USD340 per tonne) = 33,333t; / 150,000t capacity = 22.22% utilization.</a:t>
            </a:r>
          </a:p>
          <a:p xmlns:a="http://schemas.openxmlformats.org/drawingml/2006/main">
            <a:r>
              <a:t>Inputs: Illustrative example—not Olam data; input register I-E14</a:t>
            </a:r>
          </a:p>
          <a:p xmlns:a="http://schemas.openxmlformats.org/drawingml/2006/main">
            <a:r>
              <a:t>Substitution/result: Operating 33,333t; investment boundary 104,862 initial order tonnes</a:t>
            </a:r>
          </a:p>
          <a:p xmlns:a="http://schemas.openxmlformats.org/drawingml/2006/main">
            <a:r>
              <a:t>Interpretation and failure: Full NPV includes ramp, tax, replacement, working cash and the finite horizon.</a:t>
            </a:r>
          </a:p>
          <a:p xmlns:a="http://schemas.openxmlformats.org/drawingml/2006/main">
            <a:r>
              <a:t>Sensitivity: Operating above 22.22% utilization can still give negative investment NPV.</a:t>
            </a:r>
          </a:p>
          <a:p xmlns:a="http://schemas.openxmlformats.org/drawingml/2006/main">
            <a:r>
              <a:t>Lineage: C-E14;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C-E14</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Scenario weights are not likelihood</a:t>
            </a:r>
          </a:p>
          <a:p xmlns:a="http://schemas.openxmlformats.org/drawingml/2006/main">
            <a:r>
              <a:t>Intuition: Weighted average = sum of chosen weight × conditional NPV</a:t>
            </a:r>
          </a:p>
          <a:p xmlns:a="http://schemas.openxmlformats.org/drawingml/2006/main">
            <a:r>
              <a:t>Formula and variable units: Chosen NPVs [10, −8, 2] and weights [0.5, 0.3, 0.2]: 5 − 2.4 + 0.4 = USD3m.</a:t>
            </a:r>
          </a:p>
          <a:p xmlns:a="http://schemas.openxmlformats.org/drawingml/2006/main">
            <a:r>
              <a:t>Inputs: Illustrative example—not Olam data; input register I-E15</a:t>
            </a:r>
          </a:p>
          <a:p xmlns:a="http://schemas.openxmlformats.org/drawingml/2006/main">
            <a:r>
              <a:t>Substitution/result: USD3m judgement-weighted mean</a:t>
            </a:r>
          </a:p>
          <a:p xmlns:a="http://schemas.openxmlformats.org/drawingml/2006/main">
            <a:r>
              <a:t>Interpretation and failure: The central USD10m case is not a calibrated most-likely future. The adverse loss can breach funding.</a:t>
            </a:r>
          </a:p>
          <a:p xmlns:a="http://schemas.openxmlformats.org/drawingml/2006/main">
            <a:r>
              <a:t>Sensitivity: If adverse weight is 0.5 and central weight 0.3, the mean becomes −USD0.6m.</a:t>
            </a:r>
          </a:p>
          <a:p xmlns:a="http://schemas.openxmlformats.org/drawingml/2006/main">
            <a:r>
              <a:t>Lineage: C-E15;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C-E15</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Loss-tail VaR and CVaR</a:t>
            </a:r>
          </a:p>
          <a:p xmlns:a="http://schemas.openxmlformats.org/drawingml/2006/main">
            <a:r>
              <a:t>Intuition: Loss = max(0, −NPV); a quantile differs from the mean of a chosen tail</a:t>
            </a:r>
          </a:p>
          <a:p xmlns:a="http://schemas.openxmlformats.org/drawingml/2006/main">
            <a:r>
              <a:t>Formula and variable units: NPVs [−8, −4, 0, 2, 6] imply losses [0, 0, 0, 4, 8]. Nearest-rank VaR80 = 4; worst-20% CVaR80 = 8 (USDm).</a:t>
            </a:r>
          </a:p>
          <a:p xmlns:a="http://schemas.openxmlformats.org/drawingml/2006/main">
            <a:r>
              <a:t>Inputs: Illustrative example—not Olam data; input register I-E16</a:t>
            </a:r>
          </a:p>
          <a:p xmlns:a="http://schemas.openxmlformats.org/drawingml/2006/main">
            <a:r>
              <a:t>Substitution/result: Loss VaR80 USD4m; tail CVaR80 USD8m</a:t>
            </a:r>
          </a:p>
          <a:p xmlns:a="http://schemas.openxmlformats.org/drawingml/2006/main">
            <a:r>
              <a:t>Interpretation and failure: Declare discrete tie treatment: mean(loss ≥ VaR) would be USD6m here, a different convention.</a:t>
            </a:r>
          </a:p>
          <a:p xmlns:a="http://schemas.openxmlformats.org/drawingml/2006/main">
            <a:r>
              <a:t>Sensitivity: Stress code uses mean(loss ≥ 95% quantile). Its chosen continuous generator has negligible ties.</a:t>
            </a:r>
          </a:p>
          <a:p xmlns:a="http://schemas.openxmlformats.org/drawingml/2006/main">
            <a:r>
              <a:t>Lineage: C-E16; Calculation_Audit; scripts/olam-package.py examples.</a:t>
            </a:r>
          </a:p>
          <a:p xmlns:a="http://schemas.openxmlformats.org/drawingml/2006/main">
            <a:r>
              <a:t>Source lineage: CVAR</a:t>
            </a:r>
          </a:p>
          <a:p xmlns:a="http://schemas.openxmlformats.org/drawingml/2006/main">
            <a:r>
              <a:t>Assumptions: A_EXAMPLE</a:t>
            </a:r>
          </a:p>
          <a:p xmlns:a="http://schemas.openxmlformats.org/drawingml/2006/main">
            <a:r>
              <a:t>Calculations: C-E16</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CVAR | Rockafellar &amp; Uryasev: Optimization of CVaR</a:t>
            </a:r>
          </a:p>
          <a:p xmlns:a="http://schemas.openxmlformats.org/drawingml/2006/main">
            <a:r>
              <a:t>https://sites.math.washington.edu/~rtr/papers/rtr179-CVaR1.pdf</a:t>
            </a:r>
          </a:p>
          <a:p xmlns:a="http://schemas.openxmlformats.org/drawingml/2006/main">
            <a:r>
              <a:t>Loss definition and CVaR optimisation formulation</a:t>
            </a:r>
          </a:p>
          <a:p xmlns:a="http://schemas.openxmlformats.org/drawingml/2006/main">
            <a:r>
              <a:t>Implemented loss-tail example and stress summaries, not proprietary theorem.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Common-exposure diversification</a:t>
            </a:r>
          </a:p>
          <a:p xmlns:a="http://schemas.openxmlformats.org/drawingml/2006/main">
            <a:r>
              <a:t>Intuition: Equal individual average losses can conceal different joint tail exposures</a:t>
            </a:r>
          </a:p>
          <a:p xmlns:a="http://schemas.openxmlformats.org/drawingml/2006/main">
            <a:r>
              <a:t>Formula and variable units: Each source loses USD10m with chosen probability 0.2. A shared port produces joint loss USD20m with probability 0.2; independent joint probability is 0.04.</a:t>
            </a:r>
          </a:p>
          <a:p xmlns:a="http://schemas.openxmlformats.org/drawingml/2006/main">
            <a:r>
              <a:t>Inputs: Illustrative example—not Olam data; input register I-E17</a:t>
            </a:r>
          </a:p>
          <a:p xmlns:a="http://schemas.openxmlformats.org/drawingml/2006/main">
            <a:r>
              <a:t>Substitution/result: Expected total loss USD4m in both; joint tail differs</a:t>
            </a:r>
          </a:p>
          <a:p xmlns:a="http://schemas.openxmlformats.org/drawingml/2006/main">
            <a:r>
              <a:t>Interpretation and failure: Chosen probabilities illustrate dependence. Country flags do not remove a shared crop season or port.</a:t>
            </a:r>
          </a:p>
          <a:p xmlns:a="http://schemas.openxmlformats.org/drawingml/2006/main">
            <a:r>
              <a:t>Sensitivity: A different basin without a different port can leave route exposure unchanged.</a:t>
            </a:r>
          </a:p>
          <a:p xmlns:a="http://schemas.openxmlformats.org/drawingml/2006/main">
            <a:r>
              <a:t>Lineage: C-E17;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C-E17</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Difference in differences</a:t>
            </a:r>
          </a:p>
          <a:p xmlns:a="http://schemas.openxmlformats.org/drawingml/2006/main">
            <a:r>
              <a:t>Intuition: Subtract the counterfactual change from the treated change</a:t>
            </a:r>
          </a:p>
          <a:p xmlns:a="http://schemas.openxmlformats.org/drawingml/2006/main">
            <a:r>
              <a:t>Formula and variable units: Treated sales: 100 → 130. Control: 100 → 110. DiD = (130 − 100) − (110 − 100) = 20.</a:t>
            </a:r>
          </a:p>
          <a:p xmlns:a="http://schemas.openxmlformats.org/drawingml/2006/main">
            <a:r>
              <a:t>Inputs: Illustrative example—not Olam data; input register I-E18</a:t>
            </a:r>
          </a:p>
          <a:p xmlns:a="http://schemas.openxmlformats.org/drawingml/2006/main">
            <a:r>
              <a:t>Substitution/result: 20 illustrative incremental eligible sales units</a:t>
            </a:r>
          </a:p>
          <a:p xmlns:a="http://schemas.openxmlformats.org/drawingml/2006/main">
            <a:r>
              <a:t>Interpretation and failure: Parallel trends and no material spillovers are required. Four chosen means cannot support an estimated interval.</a:t>
            </a:r>
          </a:p>
          <a:p xmlns:a="http://schemas.openxmlformats.org/drawingml/2006/main">
            <a:r>
              <a:t>Sensitivity: At USD2 contribution/unit, gross incremental contribution is USD40 before service and pilot cost.</a:t>
            </a:r>
          </a:p>
          <a:p xmlns:a="http://schemas.openxmlformats.org/drawingml/2006/main">
            <a:r>
              <a:t>Lineage: C-E18; Calculation_Audit; scripts/olam-package.py examples.</a:t>
            </a:r>
          </a:p>
          <a:p xmlns:a="http://schemas.openxmlformats.org/drawingml/2006/main">
            <a:r>
              <a:t>Source lineage: DID</a:t>
            </a:r>
          </a:p>
          <a:p xmlns:a="http://schemas.openxmlformats.org/drawingml/2006/main">
            <a:r>
              <a:t>Assumptions: A_EXAMPLE</a:t>
            </a:r>
          </a:p>
          <a:p xmlns:a="http://schemas.openxmlformats.org/drawingml/2006/main">
            <a:r>
              <a:t>Calculations: C-E18</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DID | Callaway &amp; Sant’Anna: Difference-in-differences</a:t>
            </a:r>
          </a:p>
          <a:p xmlns:a="http://schemas.openxmlformats.org/drawingml/2006/main">
            <a:r>
              <a:t>https://arxiv.org/abs/1803.09015</a:t>
            </a:r>
          </a:p>
          <a:p xmlns:a="http://schemas.openxmlformats.org/drawingml/2006/main">
            <a:r>
              <a:t>arXiv 1803.09015; identification with multiple time periods</a:t>
            </a:r>
          </a:p>
          <a:p xmlns:a="http://schemas.openxmlformats.org/drawingml/2006/main">
            <a:r>
              <a:t>No Olam treatment effect estimated; pilot design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Incremental ROMI</a:t>
            </a:r>
          </a:p>
          <a:p xmlns:a="http://schemas.openxmlformats.org/drawingml/2006/main">
            <a:r>
              <a:t>Intuition: Net incremental contribution after marketing / marketing spend</a:t>
            </a:r>
          </a:p>
          <a:p xmlns:a="http://schemas.openxmlformats.org/drawingml/2006/main">
            <a:r>
              <a:t>Formula and variable units: Incremental contribution 120 − service 20 − trade 10 − cannibalisation 10 = 80. Marketing spend 40. Net ROMI = (80 − 40)/40 = 100%.</a:t>
            </a:r>
          </a:p>
          <a:p xmlns:a="http://schemas.openxmlformats.org/drawingml/2006/main">
            <a:r>
              <a:t>Inputs: Illustrative example—not Olam data; input register I-E19</a:t>
            </a:r>
          </a:p>
          <a:p xmlns:a="http://schemas.openxmlformats.org/drawingml/2006/main">
            <a:r>
              <a:t>Substitution/result: 100% net ROMI; contribution/spend is 2.0 times</a:t>
            </a:r>
          </a:p>
          <a:p xmlns:a="http://schemas.openxmlformats.org/drawingml/2006/main">
            <a:r>
              <a:t>Interpretation and failure: All inputs are chosen currency-thousands. Use a paid-sales counterfactual and full incremental costs.</a:t>
            </a:r>
          </a:p>
          <a:p xmlns:a="http://schemas.openxmlformats.org/drawingml/2006/main">
            <a:r>
              <a:t>Sensitivity: If contribution after other costs is only 40, net ROMI is zero. Multi-year proposals need NPV.</a:t>
            </a:r>
          </a:p>
          <a:p xmlns:a="http://schemas.openxmlformats.org/drawingml/2006/main">
            <a:r>
              <a:t>Lineage: C-E19;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C-E19</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Decision value of information</a:t>
            </a:r>
          </a:p>
          <a:p xmlns:a="http://schemas.openxmlformats.org/drawingml/2006/main">
            <a:r>
              <a:t>Intuition: Optimal decision value after information less before information, study and delay costs</a:t>
            </a:r>
          </a:p>
          <a:p xmlns:a="http://schemas.openxmlformats.org/drawingml/2006/main">
            <a:r>
              <a:t>Formula and variable units: Good state p=0.5: investment NPV 10; bad state p=0.5: −8; wait 0. Best prior EV=1; perfect-information EV=5; less study 1 and delay 0.5 gives net gain 2.5.</a:t>
            </a:r>
          </a:p>
          <a:p xmlns:a="http://schemas.openxmlformats.org/drawingml/2006/main">
            <a:r>
              <a:t>Inputs: Illustrative example—not Olam data; input register I-E20</a:t>
            </a:r>
          </a:p>
          <a:p xmlns:a="http://schemas.openxmlformats.org/drawingml/2006/main">
            <a:r>
              <a:t>Substitution/result: USD2.5m net perfect-information ceiling</a:t>
            </a:r>
          </a:p>
          <a:p xmlns:a="http://schemas.openxmlformats.org/drawingml/2006/main">
            <a:r>
              <a:t>Interpretation and failure: A perfect study is an upper bound. Do not add its benefit again to a policy that already includes learning.</a:t>
            </a:r>
          </a:p>
          <a:p xmlns:a="http://schemas.openxmlformats.org/drawingml/2006/main">
            <a:r>
              <a:t>Sensitivity: An imperfect pilot may be worth less than its cost; keep the wait option.</a:t>
            </a:r>
          </a:p>
          <a:p xmlns:a="http://schemas.openxmlformats.org/drawingml/2006/main">
            <a:r>
              <a:t>Lineage: C-E20;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C-E20</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Reverse stress</a:t>
            </a:r>
          </a:p>
          <a:p xmlns:a="http://schemas.openxmlformats.org/drawingml/2006/main">
            <a:r>
              <a:t>Intuition: Solve the full NPV root and monitor the mechanism that moves it</a:t>
            </a:r>
          </a:p>
          <a:p xmlns:a="http://schemas.openxmlformats.org/drawingml/2006/main">
            <a:r>
              <a:t>Formula and variable units: The managed owned template reaches zero NPV at 104,862 initial annual order tonnes. The current 100,000t base needs 4.86% more initial orders.</a:t>
            </a:r>
          </a:p>
          <a:p xmlns:a="http://schemas.openxmlformats.org/drawingml/2006/main">
            <a:r>
              <a:t>Inputs: Illustrative example—not Olam data; input register I-E21</a:t>
            </a:r>
          </a:p>
          <a:p xmlns:a="http://schemas.openxmlformats.org/drawingml/2006/main">
            <a:r>
              <a:t>Substitution/result: About 4.86% more initial orders needed</a:t>
            </a:r>
          </a:p>
          <a:p xmlns:a="http://schemas.openxmlformats.org/drawingml/2006/main">
            <a:r>
              <a:t>Interpretation and failure: The threshold depends on cost, hurdle, tax and capacity; volume cannot repair a negative unit contribution.</a:t>
            </a:r>
          </a:p>
          <a:p xmlns:a="http://schemas.openxmlformats.org/drawingml/2006/main">
            <a:r>
              <a:t>Sensitivity: Cost, FX or commissioning shocks shift the boundary. Monitor orders together with cash.</a:t>
            </a:r>
          </a:p>
          <a:p xmlns:a="http://schemas.openxmlformats.org/drawingml/2006/main">
            <a:r>
              <a:t>Lineage: C-E21;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C-E21</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question: Size ranking can reverse</a:t>
            </a:r>
          </a:p>
          <a:p xmlns:a="http://schemas.openxmlformats.org/drawingml/2006/main">
            <a:r>
              <a:t>Intuition: Delivered units × unit contribution less fixed cost, then full cash-flow valuation</a:t>
            </a:r>
          </a:p>
          <a:p xmlns:a="http://schemas.openxmlformats.org/drawingml/2006/main">
            <a:r>
              <a:t>Formula and variable units: Country A: demand 200kt, capture 50kt, unit contribution USD20, fixed USD0.7m → EBITDA USD0.3m. B: demand 100kt, capture 40kt, contribution USD40 → USD0.9m.</a:t>
            </a:r>
          </a:p>
          <a:p xmlns:a="http://schemas.openxmlformats.org/drawingml/2006/main">
            <a:r>
              <a:t>Inputs: Illustrative example—not Olam data; input register I-E22</a:t>
            </a:r>
          </a:p>
          <a:p xmlns:a="http://schemas.openxmlformats.org/drawingml/2006/main">
            <a:r>
              <a:t>Substitution/result: B has 3 times EBITDA despite half the category size</a:t>
            </a:r>
          </a:p>
          <a:p xmlns:a="http://schemas.openxmlformats.org/drawingml/2006/main">
            <a:r>
              <a:t>Interpretation and failure: A and B are fictional teaching cases. Chosen capex USD5m vs USD2m and NWC USD2m vs USD0.5m further favour testing B.</a:t>
            </a:r>
          </a:p>
          <a:p xmlns:a="http://schemas.openxmlformats.org/drawingml/2006/main">
            <a:r>
              <a:t>Sensitivity: Before capital differences, A overtakes B above 80kt captured at USD20/t while B stays at 40kt.</a:t>
            </a:r>
          </a:p>
          <a:p xmlns:a="http://schemas.openxmlformats.org/drawingml/2006/main">
            <a:r>
              <a:t>Lineage: C-E22; Calculation_Audit; scripts/olam-package.py examples.</a:t>
            </a:r>
          </a:p>
          <a:p xmlns:a="http://schemas.openxmlformats.org/drawingml/2006/main">
            <a:r>
              <a:t>Source lineage: </a:t>
            </a:r>
          </a:p>
          <a:p xmlns:a="http://schemas.openxmlformats.org/drawingml/2006/main">
            <a:r>
              <a:t>Assumptions: A_EXAMPLE</a:t>
            </a:r>
          </a:p>
          <a:p xmlns:a="http://schemas.openxmlformats.org/drawingml/2006/main">
            <a:r>
              <a:t>Calculations: C-E22</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UN_M49, UN_WPP</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UN_M49 | UN Statistics Division M49</a:t>
            </a:r>
          </a:p>
          <a:p xmlns:a="http://schemas.openxmlformats.org/drawingml/2006/main">
            <a:r>
              <a:t>https://unstats.un.org/unsd/methodology/m49/overview/</a:t>
            </a:r>
          </a:p>
          <a:p xmlns:a="http://schemas.openxmlformats.org/drawingml/2006/main">
            <a:r>
              <a:t>Country/area codes and region/subregion table</a:t>
            </a:r>
          </a:p>
          <a:p xmlns:a="http://schemas.openxmlformats.org/drawingml/2006/main">
            <a:r>
              <a:t>Membership independently cross-checked to UN library current-member and observer guides; territories separate. Region classification follows UN M49.</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OECD_METHOD</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OECD_METHOD | Aglink-Cosimo methodology</a:t>
            </a:r>
          </a:p>
          <a:p xmlns:a="http://schemas.openxmlformats.org/drawingml/2006/main">
            <a:r>
              <a:t>https://www.oecd.org/en/publications/oecd-fao-agricultural-outlook-2026-2035_47874669-en/full-report/methodology_4c323de7.html</a:t>
            </a:r>
          </a:p>
          <a:p xmlns:a="http://schemas.openxmlformats.org/drawingml/2006/main">
            <a:r>
              <a:t>Model overview and projection assumptions</a:t>
            </a:r>
          </a:p>
          <a:p xmlns:a="http://schemas.openxmlformats.org/drawingml/2006/main">
            <a:r>
              <a:t>Recursive dynamic partial-equilibrium benchmark; not estimated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IPCC, WMO</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IPCC | IPCC AR6 WGII Chapter 5: Food</a:t>
            </a:r>
          </a:p>
          <a:p xmlns:a="http://schemas.openxmlformats.org/drawingml/2006/main">
            <a:r>
              <a:t>https://www.ipcc.ch/report/ar6/wg2/chapter/chapter-5/</a:t>
            </a:r>
          </a:p>
          <a:p xmlns:a="http://schemas.openxmlformats.org/drawingml/2006/main">
            <a:r>
              <a:t>Chapter 5; food system risks, adaptation and regional limits</a:t>
            </a:r>
          </a:p>
          <a:p xmlns:a="http://schemas.openxmlformats.org/drawingml/2006/main">
            <a:r>
              <a:t>No country/crop coefficient transplanted to Olam assets.</a:t>
            </a:r>
          </a:p>
          <a:p xmlns:a="http://schemas.openxmlformats.org/drawingml/2006/main">
            <a:r>
              <a:t/>
            </a:r>
          </a:p>
          <a:p xmlns:a="http://schemas.openxmlformats.org/drawingml/2006/main">
            <a:r>
              <a:t>WMO | WMO State of the Global Climate 2025</a:t>
            </a:r>
          </a:p>
          <a:p xmlns:a="http://schemas.openxmlformats.org/drawingml/2006/main">
            <a:r>
              <a:t>https://wmo.int/publication-series/state-of-global-climate/state-of-global-climate-2025</a:t>
            </a:r>
          </a:p>
          <a:p xmlns:a="http://schemas.openxmlformats.org/drawingml/2006/main">
            <a:r>
              <a:t>23 March 2026 release; global temperature and climate indicators</a:t>
            </a:r>
          </a:p>
          <a:p xmlns:a="http://schemas.openxmlformats.org/drawingml/2006/main">
            <a:r>
              <a:t>Global annual anomaly is not local crop damage.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A_TEMPLATE</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CVAR</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CVAR | Rockafellar &amp; Uryasev: Optimization of CVaR</a:t>
            </a:r>
          </a:p>
          <a:p xmlns:a="http://schemas.openxmlformats.org/drawingml/2006/main">
            <a:r>
              <a:t>https://sites.math.washington.edu/~rtr/papers/rtr179-CVaR1.pdf</a:t>
            </a:r>
          </a:p>
          <a:p xmlns:a="http://schemas.openxmlformats.org/drawingml/2006/main">
            <a:r>
              <a:t>Loss definition and CVaR optimisation formulation</a:t>
            </a:r>
          </a:p>
          <a:p xmlns:a="http://schemas.openxmlformats.org/drawingml/2006/main">
            <a:r>
              <a:t>Implemented loss-tail example and stress summaries, not proprietary theorem.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WB_food_index, WB_income_ppp, WB_urban, WB_cereal_yield</a:t>
            </a:r>
          </a:p>
          <a:p xmlns:a="http://schemas.openxmlformats.org/drawingml/2006/main">
            <a:r>
              <a:t>Assumptions: </a:t>
            </a:r>
          </a:p>
          <a:p xmlns:a="http://schemas.openxmlformats.org/drawingml/2006/main">
            <a:r>
              <a:t>Calculations: C-OLS</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WB_food_index | World Bank WDI: AG.PRD.FOOD.XD</a:t>
            </a:r>
          </a:p>
          <a:p xmlns:a="http://schemas.openxmlformats.org/drawingml/2006/main">
            <a:r>
              <a:t>https://api.worldbank.org/v2/country/all/indicator/AG.PRD.FOOD.XD?date=2000:2025&amp;format=json&amp;per_page=20000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WB_income_ppp | World Bank WDI: NY.GDP.PCAP.PP.KD</a:t>
            </a:r>
          </a:p>
          <a:p xmlns:a="http://schemas.openxmlformats.org/drawingml/2006/main">
            <a:r>
              <a:t>https://api.worldbank.org/v2/country/all/indicator/NY.GDP.PCAP.PP.KD?date=2000:2025&amp;format=json&amp;per_page=20000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WB_urban | World Bank WDI: SP.URB.TOTL.IN.ZS</a:t>
            </a:r>
          </a:p>
          <a:p xmlns:a="http://schemas.openxmlformats.org/drawingml/2006/main">
            <a:r>
              <a:t>https://api.worldbank.org/v2/country/all/indicator/SP.URB.TOTL.IN.ZS?date=2000:2025&amp;format=json&amp;per_page=20000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WB_cereal_yield | World Bank WDI: AG.YLD.CREL.KG</a:t>
            </a:r>
          </a:p>
          <a:p xmlns:a="http://schemas.openxmlformats.org/drawingml/2006/main">
            <a:r>
              <a:t>https://api.worldbank.org/v2/country/all/indicator/AG.YLD.CREL.KG?date=2000:2025&amp;format=json&amp;per_page=20000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WB_food_index</a:t>
            </a:r>
          </a:p>
          <a:p xmlns:a="http://schemas.openxmlformats.org/drawingml/2006/main">
            <a:r>
              <a:t>Assumptions: </a:t>
            </a:r>
          </a:p>
          <a:p xmlns:a="http://schemas.openxmlformats.org/drawingml/2006/main">
            <a:r>
              <a:t>Calculations: C-OLS</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WB_food_index | World Bank WDI: AG.PRD.FOOD.XD</a:t>
            </a:r>
          </a:p>
          <a:p xmlns:a="http://schemas.openxmlformats.org/drawingml/2006/main">
            <a:r>
              <a:t>https://api.worldbank.org/v2/country/all/indicator/AG.PRD.FOOD.XD?date=2000:2025&amp;format=json&amp;per_page=20000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CVAR, DID, NOBEL_2003, NOBEL_2018, NOBEL_2021</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CVAR | Rockafellar &amp; Uryasev: Optimization of CVaR</a:t>
            </a:r>
          </a:p>
          <a:p xmlns:a="http://schemas.openxmlformats.org/drawingml/2006/main">
            <a:r>
              <a:t>https://sites.math.washington.edu/~rtr/papers/rtr179-CVaR1.pdf</a:t>
            </a:r>
          </a:p>
          <a:p xmlns:a="http://schemas.openxmlformats.org/drawingml/2006/main">
            <a:r>
              <a:t>Loss definition and CVaR optimisation formulation</a:t>
            </a:r>
          </a:p>
          <a:p xmlns:a="http://schemas.openxmlformats.org/drawingml/2006/main">
            <a:r>
              <a:t>Implemented loss-tail example and stress summaries, not proprietary theorem.</a:t>
            </a:r>
          </a:p>
          <a:p xmlns:a="http://schemas.openxmlformats.org/drawingml/2006/main">
            <a:r>
              <a:t/>
            </a:r>
          </a:p>
          <a:p xmlns:a="http://schemas.openxmlformats.org/drawingml/2006/main">
            <a:r>
              <a:t>DID | Callaway &amp; Sant’Anna: Difference-in-differences</a:t>
            </a:r>
          </a:p>
          <a:p xmlns:a="http://schemas.openxmlformats.org/drawingml/2006/main">
            <a:r>
              <a:t>https://arxiv.org/abs/1803.09015</a:t>
            </a:r>
          </a:p>
          <a:p xmlns:a="http://schemas.openxmlformats.org/drawingml/2006/main">
            <a:r>
              <a:t>arXiv 1803.09015; identification with multiple time periods</a:t>
            </a:r>
          </a:p>
          <a:p xmlns:a="http://schemas.openxmlformats.org/drawingml/2006/main">
            <a:r>
              <a:t>No Olam treatment effect estimated; pilot design only.</a:t>
            </a:r>
          </a:p>
          <a:p xmlns:a="http://schemas.openxmlformats.org/drawingml/2006/main">
            <a:r>
              <a:t/>
            </a:r>
          </a:p>
          <a:p xmlns:a="http://schemas.openxmlformats.org/drawingml/2006/main">
            <a:r>
              <a:t>NOBEL_2003 | Economic Sciences prize 2003</a:t>
            </a:r>
          </a:p>
          <a:p xmlns:a="http://schemas.openxmlformats.org/drawingml/2006/main">
            <a:r>
              <a:t>https://www.nobelprize.org/prizes/economic-sciences/2003/summary/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a:p xmlns:a="http://schemas.openxmlformats.org/drawingml/2006/main">
            <a:r>
              <a:t/>
            </a:r>
          </a:p>
          <a:p xmlns:a="http://schemas.openxmlformats.org/drawingml/2006/main">
            <a:r>
              <a:t>NOBEL_2018 | Economic Sciences prize 2018</a:t>
            </a:r>
          </a:p>
          <a:p xmlns:a="http://schemas.openxmlformats.org/drawingml/2006/main">
            <a:r>
              <a:t>https://www.nobelprize.org/prizes/economic-sciences/2018/summary/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a:p xmlns:a="http://schemas.openxmlformats.org/drawingml/2006/main">
            <a:r>
              <a:t/>
            </a:r>
          </a:p>
          <a:p xmlns:a="http://schemas.openxmlformats.org/drawingml/2006/main">
            <a:r>
              <a:t>NOBEL_2021 | Economic Sciences prize 2021</a:t>
            </a:r>
          </a:p>
          <a:p xmlns:a="http://schemas.openxmlformats.org/drawingml/2006/main">
            <a:r>
              <a:t>https://www.nobelprize.org/prizes/economic-sciences/2021/summary/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DID</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DID | Callaway &amp; Sant’Anna: Difference-in-differences</a:t>
            </a:r>
          </a:p>
          <a:p xmlns:a="http://schemas.openxmlformats.org/drawingml/2006/main">
            <a:r>
              <a:t>https://arxiv.org/abs/1803.09015</a:t>
            </a:r>
          </a:p>
          <a:p xmlns:a="http://schemas.openxmlformats.org/drawingml/2006/main">
            <a:r>
              <a:t>arXiv 1803.09015; identification with multiple time periods</a:t>
            </a:r>
          </a:p>
          <a:p xmlns:a="http://schemas.openxmlformats.org/drawingml/2006/main">
            <a:r>
              <a:t>No Olam treatment effect estimated; pilot design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UN_M49, UN_WPP</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UN_M49 | UN Statistics Division M49</a:t>
            </a:r>
          </a:p>
          <a:p xmlns:a="http://schemas.openxmlformats.org/drawingml/2006/main">
            <a:r>
              <a:t>https://unstats.un.org/unsd/methodology/m49/overview/</a:t>
            </a:r>
          </a:p>
          <a:p xmlns:a="http://schemas.openxmlformats.org/drawingml/2006/main">
            <a:r>
              <a:t>Country/area codes and region/subregion table</a:t>
            </a:r>
          </a:p>
          <a:p xmlns:a="http://schemas.openxmlformats.org/drawingml/2006/main">
            <a:r>
              <a:t>Membership independently cross-checked to UN library current-member and observer guides; territories separate. Region classification follows UN M49.</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A_TEMPLATE</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lineage: BASELINE</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CO_AR | https://www.olamagri.com/content/dam/olam-agri/assets/webp/au/ar/annual-report-pdf/2025/annual-report-2025.pdf | Printed pp. 3, 10–11; CFO overview and performance charts | USD Agri figures. Handled and sales tonnage have different definitions.</a:t>
            </a:r>
          </a:p>
          <a:p xmlns:a="http://schemas.openxmlformats.org/drawingml/2006/main">
            <a:r>
              <a:t/>
            </a:r>
          </a:p>
          <a:p xmlns:a="http://schemas.openxmlformats.org/drawingml/2006/main">
            <a:r>
              <a:t>CO_FACT | https://www.olamagri.com/content/dam/olam-agri/assets/webp/au/au-pdfs/factsheet/olamagri-corporate-factsheet-2026.pdf | pp. 1–2; footprint, products, ownership | 2025 operating facts; country locations do not prove assets or complete trade presence.</a:t>
            </a:r>
          </a:p>
          <a:p xmlns:a="http://schemas.openxmlformats.org/drawingml/2006/main">
            <a:r>
              <a:t/>
            </a:r>
          </a:p>
          <a:p xmlns:a="http://schemas.openxmlformats.org/drawingml/2006/main">
            <a:r>
              <a:t>CO_OWN | https://www.olamgroup.com/investors/our-re-organisation.html | Olam Agri section: 27 April 2026 sale and 30 June CFG share issuance | About page lower text still says 81.11%; resolved to dated transaction 81.81%.</a:t>
            </a:r>
          </a:p>
          <a:p xmlns:a="http://schemas.openxmlformats.org/drawingml/2006/main">
            <a:r>
              <a:t/>
            </a:r>
          </a:p>
          <a:p xmlns:a="http://schemas.openxmlformats.org/drawingml/2006/main">
            <a:r>
              <a:t>CO_ABOUT | https://www.olamagri.com/about-us | At a glance, products and ownership blocks | Conflicting lower ownership text retained as a source conflict.</a:t>
            </a:r>
          </a:p>
          <a:p xmlns:a="http://schemas.openxmlformats.org/drawingml/2006/main">
            <a:r>
              <a:t/>
            </a:r>
          </a:p>
          <a:p xmlns:a="http://schemas.openxmlformats.org/drawingml/2006/main">
            <a:r>
              <a:t>OECD | https://www.oecd.org/en/publications/oecd-fao-agricultural-outlook-2026-2035_47874669-en.html | Publication 29 June 2026; executive summary, methodology; DOI 10.1787/47874669-en | Official horizon ends 2035; no Olam capture forecast.</a:t>
            </a:r>
          </a:p>
          <a:p xmlns:a="http://schemas.openxmlformats.org/drawingml/2006/main">
            <a:r>
              <a:t/>
            </a:r>
          </a:p>
          <a:p xmlns:a="http://schemas.openxmlformats.org/drawingml/2006/main">
            <a:r>
              <a:t>OECD_METHOD | https://www.oecd.org/en/publications/oecd-fao-agricultural-outlook-2026-2035_47874669-en/full-report/methodology_4c323de7.html | Model overview and projection assumptions | Recursive dynamic partial-equilibrium benchmark; not estimated here.</a:t>
            </a:r>
          </a:p>
          <a:p xmlns:a="http://schemas.openxmlformats.org/drawingml/2006/main">
            <a:r>
              <a:t>Source lineage: CO_AR, CO_FACT, CO_OWN, CO_ABOUT, OECD, OECD_METHOD</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CO_AR | Olam Agri Annual Report 2025</a:t>
            </a:r>
          </a:p>
          <a:p xmlns:a="http://schemas.openxmlformats.org/drawingml/2006/main">
            <a:r>
              <a:t>https://www.olamagri.com/content/dam/olam-agri/assets/webp/au/ar/annual-report-pdf/2025/annual-report-2025.pdf</a:t>
            </a:r>
          </a:p>
          <a:p xmlns:a="http://schemas.openxmlformats.org/drawingml/2006/main">
            <a:r>
              <a:t>Printed pp. 3, 10–11; CFO overview and performance charts</a:t>
            </a:r>
          </a:p>
          <a:p xmlns:a="http://schemas.openxmlformats.org/drawingml/2006/main">
            <a:r>
              <a:t>USD Agri figures. Handled and sales tonnage have different definitions.</a:t>
            </a:r>
          </a:p>
          <a:p xmlns:a="http://schemas.openxmlformats.org/drawingml/2006/main">
            <a:r>
              <a:t/>
            </a:r>
          </a:p>
          <a:p xmlns:a="http://schemas.openxmlformats.org/drawingml/2006/main">
            <a:r>
              <a:t>CO_FACT | Olam Agri factsheet, June 2026</a:t>
            </a:r>
          </a:p>
          <a:p xmlns:a="http://schemas.openxmlformats.org/drawingml/2006/main">
            <a:r>
              <a:t>https://www.olamagri.com/content/dam/olam-agri/assets/webp/au/au-pdfs/factsheet/olamagri-corporate-factsheet-2026.pdf</a:t>
            </a:r>
          </a:p>
          <a:p xmlns:a="http://schemas.openxmlformats.org/drawingml/2006/main">
            <a:r>
              <a:t>pp. 1–2; footprint, products, ownership</a:t>
            </a:r>
          </a:p>
          <a:p xmlns:a="http://schemas.openxmlformats.org/drawingml/2006/main">
            <a:r>
              <a:t>2025 operating facts; country locations do not prove assets or complete trade presence.</a:t>
            </a:r>
          </a:p>
          <a:p xmlns:a="http://schemas.openxmlformats.org/drawingml/2006/main">
            <a:r>
              <a:t/>
            </a:r>
          </a:p>
          <a:p xmlns:a="http://schemas.openxmlformats.org/drawingml/2006/main">
            <a:r>
              <a:t>CO_OWN | Olam Group reorganisation / Olam Agri</a:t>
            </a:r>
          </a:p>
          <a:p xmlns:a="http://schemas.openxmlformats.org/drawingml/2006/main">
            <a:r>
              <a:t>https://www.olamgroup.com/investors/our-re-organisation.html</a:t>
            </a:r>
          </a:p>
          <a:p xmlns:a="http://schemas.openxmlformats.org/drawingml/2006/main">
            <a:r>
              <a:t>Olam Agri section: 27 April 2026 sale and 30 June CFG share issuance</a:t>
            </a:r>
          </a:p>
          <a:p xmlns:a="http://schemas.openxmlformats.org/drawingml/2006/main">
            <a:r>
              <a:t>About page lower text still says 81.11%; resolved to dated transaction 81.81%.</a:t>
            </a:r>
          </a:p>
          <a:p xmlns:a="http://schemas.openxmlformats.org/drawingml/2006/main">
            <a:r>
              <a:t/>
            </a:r>
          </a:p>
          <a:p xmlns:a="http://schemas.openxmlformats.org/drawingml/2006/main">
            <a:r>
              <a:t>CO_ABOUT | Olam Agri About Us</a:t>
            </a:r>
          </a:p>
          <a:p xmlns:a="http://schemas.openxmlformats.org/drawingml/2006/main">
            <a:r>
              <a:t>https://www.olamagri.com/about-us</a:t>
            </a:r>
          </a:p>
          <a:p xmlns:a="http://schemas.openxmlformats.org/drawingml/2006/main">
            <a:r>
              <a:t>At a glance, products and ownership blocks</a:t>
            </a:r>
          </a:p>
          <a:p xmlns:a="http://schemas.openxmlformats.org/drawingml/2006/main">
            <a:r>
              <a:t>Conflicting lower ownership text retained as a source conflict.</a:t>
            </a:r>
          </a:p>
          <a:p xmlns:a="http://schemas.openxmlformats.org/drawingml/2006/main">
            <a:r>
              <a:t/>
            </a:r>
          </a:p>
          <a:p xmlns:a="http://schemas.openxmlformats.org/drawingml/2006/main">
            <a:r>
              <a:t>OECD | OECD–FAO Agricultural Outlook 2026–2035</a:t>
            </a:r>
          </a:p>
          <a:p xmlns:a="http://schemas.openxmlformats.org/drawingml/2006/main">
            <a:r>
              <a:t>https://www.oecd.org/en/publications/oecd-fao-agricultural-outlook-2026-2035_47874669-en.html</a:t>
            </a:r>
          </a:p>
          <a:p xmlns:a="http://schemas.openxmlformats.org/drawingml/2006/main">
            <a:r>
              <a:t>Publication 29 June 2026; executive summary, methodology; DOI 10.1787/47874669-en</a:t>
            </a:r>
          </a:p>
          <a:p xmlns:a="http://schemas.openxmlformats.org/drawingml/2006/main">
            <a:r>
              <a:t>Official horizon ends 2035; no Olam capture forecast.</a:t>
            </a:r>
          </a:p>
          <a:p xmlns:a="http://schemas.openxmlformats.org/drawingml/2006/main">
            <a:r>
              <a:t/>
            </a:r>
          </a:p>
          <a:p xmlns:a="http://schemas.openxmlformats.org/drawingml/2006/main">
            <a:r>
              <a:t>OECD_METHOD | Aglink-Cosimo methodology</a:t>
            </a:r>
          </a:p>
          <a:p xmlns:a="http://schemas.openxmlformats.org/drawingml/2006/main">
            <a:r>
              <a:t>https://www.oecd.org/en/publications/oecd-fao-agricultural-outlook-2026-2035_47874669-en/full-report/methodology_4c323de7.html</a:t>
            </a:r>
          </a:p>
          <a:p xmlns:a="http://schemas.openxmlformats.org/drawingml/2006/main">
            <a:r>
              <a:t>Model overview and projection assumptions</a:t>
            </a:r>
          </a:p>
          <a:p xmlns:a="http://schemas.openxmlformats.org/drawingml/2006/main">
            <a:r>
              <a:t>Recursive dynamic partial-equilibrium benchmark; not estimated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UN_M49 | https://unstats.un.org/unsd/methodology/m49/overview/ | Country/area codes and region/subregion table | Membership independently cross-checked to UN library current-member and observer guides; territories separate. Region classification follows UN M49.</a:t>
            </a:r>
          </a:p>
          <a:p xmlns:a="http://schemas.openxmlformats.org/drawingml/2006/main">
            <a:r>
              <a:t/>
            </a:r>
          </a:p>
          <a:p xmlns:a="http://schemas.openxmlformats.org/drawingml/2006/main">
            <a:r>
              <a:t>UN_MEMBERS | https://research.un.org/en/unmembers/currentmembers | All 193 country sections, crosswalked to UN M49 ISO3 | All 193 names matched; four presentational aliases recorded in membership-verification.csv.</a:t>
            </a:r>
          </a:p>
          <a:p xmlns:a="http://schemas.openxmlformats.org/drawingml/2006/main">
            <a:r>
              <a:t/>
            </a:r>
          </a:p>
          <a:p xmlns:a="http://schemas.openxmlformats.org/drawingml/2006/main">
            <a:r>
              <a:t>UN_OBSERVERS | https://research.un.org/en/unmembers/observers | Holy See and State of Palestine sections | VAT and PSE are the two observer states; territories remain separate.</a:t>
            </a:r>
          </a:p>
          <a:p xmlns:a="http://schemas.openxmlformats.org/drawingml/2006/main">
            <a:r>
              <a:t/>
            </a:r>
          </a:p>
          <a:p xmlns:a="http://schemas.openxmlformats.org/drawingml/2006/main">
            <a:r>
              <a:t>UN_WPP | https://population.un.org/wpp/assets/Excel%20Files/1_Indicator%20(Standard)/EXCEL_FILES/1_General/WPP2024_GEN_F01_DEMOGRAPHIC_INDICATORS_COMPACT.xlsx | Medium variant sheet; country rows at 2026, 2030, 2035, 2040, 2045, 2050, 2051 | Population in thousands converted to persons. Medium variant is not a sales forecast.</a:t>
            </a:r>
          </a:p>
          <a:p xmlns:a="http://schemas.openxmlformats.org/drawingml/2006/main">
            <a:r>
              <a:t/>
            </a:r>
          </a:p>
          <a:p xmlns:a="http://schemas.openxmlformats.org/drawingml/2006/main">
            <a:r>
              <a:t>WB_population | https://api.worldbank.org/v2/country/all/indicator/SP.POP.TOTL?date=2000:2025&amp;format=json&amp;per_page=20000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WB_income_ppp | https://api.worldbank.org/v2/country/all/indicator/NY.GDP.PCAP.PP.KD?date=2000:2025&amp;format=json&amp;per_page=20000 | Source 2; series and country/year records, update 2026-07-13 | Latest available year differs by country/series. No missing value imputed.</a:t>
            </a:r>
          </a:p>
          <a:p xmlns:a="http://schemas.openxmlformats.org/drawingml/2006/main">
            <a:r>
              <a:t>Source lineage: UN_M49, UN_MEMBERS, UN_OBSERVERS, UN_WPP, WB_population, WB_income_ppp</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UN_M49 | UN Statistics Division M49</a:t>
            </a:r>
          </a:p>
          <a:p xmlns:a="http://schemas.openxmlformats.org/drawingml/2006/main">
            <a:r>
              <a:t>https://unstats.un.org/unsd/methodology/m49/overview/</a:t>
            </a:r>
          </a:p>
          <a:p xmlns:a="http://schemas.openxmlformats.org/drawingml/2006/main">
            <a:r>
              <a:t>Country/area codes and region/subregion table</a:t>
            </a:r>
          </a:p>
          <a:p xmlns:a="http://schemas.openxmlformats.org/drawingml/2006/main">
            <a:r>
              <a:t>Membership independently cross-checked to UN library current-member and observer guides; territories separate. Region classification follows UN M49.</a:t>
            </a:r>
          </a:p>
          <a:p xmlns:a="http://schemas.openxmlformats.org/drawingml/2006/main">
            <a:r>
              <a:t/>
            </a:r>
          </a:p>
          <a:p xmlns:a="http://schemas.openxmlformats.org/drawingml/2006/main">
            <a:r>
              <a:t>UN_MEMBERS | UN Dag Hammarskjöld Library: current member states</a:t>
            </a:r>
          </a:p>
          <a:p xmlns:a="http://schemas.openxmlformats.org/drawingml/2006/main">
            <a:r>
              <a:t>https://research.un.org/en/unmembers/currentmembers</a:t>
            </a:r>
          </a:p>
          <a:p xmlns:a="http://schemas.openxmlformats.org/drawingml/2006/main">
            <a:r>
              <a:t>All 193 country sections, crosswalked to UN M49 ISO3</a:t>
            </a:r>
          </a:p>
          <a:p xmlns:a="http://schemas.openxmlformats.org/drawingml/2006/main">
            <a:r>
              <a:t>All 193 names matched; four presentational aliases recorded in membership-verification.csv.</a:t>
            </a:r>
          </a:p>
          <a:p xmlns:a="http://schemas.openxmlformats.org/drawingml/2006/main">
            <a:r>
              <a:t/>
            </a:r>
          </a:p>
          <a:p xmlns:a="http://schemas.openxmlformats.org/drawingml/2006/main">
            <a:r>
              <a:t>UN_OBSERVERS | UN Dag Hammarskjöld Library: non-member observers</a:t>
            </a:r>
          </a:p>
          <a:p xmlns:a="http://schemas.openxmlformats.org/drawingml/2006/main">
            <a:r>
              <a:t>https://research.un.org/en/unmembers/observers</a:t>
            </a:r>
          </a:p>
          <a:p xmlns:a="http://schemas.openxmlformats.org/drawingml/2006/main">
            <a:r>
              <a:t>Holy See and State of Palestine sections</a:t>
            </a:r>
          </a:p>
          <a:p xmlns:a="http://schemas.openxmlformats.org/drawingml/2006/main">
            <a:r>
              <a:t>VAT and PSE are the two observer states; territories remain separate.</a:t>
            </a:r>
          </a:p>
          <a:p xmlns:a="http://schemas.openxmlformats.org/drawingml/2006/main">
            <a:r>
              <a:t/>
            </a:r>
          </a:p>
          <a:p xmlns:a="http://schemas.openxmlformats.org/drawingml/2006/main">
            <a:r>
              <a:t>UN_WPP | UN World Population Prospects 2024</a:t>
            </a:r>
          </a:p>
          <a:p xmlns:a="http://schemas.openxmlformats.org/drawingml/2006/main">
            <a:r>
              <a:t>https://population.un.org/wpp/assets/Excel%20Files/1_Indicator%20(Standard)/EXCEL_FILES/1_General/WPP2024_GEN_F01_DEMOGRAPHIC_INDICATORS_COMPACT.xlsx</a:t>
            </a:r>
          </a:p>
          <a:p xmlns:a="http://schemas.openxmlformats.org/drawingml/2006/main">
            <a:r>
              <a:t>Medium variant sheet; country rows at 2026, 2030, 2035, 2040, 2045, 2050, 2051</a:t>
            </a:r>
          </a:p>
          <a:p xmlns:a="http://schemas.openxmlformats.org/drawingml/2006/main">
            <a:r>
              <a:t>Population in thousands converted to persons. Medium variant is not a sales forecast.</a:t>
            </a:r>
          </a:p>
          <a:p xmlns:a="http://schemas.openxmlformats.org/drawingml/2006/main">
            <a:r>
              <a:t/>
            </a:r>
          </a:p>
          <a:p xmlns:a="http://schemas.openxmlformats.org/drawingml/2006/main">
            <a:r>
              <a:t>WB_population | World Bank WDI: SP.POP.TOTL</a:t>
            </a:r>
          </a:p>
          <a:p xmlns:a="http://schemas.openxmlformats.org/drawingml/2006/main">
            <a:r>
              <a:t>https://api.worldbank.org/v2/country/all/indicator/SP.POP.TOTL?date=2000:2025&amp;format=json&amp;per_page=20000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WB_income_ppp | World Bank WDI: NY.GDP.PCAP.PP.KD</a:t>
            </a:r>
          </a:p>
          <a:p xmlns:a="http://schemas.openxmlformats.org/drawingml/2006/main">
            <a:r>
              <a:t>https://api.worldbank.org/v2/country/all/indicator/NY.GDP.PCAP.PP.KD?date=2000:2025&amp;format=json&amp;per_page=20000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WB_urban | https://api.worldbank.org/v2/country/all/indicator/SP.URB.TOTL.IN.ZS?date=2000:2025&amp;format=json&amp;per_page=20000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WB_inflation | https://api.worldbank.org/v2/country/all/indicator/FP.CPI.TOTL.ZG?date=2000:2025&amp;format=json&amp;per_page=20000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WB_food_index | https://api.worldbank.org/v2/country/all/indicator/AG.PRD.FOOD.XD?date=2000:2025&amp;format=json&amp;per_page=20000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WB_food_import_share | https://api.worldbank.org/v2/country/all/indicator/TM.VAL.FOOD.ZS.UN?date=2000:2025&amp;format=json&amp;per_page=20000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WB_food_export_share | https://api.worldbank.org/v2/country/all/indicator/TX.VAL.FOOD.ZS.UN?date=2000:2025&amp;format=json&amp;per_page=20000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WB_imports_usd | https://api.worldbank.org/v2/country/all/indicator/TM.VAL.MRCH.CD.WT?date=2000:2025&amp;format=json&amp;per_page=20000 | Source 2; series and country/year records, update 2026-07-13 | Latest available year differs by country/series. No missing value imputed.</a:t>
            </a:r>
          </a:p>
          <a:p xmlns:a="http://schemas.openxmlformats.org/drawingml/2006/main">
            <a:r>
              <a:t>Source lineage: WB_urban, WB_inflation, WB_food_index, WB_food_import_share, WB_food_export_share, WB_imports_usd</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WB_urban | World Bank WDI: SP.URB.TOTL.IN.ZS</a:t>
            </a:r>
          </a:p>
          <a:p xmlns:a="http://schemas.openxmlformats.org/drawingml/2006/main">
            <a:r>
              <a:t>https://api.worldbank.org/v2/country/all/indicator/SP.URB.TOTL.IN.ZS?date=2000:2025&amp;format=json&amp;per_page=20000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WB_inflation | World Bank WDI: FP.CPI.TOTL.ZG</a:t>
            </a:r>
          </a:p>
          <a:p xmlns:a="http://schemas.openxmlformats.org/drawingml/2006/main">
            <a:r>
              <a:t>https://api.worldbank.org/v2/country/all/indicator/FP.CPI.TOTL.ZG?date=2000:2025&amp;format=json&amp;per_page=20000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WB_food_index | World Bank WDI: AG.PRD.FOOD.XD</a:t>
            </a:r>
          </a:p>
          <a:p xmlns:a="http://schemas.openxmlformats.org/drawingml/2006/main">
            <a:r>
              <a:t>https://api.worldbank.org/v2/country/all/indicator/AG.PRD.FOOD.XD?date=2000:2025&amp;format=json&amp;per_page=20000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WB_food_import_share | World Bank WDI: TM.VAL.FOOD.ZS.UN</a:t>
            </a:r>
          </a:p>
          <a:p xmlns:a="http://schemas.openxmlformats.org/drawingml/2006/main">
            <a:r>
              <a:t>https://api.worldbank.org/v2/country/all/indicator/TM.VAL.FOOD.ZS.UN?date=2000:2025&amp;format=json&amp;per_page=20000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WB_food_export_share | World Bank WDI: TX.VAL.FOOD.ZS.UN</a:t>
            </a:r>
          </a:p>
          <a:p xmlns:a="http://schemas.openxmlformats.org/drawingml/2006/main">
            <a:r>
              <a:t>https://api.worldbank.org/v2/country/all/indicator/TX.VAL.FOOD.ZS.UN?date=2000:2025&amp;format=json&amp;per_page=20000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WB_imports_usd | World Bank WDI: TM.VAL.MRCH.CD.WT</a:t>
            </a:r>
          </a:p>
          <a:p xmlns:a="http://schemas.openxmlformats.org/drawingml/2006/main">
            <a:r>
              <a:t>https://api.worldbank.org/v2/country/all/indicator/TM.VAL.MRCH.CD.WT?date=2000:2025&amp;format=json&amp;per_page=20000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WB_exports_usd | https://api.worldbank.org/v2/country/all/indicator/TX.VAL.MRCH.CD.WT?date=2000:2025&amp;format=json&amp;per_page=20000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WB_cereal_yield | https://api.worldbank.org/v2/country/all/indicator/AG.YLD.CREL.KG?date=2000:2025&amp;format=json&amp;per_page=20000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WB_water_stress | https://api.worldbank.org/v2/country/all/indicator/ER.H2O.FWST.ZS?date=2000:2025&amp;format=json&amp;per_page=20000 | Source 2; series and country/year records, update 2026-07-13 | Latest available year differs by country/series. No missing value imputed.</a:t>
            </a:r>
          </a:p>
          <a:p xmlns:a="http://schemas.openxmlformats.org/drawingml/2006/main">
            <a:r>
              <a:t/>
            </a:r>
          </a:p>
          <a:p xmlns:a="http://schemas.openxmlformats.org/drawingml/2006/main">
            <a:r>
              <a:t>CO_NGA | https://www.olamagri.com/locations/nigeria | Country capability/product sections | Capability evidence does not disclose incremental project returns.</a:t>
            </a:r>
          </a:p>
          <a:p xmlns:a="http://schemas.openxmlformats.org/drawingml/2006/main">
            <a:r>
              <a:t/>
            </a:r>
          </a:p>
          <a:p xmlns:a="http://schemas.openxmlformats.org/drawingml/2006/main">
            <a:r>
              <a:t>CO_GHA | https://www.olamagri.com/locations/ghana | Country capability/product sections | Capability evidence does not disclose incremental project returns.</a:t>
            </a:r>
          </a:p>
          <a:p xmlns:a="http://schemas.openxmlformats.org/drawingml/2006/main">
            <a:r>
              <a:t/>
            </a:r>
          </a:p>
          <a:p xmlns:a="http://schemas.openxmlformats.org/drawingml/2006/main">
            <a:r>
              <a:t>CO_SEN | https://www.olamagri.com/locations/senegal | Country capability/product sections | Capability evidence does not disclose incremental project returns.</a:t>
            </a:r>
          </a:p>
          <a:p xmlns:a="http://schemas.openxmlformats.org/drawingml/2006/main">
            <a:r>
              <a:t>Source lineage: WB_exports_usd, WB_cereal_yield, WB_water_stress, CO_NGA, CO_GHA, CO_SEN</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WB_exports_usd | World Bank WDI: TX.VAL.MRCH.CD.WT</a:t>
            </a:r>
          </a:p>
          <a:p xmlns:a="http://schemas.openxmlformats.org/drawingml/2006/main">
            <a:r>
              <a:t>https://api.worldbank.org/v2/country/all/indicator/TX.VAL.MRCH.CD.WT?date=2000:2025&amp;format=json&amp;per_page=20000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WB_cereal_yield | World Bank WDI: AG.YLD.CREL.KG</a:t>
            </a:r>
          </a:p>
          <a:p xmlns:a="http://schemas.openxmlformats.org/drawingml/2006/main">
            <a:r>
              <a:t>https://api.worldbank.org/v2/country/all/indicator/AG.YLD.CREL.KG?date=2000:2025&amp;format=json&amp;per_page=20000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WB_water_stress | World Bank WDI: ER.H2O.FWST.ZS</a:t>
            </a:r>
          </a:p>
          <a:p xmlns:a="http://schemas.openxmlformats.org/drawingml/2006/main">
            <a:r>
              <a:t>https://api.worldbank.org/v2/country/all/indicator/ER.H2O.FWST.ZS?date=2000:2025&amp;format=json&amp;per_page=20000</a:t>
            </a:r>
          </a:p>
          <a:p xmlns:a="http://schemas.openxmlformats.org/drawingml/2006/main">
            <a:r>
              <a:t>Source 2; series and country/year records, update 2026-07-13</a:t>
            </a:r>
          </a:p>
          <a:p xmlns:a="http://schemas.openxmlformats.org/drawingml/2006/main">
            <a:r>
              <a:t>Latest available year differs by country/series. No missing value imputed.</a:t>
            </a:r>
          </a:p>
          <a:p xmlns:a="http://schemas.openxmlformats.org/drawingml/2006/main">
            <a:r>
              <a:t/>
            </a:r>
          </a:p>
          <a:p xmlns:a="http://schemas.openxmlformats.org/drawingml/2006/main">
            <a:r>
              <a:t>CO_NGA | Olam Agri Nigeria</a:t>
            </a:r>
          </a:p>
          <a:p xmlns:a="http://schemas.openxmlformats.org/drawingml/2006/main">
            <a:r>
              <a:t>https://www.olamagri.com/locations/nigeria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CO_GHA | Olam Agri Ghana</a:t>
            </a:r>
          </a:p>
          <a:p xmlns:a="http://schemas.openxmlformats.org/drawingml/2006/main">
            <a:r>
              <a:t>https://www.olamagri.com/locations/ghana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CO_SEN | Olam Agri Senegal</a:t>
            </a:r>
          </a:p>
          <a:p xmlns:a="http://schemas.openxmlformats.org/drawingml/2006/main">
            <a:r>
              <a:t>https://www.olamagri.com/locations/senegal</a:t>
            </a:r>
          </a:p>
          <a:p xmlns:a="http://schemas.openxmlformats.org/drawingml/2006/main">
            <a:r>
              <a:t>Country capability/product sections</a:t>
            </a:r>
          </a:p>
          <a:p xmlns:a="http://schemas.openxmlformats.org/drawingml/2006/main">
            <a:r>
              <a:t>Capability evidence does not disclose incremental project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CO_CMR | https://www.olamagri.com/locations/cameroon | Country capability/product sections | Capability evidence does not disclose incremental project returns.</a:t>
            </a:r>
          </a:p>
          <a:p xmlns:a="http://schemas.openxmlformats.org/drawingml/2006/main">
            <a:r>
              <a:t/>
            </a:r>
          </a:p>
          <a:p xmlns:a="http://schemas.openxmlformats.org/drawingml/2006/main">
            <a:r>
              <a:t>CO_MOZ | https://www.olamagri.com/locations/mozambique | Country capability/product sections | Capability evidence does not disclose incremental project returns.</a:t>
            </a:r>
          </a:p>
          <a:p xmlns:a="http://schemas.openxmlformats.org/drawingml/2006/main">
            <a:r>
              <a:t/>
            </a:r>
          </a:p>
          <a:p xmlns:a="http://schemas.openxmlformats.org/drawingml/2006/main">
            <a:r>
              <a:t>CO_ZAF | https://www.olamagri.com/locations/south-africa | Country capability/product sections | Capability evidence does not disclose incremental project returns.</a:t>
            </a:r>
          </a:p>
          <a:p xmlns:a="http://schemas.openxmlformats.org/drawingml/2006/main">
            <a:r>
              <a:t/>
            </a:r>
          </a:p>
          <a:p xmlns:a="http://schemas.openxmlformats.org/drawingml/2006/main">
            <a:r>
              <a:t>CO_IND | https://www.olamagri.com/locations/india | Country capability/product sections | Capability evidence does not disclose incremental project returns.</a:t>
            </a:r>
          </a:p>
          <a:p xmlns:a="http://schemas.openxmlformats.org/drawingml/2006/main">
            <a:r>
              <a:t/>
            </a:r>
          </a:p>
          <a:p xmlns:a="http://schemas.openxmlformats.org/drawingml/2006/main">
            <a:r>
              <a:t>CO_VNM | https://www.olamagri.com/locations/vietnam | Country capability/product sections | Capability evidence does not disclose incremental project returns.</a:t>
            </a:r>
          </a:p>
          <a:p xmlns:a="http://schemas.openxmlformats.org/drawingml/2006/main">
            <a:r>
              <a:t/>
            </a:r>
          </a:p>
          <a:p xmlns:a="http://schemas.openxmlformats.org/drawingml/2006/main">
            <a:r>
              <a:t>CO_BRA | https://www.olamagri.com/locations/brazil | Country capability/product sections | Capability evidence does not disclose incremental project returns.</a:t>
            </a:r>
          </a:p>
          <a:p xmlns:a="http://schemas.openxmlformats.org/drawingml/2006/main">
            <a:r>
              <a:t>Source lineage: CO_CMR, CO_MOZ, CO_ZAF, CO_IND, CO_VNM, CO_BRA</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CO_CMR | Olam Agri Cameroon</a:t>
            </a:r>
          </a:p>
          <a:p xmlns:a="http://schemas.openxmlformats.org/drawingml/2006/main">
            <a:r>
              <a:t>https://www.olamagri.com/locations/cameroon</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CO_MOZ | Olam Agri Mozambique</a:t>
            </a:r>
          </a:p>
          <a:p xmlns:a="http://schemas.openxmlformats.org/drawingml/2006/main">
            <a:r>
              <a:t>https://www.olamagri.com/locations/mozambique</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CO_ZAF | Olam Agri South-Africa</a:t>
            </a:r>
          </a:p>
          <a:p xmlns:a="http://schemas.openxmlformats.org/drawingml/2006/main">
            <a:r>
              <a:t>https://www.olamagri.com/locations/south-africa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CO_IND | Olam Agri India</a:t>
            </a:r>
          </a:p>
          <a:p xmlns:a="http://schemas.openxmlformats.org/drawingml/2006/main">
            <a:r>
              <a:t>https://www.olamagri.com/locations/india</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CO_VNM | Olam Agri Vietnam</a:t>
            </a:r>
          </a:p>
          <a:p xmlns:a="http://schemas.openxmlformats.org/drawingml/2006/main">
            <a:r>
              <a:t>https://www.olamagri.com/locations/vietnam</a:t>
            </a:r>
          </a:p>
          <a:p xmlns:a="http://schemas.openxmlformats.org/drawingml/2006/main">
            <a:r>
              <a:t>Country capability/product sections</a:t>
            </a:r>
          </a:p>
          <a:p xmlns:a="http://schemas.openxmlformats.org/drawingml/2006/main">
            <a:r>
              <a:t>Capability evidence does not disclose incremental project returns.</a:t>
            </a:r>
          </a:p>
          <a:p xmlns:a="http://schemas.openxmlformats.org/drawingml/2006/main">
            <a:r>
              <a:t/>
            </a:r>
          </a:p>
          <a:p xmlns:a="http://schemas.openxmlformats.org/drawingml/2006/main">
            <a:r>
              <a:t>CO_BRA | Olam Agri Brazil</a:t>
            </a:r>
          </a:p>
          <a:p xmlns:a="http://schemas.openxmlformats.org/drawingml/2006/main">
            <a:r>
              <a:t>https://www.olamagri.com/locations/brazil</a:t>
            </a:r>
          </a:p>
          <a:p xmlns:a="http://schemas.openxmlformats.org/drawingml/2006/main">
            <a:r>
              <a:t>Country capability/product sections</a:t>
            </a:r>
          </a:p>
          <a:p xmlns:a="http://schemas.openxmlformats.org/drawingml/2006/main">
            <a:r>
              <a:t>Capability evidence does not disclose incremental project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IPCC | https://www.ipcc.ch/report/ar6/wg2/chapter/chapter-5/ | Chapter 5; food system risks, adaptation and regional limits | No country/crop coefficient transplanted to Olam assets.</a:t>
            </a:r>
          </a:p>
          <a:p xmlns:a="http://schemas.openxmlformats.org/drawingml/2006/main">
            <a:r>
              <a:t/>
            </a:r>
          </a:p>
          <a:p xmlns:a="http://schemas.openxmlformats.org/drawingml/2006/main">
            <a:r>
              <a:t>WMO | https://wmo.int/publication-series/state-of-global-climate/state-of-global-climate-2025 | 23 March 2026 release; global temperature and climate indicators | Global annual anomaly is not local crop damage.</a:t>
            </a:r>
          </a:p>
          <a:p xmlns:a="http://schemas.openxmlformats.org/drawingml/2006/main">
            <a:r>
              <a:t/>
            </a:r>
          </a:p>
          <a:p xmlns:a="http://schemas.openxmlformats.org/drawingml/2006/main">
            <a:r>
              <a:t>EUDR | https://eur-lex.europa.eu/eli/reg/2023/1115/oj/eng | Articles 3–4 and commodity/product annex | Product, amendments, implementation dates and jurisdiction require current counsel review; no legal clearance.</a:t>
            </a:r>
          </a:p>
          <a:p xmlns:a="http://schemas.openxmlformats.org/drawingml/2006/main">
            <a:r>
              <a:t/>
            </a:r>
          </a:p>
          <a:p xmlns:a="http://schemas.openxmlformats.org/drawingml/2006/main">
            <a:r>
              <a:t>USDA_NGA | https://apps.fas.usda.gov/newgainapi/api/Report/DownloadReportByFileName?fileName=Grain+and+Feed+Annual_Lagos_Nigeria_NI2026-0003.pdf | Wheat supply/trade and flour-demand narrative | Marketing-year trade estimates are not Olam orders.</a:t>
            </a:r>
          </a:p>
          <a:p xmlns:a="http://schemas.openxmlformats.org/drawingml/2006/main">
            <a:r>
              <a:t/>
            </a:r>
          </a:p>
          <a:p xmlns:a="http://schemas.openxmlformats.org/drawingml/2006/main">
            <a:r>
              <a:t>USDA_OIL | https://apps.fas.usda.gov/newgainapi/api/Report/DownloadReportByFileName?fileName=Nigeria+Announces+2026+Fiscal+and+Trade+Policy+Changes_Lagos_Nigeria_NI2026-0010.pdf | Oilseeds/products and crude/refined policy discussion | Verify current HS subheading and Nigeria Customs rules before contracting.</a:t>
            </a:r>
          </a:p>
          <a:p xmlns:a="http://schemas.openxmlformats.org/drawingml/2006/main">
            <a:r>
              <a:t/>
            </a:r>
          </a:p>
          <a:p xmlns:a="http://schemas.openxmlformats.org/drawingml/2006/main">
            <a:r>
              <a:t>COMTRADE | https://comtradeapi.un.org/public/v1/preview/C/A/HS?period=2024&amp;reporterCode=566&amp;cmdCode=1001&amp;flowCode=M&amp;partnerCode=0&amp;partner2Code=0&amp;customsCode=C00&amp;motCode=0&amp;maxRecords=500 | 2024, reporter 566, HS 1001, flow M, partner 0 | CIF USD1.0475bn; net weight null, reported flag false. Never interpret quantity 0 with unit -1 as zero imports.</a:t>
            </a:r>
          </a:p>
          <a:p xmlns:a="http://schemas.openxmlformats.org/drawingml/2006/main">
            <a:r>
              <a:t>Source lineage: IPCC, WMO, EUDR, USDA_NGA, USDA_OIL, COMTRADE</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IPCC | IPCC AR6 WGII Chapter 5: Food</a:t>
            </a:r>
          </a:p>
          <a:p xmlns:a="http://schemas.openxmlformats.org/drawingml/2006/main">
            <a:r>
              <a:t>https://www.ipcc.ch/report/ar6/wg2/chapter/chapter-5/</a:t>
            </a:r>
          </a:p>
          <a:p xmlns:a="http://schemas.openxmlformats.org/drawingml/2006/main">
            <a:r>
              <a:t>Chapter 5; food system risks, adaptation and regional limits</a:t>
            </a:r>
          </a:p>
          <a:p xmlns:a="http://schemas.openxmlformats.org/drawingml/2006/main">
            <a:r>
              <a:t>No country/crop coefficient transplanted to Olam assets.</a:t>
            </a:r>
          </a:p>
          <a:p xmlns:a="http://schemas.openxmlformats.org/drawingml/2006/main">
            <a:r>
              <a:t/>
            </a:r>
          </a:p>
          <a:p xmlns:a="http://schemas.openxmlformats.org/drawingml/2006/main">
            <a:r>
              <a:t>WMO | WMO State of the Global Climate 2025</a:t>
            </a:r>
          </a:p>
          <a:p xmlns:a="http://schemas.openxmlformats.org/drawingml/2006/main">
            <a:r>
              <a:t>https://wmo.int/publication-series/state-of-global-climate/state-of-global-climate-2025</a:t>
            </a:r>
          </a:p>
          <a:p xmlns:a="http://schemas.openxmlformats.org/drawingml/2006/main">
            <a:r>
              <a:t>23 March 2026 release; global temperature and climate indicators</a:t>
            </a:r>
          </a:p>
          <a:p xmlns:a="http://schemas.openxmlformats.org/drawingml/2006/main">
            <a:r>
              <a:t>Global annual anomaly is not local crop damage.</a:t>
            </a:r>
          </a:p>
          <a:p xmlns:a="http://schemas.openxmlformats.org/drawingml/2006/main">
            <a:r>
              <a:t/>
            </a:r>
          </a:p>
          <a:p xmlns:a="http://schemas.openxmlformats.org/drawingml/2006/main">
            <a:r>
              <a:t>EUDR | EU Regulation 2023/1115</a:t>
            </a:r>
          </a:p>
          <a:p xmlns:a="http://schemas.openxmlformats.org/drawingml/2006/main">
            <a:r>
              <a:t>https://eur-lex.europa.eu/eli/reg/2023/1115/oj/eng</a:t>
            </a:r>
          </a:p>
          <a:p xmlns:a="http://schemas.openxmlformats.org/drawingml/2006/main">
            <a:r>
              <a:t>Articles 3–4 and commodity/product annex</a:t>
            </a:r>
          </a:p>
          <a:p xmlns:a="http://schemas.openxmlformats.org/drawingml/2006/main">
            <a:r>
              <a:t>Product, amendments, implementation dates and jurisdiction require current counsel review; no legal clearance.</a:t>
            </a:r>
          </a:p>
          <a:p xmlns:a="http://schemas.openxmlformats.org/drawingml/2006/main">
            <a:r>
              <a:t/>
            </a:r>
          </a:p>
          <a:p xmlns:a="http://schemas.openxmlformats.org/drawingml/2006/main">
            <a:r>
              <a:t>USDA_NGA | USDA Nigeria Grain and Feed Annual 2026</a:t>
            </a:r>
          </a:p>
          <a:p xmlns:a="http://schemas.openxmlformats.org/drawingml/2006/main">
            <a:r>
              <a:t>https://apps.fas.usda.gov/newgainapi/api/Report/DownloadReportByFileName?fileName=Grain+and+Feed+Annual_Lagos_Nigeria_NI2026-0003.pdf</a:t>
            </a:r>
          </a:p>
          <a:p xmlns:a="http://schemas.openxmlformats.org/drawingml/2006/main">
            <a:r>
              <a:t>Wheat supply/trade and flour-demand narrative</a:t>
            </a:r>
          </a:p>
          <a:p xmlns:a="http://schemas.openxmlformats.org/drawingml/2006/main">
            <a:r>
              <a:t>Marketing-year trade estimates are not Olam orders.</a:t>
            </a:r>
          </a:p>
          <a:p xmlns:a="http://schemas.openxmlformats.org/drawingml/2006/main">
            <a:r>
              <a:t/>
            </a:r>
          </a:p>
          <a:p xmlns:a="http://schemas.openxmlformats.org/drawingml/2006/main">
            <a:r>
              <a:t>USDA_OIL | USDA Nigeria fiscal and trade policy changes 2026</a:t>
            </a:r>
          </a:p>
          <a:p xmlns:a="http://schemas.openxmlformats.org/drawingml/2006/main">
            <a:r>
              <a:t>https://apps.fas.usda.gov/newgainapi/api/Report/DownloadReportByFileName?fileName=Nigeria+Announces+2026+Fiscal+and+Trade+Policy+Changes_Lagos_Nigeria_NI2026-0010.pdf</a:t>
            </a:r>
          </a:p>
          <a:p xmlns:a="http://schemas.openxmlformats.org/drawingml/2006/main">
            <a:r>
              <a:t>Oilseeds/products and crude/refined policy discussion</a:t>
            </a:r>
          </a:p>
          <a:p xmlns:a="http://schemas.openxmlformats.org/drawingml/2006/main">
            <a:r>
              <a:t>Verify current HS subheading and Nigeria Customs rules before contracting.</a:t>
            </a:r>
          </a:p>
          <a:p xmlns:a="http://schemas.openxmlformats.org/drawingml/2006/main">
            <a:r>
              <a:t/>
            </a:r>
          </a:p>
          <a:p xmlns:a="http://schemas.openxmlformats.org/drawingml/2006/main">
            <a:r>
              <a:t>COMTRADE | UN Comtrade Nigeria wheat import preview</a:t>
            </a:r>
          </a:p>
          <a:p xmlns:a="http://schemas.openxmlformats.org/drawingml/2006/main">
            <a:r>
              <a:t>https://comtradeapi.un.org/public/v1/preview/C/A/HS?period=2024&amp;reporterCode=566&amp;cmdCode=1001&amp;flowCode=M&amp;partnerCode=0&amp;partner2Code=0&amp;customsCode=C00&amp;motCode=0&amp;maxRecords=500</a:t>
            </a:r>
          </a:p>
          <a:p xmlns:a="http://schemas.openxmlformats.org/drawingml/2006/main">
            <a:r>
              <a:t>2024, reporter 566, HS 1001, flow M, partner 0</a:t>
            </a:r>
          </a:p>
          <a:p xmlns:a="http://schemas.openxmlformats.org/drawingml/2006/main">
            <a:r>
              <a:t>CIF USD1.0475bn; net weight null, reported flag false. Never interpret quantity 0 with unit -1 as zero imports.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CVAR | https://sites.math.washington.edu/~rtr/papers/rtr179-CVaR1.pdf | Loss definition and CVaR optimisation formulation | Implemented loss-tail example and stress summaries, not proprietary theorem.</a:t>
            </a:r>
          </a:p>
          <a:p xmlns:a="http://schemas.openxmlformats.org/drawingml/2006/main">
            <a:r>
              <a:t/>
            </a:r>
          </a:p>
          <a:p xmlns:a="http://schemas.openxmlformats.org/drawingml/2006/main">
            <a:r>
              <a:t>DID | https://arxiv.org/abs/1803.09015 | arXiv 1803.09015; identification with multiple time periods | No Olam treatment effect estimated; pilot design only.</a:t>
            </a:r>
          </a:p>
          <a:p xmlns:a="http://schemas.openxmlformats.org/drawingml/2006/main">
            <a:r>
              <a:t/>
            </a:r>
          </a:p>
          <a:p xmlns:a="http://schemas.openxmlformats.org/drawingml/2006/main">
            <a:r>
              <a:t>NOBEL_2003 | https://www.nobelprize.org/prizes/economic-sciences/2003/summary/ | Prize motivation and research contribution | Engle/Granger (time series), Romer/Nordhaus (growth/climate), Card/Angrist/Imbens (causality) guide module choice, not parameter imports.</a:t>
            </a:r>
          </a:p>
          <a:p xmlns:a="http://schemas.openxmlformats.org/drawingml/2006/main">
            <a:r>
              <a:t/>
            </a:r>
          </a:p>
          <a:p xmlns:a="http://schemas.openxmlformats.org/drawingml/2006/main">
            <a:r>
              <a:t>NOBEL_2018 | https://www.nobelprize.org/prizes/economic-sciences/2018/summary/ | Prize motivation and research contribution | Engle/Granger (time series), Romer/Nordhaus (growth/climate), Card/Angrist/Imbens (causality) guide module choice, not parameter imports.</a:t>
            </a:r>
          </a:p>
          <a:p xmlns:a="http://schemas.openxmlformats.org/drawingml/2006/main">
            <a:r>
              <a:t/>
            </a:r>
          </a:p>
          <a:p xmlns:a="http://schemas.openxmlformats.org/drawingml/2006/main">
            <a:r>
              <a:t>NOBEL_2021 | https://www.nobelprize.org/prizes/economic-sciences/2021/summary/ | Prize motivation and research contribution | Engle/Granger (time series), Romer/Nordhaus (growth/climate), Card/Angrist/Imbens (causality) guide module choice, not parameter imports.</a:t>
            </a:r>
          </a:p>
          <a:p xmlns:a="http://schemas.openxmlformats.org/drawingml/2006/main">
            <a:r>
              <a:t/>
            </a:r>
          </a:p>
          <a:p xmlns:a="http://schemas.openxmlformats.org/drawingml/2006/main">
            <a:r>
              <a:t>BASELINE | https://github.com/ManashProtimDeori/Manash-Protim-Deori/tree/13f7393a1c69350c3cfa89bea1baa49cf08d042c | src/data/olamAfricaStrategy.ts; src/lib/olamNigeriaDecisionModel.ts; src/data/resume.ts | Self-described candidate achievements are not audited Olam outcomes.</a:t>
            </a:r>
          </a:p>
          <a:p xmlns:a="http://schemas.openxmlformats.org/drawingml/2006/main">
            <a:r>
              <a:t>Source lineage: CVAR, DID, NOBEL_2003, NOBEL_2018, NOBEL_2021, BASELINE</a:t>
            </a:r>
          </a:p>
          <a:p xmlns:a="http://schemas.openxmlformats.org/drawingml/2006/main">
            <a:r>
              <a:t>Assumptions: </a:t>
            </a:r>
          </a:p>
          <a:p xmlns:a="http://schemas.openxmlformats.org/drawingml/2006/main">
            <a:r>
              <a:t>Calculations: </a:t>
            </a:r>
          </a:p>
          <a:p xmlns:a="http://schemas.openxmlformats.org/drawingml/2006/main">
            <a:r>
              <a:t>Package: /case-studies/olam-global/; workbook source/claim/calculation registers and reproducible scripts.</a:t>
            </a:r>
          </a:p>
          <a:p xmlns:a="http://schemas.openxmlformats.org/drawingml/2006/main">
            <a:r>
              <a:t/>
            </a:r>
          </a:p>
          <a:p xmlns:a="http://schemas.openxmlformats.org/drawingml/2006/main">
            <a:r>
              <a:t>CVAR | Rockafellar &amp; Uryasev: Optimization of CVaR</a:t>
            </a:r>
          </a:p>
          <a:p xmlns:a="http://schemas.openxmlformats.org/drawingml/2006/main">
            <a:r>
              <a:t>https://sites.math.washington.edu/~rtr/papers/rtr179-CVaR1.pdf</a:t>
            </a:r>
          </a:p>
          <a:p xmlns:a="http://schemas.openxmlformats.org/drawingml/2006/main">
            <a:r>
              <a:t>Loss definition and CVaR optimisation formulation</a:t>
            </a:r>
          </a:p>
          <a:p xmlns:a="http://schemas.openxmlformats.org/drawingml/2006/main">
            <a:r>
              <a:t>Implemented loss-tail example and stress summaries, not proprietary theorem.</a:t>
            </a:r>
          </a:p>
          <a:p xmlns:a="http://schemas.openxmlformats.org/drawingml/2006/main">
            <a:r>
              <a:t/>
            </a:r>
          </a:p>
          <a:p xmlns:a="http://schemas.openxmlformats.org/drawingml/2006/main">
            <a:r>
              <a:t>DID | Callaway &amp; Sant’Anna: Difference-in-differences</a:t>
            </a:r>
          </a:p>
          <a:p xmlns:a="http://schemas.openxmlformats.org/drawingml/2006/main">
            <a:r>
              <a:t>https://arxiv.org/abs/1803.09015</a:t>
            </a:r>
          </a:p>
          <a:p xmlns:a="http://schemas.openxmlformats.org/drawingml/2006/main">
            <a:r>
              <a:t>arXiv 1803.09015; identification with multiple time periods</a:t>
            </a:r>
          </a:p>
          <a:p xmlns:a="http://schemas.openxmlformats.org/drawingml/2006/main">
            <a:r>
              <a:t>No Olam treatment effect estimated; pilot design only.</a:t>
            </a:r>
          </a:p>
          <a:p xmlns:a="http://schemas.openxmlformats.org/drawingml/2006/main">
            <a:r>
              <a:t/>
            </a:r>
          </a:p>
          <a:p xmlns:a="http://schemas.openxmlformats.org/drawingml/2006/main">
            <a:r>
              <a:t>NOBEL_2003 | Economic Sciences prize 2003</a:t>
            </a:r>
          </a:p>
          <a:p xmlns:a="http://schemas.openxmlformats.org/drawingml/2006/main">
            <a:r>
              <a:t>https://www.nobelprize.org/prizes/economic-sciences/2003/summary/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a:p xmlns:a="http://schemas.openxmlformats.org/drawingml/2006/main">
            <a:r>
              <a:t/>
            </a:r>
          </a:p>
          <a:p xmlns:a="http://schemas.openxmlformats.org/drawingml/2006/main">
            <a:r>
              <a:t>NOBEL_2018 | Economic Sciences prize 2018</a:t>
            </a:r>
          </a:p>
          <a:p xmlns:a="http://schemas.openxmlformats.org/drawingml/2006/main">
            <a:r>
              <a:t>https://www.nobelprize.org/prizes/economic-sciences/2018/summary/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a:p xmlns:a="http://schemas.openxmlformats.org/drawingml/2006/main">
            <a:r>
              <a:t/>
            </a:r>
          </a:p>
          <a:p xmlns:a="http://schemas.openxmlformats.org/drawingml/2006/main">
            <a:r>
              <a:t>NOBEL_2021 | Economic Sciences prize 2021</a:t>
            </a:r>
          </a:p>
          <a:p xmlns:a="http://schemas.openxmlformats.org/drawingml/2006/main">
            <a:r>
              <a:t>https://www.nobelprize.org/prizes/economic-sciences/2021/summary/</a:t>
            </a:r>
          </a:p>
          <a:p xmlns:a="http://schemas.openxmlformats.org/drawingml/2006/main">
            <a:r>
              <a:t>Prize motivation and research contribution</a:t>
            </a:r>
          </a:p>
          <a:p xmlns:a="http://schemas.openxmlformats.org/drawingml/2006/main">
            <a:r>
              <a:t>Engle/Granger (time series), Romer/Nordhaus (growth/climate), Card/Angrist/Imbens (causality) guide module choice, not parameter imports.</a:t>
            </a:r>
          </a:p>
          <a:p xmlns:a="http://schemas.openxmlformats.org/drawingml/2006/main">
            <a:r>
              <a:t/>
            </a:r>
          </a:p>
          <a:p xmlns:a="http://schemas.openxmlformats.org/drawingml/2006/main">
            <a:r>
              <a:t>BASELINE | Portfolio baseline and résumé</a:t>
            </a:r>
          </a:p>
          <a:p xmlns:a="http://schemas.openxmlformats.org/drawingml/2006/main">
            <a:r>
              <a:t>https://github.com/ManashProtimDeori/Manash-Protim-Deori/tree/13f7393a1c69350c3cfa89bea1baa49cf08d042c</a:t>
            </a:r>
          </a:p>
          <a:p xmlns:a="http://schemas.openxmlformats.org/drawingml/2006/main">
            <a:r>
              <a:t>src/data/olamAfricaStrategy.ts; src/lib/olamNigeriaDecisionModel.ts; src/data/resume.ts</a:t>
            </a:r>
          </a:p>
          <a:p xmlns:a="http://schemas.openxmlformats.org/drawingml/2006/main">
            <a:r>
              <a:t>Self-described candidate achievements are not audited Olam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554b1fcd3b4f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4e8e6fb3194a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539852962143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af6dbd84f442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2122026ac044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1a346e36634a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EB73698-DB62-4F3F-A700-19D8F39684FF}"/>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C6E26D-11F6-4BA4-8013-ED291C9354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9E5983BA-AFC0-476C-9A5C-DCE715CAE9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426C3A68-393C-4F86-8052-DFD6F355F66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598E97B-196E-438E-B8A6-D63D3E7E29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A7E55B3-AD47-4CA9-91F2-328B893D737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D9FDD52-AE99-4F5C-917D-7427DA2A07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15F1945-E818-4F4C-A902-C9E06DB7BB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11575E4-1520-45F4-B68B-8ED92A4925C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1A1E35E-F7A3-4552-82F7-8760C386BA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10D2C58-5108-4F9D-B645-BF0EEEC77B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9AFA4C17-8882-4943-986C-886FAC4796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86C35F1-4B86-4742-B2FA-FC152D99F42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8C168C0-BA46-423E-8707-18DA5C9734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F357D47-4EF4-4B41-AA00-CF366292B8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b1b39f458b4097" /><Relationship Type="http://schemas.openxmlformats.org/officeDocument/2006/relationships/slideLayout" Target="/ppt/slideLayouts/slideLayout1.xml" Id="R349849a9bd114429" /><Relationship Type="http://schemas.openxmlformats.org/officeDocument/2006/relationships/slideLayout" Target="/ppt/slideLayouts/slideLayout2.xml" Id="Rf9aebc490363455c" /><Relationship Type="http://schemas.openxmlformats.org/officeDocument/2006/relationships/slideLayout" Target="/ppt/slideLayouts/slideLayout3.xml" Id="R5a368dfbd5aa47d9" /><Relationship Type="http://schemas.openxmlformats.org/officeDocument/2006/relationships/slideLayout" Target="/ppt/slideLayouts/slideLayout4.xml" Id="Rfc1efe539fa14bdd" /><Relationship Type="http://schemas.openxmlformats.org/officeDocument/2006/relationships/slideLayout" Target="/ppt/slideLayouts/slideLayout5.xml" Id="Rf459a902515f494b" /><Relationship Type="http://schemas.openxmlformats.org/officeDocument/2006/relationships/slideLayout" Target="/ppt/slideLayouts/slideLayout6.xml" Id="R32d69abafdd442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9849a9bd114429"/>
    <p:sldLayoutId xmlns:r="http://schemas.openxmlformats.org/officeDocument/2006/relationships" id="2147483650" r:id="Rf9aebc490363455c"/>
    <p:sldLayoutId xmlns:r="http://schemas.openxmlformats.org/officeDocument/2006/relationships" id="2147483651" r:id="R5a368dfbd5aa47d9"/>
    <p:sldLayoutId xmlns:r="http://schemas.openxmlformats.org/officeDocument/2006/relationships" id="2147483652" r:id="Rfc1efe539fa14bdd"/>
    <p:sldLayoutId xmlns:r="http://schemas.openxmlformats.org/officeDocument/2006/relationships" id="2147483653" r:id="Rf459a902515f494b"/>
    <p:sldLayoutId xmlns:r="http://schemas.openxmlformats.org/officeDocument/2006/relationships" id="2147483654" r:id="R32d69abafdd442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4e49f1e60c47c4" /><Relationship Type="http://schemas.openxmlformats.org/officeDocument/2006/relationships/notesSlide" Target="/ppt/notesSlides/notesSlide1.xml" Id="Rf8d6b28aeba04d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37ef67554f40ff" /><Relationship Type="http://schemas.openxmlformats.org/officeDocument/2006/relationships/notesSlide" Target="/ppt/notesSlides/notesSlide2.xml" Id="R92452f8645064d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40bced6bf24768" /><Relationship Type="http://schemas.openxmlformats.org/officeDocument/2006/relationships/notesSlide" Target="/ppt/notesSlides/notesSlide3.xml" Id="R4d4f855e330a4e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7ba8e917d743df" /><Relationship Type="http://schemas.openxmlformats.org/officeDocument/2006/relationships/notesSlide" Target="/ppt/notesSlides/notesSlide4.xml" Id="R8a784ed6358644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736c9f7c9a4744" /><Relationship Type="http://schemas.openxmlformats.org/officeDocument/2006/relationships/notesSlide" Target="/ppt/notesSlides/notesSlide5.xml" Id="Rbde7020d901d47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e88ad390b44609" /><Relationship Type="http://schemas.openxmlformats.org/officeDocument/2006/relationships/notesSlide" Target="/ppt/notesSlides/notesSlide6.xml" Id="R584447d7a7094d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856a21af2441aa" /><Relationship Type="http://schemas.openxmlformats.org/officeDocument/2006/relationships/chart" Target="/ppt/slides/charts/chart1.xml" Id="R72e62f3226ad4155" /><Relationship Type="http://schemas.openxmlformats.org/officeDocument/2006/relationships/notesSlide" Target="/ppt/notesSlides/notesSlide7.xml" Id="Rfbbe4f2e38c74a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187afca5044a41" /><Relationship Type="http://schemas.openxmlformats.org/officeDocument/2006/relationships/notesSlide" Target="/ppt/notesSlides/notesSlide8.xml" Id="R62fcb2d1e18c42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493885598e4057" /><Relationship Type="http://schemas.openxmlformats.org/officeDocument/2006/relationships/notesSlide" Target="/ppt/notesSlides/notesSlide9.xml" Id="R29da2c88a12e4b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5fe7b6c7e648d6" /><Relationship Type="http://schemas.openxmlformats.org/officeDocument/2006/relationships/notesSlide" Target="/ppt/notesSlides/notesSlide10.xml" Id="R8b8e6fdf371d4d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1390da0de8b4560" /><Relationship Type="http://schemas.openxmlformats.org/officeDocument/2006/relationships/notesSlide" Target="/ppt/notesSlides/notesSlide11.xml" Id="R2a46e1aab79d4b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2b79adb6c34a4a" /><Relationship Type="http://schemas.openxmlformats.org/officeDocument/2006/relationships/notesSlide" Target="/ppt/notesSlides/notesSlide12.xml" Id="Re1e470479e924d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96feb7b075c4bdd" /><Relationship Type="http://schemas.openxmlformats.org/officeDocument/2006/relationships/notesSlide" Target="/ppt/notesSlides/notesSlide13.xml" Id="Rf9b8f8d5789740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06bae93117469f" /><Relationship Type="http://schemas.openxmlformats.org/officeDocument/2006/relationships/notesSlide" Target="/ppt/notesSlides/notesSlide14.xml" Id="R99b512b817da4f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19c1a5a3159423b" /><Relationship Type="http://schemas.openxmlformats.org/officeDocument/2006/relationships/notesSlide" Target="/ppt/notesSlides/notesSlide15.xml" Id="R4fad118289d94b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f938e62642e4eb5" /><Relationship Type="http://schemas.openxmlformats.org/officeDocument/2006/relationships/chart" Target="/ppt/slides/charts/chart2.xml" Id="Rff76671bfe5146a8" /><Relationship Type="http://schemas.openxmlformats.org/officeDocument/2006/relationships/notesSlide" Target="/ppt/notesSlides/notesSlide16.xml" Id="R26f627230f514e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1edb19778d245ad" /><Relationship Type="http://schemas.openxmlformats.org/officeDocument/2006/relationships/notesSlide" Target="/ppt/notesSlides/notesSlide17.xml" Id="Re88f09a5ef7348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85317234f4241d9" /><Relationship Type="http://schemas.openxmlformats.org/officeDocument/2006/relationships/notesSlide" Target="/ppt/notesSlides/notesSlide18.xml" Id="Rb1b3fc85e4614e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f6c4c4836904fcb" /><Relationship Type="http://schemas.openxmlformats.org/officeDocument/2006/relationships/notesSlide" Target="/ppt/notesSlides/notesSlide19.xml" Id="Re5ef4f1f562c49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cdfe1a07ce54731" /><Relationship Type="http://schemas.openxmlformats.org/officeDocument/2006/relationships/notesSlide" Target="/ppt/notesSlides/notesSlide20.xml" Id="R2d576b905aff4f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c7bc13697ad4f5e" /><Relationship Type="http://schemas.openxmlformats.org/officeDocument/2006/relationships/notesSlide" Target="/ppt/notesSlides/notesSlide21.xml" Id="R2c6ec1ab026843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8cfa26366604289" /><Relationship Type="http://schemas.openxmlformats.org/officeDocument/2006/relationships/notesSlide" Target="/ppt/notesSlides/notesSlide22.xml" Id="Ra4609a2a24c940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f71767db594929" /><Relationship Type="http://schemas.openxmlformats.org/officeDocument/2006/relationships/notesSlide" Target="/ppt/notesSlides/notesSlide23.xml" Id="Rea155f4dab5540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464252559184bed" /><Relationship Type="http://schemas.openxmlformats.org/officeDocument/2006/relationships/notesSlide" Target="/ppt/notesSlides/notesSlide24.xml" Id="R25c57a8a99e646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0f795167c85430c" /><Relationship Type="http://schemas.openxmlformats.org/officeDocument/2006/relationships/notesSlide" Target="/ppt/notesSlides/notesSlide25.xml" Id="R9495d98415bc46f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80b0ab3063d439b" /><Relationship Type="http://schemas.openxmlformats.org/officeDocument/2006/relationships/notesSlide" Target="/ppt/notesSlides/notesSlide26.xml" Id="Rab4d33ff9a0b41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f92b010912743d6" /><Relationship Type="http://schemas.openxmlformats.org/officeDocument/2006/relationships/notesSlide" Target="/ppt/notesSlides/notesSlide27.xml" Id="R9d67c2b35a9f434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c143b835d524761" /><Relationship Type="http://schemas.openxmlformats.org/officeDocument/2006/relationships/notesSlide" Target="/ppt/notesSlides/notesSlide28.xml" Id="R3372c074713e4ff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901ac792c4a452c" /><Relationship Type="http://schemas.openxmlformats.org/officeDocument/2006/relationships/notesSlide" Target="/ppt/notesSlides/notesSlide29.xml" Id="R65b13134532640b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ad9fce9479e4793" /><Relationship Type="http://schemas.openxmlformats.org/officeDocument/2006/relationships/notesSlide" Target="/ppt/notesSlides/notesSlide30.xml" Id="R38d1f2c22fe9490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ab45b10f2d64216" /><Relationship Type="http://schemas.openxmlformats.org/officeDocument/2006/relationships/notesSlide" Target="/ppt/notesSlides/notesSlide31.xml" Id="Rcdc51349925d428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ec0f39ae66d4091" /><Relationship Type="http://schemas.openxmlformats.org/officeDocument/2006/relationships/notesSlide" Target="/ppt/notesSlides/notesSlide32.xml" Id="R42b9d57153dc4e0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43ab15f0b56419a" /><Relationship Type="http://schemas.openxmlformats.org/officeDocument/2006/relationships/notesSlide" Target="/ppt/notesSlides/notesSlide33.xml" Id="R767e0056412846c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6b5438593674e76" /><Relationship Type="http://schemas.openxmlformats.org/officeDocument/2006/relationships/notesSlide" Target="/ppt/notesSlides/notesSlide34.xml" Id="Rac631670a488406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c487b2943c74447" /><Relationship Type="http://schemas.openxmlformats.org/officeDocument/2006/relationships/notesSlide" Target="/ppt/notesSlides/notesSlide35.xml" Id="R0292489bbbf64cc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0b8a0c6325745de" /><Relationship Type="http://schemas.openxmlformats.org/officeDocument/2006/relationships/notesSlide" Target="/ppt/notesSlides/notesSlide36.xml" Id="R31574c3f5da64ac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b5a1a6fc22140a6" /><Relationship Type="http://schemas.openxmlformats.org/officeDocument/2006/relationships/notesSlide" Target="/ppt/notesSlides/notesSlide37.xml" Id="R7390e8e2469e420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016dfb4bd7e4bd0" /><Relationship Type="http://schemas.openxmlformats.org/officeDocument/2006/relationships/notesSlide" Target="/ppt/notesSlides/notesSlide38.xml" Id="R6261c72c30714ba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1f4f0f295454f89" /><Relationship Type="http://schemas.openxmlformats.org/officeDocument/2006/relationships/notesSlide" Target="/ppt/notesSlides/notesSlide39.xml" Id="Red8dd86393c24d5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d059abff9f04b8d" /><Relationship Type="http://schemas.openxmlformats.org/officeDocument/2006/relationships/notesSlide" Target="/ppt/notesSlides/notesSlide40.xml" Id="R62af63eff6b3478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98d6a2052b942a1" /><Relationship Type="http://schemas.openxmlformats.org/officeDocument/2006/relationships/notesSlide" Target="/ppt/notesSlides/notesSlide41.xml" Id="R47535324fde7457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f4085657f9940c6" /><Relationship Type="http://schemas.openxmlformats.org/officeDocument/2006/relationships/notesSlide" Target="/ppt/notesSlides/notesSlide42.xml" Id="R8eac2164fc12491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e48281710fe4f4b" /><Relationship Type="http://schemas.openxmlformats.org/officeDocument/2006/relationships/notesSlide" Target="/ppt/notesSlides/notesSlide43.xml" Id="R5a35fc979fea429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612d61315e34e31" /><Relationship Type="http://schemas.openxmlformats.org/officeDocument/2006/relationships/notesSlide" Target="/ppt/notesSlides/notesSlide44.xml" Id="Rd7180d5d755e451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2eeb2897db04981" /><Relationship Type="http://schemas.openxmlformats.org/officeDocument/2006/relationships/notesSlide" Target="/ppt/notesSlides/notesSlide45.xml" Id="R04bc5b8f531449f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8ca7394e0204fa9" /><Relationship Type="http://schemas.openxmlformats.org/officeDocument/2006/relationships/notesSlide" Target="/ppt/notesSlides/notesSlide46.xml" Id="Rb02faf0986f14b0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2313b9af19f4091" /><Relationship Type="http://schemas.openxmlformats.org/officeDocument/2006/relationships/notesSlide" Target="/ppt/notesSlides/notesSlide47.xml" Id="Rfa750915d2d9486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2689f5ddbfe4bcf" /><Relationship Type="http://schemas.openxmlformats.org/officeDocument/2006/relationships/notesSlide" Target="/ppt/notesSlides/notesSlide48.xml" Id="R31a2f6dd6ed5460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62da73730764a5f" /><Relationship Type="http://schemas.openxmlformats.org/officeDocument/2006/relationships/notesSlide" Target="/ppt/notesSlides/notesSlide49.xml" Id="R7b6ce486fbef4e7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d618a70589e4ff9" /><Relationship Type="http://schemas.openxmlformats.org/officeDocument/2006/relationships/notesSlide" Target="/ppt/notesSlides/notesSlide50.xml" Id="Rd773c6711eea46d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5dce45f2af544a1" /><Relationship Type="http://schemas.openxmlformats.org/officeDocument/2006/relationships/notesSlide" Target="/ppt/notesSlides/notesSlide51.xml" Id="R84ff765311c4413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afb83cfd026f4a29" /><Relationship Type="http://schemas.openxmlformats.org/officeDocument/2006/relationships/notesSlide" Target="/ppt/notesSlides/notesSlide52.xml" Id="R43a44a1c28df463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e0a5cae0ebb4011" /><Relationship Type="http://schemas.openxmlformats.org/officeDocument/2006/relationships/notesSlide" Target="/ppt/notesSlides/notesSlide53.xml" Id="Rc3a72129109448e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65dfedbe2ee4c54" /><Relationship Type="http://schemas.openxmlformats.org/officeDocument/2006/relationships/notesSlide" Target="/ppt/notesSlides/notesSlide54.xml" Id="R5a977514b14e432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70d7db5da91f49c5" /><Relationship Type="http://schemas.openxmlformats.org/officeDocument/2006/relationships/notesSlide" Target="/ppt/notesSlides/notesSlide55.xml" Id="R57b5b433d46e4eb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0ea73f1f6073465b" /><Relationship Type="http://schemas.openxmlformats.org/officeDocument/2006/relationships/notesSlide" Target="/ppt/notesSlides/notesSlide56.xml" Id="R2c9b72d88c0f4ee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88d0acc1642f4189" /><Relationship Type="http://schemas.openxmlformats.org/officeDocument/2006/relationships/notesSlide" Target="/ppt/notesSlides/notesSlide57.xml" Id="R3cb84fd377134d8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9e77535aee104e8e" /><Relationship Type="http://schemas.openxmlformats.org/officeDocument/2006/relationships/notesSlide" Target="/ppt/notesSlides/notesSlide58.xml" Id="R102443a3c6ce42b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1190cfada8ac41ed" /><Relationship Type="http://schemas.openxmlformats.org/officeDocument/2006/relationships/notesSlide" Target="/ppt/notesSlides/notesSlide59.xml" Id="Rc4930ab9021d4c1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ef5f428bced40db" /><Relationship Type="http://schemas.openxmlformats.org/officeDocument/2006/relationships/notesSlide" Target="/ppt/notesSlides/notesSlide60.xml" Id="R18985f2dae2e438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a1309ed7843841ad" /><Relationship Type="http://schemas.openxmlformats.org/officeDocument/2006/relationships/notesSlide" Target="/ppt/notesSlides/notesSlide61.xml" Id="R4d8550fc860545f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af84e9476a4b46ad" /><Relationship Type="http://schemas.openxmlformats.org/officeDocument/2006/relationships/notesSlide" Target="/ppt/notesSlides/notesSlide62.xml" Id="R5ecc09f8f7a4450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1230008c01e34848" /><Relationship Type="http://schemas.openxmlformats.org/officeDocument/2006/relationships/notesSlide" Target="/ppt/notesSlides/notesSlide63.xml" Id="Reee7944ad189447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70002b401b414330" /><Relationship Type="http://schemas.openxmlformats.org/officeDocument/2006/relationships/notesSlide" Target="/ppt/notesSlides/notesSlide64.xml" Id="R3cd36091ad1c4ca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15968aed11ee4adb" /><Relationship Type="http://schemas.openxmlformats.org/officeDocument/2006/relationships/notesSlide" Target="/ppt/notesSlides/notesSlide65.xml" Id="R9ccf3460249f4865"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8a604ea7d4a447bf" /><Relationship Type="http://schemas.openxmlformats.org/officeDocument/2006/relationships/notesSlide" Target="/ppt/notesSlides/notesSlide66.xml" Id="Rb0ea12b506bb4c4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715ec70136984733" /><Relationship Type="http://schemas.openxmlformats.org/officeDocument/2006/relationships/notesSlide" Target="/ppt/notesSlides/notesSlide67.xml" Id="Re8a53e8f21104d0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91a6965f38ad4408" /><Relationship Type="http://schemas.openxmlformats.org/officeDocument/2006/relationships/notesSlide" Target="/ppt/notesSlides/notesSlide68.xml" Id="R61ac9435d017411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0bd93e0670404065" /><Relationship Type="http://schemas.openxmlformats.org/officeDocument/2006/relationships/notesSlide" Target="/ppt/notesSlides/notesSlide69.xml" Id="R26185b63ef4b4a6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9f9e3347d5c24a13" /><Relationship Type="http://schemas.openxmlformats.org/officeDocument/2006/relationships/notesSlide" Target="/ppt/notesSlides/notesSlide70.xml" Id="R2554ac3a67d4425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38069b6f4391472c" /><Relationship Type="http://schemas.openxmlformats.org/officeDocument/2006/relationships/notesSlide" Target="/ppt/notesSlides/notesSlide71.xml" Id="R72c4c1c1bf1a444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f7ae264b0a4e4159" /><Relationship Type="http://schemas.openxmlformats.org/officeDocument/2006/relationships/notesSlide" Target="/ppt/notesSlides/notesSlide72.xml" Id="R881bf4a9e3d04fe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6df085144c8a4cc1" /><Relationship Type="http://schemas.openxmlformats.org/officeDocument/2006/relationships/notesSlide" Target="/ppt/notesSlides/notesSlide73.xml" Id="R0a2a1e8ed8c5443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43d0525fdbb848b1" /><Relationship Type="http://schemas.openxmlformats.org/officeDocument/2006/relationships/notesSlide" Target="/ppt/notesSlides/notesSlide74.xml" Id="R73a699b9eb704f52"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16457b22b74441e9" /><Relationship Type="http://schemas.openxmlformats.org/officeDocument/2006/relationships/notesSlide" Target="/ppt/notesSlides/notesSlide75.xml" Id="R37836233ea764d1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a80521f09962440b" /><Relationship Type="http://schemas.openxmlformats.org/officeDocument/2006/relationships/notesSlide" Target="/ppt/notesSlides/notesSlide76.xml" Id="R946d8c3c1df3454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2233009eca2f4a91" /><Relationship Type="http://schemas.openxmlformats.org/officeDocument/2006/relationships/notesSlide" Target="/ppt/notesSlides/notesSlide77.xml" Id="R0ee3f6c9949d4e1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8f33bf190cbf4a88" /><Relationship Type="http://schemas.openxmlformats.org/officeDocument/2006/relationships/notesSlide" Target="/ppt/notesSlides/notesSlide78.xml" Id="R273abce836c443c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f9ce4afcb4cd49e3" /><Relationship Type="http://schemas.openxmlformats.org/officeDocument/2006/relationships/notesSlide" Target="/ppt/notesSlides/notesSlide79.xml" Id="R7d3bd946ea104adc"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f705a64e5e374eb7" /><Relationship Type="http://schemas.openxmlformats.org/officeDocument/2006/relationships/notesSlide" Target="/ppt/notesSlides/notesSlide80.xml" Id="R91dca473b5ed4ee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fa21183ca22e4899" /><Relationship Type="http://schemas.openxmlformats.org/officeDocument/2006/relationships/notesSlide" Target="/ppt/notesSlides/notesSlide81.xml" Id="R773cb478b4fe4a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latin typeface="DejaVu Sans"/>
                <a:ea typeface="DejaVu Sans"/>
                <a:cs typeface="DejaVu Sans"/>
              </a:rPr>
              <a:t>UN medium population projection, million</a:t>
            </a:r>
          </a:p>
        </c:rich>
      </c:tx>
      <c:overlay val="0"/>
      <c:txPr>
        <a:bodyPr xmlns:a="http://schemas.openxmlformats.org/drawingml/2006/main" anchorCtr="1"/>
        <a:lstStyle xmlns:a="http://schemas.openxmlformats.org/drawingml/2006/main"/>
        <a:p xmlns:a="http://schemas.openxmlformats.org/drawingml/2006/main">
          <a:pPr>
            <a:defRPr sz="1200">
              <a:latin typeface="DejaVu Sans"/>
              <a:ea typeface="DejaVu Sans"/>
              <a:cs typeface="DejaVu Sans"/>
            </a:defRPr>
          </a:pPr>
        </a:p>
      </c:txPr>
    </c:title>
    <c:plotArea>
      <c:barChart>
        <c:barDir val="col"/>
        <c:grouping val="clustered"/>
        <c:varyColors val="0"/>
        <c:ser>
          <c:idx val="0"/>
          <c:order val="0"/>
          <c:tx>
            <c:v>2026</c:v>
          </c:tx>
          <c:spPr>
            <a:solidFill xmlns:a="http://schemas.openxmlformats.org/drawingml/2006/main">
              <a:srgbClr val="215B42"/>
            </a:solidFill>
          </c:spPr>
          <c:cat>
            <c:strRef>
              <c:f>'Chart Data'!$A$2:$A$5</c:f>
              <c:strCache>
                <c:ptCount val="4"/>
                <c:pt idx="0">
                  <c:v>Nigeria</c:v>
                </c:pt>
                <c:pt idx="1">
                  <c:v>India</c:v>
                </c:pt>
                <c:pt idx="2">
                  <c:v>China</c:v>
                </c:pt>
                <c:pt idx="3">
                  <c:v>Japan</c:v>
                </c:pt>
              </c:strCache>
            </c:strRef>
          </c:cat>
          <c:val>
            <c:numRef>
              <c:f>'Chart Data'!$B$2:$B$5</c:f>
              <c:numCache>
                <c:formatCode>0.0</c:formatCode>
                <c:ptCount val="4"/>
                <c:pt idx="0">
                  <c:v>242.431832</c:v>
                </c:pt>
                <c:pt idx="1">
                  <c:v>1476.625576</c:v>
                </c:pt>
                <c:pt idx="2">
                  <c:v>1412.914089</c:v>
                </c:pt>
                <c:pt idx="3">
                  <c:v>122.427731</c:v>
                </c:pt>
              </c:numCache>
            </c:numRef>
          </c:val>
        </c:ser>
        <c:ser>
          <c:idx val="1"/>
          <c:order val="1"/>
          <c:tx>
            <c:v>2051</c:v>
          </c:tx>
          <c:spPr>
            <a:solidFill xmlns:a="http://schemas.openxmlformats.org/drawingml/2006/main">
              <a:srgbClr val="78A583"/>
            </a:solidFill>
          </c:spPr>
          <c:cat>
            <c:strRef>
              <c:f>'Chart Data'!$C$2:$C$5</c:f>
              <c:strCache>
                <c:ptCount val="4"/>
                <c:pt idx="0">
                  <c:v>Nigeria</c:v>
                </c:pt>
                <c:pt idx="1">
                  <c:v>India</c:v>
                </c:pt>
                <c:pt idx="2">
                  <c:v>China</c:v>
                </c:pt>
                <c:pt idx="3">
                  <c:v>Japan</c:v>
                </c:pt>
              </c:strCache>
            </c:strRef>
          </c:cat>
          <c:val>
            <c:numRef>
              <c:f>'Chart Data'!$D$2:$D$5</c:f>
              <c:numCache>
                <c:formatCode>0.0</c:formatCode>
                <c:ptCount val="4"/>
                <c:pt idx="0">
                  <c:v>363.523611</c:v>
                </c:pt>
                <c:pt idx="1">
                  <c:v>1683.220886</c:v>
                </c:pt>
                <c:pt idx="2">
                  <c:v>1249.692538</c:v>
                </c:pt>
                <c:pt idx="3">
                  <c:v>104.452458</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DejaVu Sans"/>
                <a:ea typeface="DejaVu Sans"/>
                <a:cs typeface="DejaVu Sans"/>
              </a:defRPr>
            </a:pPr>
          </a:p>
        </c:txPr>
        <c:crossAx val="48672768"/>
      </c:catAx>
      <c:valAx>
        <c:axId val="48672768"/>
        <c:scaling>
          <c:orientation val="minMax"/>
        </c:scaling>
        <c:delete val="0"/>
        <c:axPos val="l"/>
        <c:numFmt formatCode="0.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DejaVu Sans"/>
                <a:ea typeface="DejaVu Sans"/>
                <a:cs typeface="DejaVu Sans"/>
              </a:defRPr>
            </a:pPr>
          </a:p>
        </c:txPr>
        <c:crossAx val="48650112"/>
        <c:crossBetween val="between"/>
      </c:valAx>
      <c:spPr>
        <a:solidFill xmlns:a="http://schemas.openxmlformats.org/drawingml/2006/main">
          <a:srgbClr val="FFFEF9"/>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DejaVu Sans"/>
              <a:ea typeface="DejaVu Sans"/>
              <a:cs typeface="DejaVu Sans"/>
            </a:defRPr>
          </a:pPr>
        </a:p>
      </c:txPr>
    </c:legend>
    <c:plotVisOnly val="1"/>
  </c:chart>
  <c:spPr>
    <a:solidFill xmlns:a="http://schemas.openxmlformats.org/drawingml/2006/main">
      <a:srgbClr val="FFFEF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latin typeface="DejaVu Sans"/>
                <a:ea typeface="DejaVu Sans"/>
                <a:cs typeface="DejaVu Sans"/>
              </a:rPr>
              <a:t>Normalized NPV across six worlds, USD million</a:t>
            </a:r>
          </a:p>
        </c:rich>
      </c:tx>
      <c:overlay val="0"/>
      <c:txPr>
        <a:bodyPr xmlns:a="http://schemas.openxmlformats.org/drawingml/2006/main" anchorCtr="1"/>
        <a:lstStyle xmlns:a="http://schemas.openxmlformats.org/drawingml/2006/main"/>
        <a:p xmlns:a="http://schemas.openxmlformats.org/drawingml/2006/main">
          <a:pPr>
            <a:defRPr sz="1200">
              <a:latin typeface="DejaVu Sans"/>
              <a:ea typeface="DejaVu Sans"/>
              <a:cs typeface="DejaVu Sans"/>
            </a:defRPr>
          </a:pPr>
        </a:p>
      </c:txPr>
    </c:title>
    <c:plotArea>
      <c:barChart>
        <c:barDir val="col"/>
        <c:grouping val="clustered"/>
        <c:varyColors val="0"/>
        <c:ser>
          <c:idx val="0"/>
          <c:order val="0"/>
          <c:tx>
            <c:v>Contracted trade</c:v>
          </c:tx>
          <c:spPr>
            <a:solidFill xmlns:a="http://schemas.openxmlformats.org/drawingml/2006/main">
              <a:srgbClr val="215B42"/>
            </a:solidFill>
          </c:spPr>
          <c:invertIfNegative val="0"/>
          <c:cat>
            <c:strRef>
              <c:f>'Chart Data'!$A$2:$A$7</c:f>
              <c:strCache>
                <c:ptCount val="6"/>
                <c:pt idx="0">
                  <c:v>Managed transition</c:v>
                </c:pt>
                <c:pt idx="1">
                  <c:v>Productive integration</c:v>
                </c:pt>
                <c:pt idx="2">
                  <c:v>Fragmented trade</c:v>
                </c:pt>
                <c:pt idx="3">
                  <c:v>Compound physical stress</c:v>
                </c:pt>
                <c:pt idx="4">
                  <c:v>Affordability and debt squeeze</c:v>
                </c:pt>
                <c:pt idx="5">
                  <c:v>Nutrition and resource transition</c:v>
                </c:pt>
              </c:strCache>
            </c:strRef>
          </c:cat>
          <c:val>
            <c:numRef>
              <c:f>'Chart Data'!$B$2:$B$7</c:f>
              <c:numCache>
                <c:formatCode>0.0</c:formatCode>
                <c:ptCount val="6"/>
                <c:pt idx="0">
                  <c:v>0.357686</c:v>
                </c:pt>
                <c:pt idx="1">
                  <c:v>7.869359</c:v>
                </c:pt>
                <c:pt idx="2">
                  <c:v>-10.136256</c:v>
                </c:pt>
                <c:pt idx="3">
                  <c:v>-25.56085</c:v>
                </c:pt>
                <c:pt idx="4">
                  <c:v>-13.357503</c:v>
                </c:pt>
                <c:pt idx="5">
                  <c:v>-0.543371</c:v>
                </c:pt>
              </c:numCache>
            </c:numRef>
          </c:val>
        </c:ser>
        <c:ser>
          <c:idx val="1"/>
          <c:order val="1"/>
          <c:tx>
            <c:v>Partner processing</c:v>
          </c:tx>
          <c:spPr>
            <a:solidFill xmlns:a="http://schemas.openxmlformats.org/drawingml/2006/main">
              <a:srgbClr val="78A583"/>
            </a:solidFill>
          </c:spPr>
          <c:invertIfNegative val="0"/>
          <c:cat>
            <c:strRef>
              <c:f>'Chart Data'!$C$2:$C$7</c:f>
              <c:strCache>
                <c:ptCount val="6"/>
                <c:pt idx="0">
                  <c:v>Managed transition</c:v>
                </c:pt>
                <c:pt idx="1">
                  <c:v>Productive integration</c:v>
                </c:pt>
                <c:pt idx="2">
                  <c:v>Fragmented trade</c:v>
                </c:pt>
                <c:pt idx="3">
                  <c:v>Compound physical stress</c:v>
                </c:pt>
                <c:pt idx="4">
                  <c:v>Affordability and debt squeeze</c:v>
                </c:pt>
                <c:pt idx="5">
                  <c:v>Nutrition and resource transition</c:v>
                </c:pt>
              </c:strCache>
            </c:strRef>
          </c:cat>
          <c:val>
            <c:numRef>
              <c:f>'Chart Data'!$D$2:$D$7</c:f>
              <c:numCache>
                <c:formatCode>0.0</c:formatCode>
                <c:ptCount val="6"/>
                <c:pt idx="0">
                  <c:v>10.81737</c:v>
                </c:pt>
                <c:pt idx="1">
                  <c:v>20.592951</c:v>
                </c:pt>
                <c:pt idx="2">
                  <c:v>-3.584731</c:v>
                </c:pt>
                <c:pt idx="3">
                  <c:v>-17.395001</c:v>
                </c:pt>
                <c:pt idx="4">
                  <c:v>-9.824949</c:v>
                </c:pt>
                <c:pt idx="5">
                  <c:v>10.071104</c:v>
                </c:pt>
              </c:numCache>
            </c:numRef>
          </c:val>
        </c:ser>
        <c:ser>
          <c:idx val="2"/>
          <c:order val="2"/>
          <c:tx>
            <c:v>Owned processing</c:v>
          </c:tx>
          <c:spPr>
            <a:solidFill xmlns:a="http://schemas.openxmlformats.org/drawingml/2006/main">
              <a:srgbClr val="C4913F"/>
            </a:solidFill>
          </c:spPr>
          <c:invertIfNegative val="0"/>
          <c:cat>
            <c:strRef>
              <c:f>'Chart Data'!$E$2:$E$7</c:f>
              <c:strCache>
                <c:ptCount val="6"/>
                <c:pt idx="0">
                  <c:v>Managed transition</c:v>
                </c:pt>
                <c:pt idx="1">
                  <c:v>Productive integration</c:v>
                </c:pt>
                <c:pt idx="2">
                  <c:v>Fragmented trade</c:v>
                </c:pt>
                <c:pt idx="3">
                  <c:v>Compound physical stress</c:v>
                </c:pt>
                <c:pt idx="4">
                  <c:v>Affordability and debt squeeze</c:v>
                </c:pt>
                <c:pt idx="5">
                  <c:v>Nutrition and resource transition</c:v>
                </c:pt>
              </c:strCache>
            </c:strRef>
          </c:cat>
          <c:val>
            <c:numRef>
              <c:f>'Chart Data'!$F$2:$F$7</c:f>
              <c:numCache>
                <c:formatCode>0.0</c:formatCode>
                <c:ptCount val="6"/>
                <c:pt idx="0">
                  <c:v>-1.799942</c:v>
                </c:pt>
                <c:pt idx="1">
                  <c:v>13.879462</c:v>
                </c:pt>
                <c:pt idx="2">
                  <c:v>-17.203948</c:v>
                </c:pt>
                <c:pt idx="3">
                  <c:v>-33.292164</c:v>
                </c:pt>
                <c:pt idx="4">
                  <c:v>-24.952075</c:v>
                </c:pt>
                <c:pt idx="5">
                  <c:v>-2.878264</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DejaVu Sans"/>
                <a:ea typeface="DejaVu Sans"/>
                <a:cs typeface="DejaVu Sans"/>
              </a:defRPr>
            </a:pPr>
          </a:p>
        </c:txPr>
        <c:crossAx val="48672768"/>
      </c:catAx>
      <c:valAx>
        <c:axId val="48672768"/>
        <c:scaling>
          <c:orientation val="minMax"/>
        </c:scaling>
        <c:delete val="0"/>
        <c:axPos val="l"/>
        <c:numFmt formatCode="0.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DejaVu Sans"/>
                <a:ea typeface="DejaVu Sans"/>
                <a:cs typeface="DejaVu Sans"/>
              </a:defRPr>
            </a:pPr>
          </a:p>
        </c:txPr>
        <c:crossAx val="48650112"/>
        <c:crossBetween val="between"/>
      </c:valAx>
      <c:spPr>
        <a:solidFill xmlns:a="http://schemas.openxmlformats.org/drawingml/2006/main">
          <a:srgbClr val="FFFEF9"/>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DejaVu Sans"/>
              <a:ea typeface="DejaVu Sans"/>
              <a:cs typeface="DejaVu Sans"/>
            </a:defRPr>
          </a:pPr>
        </a:p>
      </c:txPr>
    </c:legend>
    <c:plotVisOnly val="1"/>
  </c:chart>
  <c:spPr>
    <a:solidFill xmlns:a="http://schemas.openxmlformats.org/drawingml/2006/main">
      <a:srgbClr val="FFFE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C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E76501-9ED3-4B5F-882F-14A7DD07403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9C5A9"/>
                </a:solidFill>
                <a:latin typeface="DejaVu Sans"/>
                <a:ea typeface="DejaVu Sans"/>
                <a:cs typeface="DejaVu Sans"/>
              </a:defRPr>
            </a:pPr>
            <a:r>
              <a:rPr sz="900" b="0">
                <a:solidFill>
                  <a:srgbClr val="A9C5A9"/>
                </a:solidFill>
                <a:latin typeface="DejaVu Sans"/>
                <a:ea typeface="DejaVu Sans"/>
                <a:cs typeface="DejaVu Sans"/>
              </a:rPr>
              <a:t>MANASH PROTIM DEORI  /  EXECUTIVE  /  01</a:t>
            </a:r>
          </a:p>
        </p:txBody>
      </p:sp>
      <p:sp>
        <p:nvSpPr>
          <p:cNvPr id="2" name="">
            <a:extLst xmlns:a="http://schemas.openxmlformats.org/drawingml/2006/main">
              <a:ext uri="{FF2B5EF4-FFF2-40B4-BE49-F238E27FC236}">
                <a16:creationId xmlns:a16="http://schemas.microsoft.com/office/drawing/2014/main" id="{9A17EAB6-849E-4B3C-8E48-39C843E51D43}"/>
              </a:ext>
            </a:extLst>
          </p:cNvPr>
          <p:cNvSpPr>
            <a:spLocks xmlns:a="http://schemas.openxmlformats.org/drawingml/2006/main" noGrp="1"/>
          </p:cNvSpPr>
          <p:nvPr/>
        </p:nvSpPr>
        <p:spPr>
          <a:xfrm xmlns:a="http://schemas.openxmlformats.org/drawingml/2006/main">
            <a:off x="609600" y="876300"/>
            <a:ext cx="10972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FFCE9"/>
                </a:solidFill>
                <a:latin typeface="DejaVu Serif"/>
                <a:ea typeface="DejaVu Serif"/>
                <a:cs typeface="DejaVu Serif"/>
              </a:defRPr>
            </a:pPr>
            <a:r>
              <a:rPr sz="4200" b="0">
                <a:solidFill>
                  <a:srgbClr val="FFFCE9"/>
                </a:solidFill>
                <a:latin typeface="DejaVu Serif"/>
                <a:ea typeface="DejaVu Serif"/>
                <a:cs typeface="DejaVu Serif"/>
              </a:rPr>
              <a:t>Olam Agri: choices that remain useful to 2051</a:t>
            </a:r>
          </a:p>
        </p:txBody>
      </p:sp>
      <p:sp>
        <p:nvSpPr>
          <p:cNvPr id="3" name="">
            <a:extLst xmlns:a="http://schemas.openxmlformats.org/drawingml/2006/main">
              <a:ext uri="{FF2B5EF4-FFF2-40B4-BE49-F238E27FC236}">
                <a16:creationId xmlns:a16="http://schemas.microsoft.com/office/drawing/2014/main" id="{90D3215B-80C6-491C-B874-41B4D392649F}"/>
              </a:ext>
            </a:extLst>
          </p:cNvPr>
          <p:cNvSpPr>
            <a:spLocks xmlns:a="http://schemas.openxmlformats.org/drawingml/2006/main" noGrp="1"/>
          </p:cNvSpPr>
          <p:nvPr/>
        </p:nvSpPr>
        <p:spPr>
          <a:xfrm xmlns:a="http://schemas.openxmlformats.org/drawingml/2006/main">
            <a:off x="609600" y="27336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6D2B7"/>
                </a:solidFill>
                <a:latin typeface="DejaVu Sans"/>
                <a:ea typeface="DejaVu Sans"/>
                <a:cs typeface="DejaVu Sans"/>
              </a:defRPr>
            </a:pPr>
            <a:r>
              <a:rPr sz="2100" b="0">
                <a:solidFill>
                  <a:srgbClr val="B6D2B7"/>
                </a:solidFill>
                <a:latin typeface="DejaVu Sans"/>
                <a:ea typeface="DejaVu Sans"/>
                <a:cs typeface="DejaVu Sans"/>
              </a:rPr>
              <a:t>Commit first to customer proof, route cash and adaptable capacity.</a:t>
            </a:r>
          </a:p>
        </p:txBody>
      </p:sp>
      <p:sp>
        <p:nvSpPr>
          <p:cNvPr id="4" name="">
            <a:extLst xmlns:a="http://schemas.openxmlformats.org/drawingml/2006/main">
              <a:ext uri="{FF2B5EF4-FFF2-40B4-BE49-F238E27FC236}">
                <a16:creationId xmlns:a16="http://schemas.microsoft.com/office/drawing/2014/main" id="{235C056D-786C-4333-A609-96FF0CB4811A}"/>
              </a:ext>
            </a:extLst>
          </p:cNvPr>
          <p:cNvSpPr>
            <a:spLocks xmlns:a="http://schemas.openxmlformats.org/drawingml/2006/main" noGrp="1"/>
          </p:cNvSpPr>
          <p:nvPr/>
        </p:nvSpPr>
        <p:spPr>
          <a:xfrm xmlns:a="http://schemas.openxmlformats.org/drawingml/2006/main">
            <a:off x="609600" y="39052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1E8D5"/>
                </a:solidFill>
                <a:latin typeface="DejaVu Sans"/>
                <a:ea typeface="DejaVu Sans"/>
                <a:cs typeface="DejaVu Sans"/>
              </a:defRPr>
            </a:pPr>
            <a:r>
              <a:rPr sz="1575" b="0">
                <a:solidFill>
                  <a:srgbClr val="E1E8D5"/>
                </a:solidFill>
                <a:latin typeface="DejaVu Sans"/>
                <a:ea typeface="DejaVu Sans"/>
                <a:cs typeface="DejaVu Sans"/>
              </a:rPr>
              <a:t>Manash Protim Deori · MBA, IIM Shillong · Chemical engineering</a:t>
            </a:r>
          </a:p>
        </p:txBody>
      </p:sp>
      <p:sp>
        <p:nvSpPr>
          <p:cNvPr id="5" name="">
            <a:extLst xmlns:a="http://schemas.openxmlformats.org/drawingml/2006/main">
              <a:ext uri="{FF2B5EF4-FFF2-40B4-BE49-F238E27FC236}">
                <a16:creationId xmlns:a16="http://schemas.microsoft.com/office/drawing/2014/main" id="{B449F808-B6E3-44C0-9AE4-C936D617A290}"/>
              </a:ext>
            </a:extLst>
          </p:cNvPr>
          <p:cNvSpPr>
            <a:spLocks xmlns:a="http://schemas.openxmlformats.org/drawingml/2006/main" noGrp="1"/>
          </p:cNvSpPr>
          <p:nvPr/>
        </p:nvSpPr>
        <p:spPr>
          <a:xfrm xmlns:a="http://schemas.openxmlformats.org/drawingml/2006/main">
            <a:off x="609600" y="4572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1E8D5"/>
                </a:solidFill>
                <a:latin typeface="DejaVu Sans"/>
                <a:ea typeface="DejaVu Sans"/>
                <a:cs typeface="DejaVu Sans"/>
              </a:defRPr>
            </a:pPr>
            <a:r>
              <a:rPr sz="1575" b="0">
                <a:solidFill>
                  <a:srgbClr val="E1E8D5"/>
                </a:solidFill>
                <a:latin typeface="DejaVu Sans"/>
                <a:ea typeface="DejaVu Sans"/>
                <a:cs typeface="DejaVu Sans"/>
              </a:rPr>
              <a:t>2026–2051 | Research cutoff: 8 October 2026, 00:04 IST</a:t>
            </a:r>
          </a:p>
        </p:txBody>
      </p:sp>
      <p:sp>
        <p:nvSpPr>
          <p:cNvPr id="6" name="">
            <a:extLst xmlns:a="http://schemas.openxmlformats.org/drawingml/2006/main">
              <a:ext uri="{FF2B5EF4-FFF2-40B4-BE49-F238E27FC236}">
                <a16:creationId xmlns:a16="http://schemas.microsoft.com/office/drawing/2014/main" id="{690AFFCB-7FA9-4C84-96C8-41ED98B3FF0F}"/>
              </a:ext>
            </a:extLst>
          </p:cNvPr>
          <p:cNvSpPr>
            <a:spLocks xmlns:a="http://schemas.openxmlformats.org/drawingml/2006/main" noGrp="1"/>
          </p:cNvSpPr>
          <p:nvPr/>
        </p:nvSpPr>
        <p:spPr>
          <a:xfrm xmlns:a="http://schemas.openxmlformats.org/drawingml/2006/main">
            <a:off x="609600" y="5238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1E8D5"/>
                </a:solidFill>
                <a:latin typeface="DejaVu Sans"/>
                <a:ea typeface="DejaVu Sans"/>
                <a:cs typeface="DejaVu Sans"/>
              </a:defRPr>
            </a:pPr>
            <a:r>
              <a:rPr sz="1575" b="0">
                <a:solidFill>
                  <a:srgbClr val="E1E8D5"/>
                </a:solidFill>
                <a:latin typeface="DejaVu Sans"/>
                <a:ea typeface="DejaVu Sans"/>
                <a:cs typeface="DejaVu Sans"/>
              </a:rPr>
              <a:t>Independent strategic research; company disclosures, external projections and illustrative models are distinguished.</a:t>
            </a:r>
          </a:p>
        </p:txBody>
      </p:sp>
      <p:sp>
        <p:nvSpPr>
          <p:cNvPr id="7" name="">
            <a:extLst xmlns:a="http://schemas.openxmlformats.org/drawingml/2006/main">
              <a:ext uri="{FF2B5EF4-FFF2-40B4-BE49-F238E27FC236}">
                <a16:creationId xmlns:a16="http://schemas.microsoft.com/office/drawing/2014/main" id="{F5D0050E-DEA6-49D8-BBFD-D08E02F4FC9A}"/>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9EBA9F"/>
                </a:solidFill>
                <a:latin typeface="DejaVu Sans"/>
                <a:ea typeface="DejaVu Sans"/>
                <a:cs typeface="DejaVu Sans"/>
              </a:defRPr>
            </a:pPr>
            <a:r>
              <a:rPr sz="750" b="0">
                <a:solidFill>
                  <a:srgbClr val="9EBA9F"/>
                </a:solidFill>
                <a:latin typeface="DejaVu Sans"/>
                <a:ea typeface="DejaVu Sans"/>
                <a:cs typeface="DejaVu Sans"/>
              </a:rPr>
              <a:t>SOURCE CO_FACT · BASELINE</a:t>
            </a:r>
          </a:p>
        </p:txBody>
      </p:sp>
      <p:sp>
        <p:nvSpPr>
          <p:cNvPr id="8" name="">
            <a:extLst xmlns:a="http://schemas.openxmlformats.org/drawingml/2006/main">
              <a:ext uri="{FF2B5EF4-FFF2-40B4-BE49-F238E27FC236}">
                <a16:creationId xmlns:a16="http://schemas.microsoft.com/office/drawing/2014/main" id="{5A7D1DEF-608B-4AB2-94F4-162E5AA2C3B5}"/>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9EBA9F"/>
                </a:solidFill>
                <a:latin typeface="DejaVu Sans"/>
                <a:ea typeface="DejaVu Sans"/>
                <a:cs typeface="DejaVu Sans"/>
              </a:defRPr>
            </a:pPr>
            <a:r>
              <a:rPr sz="675" b="0">
                <a:solidFill>
                  <a:srgbClr val="9EBA9F"/>
                </a:solidFill>
                <a:latin typeface="DejaVu Sans"/>
                <a:ea typeface="DejaVu Sans"/>
                <a:cs typeface="DejaVu Sans"/>
              </a:rPr>
              <a:t>   1 / 81</a:t>
            </a:r>
          </a:p>
        </p:txBody>
      </p:sp>
    </p:spTree>
    <p:extLst>
      <p:ext uri="{BB962C8B-B14F-4D97-AF65-F5344CB8AC3E}">
        <p14:creationId xmlns:p14="http://schemas.microsoft.com/office/powerpoint/2010/main" val="1796750426"/>
      </p:ext>
    </p:extLst>
  </p:cSld>
</p:sld>
</file>

<file path=ppt/slides/slide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439396-B842-46AF-ABE0-5BD38252FCA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02</a:t>
            </a:r>
          </a:p>
        </p:txBody>
      </p:sp>
      <p:sp>
        <p:nvSpPr>
          <p:cNvPr id="2" name="">
            <a:extLst xmlns:a="http://schemas.openxmlformats.org/drawingml/2006/main">
              <a:ext uri="{FF2B5EF4-FFF2-40B4-BE49-F238E27FC236}">
                <a16:creationId xmlns:a16="http://schemas.microsoft.com/office/drawing/2014/main" id="{8E8CD6BF-1F4C-4598-A8A3-2608A8A4279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Approve evidence before irreversible expansion</a:t>
            </a:r>
          </a:p>
        </p:txBody>
      </p:sp>
      <p:sp>
        <p:nvSpPr>
          <p:cNvPr id="3" name="">
            <a:extLst xmlns:a="http://schemas.openxmlformats.org/drawingml/2006/main">
              <a:ext uri="{FF2B5EF4-FFF2-40B4-BE49-F238E27FC236}">
                <a16:creationId xmlns:a16="http://schemas.microsoft.com/office/drawing/2014/main" id="{965C372B-0B1F-4C89-B130-49A0E1E538F3}"/>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Authorize a scoped 90-day proof programme; defer an unconditional asset cheque.</a:t>
            </a:r>
          </a:p>
        </p:txBody>
      </p:sp>
      <p:graphicFrame>
        <p:nvGraphicFramePr>
          <p:cNvPr id="11" name=""/>
          <p:cNvGraphicFramePr/>
          <p:nvPr/>
        </p:nvGraphicFramePr>
        <p:xfrm>
          <a:off xmlns:a="http://schemas.openxmlformats.org/drawingml/2006/main" x="609600" y="2505075"/>
          <a:ext xmlns:a="http://schemas.openxmlformats.org/drawingml/2006/main" cx="10972800" cy="2143125"/>
        </p:xfrm>
        <a:graphic xmlns:a="http://schemas.openxmlformats.org/drawingml/2006/main">
          <a:graphicData uri="http://schemas.openxmlformats.org/drawingml/2006/table">
            <a:tbl>
              <a:tblPr/>
              <a:tblGrid>
                <a:gridCol w="4095750"/>
                <a:gridCol w="3438525"/>
                <a:gridCol w="3438525"/>
              </a:tblGrid>
              <a:tr h="535781">
                <a:tc>
                  <a:txBody>
                    <a:bodyPr/>
                    <a:lstStyle/>
                    <a:p>
                      <a:r>
                        <a:rPr sz="1050" b="1">
                          <a:solidFill>
                            <a:srgbClr val="49624F"/>
                          </a:solidFill>
                          <a:latin typeface="DejaVu Sans"/>
                          <a:ea typeface="DejaVu Sans"/>
                          <a:cs typeface="DejaVu Sans"/>
                        </a:rPr>
                        <a:t>Next commitment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Required evidence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Owner</a:t>
                      </a:r>
                    </a:p>
                  </a:txBody>
                  <a:tcPr marL="114300" marR="114300" marT="76200" marB="76200" anchor="t">
                    <a:solidFill>
                      <a:srgbClr val="E7EEE4"/>
                    </a:solidFill>
                  </a:tcPr>
                </a:tc>
              </a:tr>
              <a:tr h="535781">
                <a:tc>
                  <a:txBody>
                    <a:bodyPr/>
                    <a:lstStyle/>
                    <a:p>
                      <a:r>
                        <a:rPr sz="1200">
                          <a:solidFill>
                            <a:srgbClr val="183B2A"/>
                          </a:solidFill>
                          <a:latin typeface="DejaVu Sans"/>
                          <a:ea typeface="DejaVu Sans"/>
                          <a:cs typeface="DejaVu Sans"/>
                        </a:rPr>
                        <a:t>Data room</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Eligible sales, cost, capacity, seasonal AR/INV/AP</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Finance + operations</a:t>
                      </a:r>
                    </a:p>
                  </a:txBody>
                  <a:tcPr marL="114300" marR="114300" marT="76200" marB="76200" anchor="t">
                    <a:solidFill>
                      <a:srgbClr val="FFFEF9"/>
                    </a:solidFill>
                  </a:tcPr>
                </a:tc>
              </a:tr>
              <a:tr h="535781">
                <a:tc>
                  <a:txBody>
                    <a:bodyPr/>
                    <a:lstStyle/>
                    <a:p>
                      <a:r>
                        <a:rPr sz="1200">
                          <a:solidFill>
                            <a:srgbClr val="183B2A"/>
                          </a:solidFill>
                          <a:latin typeface="DejaVu Sans"/>
                          <a:ea typeface="DejaVu Sans"/>
                          <a:cs typeface="DejaVu Sans"/>
                        </a:rPr>
                        <a:t>Pilot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Pre-registered counterfactual and downside limits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Country + marketing</a:t>
                      </a:r>
                    </a:p>
                  </a:txBody>
                  <a:tcPr marL="114300" marR="114300" marT="76200" marB="76200" anchor="t">
                    <a:solidFill>
                      <a:srgbClr val="FFFEF9"/>
                    </a:solidFill>
                  </a:tcPr>
                </a:tc>
              </a:tr>
              <a:tr h="535781">
                <a:tc>
                  <a:txBody>
                    <a:bodyPr/>
                    <a:lstStyle/>
                    <a:p>
                      <a:r>
                        <a:rPr sz="1200">
                          <a:solidFill>
                            <a:srgbClr val="183B2A"/>
                          </a:solidFill>
                          <a:latin typeface="DejaVu Sans"/>
                          <a:ea typeface="DejaVu Sans"/>
                          <a:cs typeface="DejaVu Sans"/>
                        </a:rPr>
                        <a:t>Investment review</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Tax, route, resilience, funded cash and positive NPV</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Treasury + IC</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A0866011-538C-426E-918C-10C016176389}"/>
              </a:ext>
            </a:extLst>
          </p:cNvPr>
          <p:cNvSpPr>
            <a:spLocks xmlns:a="http://schemas.openxmlformats.org/drawingml/2006/main" noGrp="1"/>
          </p:cNvSpPr>
          <p:nvPr/>
        </p:nvSpPr>
        <p:spPr>
          <a:xfrm xmlns:a="http://schemas.openxmlformats.org/drawingml/2006/main">
            <a:off x="609600" y="4857750"/>
            <a:ext cx="10972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Finance owns the data room, costed pilot envelope and cash limits. No unsupported funding amount is requested.</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Nigeria is the initial commercial laboratory; select one sourcing corridor and one transfer market after feasibility checks.</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Only customer-level contribution, funding headroom and replicable learning can release a later commitment.</a:t>
            </a:r>
          </a:p>
        </p:txBody>
      </p:sp>
      <p:sp>
        <p:nvSpPr>
          <p:cNvPr id="6" name="">
            <a:extLst xmlns:a="http://schemas.openxmlformats.org/drawingml/2006/main">
              <a:ext uri="{FF2B5EF4-FFF2-40B4-BE49-F238E27FC236}">
                <a16:creationId xmlns:a16="http://schemas.microsoft.com/office/drawing/2014/main" id="{0B48AA48-F494-4AE9-A3CB-44A27B0AF120}"/>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A_PILOT</a:t>
            </a:r>
          </a:p>
        </p:txBody>
      </p:sp>
      <p:sp>
        <p:nvSpPr>
          <p:cNvPr id="7" name="">
            <a:extLst xmlns:a="http://schemas.openxmlformats.org/drawingml/2006/main">
              <a:ext uri="{FF2B5EF4-FFF2-40B4-BE49-F238E27FC236}">
                <a16:creationId xmlns:a16="http://schemas.microsoft.com/office/drawing/2014/main" id="{E3A0900E-8AEE-4964-B962-031A5787BC9C}"/>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2 / 81</a:t>
            </a:r>
          </a:p>
        </p:txBody>
      </p:sp>
    </p:spTree>
    <p:extLst>
      <p:ext uri="{BB962C8B-B14F-4D97-AF65-F5344CB8AC3E}">
        <p14:creationId xmlns:p14="http://schemas.microsoft.com/office/powerpoint/2010/main" val="1982719203"/>
      </p:ext>
    </p:extLst>
  </p:cSld>
</p:sld>
</file>

<file path=ppt/slides/slide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4C2D79-0D0F-4B78-8C87-C92ECDBF7B4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03</a:t>
            </a:r>
          </a:p>
        </p:txBody>
      </p:sp>
      <p:sp>
        <p:nvSpPr>
          <p:cNvPr id="2" name="">
            <a:extLst xmlns:a="http://schemas.openxmlformats.org/drawingml/2006/main">
              <a:ext uri="{FF2B5EF4-FFF2-40B4-BE49-F238E27FC236}">
                <a16:creationId xmlns:a16="http://schemas.microsoft.com/office/drawing/2014/main" id="{D7D19032-BB2E-4098-B189-BEE665F4310D}"/>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The old Nigeria screen becomes a global decision system</a:t>
            </a:r>
          </a:p>
        </p:txBody>
      </p:sp>
      <p:sp>
        <p:nvSpPr>
          <p:cNvPr id="3" name="">
            <a:extLst xmlns:a="http://schemas.openxmlformats.org/drawingml/2006/main">
              <a:ext uri="{FF2B5EF4-FFF2-40B4-BE49-F238E27FC236}">
                <a16:creationId xmlns:a16="http://schemas.microsoft.com/office/drawing/2014/main" id="{6ED3252D-69C7-409F-993D-E0FCA55F5CA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The negative legacy case remains visible; additional detail cannot manufacture approval.</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Starting point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Replacement</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44-slide Nigeria-first narrative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37-slide global executive sequence + technical appendix</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Sales-day cash proxy</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AR + cost-based inventory − eligible purchases AP</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Three-year uplift screen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25 annual cash periods with replacement, tax and ramp</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Independent chosen draws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Common-shock stress; no success-probability claim</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Opaque review-count claim</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Versioned evidence, calculation IDs and actual checks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F0713FE1-DBDE-42B6-83B1-87D173FDE4CB}"/>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BASELINE</a:t>
            </a:r>
          </a:p>
        </p:txBody>
      </p:sp>
      <p:sp>
        <p:nvSpPr>
          <p:cNvPr id="6" name="">
            <a:extLst xmlns:a="http://schemas.openxmlformats.org/drawingml/2006/main">
              <a:ext uri="{FF2B5EF4-FFF2-40B4-BE49-F238E27FC236}">
                <a16:creationId xmlns:a16="http://schemas.microsoft.com/office/drawing/2014/main" id="{F33F2C2E-B8D3-40A0-80B1-A6B52BC388EA}"/>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C-LEGACY   3 / 81</a:t>
            </a:r>
          </a:p>
        </p:txBody>
      </p:sp>
    </p:spTree>
    <p:extLst>
      <p:ext uri="{BB962C8B-B14F-4D97-AF65-F5344CB8AC3E}">
        <p14:creationId xmlns:p14="http://schemas.microsoft.com/office/powerpoint/2010/main" val="1881871577"/>
      </p:ext>
    </p:extLst>
  </p:cSld>
</p:sld>
</file>

<file path=ppt/slides/slide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1E6B24-3FC4-4327-A995-6849360111D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04</a:t>
            </a:r>
          </a:p>
        </p:txBody>
      </p:sp>
      <p:sp>
        <p:nvSpPr>
          <p:cNvPr id="2" name="">
            <a:extLst xmlns:a="http://schemas.openxmlformats.org/drawingml/2006/main">
              <a:ext uri="{FF2B5EF4-FFF2-40B4-BE49-F238E27FC236}">
                <a16:creationId xmlns:a16="http://schemas.microsoft.com/office/drawing/2014/main" id="{AB909F2C-828A-4567-A620-6E6B4A2EA161}"/>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Volume growth did not translate into stronger EBIT</a:t>
            </a:r>
          </a:p>
        </p:txBody>
      </p:sp>
      <p:sp>
        <p:nvSpPr>
          <p:cNvPr id="3" name="">
            <a:extLst xmlns:a="http://schemas.openxmlformats.org/drawingml/2006/main">
              <a:ext uri="{FF2B5EF4-FFF2-40B4-BE49-F238E27FC236}">
                <a16:creationId xmlns:a16="http://schemas.microsoft.com/office/drawing/2014/main" id="{3E3B56B8-972C-46ED-AFA5-F4BB70D3556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FY2025 Olam Agri: revenue +15.4%, sales volume +19.1%, EBIT −8.0%.</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USD reporting perimeter</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2024</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2025</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Revenue, USD million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24,848</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28,666</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Sales volume, thousand tonnes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45,130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53,740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EBIT, USD million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765.2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703.7</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Derived EBIT margin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3.08%</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2.45%</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CA20DCDA-01CE-46B8-9764-D1AA7C3F2656}"/>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CO_AR</a:t>
            </a:r>
          </a:p>
        </p:txBody>
      </p:sp>
      <p:sp>
        <p:nvSpPr>
          <p:cNvPr id="6" name="">
            <a:extLst xmlns:a="http://schemas.openxmlformats.org/drawingml/2006/main">
              <a:ext uri="{FF2B5EF4-FFF2-40B4-BE49-F238E27FC236}">
                <a16:creationId xmlns:a16="http://schemas.microsoft.com/office/drawing/2014/main" id="{884E478C-DDE7-47BE-95D6-C023A1F3539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C-E01   4 / 81</a:t>
            </a:r>
          </a:p>
        </p:txBody>
      </p:sp>
    </p:spTree>
    <p:extLst>
      <p:ext uri="{BB962C8B-B14F-4D97-AF65-F5344CB8AC3E}">
        <p14:creationId xmlns:p14="http://schemas.microsoft.com/office/powerpoint/2010/main" val="1209284763"/>
      </p:ext>
    </p:extLst>
  </p:cSld>
</p:sld>
</file>

<file path=ppt/slides/slide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ADE11D-FE03-407A-98FE-8A8B96A6F89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05</a:t>
            </a:r>
          </a:p>
        </p:txBody>
      </p:sp>
      <p:sp>
        <p:nvSpPr>
          <p:cNvPr id="2" name="">
            <a:extLst xmlns:a="http://schemas.openxmlformats.org/drawingml/2006/main">
              <a:ext uri="{FF2B5EF4-FFF2-40B4-BE49-F238E27FC236}">
                <a16:creationId xmlns:a16="http://schemas.microsoft.com/office/drawing/2014/main" id="{0177AD86-A35E-49E8-8CDF-95EAD1DDEAB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Customer orders, physical supply and cash must agree</a:t>
            </a:r>
          </a:p>
        </p:txBody>
      </p:sp>
      <p:sp>
        <p:nvSpPr>
          <p:cNvPr id="3" name="">
            <a:extLst xmlns:a="http://schemas.openxmlformats.org/drawingml/2006/main">
              <a:ext uri="{FF2B5EF4-FFF2-40B4-BE49-F238E27FC236}">
                <a16:creationId xmlns:a16="http://schemas.microsoft.com/office/drawing/2014/main" id="{B3EB4E69-48ED-4EAE-B351-502391D092E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Population creates context; sold tonnes require accessible demand, capture and delivery.</a:t>
            </a:r>
          </a:p>
        </p:txBody>
      </p:sp>
      <p:graphicFrame>
        <p:nvGraphicFramePr>
          <p:cNvPr id="11" name=""/>
          <p:cNvGraphicFramePr/>
          <p:nvPr/>
        </p:nvGraphicFramePr>
        <p:xfrm>
          <a:off xmlns:a="http://schemas.openxmlformats.org/drawingml/2006/main" x="609600" y="2505075"/>
          <a:ext xmlns:a="http://schemas.openxmlformats.org/drawingml/2006/main" cx="10972800" cy="2143125"/>
        </p:xfrm>
        <a:graphic xmlns:a="http://schemas.openxmlformats.org/drawingml/2006/main">
          <a:graphicData uri="http://schemas.openxmlformats.org/drawingml/2006/table">
            <a:tbl>
              <a:tblPr/>
              <a:tblGrid>
                <a:gridCol w="4095750"/>
                <a:gridCol w="3438525"/>
                <a:gridCol w="3438525"/>
              </a:tblGrid>
              <a:tr h="535781">
                <a:tc>
                  <a:txBody>
                    <a:bodyPr/>
                    <a:lstStyle/>
                    <a:p>
                      <a:r>
                        <a:rPr sz="1050" b="1">
                          <a:solidFill>
                            <a:srgbClr val="49624F"/>
                          </a:solidFill>
                          <a:latin typeface="DejaVu Sans"/>
                          <a:ea typeface="DejaVu Sans"/>
                          <a:cs typeface="DejaVu Sans"/>
                        </a:rPr>
                        <a:t>Layer</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Evidence required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Capital implication</a:t>
                      </a:r>
                    </a:p>
                  </a:txBody>
                  <a:tcPr marL="114300" marR="114300" marT="76200" marB="76200" anchor="t">
                    <a:solidFill>
                      <a:srgbClr val="E7EEE4"/>
                    </a:solidFill>
                  </a:tcPr>
                </a:tc>
              </a:tr>
              <a:tr h="535781">
                <a:tc>
                  <a:txBody>
                    <a:bodyPr/>
                    <a:lstStyle/>
                    <a:p>
                      <a:r>
                        <a:rPr sz="1200">
                          <a:solidFill>
                            <a:srgbClr val="183B2A"/>
                          </a:solidFill>
                          <a:latin typeface="DejaVu Sans"/>
                          <a:ea typeface="DejaVu Sans"/>
                          <a:cs typeface="DejaVu Sans"/>
                        </a:rPr>
                        <a:t>Customer</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Usable yield, cash ticket, counterfactual repeat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Test before scaling</a:t>
                      </a:r>
                    </a:p>
                  </a:txBody>
                  <a:tcPr marL="114300" marR="114300" marT="76200" marB="76200" anchor="t">
                    <a:solidFill>
                      <a:srgbClr val="FFFEF9"/>
                    </a:solidFill>
                  </a:tcPr>
                </a:tc>
              </a:tr>
              <a:tr h="535781">
                <a:tc>
                  <a:txBody>
                    <a:bodyPr/>
                    <a:lstStyle/>
                    <a:p>
                      <a:r>
                        <a:rPr sz="1200">
                          <a:solidFill>
                            <a:srgbClr val="183B2A"/>
                          </a:solidFill>
                          <a:latin typeface="DejaVu Sans"/>
                          <a:ea typeface="DejaVu Sans"/>
                          <a:cs typeface="DejaVu Sans"/>
                        </a:rPr>
                        <a:t>Route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HS access, landed cost, lead time, counterparty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Contract before stocking</a:t>
                      </a:r>
                    </a:p>
                  </a:txBody>
                  <a:tcPr marL="114300" marR="114300" marT="76200" marB="76200" anchor="t">
                    <a:solidFill>
                      <a:srgbClr val="FFFEF9"/>
                    </a:solidFill>
                  </a:tcPr>
                </a:tc>
              </a:tr>
              <a:tr h="535781">
                <a:tc>
                  <a:txBody>
                    <a:bodyPr/>
                    <a:lstStyle/>
                    <a:p>
                      <a:r>
                        <a:rPr sz="1200">
                          <a:solidFill>
                            <a:srgbClr val="183B2A"/>
                          </a:solidFill>
                          <a:latin typeface="DejaVu Sans"/>
                          <a:ea typeface="DejaVu Sans"/>
                          <a:cs typeface="DejaVu Sans"/>
                        </a:rPr>
                        <a:t>Asset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Utilisation, uptime, conversion and resilience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Option capacity only after proof</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78D0CE41-5C3D-406D-AF99-F2869190E3C6}"/>
              </a:ext>
            </a:extLst>
          </p:cNvPr>
          <p:cNvSpPr>
            <a:spLocks xmlns:a="http://schemas.openxmlformats.org/drawingml/2006/main" noGrp="1"/>
          </p:cNvSpPr>
          <p:nvPr/>
        </p:nvSpPr>
        <p:spPr>
          <a:xfrm xmlns:a="http://schemas.openxmlformats.org/drawingml/2006/main">
            <a:off x="609600" y="4857750"/>
            <a:ext cx="10972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Demand: households, bakers, industrial buyers and feed customers buy different services.</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Supply: origin, quality, yield, logistics and usable capacity bound delivered volume.</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Cash: payment, stocks, currency, replacement and tax can overturn a positive gross spread.</a:t>
            </a:r>
          </a:p>
        </p:txBody>
      </p:sp>
      <p:sp>
        <p:nvSpPr>
          <p:cNvPr id="6" name="">
            <a:extLst xmlns:a="http://schemas.openxmlformats.org/drawingml/2006/main">
              <a:ext uri="{FF2B5EF4-FFF2-40B4-BE49-F238E27FC236}">
                <a16:creationId xmlns:a16="http://schemas.microsoft.com/office/drawing/2014/main" id="{FE590895-C31E-40BE-BDB3-67D1F71FC04C}"/>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a:t>
            </a:r>
          </a:p>
        </p:txBody>
      </p:sp>
      <p:sp>
        <p:nvSpPr>
          <p:cNvPr id="7" name="">
            <a:extLst xmlns:a="http://schemas.openxmlformats.org/drawingml/2006/main">
              <a:ext uri="{FF2B5EF4-FFF2-40B4-BE49-F238E27FC236}">
                <a16:creationId xmlns:a16="http://schemas.microsoft.com/office/drawing/2014/main" id="{991E1870-E94D-44B7-A8BD-B9414BED210C}"/>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5 / 81</a:t>
            </a:r>
          </a:p>
        </p:txBody>
      </p:sp>
    </p:spTree>
    <p:extLst>
      <p:ext uri="{BB962C8B-B14F-4D97-AF65-F5344CB8AC3E}">
        <p14:creationId xmlns:p14="http://schemas.microsoft.com/office/powerpoint/2010/main" val="1263226086"/>
      </p:ext>
    </p:extLst>
  </p:cSld>
</p:sld>
</file>

<file path=ppt/slides/slide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39439-07E3-4DE1-BE8B-91D82E233E6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06</a:t>
            </a:r>
          </a:p>
        </p:txBody>
      </p:sp>
      <p:sp>
        <p:nvSpPr>
          <p:cNvPr id="2" name="">
            <a:extLst xmlns:a="http://schemas.openxmlformats.org/drawingml/2006/main">
              <a:ext uri="{FF2B5EF4-FFF2-40B4-BE49-F238E27FC236}">
                <a16:creationId xmlns:a16="http://schemas.microsoft.com/office/drawing/2014/main" id="{8E83B8DC-B574-42F4-AA86-00FFD02DE96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A 25-year horizon strengthens options, not precision</a:t>
            </a:r>
          </a:p>
        </p:txBody>
      </p:sp>
      <p:sp>
        <p:nvSpPr>
          <p:cNvPr id="3" name="">
            <a:extLst xmlns:a="http://schemas.openxmlformats.org/drawingml/2006/main">
              <a:ext uri="{FF2B5EF4-FFF2-40B4-BE49-F238E27FC236}">
                <a16:creationId xmlns:a16="http://schemas.microsoft.com/office/drawing/2014/main" id="{763A3E1E-2265-4E11-9A19-6D8AC67BFB88}"/>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Separate the official 2035 outlook from our conditional 2036–2051 extension.</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Period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What is evidenced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Decision rule</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2026–2030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Present operations and near-term customer tests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Repair measured bottlenecks</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2030–2035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OECD–FAO outlook; UN population paths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Choose modular capacity after contracted cash proof</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2036–2051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UN demography + chosen bounded operating paths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Refresh annually; commit against triggers</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Every stage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No guaranteed terminal franchise value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Fund closeout and replacement explicitly</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F9FE716B-31E6-4F9D-A112-C6C015F632AA}"/>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OECD · UN_WPP   |   A_OUTER · A_CAPEX</a:t>
            </a:r>
          </a:p>
        </p:txBody>
      </p:sp>
      <p:sp>
        <p:nvSpPr>
          <p:cNvPr id="6" name="">
            <a:extLst xmlns:a="http://schemas.openxmlformats.org/drawingml/2006/main">
              <a:ext uri="{FF2B5EF4-FFF2-40B4-BE49-F238E27FC236}">
                <a16:creationId xmlns:a16="http://schemas.microsoft.com/office/drawing/2014/main" id="{90266267-A64E-4E75-A897-EBE1B4732E4E}"/>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 / 81</a:t>
            </a:r>
          </a:p>
        </p:txBody>
      </p:sp>
    </p:spTree>
    <p:extLst>
      <p:ext uri="{BB962C8B-B14F-4D97-AF65-F5344CB8AC3E}">
        <p14:creationId xmlns:p14="http://schemas.microsoft.com/office/powerpoint/2010/main" val="1383832225"/>
      </p:ext>
    </p:extLst>
  </p:cSld>
</p:sld>
</file>

<file path=ppt/slides/slide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12BE31-317A-4B3E-B5FA-318F3BDDE5A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07</a:t>
            </a:r>
          </a:p>
        </p:txBody>
      </p:sp>
      <p:sp>
        <p:nvSpPr>
          <p:cNvPr id="2" name="">
            <a:extLst xmlns:a="http://schemas.openxmlformats.org/drawingml/2006/main">
              <a:ext uri="{FF2B5EF4-FFF2-40B4-BE49-F238E27FC236}">
                <a16:creationId xmlns:a16="http://schemas.microsoft.com/office/drawing/2014/main" id="{2E9AF3AB-B2ED-458D-BB6C-23180260757D}"/>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Population pathways diverge; category demand remains unmeasured</a:t>
            </a:r>
          </a:p>
        </p:txBody>
      </p:sp>
      <p:sp>
        <p:nvSpPr>
          <p:cNvPr id="3" name="">
            <a:extLst xmlns:a="http://schemas.openxmlformats.org/drawingml/2006/main">
              <a:ext uri="{FF2B5EF4-FFF2-40B4-BE49-F238E27FC236}">
                <a16:creationId xmlns:a16="http://schemas.microsoft.com/office/drawing/2014/main" id="{D6C45B8C-0426-4BB3-94DF-09A8646E90F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UN medium population projections do not imply equal per-person purchases.</a:t>
            </a:r>
          </a:p>
        </p:txBody>
      </p:sp>
      <p:graphicFrame>
        <p:nvGraphicFramePr>
          <p:cNvPr id="10" name="Chart"/>
          <p:cNvGraphicFramePr/>
          <p:nvPr/>
        </p:nvGraphicFramePr>
        <p:xfrm>
          <a:off xmlns:a="http://schemas.openxmlformats.org/drawingml/2006/main" x="609600" y="2600325"/>
          <a:ext xmlns:a="http://schemas.openxmlformats.org/drawingml/2006/main" cx="10972800" cy="3276600"/>
        </p:xfrm>
        <a:graphic xmlns:a="http://schemas.openxmlformats.org/drawingml/2006/main">
          <a:graphicData uri="http://schemas.openxmlformats.org/drawingml/2006/chart">
            <c:chart xmlns:r="http://schemas.openxmlformats.org/officeDocument/2006/relationships" xmlns:c="http://schemas.openxmlformats.org/drawingml/2006/chart" r:id="R72e62f3226ad4155"/>
          </a:graphicData>
        </a:graphic>
      </p:graphicFrame>
      <p:sp>
        <p:nvSpPr>
          <p:cNvPr id="5" name="">
            <a:extLst xmlns:a="http://schemas.openxmlformats.org/drawingml/2006/main">
              <a:ext uri="{FF2B5EF4-FFF2-40B4-BE49-F238E27FC236}">
                <a16:creationId xmlns:a16="http://schemas.microsoft.com/office/drawing/2014/main" id="{68AC9729-2AD7-4476-89D4-9AD7F834B0B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UN_WPP · WB_income_ppp · WB_urban</a:t>
            </a:r>
          </a:p>
        </p:txBody>
      </p:sp>
      <p:sp>
        <p:nvSpPr>
          <p:cNvPr id="6" name="">
            <a:extLst xmlns:a="http://schemas.openxmlformats.org/drawingml/2006/main">
              <a:ext uri="{FF2B5EF4-FFF2-40B4-BE49-F238E27FC236}">
                <a16:creationId xmlns:a16="http://schemas.microsoft.com/office/drawing/2014/main" id="{F20FD5C2-8676-49C1-8C7E-E51F74BE9D4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C-POP-NGA · C-POP-IND · C-POP-CHN · C-POP-JPN   7 / 81</a:t>
            </a:r>
          </a:p>
        </p:txBody>
      </p:sp>
    </p:spTree>
    <p:extLst>
      <p:ext uri="{BB962C8B-B14F-4D97-AF65-F5344CB8AC3E}">
        <p14:creationId xmlns:p14="http://schemas.microsoft.com/office/powerpoint/2010/main" val="958990399"/>
      </p:ext>
    </p:extLst>
  </p:cSld>
</p:sld>
</file>

<file path=ppt/slides/slide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CFF342-7507-4D90-8900-EC82D2E194C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08</a:t>
            </a:r>
          </a:p>
        </p:txBody>
      </p:sp>
      <p:sp>
        <p:nvSpPr>
          <p:cNvPr id="2" name="">
            <a:extLst xmlns:a="http://schemas.openxmlformats.org/drawingml/2006/main">
              <a:ext uri="{FF2B5EF4-FFF2-40B4-BE49-F238E27FC236}">
                <a16:creationId xmlns:a16="http://schemas.microsoft.com/office/drawing/2014/main" id="{85570B39-D325-4FB7-99CF-ABC46A222A3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Sell customer economics before asserting a nutrition premium</a:t>
            </a:r>
          </a:p>
        </p:txBody>
      </p:sp>
      <p:sp>
        <p:nvSpPr>
          <p:cNvPr id="3" name="">
            <a:extLst xmlns:a="http://schemas.openxmlformats.org/drawingml/2006/main">
              <a:ext uri="{FF2B5EF4-FFF2-40B4-BE49-F238E27FC236}">
                <a16:creationId xmlns:a16="http://schemas.microsoft.com/office/drawing/2014/main" id="{819E1A1B-3DED-492B-AC1E-D3F9B230FCF4}"/>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Health and convenience are hypotheses until customers sustain paid repeat.</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Buyer</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Testable value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Adoption constraint</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Household</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Cost per meal, cash ticket and preparation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Income, trust and availability</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Baker</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Saleable output, rejects and energy per bag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Working cash and consistency</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Industrial buyer</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Specification, traceability and delivery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Contract economics and substitution</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Feed customer</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Verified performance per animal output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Credit, formulation and biological variance</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B66A8144-D593-40D2-B497-4149549B9E24}"/>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A_PILOT · A_EXAMPLE</a:t>
            </a:r>
          </a:p>
        </p:txBody>
      </p:sp>
      <p:sp>
        <p:nvSpPr>
          <p:cNvPr id="6" name="">
            <a:extLst xmlns:a="http://schemas.openxmlformats.org/drawingml/2006/main">
              <a:ext uri="{FF2B5EF4-FFF2-40B4-BE49-F238E27FC236}">
                <a16:creationId xmlns:a16="http://schemas.microsoft.com/office/drawing/2014/main" id="{9E79AAFA-F239-4203-B28A-6A623F5D3558}"/>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C-E05 · C-E06   8 / 81</a:t>
            </a:r>
          </a:p>
        </p:txBody>
      </p:sp>
    </p:spTree>
    <p:extLst>
      <p:ext uri="{BB962C8B-B14F-4D97-AF65-F5344CB8AC3E}">
        <p14:creationId xmlns:p14="http://schemas.microsoft.com/office/powerpoint/2010/main" val="391506679"/>
      </p:ext>
    </p:extLst>
  </p:cSld>
</p:sld>
</file>

<file path=ppt/slides/slide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716D68-E090-4347-805C-118EF46281E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09</a:t>
            </a:r>
          </a:p>
        </p:txBody>
      </p:sp>
      <p:sp>
        <p:nvSpPr>
          <p:cNvPr id="2" name="">
            <a:extLst xmlns:a="http://schemas.openxmlformats.org/drawingml/2006/main">
              <a:ext uri="{FF2B5EF4-FFF2-40B4-BE49-F238E27FC236}">
                <a16:creationId xmlns:a16="http://schemas.microsoft.com/office/drawing/2014/main" id="{B5E39975-5B57-4F77-9567-EA11CC94056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Country averages cannot price asset-level climate exposure</a:t>
            </a:r>
          </a:p>
        </p:txBody>
      </p:sp>
      <p:sp>
        <p:nvSpPr>
          <p:cNvPr id="3" name="">
            <a:extLst xmlns:a="http://schemas.openxmlformats.org/drawingml/2006/main">
              <a:ext uri="{FF2B5EF4-FFF2-40B4-BE49-F238E27FC236}">
                <a16:creationId xmlns:a16="http://schemas.microsoft.com/office/drawing/2014/main" id="{6C1A7E96-BA7A-43A7-80C7-85D8121AA788}"/>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Map crop, basin, route and facility hazards before estimating damage or adaptation returns.</a:t>
            </a:r>
          </a:p>
        </p:txBody>
      </p:sp>
      <p:graphicFrame>
        <p:nvGraphicFramePr>
          <p:cNvPr id="11" name=""/>
          <p:cNvGraphicFramePr/>
          <p:nvPr/>
        </p:nvGraphicFramePr>
        <p:xfrm>
          <a:off xmlns:a="http://schemas.openxmlformats.org/drawingml/2006/main" x="609600" y="2505075"/>
          <a:ext xmlns:a="http://schemas.openxmlformats.org/drawingml/2006/main" cx="10972800" cy="2143125"/>
        </p:xfrm>
        <a:graphic xmlns:a="http://schemas.openxmlformats.org/drawingml/2006/main">
          <a:graphicData uri="http://schemas.openxmlformats.org/drawingml/2006/table">
            <a:tbl>
              <a:tblPr/>
              <a:tblGrid>
                <a:gridCol w="3429000"/>
                <a:gridCol w="7543800"/>
              </a:tblGrid>
              <a:tr h="535781">
                <a:tc>
                  <a:txBody>
                    <a:bodyPr/>
                    <a:lstStyle/>
                    <a:p>
                      <a:r>
                        <a:rPr sz="1050" b="1">
                          <a:solidFill>
                            <a:srgbClr val="49624F"/>
                          </a:solidFill>
                          <a:latin typeface="DejaVu Sans"/>
                          <a:ea typeface="DejaVu Sans"/>
                          <a:cs typeface="DejaVu Sans"/>
                        </a:rPr>
                        <a:t>Exposure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Response to test</a:t>
                      </a:r>
                    </a:p>
                  </a:txBody>
                  <a:tcPr marL="114300" marR="114300" marT="76200" marB="76200" anchor="t">
                    <a:solidFill>
                      <a:srgbClr val="E7EEE4"/>
                    </a:solidFill>
                  </a:tcPr>
                </a:tc>
              </a:tr>
              <a:tr h="535781">
                <a:tc>
                  <a:txBody>
                    <a:bodyPr/>
                    <a:lstStyle/>
                    <a:p>
                      <a:r>
                        <a:rPr sz="1275">
                          <a:solidFill>
                            <a:srgbClr val="183B2A"/>
                          </a:solidFill>
                          <a:latin typeface="DejaVu Sans"/>
                          <a:ea typeface="DejaVu Sans"/>
                          <a:cs typeface="DejaVu Sans"/>
                        </a:rPr>
                        <a:t>Common harvest + port stress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Alternate origin with genuinely different exposure</a:t>
                      </a:r>
                    </a:p>
                  </a:txBody>
                  <a:tcPr marL="114300" marR="114300" marT="76200" marB="76200" anchor="t">
                    <a:solidFill>
                      <a:srgbClr val="FFFEF9"/>
                    </a:solidFill>
                  </a:tcPr>
                </a:tc>
              </a:tr>
              <a:tr h="535781">
                <a:tc>
                  <a:txBody>
                    <a:bodyPr/>
                    <a:lstStyle/>
                    <a:p>
                      <a:r>
                        <a:rPr sz="1275">
                          <a:solidFill>
                            <a:srgbClr val="183B2A"/>
                          </a:solidFill>
                          <a:latin typeface="DejaVu Sans"/>
                          <a:ea typeface="DejaVu Sans"/>
                          <a:cs typeface="DejaVu Sans"/>
                        </a:rPr>
                        <a:t>Water constraints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Basin-specific supplier practices and verified savings</a:t>
                      </a:r>
                    </a:p>
                  </a:txBody>
                  <a:tcPr marL="114300" marR="114300" marT="76200" marB="76200" anchor="t">
                    <a:solidFill>
                      <a:srgbClr val="FFFEF9"/>
                    </a:solidFill>
                  </a:tcPr>
                </a:tc>
              </a:tr>
              <a:tr h="535781">
                <a:tc>
                  <a:txBody>
                    <a:bodyPr/>
                    <a:lstStyle/>
                    <a:p>
                      <a:r>
                        <a:rPr sz="1275">
                          <a:solidFill>
                            <a:srgbClr val="183B2A"/>
                          </a:solidFill>
                          <a:latin typeface="DejaVu Sans"/>
                          <a:ea typeface="DejaVu Sans"/>
                          <a:cs typeface="DejaVu Sans"/>
                        </a:rPr>
                        <a:t>Flood/heat asset downtime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Maintenance, redundancy and insurance economics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D8970864-7E24-4FF7-A784-832924DB3A2E}"/>
              </a:ext>
            </a:extLst>
          </p:cNvPr>
          <p:cNvSpPr>
            <a:spLocks xmlns:a="http://schemas.openxmlformats.org/drawingml/2006/main" noGrp="1"/>
          </p:cNvSpPr>
          <p:nvPr/>
        </p:nvSpPr>
        <p:spPr>
          <a:xfrm xmlns:a="http://schemas.openxmlformats.org/drawingml/2006/main">
            <a:off x="609600" y="4857750"/>
            <a:ext cx="10972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IPCC supports physical risk mechanisms; WMO global indicators do not yield local output losses.</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Water-stress observations help diligence, but suppliers may draw from different basins.</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Require crop calendars, asset coordinates, downscaled hazards, adaptation cost and service losses.</a:t>
            </a:r>
          </a:p>
        </p:txBody>
      </p:sp>
      <p:sp>
        <p:nvSpPr>
          <p:cNvPr id="6" name="">
            <a:extLst xmlns:a="http://schemas.openxmlformats.org/drawingml/2006/main">
              <a:ext uri="{FF2B5EF4-FFF2-40B4-BE49-F238E27FC236}">
                <a16:creationId xmlns:a16="http://schemas.microsoft.com/office/drawing/2014/main" id="{2782312A-3B2F-4415-969B-9DD5BB962E5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IPCC · WMO · WB_water_stress   |   A_SCENARIO</a:t>
            </a:r>
          </a:p>
        </p:txBody>
      </p:sp>
      <p:sp>
        <p:nvSpPr>
          <p:cNvPr id="7" name="">
            <a:extLst xmlns:a="http://schemas.openxmlformats.org/drawingml/2006/main">
              <a:ext uri="{FF2B5EF4-FFF2-40B4-BE49-F238E27FC236}">
                <a16:creationId xmlns:a16="http://schemas.microsoft.com/office/drawing/2014/main" id="{3D8F0C54-C3BE-4851-AD29-C857C2D4EE3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9 / 81</a:t>
            </a:r>
          </a:p>
        </p:txBody>
      </p:sp>
    </p:spTree>
    <p:extLst>
      <p:ext uri="{BB962C8B-B14F-4D97-AF65-F5344CB8AC3E}">
        <p14:creationId xmlns:p14="http://schemas.microsoft.com/office/powerpoint/2010/main" val="686028556"/>
      </p:ext>
    </p:extLst>
  </p:cSld>
</p:sld>
</file>

<file path=ppt/slides/slide1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4D1111-1199-4BB7-9073-571445F1278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10</a:t>
            </a:r>
          </a:p>
        </p:txBody>
      </p:sp>
      <p:sp>
        <p:nvSpPr>
          <p:cNvPr id="2" name="">
            <a:extLst xmlns:a="http://schemas.openxmlformats.org/drawingml/2006/main">
              <a:ext uri="{FF2B5EF4-FFF2-40B4-BE49-F238E27FC236}">
                <a16:creationId xmlns:a16="http://schemas.microsoft.com/office/drawing/2014/main" id="{6BE1373B-D727-4852-96CC-8C7FBEB60017}"/>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A large import bill is neither accessible demand nor Olam revenue</a:t>
            </a:r>
          </a:p>
        </p:txBody>
      </p:sp>
      <p:sp>
        <p:nvSpPr>
          <p:cNvPr id="3" name="">
            <a:extLst xmlns:a="http://schemas.openxmlformats.org/drawingml/2006/main">
              <a:ext uri="{FF2B5EF4-FFF2-40B4-BE49-F238E27FC236}">
                <a16:creationId xmlns:a16="http://schemas.microsoft.com/office/drawing/2014/main" id="{E6C961EA-9FCA-40E7-966E-60D088573465}"/>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Routes require product-level permissions, quality, landed spreads and counterparties.</a:t>
            </a:r>
          </a:p>
        </p:txBody>
      </p:sp>
      <p:sp>
        <p:nvSpPr>
          <p:cNvPr id="4" name="">
            <a:extLst xmlns:a="http://schemas.openxmlformats.org/drawingml/2006/main">
              <a:ext uri="{FF2B5EF4-FFF2-40B4-BE49-F238E27FC236}">
                <a16:creationId xmlns:a16="http://schemas.microsoft.com/office/drawing/2014/main" id="{CF0A6A28-5D48-4020-B9B4-57D1AD0AD4DA}"/>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Nigeria wheat preview: 2024 CIF value about USD1.0475 bn; missing net weight prevents a credible tonnes/unit-price calculation.</a:t>
            </a:r>
          </a:p>
        </p:txBody>
      </p:sp>
      <p:sp>
        <p:nvSpPr>
          <p:cNvPr id="5" name="">
            <a:extLst xmlns:a="http://schemas.openxmlformats.org/drawingml/2006/main">
              <a:ext uri="{FF2B5EF4-FFF2-40B4-BE49-F238E27FC236}">
                <a16:creationId xmlns:a16="http://schemas.microsoft.com/office/drawing/2014/main" id="{0946A2AD-D27E-4B6A-95CF-C5F08769774C}"/>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Comtrade aggregation and reporting flags remain visible. A quantity field of zero with an unspecified unit is not zero imports.</a:t>
            </a:r>
          </a:p>
        </p:txBody>
      </p:sp>
      <p:sp>
        <p:nvSpPr>
          <p:cNvPr id="6" name="">
            <a:extLst xmlns:a="http://schemas.openxmlformats.org/drawingml/2006/main">
              <a:ext uri="{FF2B5EF4-FFF2-40B4-BE49-F238E27FC236}">
                <a16:creationId xmlns:a16="http://schemas.microsoft.com/office/drawing/2014/main" id="{0D9F930C-74AB-4A88-9C83-483823618968}"/>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Sanctions, export restrictions, duties, EUDR and documentation are gates, not scalar scores.</a:t>
            </a:r>
          </a:p>
        </p:txBody>
      </p:sp>
      <p:sp>
        <p:nvSpPr>
          <p:cNvPr id="7" name="">
            <a:extLst xmlns:a="http://schemas.openxmlformats.org/drawingml/2006/main">
              <a:ext uri="{FF2B5EF4-FFF2-40B4-BE49-F238E27FC236}">
                <a16:creationId xmlns:a16="http://schemas.microsoft.com/office/drawing/2014/main" id="{18497E7C-0898-4A16-BDE9-BE39ADF3F382}"/>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COMTRADE · EUDR · USDA_NGA · USDA_OIL</a:t>
            </a:r>
          </a:p>
        </p:txBody>
      </p:sp>
      <p:sp>
        <p:nvSpPr>
          <p:cNvPr id="8" name="">
            <a:extLst xmlns:a="http://schemas.openxmlformats.org/drawingml/2006/main">
              <a:ext uri="{FF2B5EF4-FFF2-40B4-BE49-F238E27FC236}">
                <a16:creationId xmlns:a16="http://schemas.microsoft.com/office/drawing/2014/main" id="{B526EADC-1B46-47F9-A834-907D819638B4}"/>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C-TRADE-NGA   10 / 81</a:t>
            </a:r>
          </a:p>
        </p:txBody>
      </p:sp>
    </p:spTree>
    <p:extLst>
      <p:ext uri="{BB962C8B-B14F-4D97-AF65-F5344CB8AC3E}">
        <p14:creationId xmlns:p14="http://schemas.microsoft.com/office/powerpoint/2010/main" val="1169144563"/>
      </p:ext>
    </p:extLst>
  </p:cSld>
</p:sld>
</file>

<file path=ppt/slides/slide1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9347D1-7CCB-469F-93EE-E7D043601F8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11</a:t>
            </a:r>
          </a:p>
        </p:txBody>
      </p:sp>
      <p:sp>
        <p:nvSpPr>
          <p:cNvPr id="2" name="">
            <a:extLst xmlns:a="http://schemas.openxmlformats.org/drawingml/2006/main">
              <a:ext uri="{FF2B5EF4-FFF2-40B4-BE49-F238E27FC236}">
                <a16:creationId xmlns:a16="http://schemas.microsoft.com/office/drawing/2014/main" id="{77E876F4-BB74-44B5-95A0-A90028615E63}"/>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Each value chain needs its own offer and cash model</a:t>
            </a:r>
          </a:p>
        </p:txBody>
      </p:sp>
      <p:sp>
        <p:nvSpPr>
          <p:cNvPr id="3" name="">
            <a:extLst xmlns:a="http://schemas.openxmlformats.org/drawingml/2006/main">
              <a:ext uri="{FF2B5EF4-FFF2-40B4-BE49-F238E27FC236}">
                <a16:creationId xmlns:a16="http://schemas.microsoft.com/office/drawing/2014/main" id="{3BE174EE-4FC0-43A3-98EF-AE4CD124110E}"/>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June-2026 disclosed scope includes food, feed and non-food agricultural products.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555625">
                <a:tc>
                  <a:txBody>
                    <a:bodyPr/>
                    <a:lstStyle/>
                    <a:p>
                      <a:r>
                        <a:rPr sz="1050" b="1">
                          <a:solidFill>
                            <a:srgbClr val="49624F"/>
                          </a:solidFill>
                          <a:latin typeface="DejaVu Sans"/>
                          <a:ea typeface="DejaVu Sans"/>
                          <a:cs typeface="DejaVu Sans"/>
                        </a:rPr>
                        <a:t>Value chain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Initial commercial mechanism</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Key test</a:t>
                      </a:r>
                    </a:p>
                  </a:txBody>
                  <a:tcPr marL="114300" marR="114300" marT="76200" marB="76200" anchor="t">
                    <a:solidFill>
                      <a:srgbClr val="E7EEE4"/>
                    </a:solidFill>
                  </a:tcPr>
                </a:tc>
              </a:tr>
              <a:tr h="555625">
                <a:tc>
                  <a:txBody>
                    <a:bodyPr/>
                    <a:lstStyle/>
                    <a:p>
                      <a:r>
                        <a:rPr sz="1200">
                          <a:solidFill>
                            <a:srgbClr val="183B2A"/>
                          </a:solidFill>
                          <a:latin typeface="DejaVu Sans"/>
                          <a:ea typeface="DejaVu Sans"/>
                          <a:cs typeface="DejaVu Sans"/>
                        </a:rPr>
                        <a:t>Grains, rice, wheat milling/pasta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Quality, usable yield and reliable delivery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Landed spread + repeat</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Edible oils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Local cash ticket and verified refining economics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Crude/refined HS + conversion</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Feed/protein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Performance-based technical service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Buyer margin + biology</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Cotton, wood, rubber</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Specification, traceability, industrial contracts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Eligibility + funding</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Sugar/biofuel</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Conditional scope in June factsheet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Current perimeter + policy + process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0C2DA412-3237-4BDA-B558-BA7B4FDF5EA3}"/>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CO_FACT · CO_ABOUT</a:t>
            </a:r>
          </a:p>
        </p:txBody>
      </p:sp>
      <p:sp>
        <p:nvSpPr>
          <p:cNvPr id="6" name="">
            <a:extLst xmlns:a="http://schemas.openxmlformats.org/drawingml/2006/main">
              <a:ext uri="{FF2B5EF4-FFF2-40B4-BE49-F238E27FC236}">
                <a16:creationId xmlns:a16="http://schemas.microsoft.com/office/drawing/2014/main" id="{155DA625-4D50-4490-86B2-74424DA1925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11 / 81</a:t>
            </a:r>
          </a:p>
        </p:txBody>
      </p:sp>
    </p:spTree>
    <p:extLst>
      <p:ext uri="{BB962C8B-B14F-4D97-AF65-F5344CB8AC3E}">
        <p14:creationId xmlns:p14="http://schemas.microsoft.com/office/powerpoint/2010/main" val="17704408"/>
      </p:ext>
    </p:extLst>
  </p:cSld>
</p:sld>
</file>

<file path=ppt/slides/slide1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41BF65-98FA-42A1-B523-8E67DFA5A2F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12</a:t>
            </a:r>
          </a:p>
        </p:txBody>
      </p:sp>
      <p:sp>
        <p:nvSpPr>
          <p:cNvPr id="2" name="">
            <a:extLst xmlns:a="http://schemas.openxmlformats.org/drawingml/2006/main">
              <a:ext uri="{FF2B5EF4-FFF2-40B4-BE49-F238E27FC236}">
                <a16:creationId xmlns:a16="http://schemas.microsoft.com/office/drawing/2014/main" id="{4358D3AD-FCDA-4779-B860-FC98E8B990B7}"/>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All 195 countries have a disposition; none has an internal-data valuation</a:t>
            </a:r>
          </a:p>
        </p:txBody>
      </p:sp>
      <p:sp>
        <p:nvSpPr>
          <p:cNvPr id="3" name="">
            <a:extLst xmlns:a="http://schemas.openxmlformats.org/drawingml/2006/main">
              <a:ext uri="{FF2B5EF4-FFF2-40B4-BE49-F238E27FC236}">
                <a16:creationId xmlns:a16="http://schemas.microsoft.com/office/drawing/2014/main" id="{D55763FC-27DA-43F8-99A3-D1D4A82AF68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162 countries have all 11 macro fields available at some date; this is not investment readiness.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Coverage test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Result</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UN members + observer states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193 + 2 = 195</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Country × scenario × milestone rows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195 × 6 × 7 = 8,190</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Priority diligence dossiers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Investment-grade country cases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0</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Remaining countries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Watch, existing-operation review, defer or no standalone asset proposal</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4CDC425E-BDE4-4EE6-B84B-9004CB7CD23A}"/>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UN_M49 · UN_WPP</a:t>
            </a:r>
          </a:p>
        </p:txBody>
      </p:sp>
      <p:sp>
        <p:nvSpPr>
          <p:cNvPr id="6" name="">
            <a:extLst xmlns:a="http://schemas.openxmlformats.org/drawingml/2006/main">
              <a:ext uri="{FF2B5EF4-FFF2-40B4-BE49-F238E27FC236}">
                <a16:creationId xmlns:a16="http://schemas.microsoft.com/office/drawing/2014/main" id="{7E8A96FA-AAE4-4475-998D-B547965612EB}"/>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C-COVERAGE   12 / 81</a:t>
            </a:r>
          </a:p>
        </p:txBody>
      </p:sp>
    </p:spTree>
    <p:extLst>
      <p:ext uri="{BB962C8B-B14F-4D97-AF65-F5344CB8AC3E}">
        <p14:creationId xmlns:p14="http://schemas.microsoft.com/office/powerpoint/2010/main" val="17899659"/>
      </p:ext>
    </p:extLst>
  </p:cSld>
</p:sld>
</file>

<file path=ppt/slides/slide1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A9ED7E-106C-4964-BF26-862B56D4397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13</a:t>
            </a:r>
          </a:p>
        </p:txBody>
      </p:sp>
      <p:sp>
        <p:nvSpPr>
          <p:cNvPr id="2" name="">
            <a:extLst xmlns:a="http://schemas.openxmlformats.org/drawingml/2006/main">
              <a:ext uri="{FF2B5EF4-FFF2-40B4-BE49-F238E27FC236}">
                <a16:creationId xmlns:a16="http://schemas.microsoft.com/office/drawing/2014/main" id="{20DDC20E-C70E-49FF-BEB1-C5D07145CB3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Choose ten diligence cases, with distinct operating reasons</a:t>
            </a:r>
          </a:p>
        </p:txBody>
      </p:sp>
      <p:sp>
        <p:nvSpPr>
          <p:cNvPr id="3" name="">
            <a:extLst xmlns:a="http://schemas.openxmlformats.org/drawingml/2006/main">
              <a:ext uri="{FF2B5EF4-FFF2-40B4-BE49-F238E27FC236}">
                <a16:creationId xmlns:a16="http://schemas.microsoft.com/office/drawing/2014/main" id="{B55429A8-07E2-43D5-B67F-C8238D673008}"/>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These are evidence priorities, not a numerical attractiveness ranking.</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555625">
                <a:tc>
                  <a:txBody>
                    <a:bodyPr/>
                    <a:lstStyle/>
                    <a:p>
                      <a:r>
                        <a:rPr sz="1050" b="1">
                          <a:solidFill>
                            <a:srgbClr val="49624F"/>
                          </a:solidFill>
                          <a:latin typeface="DejaVu Sans"/>
                          <a:ea typeface="DejaVu Sans"/>
                          <a:cs typeface="DejaVu Sans"/>
                        </a:rPr>
                        <a:t>Markets</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Product / mode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Next falsifier</a:t>
                      </a:r>
                    </a:p>
                  </a:txBody>
                  <a:tcPr marL="114300" marR="114300" marT="76200" marB="76200" anchor="t">
                    <a:solidFill>
                      <a:srgbClr val="E7EEE4"/>
                    </a:solidFill>
                  </a:tcPr>
                </a:tc>
              </a:tr>
              <a:tr h="555625">
                <a:tc>
                  <a:txBody>
                    <a:bodyPr/>
                    <a:lstStyle/>
                    <a:p>
                      <a:r>
                        <a:rPr sz="1200">
                          <a:solidFill>
                            <a:srgbClr val="183B2A"/>
                          </a:solidFill>
                          <a:latin typeface="DejaVu Sans"/>
                          <a:ea typeface="DejaVu Sans"/>
                          <a:cs typeface="DejaVu Sans"/>
                        </a:rPr>
                        <a:t>Nigeria, Ghana, Senegal</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Semolina/oils; flour/pasta/feed service pilot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Customer and route contribution</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Cameroon, Mozambique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Flour/rice/oils distribution pilot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Credit, resilience and cash ticket</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South Africa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B2B grains/oils contract trial</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Quality-adjusted landed spread</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India, Vietnam, Brazil</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Rice or grains/oilseeds origination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Supplier, basin and delivered cash</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Saudi Arabia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Bankable commercial offtake diligence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Buyer commitment; no ownership-derived order</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FC5B5B7C-3F47-4863-9E81-4F61AF8E338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CO_NGA · CO_GHA · CO_SEN · CO_CMR · CO_MOZ · CO_ZAF · CO_IND · CO_VNM · CO_BRA · CO_FACT   |   A_TEMPLATE</a:t>
            </a:r>
          </a:p>
        </p:txBody>
      </p:sp>
      <p:sp>
        <p:nvSpPr>
          <p:cNvPr id="6" name="">
            <a:extLst xmlns:a="http://schemas.openxmlformats.org/drawingml/2006/main">
              <a:ext uri="{FF2B5EF4-FFF2-40B4-BE49-F238E27FC236}">
                <a16:creationId xmlns:a16="http://schemas.microsoft.com/office/drawing/2014/main" id="{A495609E-98DC-460B-8CA5-FB5EF8074FC4}"/>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13 / 81</a:t>
            </a:r>
          </a:p>
        </p:txBody>
      </p:sp>
    </p:spTree>
    <p:extLst>
      <p:ext uri="{BB962C8B-B14F-4D97-AF65-F5344CB8AC3E}">
        <p14:creationId xmlns:p14="http://schemas.microsoft.com/office/powerpoint/2010/main" val="303994147"/>
      </p:ext>
    </p:extLst>
  </p:cSld>
</p:sld>
</file>

<file path=ppt/slides/slide1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3E019F-C4C2-4F8D-B2B5-39925FFFB0A9}"/>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14</a:t>
            </a:r>
          </a:p>
        </p:txBody>
      </p:sp>
      <p:sp>
        <p:nvSpPr>
          <p:cNvPr id="2" name="">
            <a:extLst xmlns:a="http://schemas.openxmlformats.org/drawingml/2006/main">
              <a:ext uri="{FF2B5EF4-FFF2-40B4-BE49-F238E27FC236}">
                <a16:creationId xmlns:a16="http://schemas.microsoft.com/office/drawing/2014/main" id="{4DF28A27-C1B6-42BD-8139-27DBB708582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Managed transition is a planning convention, not the most likely future</a:t>
            </a:r>
          </a:p>
        </p:txBody>
      </p:sp>
      <p:sp>
        <p:nvSpPr>
          <p:cNvPr id="3" name="">
            <a:extLst xmlns:a="http://schemas.openxmlformats.org/drawingml/2006/main">
              <a:ext uri="{FF2B5EF4-FFF2-40B4-BE49-F238E27FC236}">
                <a16:creationId xmlns:a16="http://schemas.microsoft.com/office/drawing/2014/main" id="{26B7D839-A33E-4A2D-BE40-B2F747E6F898}"/>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Customer orders, capacity, stocks and taxes drive a finite real-USD example.</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Illustrative owned-processing input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Managed case</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Orders / physical capacity</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100,000 / 150,000 tonnes per year</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Price / variable cost</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$400 / $340 per tonne</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Capex / fixed cash cost</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$20 m / $2 m per year</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Ramp / growth</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50%, 80%, 100%; 1.5%, then 0.75%</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Hurdle / tax convention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 real USD / 25% with loss carryforward</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E26A7A45-B016-4A2F-82D9-341215459B2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 · A_RATE · A_TAX · A_OUTER · A_CAPEX</a:t>
            </a:r>
          </a:p>
        </p:txBody>
      </p:sp>
      <p:sp>
        <p:nvSpPr>
          <p:cNvPr id="6" name="">
            <a:extLst xmlns:a="http://schemas.openxmlformats.org/drawingml/2006/main">
              <a:ext uri="{FF2B5EF4-FFF2-40B4-BE49-F238E27FC236}">
                <a16:creationId xmlns:a16="http://schemas.microsoft.com/office/drawing/2014/main" id="{E4206DE5-4113-4CF8-BD07-8569C32C13B1}"/>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C-DCF-plant-managed   14 / 81</a:t>
            </a:r>
          </a:p>
        </p:txBody>
      </p:sp>
    </p:spTree>
    <p:extLst>
      <p:ext uri="{BB962C8B-B14F-4D97-AF65-F5344CB8AC3E}">
        <p14:creationId xmlns:p14="http://schemas.microsoft.com/office/powerpoint/2010/main" val="395479049"/>
      </p:ext>
    </p:extLst>
  </p:cSld>
</p:sld>
</file>

<file path=ppt/slides/slide1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337F29-5BB1-4B77-A449-BFC58A7F37A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15</a:t>
            </a:r>
          </a:p>
        </p:txBody>
      </p:sp>
      <p:sp>
        <p:nvSpPr>
          <p:cNvPr id="2" name="">
            <a:extLst xmlns:a="http://schemas.openxmlformats.org/drawingml/2006/main">
              <a:ext uri="{FF2B5EF4-FFF2-40B4-BE49-F238E27FC236}">
                <a16:creationId xmlns:a16="http://schemas.microsoft.com/office/drawing/2014/main" id="{7D980A5D-4936-4B9F-916B-9B049798E6E9}"/>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Six coherent worlds alter both customers and the cash cycle</a:t>
            </a:r>
          </a:p>
        </p:txBody>
      </p:sp>
      <p:sp>
        <p:nvSpPr>
          <p:cNvPr id="3" name="">
            <a:extLst xmlns:a="http://schemas.openxmlformats.org/drawingml/2006/main">
              <a:ext uri="{FF2B5EF4-FFF2-40B4-BE49-F238E27FC236}">
                <a16:creationId xmlns:a16="http://schemas.microsoft.com/office/drawing/2014/main" id="{8DB2499E-6E5E-41B3-B599-6682B0097CE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No calibrated probability is assigned to any complete 25-year path.</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191000"/>
                <a:gridCol w="2190750"/>
                <a:gridCol w="2190750"/>
                <a:gridCol w="2400300"/>
              </a:tblGrid>
              <a:tr h="476250">
                <a:tc>
                  <a:txBody>
                    <a:bodyPr/>
                    <a:lstStyle/>
                    <a:p>
                      <a:r>
                        <a:rPr sz="1050" b="1">
                          <a:solidFill>
                            <a:srgbClr val="49624F"/>
                          </a:solidFill>
                          <a:latin typeface="DejaVu Sans"/>
                          <a:ea typeface="DejaVu Sans"/>
                          <a:cs typeface="DejaVu Sans"/>
                        </a:rPr>
                        <a:t>World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Order factor</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Unit cost factor</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Cash-days / hurdle</a:t>
                      </a:r>
                    </a:p>
                  </a:txBody>
                  <a:tcPr marL="114300" marR="114300" marT="76200" marB="76200" anchor="t">
                    <a:solidFill>
                      <a:srgbClr val="E7EEE4"/>
                    </a:solidFill>
                  </a:tcPr>
                </a:tc>
              </a:tr>
              <a:tr h="476250">
                <a:tc>
                  <a:txBody>
                    <a:bodyPr/>
                    <a:lstStyle/>
                    <a:p>
                      <a:r>
                        <a:rPr sz="1200">
                          <a:solidFill>
                            <a:srgbClr val="183B2A"/>
                          </a:solidFill>
                          <a:latin typeface="DejaVu Sans"/>
                          <a:ea typeface="DejaVu Sans"/>
                          <a:cs typeface="DejaVu Sans"/>
                        </a:rPr>
                        <a:t>Managed transition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 / 10%</a:t>
                      </a:r>
                    </a:p>
                  </a:txBody>
                  <a:tcPr marL="114300" marR="114300" marT="76200" marB="76200" anchor="t">
                    <a:solidFill>
                      <a:srgbClr val="FFFEF9"/>
                    </a:solidFill>
                  </a:tcPr>
                </a:tc>
              </a:tr>
              <a:tr h="476250">
                <a:tc>
                  <a:txBody>
                    <a:bodyPr/>
                    <a:lstStyle/>
                    <a:p>
                      <a:r>
                        <a:rPr sz="1200">
                          <a:solidFill>
                            <a:srgbClr val="183B2A"/>
                          </a:solidFill>
                          <a:latin typeface="DejaVu Sans"/>
                          <a:ea typeface="DejaVu Sans"/>
                          <a:cs typeface="DejaVu Sans"/>
                        </a:rPr>
                        <a:t>Productive integration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1.12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0.985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-5 / 9%</a:t>
                      </a:r>
                    </a:p>
                  </a:txBody>
                  <a:tcPr marL="114300" marR="114300" marT="76200" marB="76200" anchor="t">
                    <a:solidFill>
                      <a:srgbClr val="FFFEF9"/>
                    </a:solidFill>
                  </a:tcPr>
                </a:tc>
              </a:tr>
              <a:tr h="476250">
                <a:tc>
                  <a:txBody>
                    <a:bodyPr/>
                    <a:lstStyle/>
                    <a:p>
                      <a:r>
                        <a:rPr sz="1200">
                          <a:solidFill>
                            <a:srgbClr val="183B2A"/>
                          </a:solidFill>
                          <a:latin typeface="DejaVu Sans"/>
                          <a:ea typeface="DejaVu Sans"/>
                          <a:cs typeface="DejaVu Sans"/>
                        </a:rPr>
                        <a:t>Fragmented trade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0.9</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1.07</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+15 / 12%</a:t>
                      </a:r>
                    </a:p>
                  </a:txBody>
                  <a:tcPr marL="114300" marR="114300" marT="76200" marB="76200" anchor="t">
                    <a:solidFill>
                      <a:srgbClr val="FFFEF9"/>
                    </a:solidFill>
                  </a:tcPr>
                </a:tc>
              </a:tr>
              <a:tr h="476250">
                <a:tc>
                  <a:txBody>
                    <a:bodyPr/>
                    <a:lstStyle/>
                    <a:p>
                      <a:r>
                        <a:rPr sz="1200">
                          <a:solidFill>
                            <a:srgbClr val="183B2A"/>
                          </a:solidFill>
                          <a:latin typeface="DejaVu Sans"/>
                          <a:ea typeface="DejaVu Sans"/>
                          <a:cs typeface="DejaVu Sans"/>
                        </a:rPr>
                        <a:t>Compound physical stress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0.82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1.15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+25 / 12%</a:t>
                      </a:r>
                    </a:p>
                  </a:txBody>
                  <a:tcPr marL="114300" marR="114300" marT="76200" marB="76200" anchor="t">
                    <a:solidFill>
                      <a:srgbClr val="FFFEF9"/>
                    </a:solidFill>
                  </a:tcPr>
                </a:tc>
              </a:tr>
              <a:tr h="476250">
                <a:tc>
                  <a:txBody>
                    <a:bodyPr/>
                    <a:lstStyle/>
                    <a:p>
                      <a:r>
                        <a:rPr sz="1200">
                          <a:solidFill>
                            <a:srgbClr val="183B2A"/>
                          </a:solidFill>
                          <a:latin typeface="DejaVu Sans"/>
                          <a:ea typeface="DejaVu Sans"/>
                          <a:cs typeface="DejaVu Sans"/>
                        </a:rPr>
                        <a:t>Affordability and debt squeeze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0.82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1.04</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+20 / 14%</a:t>
                      </a:r>
                    </a:p>
                  </a:txBody>
                  <a:tcPr marL="114300" marR="114300" marT="76200" marB="76200" anchor="t">
                    <a:solidFill>
                      <a:srgbClr val="FFFEF9"/>
                    </a:solidFill>
                  </a:tcPr>
                </a:tc>
              </a:tr>
              <a:tr h="476250">
                <a:tc>
                  <a:txBody>
                    <a:bodyPr/>
                    <a:lstStyle/>
                    <a:p>
                      <a:r>
                        <a:rPr sz="1200">
                          <a:solidFill>
                            <a:srgbClr val="183B2A"/>
                          </a:solidFill>
                          <a:latin typeface="DejaVu Sans"/>
                          <a:ea typeface="DejaVu Sans"/>
                          <a:cs typeface="DejaVu Sans"/>
                        </a:rPr>
                        <a:t>Nutrition and resource transition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1.03</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+5 / 10%</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C02B4E2C-60B0-4F12-92ED-1E5DE669CE0A}"/>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A_SCENARIO · A_RATE</a:t>
            </a:r>
          </a:p>
        </p:txBody>
      </p:sp>
      <p:sp>
        <p:nvSpPr>
          <p:cNvPr id="6" name="">
            <a:extLst xmlns:a="http://schemas.openxmlformats.org/drawingml/2006/main">
              <a:ext uri="{FF2B5EF4-FFF2-40B4-BE49-F238E27FC236}">
                <a16:creationId xmlns:a16="http://schemas.microsoft.com/office/drawing/2014/main" id="{74212B5B-DCFF-44F9-81BF-6FDF16F4E34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C-SCENARIOS   15 / 81</a:t>
            </a:r>
          </a:p>
        </p:txBody>
      </p:sp>
    </p:spTree>
    <p:extLst>
      <p:ext uri="{BB962C8B-B14F-4D97-AF65-F5344CB8AC3E}">
        <p14:creationId xmlns:p14="http://schemas.microsoft.com/office/powerpoint/2010/main" val="111530246"/>
      </p:ext>
    </p:extLst>
  </p:cSld>
</p:sld>
</file>

<file path=ppt/slides/slide1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F62FF2-9E4E-46A3-A213-70AB7585757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16</a:t>
            </a:r>
          </a:p>
        </p:txBody>
      </p:sp>
      <p:sp>
        <p:nvSpPr>
          <p:cNvPr id="2" name="">
            <a:extLst xmlns:a="http://schemas.openxmlformats.org/drawingml/2006/main">
              <a:ext uri="{FF2B5EF4-FFF2-40B4-BE49-F238E27FC236}">
                <a16:creationId xmlns:a16="http://schemas.microsoft.com/office/drawing/2014/main" id="{05CA7DF1-65F3-4395-A0A9-950927F6AE5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No fixed project survives every tested world without adaptation</a:t>
            </a:r>
          </a:p>
        </p:txBody>
      </p:sp>
      <p:sp>
        <p:nvSpPr>
          <p:cNvPr id="3" name="">
            <a:extLst xmlns:a="http://schemas.openxmlformats.org/drawingml/2006/main">
              <a:ext uri="{FF2B5EF4-FFF2-40B4-BE49-F238E27FC236}">
                <a16:creationId xmlns:a16="http://schemas.microsoft.com/office/drawing/2014/main" id="{DA203818-35DD-4C09-ABE1-7AE8A71CDD5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The financial model deliberately continues fixed commitments to expose failure.</a:t>
            </a:r>
          </a:p>
        </p:txBody>
      </p:sp>
      <p:graphicFrame>
        <p:nvGraphicFramePr>
          <p:cNvPr id="10" name="Chart"/>
          <p:cNvGraphicFramePr/>
          <p:nvPr/>
        </p:nvGraphicFramePr>
        <p:xfrm>
          <a:off xmlns:a="http://schemas.openxmlformats.org/drawingml/2006/main" x="609600" y="2600325"/>
          <a:ext xmlns:a="http://schemas.openxmlformats.org/drawingml/2006/main" cx="10972800" cy="3276600"/>
        </p:xfrm>
        <a:graphic xmlns:a="http://schemas.openxmlformats.org/drawingml/2006/main">
          <a:graphicData uri="http://schemas.openxmlformats.org/drawingml/2006/chart">
            <c:chart xmlns:r="http://schemas.openxmlformats.org/officeDocument/2006/relationships" xmlns:c="http://schemas.openxmlformats.org/drawingml/2006/chart" r:id="Rff76671bfe5146a8"/>
          </a:graphicData>
        </a:graphic>
      </p:graphicFrame>
      <p:sp>
        <p:nvSpPr>
          <p:cNvPr id="5" name="">
            <a:extLst xmlns:a="http://schemas.openxmlformats.org/drawingml/2006/main">
              <a:ext uri="{FF2B5EF4-FFF2-40B4-BE49-F238E27FC236}">
                <a16:creationId xmlns:a16="http://schemas.microsoft.com/office/drawing/2014/main" id="{2867B9F3-B4FA-4D0A-8436-F3AF93496D58}"/>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 · A_SCENARIO · A_RATE · A_CAPEX</a:t>
            </a:r>
          </a:p>
        </p:txBody>
      </p:sp>
      <p:sp>
        <p:nvSpPr>
          <p:cNvPr id="6" name="">
            <a:extLst xmlns:a="http://schemas.openxmlformats.org/drawingml/2006/main">
              <a:ext uri="{FF2B5EF4-FFF2-40B4-BE49-F238E27FC236}">
                <a16:creationId xmlns:a16="http://schemas.microsoft.com/office/drawing/2014/main" id="{EDE40A03-10AB-4E47-B391-174EB4EDCB6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C-DCF   16 / 81</a:t>
            </a:r>
          </a:p>
        </p:txBody>
      </p:sp>
    </p:spTree>
    <p:extLst>
      <p:ext uri="{BB962C8B-B14F-4D97-AF65-F5344CB8AC3E}">
        <p14:creationId xmlns:p14="http://schemas.microsoft.com/office/powerpoint/2010/main" val="1300230576"/>
      </p:ext>
    </p:extLst>
  </p:cSld>
</p:sld>
</file>

<file path=ppt/slides/slide1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3C4434-ED9F-414B-B545-CCD0ABB6492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17</a:t>
            </a:r>
          </a:p>
        </p:txBody>
      </p:sp>
      <p:sp>
        <p:nvSpPr>
          <p:cNvPr id="2" name="">
            <a:extLst xmlns:a="http://schemas.openxmlformats.org/drawingml/2006/main">
              <a:ext uri="{FF2B5EF4-FFF2-40B4-BE49-F238E27FC236}">
                <a16:creationId xmlns:a16="http://schemas.microsoft.com/office/drawing/2014/main" id="{F7E122C6-2BB9-4558-9F6F-0180AED6FD80}"/>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An investment boundary is more useful than a point forecast</a:t>
            </a:r>
          </a:p>
        </p:txBody>
      </p:sp>
      <p:sp>
        <p:nvSpPr>
          <p:cNvPr id="3" name="">
            <a:extLst xmlns:a="http://schemas.openxmlformats.org/drawingml/2006/main">
              <a:ext uri="{FF2B5EF4-FFF2-40B4-BE49-F238E27FC236}">
                <a16:creationId xmlns:a16="http://schemas.microsoft.com/office/drawing/2014/main" id="{A1B05EA2-8DA1-42C8-AC07-4464D5A0D63C}"/>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Test order thresholds and liquidity limits before expanding physical commitments.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833438">
                <a:tc>
                  <a:txBody>
                    <a:bodyPr/>
                    <a:lstStyle/>
                    <a:p>
                      <a:r>
                        <a:rPr sz="1050" b="1">
                          <a:solidFill>
                            <a:srgbClr val="49624F"/>
                          </a:solidFill>
                          <a:latin typeface="DejaVu Sans"/>
                          <a:ea typeface="DejaVu Sans"/>
                          <a:cs typeface="DejaVu Sans"/>
                        </a:rPr>
                        <a:t>Managed template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Operating break-even 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Zero-NPV initial orders t</a:t>
                      </a:r>
                    </a:p>
                  </a:txBody>
                  <a:tcPr marL="114300" marR="114300" marT="76200" marB="76200" anchor="t">
                    <a:solidFill>
                      <a:srgbClr val="E7EEE4"/>
                    </a:solidFill>
                  </a:tcPr>
                </a:tc>
              </a:tr>
              <a:tr h="833438">
                <a:tc>
                  <a:txBody>
                    <a:bodyPr/>
                    <a:lstStyle/>
                    <a:p>
                      <a:r>
                        <a:rPr sz="1200">
                          <a:solidFill>
                            <a:srgbClr val="183B2A"/>
                          </a:solidFill>
                          <a:latin typeface="DejaVu Sans"/>
                          <a:ea typeface="DejaVu Sans"/>
                          <a:cs typeface="DejaVu Sans"/>
                        </a:rPr>
                        <a:t>Contracted trade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31,250.00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89,195.83</a:t>
                      </a:r>
                    </a:p>
                  </a:txBody>
                  <a:tcPr marL="114300" marR="114300" marT="76200" marB="76200" anchor="t">
                    <a:solidFill>
                      <a:srgbClr val="FFFEF9"/>
                    </a:solidFill>
                  </a:tcPr>
                </a:tc>
              </a:tr>
              <a:tr h="833438">
                <a:tc>
                  <a:txBody>
                    <a:bodyPr/>
                    <a:lstStyle/>
                    <a:p>
                      <a:r>
                        <a:rPr sz="1200">
                          <a:solidFill>
                            <a:srgbClr val="183B2A"/>
                          </a:solidFill>
                          <a:latin typeface="DejaVu Sans"/>
                          <a:ea typeface="DejaVu Sans"/>
                          <a:cs typeface="DejaVu Sans"/>
                        </a:rPr>
                        <a:t>Partner processing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25,000.00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62,437.79</a:t>
                      </a:r>
                    </a:p>
                  </a:txBody>
                  <a:tcPr marL="114300" marR="114300" marT="76200" marB="76200" anchor="t">
                    <a:solidFill>
                      <a:srgbClr val="FFFEF9"/>
                    </a:solidFill>
                  </a:tcPr>
                </a:tc>
              </a:tr>
              <a:tr h="833438">
                <a:tc>
                  <a:txBody>
                    <a:bodyPr/>
                    <a:lstStyle/>
                    <a:p>
                      <a:r>
                        <a:rPr sz="1200">
                          <a:solidFill>
                            <a:srgbClr val="183B2A"/>
                          </a:solidFill>
                          <a:latin typeface="DejaVu Sans"/>
                          <a:ea typeface="DejaVu Sans"/>
                          <a:cs typeface="DejaVu Sans"/>
                        </a:rPr>
                        <a:t>Owned processing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33,333.33</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104,862.13</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C4F906B4-ECDD-4DC0-99D8-AAC109DEB712}"/>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 · A_RATE</a:t>
            </a:r>
          </a:p>
        </p:txBody>
      </p:sp>
      <p:sp>
        <p:nvSpPr>
          <p:cNvPr id="6" name="">
            <a:extLst xmlns:a="http://schemas.openxmlformats.org/drawingml/2006/main">
              <a:ext uri="{FF2B5EF4-FFF2-40B4-BE49-F238E27FC236}">
                <a16:creationId xmlns:a16="http://schemas.microsoft.com/office/drawing/2014/main" id="{1B938F4A-A753-4DDC-B47B-B547CE25CBFB}"/>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C-THRESHOLD   17 / 81</a:t>
            </a:r>
          </a:p>
        </p:txBody>
      </p:sp>
    </p:spTree>
    <p:extLst>
      <p:ext uri="{BB962C8B-B14F-4D97-AF65-F5344CB8AC3E}">
        <p14:creationId xmlns:p14="http://schemas.microsoft.com/office/powerpoint/2010/main" val="601902355"/>
      </p:ext>
    </p:extLst>
  </p:cSld>
</p:sld>
</file>

<file path=ppt/slides/slide1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0C8062-56B4-4F16-BF0E-AD836637C80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18</a:t>
            </a:r>
          </a:p>
        </p:txBody>
      </p:sp>
      <p:sp>
        <p:nvSpPr>
          <p:cNvPr id="2" name="">
            <a:extLst xmlns:a="http://schemas.openxmlformats.org/drawingml/2006/main">
              <a:ext uri="{FF2B5EF4-FFF2-40B4-BE49-F238E27FC236}">
                <a16:creationId xmlns:a16="http://schemas.microsoft.com/office/drawing/2014/main" id="{6C8D763F-A04B-428F-9587-6996702F72E0}"/>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India/Vietnam-to-Africa rice warrants a contracted-lot test</a:t>
            </a:r>
          </a:p>
        </p:txBody>
      </p:sp>
      <p:sp>
        <p:nvSpPr>
          <p:cNvPr id="3" name="">
            <a:extLst xmlns:a="http://schemas.openxmlformats.org/drawingml/2006/main">
              <a:ext uri="{FF2B5EF4-FFF2-40B4-BE49-F238E27FC236}">
                <a16:creationId xmlns:a16="http://schemas.microsoft.com/office/drawing/2014/main" id="{FC85F050-B588-40F7-A09C-B84BE74B75A3}"/>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Company financing disclosure supports a corridor, not its incremental returns.</a:t>
            </a:r>
          </a:p>
        </p:txBody>
      </p:sp>
      <p:sp>
        <p:nvSpPr>
          <p:cNvPr id="4" name="">
            <a:extLst xmlns:a="http://schemas.openxmlformats.org/drawingml/2006/main">
              <a:ext uri="{FF2B5EF4-FFF2-40B4-BE49-F238E27FC236}">
                <a16:creationId xmlns:a16="http://schemas.microsoft.com/office/drawing/2014/main" id="{DCE819C1-5A40-4008-864F-72FE858D60D9}"/>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Annual report describes USD100 m seven-year FMO financing associated with rice flows from India, Thailand and Vietnam to Africa.</a:t>
            </a:r>
          </a:p>
        </p:txBody>
      </p:sp>
      <p:sp>
        <p:nvSpPr>
          <p:cNvPr id="5" name="">
            <a:extLst xmlns:a="http://schemas.openxmlformats.org/drawingml/2006/main">
              <a:ext uri="{FF2B5EF4-FFF2-40B4-BE49-F238E27FC236}">
                <a16:creationId xmlns:a16="http://schemas.microsoft.com/office/drawing/2014/main" id="{A47DD99F-DC5C-45CA-90CB-A5CE547D86F8}"/>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Choose a destination only after offtake, freight, quality, HS rules and payment are documented.</a:t>
            </a:r>
          </a:p>
        </p:txBody>
      </p:sp>
      <p:sp>
        <p:nvSpPr>
          <p:cNvPr id="6" name="">
            <a:extLst xmlns:a="http://schemas.openxmlformats.org/drawingml/2006/main">
              <a:ext uri="{FF2B5EF4-FFF2-40B4-BE49-F238E27FC236}">
                <a16:creationId xmlns:a16="http://schemas.microsoft.com/office/drawing/2014/main" id="{FA1E1F1D-4897-4EFA-B527-1C55107166E5}"/>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Compare delivered cash through a small contracted lot; map origin and destination common exposures.</a:t>
            </a:r>
          </a:p>
        </p:txBody>
      </p:sp>
      <p:sp>
        <p:nvSpPr>
          <p:cNvPr id="7" name="">
            <a:extLst xmlns:a="http://schemas.openxmlformats.org/drawingml/2006/main">
              <a:ext uri="{FF2B5EF4-FFF2-40B4-BE49-F238E27FC236}">
                <a16:creationId xmlns:a16="http://schemas.microsoft.com/office/drawing/2014/main" id="{A85623FF-30D3-4A80-BEC0-E35DF2E400DE}"/>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CO_AR · CO_IND · CO_VNM   |   A_PILOT</a:t>
            </a:r>
          </a:p>
        </p:txBody>
      </p:sp>
      <p:sp>
        <p:nvSpPr>
          <p:cNvPr id="8" name="">
            <a:extLst xmlns:a="http://schemas.openxmlformats.org/drawingml/2006/main">
              <a:ext uri="{FF2B5EF4-FFF2-40B4-BE49-F238E27FC236}">
                <a16:creationId xmlns:a16="http://schemas.microsoft.com/office/drawing/2014/main" id="{E63B662B-AC59-4785-98CA-8BA89842E7C2}"/>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18 / 81</a:t>
            </a:r>
          </a:p>
        </p:txBody>
      </p:sp>
    </p:spTree>
    <p:extLst>
      <p:ext uri="{BB962C8B-B14F-4D97-AF65-F5344CB8AC3E}">
        <p14:creationId xmlns:p14="http://schemas.microsoft.com/office/powerpoint/2010/main" val="429863661"/>
      </p:ext>
    </p:extLst>
  </p:cSld>
</p:sld>
</file>

<file path=ppt/slides/slide1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7209C2-FDB0-4934-9E22-AB5796F874A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19</a:t>
            </a:r>
          </a:p>
        </p:txBody>
      </p:sp>
      <p:sp>
        <p:nvSpPr>
          <p:cNvPr id="2" name="">
            <a:extLst xmlns:a="http://schemas.openxmlformats.org/drawingml/2006/main">
              <a:ext uri="{FF2B5EF4-FFF2-40B4-BE49-F238E27FC236}">
                <a16:creationId xmlns:a16="http://schemas.microsoft.com/office/drawing/2014/main" id="{C0BE518B-EF1A-4E78-9432-AF84D9B708E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Saudi offtake and Brazil origination require different proof</a:t>
            </a:r>
          </a:p>
        </p:txBody>
      </p:sp>
      <p:sp>
        <p:nvSpPr>
          <p:cNvPr id="3" name="">
            <a:extLst xmlns:a="http://schemas.openxmlformats.org/drawingml/2006/main">
              <a:ext uri="{FF2B5EF4-FFF2-40B4-BE49-F238E27FC236}">
                <a16:creationId xmlns:a16="http://schemas.microsoft.com/office/drawing/2014/main" id="{C8FD9CC3-76A9-4B49-9696-33B878D14507}"/>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SALIC control offers strategic alignment; it does not create guaranteed sales.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833438">
                <a:tc>
                  <a:txBody>
                    <a:bodyPr/>
                    <a:lstStyle/>
                    <a:p>
                      <a:r>
                        <a:rPr sz="1050" b="1">
                          <a:solidFill>
                            <a:srgbClr val="49624F"/>
                          </a:solidFill>
                          <a:latin typeface="DejaVu Sans"/>
                          <a:ea typeface="DejaVu Sans"/>
                          <a:cs typeface="DejaVu Sans"/>
                        </a:rPr>
                        <a:t>Case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Why examine it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What prevents approval</a:t>
                      </a:r>
                    </a:p>
                  </a:txBody>
                  <a:tcPr marL="114300" marR="114300" marT="76200" marB="76200" anchor="t">
                    <a:solidFill>
                      <a:srgbClr val="E7EEE4"/>
                    </a:solidFill>
                  </a:tcPr>
                </a:tc>
              </a:tr>
              <a:tr h="833438">
                <a:tc>
                  <a:txBody>
                    <a:bodyPr/>
                    <a:lstStyle/>
                    <a:p>
                      <a:r>
                        <a:rPr sz="1200">
                          <a:solidFill>
                            <a:srgbClr val="183B2A"/>
                          </a:solidFill>
                          <a:latin typeface="DejaVu Sans"/>
                          <a:ea typeface="DejaVu Sans"/>
                          <a:cs typeface="DejaVu Sans"/>
                        </a:rPr>
                        <a:t>Saudi Arabia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Disclosed location and strategic shareholder</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No verified incremental bankable order</a:t>
                      </a:r>
                    </a:p>
                  </a:txBody>
                  <a:tcPr marL="114300" marR="114300" marT="76200" marB="76200" anchor="t">
                    <a:solidFill>
                      <a:srgbClr val="FFFEF9"/>
                    </a:solidFill>
                  </a:tcPr>
                </a:tc>
              </a:tr>
              <a:tr h="833438">
                <a:tc>
                  <a:txBody>
                    <a:bodyPr/>
                    <a:lstStyle/>
                    <a:p>
                      <a:r>
                        <a:rPr sz="1200">
                          <a:solidFill>
                            <a:srgbClr val="183B2A"/>
                          </a:solidFill>
                          <a:latin typeface="DejaVu Sans"/>
                          <a:ea typeface="DejaVu Sans"/>
                          <a:cs typeface="DejaVu Sans"/>
                        </a:rPr>
                        <a:t>Brazil</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Disclosed grain/oilseed origin/export capability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No verified buyer spread, supplier/basin or port risk</a:t>
                      </a:r>
                    </a:p>
                  </a:txBody>
                  <a:tcPr marL="114300" marR="114300" marT="76200" marB="76200" anchor="t">
                    <a:solidFill>
                      <a:srgbClr val="FFFEF9"/>
                    </a:solidFill>
                  </a:tcPr>
                </a:tc>
              </a:tr>
              <a:tr h="833438">
                <a:tc>
                  <a:txBody>
                    <a:bodyPr/>
                    <a:lstStyle/>
                    <a:p>
                      <a:r>
                        <a:rPr sz="1200">
                          <a:solidFill>
                            <a:srgbClr val="183B2A"/>
                          </a:solidFill>
                          <a:latin typeface="DejaVu Sans"/>
                          <a:ea typeface="DejaVu Sans"/>
                          <a:cs typeface="DejaVu Sans"/>
                        </a:rPr>
                        <a:t>Ownership</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81.81% SALIC; 18.19% Olam Group after CFG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About page lower 81.11% conflict recorded</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6A55FC59-BA27-4E44-A83B-F05FDE7B204E}"/>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CO_FACT · CO_OWN · CO_ABOUT · CO_BRA</a:t>
            </a:r>
          </a:p>
        </p:txBody>
      </p:sp>
      <p:sp>
        <p:nvSpPr>
          <p:cNvPr id="6" name="">
            <a:extLst xmlns:a="http://schemas.openxmlformats.org/drawingml/2006/main">
              <a:ext uri="{FF2B5EF4-FFF2-40B4-BE49-F238E27FC236}">
                <a16:creationId xmlns:a16="http://schemas.microsoft.com/office/drawing/2014/main" id="{80AB89F2-385E-4E5F-9268-7BFA5A47C9E8}"/>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19 / 81</a:t>
            </a:r>
          </a:p>
        </p:txBody>
      </p:sp>
    </p:spTree>
    <p:extLst>
      <p:ext uri="{BB962C8B-B14F-4D97-AF65-F5344CB8AC3E}">
        <p14:creationId xmlns:p14="http://schemas.microsoft.com/office/powerpoint/2010/main" val="1261483490"/>
      </p:ext>
    </p:extLst>
  </p:cSld>
</p:sld>
</file>

<file path=ppt/slides/slide2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0F4E65-CFD9-4CB8-9C1A-307751A3EA2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20</a:t>
            </a:r>
          </a:p>
        </p:txBody>
      </p:sp>
      <p:sp>
        <p:nvSpPr>
          <p:cNvPr id="2" name="">
            <a:extLst xmlns:a="http://schemas.openxmlformats.org/drawingml/2006/main">
              <a:ext uri="{FF2B5EF4-FFF2-40B4-BE49-F238E27FC236}">
                <a16:creationId xmlns:a16="http://schemas.microsoft.com/office/drawing/2014/main" id="{A7018878-F634-49F1-B5F3-D5466593E6EE}"/>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The inherited Nigeria capital screen stays on hold</a:t>
            </a:r>
          </a:p>
        </p:txBody>
      </p:sp>
      <p:sp>
        <p:nvSpPr>
          <p:cNvPr id="3" name="">
            <a:extLst xmlns:a="http://schemas.openxmlformats.org/drawingml/2006/main">
              <a:ext uri="{FF2B5EF4-FFF2-40B4-BE49-F238E27FC236}">
                <a16:creationId xmlns:a16="http://schemas.microsoft.com/office/drawing/2014/main" id="{3BD86B5F-438C-49E5-B87D-3051CD6206E4}"/>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NGN0.47bn annual uplift does not fund NGN4.2bn initial capital at the chosen hurdle.</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Inherited screening assumption / result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NGN billion</a:t>
                      </a:r>
                    </a:p>
                  </a:txBody>
                  <a:tcPr marL="114300" marR="114300" marT="76200" marB="76200" anchor="t">
                    <a:solidFill>
                      <a:srgbClr val="E7EEE4"/>
                    </a:solidFill>
                  </a:tcPr>
                </a:tc>
              </a:tr>
              <a:tr h="476250">
                <a:tc>
                  <a:txBody>
                    <a:bodyPr/>
                    <a:lstStyle/>
                    <a:p>
                      <a:r>
                        <a:rPr sz="1275">
                          <a:solidFill>
                            <a:srgbClr val="183B2A"/>
                          </a:solidFill>
                          <a:latin typeface="DejaVu Sans"/>
                          <a:ea typeface="DejaVu Sans"/>
                          <a:cs typeface="DejaVu Sans"/>
                        </a:rPr>
                        <a:t>Sales base / contribution margin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100 / 8%</a:t>
                      </a:r>
                    </a:p>
                  </a:txBody>
                  <a:tcPr marL="114300" marR="114300" marT="76200" marB="76200" anchor="t">
                    <a:solidFill>
                      <a:srgbClr val="FFFEF9"/>
                    </a:solidFill>
                  </a:tcPr>
                </a:tc>
              </a:tr>
              <a:tr h="476250">
                <a:tc>
                  <a:txBody>
                    <a:bodyPr/>
                    <a:lstStyle/>
                    <a:p>
                      <a:r>
                        <a:rPr sz="1275">
                          <a:solidFill>
                            <a:srgbClr val="183B2A"/>
                          </a:solidFill>
                          <a:latin typeface="DejaVu Sans"/>
                          <a:ea typeface="DejaVu Sans"/>
                          <a:cs typeface="DejaVu Sans"/>
                        </a:rPr>
                        <a:t>Net annual uplift after chosen leakage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0.470</a:t>
                      </a:r>
                    </a:p>
                  </a:txBody>
                  <a:tcPr marL="114300" marR="114300" marT="76200" marB="76200" anchor="t">
                    <a:solidFill>
                      <a:srgbClr val="FFFEF9"/>
                    </a:solidFill>
                  </a:tcPr>
                </a:tc>
              </a:tr>
              <a:tr h="476250">
                <a:tc>
                  <a:txBody>
                    <a:bodyPr/>
                    <a:lstStyle/>
                    <a:p>
                      <a:r>
                        <a:rPr sz="1275">
                          <a:solidFill>
                            <a:srgbClr val="183B2A"/>
                          </a:solidFill>
                          <a:latin typeface="DejaVu Sans"/>
                          <a:ea typeface="DejaVu Sans"/>
                          <a:cs typeface="DejaVu Sans"/>
                        </a:rPr>
                        <a:t>One-time 7 sales-day proxy release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1.918</a:t>
                      </a:r>
                    </a:p>
                  </a:txBody>
                  <a:tcPr marL="114300" marR="114300" marT="76200" marB="76200" anchor="t">
                    <a:solidFill>
                      <a:srgbClr val="FFFEF9"/>
                    </a:solidFill>
                  </a:tcPr>
                </a:tc>
              </a:tr>
              <a:tr h="476250">
                <a:tc>
                  <a:txBody>
                    <a:bodyPr/>
                    <a:lstStyle/>
                    <a:p>
                      <a:r>
                        <a:rPr sz="1275">
                          <a:solidFill>
                            <a:srgbClr val="183B2A"/>
                          </a:solidFill>
                          <a:latin typeface="DejaVu Sans"/>
                          <a:ea typeface="DejaVu Sans"/>
                          <a:cs typeface="DejaVu Sans"/>
                        </a:rPr>
                        <a:t>Capital envelope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4.200</a:t>
                      </a:r>
                    </a:p>
                  </a:txBody>
                  <a:tcPr marL="114300" marR="114300" marT="76200" marB="76200" anchor="t">
                    <a:solidFill>
                      <a:srgbClr val="FFFEF9"/>
                    </a:solidFill>
                  </a:tcPr>
                </a:tc>
              </a:tr>
              <a:tr h="476250">
                <a:tc>
                  <a:txBody>
                    <a:bodyPr/>
                    <a:lstStyle/>
                    <a:p>
                      <a:r>
                        <a:rPr sz="1275">
                          <a:solidFill>
                            <a:srgbClr val="183B2A"/>
                          </a:solidFill>
                          <a:latin typeface="DejaVu Sans"/>
                          <a:ea typeface="DejaVu Sans"/>
                          <a:cs typeface="DejaVu Sans"/>
                        </a:rPr>
                        <a:t>Three-year NPV at 28%</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−2.065</a:t>
                      </a:r>
                    </a:p>
                  </a:txBody>
                  <a:tcPr marL="114300" marR="114300" marT="76200" marB="76200" anchor="t">
                    <a:solidFill>
                      <a:srgbClr val="FFFEF9"/>
                    </a:solidFill>
                  </a:tcPr>
                </a:tc>
              </a:tr>
              <a:tr h="476250">
                <a:tc>
                  <a:txBody>
                    <a:bodyPr/>
                    <a:lstStyle/>
                    <a:p>
                      <a:r>
                        <a:rPr sz="1275">
                          <a:solidFill>
                            <a:srgbClr val="183B2A"/>
                          </a:solidFill>
                          <a:latin typeface="DejaVu Sans"/>
                          <a:ea typeface="DejaVu Sans"/>
                          <a:cs typeface="DejaVu Sans"/>
                        </a:rPr>
                        <a:t>Zero-NPV annual uplift</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1.993</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A5959527-05C8-494B-A7A0-F842A63AF60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BASELINE · CO_NGA · USDA_OIL   |   A_LEGACY</a:t>
            </a:r>
          </a:p>
        </p:txBody>
      </p:sp>
      <p:sp>
        <p:nvSpPr>
          <p:cNvPr id="6" name="">
            <a:extLst xmlns:a="http://schemas.openxmlformats.org/drawingml/2006/main">
              <a:ext uri="{FF2B5EF4-FFF2-40B4-BE49-F238E27FC236}">
                <a16:creationId xmlns:a16="http://schemas.microsoft.com/office/drawing/2014/main" id="{BCE428F5-FF0A-488A-9FA4-5DEF45049E3E}"/>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C-LEGACY · C-E10   20 / 81</a:t>
            </a:r>
          </a:p>
        </p:txBody>
      </p:sp>
    </p:spTree>
    <p:extLst>
      <p:ext uri="{BB962C8B-B14F-4D97-AF65-F5344CB8AC3E}">
        <p14:creationId xmlns:p14="http://schemas.microsoft.com/office/powerpoint/2010/main" val="242320569"/>
      </p:ext>
    </p:extLst>
  </p:cSld>
</p:sld>
</file>

<file path=ppt/slides/slide2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55FF48-D9B0-4FF4-805B-A72F043275D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21</a:t>
            </a:r>
          </a:p>
        </p:txBody>
      </p:sp>
      <p:sp>
        <p:nvSpPr>
          <p:cNvPr id="2" name="">
            <a:extLst xmlns:a="http://schemas.openxmlformats.org/drawingml/2006/main">
              <a:ext uri="{FF2B5EF4-FFF2-40B4-BE49-F238E27FC236}">
                <a16:creationId xmlns:a16="http://schemas.microsoft.com/office/drawing/2014/main" id="{3DD44BAE-291A-4122-BDAB-A116DC6248C9}"/>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Customer value must turn into paid, profitable repeat</a:t>
            </a:r>
          </a:p>
        </p:txBody>
      </p:sp>
      <p:sp>
        <p:nvSpPr>
          <p:cNvPr id="3" name="">
            <a:extLst xmlns:a="http://schemas.openxmlformats.org/drawingml/2006/main">
              <a:ext uri="{FF2B5EF4-FFF2-40B4-BE49-F238E27FC236}">
                <a16:creationId xmlns:a16="http://schemas.microsoft.com/office/drawing/2014/main" id="{B88C49D0-24A9-4469-8B76-77C37DB74AB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 lower cost per usable output can justify price only if cash and trust permit adoption.</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Illustrative flour offer</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A</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B</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Bag price + preparation cost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$30 + $5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$32 + $4</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Usable output, kg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45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48</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Cost per usable kg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$0.778</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$0.750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B advantage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3.57% lower output cost</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58B4B767-80B9-46EC-8FA5-D1DA73CB9D19}"/>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 · A_PILOT</a:t>
            </a:r>
          </a:p>
        </p:txBody>
      </p:sp>
      <p:sp>
        <p:nvSpPr>
          <p:cNvPr id="6" name="">
            <a:extLst xmlns:a="http://schemas.openxmlformats.org/drawingml/2006/main">
              <a:ext uri="{FF2B5EF4-FFF2-40B4-BE49-F238E27FC236}">
                <a16:creationId xmlns:a16="http://schemas.microsoft.com/office/drawing/2014/main" id="{877285B9-A066-47C3-ABFD-21F4D8566877}"/>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C-E05   21 / 81</a:t>
            </a:r>
          </a:p>
        </p:txBody>
      </p:sp>
    </p:spTree>
    <p:extLst>
      <p:ext uri="{BB962C8B-B14F-4D97-AF65-F5344CB8AC3E}">
        <p14:creationId xmlns:p14="http://schemas.microsoft.com/office/powerpoint/2010/main" val="528089268"/>
      </p:ext>
    </p:extLst>
  </p:cSld>
</p:sld>
</file>

<file path=ppt/slides/slide2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BCF7D0-47A7-437A-86BC-9EFBA1A2796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22</a:t>
            </a:r>
          </a:p>
        </p:txBody>
      </p:sp>
      <p:sp>
        <p:nvSpPr>
          <p:cNvPr id="2" name="">
            <a:extLst xmlns:a="http://schemas.openxmlformats.org/drawingml/2006/main">
              <a:ext uri="{FF2B5EF4-FFF2-40B4-BE49-F238E27FC236}">
                <a16:creationId xmlns:a16="http://schemas.microsoft.com/office/drawing/2014/main" id="{8EC5B117-E4F7-424D-AF5C-2A8D4A5EC80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Small packs solve a cash ticket, not necessarily unit value</a:t>
            </a:r>
          </a:p>
        </p:txBody>
      </p:sp>
      <p:sp>
        <p:nvSpPr>
          <p:cNvPr id="3" name="">
            <a:extLst xmlns:a="http://schemas.openxmlformats.org/drawingml/2006/main">
              <a:ext uri="{FF2B5EF4-FFF2-40B4-BE49-F238E27FC236}">
                <a16:creationId xmlns:a16="http://schemas.microsoft.com/office/drawing/2014/main" id="{3E0A301A-0A44-464E-ABB6-8002C3358FE5}"/>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Test price, usable yield, availability and channel economics as separate mechanisms.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Intervention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Customer test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Olam cash test</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Pack size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Cash outlay + cost per meal</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Net price, packing and route cost</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Baker technical service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Saleable output, rejects and energy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Contribution after service</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Route availability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Paid repeat and substitution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Stock turns + credit losses</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Price recovery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Pass-through timing and demand response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Retained margin, not gross price rise</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BD253E58-0D32-4F2F-B484-D5E427C471E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A_PILOT · A_EXAMPLE</a:t>
            </a:r>
          </a:p>
        </p:txBody>
      </p:sp>
      <p:sp>
        <p:nvSpPr>
          <p:cNvPr id="6" name="">
            <a:extLst xmlns:a="http://schemas.openxmlformats.org/drawingml/2006/main">
              <a:ext uri="{FF2B5EF4-FFF2-40B4-BE49-F238E27FC236}">
                <a16:creationId xmlns:a16="http://schemas.microsoft.com/office/drawing/2014/main" id="{C45EF274-00DA-4448-B898-EAF0FF4D6ADC}"/>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C-E06 · C-E11   22 / 81</a:t>
            </a:r>
          </a:p>
        </p:txBody>
      </p:sp>
    </p:spTree>
    <p:extLst>
      <p:ext uri="{BB962C8B-B14F-4D97-AF65-F5344CB8AC3E}">
        <p14:creationId xmlns:p14="http://schemas.microsoft.com/office/powerpoint/2010/main" val="2043664080"/>
      </p:ext>
    </p:extLst>
  </p:cSld>
</p:sld>
</file>

<file path=ppt/slides/slide2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4A8420-AB94-4C1E-ADE5-D51F73AB16B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23</a:t>
            </a:r>
          </a:p>
        </p:txBody>
      </p:sp>
      <p:sp>
        <p:nvSpPr>
          <p:cNvPr id="2" name="">
            <a:extLst xmlns:a="http://schemas.openxmlformats.org/drawingml/2006/main">
              <a:ext uri="{FF2B5EF4-FFF2-40B4-BE49-F238E27FC236}">
                <a16:creationId xmlns:a16="http://schemas.microsoft.com/office/drawing/2014/main" id="{FD2EC1BF-9066-4C2E-9285-99FD3A76F66E}"/>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Count only delivered saleable units</a:t>
            </a:r>
          </a:p>
        </p:txBody>
      </p:sp>
      <p:sp>
        <p:nvSpPr>
          <p:cNvPr id="3" name="">
            <a:extLst xmlns:a="http://schemas.openxmlformats.org/drawingml/2006/main">
              <a:ext uri="{FF2B5EF4-FFF2-40B4-BE49-F238E27FC236}">
                <a16:creationId xmlns:a16="http://schemas.microsoft.com/office/drawing/2014/main" id="{09D4ACCE-AC33-480F-9238-D66E3BB372F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The lowest physical or commercial constraint determines revenue.</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Illustrative demand chain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Tonnes</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1 m people ×100 kg/person/year</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100,000 category demand</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50% accessible ×20% capture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10,000 buyer orders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Saleable capacity</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8,000</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Route delivery limit</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7,000</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Delivered sales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7,000, not 10,000</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AD8DDB00-2A1E-44C1-963E-267854C4302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6" name="">
            <a:extLst xmlns:a="http://schemas.openxmlformats.org/drawingml/2006/main">
              <a:ext uri="{FF2B5EF4-FFF2-40B4-BE49-F238E27FC236}">
                <a16:creationId xmlns:a16="http://schemas.microsoft.com/office/drawing/2014/main" id="{1D8E7CF8-79AC-4F6B-A350-8BDB5BB451C7}"/>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C-E02   23 / 81</a:t>
            </a:r>
          </a:p>
        </p:txBody>
      </p:sp>
    </p:spTree>
    <p:extLst>
      <p:ext uri="{BB962C8B-B14F-4D97-AF65-F5344CB8AC3E}">
        <p14:creationId xmlns:p14="http://schemas.microsoft.com/office/powerpoint/2010/main" val="1038180022"/>
      </p:ext>
    </p:extLst>
  </p:cSld>
</p:sld>
</file>

<file path=ppt/slides/slide2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618655-A282-4FA8-81AD-0C75B12294C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24</a:t>
            </a:r>
          </a:p>
        </p:txBody>
      </p:sp>
      <p:sp>
        <p:nvSpPr>
          <p:cNvPr id="2" name="">
            <a:extLst xmlns:a="http://schemas.openxmlformats.org/drawingml/2006/main">
              <a:ext uri="{FF2B5EF4-FFF2-40B4-BE49-F238E27FC236}">
                <a16:creationId xmlns:a16="http://schemas.microsoft.com/office/drawing/2014/main" id="{A210B1D7-8999-41C8-8396-39C2D15F5827}"/>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Finance receivables, inventory and payables on their own bases</a:t>
            </a:r>
          </a:p>
        </p:txBody>
      </p:sp>
      <p:sp>
        <p:nvSpPr>
          <p:cNvPr id="3" name="">
            <a:extLst xmlns:a="http://schemas.openxmlformats.org/drawingml/2006/main">
              <a:ext uri="{FF2B5EF4-FFF2-40B4-BE49-F238E27FC236}">
                <a16:creationId xmlns:a16="http://schemas.microsoft.com/office/drawing/2014/main" id="{F404EA82-6C71-4F00-AD82-D99825FD6DF2}"/>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Inventory and purchases use cost; receivables use credit sales.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Illustrative release, USD m</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Calculation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Result</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Receivables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40 ×5 /365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0.548</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Inventory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34 ×7 /365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0.652</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Payables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DPO unchanged</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0.000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Total once-only transition cash</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0.548 +0.652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1.200</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0877AFFC-16B6-4205-BD02-9BB3E7608D3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 · A_NWC</a:t>
            </a:r>
          </a:p>
        </p:txBody>
      </p:sp>
      <p:sp>
        <p:nvSpPr>
          <p:cNvPr id="6" name="">
            <a:extLst xmlns:a="http://schemas.openxmlformats.org/drawingml/2006/main">
              <a:ext uri="{FF2B5EF4-FFF2-40B4-BE49-F238E27FC236}">
                <a16:creationId xmlns:a16="http://schemas.microsoft.com/office/drawing/2014/main" id="{DA468ADF-7CD5-4E57-9512-3F0CB4A83F4A}"/>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C-E09   24 / 81</a:t>
            </a:r>
          </a:p>
        </p:txBody>
      </p:sp>
    </p:spTree>
    <p:extLst>
      <p:ext uri="{BB962C8B-B14F-4D97-AF65-F5344CB8AC3E}">
        <p14:creationId xmlns:p14="http://schemas.microsoft.com/office/powerpoint/2010/main" val="361848739"/>
      </p:ext>
    </p:extLst>
  </p:cSld>
</p:sld>
</file>

<file path=ppt/slides/slide2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F62AA3-923B-4B72-8E4B-114FE5584E3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25</a:t>
            </a:r>
          </a:p>
        </p:txBody>
      </p:sp>
      <p:sp>
        <p:nvSpPr>
          <p:cNvPr id="2" name="">
            <a:extLst xmlns:a="http://schemas.openxmlformats.org/drawingml/2006/main">
              <a:ext uri="{FF2B5EF4-FFF2-40B4-BE49-F238E27FC236}">
                <a16:creationId xmlns:a16="http://schemas.microsoft.com/office/drawing/2014/main" id="{0180E4AA-D385-421F-8AC1-C9336D4DE9E7}"/>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Positive EBITDA can coexist with negative investment NPV</a:t>
            </a:r>
          </a:p>
        </p:txBody>
      </p:sp>
      <p:sp>
        <p:nvSpPr>
          <p:cNvPr id="3" name="">
            <a:extLst xmlns:a="http://schemas.openxmlformats.org/drawingml/2006/main">
              <a:ext uri="{FF2B5EF4-FFF2-40B4-BE49-F238E27FC236}">
                <a16:creationId xmlns:a16="http://schemas.microsoft.com/office/drawing/2014/main" id="{285263E4-6495-4CA8-BD54-D70CD561E6A7}"/>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Managed owned-processing template: NPV −USD1.80m; peak annual funding USD22.56m.</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Full model convention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Effect</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Initial capex</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60% now +40% in first operating year</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Maintenance / replacement</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 annually; 70% in years 11 and 21</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Tax / depreciation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25% simplified carryforward; capital cohorts over 10 years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Working cash</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80% credit-sales AR + cost inventory −80% eligible-purchases AP</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End of 2051</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90% NWC closeout; no franchise value</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B9902EF4-FCB6-49FB-B14F-6F5AB667707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 · A_TAX · A_RATE · A_CAPEX · A_NWC</a:t>
            </a:r>
          </a:p>
        </p:txBody>
      </p:sp>
      <p:sp>
        <p:nvSpPr>
          <p:cNvPr id="6" name="">
            <a:extLst xmlns:a="http://schemas.openxmlformats.org/drawingml/2006/main">
              <a:ext uri="{FF2B5EF4-FFF2-40B4-BE49-F238E27FC236}">
                <a16:creationId xmlns:a16="http://schemas.microsoft.com/office/drawing/2014/main" id="{A0E1D05C-D7D0-4793-9892-8360D1F9045A}"/>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C-DCF-plant-managed   25 / 81</a:t>
            </a:r>
          </a:p>
        </p:txBody>
      </p:sp>
    </p:spTree>
    <p:extLst>
      <p:ext uri="{BB962C8B-B14F-4D97-AF65-F5344CB8AC3E}">
        <p14:creationId xmlns:p14="http://schemas.microsoft.com/office/powerpoint/2010/main" val="1958927032"/>
      </p:ext>
    </p:extLst>
  </p:cSld>
</p:sld>
</file>

<file path=ppt/slides/slide2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1FDE8A-4E8A-4D3B-9650-C710AEBB095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26</a:t>
            </a:r>
          </a:p>
        </p:txBody>
      </p:sp>
      <p:sp>
        <p:nvSpPr>
          <p:cNvPr id="2" name="">
            <a:extLst xmlns:a="http://schemas.openxmlformats.org/drawingml/2006/main">
              <a:ext uri="{FF2B5EF4-FFF2-40B4-BE49-F238E27FC236}">
                <a16:creationId xmlns:a16="http://schemas.microsoft.com/office/drawing/2014/main" id="{382CC8EB-445B-4916-BC36-98D15E3DC5C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Common shocks can consume more cash than the asset cheque</a:t>
            </a:r>
          </a:p>
        </p:txBody>
      </p:sp>
      <p:sp>
        <p:nvSpPr>
          <p:cNvPr id="3" name="">
            <a:extLst xmlns:a="http://schemas.openxmlformats.org/drawingml/2006/main">
              <a:ext uri="{FF2B5EF4-FFF2-40B4-BE49-F238E27FC236}">
                <a16:creationId xmlns:a16="http://schemas.microsoft.com/office/drawing/2014/main" id="{A8CBDB72-DEDD-486A-8D35-F215875122B6}"/>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Chosen stress distribution illustrates failure; it does not estimate the probability of loss.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Owned-template stress, USD m</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10,000 draws</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10 th /50 th /90 th percentile NPV</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-19.27 / -1.65 / 21.48</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Loss VaR95</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24.54</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Loss CVaR95</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29.25</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Managed zero-NPV order boundary</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104,862 tonnes of initial annual orders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Response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Reprice, resize, delay or stop; never assume automatic recovery</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9C3DF781-C931-42D6-B979-F0FF0EADD639}"/>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A_STRESS · A_TEMPLATE</a:t>
            </a:r>
          </a:p>
        </p:txBody>
      </p:sp>
      <p:sp>
        <p:nvSpPr>
          <p:cNvPr id="6" name="">
            <a:extLst xmlns:a="http://schemas.openxmlformats.org/drawingml/2006/main">
              <a:ext uri="{FF2B5EF4-FFF2-40B4-BE49-F238E27FC236}">
                <a16:creationId xmlns:a16="http://schemas.microsoft.com/office/drawing/2014/main" id="{E4186EAE-3D73-451E-81B5-C5164099CA52}"/>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C-STRESS · C-THRESHOLD   26 / 81</a:t>
            </a:r>
          </a:p>
        </p:txBody>
      </p:sp>
    </p:spTree>
    <p:extLst>
      <p:ext uri="{BB962C8B-B14F-4D97-AF65-F5344CB8AC3E}">
        <p14:creationId xmlns:p14="http://schemas.microsoft.com/office/powerpoint/2010/main" val="1701322503"/>
      </p:ext>
    </p:extLst>
  </p:cSld>
</p:sld>
</file>

<file path=ppt/slides/slide2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343F88-BECD-414E-A33C-0268FEA7D8A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27</a:t>
            </a:r>
          </a:p>
        </p:txBody>
      </p:sp>
      <p:sp>
        <p:nvSpPr>
          <p:cNvPr id="2" name="">
            <a:extLst xmlns:a="http://schemas.openxmlformats.org/drawingml/2006/main">
              <a:ext uri="{FF2B5EF4-FFF2-40B4-BE49-F238E27FC236}">
                <a16:creationId xmlns:a16="http://schemas.microsoft.com/office/drawing/2014/main" id="{C3824819-44A5-458A-8FE7-0D7B58250EC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Diversification must reduce common exposure, not add flags</a:t>
            </a:r>
          </a:p>
        </p:txBody>
      </p:sp>
      <p:sp>
        <p:nvSpPr>
          <p:cNvPr id="3" name="">
            <a:extLst xmlns:a="http://schemas.openxmlformats.org/drawingml/2006/main">
              <a:ext uri="{FF2B5EF4-FFF2-40B4-BE49-F238E27FC236}">
                <a16:creationId xmlns:a16="http://schemas.microsoft.com/office/drawing/2014/main" id="{4C4BBD62-7811-43FD-8981-5142948DBA8B}"/>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Allocate only among legally feasible, funded and physically deliverable choices.</a:t>
            </a:r>
          </a:p>
        </p:txBody>
      </p:sp>
      <p:graphicFrame>
        <p:nvGraphicFramePr>
          <p:cNvPr id="11" name=""/>
          <p:cNvGraphicFramePr/>
          <p:nvPr/>
        </p:nvGraphicFramePr>
        <p:xfrm>
          <a:off xmlns:a="http://schemas.openxmlformats.org/drawingml/2006/main" x="609600" y="2505075"/>
          <a:ext xmlns:a="http://schemas.openxmlformats.org/drawingml/2006/main" cx="10972800" cy="2143125"/>
        </p:xfrm>
        <a:graphic xmlns:a="http://schemas.openxmlformats.org/drawingml/2006/main">
          <a:graphicData uri="http://schemas.openxmlformats.org/drawingml/2006/table">
            <a:tbl>
              <a:tblPr/>
              <a:tblGrid>
                <a:gridCol w="3429000"/>
                <a:gridCol w="7543800"/>
              </a:tblGrid>
              <a:tr h="535781">
                <a:tc>
                  <a:txBody>
                    <a:bodyPr/>
                    <a:lstStyle/>
                    <a:p>
                      <a:r>
                        <a:rPr sz="1050" b="1">
                          <a:solidFill>
                            <a:srgbClr val="49624F"/>
                          </a:solidFill>
                          <a:latin typeface="DejaVu Sans"/>
                          <a:ea typeface="DejaVu Sans"/>
                          <a:cs typeface="DejaVu Sans"/>
                        </a:rPr>
                        <a:t>Benchmark</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Failure to test</a:t>
                      </a:r>
                    </a:p>
                  </a:txBody>
                  <a:tcPr marL="114300" marR="114300" marT="76200" marB="76200" anchor="t">
                    <a:solidFill>
                      <a:srgbClr val="E7EEE4"/>
                    </a:solidFill>
                  </a:tcPr>
                </a:tc>
              </a:tr>
              <a:tr h="535781">
                <a:tc>
                  <a:txBody>
                    <a:bodyPr/>
                    <a:lstStyle/>
                    <a:p>
                      <a:r>
                        <a:rPr sz="1275">
                          <a:solidFill>
                            <a:srgbClr val="183B2A"/>
                          </a:solidFill>
                          <a:latin typeface="DejaVu Sans"/>
                          <a:ea typeface="DejaVu Sans"/>
                          <a:cs typeface="DejaVu Sans"/>
                        </a:rPr>
                        <a:t>Population / import-size ranking</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Capture, spread, seasonal funding</a:t>
                      </a:r>
                    </a:p>
                  </a:txBody>
                  <a:tcPr marL="114300" marR="114300" marT="76200" marB="76200" anchor="t">
                    <a:solidFill>
                      <a:srgbClr val="FFFEF9"/>
                    </a:solidFill>
                  </a:tcPr>
                </a:tc>
              </a:tr>
              <a:tr h="535781">
                <a:tc>
                  <a:txBody>
                    <a:bodyPr/>
                    <a:lstStyle/>
                    <a:p>
                      <a:r>
                        <a:rPr sz="1275">
                          <a:solidFill>
                            <a:srgbClr val="183B2A"/>
                          </a:solidFill>
                          <a:latin typeface="DejaVu Sans"/>
                          <a:ea typeface="DejaVu Sans"/>
                          <a:cs typeface="DejaVu Sans"/>
                        </a:rPr>
                        <a:t>Expected NPV only</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Joint tail loss and cash breach</a:t>
                      </a:r>
                    </a:p>
                  </a:txBody>
                  <a:tcPr marL="114300" marR="114300" marT="76200" marB="76200" anchor="t">
                    <a:solidFill>
                      <a:srgbClr val="FFFEF9"/>
                    </a:solidFill>
                  </a:tcPr>
                </a:tc>
              </a:tr>
              <a:tr h="535781">
                <a:tc>
                  <a:txBody>
                    <a:bodyPr/>
                    <a:lstStyle/>
                    <a:p>
                      <a:r>
                        <a:rPr sz="1275">
                          <a:solidFill>
                            <a:srgbClr val="183B2A"/>
                          </a:solidFill>
                          <a:latin typeface="DejaVu Sans"/>
                          <a:ea typeface="DejaVu Sans"/>
                          <a:cs typeface="DejaVu Sans"/>
                        </a:rPr>
                        <a:t>Country count diversification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Shared port, crop season or lender</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4210CDCA-DD3D-48D6-8469-00C1739ACD09}"/>
              </a:ext>
            </a:extLst>
          </p:cNvPr>
          <p:cNvSpPr>
            <a:spLocks xmlns:a="http://schemas.openxmlformats.org/drawingml/2006/main" noGrp="1"/>
          </p:cNvSpPr>
          <p:nvPr/>
        </p:nvSpPr>
        <p:spPr>
          <a:xfrm xmlns:a="http://schemas.openxmlformats.org/drawingml/2006/main">
            <a:off x="609600" y="4857750"/>
            <a:ext cx="10972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Group projects by crop/season, basin, port, shipping lane, buyer, FX and lender before optimizing.</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Use budget, peak cash, capacity, water/carbon and counterparty constraints with explicit shadow costs.</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No optimal all-country allocation is claimed without country economics and dependence data.</a:t>
            </a:r>
          </a:p>
        </p:txBody>
      </p:sp>
      <p:sp>
        <p:nvSpPr>
          <p:cNvPr id="6" name="">
            <a:extLst xmlns:a="http://schemas.openxmlformats.org/drawingml/2006/main">
              <a:ext uri="{FF2B5EF4-FFF2-40B4-BE49-F238E27FC236}">
                <a16:creationId xmlns:a16="http://schemas.microsoft.com/office/drawing/2014/main" id="{36880C46-127A-4A7C-A107-65A89192726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A_PRIOR · A_STRESS</a:t>
            </a:r>
          </a:p>
        </p:txBody>
      </p:sp>
      <p:sp>
        <p:nvSpPr>
          <p:cNvPr id="7" name="">
            <a:extLst xmlns:a="http://schemas.openxmlformats.org/drawingml/2006/main">
              <a:ext uri="{FF2B5EF4-FFF2-40B4-BE49-F238E27FC236}">
                <a16:creationId xmlns:a16="http://schemas.microsoft.com/office/drawing/2014/main" id="{0FD0C994-97F7-46AA-BA57-4FB6BF4DDD7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C-E17 · C-REGRET   27 / 81</a:t>
            </a:r>
          </a:p>
        </p:txBody>
      </p:sp>
    </p:spTree>
    <p:extLst>
      <p:ext uri="{BB962C8B-B14F-4D97-AF65-F5344CB8AC3E}">
        <p14:creationId xmlns:p14="http://schemas.microsoft.com/office/powerpoint/2010/main" val="1641657568"/>
      </p:ext>
    </p:extLst>
  </p:cSld>
</p:sld>
</file>

<file path=ppt/slides/slide2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843B85-6780-4612-92A1-BD4DFDFE54E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28</a:t>
            </a:r>
          </a:p>
        </p:txBody>
      </p:sp>
      <p:sp>
        <p:nvSpPr>
          <p:cNvPr id="2" name="">
            <a:extLst xmlns:a="http://schemas.openxmlformats.org/drawingml/2006/main">
              <a:ext uri="{FF2B5EF4-FFF2-40B4-BE49-F238E27FC236}">
                <a16:creationId xmlns:a16="http://schemas.microsoft.com/office/drawing/2014/main" id="{F243E98E-0279-41E6-BB28-5E578658F23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Reassess choices as customer and route evidence arrives</a:t>
            </a:r>
          </a:p>
        </p:txBody>
      </p:sp>
      <p:sp>
        <p:nvSpPr>
          <p:cNvPr id="3" name="">
            <a:extLst xmlns:a="http://schemas.openxmlformats.org/drawingml/2006/main">
              <a:ext uri="{FF2B5EF4-FFF2-40B4-BE49-F238E27FC236}">
                <a16:creationId xmlns:a16="http://schemas.microsoft.com/office/drawing/2014/main" id="{49D0A85F-7D31-4F20-9D2D-9A76DA4D055C}"/>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The proposed model combines established methods into an executable decision workflow.</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Step</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Operation</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1. Feasible set</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Product access, ethics, rights, legal and cash constraints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2. Operating model</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Demand → delivery → cash in six conditional worlds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3. Robust action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Minimize worst regret subject to capital and liquidity</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4. Learning choice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Study only if net decision value exceeds cost/delay</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5. Policy trigger</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Invest, wait, reprice, resize, stop or exit</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B0D20330-0F5B-4EFB-9019-77390565BB7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A_PRIOR</a:t>
            </a:r>
          </a:p>
        </p:txBody>
      </p:sp>
      <p:sp>
        <p:nvSpPr>
          <p:cNvPr id="6" name="">
            <a:extLst xmlns:a="http://schemas.openxmlformats.org/drawingml/2006/main">
              <a:ext uri="{FF2B5EF4-FFF2-40B4-BE49-F238E27FC236}">
                <a16:creationId xmlns:a16="http://schemas.microsoft.com/office/drawing/2014/main" id="{0CDA2B83-76FA-46EE-9429-915458F30A1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C-REGRET · C-E20   28 / 81</a:t>
            </a:r>
          </a:p>
        </p:txBody>
      </p:sp>
    </p:spTree>
    <p:extLst>
      <p:ext uri="{BB962C8B-B14F-4D97-AF65-F5344CB8AC3E}">
        <p14:creationId xmlns:p14="http://schemas.microsoft.com/office/powerpoint/2010/main" val="90326531"/>
      </p:ext>
    </p:extLst>
  </p:cSld>
</p:sld>
</file>

<file path=ppt/slides/slide2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BDD42D-F443-4F6A-9944-D94D9E0C4F0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29</a:t>
            </a:r>
          </a:p>
        </p:txBody>
      </p:sp>
      <p:sp>
        <p:nvSpPr>
          <p:cNvPr id="2" name="">
            <a:extLst xmlns:a="http://schemas.openxmlformats.org/drawingml/2006/main">
              <a:ext uri="{FF2B5EF4-FFF2-40B4-BE49-F238E27FC236}">
                <a16:creationId xmlns:a16="http://schemas.microsoft.com/office/drawing/2014/main" id="{1E66B218-DC9A-4666-AB89-72345D15113C}"/>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Robust regret can choose a partner over the largest plant</a:t>
            </a:r>
          </a:p>
        </p:txBody>
      </p:sp>
      <p:sp>
        <p:nvSpPr>
          <p:cNvPr id="3" name="">
            <a:extLst xmlns:a="http://schemas.openxmlformats.org/drawingml/2006/main">
              <a:ext uri="{FF2B5EF4-FFF2-40B4-BE49-F238E27FC236}">
                <a16:creationId xmlns:a16="http://schemas.microsoft.com/office/drawing/2014/main" id="{0DC0EC92-DA60-41E4-BC4F-1ED361FB59CE}"/>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 transparent teaching case changes the decision under the same USD20m maximum envelope.</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810000"/>
                <a:gridCol w="1790700"/>
                <a:gridCol w="1790700"/>
                <a:gridCol w="1790700"/>
                <a:gridCol w="1790700"/>
              </a:tblGrid>
              <a:tr h="666750">
                <a:tc>
                  <a:txBody>
                    <a:bodyPr/>
                    <a:lstStyle/>
                    <a:p>
                      <a:r>
                        <a:rPr sz="1050" b="1">
                          <a:solidFill>
                            <a:srgbClr val="49624F"/>
                          </a:solidFill>
                          <a:latin typeface="DejaVu Sans"/>
                          <a:ea typeface="DejaVu Sans"/>
                          <a:cs typeface="DejaVu Sans"/>
                        </a:rPr>
                        <a:t>Chosen payoff, USD m</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Managed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Integration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Physical</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Max regret</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Wait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14.0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Large owned plant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9.0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14.0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-8.0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8.0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Partner processing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6.0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4.0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Capped contracted trade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4.0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7.0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7.0</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5CE8B160-8785-42C9-AB94-B983126F33A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A_PRIOR · A_EXAMPLE</a:t>
            </a:r>
          </a:p>
        </p:txBody>
      </p:sp>
      <p:sp>
        <p:nvSpPr>
          <p:cNvPr id="6" name="">
            <a:extLst xmlns:a="http://schemas.openxmlformats.org/drawingml/2006/main">
              <a:ext uri="{FF2B5EF4-FFF2-40B4-BE49-F238E27FC236}">
                <a16:creationId xmlns:a16="http://schemas.microsoft.com/office/drawing/2014/main" id="{82631ABE-2605-4ABF-A086-9F3A10F992AE}"/>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C-REGRET   29 / 81</a:t>
            </a:r>
          </a:p>
        </p:txBody>
      </p:sp>
    </p:spTree>
    <p:extLst>
      <p:ext uri="{BB962C8B-B14F-4D97-AF65-F5344CB8AC3E}">
        <p14:creationId xmlns:p14="http://schemas.microsoft.com/office/powerpoint/2010/main" val="1064251831"/>
      </p:ext>
    </p:extLst>
  </p:cSld>
</p:sld>
</file>

<file path=ppt/slides/slide3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AC450A-FA6A-4513-9094-07F42834343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30</a:t>
            </a:r>
          </a:p>
        </p:txBody>
      </p:sp>
      <p:sp>
        <p:nvSpPr>
          <p:cNvPr id="2" name="">
            <a:extLst xmlns:a="http://schemas.openxmlformats.org/drawingml/2006/main">
              <a:ext uri="{FF2B5EF4-FFF2-40B4-BE49-F238E27FC236}">
                <a16:creationId xmlns:a16="http://schemas.microsoft.com/office/drawing/2014/main" id="{A07FFE30-3595-4F6F-9A93-92BF2B979602}"/>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The executed supply regression is insufficient for investment forecasting</a:t>
            </a:r>
          </a:p>
        </p:txBody>
      </p:sp>
      <p:sp>
        <p:nvSpPr>
          <p:cNvPr id="3" name="">
            <a:extLst xmlns:a="http://schemas.openxmlformats.org/drawingml/2006/main">
              <a:ext uri="{FF2B5EF4-FFF2-40B4-BE49-F238E27FC236}">
                <a16:creationId xmlns:a16="http://schemas.microsoft.com/office/drawing/2014/main" id="{CF5E28B4-2620-4AEA-8DA7-4B6737F31221}"/>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 small error gain does not turn aggregate food production into product demand.</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Validation, annual log growth</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Result</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Train / held-out records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2,856 /680</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Holdout period</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2019–2022</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Model MAE /country-mean MAE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0.04830 /0.04979</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In-sample R²</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0.00618</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Selection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Reject for investment forecasting; retain benchmarks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CF6353DA-D955-4E40-8E4E-B3AF8E54C3CD}"/>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WB_food_index · WB_income_ppp · WB_urban · WB_cereal_yield</a:t>
            </a:r>
          </a:p>
        </p:txBody>
      </p:sp>
      <p:sp>
        <p:nvSpPr>
          <p:cNvPr id="6" name="">
            <a:extLst xmlns:a="http://schemas.openxmlformats.org/drawingml/2006/main">
              <a:ext uri="{FF2B5EF4-FFF2-40B4-BE49-F238E27FC236}">
                <a16:creationId xmlns:a16="http://schemas.microsoft.com/office/drawing/2014/main" id="{7788B3E1-E092-42CD-A869-6B2C6C38C41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C-OLS   30 / 81</a:t>
            </a:r>
          </a:p>
        </p:txBody>
      </p:sp>
    </p:spTree>
    <p:extLst>
      <p:ext uri="{BB962C8B-B14F-4D97-AF65-F5344CB8AC3E}">
        <p14:creationId xmlns:p14="http://schemas.microsoft.com/office/powerpoint/2010/main" val="36715888"/>
      </p:ext>
    </p:extLst>
  </p:cSld>
</p:sld>
</file>

<file path=ppt/slides/slide3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E17E68-4DD6-484E-8E1C-3870DE63DAF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31</a:t>
            </a:r>
          </a:p>
        </p:txBody>
      </p:sp>
      <p:sp>
        <p:nvSpPr>
          <p:cNvPr id="2" name="">
            <a:extLst xmlns:a="http://schemas.openxmlformats.org/drawingml/2006/main">
              <a:ext uri="{FF2B5EF4-FFF2-40B4-BE49-F238E27FC236}">
                <a16:creationId xmlns:a16="http://schemas.microsoft.com/office/drawing/2014/main" id="{5F8749B7-FC6F-4206-95E1-C61267BACAF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Pre-register contribution and cash, then test incremental marketing</a:t>
            </a:r>
          </a:p>
        </p:txBody>
      </p:sp>
      <p:sp>
        <p:nvSpPr>
          <p:cNvPr id="3" name="">
            <a:extLst xmlns:a="http://schemas.openxmlformats.org/drawingml/2006/main">
              <a:ext uri="{FF2B5EF4-FFF2-40B4-BE49-F238E27FC236}">
                <a16:creationId xmlns:a16="http://schemas.microsoft.com/office/drawing/2014/main" id="{2DB60B6D-1A8F-4D3B-BCCB-F042F26F857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Use randomised route clusters when feasible; otherwise defend the counterfactual.</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Pilot requirement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Concrete specification</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Eligible outcome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Paid sell-through × incremental contribution, net of service/trade cost</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Counterfactual</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Holdout routes with baseline and spillover checks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Sizing</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Baseline variance, detectable effect, clustering and attrition</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Decision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Confidence interval + contribution + funding + sustained repeat</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No claim today</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No measured Olam treatment effect or causal ROMI</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529D69DA-A5F2-408A-9A55-326471D0C5C0}"/>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DID · NOBEL_2021   |   A_PILOT</a:t>
            </a:r>
          </a:p>
        </p:txBody>
      </p:sp>
      <p:sp>
        <p:nvSpPr>
          <p:cNvPr id="6" name="">
            <a:extLst xmlns:a="http://schemas.openxmlformats.org/drawingml/2006/main">
              <a:ext uri="{FF2B5EF4-FFF2-40B4-BE49-F238E27FC236}">
                <a16:creationId xmlns:a16="http://schemas.microsoft.com/office/drawing/2014/main" id="{F024D2F3-E91A-4C79-A168-FAEA2EECD7EE}"/>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C-E18 · C-E19   31 / 81</a:t>
            </a:r>
          </a:p>
        </p:txBody>
      </p:sp>
    </p:spTree>
    <p:extLst>
      <p:ext uri="{BB962C8B-B14F-4D97-AF65-F5344CB8AC3E}">
        <p14:creationId xmlns:p14="http://schemas.microsoft.com/office/powerpoint/2010/main" val="643320117"/>
      </p:ext>
    </p:extLst>
  </p:cSld>
</p:sld>
</file>

<file path=ppt/slides/slide3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94FF17-A306-4320-AFD3-09B65117A149}"/>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32</a:t>
            </a:r>
          </a:p>
        </p:txBody>
      </p:sp>
      <p:sp>
        <p:nvSpPr>
          <p:cNvPr id="2" name="">
            <a:extLst xmlns:a="http://schemas.openxmlformats.org/drawingml/2006/main">
              <a:ext uri="{FF2B5EF4-FFF2-40B4-BE49-F238E27FC236}">
                <a16:creationId xmlns:a16="http://schemas.microsoft.com/office/drawing/2014/main" id="{6C0DAFCC-8145-4F54-BDF4-835022EF1CA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Dates organize review; evidence releases commitments</a:t>
            </a:r>
          </a:p>
        </p:txBody>
      </p:sp>
      <p:sp>
        <p:nvSpPr>
          <p:cNvPr id="3" name="">
            <a:extLst xmlns:a="http://schemas.openxmlformats.org/drawingml/2006/main">
              <a:ext uri="{FF2B5EF4-FFF2-40B4-BE49-F238E27FC236}">
                <a16:creationId xmlns:a16="http://schemas.microsoft.com/office/drawing/2014/main" id="{93F36E8A-D4BE-4408-9D17-A4430AFC0166}"/>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Milestones through 2051 are review windows, not promises of expansion.</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666750">
                <a:tc>
                  <a:txBody>
                    <a:bodyPr/>
                    <a:lstStyle/>
                    <a:p>
                      <a:r>
                        <a:rPr sz="1050" b="1">
                          <a:solidFill>
                            <a:srgbClr val="49624F"/>
                          </a:solidFill>
                          <a:latin typeface="DejaVu Sans"/>
                          <a:ea typeface="DejaVu Sans"/>
                          <a:cs typeface="DejaVu Sans"/>
                        </a:rPr>
                        <a:t>Window</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Capability</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Release condition</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2026–2030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Customer data, route P&amp;L and seasonal cash</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Replicated contribution and legal clearance</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2030–2035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Supplier diversity and modular processing</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Contracted demand, financed cash and resilient delivery</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2035–2045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Reconfigure origins, assets and offers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Updated hazards, customer preferences and opportunity cost</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2045–2051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Renew, repurpose or close capacity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Replacement economics and funded orderly exit</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C7ECCF0F-141D-41D3-BF26-DA40F99E7F1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OECD · UN_WPP   |   A_OUTER</a:t>
            </a:r>
          </a:p>
        </p:txBody>
      </p:sp>
      <p:sp>
        <p:nvSpPr>
          <p:cNvPr id="6" name="">
            <a:extLst xmlns:a="http://schemas.openxmlformats.org/drawingml/2006/main">
              <a:ext uri="{FF2B5EF4-FFF2-40B4-BE49-F238E27FC236}">
                <a16:creationId xmlns:a16="http://schemas.microsoft.com/office/drawing/2014/main" id="{C8F49859-4182-4AAF-8BB0-F992A43A62A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32 / 81</a:t>
            </a:r>
          </a:p>
        </p:txBody>
      </p:sp>
    </p:spTree>
    <p:extLst>
      <p:ext uri="{BB962C8B-B14F-4D97-AF65-F5344CB8AC3E}">
        <p14:creationId xmlns:p14="http://schemas.microsoft.com/office/powerpoint/2010/main" val="958905658"/>
      </p:ext>
    </p:extLst>
  </p:cSld>
</p:sld>
</file>

<file path=ppt/slides/slide3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E13A8B-E33D-4F59-A7FF-3011B419E91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33</a:t>
            </a:r>
          </a:p>
        </p:txBody>
      </p:sp>
      <p:sp>
        <p:nvSpPr>
          <p:cNvPr id="2" name="">
            <a:extLst xmlns:a="http://schemas.openxmlformats.org/drawingml/2006/main">
              <a:ext uri="{FF2B5EF4-FFF2-40B4-BE49-F238E27FC236}">
                <a16:creationId xmlns:a16="http://schemas.microsoft.com/office/drawing/2014/main" id="{DE69F8FB-D6D7-4329-9E07-8350A322807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G0–G7 gives every commitment an owner and a stop rule</a:t>
            </a:r>
          </a:p>
        </p:txBody>
      </p:sp>
      <p:sp>
        <p:nvSpPr>
          <p:cNvPr id="3" name="">
            <a:extLst xmlns:a="http://schemas.openxmlformats.org/drawingml/2006/main">
              <a:ext uri="{FF2B5EF4-FFF2-40B4-BE49-F238E27FC236}">
                <a16:creationId xmlns:a16="http://schemas.microsoft.com/office/drawing/2014/main" id="{EBEFE6AB-F4DA-4354-9433-C051D7BE199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Legal and liquidity failures override an attractive demand story.</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050" b="1">
                          <a:solidFill>
                            <a:srgbClr val="49624F"/>
                          </a:solidFill>
                          <a:latin typeface="DejaVu Sans"/>
                          <a:ea typeface="DejaVu Sans"/>
                          <a:cs typeface="DejaVu Sans"/>
                        </a:rPr>
                        <a:t>Gate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Owner / release evidence</a:t>
                      </a:r>
                    </a:p>
                  </a:txBody>
                  <a:tcPr marL="114300" marR="114300" marT="76200" marB="76200" anchor="t">
                    <a:solidFill>
                      <a:srgbClr val="E7EEE4"/>
                    </a:solidFill>
                  </a:tcPr>
                </a:tc>
              </a:tr>
              <a:tr h="555625">
                <a:tc>
                  <a:txBody>
                    <a:bodyPr/>
                    <a:lstStyle/>
                    <a:p>
                      <a:r>
                        <a:rPr sz="1275">
                          <a:solidFill>
                            <a:srgbClr val="183B2A"/>
                          </a:solidFill>
                          <a:latin typeface="DejaVu Sans"/>
                          <a:ea typeface="DejaVu Sans"/>
                          <a:cs typeface="DejaVu Sans"/>
                        </a:rPr>
                        <a:t>G0 perimeter + G1 access</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Strategy/Legal: right entity, HS, sanctions, rights and licenses</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G2 customer + G3 contribution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Marketing/Finance: paid repeat and costed counterfactual</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G4 capacity + G5 resilience</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Operations: throughput, yield, route and common-shock response</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G6 cash + G7 replication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Treasury/IC: seasonal cash, stress funding and transfer proof</a:t>
                      </a:r>
                    </a:p>
                  </a:txBody>
                  <a:tcPr marL="114300" marR="114300" marT="76200" marB="76200" anchor="t">
                    <a:solidFill>
                      <a:srgbClr val="FFFEF9"/>
                    </a:solidFill>
                  </a:tcPr>
                </a:tc>
              </a:tr>
              <a:tr h="555625">
                <a:tc>
                  <a:txBody>
                    <a:bodyPr/>
                    <a:lstStyle/>
                    <a:p>
                      <a:r>
                        <a:rPr sz="1275">
                          <a:solidFill>
                            <a:srgbClr val="183B2A"/>
                          </a:solidFill>
                          <a:latin typeface="DejaVu Sans"/>
                          <a:ea typeface="DejaVu Sans"/>
                          <a:cs typeface="DejaVu Sans"/>
                        </a:rPr>
                        <a:t>Monitor / stop</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Monthly operational signals; immediate breach escalation</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8A3C2D9E-0157-46D1-9476-BCFB2822B7DB}"/>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A_PILOT</a:t>
            </a:r>
          </a:p>
        </p:txBody>
      </p:sp>
      <p:sp>
        <p:nvSpPr>
          <p:cNvPr id="6" name="">
            <a:extLst xmlns:a="http://schemas.openxmlformats.org/drawingml/2006/main">
              <a:ext uri="{FF2B5EF4-FFF2-40B4-BE49-F238E27FC236}">
                <a16:creationId xmlns:a16="http://schemas.microsoft.com/office/drawing/2014/main" id="{F5E9D77D-B51E-4F1A-8293-EBA9EBB71FE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33 / 81</a:t>
            </a:r>
          </a:p>
        </p:txBody>
      </p:sp>
    </p:spTree>
    <p:extLst>
      <p:ext uri="{BB962C8B-B14F-4D97-AF65-F5344CB8AC3E}">
        <p14:creationId xmlns:p14="http://schemas.microsoft.com/office/powerpoint/2010/main" val="959021900"/>
      </p:ext>
    </p:extLst>
  </p:cSld>
</p:sld>
</file>

<file path=ppt/slides/slide3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E21418-20A9-4D7E-9632-C7B43EEAC55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34</a:t>
            </a:r>
          </a:p>
        </p:txBody>
      </p:sp>
      <p:sp>
        <p:nvSpPr>
          <p:cNvPr id="2" name="">
            <a:extLst xmlns:a="http://schemas.openxmlformats.org/drawingml/2006/main">
              <a:ext uri="{FF2B5EF4-FFF2-40B4-BE49-F238E27FC236}">
                <a16:creationId xmlns:a16="http://schemas.microsoft.com/office/drawing/2014/main" id="{99E01A5C-78BE-4AED-AB48-3EE8FCBDC31E}"/>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I can connect customer experiments to a traceable cash decision</a:t>
            </a:r>
          </a:p>
        </p:txBody>
      </p:sp>
      <p:sp>
        <p:nvSpPr>
          <p:cNvPr id="3" name="">
            <a:extLst xmlns:a="http://schemas.openxmlformats.org/drawingml/2006/main">
              <a:ext uri="{FF2B5EF4-FFF2-40B4-BE49-F238E27FC236}">
                <a16:creationId xmlns:a16="http://schemas.microsoft.com/office/drawing/2014/main" id="{DB97FEB6-619E-4D0E-A510-DD6C9FC0221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My offer is an operating measurement system with Finance-controlled economics.</a:t>
            </a:r>
          </a:p>
        </p:txBody>
      </p:sp>
      <p:graphicFrame>
        <p:nvGraphicFramePr>
          <p:cNvPr id="11" name=""/>
          <p:cNvGraphicFramePr/>
          <p:nvPr/>
        </p:nvGraphicFramePr>
        <p:xfrm>
          <a:off xmlns:a="http://schemas.openxmlformats.org/drawingml/2006/main" x="609600" y="2505075"/>
          <a:ext xmlns:a="http://schemas.openxmlformats.org/drawingml/2006/main" cx="10972800" cy="2143125"/>
        </p:xfrm>
        <a:graphic xmlns:a="http://schemas.openxmlformats.org/drawingml/2006/main">
          <a:graphicData uri="http://schemas.openxmlformats.org/drawingml/2006/table">
            <a:tbl>
              <a:tblPr/>
              <a:tblGrid>
                <a:gridCol w="3429000"/>
                <a:gridCol w="7543800"/>
              </a:tblGrid>
              <a:tr h="535781">
                <a:tc>
                  <a:txBody>
                    <a:bodyPr/>
                    <a:lstStyle/>
                    <a:p>
                      <a:r>
                        <a:rPr sz="1050" b="1">
                          <a:solidFill>
                            <a:srgbClr val="49624F"/>
                          </a:solidFill>
                          <a:latin typeface="DejaVu Sans"/>
                          <a:ea typeface="DejaVu Sans"/>
                          <a:cs typeface="DejaVu Sans"/>
                        </a:rPr>
                        <a:t>Deliverable I can own</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Accountability</a:t>
                      </a:r>
                    </a:p>
                  </a:txBody>
                  <a:tcPr marL="114300" marR="114300" marT="76200" marB="76200" anchor="t">
                    <a:solidFill>
                      <a:srgbClr val="E7EEE4"/>
                    </a:solidFill>
                  </a:tcPr>
                </a:tc>
              </a:tr>
              <a:tr h="535781">
                <a:tc>
                  <a:txBody>
                    <a:bodyPr/>
                    <a:lstStyle/>
                    <a:p>
                      <a:r>
                        <a:rPr sz="1275">
                          <a:solidFill>
                            <a:srgbClr val="183B2A"/>
                          </a:solidFill>
                          <a:latin typeface="DejaVu Sans"/>
                          <a:ea typeface="DejaVu Sans"/>
                          <a:cs typeface="DejaVu Sans"/>
                        </a:rPr>
                        <a:t>Data dictionary + experiment design</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Reconcile eligible records with Finance</a:t>
                      </a:r>
                    </a:p>
                  </a:txBody>
                  <a:tcPr marL="114300" marR="114300" marT="76200" marB="76200" anchor="t">
                    <a:solidFill>
                      <a:srgbClr val="FFFEF9"/>
                    </a:solidFill>
                  </a:tcPr>
                </a:tc>
              </a:tr>
              <a:tr h="535781">
                <a:tc>
                  <a:txBody>
                    <a:bodyPr/>
                    <a:lstStyle/>
                    <a:p>
                      <a:r>
                        <a:rPr sz="1275">
                          <a:solidFill>
                            <a:srgbClr val="183B2A"/>
                          </a:solidFill>
                          <a:latin typeface="DejaVu Sans"/>
                          <a:ea typeface="DejaVu Sans"/>
                          <a:cs typeface="DejaVu Sans"/>
                        </a:rPr>
                        <a:t>Country/customer evidence system</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Version sources and falsifiers</a:t>
                      </a:r>
                    </a:p>
                  </a:txBody>
                  <a:tcPr marL="114300" marR="114300" marT="76200" marB="76200" anchor="t">
                    <a:solidFill>
                      <a:srgbClr val="FFFEF9"/>
                    </a:solidFill>
                  </a:tcPr>
                </a:tc>
              </a:tr>
              <a:tr h="535781">
                <a:tc>
                  <a:txBody>
                    <a:bodyPr/>
                    <a:lstStyle/>
                    <a:p>
                      <a:r>
                        <a:rPr sz="1275">
                          <a:solidFill>
                            <a:srgbClr val="183B2A"/>
                          </a:solidFill>
                          <a:latin typeface="DejaVu Sans"/>
                          <a:ea typeface="DejaVu Sans"/>
                          <a:cs typeface="DejaVu Sans"/>
                        </a:rPr>
                        <a:t>Commercial proof-to-cash reporting</a:t>
                      </a:r>
                    </a:p>
                  </a:txBody>
                  <a:tcPr marL="114300" marR="114300" marT="76200" marB="76200" anchor="t">
                    <a:solidFill>
                      <a:srgbClr val="FFFEF9"/>
                    </a:solidFill>
                  </a:tcPr>
                </a:tc>
                <a:tc>
                  <a:txBody>
                    <a:bodyPr/>
                    <a:lstStyle/>
                    <a:p>
                      <a:r>
                        <a:rPr sz="1275">
                          <a:solidFill>
                            <a:srgbClr val="183B2A"/>
                          </a:solidFill>
                          <a:latin typeface="DejaVu Sans"/>
                          <a:ea typeface="DejaVu Sans"/>
                          <a:cs typeface="DejaVu Sans"/>
                        </a:rPr>
                        <a:t>Separate causal sales, service cost and stock funding</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5892EEDA-1F66-4504-BF34-3C90C24DE5EC}"/>
              </a:ext>
            </a:extLst>
          </p:cNvPr>
          <p:cNvSpPr>
            <a:spLocks xmlns:a="http://schemas.openxmlformats.org/drawingml/2006/main" noGrp="1"/>
          </p:cNvSpPr>
          <p:nvPr/>
        </p:nvSpPr>
        <p:spPr>
          <a:xfrm xmlns:a="http://schemas.openxmlformats.org/drawingml/2006/main">
            <a:off x="609600" y="4857750"/>
            <a:ext cx="10972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MBA at IIM Shillong and chemical engineering combine commercial framing with conversion, constraint and process reasoning.</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Portfolio evidence records a ₹20 m budget and CPM reduction from ₹35.8 to ₹15.5: 56.7% lower CPM. It does not establish Olam sales, profit or category-management outcomes.</a:t>
            </a:r>
          </a:p>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Meghalaya work was a simulation informed by government records; no realised savings are asserted.</a:t>
            </a:r>
          </a:p>
        </p:txBody>
      </p:sp>
      <p:sp>
        <p:nvSpPr>
          <p:cNvPr id="6" name="">
            <a:extLst xmlns:a="http://schemas.openxmlformats.org/drawingml/2006/main">
              <a:ext uri="{FF2B5EF4-FFF2-40B4-BE49-F238E27FC236}">
                <a16:creationId xmlns:a16="http://schemas.microsoft.com/office/drawing/2014/main" id="{A8E18DA0-60D6-4974-BDCE-BE6E4EA2F473}"/>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BASELINE</a:t>
            </a:r>
          </a:p>
        </p:txBody>
      </p:sp>
      <p:sp>
        <p:nvSpPr>
          <p:cNvPr id="7" name="">
            <a:extLst xmlns:a="http://schemas.openxmlformats.org/drawingml/2006/main">
              <a:ext uri="{FF2B5EF4-FFF2-40B4-BE49-F238E27FC236}">
                <a16:creationId xmlns:a16="http://schemas.microsoft.com/office/drawing/2014/main" id="{820E76AE-4E2A-4BB1-9BC1-4DC1A0A673FA}"/>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C-CPM   34 / 81</a:t>
            </a:r>
          </a:p>
        </p:txBody>
      </p:sp>
    </p:spTree>
    <p:extLst>
      <p:ext uri="{BB962C8B-B14F-4D97-AF65-F5344CB8AC3E}">
        <p14:creationId xmlns:p14="http://schemas.microsoft.com/office/powerpoint/2010/main" val="1071075967"/>
      </p:ext>
    </p:extLst>
  </p:cSld>
</p:sld>
</file>

<file path=ppt/slides/slide3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83ABAF-31B1-47EC-98D2-5AC5ED22F4B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35</a:t>
            </a:r>
          </a:p>
        </p:txBody>
      </p:sp>
      <p:sp>
        <p:nvSpPr>
          <p:cNvPr id="2" name="">
            <a:extLst xmlns:a="http://schemas.openxmlformats.org/drawingml/2006/main">
              <a:ext uri="{FF2B5EF4-FFF2-40B4-BE49-F238E27FC236}">
                <a16:creationId xmlns:a16="http://schemas.microsoft.com/office/drawing/2014/main" id="{3B27B9ED-4EA0-4A32-8A39-FFD16305F7B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Ninety days can earn a better decision, not prove a 25-year forecast</a:t>
            </a:r>
          </a:p>
        </p:txBody>
      </p:sp>
      <p:sp>
        <p:nvSpPr>
          <p:cNvPr id="3" name="">
            <a:extLst xmlns:a="http://schemas.openxmlformats.org/drawingml/2006/main">
              <a:ext uri="{FF2B5EF4-FFF2-40B4-BE49-F238E27FC236}">
                <a16:creationId xmlns:a16="http://schemas.microsoft.com/office/drawing/2014/main" id="{17849100-E533-4E4E-8B23-3B8F3854AC91}"/>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Cost and size the pilot only after inspecting baseline variance and available routes.</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095750"/>
                <a:gridCol w="3438525"/>
                <a:gridCol w="3438525"/>
              </a:tblGrid>
              <a:tr h="555625">
                <a:tc>
                  <a:txBody>
                    <a:bodyPr/>
                    <a:lstStyle/>
                    <a:p>
                      <a:r>
                        <a:rPr sz="1050" b="1">
                          <a:solidFill>
                            <a:srgbClr val="49624F"/>
                          </a:solidFill>
                          <a:latin typeface="DejaVu Sans"/>
                          <a:ea typeface="DejaVu Sans"/>
                          <a:cs typeface="DejaVu Sans"/>
                        </a:rPr>
                        <a:t>Days</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Work product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Acceptance</a:t>
                      </a:r>
                    </a:p>
                  </a:txBody>
                  <a:tcPr marL="114300" marR="114300" marT="76200" marB="76200" anchor="t">
                    <a:solidFill>
                      <a:srgbClr val="E7EEE4"/>
                    </a:solidFill>
                  </a:tcPr>
                </a:tc>
              </a:tr>
              <a:tr h="555625">
                <a:tc>
                  <a:txBody>
                    <a:bodyPr/>
                    <a:lstStyle/>
                    <a:p>
                      <a:r>
                        <a:rPr sz="1200">
                          <a:solidFill>
                            <a:srgbClr val="183B2A"/>
                          </a:solidFill>
                          <a:latin typeface="DejaVu Sans"/>
                          <a:ea typeface="DejaVu Sans"/>
                          <a:cs typeface="DejaVu Sans"/>
                        </a:rPr>
                        <a:t>1–15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Data room, entity and customer/route baseline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Finance reconciliation and scope signed</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16–30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Pre-registration, power and controlled rollout plan</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Economically detectable effect and bounded cash cost</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31–60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Execute, audit treatment and delivery</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Track attrition, spillover, service and stock</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61–75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Cash proof and one transferability test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Repeat after support; contribution interval</a:t>
                      </a:r>
                    </a:p>
                  </a:txBody>
                  <a:tcPr marL="114300" marR="114300" marT="76200" marB="76200" anchor="t">
                    <a:solidFill>
                      <a:srgbClr val="FFFEF9"/>
                    </a:solidFill>
                  </a:tcPr>
                </a:tc>
              </a:tr>
              <a:tr h="555625">
                <a:tc>
                  <a:txBody>
                    <a:bodyPr/>
                    <a:lstStyle/>
                    <a:p>
                      <a:r>
                        <a:rPr sz="1200">
                          <a:solidFill>
                            <a:srgbClr val="183B2A"/>
                          </a:solidFill>
                          <a:latin typeface="DejaVu Sans"/>
                          <a:ea typeface="DejaVu Sans"/>
                          <a:cs typeface="DejaVu Sans"/>
                        </a:rPr>
                        <a:t>76–90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Independent review: scale, resize, wait or stop</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Decision memo with falsifiers and funded exposure</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153B9FB7-AB41-4F3B-92FB-E64C41F69C10}"/>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A_PILOT</a:t>
            </a:r>
          </a:p>
        </p:txBody>
      </p:sp>
      <p:sp>
        <p:nvSpPr>
          <p:cNvPr id="6" name="">
            <a:extLst xmlns:a="http://schemas.openxmlformats.org/drawingml/2006/main">
              <a:ext uri="{FF2B5EF4-FFF2-40B4-BE49-F238E27FC236}">
                <a16:creationId xmlns:a16="http://schemas.microsoft.com/office/drawing/2014/main" id="{5BF81803-14B2-479E-BCD5-68C667CCB872}"/>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35 / 81</a:t>
            </a:r>
          </a:p>
        </p:txBody>
      </p:sp>
    </p:spTree>
    <p:extLst>
      <p:ext uri="{BB962C8B-B14F-4D97-AF65-F5344CB8AC3E}">
        <p14:creationId xmlns:p14="http://schemas.microsoft.com/office/powerpoint/2010/main" val="137468957"/>
      </p:ext>
    </p:extLst>
  </p:cSld>
</p:sld>
</file>

<file path=ppt/slides/slide3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D98CFB-1E9A-49CB-ABFB-24F5C2B83E0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EXECUTIVE  /  36</a:t>
            </a:r>
          </a:p>
        </p:txBody>
      </p:sp>
      <p:sp>
        <p:nvSpPr>
          <p:cNvPr id="2" name="">
            <a:extLst xmlns:a="http://schemas.openxmlformats.org/drawingml/2006/main">
              <a:ext uri="{FF2B5EF4-FFF2-40B4-BE49-F238E27FC236}">
                <a16:creationId xmlns:a16="http://schemas.microsoft.com/office/drawing/2014/main" id="{76EDAD14-7D17-429A-A7E5-020ADB053D10}"/>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Approve the evidence programme and challenge its release criteria</a:t>
            </a:r>
          </a:p>
        </p:txBody>
      </p:sp>
      <p:sp>
        <p:nvSpPr>
          <p:cNvPr id="3" name="">
            <a:extLst xmlns:a="http://schemas.openxmlformats.org/drawingml/2006/main">
              <a:ext uri="{FF2B5EF4-FFF2-40B4-BE49-F238E27FC236}">
                <a16:creationId xmlns:a16="http://schemas.microsoft.com/office/drawing/2014/main" id="{DD058877-8E88-4C0A-94CE-DCFD9BDA3B93}"/>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No country asset approval is supported by the present public-data package.</a:t>
            </a:r>
          </a:p>
        </p:txBody>
      </p:sp>
      <p:sp>
        <p:nvSpPr>
          <p:cNvPr id="4" name="">
            <a:extLst xmlns:a="http://schemas.openxmlformats.org/drawingml/2006/main">
              <a:ext uri="{FF2B5EF4-FFF2-40B4-BE49-F238E27FC236}">
                <a16:creationId xmlns:a16="http://schemas.microsoft.com/office/drawing/2014/main" id="{8CBC8A2B-4D75-4DF9-947F-08CA757C0693}"/>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Request customer orders, product/route cost, plant constraints, monthly inventory, AR/AP, tax and currency/hedge records.</a:t>
            </a:r>
          </a:p>
        </p:txBody>
      </p:sp>
      <p:sp>
        <p:nvSpPr>
          <p:cNvPr id="5" name="">
            <a:extLst xmlns:a="http://schemas.openxmlformats.org/drawingml/2006/main">
              <a:ext uri="{FF2B5EF4-FFF2-40B4-BE49-F238E27FC236}">
                <a16:creationId xmlns:a16="http://schemas.microsoft.com/office/drawing/2014/main" id="{EB03190B-DC41-4CE5-A2F1-2426EA6E043F}"/>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Ask country leads to validate ten diligence cases; all other countries retain their explicit atlas disposition.</a:t>
            </a:r>
          </a:p>
        </p:txBody>
      </p:sp>
      <p:sp>
        <p:nvSpPr>
          <p:cNvPr id="6" name="">
            <a:extLst xmlns:a="http://schemas.openxmlformats.org/drawingml/2006/main">
              <a:ext uri="{FF2B5EF4-FFF2-40B4-BE49-F238E27FC236}">
                <a16:creationId xmlns:a16="http://schemas.microsoft.com/office/drawing/2014/main" id="{B99B18D3-ECAF-4AB6-BF75-737C5C6B3844}"/>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Set the costed pilot cap, cash-breach limit and minimum economically material effect with Finance.</a:t>
            </a:r>
          </a:p>
        </p:txBody>
      </p:sp>
      <p:sp>
        <p:nvSpPr>
          <p:cNvPr id="7" name="">
            <a:extLst xmlns:a="http://schemas.openxmlformats.org/drawingml/2006/main">
              <a:ext uri="{FF2B5EF4-FFF2-40B4-BE49-F238E27FC236}">
                <a16:creationId xmlns:a16="http://schemas.microsoft.com/office/drawing/2014/main" id="{1F37FE6F-0108-4EFF-94DE-75033698FF90}"/>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Return in 90 days with measured contribution, repeat, funding and a specific expand/wait/stop proposal.</a:t>
            </a:r>
          </a:p>
        </p:txBody>
      </p:sp>
      <p:sp>
        <p:nvSpPr>
          <p:cNvPr id="8" name="">
            <a:extLst xmlns:a="http://schemas.openxmlformats.org/drawingml/2006/main">
              <a:ext uri="{FF2B5EF4-FFF2-40B4-BE49-F238E27FC236}">
                <a16:creationId xmlns:a16="http://schemas.microsoft.com/office/drawing/2014/main" id="{35E13B9F-EF47-4D4B-8B63-E3330FB9F89D}"/>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A_PILOT</a:t>
            </a:r>
          </a:p>
        </p:txBody>
      </p:sp>
      <p:sp>
        <p:nvSpPr>
          <p:cNvPr id="9" name="">
            <a:extLst xmlns:a="http://schemas.openxmlformats.org/drawingml/2006/main">
              <a:ext uri="{FF2B5EF4-FFF2-40B4-BE49-F238E27FC236}">
                <a16:creationId xmlns:a16="http://schemas.microsoft.com/office/drawing/2014/main" id="{B47E8140-815F-4741-B3E3-969D55F96857}"/>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36 / 81</a:t>
            </a:r>
          </a:p>
        </p:txBody>
      </p:sp>
    </p:spTree>
    <p:extLst>
      <p:ext uri="{BB962C8B-B14F-4D97-AF65-F5344CB8AC3E}">
        <p14:creationId xmlns:p14="http://schemas.microsoft.com/office/powerpoint/2010/main" val="2040742043"/>
      </p:ext>
    </p:extLst>
  </p:cSld>
</p:sld>
</file>

<file path=ppt/slides/slide37.xml><?xml version="1.0" encoding="utf-8"?>
<p:sld xmlns:p="http://schemas.openxmlformats.org/presentationml/2006/main">
  <p:cSld>
    <p:bg>
      <p:bgPr>
        <a:solidFill xmlns:a="http://schemas.openxmlformats.org/drawingml/2006/main">
          <a:srgbClr val="173C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26DA6B-6478-4172-AD9B-58353D8B90D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9C5A9"/>
                </a:solidFill>
                <a:latin typeface="DejaVu Sans"/>
                <a:ea typeface="DejaVu Sans"/>
                <a:cs typeface="DejaVu Sans"/>
              </a:defRPr>
            </a:pPr>
            <a:r>
              <a:rPr sz="900" b="0">
                <a:solidFill>
                  <a:srgbClr val="A9C5A9"/>
                </a:solidFill>
                <a:latin typeface="DejaVu Sans"/>
                <a:ea typeface="DejaVu Sans"/>
                <a:cs typeface="DejaVu Sans"/>
              </a:rPr>
              <a:t>MANASH PROTIM DEORI  /  EXECUTIVE  /  37</a:t>
            </a:r>
          </a:p>
        </p:txBody>
      </p:sp>
      <p:sp>
        <p:nvSpPr>
          <p:cNvPr id="2" name="">
            <a:extLst xmlns:a="http://schemas.openxmlformats.org/drawingml/2006/main">
              <a:ext uri="{FF2B5EF4-FFF2-40B4-BE49-F238E27FC236}">
                <a16:creationId xmlns:a16="http://schemas.microsoft.com/office/drawing/2014/main" id="{E077F07D-E4F7-4A83-9216-06FA635ADC4B}"/>
              </a:ext>
            </a:extLst>
          </p:cNvPr>
          <p:cNvSpPr>
            <a:spLocks xmlns:a="http://schemas.openxmlformats.org/drawingml/2006/main" noGrp="1"/>
          </p:cNvSpPr>
          <p:nvPr/>
        </p:nvSpPr>
        <p:spPr>
          <a:xfrm xmlns:a="http://schemas.openxmlformats.org/drawingml/2006/main">
            <a:off x="609600" y="876300"/>
            <a:ext cx="10972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FFCE9"/>
                </a:solidFill>
                <a:latin typeface="DejaVu Serif"/>
                <a:ea typeface="DejaVu Serif"/>
                <a:cs typeface="DejaVu Serif"/>
              </a:defRPr>
            </a:pPr>
            <a:r>
              <a:rPr sz="4200" b="0">
                <a:solidFill>
                  <a:srgbClr val="FFFCE9"/>
                </a:solidFill>
                <a:latin typeface="DejaVu Serif"/>
                <a:ea typeface="DejaVu Serif"/>
                <a:cs typeface="DejaVu Serif"/>
              </a:rPr>
              <a:t>Thank you</a:t>
            </a:r>
          </a:p>
        </p:txBody>
      </p:sp>
      <p:sp>
        <p:nvSpPr>
          <p:cNvPr id="3" name="">
            <a:extLst xmlns:a="http://schemas.openxmlformats.org/drawingml/2006/main">
              <a:ext uri="{FF2B5EF4-FFF2-40B4-BE49-F238E27FC236}">
                <a16:creationId xmlns:a16="http://schemas.microsoft.com/office/drawing/2014/main" id="{BA835918-0FC0-4650-B70A-924080E58972}"/>
              </a:ext>
            </a:extLst>
          </p:cNvPr>
          <p:cNvSpPr>
            <a:spLocks xmlns:a="http://schemas.openxmlformats.org/drawingml/2006/main" noGrp="1"/>
          </p:cNvSpPr>
          <p:nvPr/>
        </p:nvSpPr>
        <p:spPr>
          <a:xfrm xmlns:a="http://schemas.openxmlformats.org/drawingml/2006/main">
            <a:off x="609600" y="27336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6D2B7"/>
                </a:solidFill>
                <a:latin typeface="DejaVu Sans"/>
                <a:ea typeface="DejaVu Sans"/>
                <a:cs typeface="DejaVu Sans"/>
              </a:defRPr>
            </a:pPr>
            <a:r>
              <a:rPr sz="2100" b="0">
                <a:solidFill>
                  <a:srgbClr val="B6D2B7"/>
                </a:solidFill>
                <a:latin typeface="DejaVu Sans"/>
                <a:ea typeface="DejaVu Sans"/>
                <a:cs typeface="DejaVu Sans"/>
              </a:rPr>
              <a:t>Questions about the assumptions are the next evidence commitment.</a:t>
            </a:r>
          </a:p>
        </p:txBody>
      </p:sp>
      <p:sp>
        <p:nvSpPr>
          <p:cNvPr id="4" name="">
            <a:extLst xmlns:a="http://schemas.openxmlformats.org/drawingml/2006/main">
              <a:ext uri="{FF2B5EF4-FFF2-40B4-BE49-F238E27FC236}">
                <a16:creationId xmlns:a16="http://schemas.microsoft.com/office/drawing/2014/main" id="{A2F21E57-CA1C-4D13-95AB-3090DF406C39}"/>
              </a:ext>
            </a:extLst>
          </p:cNvPr>
          <p:cNvSpPr>
            <a:spLocks xmlns:a="http://schemas.openxmlformats.org/drawingml/2006/main" noGrp="1"/>
          </p:cNvSpPr>
          <p:nvPr/>
        </p:nvSpPr>
        <p:spPr>
          <a:xfrm xmlns:a="http://schemas.openxmlformats.org/drawingml/2006/main">
            <a:off x="609600" y="39052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1E8D5"/>
                </a:solidFill>
                <a:latin typeface="DejaVu Sans"/>
                <a:ea typeface="DejaVu Sans"/>
                <a:cs typeface="DejaVu Sans"/>
              </a:defRPr>
            </a:pPr>
            <a:r>
              <a:rPr sz="1575" b="0">
                <a:solidFill>
                  <a:srgbClr val="E1E8D5"/>
                </a:solidFill>
                <a:latin typeface="DejaVu Sans"/>
                <a:ea typeface="DejaVu Sans"/>
                <a:cs typeface="DejaVu Sans"/>
              </a:rPr>
              <a:t>Manash Protim Deori</a:t>
            </a:r>
          </a:p>
        </p:txBody>
      </p:sp>
      <p:sp>
        <p:nvSpPr>
          <p:cNvPr id="5" name="">
            <a:extLst xmlns:a="http://schemas.openxmlformats.org/drawingml/2006/main">
              <a:ext uri="{FF2B5EF4-FFF2-40B4-BE49-F238E27FC236}">
                <a16:creationId xmlns:a16="http://schemas.microsoft.com/office/drawing/2014/main" id="{19DCF523-6650-433D-BFBA-3F0D9A8A1D3F}"/>
              </a:ext>
            </a:extLst>
          </p:cNvPr>
          <p:cNvSpPr>
            <a:spLocks xmlns:a="http://schemas.openxmlformats.org/drawingml/2006/main" noGrp="1"/>
          </p:cNvSpPr>
          <p:nvPr/>
        </p:nvSpPr>
        <p:spPr>
          <a:xfrm xmlns:a="http://schemas.openxmlformats.org/drawingml/2006/main">
            <a:off x="609600" y="4572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1E8D5"/>
                </a:solidFill>
                <a:latin typeface="DejaVu Sans"/>
                <a:ea typeface="DejaVu Sans"/>
                <a:cs typeface="DejaVu Sans"/>
              </a:defRPr>
            </a:pPr>
            <a:r>
              <a:rPr sz="1575" b="0">
                <a:solidFill>
                  <a:srgbClr val="E1E8D5"/>
                </a:solidFill>
                <a:latin typeface="DejaVu Sans"/>
                <a:ea typeface="DejaVu Sans"/>
                <a:cs typeface="DejaVu Sans"/>
              </a:rPr>
              <a:t>Complete country atlas, editable workbook, source book and reproducible code accompany this presentation.</a:t>
            </a:r>
          </a:p>
        </p:txBody>
      </p:sp>
      <p:sp>
        <p:nvSpPr>
          <p:cNvPr id="6" name="">
            <a:extLst xmlns:a="http://schemas.openxmlformats.org/drawingml/2006/main">
              <a:ext uri="{FF2B5EF4-FFF2-40B4-BE49-F238E27FC236}">
                <a16:creationId xmlns:a16="http://schemas.microsoft.com/office/drawing/2014/main" id="{2083C50B-EFA7-401F-A41B-C3B3773EAF4E}"/>
              </a:ext>
            </a:extLst>
          </p:cNvPr>
          <p:cNvSpPr>
            <a:spLocks xmlns:a="http://schemas.openxmlformats.org/drawingml/2006/main" noGrp="1"/>
          </p:cNvSpPr>
          <p:nvPr/>
        </p:nvSpPr>
        <p:spPr>
          <a:xfrm xmlns:a="http://schemas.openxmlformats.org/drawingml/2006/main">
            <a:off x="609600" y="5238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1E8D5"/>
                </a:solidFill>
                <a:latin typeface="DejaVu Sans"/>
                <a:ea typeface="DejaVu Sans"/>
                <a:cs typeface="DejaVu Sans"/>
              </a:defRPr>
            </a:pPr>
            <a:r>
              <a:rPr sz="1575" b="0">
                <a:solidFill>
                  <a:srgbClr val="E1E8D5"/>
                </a:solidFill>
                <a:latin typeface="DejaVu Sans"/>
                <a:ea typeface="DejaVu Sans"/>
                <a:cs typeface="DejaVu Sans"/>
              </a:rPr>
              <a:t>The technical appendix begins on the next slide.</a:t>
            </a:r>
          </a:p>
        </p:txBody>
      </p:sp>
      <p:sp>
        <p:nvSpPr>
          <p:cNvPr id="7" name="">
            <a:extLst xmlns:a="http://schemas.openxmlformats.org/drawingml/2006/main">
              <a:ext uri="{FF2B5EF4-FFF2-40B4-BE49-F238E27FC236}">
                <a16:creationId xmlns:a16="http://schemas.microsoft.com/office/drawing/2014/main" id="{460045A0-BD6C-41C1-8626-E6BEF98DF37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9EBA9F"/>
                </a:solidFill>
                <a:latin typeface="DejaVu Sans"/>
                <a:ea typeface="DejaVu Sans"/>
                <a:cs typeface="DejaVu Sans"/>
              </a:defRPr>
            </a:pPr>
            <a:r>
              <a:rPr sz="750" b="0">
                <a:solidFill>
                  <a:srgbClr val="9EBA9F"/>
                </a:solidFill>
                <a:latin typeface="DejaVu Sans"/>
                <a:ea typeface="DejaVu Sans"/>
                <a:cs typeface="DejaVu Sans"/>
              </a:rPr>
              <a:t>CONDITIONAL / ILLUSTRATIVE</a:t>
            </a:r>
          </a:p>
        </p:txBody>
      </p:sp>
      <p:sp>
        <p:nvSpPr>
          <p:cNvPr id="8" name="">
            <a:extLst xmlns:a="http://schemas.openxmlformats.org/drawingml/2006/main">
              <a:ext uri="{FF2B5EF4-FFF2-40B4-BE49-F238E27FC236}">
                <a16:creationId xmlns:a16="http://schemas.microsoft.com/office/drawing/2014/main" id="{B3BE73DD-FD6B-4902-9DB2-BDEAFD8C70A9}"/>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9EBA9F"/>
                </a:solidFill>
                <a:latin typeface="DejaVu Sans"/>
                <a:ea typeface="DejaVu Sans"/>
                <a:cs typeface="DejaVu Sans"/>
              </a:defRPr>
            </a:pPr>
            <a:r>
              <a:rPr sz="675" b="0">
                <a:solidFill>
                  <a:srgbClr val="9EBA9F"/>
                </a:solidFill>
                <a:latin typeface="DejaVu Sans"/>
                <a:ea typeface="DejaVu Sans"/>
                <a:cs typeface="DejaVu Sans"/>
              </a:rPr>
              <a:t>   37 / 81</a:t>
            </a:r>
          </a:p>
        </p:txBody>
      </p:sp>
    </p:spTree>
    <p:extLst>
      <p:ext uri="{BB962C8B-B14F-4D97-AF65-F5344CB8AC3E}">
        <p14:creationId xmlns:p14="http://schemas.microsoft.com/office/powerpoint/2010/main" val="979010199"/>
      </p:ext>
    </p:extLst>
  </p:cSld>
</p:sld>
</file>

<file path=ppt/slides/slide3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60C9FB-E143-4F79-8FA7-FC435922072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38</a:t>
            </a:r>
          </a:p>
        </p:txBody>
      </p:sp>
      <p:sp>
        <p:nvSpPr>
          <p:cNvPr id="2" name="">
            <a:extLst xmlns:a="http://schemas.openxmlformats.org/drawingml/2006/main">
              <a:ext uri="{FF2B5EF4-FFF2-40B4-BE49-F238E27FC236}">
                <a16:creationId xmlns:a16="http://schemas.microsoft.com/office/drawing/2014/main" id="{8D8E9EC2-7F77-41C9-A3B0-D161F3787880}"/>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Technical appendix / how to read this package</a:t>
            </a:r>
          </a:p>
        </p:txBody>
      </p:sp>
      <p:sp>
        <p:nvSpPr>
          <p:cNvPr id="3" name="">
            <a:extLst xmlns:a="http://schemas.openxmlformats.org/drawingml/2006/main">
              <a:ext uri="{FF2B5EF4-FFF2-40B4-BE49-F238E27FC236}">
                <a16:creationId xmlns:a16="http://schemas.microsoft.com/office/drawing/2014/main" id="{DDE506EC-D45E-4AB2-923E-680F50FE1B5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Source IDs, assumption IDs and calculation IDs travel with every decision.</a:t>
            </a:r>
          </a:p>
        </p:txBody>
      </p:sp>
      <p:sp>
        <p:nvSpPr>
          <p:cNvPr id="4" name="">
            <a:extLst xmlns:a="http://schemas.openxmlformats.org/drawingml/2006/main">
              <a:ext uri="{FF2B5EF4-FFF2-40B4-BE49-F238E27FC236}">
                <a16:creationId xmlns:a16="http://schemas.microsoft.com/office/drawing/2014/main" id="{4C3F994B-770B-46F8-8EA1-F40BD51E169D}"/>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Reported facts: company perimeter and dated primary statistics. External projections: UN medium population and OECD–FAO through 2035.</a:t>
            </a:r>
          </a:p>
        </p:txBody>
      </p:sp>
      <p:sp>
        <p:nvSpPr>
          <p:cNvPr id="5" name="">
            <a:extLst xmlns:a="http://schemas.openxmlformats.org/drawingml/2006/main">
              <a:ext uri="{FF2B5EF4-FFF2-40B4-BE49-F238E27FC236}">
                <a16:creationId xmlns:a16="http://schemas.microsoft.com/office/drawing/2014/main" id="{A99AA4A4-DB12-488F-9F43-2DCDA9F00D87}"/>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Derived values: arithmetic from sourced inputs. Chosen scenarios/templates: assumptions, not forecasts. Unknown values remain blank.</a:t>
            </a:r>
          </a:p>
        </p:txBody>
      </p:sp>
      <p:sp>
        <p:nvSpPr>
          <p:cNvPr id="6" name="">
            <a:extLst xmlns:a="http://schemas.openxmlformats.org/drawingml/2006/main">
              <a:ext uri="{FF2B5EF4-FFF2-40B4-BE49-F238E27FC236}">
                <a16:creationId xmlns:a16="http://schemas.microsoft.com/office/drawing/2014/main" id="{BE41748F-AB0E-42C7-B53D-56C654BB7A2E}"/>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C-E01–C-E22 teach arithmetic. C-DCF follows full cash; C-OLS records executed validation; C-STRESS and C-REGRET record chosen decision examples.</a:t>
            </a:r>
          </a:p>
        </p:txBody>
      </p:sp>
      <p:sp>
        <p:nvSpPr>
          <p:cNvPr id="7" name="">
            <a:extLst xmlns:a="http://schemas.openxmlformats.org/drawingml/2006/main">
              <a:ext uri="{FF2B5EF4-FFF2-40B4-BE49-F238E27FC236}">
                <a16:creationId xmlns:a16="http://schemas.microsoft.com/office/drawing/2014/main" id="{F1609E7A-5020-4166-A6E0-9F3AD12066C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a:t>
            </a:r>
          </a:p>
        </p:txBody>
      </p:sp>
      <p:sp>
        <p:nvSpPr>
          <p:cNvPr id="8" name="">
            <a:extLst xmlns:a="http://schemas.openxmlformats.org/drawingml/2006/main">
              <a:ext uri="{FF2B5EF4-FFF2-40B4-BE49-F238E27FC236}">
                <a16:creationId xmlns:a16="http://schemas.microsoft.com/office/drawing/2014/main" id="{2B0D7DF4-C975-4C56-B18A-D2ED74EE5F2F}"/>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38 / 81</a:t>
            </a:r>
          </a:p>
        </p:txBody>
      </p:sp>
    </p:spTree>
    <p:extLst>
      <p:ext uri="{BB962C8B-B14F-4D97-AF65-F5344CB8AC3E}">
        <p14:creationId xmlns:p14="http://schemas.microsoft.com/office/powerpoint/2010/main" val="1585905210"/>
      </p:ext>
    </p:extLst>
  </p:cSld>
</p:sld>
</file>

<file path=ppt/slides/slide3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5985FE-D85B-4FD6-9197-1B6419D98C7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39</a:t>
            </a:r>
          </a:p>
        </p:txBody>
      </p:sp>
      <p:sp>
        <p:nvSpPr>
          <p:cNvPr id="2" name="">
            <a:extLst xmlns:a="http://schemas.openxmlformats.org/drawingml/2006/main">
              <a:ext uri="{FF2B5EF4-FFF2-40B4-BE49-F238E27FC236}">
                <a16:creationId xmlns:a16="http://schemas.microsoft.com/office/drawing/2014/main" id="{4ABE8579-D43D-4ED4-AA3D-C4D493EDEE8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01 / Reported margin</a:t>
            </a:r>
          </a:p>
        </p:txBody>
      </p:sp>
      <p:sp>
        <p:nvSpPr>
          <p:cNvPr id="3" name="">
            <a:extLst xmlns:a="http://schemas.openxmlformats.org/drawingml/2006/main">
              <a:ext uri="{FF2B5EF4-FFF2-40B4-BE49-F238E27FC236}">
                <a16:creationId xmlns:a16="http://schemas.microsoft.com/office/drawing/2014/main" id="{7470A4EC-30B1-4447-A8B2-9EBA45A18401}"/>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2.45% derived EBIT margin</a:t>
            </a:r>
          </a:p>
        </p:txBody>
      </p:sp>
      <p:sp>
        <p:nvSpPr>
          <p:cNvPr id="4" name="">
            <a:extLst xmlns:a="http://schemas.openxmlformats.org/drawingml/2006/main">
              <a:ext uri="{FF2B5EF4-FFF2-40B4-BE49-F238E27FC236}">
                <a16:creationId xmlns:a16="http://schemas.microsoft.com/office/drawing/2014/main" id="{2F291968-2B26-4447-8323-EE81D5F87BF6}"/>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Reported/derived evidence</a:t>
            </a:r>
          </a:p>
        </p:txBody>
      </p:sp>
      <p:sp>
        <p:nvSpPr>
          <p:cNvPr id="5" name="">
            <a:extLst xmlns:a="http://schemas.openxmlformats.org/drawingml/2006/main">
              <a:ext uri="{FF2B5EF4-FFF2-40B4-BE49-F238E27FC236}">
                <a16:creationId xmlns:a16="http://schemas.microsoft.com/office/drawing/2014/main" id="{6B399E9D-779E-42C7-92E8-E35F0776DE89}"/>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703.7 / 28,666 × 100 = 2.4548%</a:t>
            </a:r>
          </a:p>
        </p:txBody>
      </p:sp>
      <p:sp>
        <p:nvSpPr>
          <p:cNvPr id="6" name="">
            <a:extLst xmlns:a="http://schemas.openxmlformats.org/drawingml/2006/main">
              <a:ext uri="{FF2B5EF4-FFF2-40B4-BE49-F238E27FC236}">
                <a16:creationId xmlns:a16="http://schemas.microsoft.com/office/drawing/2014/main" id="{03CF1F02-0AF7-482B-9630-1C1861AC053A}"/>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Using rounded revenue of USD28.7 bn gives 2.4519%; keep the same entity, period and currency.</a:t>
            </a:r>
          </a:p>
        </p:txBody>
      </p:sp>
      <p:sp>
        <p:nvSpPr>
          <p:cNvPr id="7" name="">
            <a:extLst xmlns:a="http://schemas.openxmlformats.org/drawingml/2006/main">
              <a:ext uri="{FF2B5EF4-FFF2-40B4-BE49-F238E27FC236}">
                <a16:creationId xmlns:a16="http://schemas.microsoft.com/office/drawing/2014/main" id="{3088EF93-A8FA-496E-8C4A-27CA778C0D9D}"/>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Revenue can grow while margin falls.</a:t>
            </a:r>
          </a:p>
        </p:txBody>
      </p:sp>
      <p:sp>
        <p:nvSpPr>
          <p:cNvPr id="8" name="">
            <a:extLst xmlns:a="http://schemas.openxmlformats.org/drawingml/2006/main">
              <a:ext uri="{FF2B5EF4-FFF2-40B4-BE49-F238E27FC236}">
                <a16:creationId xmlns:a16="http://schemas.microsoft.com/office/drawing/2014/main" id="{D01B65EB-8929-4805-A9E9-944C477D7E4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CO_AR</a:t>
            </a:r>
          </a:p>
        </p:txBody>
      </p:sp>
      <p:sp>
        <p:nvSpPr>
          <p:cNvPr id="9" name="">
            <a:extLst xmlns:a="http://schemas.openxmlformats.org/drawingml/2006/main">
              <a:ext uri="{FF2B5EF4-FFF2-40B4-BE49-F238E27FC236}">
                <a16:creationId xmlns:a16="http://schemas.microsoft.com/office/drawing/2014/main" id="{A918CCC6-B45C-4711-A114-3D5C6A1F3A20}"/>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C-E01   39 / 81</a:t>
            </a:r>
          </a:p>
        </p:txBody>
      </p:sp>
    </p:spTree>
    <p:extLst>
      <p:ext uri="{BB962C8B-B14F-4D97-AF65-F5344CB8AC3E}">
        <p14:creationId xmlns:p14="http://schemas.microsoft.com/office/powerpoint/2010/main" val="1896701738"/>
      </p:ext>
    </p:extLst>
  </p:cSld>
</p:sld>
</file>

<file path=ppt/slides/slide4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E3016B-EC44-4DE8-8855-C8C12A59D53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40</a:t>
            </a:r>
          </a:p>
        </p:txBody>
      </p:sp>
      <p:sp>
        <p:nvSpPr>
          <p:cNvPr id="2" name="">
            <a:extLst xmlns:a="http://schemas.openxmlformats.org/drawingml/2006/main">
              <a:ext uri="{FF2B5EF4-FFF2-40B4-BE49-F238E27FC236}">
                <a16:creationId xmlns:a16="http://schemas.microsoft.com/office/drawing/2014/main" id="{556FF98A-21E2-4441-B0B2-6A079E83600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02 / Demand to delivered sales</a:t>
            </a:r>
          </a:p>
        </p:txBody>
      </p:sp>
      <p:sp>
        <p:nvSpPr>
          <p:cNvPr id="3" name="">
            <a:extLst xmlns:a="http://schemas.openxmlformats.org/drawingml/2006/main">
              <a:ext uri="{FF2B5EF4-FFF2-40B4-BE49-F238E27FC236}">
                <a16:creationId xmlns:a16="http://schemas.microsoft.com/office/drawing/2014/main" id="{D81FB517-469E-410D-B0BC-8D1E2A5325D7}"/>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7,000 delivered tonnes</a:t>
            </a:r>
          </a:p>
        </p:txBody>
      </p:sp>
      <p:sp>
        <p:nvSpPr>
          <p:cNvPr id="4" name="">
            <a:extLst xmlns:a="http://schemas.openxmlformats.org/drawingml/2006/main">
              <a:ext uri="{FF2B5EF4-FFF2-40B4-BE49-F238E27FC236}">
                <a16:creationId xmlns:a16="http://schemas.microsoft.com/office/drawing/2014/main" id="{2626676B-30A7-4E38-9E65-1A1E424214CC}"/>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4BCC5B47-5DC0-43C2-9D40-0059721994C2}"/>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1 m people × 0.1 t × 50% access × 20% capture = 10,000 t orders; min(10,000, 8,000, 7,000) = 7,000 t.</a:t>
            </a:r>
          </a:p>
        </p:txBody>
      </p:sp>
      <p:sp>
        <p:nvSpPr>
          <p:cNvPr id="6" name="">
            <a:extLst xmlns:a="http://schemas.openxmlformats.org/drawingml/2006/main">
              <a:ext uri="{FF2B5EF4-FFF2-40B4-BE49-F238E27FC236}">
                <a16:creationId xmlns:a16="http://schemas.microsoft.com/office/drawing/2014/main" id="{A23CF37F-52DF-46E3-B3AC-B0C6FE407526}"/>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Demand, access and capture are chosen inputs. Unmet orders cannot count as revenue.</a:t>
            </a:r>
          </a:p>
        </p:txBody>
      </p:sp>
      <p:sp>
        <p:nvSpPr>
          <p:cNvPr id="7" name="">
            <a:extLst xmlns:a="http://schemas.openxmlformats.org/drawingml/2006/main">
              <a:ext uri="{FF2B5EF4-FFF2-40B4-BE49-F238E27FC236}">
                <a16:creationId xmlns:a16="http://schemas.microsoft.com/office/drawing/2014/main" id="{A6CD6422-D85A-4B10-9E96-337043B0E10A}"/>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If route capacity reaches 9,000 t, plant capacity still caps delivery at 8,000 t.</a:t>
            </a:r>
          </a:p>
        </p:txBody>
      </p:sp>
      <p:sp>
        <p:nvSpPr>
          <p:cNvPr id="8" name="">
            <a:extLst xmlns:a="http://schemas.openxmlformats.org/drawingml/2006/main">
              <a:ext uri="{FF2B5EF4-FFF2-40B4-BE49-F238E27FC236}">
                <a16:creationId xmlns:a16="http://schemas.microsoft.com/office/drawing/2014/main" id="{0AF512CD-3A54-483C-AA4E-31D657EC589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871424F2-0D1A-4DE3-860A-4469792B932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C-E02   40 / 81</a:t>
            </a:r>
          </a:p>
        </p:txBody>
      </p:sp>
    </p:spTree>
    <p:extLst>
      <p:ext uri="{BB962C8B-B14F-4D97-AF65-F5344CB8AC3E}">
        <p14:creationId xmlns:p14="http://schemas.microsoft.com/office/powerpoint/2010/main" val="1068671775"/>
      </p:ext>
    </p:extLst>
  </p:cSld>
</p:sld>
</file>

<file path=ppt/slides/slide4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EDDCD4-6B67-4FC2-A0CD-ED0286F4EFD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41</a:t>
            </a:r>
          </a:p>
        </p:txBody>
      </p:sp>
      <p:sp>
        <p:nvSpPr>
          <p:cNvPr id="2" name="">
            <a:extLst xmlns:a="http://schemas.openxmlformats.org/drawingml/2006/main">
              <a:ext uri="{FF2B5EF4-FFF2-40B4-BE49-F238E27FC236}">
                <a16:creationId xmlns:a16="http://schemas.microsoft.com/office/drawing/2014/main" id="{1CA93590-BD74-409E-883A-07801FA5AA1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03 / Volume, revenue and EBITDA</a:t>
            </a:r>
          </a:p>
        </p:txBody>
      </p:sp>
      <p:sp>
        <p:nvSpPr>
          <p:cNvPr id="3" name="">
            <a:extLst xmlns:a="http://schemas.openxmlformats.org/drawingml/2006/main">
              <a:ext uri="{FF2B5EF4-FFF2-40B4-BE49-F238E27FC236}">
                <a16:creationId xmlns:a16="http://schemas.microsoft.com/office/drawing/2014/main" id="{ECB04D57-02D7-43D6-AFC0-25B1CFBB4B1A}"/>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USD4m EBITDA</a:t>
            </a:r>
          </a:p>
        </p:txBody>
      </p:sp>
      <p:sp>
        <p:nvSpPr>
          <p:cNvPr id="4" name="">
            <a:extLst xmlns:a="http://schemas.openxmlformats.org/drawingml/2006/main">
              <a:ext uri="{FF2B5EF4-FFF2-40B4-BE49-F238E27FC236}">
                <a16:creationId xmlns:a16="http://schemas.microsoft.com/office/drawing/2014/main" id="{D272F681-12ED-434E-8EE0-794A40C10441}"/>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C961E30E-7913-48D6-A72F-BA8AC5DED1F6}"/>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100,000 t × USD400/t = USD40 m revenue; costs = USD34 m; contribution = USD6 m; less USD2 m fixed cost = USD4 m EBITDA.</a:t>
            </a:r>
          </a:p>
        </p:txBody>
      </p:sp>
      <p:sp>
        <p:nvSpPr>
          <p:cNvPr id="6" name="">
            <a:extLst xmlns:a="http://schemas.openxmlformats.org/drawingml/2006/main">
              <a:ext uri="{FF2B5EF4-FFF2-40B4-BE49-F238E27FC236}">
                <a16:creationId xmlns:a16="http://schemas.microsoft.com/office/drawing/2014/main" id="{486DABE4-5C5C-4DA9-A64D-DA23154C5CEF}"/>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EBITDA omits cash tax, capital spending and working cash. These are chosen saleable-volume and net-price inputs.</a:t>
            </a:r>
          </a:p>
        </p:txBody>
      </p:sp>
      <p:sp>
        <p:nvSpPr>
          <p:cNvPr id="7" name="">
            <a:extLst xmlns:a="http://schemas.openxmlformats.org/drawingml/2006/main">
              <a:ext uri="{FF2B5EF4-FFF2-40B4-BE49-F238E27FC236}">
                <a16:creationId xmlns:a16="http://schemas.microsoft.com/office/drawing/2014/main" id="{9420C2DF-7D4D-4108-86ED-BEDAF6A8E3AE}"/>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USD10/t price change at unchanged volume changes EBITDA by USD1 m.</a:t>
            </a:r>
          </a:p>
        </p:txBody>
      </p:sp>
      <p:sp>
        <p:nvSpPr>
          <p:cNvPr id="8" name="">
            <a:extLst xmlns:a="http://schemas.openxmlformats.org/drawingml/2006/main">
              <a:ext uri="{FF2B5EF4-FFF2-40B4-BE49-F238E27FC236}">
                <a16:creationId xmlns:a16="http://schemas.microsoft.com/office/drawing/2014/main" id="{B306ED9D-2CD4-4FDB-876C-40D36547335D}"/>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446981D0-0F17-4CCC-820F-EC4A9EF72931}"/>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C-E03   41 / 81</a:t>
            </a:r>
          </a:p>
        </p:txBody>
      </p:sp>
    </p:spTree>
    <p:extLst>
      <p:ext uri="{BB962C8B-B14F-4D97-AF65-F5344CB8AC3E}">
        <p14:creationId xmlns:p14="http://schemas.microsoft.com/office/powerpoint/2010/main" val="546299356"/>
      </p:ext>
    </p:extLst>
  </p:cSld>
</p:sld>
</file>

<file path=ppt/slides/slide4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024D59-612C-45C1-B661-1097EA4FD78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42</a:t>
            </a:r>
          </a:p>
        </p:txBody>
      </p:sp>
      <p:sp>
        <p:nvSpPr>
          <p:cNvPr id="2" name="">
            <a:extLst xmlns:a="http://schemas.openxmlformats.org/drawingml/2006/main">
              <a:ext uri="{FF2B5EF4-FFF2-40B4-BE49-F238E27FC236}">
                <a16:creationId xmlns:a16="http://schemas.microsoft.com/office/drawing/2014/main" id="{947F86BE-8CCC-456B-9F58-222881382402}"/>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04 / Yield and by-products</a:t>
            </a:r>
          </a:p>
        </p:txBody>
      </p:sp>
      <p:sp>
        <p:nvSpPr>
          <p:cNvPr id="3" name="">
            <a:extLst xmlns:a="http://schemas.openxmlformats.org/drawingml/2006/main">
              <a:ext uri="{FF2B5EF4-FFF2-40B4-BE49-F238E27FC236}">
                <a16:creationId xmlns:a16="http://schemas.microsoft.com/office/drawing/2014/main" id="{8BB5E240-6C1C-42E4-8DA0-BAE688010F3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111,111 tonnes of input</a:t>
            </a:r>
          </a:p>
        </p:txBody>
      </p:sp>
      <p:sp>
        <p:nvSpPr>
          <p:cNvPr id="4" name="">
            <a:extLst xmlns:a="http://schemas.openxmlformats.org/drawingml/2006/main">
              <a:ext uri="{FF2B5EF4-FFF2-40B4-BE49-F238E27FC236}">
                <a16:creationId xmlns:a16="http://schemas.microsoft.com/office/drawing/2014/main" id="{F733F6EC-B103-4A06-9E1D-442C2BC3AED5}"/>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0E6437DF-E41E-4773-A6DF-D09326B88865}"/>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100,000 t output / 90% yield = 111,111 t input; 6% by-product = 6,667 t; 4% loss = 4,444 t.</a:t>
            </a:r>
          </a:p>
        </p:txBody>
      </p:sp>
      <p:sp>
        <p:nvSpPr>
          <p:cNvPr id="6" name="">
            <a:extLst xmlns:a="http://schemas.openxmlformats.org/drawingml/2006/main">
              <a:ext uri="{FF2B5EF4-FFF2-40B4-BE49-F238E27FC236}">
                <a16:creationId xmlns:a16="http://schemas.microsoft.com/office/drawing/2014/main" id="{3388C92F-37AC-4EA2-872B-46A959229D1F}"/>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By-products may earn revenue. Their quality, price and conversion cost need evidence.</a:t>
            </a:r>
          </a:p>
        </p:txBody>
      </p:sp>
      <p:sp>
        <p:nvSpPr>
          <p:cNvPr id="7" name="">
            <a:extLst xmlns:a="http://schemas.openxmlformats.org/drawingml/2006/main">
              <a:ext uri="{FF2B5EF4-FFF2-40B4-BE49-F238E27FC236}">
                <a16:creationId xmlns:a16="http://schemas.microsoft.com/office/drawing/2014/main" id="{2F238873-3988-46BA-8BF3-F91A902DA043}"/>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At 95% main yield, input is 105,263 t. Reconcile the remaining mass separately.</a:t>
            </a:r>
          </a:p>
        </p:txBody>
      </p:sp>
      <p:sp>
        <p:nvSpPr>
          <p:cNvPr id="8" name="">
            <a:extLst xmlns:a="http://schemas.openxmlformats.org/drawingml/2006/main">
              <a:ext uri="{FF2B5EF4-FFF2-40B4-BE49-F238E27FC236}">
                <a16:creationId xmlns:a16="http://schemas.microsoft.com/office/drawing/2014/main" id="{4BDD0F23-7544-4A0D-ACC1-AFDBBC21584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CF1878F9-38C8-4601-8359-4C8B6F326732}"/>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C-E04   42 / 81</a:t>
            </a:r>
          </a:p>
        </p:txBody>
      </p:sp>
    </p:spTree>
    <p:extLst>
      <p:ext uri="{BB962C8B-B14F-4D97-AF65-F5344CB8AC3E}">
        <p14:creationId xmlns:p14="http://schemas.microsoft.com/office/powerpoint/2010/main" val="286311196"/>
      </p:ext>
    </p:extLst>
  </p:cSld>
</p:sld>
</file>

<file path=ppt/slides/slide4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AC9854-7952-4858-81D9-D8D58EDFF97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43</a:t>
            </a:r>
          </a:p>
        </p:txBody>
      </p:sp>
      <p:sp>
        <p:nvSpPr>
          <p:cNvPr id="2" name="">
            <a:extLst xmlns:a="http://schemas.openxmlformats.org/drawingml/2006/main">
              <a:ext uri="{FF2B5EF4-FFF2-40B4-BE49-F238E27FC236}">
                <a16:creationId xmlns:a16="http://schemas.microsoft.com/office/drawing/2014/main" id="{F1561A8D-5BB0-4E76-BC32-CFFAF346FC1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05 / Customer cost per usable output</a:t>
            </a:r>
          </a:p>
        </p:txBody>
      </p:sp>
      <p:sp>
        <p:nvSpPr>
          <p:cNvPr id="3" name="">
            <a:extLst xmlns:a="http://schemas.openxmlformats.org/drawingml/2006/main">
              <a:ext uri="{FF2B5EF4-FFF2-40B4-BE49-F238E27FC236}">
                <a16:creationId xmlns:a16="http://schemas.microsoft.com/office/drawing/2014/main" id="{47D0749F-706D-487C-A32C-495A2CFA564B}"/>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B costs 3.57% less per usable kg</a:t>
            </a:r>
          </a:p>
        </p:txBody>
      </p:sp>
      <p:sp>
        <p:nvSpPr>
          <p:cNvPr id="4" name="">
            <a:extLst xmlns:a="http://schemas.openxmlformats.org/drawingml/2006/main">
              <a:ext uri="{FF2B5EF4-FFF2-40B4-BE49-F238E27FC236}">
                <a16:creationId xmlns:a16="http://schemas.microsoft.com/office/drawing/2014/main" id="{E6ED8001-F6C2-4401-856A-F51595FC8ECB}"/>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80241C20-450F-4A8A-8909-85AAD802B89E}"/>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Offer A: (USD30 + USD5) / 45 kg = USD0.7778/kg. Offer B: (USD32 + USD4) / 48 kg = USD0.7500/kg.</a:t>
            </a:r>
          </a:p>
        </p:txBody>
      </p:sp>
      <p:sp>
        <p:nvSpPr>
          <p:cNvPr id="6" name="">
            <a:extLst xmlns:a="http://schemas.openxmlformats.org/drawingml/2006/main">
              <a:ext uri="{FF2B5EF4-FFF2-40B4-BE49-F238E27FC236}">
                <a16:creationId xmlns:a16="http://schemas.microsoft.com/office/drawing/2014/main" id="{0172F21D-2B5F-4C7D-B27C-37CA6728A6C6}"/>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Chosen flour-like inputs. Paid adoption also depends on cash, trust and availability.</a:t>
            </a:r>
          </a:p>
        </p:txBody>
      </p:sp>
      <p:sp>
        <p:nvSpPr>
          <p:cNvPr id="7" name="">
            <a:extLst xmlns:a="http://schemas.openxmlformats.org/drawingml/2006/main">
              <a:ext uri="{FF2B5EF4-FFF2-40B4-BE49-F238E27FC236}">
                <a16:creationId xmlns:a16="http://schemas.microsoft.com/office/drawing/2014/main" id="{6E33E44A-D808-4D91-82DB-EDBBF508DBD6}"/>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If B produces only 45 kg, cost rises to USD0.80/kg and reverses the advantage.</a:t>
            </a:r>
          </a:p>
        </p:txBody>
      </p:sp>
      <p:sp>
        <p:nvSpPr>
          <p:cNvPr id="8" name="">
            <a:extLst xmlns:a="http://schemas.openxmlformats.org/drawingml/2006/main">
              <a:ext uri="{FF2B5EF4-FFF2-40B4-BE49-F238E27FC236}">
                <a16:creationId xmlns:a16="http://schemas.microsoft.com/office/drawing/2014/main" id="{3D8D8EF9-8D2C-45A8-824E-82377E9C189B}"/>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6BAF2C6D-C3CE-4107-AF18-3B3A1F4211A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C-E05   43 / 81</a:t>
            </a:r>
          </a:p>
        </p:txBody>
      </p:sp>
    </p:spTree>
    <p:extLst>
      <p:ext uri="{BB962C8B-B14F-4D97-AF65-F5344CB8AC3E}">
        <p14:creationId xmlns:p14="http://schemas.microsoft.com/office/powerpoint/2010/main" val="43944037"/>
      </p:ext>
    </p:extLst>
  </p:cSld>
</p:sld>
</file>

<file path=ppt/slides/slide4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8548CC-5189-4F93-8FAF-0AF3F311CE6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44</a:t>
            </a:r>
          </a:p>
        </p:txBody>
      </p:sp>
      <p:sp>
        <p:nvSpPr>
          <p:cNvPr id="2" name="">
            <a:extLst xmlns:a="http://schemas.openxmlformats.org/drawingml/2006/main">
              <a:ext uri="{FF2B5EF4-FFF2-40B4-BE49-F238E27FC236}">
                <a16:creationId xmlns:a16="http://schemas.microsoft.com/office/drawing/2014/main" id="{0E458EF3-A6CD-47E0-A2EC-012C731FA24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06 / Pack cash and cost per meal</a:t>
            </a:r>
          </a:p>
        </p:txBody>
      </p:sp>
      <p:sp>
        <p:nvSpPr>
          <p:cNvPr id="3" name="">
            <a:extLst xmlns:a="http://schemas.openxmlformats.org/drawingml/2006/main">
              <a:ext uri="{FF2B5EF4-FFF2-40B4-BE49-F238E27FC236}">
                <a16:creationId xmlns:a16="http://schemas.microsoft.com/office/drawing/2014/main" id="{C5D2EB8E-DC29-4CF7-B102-E95F60CB953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Small cash ticket ₦600; large pack 14.29% cheaper per meal</a:t>
            </a:r>
          </a:p>
        </p:txBody>
      </p:sp>
      <p:sp>
        <p:nvSpPr>
          <p:cNvPr id="4" name="">
            <a:extLst xmlns:a="http://schemas.openxmlformats.org/drawingml/2006/main">
              <a:ext uri="{FF2B5EF4-FFF2-40B4-BE49-F238E27FC236}">
                <a16:creationId xmlns:a16="http://schemas.microsoft.com/office/drawing/2014/main" id="{F89065CC-3F9B-4CCD-8D0E-62E640AAC1AB}"/>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D937CC10-5AED-4EA5-A563-10AA1F1B6494}"/>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Small: (₦600 + ₦100 prep) / 5 meals = ₦140/meal. Large: (₦2,000 + ₦400 prep) / 20 meals = ₦120/meal.</a:t>
            </a:r>
          </a:p>
        </p:txBody>
      </p:sp>
      <p:sp>
        <p:nvSpPr>
          <p:cNvPr id="6" name="">
            <a:extLst xmlns:a="http://schemas.openxmlformats.org/drawingml/2006/main">
              <a:ext uri="{FF2B5EF4-FFF2-40B4-BE49-F238E27FC236}">
                <a16:creationId xmlns:a16="http://schemas.microsoft.com/office/drawing/2014/main" id="{2FB9C93F-F586-4911-BC96-9B58D8423E34}"/>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Chosen Nigerian cash units and serving size. The large pack needs more upfront cash.</a:t>
            </a:r>
          </a:p>
        </p:txBody>
      </p:sp>
      <p:sp>
        <p:nvSpPr>
          <p:cNvPr id="7" name="">
            <a:extLst xmlns:a="http://schemas.openxmlformats.org/drawingml/2006/main">
              <a:ext uri="{FF2B5EF4-FFF2-40B4-BE49-F238E27FC236}">
                <a16:creationId xmlns:a16="http://schemas.microsoft.com/office/drawing/2014/main" id="{5CE150A6-A7B7-42C8-9170-A3434EA55A6A}"/>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Large purchase cash is 3.33 times the small pack, despite lower cost per meal.</a:t>
            </a:r>
          </a:p>
        </p:txBody>
      </p:sp>
      <p:sp>
        <p:nvSpPr>
          <p:cNvPr id="8" name="">
            <a:extLst xmlns:a="http://schemas.openxmlformats.org/drawingml/2006/main">
              <a:ext uri="{FF2B5EF4-FFF2-40B4-BE49-F238E27FC236}">
                <a16:creationId xmlns:a16="http://schemas.microsoft.com/office/drawing/2014/main" id="{EF8C8D75-40F2-4D4B-98E9-DD9BAA259F6E}"/>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FF22EC82-5946-4A05-A2C2-9016CC366B2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C-E06   44 / 81</a:t>
            </a:r>
          </a:p>
        </p:txBody>
      </p:sp>
    </p:spTree>
    <p:extLst>
      <p:ext uri="{BB962C8B-B14F-4D97-AF65-F5344CB8AC3E}">
        <p14:creationId xmlns:p14="http://schemas.microsoft.com/office/powerpoint/2010/main" val="2101805276"/>
      </p:ext>
    </p:extLst>
  </p:cSld>
</p:sld>
</file>

<file path=ppt/slides/slide4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DF42E9-D99C-4472-956E-0913DF31244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45</a:t>
            </a:r>
          </a:p>
        </p:txBody>
      </p:sp>
      <p:sp>
        <p:nvSpPr>
          <p:cNvPr id="2" name="">
            <a:extLst xmlns:a="http://schemas.openxmlformats.org/drawingml/2006/main">
              <a:ext uri="{FF2B5EF4-FFF2-40B4-BE49-F238E27FC236}">
                <a16:creationId xmlns:a16="http://schemas.microsoft.com/office/drawing/2014/main" id="{449571DF-F02C-4555-9D83-4BCBE3272F7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07 / Percent versus percentage points</a:t>
            </a:r>
          </a:p>
        </p:txBody>
      </p:sp>
      <p:sp>
        <p:nvSpPr>
          <p:cNvPr id="3" name="">
            <a:extLst xmlns:a="http://schemas.openxmlformats.org/drawingml/2006/main">
              <a:ext uri="{FF2B5EF4-FFF2-40B4-BE49-F238E27FC236}">
                <a16:creationId xmlns:a16="http://schemas.microsoft.com/office/drawing/2014/main" id="{E2DD9973-C9A2-4AC1-88EA-A23B2F2B772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2 percentage points; 25% relative increase</a:t>
            </a:r>
          </a:p>
        </p:txBody>
      </p:sp>
      <p:sp>
        <p:nvSpPr>
          <p:cNvPr id="4" name="">
            <a:extLst xmlns:a="http://schemas.openxmlformats.org/drawingml/2006/main">
              <a:ext uri="{FF2B5EF4-FFF2-40B4-BE49-F238E27FC236}">
                <a16:creationId xmlns:a16="http://schemas.microsoft.com/office/drawing/2014/main" id="{B3C2D9F2-8F3B-45E3-BE10-93F4E8BBBA2D}"/>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C57A75F4-F960-4206-90D9-D1B319C5E862}"/>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10% − 8% = 2 percentage points. Relative increase = (10 − 8) / 8 = 25%.</a:t>
            </a:r>
          </a:p>
        </p:txBody>
      </p:sp>
      <p:sp>
        <p:nvSpPr>
          <p:cNvPr id="6" name="">
            <a:extLst xmlns:a="http://schemas.openxmlformats.org/drawingml/2006/main">
              <a:ext uri="{FF2B5EF4-FFF2-40B4-BE49-F238E27FC236}">
                <a16:creationId xmlns:a16="http://schemas.microsoft.com/office/drawing/2014/main" id="{DFFA38FC-55DE-4E7C-B090-919CE70013F0}"/>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margin change is not the same measure as revenue growth.</a:t>
            </a:r>
          </a:p>
        </p:txBody>
      </p:sp>
      <p:sp>
        <p:nvSpPr>
          <p:cNvPr id="7" name="">
            <a:extLst xmlns:a="http://schemas.openxmlformats.org/drawingml/2006/main">
              <a:ext uri="{FF2B5EF4-FFF2-40B4-BE49-F238E27FC236}">
                <a16:creationId xmlns:a16="http://schemas.microsoft.com/office/drawing/2014/main" id="{E65492C2-23A0-4837-ACE5-7151324BBDA0}"/>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On USD100 revenue, profit rises from USD8 to USD10.</a:t>
            </a:r>
          </a:p>
        </p:txBody>
      </p:sp>
      <p:sp>
        <p:nvSpPr>
          <p:cNvPr id="8" name="">
            <a:extLst xmlns:a="http://schemas.openxmlformats.org/drawingml/2006/main">
              <a:ext uri="{FF2B5EF4-FFF2-40B4-BE49-F238E27FC236}">
                <a16:creationId xmlns:a16="http://schemas.microsoft.com/office/drawing/2014/main" id="{B635D762-2EB7-49CA-8547-912CABF280A9}"/>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F38DD957-8974-41B6-B6D4-382177E7221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C-E07   45 / 81</a:t>
            </a:r>
          </a:p>
        </p:txBody>
      </p:sp>
    </p:spTree>
    <p:extLst>
      <p:ext uri="{BB962C8B-B14F-4D97-AF65-F5344CB8AC3E}">
        <p14:creationId xmlns:p14="http://schemas.microsoft.com/office/powerpoint/2010/main" val="1403734360"/>
      </p:ext>
    </p:extLst>
  </p:cSld>
</p:sld>
</file>

<file path=ppt/slides/slide4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50E785-2BA3-471A-BA22-CD3AC9BC01B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46</a:t>
            </a:r>
          </a:p>
        </p:txBody>
      </p:sp>
      <p:sp>
        <p:nvSpPr>
          <p:cNvPr id="2" name="">
            <a:extLst xmlns:a="http://schemas.openxmlformats.org/drawingml/2006/main">
              <a:ext uri="{FF2B5EF4-FFF2-40B4-BE49-F238E27FC236}">
                <a16:creationId xmlns:a16="http://schemas.microsoft.com/office/drawing/2014/main" id="{AB4EF12F-E389-4F23-93A7-AC2E12AEFDF5}"/>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08 / Profit to free cash</a:t>
            </a:r>
          </a:p>
        </p:txBody>
      </p:sp>
      <p:sp>
        <p:nvSpPr>
          <p:cNvPr id="3" name="">
            <a:extLst xmlns:a="http://schemas.openxmlformats.org/drawingml/2006/main">
              <a:ext uri="{FF2B5EF4-FFF2-40B4-BE49-F238E27FC236}">
                <a16:creationId xmlns:a16="http://schemas.microsoft.com/office/drawing/2014/main" id="{125C70A8-6655-4E60-A6C3-B811874D60DB}"/>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USD1.25m free cash flow</a:t>
            </a:r>
          </a:p>
        </p:txBody>
      </p:sp>
      <p:sp>
        <p:nvSpPr>
          <p:cNvPr id="4" name="">
            <a:extLst xmlns:a="http://schemas.openxmlformats.org/drawingml/2006/main">
              <a:ext uri="{FF2B5EF4-FFF2-40B4-BE49-F238E27FC236}">
                <a16:creationId xmlns:a16="http://schemas.microsoft.com/office/drawing/2014/main" id="{ADC4364D-950A-4C58-8F2D-42C964AC43E1}"/>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9B650661-D2A0-41F4-BF3D-7DF6A1CC39D6}"/>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EBITDA 4 − D&amp;A 1 = EBIT 3; tax = 0.75. FCFF = 3 − 0.75 + 1 − 0.6 − 0.4 − 1 = 1.25 (USDm).</a:t>
            </a:r>
          </a:p>
        </p:txBody>
      </p:sp>
      <p:sp>
        <p:nvSpPr>
          <p:cNvPr id="6" name="">
            <a:extLst xmlns:a="http://schemas.openxmlformats.org/drawingml/2006/main">
              <a:ext uri="{FF2B5EF4-FFF2-40B4-BE49-F238E27FC236}">
                <a16:creationId xmlns:a16="http://schemas.microsoft.com/office/drawing/2014/main" id="{D4E0776C-22DD-41D0-853A-A6586B636F22}"/>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Assume no prior tax losses, 25% tax, USD0.6 m maintenance and USD0.4 m growth capex.</a:t>
            </a:r>
          </a:p>
        </p:txBody>
      </p:sp>
      <p:sp>
        <p:nvSpPr>
          <p:cNvPr id="7" name="">
            <a:extLst xmlns:a="http://schemas.openxmlformats.org/drawingml/2006/main">
              <a:ext uri="{FF2B5EF4-FFF2-40B4-BE49-F238E27FC236}">
                <a16:creationId xmlns:a16="http://schemas.microsoft.com/office/drawing/2014/main" id="{ADAD43D9-C39C-44DB-9F0A-0A9C33F14EC8}"/>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If NWC does not increase, this period’s cash rises by USD1 m.</a:t>
            </a:r>
          </a:p>
        </p:txBody>
      </p:sp>
      <p:sp>
        <p:nvSpPr>
          <p:cNvPr id="8" name="">
            <a:extLst xmlns:a="http://schemas.openxmlformats.org/drawingml/2006/main">
              <a:ext uri="{FF2B5EF4-FFF2-40B4-BE49-F238E27FC236}">
                <a16:creationId xmlns:a16="http://schemas.microsoft.com/office/drawing/2014/main" id="{A7FB723E-192A-4331-9BCD-CFAF11B555EC}"/>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B0F7F141-41B4-43CD-8C4A-410C9DDEB5AC}"/>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C-E08   46 / 81</a:t>
            </a:r>
          </a:p>
        </p:txBody>
      </p:sp>
    </p:spTree>
    <p:extLst>
      <p:ext uri="{BB962C8B-B14F-4D97-AF65-F5344CB8AC3E}">
        <p14:creationId xmlns:p14="http://schemas.microsoft.com/office/powerpoint/2010/main" val="112808528"/>
      </p:ext>
    </p:extLst>
  </p:cSld>
</p:sld>
</file>

<file path=ppt/slides/slide4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99A53D-918C-4736-969C-BCE2750D0788}"/>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47</a:t>
            </a:r>
          </a:p>
        </p:txBody>
      </p:sp>
      <p:sp>
        <p:nvSpPr>
          <p:cNvPr id="2" name="">
            <a:extLst xmlns:a="http://schemas.openxmlformats.org/drawingml/2006/main">
              <a:ext uri="{FF2B5EF4-FFF2-40B4-BE49-F238E27FC236}">
                <a16:creationId xmlns:a16="http://schemas.microsoft.com/office/drawing/2014/main" id="{320769E4-4519-4B1D-9754-5EB4CCA52D7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09 / Working-capital release</a:t>
            </a:r>
          </a:p>
        </p:txBody>
      </p:sp>
      <p:sp>
        <p:nvSpPr>
          <p:cNvPr id="3" name="">
            <a:extLst xmlns:a="http://schemas.openxmlformats.org/drawingml/2006/main">
              <a:ext uri="{FF2B5EF4-FFF2-40B4-BE49-F238E27FC236}">
                <a16:creationId xmlns:a16="http://schemas.microsoft.com/office/drawing/2014/main" id="{67435A77-4859-4070-83A2-9A562B652DEA}"/>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USD1.20m once-only cash release</a:t>
            </a:r>
          </a:p>
        </p:txBody>
      </p:sp>
      <p:sp>
        <p:nvSpPr>
          <p:cNvPr id="4" name="">
            <a:extLst xmlns:a="http://schemas.openxmlformats.org/drawingml/2006/main">
              <a:ext uri="{FF2B5EF4-FFF2-40B4-BE49-F238E27FC236}">
                <a16:creationId xmlns:a16="http://schemas.microsoft.com/office/drawing/2014/main" id="{4F41E128-2E21-47C7-AAB4-0994B9611EFE}"/>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25CA7D87-579D-431C-AFD9-4FEA7C86859C}"/>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AR: USD40 m × 5 / 365 = USD0.547945 m. Inventory: USD34 m × 7 / 365 = USD0.652055 m. Total = USD1.20 m.</a:t>
            </a:r>
          </a:p>
        </p:txBody>
      </p:sp>
      <p:sp>
        <p:nvSpPr>
          <p:cNvPr id="6" name="">
            <a:extLst xmlns:a="http://schemas.openxmlformats.org/drawingml/2006/main">
              <a:ext uri="{FF2B5EF4-FFF2-40B4-BE49-F238E27FC236}">
                <a16:creationId xmlns:a16="http://schemas.microsoft.com/office/drawing/2014/main" id="{6E49DD38-CD3E-46BB-A9BD-E72CD518C46A}"/>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All sales are credit in this example. The transition release is not recurring annual profit.</a:t>
            </a:r>
          </a:p>
        </p:txBody>
      </p:sp>
      <p:sp>
        <p:nvSpPr>
          <p:cNvPr id="7" name="">
            <a:extLst xmlns:a="http://schemas.openxmlformats.org/drawingml/2006/main">
              <a:ext uri="{FF2B5EF4-FFF2-40B4-BE49-F238E27FC236}">
                <a16:creationId xmlns:a16="http://schemas.microsoft.com/office/drawing/2014/main" id="{AC688DA8-20C4-4C6C-A9AF-B45B503AEA4B}"/>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One further DSO day releases USD0.109589 m at this sales base.</a:t>
            </a:r>
          </a:p>
        </p:txBody>
      </p:sp>
      <p:sp>
        <p:nvSpPr>
          <p:cNvPr id="8" name="">
            <a:extLst xmlns:a="http://schemas.openxmlformats.org/drawingml/2006/main">
              <a:ext uri="{FF2B5EF4-FFF2-40B4-BE49-F238E27FC236}">
                <a16:creationId xmlns:a16="http://schemas.microsoft.com/office/drawing/2014/main" id="{62722763-2A16-42CC-BEF4-9B9F56C3F18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5C9EAA70-463E-479D-8E40-81E9F4E659A8}"/>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C-E09   47 / 81</a:t>
            </a:r>
          </a:p>
        </p:txBody>
      </p:sp>
    </p:spTree>
    <p:extLst>
      <p:ext uri="{BB962C8B-B14F-4D97-AF65-F5344CB8AC3E}">
        <p14:creationId xmlns:p14="http://schemas.microsoft.com/office/powerpoint/2010/main" val="2092525906"/>
      </p:ext>
    </p:extLst>
  </p:cSld>
</p:sld>
</file>

<file path=ppt/slides/slide4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6ED8BE-3562-496B-AEB1-5ABA6EFC16B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48</a:t>
            </a:r>
          </a:p>
        </p:txBody>
      </p:sp>
      <p:sp>
        <p:nvSpPr>
          <p:cNvPr id="2" name="">
            <a:extLst xmlns:a="http://schemas.openxmlformats.org/drawingml/2006/main">
              <a:ext uri="{FF2B5EF4-FFF2-40B4-BE49-F238E27FC236}">
                <a16:creationId xmlns:a16="http://schemas.microsoft.com/office/drawing/2014/main" id="{D192804C-A09D-41E6-ADB5-DED2940F689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10 / Inherited Nigeria screen</a:t>
            </a:r>
          </a:p>
        </p:txBody>
      </p:sp>
      <p:sp>
        <p:nvSpPr>
          <p:cNvPr id="3" name="">
            <a:extLst xmlns:a="http://schemas.openxmlformats.org/drawingml/2006/main">
              <a:ext uri="{FF2B5EF4-FFF2-40B4-BE49-F238E27FC236}">
                <a16:creationId xmlns:a16="http://schemas.microsoft.com/office/drawing/2014/main" id="{C0C41802-901B-4910-9F4C-D673642C2194}"/>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NPV −NGN2.0645bn; zero-NPV uplift NGN1.9928bn/year</a:t>
            </a:r>
          </a:p>
        </p:txBody>
      </p:sp>
      <p:sp>
        <p:nvSpPr>
          <p:cNvPr id="4" name="">
            <a:extLst xmlns:a="http://schemas.openxmlformats.org/drawingml/2006/main">
              <a:ext uri="{FF2B5EF4-FFF2-40B4-BE49-F238E27FC236}">
                <a16:creationId xmlns:a16="http://schemas.microsoft.com/office/drawing/2014/main" id="{6A974A48-7FDD-4243-8E99-7E665D294B5C}"/>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8AF8797B-856A-4ACE-B02B-38A15B98A07E}"/>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100 × (2% + 2%) × 8% + 0.7 + 0.6 − 0.4 − 0.45 − 0.30 = 0.47; 100 × 7 / 365 = 1.9178 (NGNbn).</a:t>
            </a:r>
          </a:p>
        </p:txBody>
      </p:sp>
      <p:sp>
        <p:nvSpPr>
          <p:cNvPr id="6" name="">
            <a:extLst xmlns:a="http://schemas.openxmlformats.org/drawingml/2006/main">
              <a:ext uri="{FF2B5EF4-FFF2-40B4-BE49-F238E27FC236}">
                <a16:creationId xmlns:a16="http://schemas.microsoft.com/office/drawing/2014/main" id="{D414DA13-2910-4836-A75A-BB3CD31F6273}"/>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NGN4.2 bn initial capital; 28% hurdle; 50/80/100% benefit ramp. Tax, replacement and actual cash bases are absent.</a:t>
            </a:r>
          </a:p>
        </p:txBody>
      </p:sp>
      <p:sp>
        <p:nvSpPr>
          <p:cNvPr id="7" name="">
            <a:extLst xmlns:a="http://schemas.openxmlformats.org/drawingml/2006/main">
              <a:ext uri="{FF2B5EF4-FFF2-40B4-BE49-F238E27FC236}">
                <a16:creationId xmlns:a16="http://schemas.microsoft.com/office/drawing/2014/main" id="{B3845CEC-07C9-45C7-8468-DD30BC3C6780}"/>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Repair procurement FX overlap, AR/inventory/AP, capex, tax and currency before a production decision.</a:t>
            </a:r>
          </a:p>
        </p:txBody>
      </p:sp>
      <p:sp>
        <p:nvSpPr>
          <p:cNvPr id="8" name="">
            <a:extLst xmlns:a="http://schemas.openxmlformats.org/drawingml/2006/main">
              <a:ext uri="{FF2B5EF4-FFF2-40B4-BE49-F238E27FC236}">
                <a16:creationId xmlns:a16="http://schemas.microsoft.com/office/drawing/2014/main" id="{D2CE06F0-95C6-4235-A521-EF26579206B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BASELINE   |   A_EXAMPLE</a:t>
            </a:r>
          </a:p>
        </p:txBody>
      </p:sp>
      <p:sp>
        <p:nvSpPr>
          <p:cNvPr id="9" name="">
            <a:extLst xmlns:a="http://schemas.openxmlformats.org/drawingml/2006/main">
              <a:ext uri="{FF2B5EF4-FFF2-40B4-BE49-F238E27FC236}">
                <a16:creationId xmlns:a16="http://schemas.microsoft.com/office/drawing/2014/main" id="{EFFCA685-269D-49AA-BC14-1BC0A7D8D97B}"/>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C-E10   48 / 81</a:t>
            </a:r>
          </a:p>
        </p:txBody>
      </p:sp>
    </p:spTree>
    <p:extLst>
      <p:ext uri="{BB962C8B-B14F-4D97-AF65-F5344CB8AC3E}">
        <p14:creationId xmlns:p14="http://schemas.microsoft.com/office/powerpoint/2010/main" val="1228511333"/>
      </p:ext>
    </p:extLst>
  </p:cSld>
</p:sld>
</file>

<file path=ppt/slides/slide4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425CB0-C020-4055-A037-AB23E02EDD1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49</a:t>
            </a:r>
          </a:p>
        </p:txBody>
      </p:sp>
      <p:sp>
        <p:nvSpPr>
          <p:cNvPr id="2" name="">
            <a:extLst xmlns:a="http://schemas.openxmlformats.org/drawingml/2006/main">
              <a:ext uri="{FF2B5EF4-FFF2-40B4-BE49-F238E27FC236}">
                <a16:creationId xmlns:a16="http://schemas.microsoft.com/office/drawing/2014/main" id="{76D1379D-6C9B-4780-8021-E99285CD203C}"/>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11 / FX and commodity interaction</a:t>
            </a:r>
          </a:p>
        </p:txBody>
      </p:sp>
      <p:sp>
        <p:nvSpPr>
          <p:cNvPr id="3" name="">
            <a:extLst xmlns:a="http://schemas.openxmlformats.org/drawingml/2006/main">
              <a:ext uri="{FF2B5EF4-FFF2-40B4-BE49-F238E27FC236}">
                <a16:creationId xmlns:a16="http://schemas.microsoft.com/office/drawing/2014/main" id="{3087E11C-3C67-4975-817A-7D8BE44B8BD1}"/>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21% combined input-cost increase</a:t>
            </a:r>
          </a:p>
        </p:txBody>
      </p:sp>
      <p:sp>
        <p:nvSpPr>
          <p:cNvPr id="4" name="">
            <a:extLst xmlns:a="http://schemas.openxmlformats.org/drawingml/2006/main">
              <a:ext uri="{FF2B5EF4-FFF2-40B4-BE49-F238E27FC236}">
                <a16:creationId xmlns:a16="http://schemas.microsoft.com/office/drawing/2014/main" id="{85FC3CB0-39DC-428F-96C1-6D2BC0880A33}"/>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949196AD-3311-4194-82C1-308CC009C4A9}"/>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USD100 × ₦1,000/USD = ₦100,000. With both factors +10%: USD110 × ₦1,100 = ₦121,000, or +21%.</a:t>
            </a:r>
          </a:p>
        </p:txBody>
      </p:sp>
      <p:sp>
        <p:nvSpPr>
          <p:cNvPr id="6" name="">
            <a:extLst xmlns:a="http://schemas.openxmlformats.org/drawingml/2006/main">
              <a:ext uri="{FF2B5EF4-FFF2-40B4-BE49-F238E27FC236}">
                <a16:creationId xmlns:a16="http://schemas.microsoft.com/office/drawing/2014/main" id="{90E681AD-A289-4D46-BDC0-9C079D72C6B3}"/>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Both shocks hit the same procurement base. Hedge effects need documented contracts.</a:t>
            </a:r>
          </a:p>
        </p:txBody>
      </p:sp>
      <p:sp>
        <p:nvSpPr>
          <p:cNvPr id="7" name="">
            <a:extLst xmlns:a="http://schemas.openxmlformats.org/drawingml/2006/main">
              <a:ext uri="{FF2B5EF4-FFF2-40B4-BE49-F238E27FC236}">
                <a16:creationId xmlns:a16="http://schemas.microsoft.com/office/drawing/2014/main" id="{4821D9A5-2647-4104-9FE4-EE9F71039CDD}"/>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Chosen 70% cost pass-through recovers 14.7% initially; weaker customer volume may reduce retained margin.</a:t>
            </a:r>
          </a:p>
        </p:txBody>
      </p:sp>
      <p:sp>
        <p:nvSpPr>
          <p:cNvPr id="8" name="">
            <a:extLst xmlns:a="http://schemas.openxmlformats.org/drawingml/2006/main">
              <a:ext uri="{FF2B5EF4-FFF2-40B4-BE49-F238E27FC236}">
                <a16:creationId xmlns:a16="http://schemas.microsoft.com/office/drawing/2014/main" id="{25029A07-349E-44A3-8E90-F8AF2812F12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E41E4471-45BB-4208-A12E-A5DCB49830CB}"/>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C-E11   49 / 81</a:t>
            </a:r>
          </a:p>
        </p:txBody>
      </p:sp>
    </p:spTree>
    <p:extLst>
      <p:ext uri="{BB962C8B-B14F-4D97-AF65-F5344CB8AC3E}">
        <p14:creationId xmlns:p14="http://schemas.microsoft.com/office/powerpoint/2010/main" val="1999456132"/>
      </p:ext>
    </p:extLst>
  </p:cSld>
</p:sld>
</file>

<file path=ppt/slides/slide5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257E69-8AD1-4E88-83C4-1BE1DB87332F}"/>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50</a:t>
            </a:r>
          </a:p>
        </p:txBody>
      </p:sp>
      <p:sp>
        <p:nvSpPr>
          <p:cNvPr id="2" name="">
            <a:extLst xmlns:a="http://schemas.openxmlformats.org/drawingml/2006/main">
              <a:ext uri="{FF2B5EF4-FFF2-40B4-BE49-F238E27FC236}">
                <a16:creationId xmlns:a16="http://schemas.microsoft.com/office/drawing/2014/main" id="{7453C599-094F-464A-8C07-48ABF23686E3}"/>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12 / Finite NPV and commissioning</a:t>
            </a:r>
          </a:p>
        </p:txBody>
      </p:sp>
      <p:sp>
        <p:nvSpPr>
          <p:cNvPr id="3" name="">
            <a:extLst xmlns:a="http://schemas.openxmlformats.org/drawingml/2006/main">
              <a:ext uri="{FF2B5EF4-FFF2-40B4-BE49-F238E27FC236}">
                <a16:creationId xmlns:a16="http://schemas.microsoft.com/office/drawing/2014/main" id="{29857BC2-4A91-4DAD-827D-80EADFB5329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NPV −USD0.0263m</a:t>
            </a:r>
          </a:p>
        </p:txBody>
      </p:sp>
      <p:sp>
        <p:nvSpPr>
          <p:cNvPr id="4" name="">
            <a:extLst xmlns:a="http://schemas.openxmlformats.org/drawingml/2006/main">
              <a:ext uri="{FF2B5EF4-FFF2-40B4-BE49-F238E27FC236}">
                <a16:creationId xmlns:a16="http://schemas.microsoft.com/office/drawing/2014/main" id="{B468EE26-9179-4136-961C-A0D3EC5D4AC7}"/>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E5DE49BD-4EBD-46F5-A3F0-9EEEF510581B}"/>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NPV = −5 + 2/1.10 + 2/1.10² + 2/1.10³ = −0.0263 (USDm).</a:t>
            </a:r>
          </a:p>
        </p:txBody>
      </p:sp>
      <p:sp>
        <p:nvSpPr>
          <p:cNvPr id="6" name="">
            <a:extLst xmlns:a="http://schemas.openxmlformats.org/drawingml/2006/main">
              <a:ext uri="{FF2B5EF4-FFF2-40B4-BE49-F238E27FC236}">
                <a16:creationId xmlns:a16="http://schemas.microsoft.com/office/drawing/2014/main" id="{ECA7799F-2202-4024-A686-D18B59E58446}"/>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No terminal value. Staging USD3 m now and USD2 m in year 1, with cash in years 2–4, gives −USD0.2966 m.</a:t>
            </a:r>
          </a:p>
        </p:txBody>
      </p:sp>
      <p:sp>
        <p:nvSpPr>
          <p:cNvPr id="7" name="">
            <a:extLst xmlns:a="http://schemas.openxmlformats.org/drawingml/2006/main">
              <a:ext uri="{FF2B5EF4-FFF2-40B4-BE49-F238E27FC236}">
                <a16:creationId xmlns:a16="http://schemas.microsoft.com/office/drawing/2014/main" id="{30D86568-CA01-49D3-8409-912BC9DD3492}"/>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Paying USD5 m now with a one-year cash delay gives −USD0.4784 m.</a:t>
            </a:r>
          </a:p>
        </p:txBody>
      </p:sp>
      <p:sp>
        <p:nvSpPr>
          <p:cNvPr id="8" name="">
            <a:extLst xmlns:a="http://schemas.openxmlformats.org/drawingml/2006/main">
              <a:ext uri="{FF2B5EF4-FFF2-40B4-BE49-F238E27FC236}">
                <a16:creationId xmlns:a16="http://schemas.microsoft.com/office/drawing/2014/main" id="{32E7A82F-A11A-46E4-B6FE-A0940EE339E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CDC5205E-58C2-4A54-88B3-01EF8C7989C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C-E12   50 / 81</a:t>
            </a:r>
          </a:p>
        </p:txBody>
      </p:sp>
    </p:spTree>
    <p:extLst>
      <p:ext uri="{BB962C8B-B14F-4D97-AF65-F5344CB8AC3E}">
        <p14:creationId xmlns:p14="http://schemas.microsoft.com/office/powerpoint/2010/main" val="538634043"/>
      </p:ext>
    </p:extLst>
  </p:cSld>
</p:sld>
</file>

<file path=ppt/slides/slide5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DDF03B-CAF5-4EEB-99F1-6F8AA4D370E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51</a:t>
            </a:r>
          </a:p>
        </p:txBody>
      </p:sp>
      <p:sp>
        <p:nvSpPr>
          <p:cNvPr id="2" name="">
            <a:extLst xmlns:a="http://schemas.openxmlformats.org/drawingml/2006/main">
              <a:ext uri="{FF2B5EF4-FFF2-40B4-BE49-F238E27FC236}">
                <a16:creationId xmlns:a16="http://schemas.microsoft.com/office/drawing/2014/main" id="{9ABC5D0F-9411-4AEC-BE1E-0AF9B2F6F473}"/>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13 / Real and nominal consistency</a:t>
            </a:r>
          </a:p>
        </p:txBody>
      </p:sp>
      <p:sp>
        <p:nvSpPr>
          <p:cNvPr id="3" name="">
            <a:extLst xmlns:a="http://schemas.openxmlformats.org/drawingml/2006/main">
              <a:ext uri="{FF2B5EF4-FFF2-40B4-BE49-F238E27FC236}">
                <a16:creationId xmlns:a16="http://schemas.microsoft.com/office/drawing/2014/main" id="{BF8D139E-A26C-4AA6-BA06-E1143E23545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Real and nominal three-year NPVs both −USD0.0263m</a:t>
            </a:r>
          </a:p>
        </p:txBody>
      </p:sp>
      <p:sp>
        <p:nvSpPr>
          <p:cNvPr id="4" name="">
            <a:extLst xmlns:a="http://schemas.openxmlformats.org/drawingml/2006/main">
              <a:ext uri="{FF2B5EF4-FFF2-40B4-BE49-F238E27FC236}">
                <a16:creationId xmlns:a16="http://schemas.microsoft.com/office/drawing/2014/main" id="{C4977C2A-4118-4847-8FB6-EFFB5DD606EA}"/>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351A2892-474C-40D4-9740-4CC94D9FA68C}"/>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(1.10 × 1.05) − 1 = 15.5% nominal hurdle. Year 1: 2.10 / 1.155 = 2.00 / 1.10.</a:t>
            </a:r>
          </a:p>
        </p:txBody>
      </p:sp>
      <p:sp>
        <p:nvSpPr>
          <p:cNvPr id="6" name="">
            <a:extLst xmlns:a="http://schemas.openxmlformats.org/drawingml/2006/main">
              <a:ext uri="{FF2B5EF4-FFF2-40B4-BE49-F238E27FC236}">
                <a16:creationId xmlns:a16="http://schemas.microsoft.com/office/drawing/2014/main" id="{FA540CB4-CB60-4233-9385-D33979D8470F}"/>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Nominal cash grows by 5% inflation and is discounted at 15.5%. Project and currency risk require separate care.</a:t>
            </a:r>
          </a:p>
        </p:txBody>
      </p:sp>
      <p:sp>
        <p:nvSpPr>
          <p:cNvPr id="7" name="">
            <a:extLst xmlns:a="http://schemas.openxmlformats.org/drawingml/2006/main">
              <a:ext uri="{FF2B5EF4-FFF2-40B4-BE49-F238E27FC236}">
                <a16:creationId xmlns:a16="http://schemas.microsoft.com/office/drawing/2014/main" id="{FF3D24A1-15BA-4B66-AF01-AA9C936BB414}"/>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Mixing nominal cash with a real hurdle overstates value.</a:t>
            </a:r>
          </a:p>
        </p:txBody>
      </p:sp>
      <p:sp>
        <p:nvSpPr>
          <p:cNvPr id="8" name="">
            <a:extLst xmlns:a="http://schemas.openxmlformats.org/drawingml/2006/main">
              <a:ext uri="{FF2B5EF4-FFF2-40B4-BE49-F238E27FC236}">
                <a16:creationId xmlns:a16="http://schemas.microsoft.com/office/drawing/2014/main" id="{8D59F6E1-2CAF-44B8-A639-E899FED113DB}"/>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C6D52830-2477-4750-865E-73FE13D05D1A}"/>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C-E13   51 / 81</a:t>
            </a:r>
          </a:p>
        </p:txBody>
      </p:sp>
    </p:spTree>
    <p:extLst>
      <p:ext uri="{BB962C8B-B14F-4D97-AF65-F5344CB8AC3E}">
        <p14:creationId xmlns:p14="http://schemas.microsoft.com/office/powerpoint/2010/main" val="878581446"/>
      </p:ext>
    </p:extLst>
  </p:cSld>
</p:sld>
</file>

<file path=ppt/slides/slide5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8763C8-6C6F-4B34-9DA2-1B724B6844B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52</a:t>
            </a:r>
          </a:p>
        </p:txBody>
      </p:sp>
      <p:sp>
        <p:nvSpPr>
          <p:cNvPr id="2" name="">
            <a:extLst xmlns:a="http://schemas.openxmlformats.org/drawingml/2006/main">
              <a:ext uri="{FF2B5EF4-FFF2-40B4-BE49-F238E27FC236}">
                <a16:creationId xmlns:a16="http://schemas.microsoft.com/office/drawing/2014/main" id="{CF072697-9749-4EF2-9671-1753A4C2DF70}"/>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14 / Operating versus investment break-even</a:t>
            </a:r>
          </a:p>
        </p:txBody>
      </p:sp>
      <p:sp>
        <p:nvSpPr>
          <p:cNvPr id="3" name="">
            <a:extLst xmlns:a="http://schemas.openxmlformats.org/drawingml/2006/main">
              <a:ext uri="{FF2B5EF4-FFF2-40B4-BE49-F238E27FC236}">
                <a16:creationId xmlns:a16="http://schemas.microsoft.com/office/drawing/2014/main" id="{575F0E22-349F-4711-8722-4CB90C60F40A}"/>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Operating 33,333t; investment boundary 104,862 initial order tonnes</a:t>
            </a:r>
          </a:p>
        </p:txBody>
      </p:sp>
      <p:sp>
        <p:nvSpPr>
          <p:cNvPr id="4" name="">
            <a:extLst xmlns:a="http://schemas.openxmlformats.org/drawingml/2006/main">
              <a:ext uri="{FF2B5EF4-FFF2-40B4-BE49-F238E27FC236}">
                <a16:creationId xmlns:a16="http://schemas.microsoft.com/office/drawing/2014/main" id="{335154F0-CC5C-47A9-BABE-E39AE5C67463}"/>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576B8798-7266-4771-8C1B-4A4F6EB0C71C}"/>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USD2 m / (USD400 − USD340 per tonne) = 33,333 t; / 150,000 t capacity = 22.22% utilization.</a:t>
            </a:r>
          </a:p>
        </p:txBody>
      </p:sp>
      <p:sp>
        <p:nvSpPr>
          <p:cNvPr id="6" name="">
            <a:extLst xmlns:a="http://schemas.openxmlformats.org/drawingml/2006/main">
              <a:ext uri="{FF2B5EF4-FFF2-40B4-BE49-F238E27FC236}">
                <a16:creationId xmlns:a16="http://schemas.microsoft.com/office/drawing/2014/main" id="{D53E3A6B-5AA5-4043-BCEF-B5D13080F30F}"/>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Full NPV includes ramp, tax, replacement, working cash and the finite horizon.</a:t>
            </a:r>
          </a:p>
        </p:txBody>
      </p:sp>
      <p:sp>
        <p:nvSpPr>
          <p:cNvPr id="7" name="">
            <a:extLst xmlns:a="http://schemas.openxmlformats.org/drawingml/2006/main">
              <a:ext uri="{FF2B5EF4-FFF2-40B4-BE49-F238E27FC236}">
                <a16:creationId xmlns:a16="http://schemas.microsoft.com/office/drawing/2014/main" id="{FFCAF787-5C7C-455C-8E0B-890519F3E495}"/>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Operating above 22.22% utilization can still give negative investment NPV.</a:t>
            </a:r>
          </a:p>
        </p:txBody>
      </p:sp>
      <p:sp>
        <p:nvSpPr>
          <p:cNvPr id="8" name="">
            <a:extLst xmlns:a="http://schemas.openxmlformats.org/drawingml/2006/main">
              <a:ext uri="{FF2B5EF4-FFF2-40B4-BE49-F238E27FC236}">
                <a16:creationId xmlns:a16="http://schemas.microsoft.com/office/drawing/2014/main" id="{9C8554D0-9F70-4EF4-B9AB-6BE7B42CCBF8}"/>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4BB3A780-C8D7-4245-8BCB-F6CD8FAD2862}"/>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C-E14   52 / 81</a:t>
            </a:r>
          </a:p>
        </p:txBody>
      </p:sp>
    </p:spTree>
    <p:extLst>
      <p:ext uri="{BB962C8B-B14F-4D97-AF65-F5344CB8AC3E}">
        <p14:creationId xmlns:p14="http://schemas.microsoft.com/office/powerpoint/2010/main" val="876361280"/>
      </p:ext>
    </p:extLst>
  </p:cSld>
</p:sld>
</file>

<file path=ppt/slides/slide5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8DA0B1-A99B-4E8B-9D82-8872515802D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53</a:t>
            </a:r>
          </a:p>
        </p:txBody>
      </p:sp>
      <p:sp>
        <p:nvSpPr>
          <p:cNvPr id="2" name="">
            <a:extLst xmlns:a="http://schemas.openxmlformats.org/drawingml/2006/main">
              <a:ext uri="{FF2B5EF4-FFF2-40B4-BE49-F238E27FC236}">
                <a16:creationId xmlns:a16="http://schemas.microsoft.com/office/drawing/2014/main" id="{5990A0FB-5028-4686-993D-BD74F52477A7}"/>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15 / Scenario weights are not likelihood</a:t>
            </a:r>
          </a:p>
        </p:txBody>
      </p:sp>
      <p:sp>
        <p:nvSpPr>
          <p:cNvPr id="3" name="">
            <a:extLst xmlns:a="http://schemas.openxmlformats.org/drawingml/2006/main">
              <a:ext uri="{FF2B5EF4-FFF2-40B4-BE49-F238E27FC236}">
                <a16:creationId xmlns:a16="http://schemas.microsoft.com/office/drawing/2014/main" id="{CB573B98-7BC0-4A8E-BE1C-F84F9447992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USD3m judgement-weighted mean</a:t>
            </a:r>
          </a:p>
        </p:txBody>
      </p:sp>
      <p:sp>
        <p:nvSpPr>
          <p:cNvPr id="4" name="">
            <a:extLst xmlns:a="http://schemas.openxmlformats.org/drawingml/2006/main">
              <a:ext uri="{FF2B5EF4-FFF2-40B4-BE49-F238E27FC236}">
                <a16:creationId xmlns:a16="http://schemas.microsoft.com/office/drawing/2014/main" id="{05D90808-54A5-4F55-8C14-A52532183D7B}"/>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89C9F61B-0D73-43E9-82CB-43A66ED1932F}"/>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Chosen NPVs [10, −8, 2] and weights [0.5, 0.3, 0.2]: 5 − 2.4 + 0.4 = USD3 m.</a:t>
            </a:r>
          </a:p>
        </p:txBody>
      </p:sp>
      <p:sp>
        <p:nvSpPr>
          <p:cNvPr id="6" name="">
            <a:extLst xmlns:a="http://schemas.openxmlformats.org/drawingml/2006/main">
              <a:ext uri="{FF2B5EF4-FFF2-40B4-BE49-F238E27FC236}">
                <a16:creationId xmlns:a16="http://schemas.microsoft.com/office/drawing/2014/main" id="{A28E5ADD-2C06-41DC-9D1B-17A7794C24DB}"/>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The central USD10 m case is not a calibrated most-likely future. The adverse loss can breach funding.</a:t>
            </a:r>
          </a:p>
        </p:txBody>
      </p:sp>
      <p:sp>
        <p:nvSpPr>
          <p:cNvPr id="7" name="">
            <a:extLst xmlns:a="http://schemas.openxmlformats.org/drawingml/2006/main">
              <a:ext uri="{FF2B5EF4-FFF2-40B4-BE49-F238E27FC236}">
                <a16:creationId xmlns:a16="http://schemas.microsoft.com/office/drawing/2014/main" id="{E7E7E41B-B091-4071-BE85-288655BC3630}"/>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If adverse weight is 0.5 and central weight 0.3, the mean becomes −USD0.6 m.</a:t>
            </a:r>
          </a:p>
        </p:txBody>
      </p:sp>
      <p:sp>
        <p:nvSpPr>
          <p:cNvPr id="8" name="">
            <a:extLst xmlns:a="http://schemas.openxmlformats.org/drawingml/2006/main">
              <a:ext uri="{FF2B5EF4-FFF2-40B4-BE49-F238E27FC236}">
                <a16:creationId xmlns:a16="http://schemas.microsoft.com/office/drawing/2014/main" id="{AD77FAC0-01F2-43A4-8019-0F89DD2D17B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E666BA17-3D0B-475F-87FD-7BE804B4CF6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C-E15   53 / 81</a:t>
            </a:r>
          </a:p>
        </p:txBody>
      </p:sp>
    </p:spTree>
    <p:extLst>
      <p:ext uri="{BB962C8B-B14F-4D97-AF65-F5344CB8AC3E}">
        <p14:creationId xmlns:p14="http://schemas.microsoft.com/office/powerpoint/2010/main" val="1112283267"/>
      </p:ext>
    </p:extLst>
  </p:cSld>
</p:sld>
</file>

<file path=ppt/slides/slide5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6B7F9A-9E2F-46AD-94E7-8034E9E8969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54</a:t>
            </a:r>
          </a:p>
        </p:txBody>
      </p:sp>
      <p:sp>
        <p:nvSpPr>
          <p:cNvPr id="2" name="">
            <a:extLst xmlns:a="http://schemas.openxmlformats.org/drawingml/2006/main">
              <a:ext uri="{FF2B5EF4-FFF2-40B4-BE49-F238E27FC236}">
                <a16:creationId xmlns:a16="http://schemas.microsoft.com/office/drawing/2014/main" id="{2B7607A5-E78A-44E5-8E6F-E1B3AE229D7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16 / Loss-tail VaR and CVaR</a:t>
            </a:r>
          </a:p>
        </p:txBody>
      </p:sp>
      <p:sp>
        <p:nvSpPr>
          <p:cNvPr id="3" name="">
            <a:extLst xmlns:a="http://schemas.openxmlformats.org/drawingml/2006/main">
              <a:ext uri="{FF2B5EF4-FFF2-40B4-BE49-F238E27FC236}">
                <a16:creationId xmlns:a16="http://schemas.microsoft.com/office/drawing/2014/main" id="{41C2D253-E9FE-485C-B73A-7501B7EE5FBA}"/>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Loss VaR80 USD4m; tail CVaR80 USD8m</a:t>
            </a:r>
          </a:p>
        </p:txBody>
      </p:sp>
      <p:sp>
        <p:nvSpPr>
          <p:cNvPr id="4" name="">
            <a:extLst xmlns:a="http://schemas.openxmlformats.org/drawingml/2006/main">
              <a:ext uri="{FF2B5EF4-FFF2-40B4-BE49-F238E27FC236}">
                <a16:creationId xmlns:a16="http://schemas.microsoft.com/office/drawing/2014/main" id="{3C8F05B5-CA91-4254-81D4-43F75A9A9040}"/>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4FA27A1E-FDE8-4A37-83BA-EEF28DA6650E}"/>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NPVs [−8, −4, 0, 2, 6] imply losses [0, 0, 0, 4, 8]. Nearest-rank VaR80 = 4; worst-20% CVaR80 = 8 (USDm).</a:t>
            </a:r>
          </a:p>
        </p:txBody>
      </p:sp>
      <p:sp>
        <p:nvSpPr>
          <p:cNvPr id="6" name="">
            <a:extLst xmlns:a="http://schemas.openxmlformats.org/drawingml/2006/main">
              <a:ext uri="{FF2B5EF4-FFF2-40B4-BE49-F238E27FC236}">
                <a16:creationId xmlns:a16="http://schemas.microsoft.com/office/drawing/2014/main" id="{98718425-A25B-4419-8E70-AE4F4642E248}"/>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Declare discrete tie treatment: mean(loss ≥ VaR) would be USD6 m here, a different convention.</a:t>
            </a:r>
          </a:p>
        </p:txBody>
      </p:sp>
      <p:sp>
        <p:nvSpPr>
          <p:cNvPr id="7" name="">
            <a:extLst xmlns:a="http://schemas.openxmlformats.org/drawingml/2006/main">
              <a:ext uri="{FF2B5EF4-FFF2-40B4-BE49-F238E27FC236}">
                <a16:creationId xmlns:a16="http://schemas.microsoft.com/office/drawing/2014/main" id="{FAA291E7-652B-431C-8001-5DAE7F8D10E0}"/>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Stress code uses mean(loss ≥ 95% quantile). Its chosen continuous generator has negligible ties.</a:t>
            </a:r>
          </a:p>
        </p:txBody>
      </p:sp>
      <p:sp>
        <p:nvSpPr>
          <p:cNvPr id="8" name="">
            <a:extLst xmlns:a="http://schemas.openxmlformats.org/drawingml/2006/main">
              <a:ext uri="{FF2B5EF4-FFF2-40B4-BE49-F238E27FC236}">
                <a16:creationId xmlns:a16="http://schemas.microsoft.com/office/drawing/2014/main" id="{8271EA8C-6C79-4A51-92CD-EB7CE71243E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CVAR   |   A_EXAMPLE</a:t>
            </a:r>
          </a:p>
        </p:txBody>
      </p:sp>
      <p:sp>
        <p:nvSpPr>
          <p:cNvPr id="9" name="">
            <a:extLst xmlns:a="http://schemas.openxmlformats.org/drawingml/2006/main">
              <a:ext uri="{FF2B5EF4-FFF2-40B4-BE49-F238E27FC236}">
                <a16:creationId xmlns:a16="http://schemas.microsoft.com/office/drawing/2014/main" id="{5207C227-8A6C-4CBE-9D92-E0FDC1AE5A2B}"/>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C-E16   54 / 81</a:t>
            </a:r>
          </a:p>
        </p:txBody>
      </p:sp>
    </p:spTree>
    <p:extLst>
      <p:ext uri="{BB962C8B-B14F-4D97-AF65-F5344CB8AC3E}">
        <p14:creationId xmlns:p14="http://schemas.microsoft.com/office/powerpoint/2010/main" val="1530280025"/>
      </p:ext>
    </p:extLst>
  </p:cSld>
</p:sld>
</file>

<file path=ppt/slides/slide5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C4AF53-4015-4412-A826-1D467F10733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55</a:t>
            </a:r>
          </a:p>
        </p:txBody>
      </p:sp>
      <p:sp>
        <p:nvSpPr>
          <p:cNvPr id="2" name="">
            <a:extLst xmlns:a="http://schemas.openxmlformats.org/drawingml/2006/main">
              <a:ext uri="{FF2B5EF4-FFF2-40B4-BE49-F238E27FC236}">
                <a16:creationId xmlns:a16="http://schemas.microsoft.com/office/drawing/2014/main" id="{F4DAEC86-DC3C-4C53-B229-FE2D9B30556A}"/>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17 / Common-exposure diversification</a:t>
            </a:r>
          </a:p>
        </p:txBody>
      </p:sp>
      <p:sp>
        <p:nvSpPr>
          <p:cNvPr id="3" name="">
            <a:extLst xmlns:a="http://schemas.openxmlformats.org/drawingml/2006/main">
              <a:ext uri="{FF2B5EF4-FFF2-40B4-BE49-F238E27FC236}">
                <a16:creationId xmlns:a16="http://schemas.microsoft.com/office/drawing/2014/main" id="{C8EF321F-9E5D-4CE8-B771-1ACA899CFC1E}"/>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Expected total loss USD4m in both; joint tail differs</a:t>
            </a:r>
          </a:p>
        </p:txBody>
      </p:sp>
      <p:sp>
        <p:nvSpPr>
          <p:cNvPr id="4" name="">
            <a:extLst xmlns:a="http://schemas.openxmlformats.org/drawingml/2006/main">
              <a:ext uri="{FF2B5EF4-FFF2-40B4-BE49-F238E27FC236}">
                <a16:creationId xmlns:a16="http://schemas.microsoft.com/office/drawing/2014/main" id="{7AF5D86E-0AAE-403C-96BC-4EF3902E325A}"/>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B0143C91-AA43-432C-A629-DF586D4D10E4}"/>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Each source loses USD10 m with chosen probability 0.2. A shared port produces joint loss USD20 m with probability 0.2; independent joint probability is 0.04.</a:t>
            </a:r>
          </a:p>
        </p:txBody>
      </p:sp>
      <p:sp>
        <p:nvSpPr>
          <p:cNvPr id="6" name="">
            <a:extLst xmlns:a="http://schemas.openxmlformats.org/drawingml/2006/main">
              <a:ext uri="{FF2B5EF4-FFF2-40B4-BE49-F238E27FC236}">
                <a16:creationId xmlns:a16="http://schemas.microsoft.com/office/drawing/2014/main" id="{D3A950A1-A36F-42B3-9A93-00DC82DFEA0A}"/>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Chosen probabilities illustrate dependence. Country flags do not remove a shared crop season or port.</a:t>
            </a:r>
          </a:p>
        </p:txBody>
      </p:sp>
      <p:sp>
        <p:nvSpPr>
          <p:cNvPr id="7" name="">
            <a:extLst xmlns:a="http://schemas.openxmlformats.org/drawingml/2006/main">
              <a:ext uri="{FF2B5EF4-FFF2-40B4-BE49-F238E27FC236}">
                <a16:creationId xmlns:a16="http://schemas.microsoft.com/office/drawing/2014/main" id="{0A95157F-1DD5-4EED-BBA1-EA59CF2B0CCD}"/>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different basin without a different port can leave route exposure unchanged.</a:t>
            </a:r>
          </a:p>
        </p:txBody>
      </p:sp>
      <p:sp>
        <p:nvSpPr>
          <p:cNvPr id="8" name="">
            <a:extLst xmlns:a="http://schemas.openxmlformats.org/drawingml/2006/main">
              <a:ext uri="{FF2B5EF4-FFF2-40B4-BE49-F238E27FC236}">
                <a16:creationId xmlns:a16="http://schemas.microsoft.com/office/drawing/2014/main" id="{72D4340C-22BD-4AC8-8A10-77213732719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B2BB3E4E-69CA-49E2-A504-CDAB25EA5F9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C-E17   55 / 81</a:t>
            </a:r>
          </a:p>
        </p:txBody>
      </p:sp>
    </p:spTree>
    <p:extLst>
      <p:ext uri="{BB962C8B-B14F-4D97-AF65-F5344CB8AC3E}">
        <p14:creationId xmlns:p14="http://schemas.microsoft.com/office/powerpoint/2010/main" val="1128801203"/>
      </p:ext>
    </p:extLst>
  </p:cSld>
</p:sld>
</file>

<file path=ppt/slides/slide5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87B683-43EC-469C-8834-9E4ED82FC30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56</a:t>
            </a:r>
          </a:p>
        </p:txBody>
      </p:sp>
      <p:sp>
        <p:nvSpPr>
          <p:cNvPr id="2" name="">
            <a:extLst xmlns:a="http://schemas.openxmlformats.org/drawingml/2006/main">
              <a:ext uri="{FF2B5EF4-FFF2-40B4-BE49-F238E27FC236}">
                <a16:creationId xmlns:a16="http://schemas.microsoft.com/office/drawing/2014/main" id="{0E290AE0-1955-402F-92D3-7066DB438E11}"/>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18 / Difference in differences</a:t>
            </a:r>
          </a:p>
        </p:txBody>
      </p:sp>
      <p:sp>
        <p:nvSpPr>
          <p:cNvPr id="3" name="">
            <a:extLst xmlns:a="http://schemas.openxmlformats.org/drawingml/2006/main">
              <a:ext uri="{FF2B5EF4-FFF2-40B4-BE49-F238E27FC236}">
                <a16:creationId xmlns:a16="http://schemas.microsoft.com/office/drawing/2014/main" id="{3F4F5404-A2E5-4F2A-B180-E8C876C02B97}"/>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20 illustrative incremental eligible sales units</a:t>
            </a:r>
          </a:p>
        </p:txBody>
      </p:sp>
      <p:sp>
        <p:nvSpPr>
          <p:cNvPr id="4" name="">
            <a:extLst xmlns:a="http://schemas.openxmlformats.org/drawingml/2006/main">
              <a:ext uri="{FF2B5EF4-FFF2-40B4-BE49-F238E27FC236}">
                <a16:creationId xmlns:a16="http://schemas.microsoft.com/office/drawing/2014/main" id="{95477A09-55F3-409B-9235-284763D3E6EC}"/>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F5217865-5A46-4C55-8A75-188C2FDF30B4}"/>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Treated sales: 100 → 130. Control: 100 → 110. DiD = (130 − 100) − (110 − 100) = 20.</a:t>
            </a:r>
          </a:p>
        </p:txBody>
      </p:sp>
      <p:sp>
        <p:nvSpPr>
          <p:cNvPr id="6" name="">
            <a:extLst xmlns:a="http://schemas.openxmlformats.org/drawingml/2006/main">
              <a:ext uri="{FF2B5EF4-FFF2-40B4-BE49-F238E27FC236}">
                <a16:creationId xmlns:a16="http://schemas.microsoft.com/office/drawing/2014/main" id="{55787D8D-9D2D-4980-9DD7-B2C47F2CC4D3}"/>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Parallel trends and no material spillovers are required. Four chosen means cannot support an estimated interval.</a:t>
            </a:r>
          </a:p>
        </p:txBody>
      </p:sp>
      <p:sp>
        <p:nvSpPr>
          <p:cNvPr id="7" name="">
            <a:extLst xmlns:a="http://schemas.openxmlformats.org/drawingml/2006/main">
              <a:ext uri="{FF2B5EF4-FFF2-40B4-BE49-F238E27FC236}">
                <a16:creationId xmlns:a16="http://schemas.microsoft.com/office/drawing/2014/main" id="{8B32D3C8-F163-433E-B5C0-7691AD720366}"/>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At USD2 contribution/unit, gross incremental contribution is USD40 before service and pilot cost.</a:t>
            </a:r>
          </a:p>
        </p:txBody>
      </p:sp>
      <p:sp>
        <p:nvSpPr>
          <p:cNvPr id="8" name="">
            <a:extLst xmlns:a="http://schemas.openxmlformats.org/drawingml/2006/main">
              <a:ext uri="{FF2B5EF4-FFF2-40B4-BE49-F238E27FC236}">
                <a16:creationId xmlns:a16="http://schemas.microsoft.com/office/drawing/2014/main" id="{37B0B52C-8A1B-4B1A-9982-022FD2E35359}"/>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DID   |   A_EXAMPLE</a:t>
            </a:r>
          </a:p>
        </p:txBody>
      </p:sp>
      <p:sp>
        <p:nvSpPr>
          <p:cNvPr id="9" name="">
            <a:extLst xmlns:a="http://schemas.openxmlformats.org/drawingml/2006/main">
              <a:ext uri="{FF2B5EF4-FFF2-40B4-BE49-F238E27FC236}">
                <a16:creationId xmlns:a16="http://schemas.microsoft.com/office/drawing/2014/main" id="{AE40E946-9670-4266-B97F-9177C2329B0E}"/>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C-E18   56 / 81</a:t>
            </a:r>
          </a:p>
        </p:txBody>
      </p:sp>
    </p:spTree>
    <p:extLst>
      <p:ext uri="{BB962C8B-B14F-4D97-AF65-F5344CB8AC3E}">
        <p14:creationId xmlns:p14="http://schemas.microsoft.com/office/powerpoint/2010/main" val="1585373579"/>
      </p:ext>
    </p:extLst>
  </p:cSld>
</p:sld>
</file>

<file path=ppt/slides/slide5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45487E-3541-46F6-9261-197052FC583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57</a:t>
            </a:r>
          </a:p>
        </p:txBody>
      </p:sp>
      <p:sp>
        <p:nvSpPr>
          <p:cNvPr id="2" name="">
            <a:extLst xmlns:a="http://schemas.openxmlformats.org/drawingml/2006/main">
              <a:ext uri="{FF2B5EF4-FFF2-40B4-BE49-F238E27FC236}">
                <a16:creationId xmlns:a16="http://schemas.microsoft.com/office/drawing/2014/main" id="{3BED2D50-5308-4268-B054-552B44DC7643}"/>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19 / Incremental ROMI</a:t>
            </a:r>
          </a:p>
        </p:txBody>
      </p:sp>
      <p:sp>
        <p:nvSpPr>
          <p:cNvPr id="3" name="">
            <a:extLst xmlns:a="http://schemas.openxmlformats.org/drawingml/2006/main">
              <a:ext uri="{FF2B5EF4-FFF2-40B4-BE49-F238E27FC236}">
                <a16:creationId xmlns:a16="http://schemas.microsoft.com/office/drawing/2014/main" id="{46A85B69-BA53-4EE8-AD75-A28868854D32}"/>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100% net ROMI; contribution/spend is 2.0 times</a:t>
            </a:r>
          </a:p>
        </p:txBody>
      </p:sp>
      <p:sp>
        <p:nvSpPr>
          <p:cNvPr id="4" name="">
            <a:extLst xmlns:a="http://schemas.openxmlformats.org/drawingml/2006/main">
              <a:ext uri="{FF2B5EF4-FFF2-40B4-BE49-F238E27FC236}">
                <a16:creationId xmlns:a16="http://schemas.microsoft.com/office/drawing/2014/main" id="{1E1DF6A0-FA52-46A6-B266-F954FBB3654F}"/>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DFAC562D-BC49-4644-8EF0-415C412BE71F}"/>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Incremental contribution 120 − service 20 − trade 10 − cannibalisation 10 = 80. Marketing spend 40. Net ROMI = (80 − 40)/40 = 100%.</a:t>
            </a:r>
          </a:p>
        </p:txBody>
      </p:sp>
      <p:sp>
        <p:nvSpPr>
          <p:cNvPr id="6" name="">
            <a:extLst xmlns:a="http://schemas.openxmlformats.org/drawingml/2006/main">
              <a:ext uri="{FF2B5EF4-FFF2-40B4-BE49-F238E27FC236}">
                <a16:creationId xmlns:a16="http://schemas.microsoft.com/office/drawing/2014/main" id="{290E597E-C0E9-4F5A-BC15-01F8191C0D84}"/>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All inputs are chosen currency-thousands. Use a paid-sales counterfactual and full incremental costs.</a:t>
            </a:r>
          </a:p>
        </p:txBody>
      </p:sp>
      <p:sp>
        <p:nvSpPr>
          <p:cNvPr id="7" name="">
            <a:extLst xmlns:a="http://schemas.openxmlformats.org/drawingml/2006/main">
              <a:ext uri="{FF2B5EF4-FFF2-40B4-BE49-F238E27FC236}">
                <a16:creationId xmlns:a16="http://schemas.microsoft.com/office/drawing/2014/main" id="{6684DC34-2880-4003-A8AA-D7E22C692464}"/>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If contribution after other costs is only 40, net ROMI is zero. Multi-year proposals need NPV.</a:t>
            </a:r>
          </a:p>
        </p:txBody>
      </p:sp>
      <p:sp>
        <p:nvSpPr>
          <p:cNvPr id="8" name="">
            <a:extLst xmlns:a="http://schemas.openxmlformats.org/drawingml/2006/main">
              <a:ext uri="{FF2B5EF4-FFF2-40B4-BE49-F238E27FC236}">
                <a16:creationId xmlns:a16="http://schemas.microsoft.com/office/drawing/2014/main" id="{A5C5B5C3-1EEE-4A86-9A2D-5DA11023802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E25B3C80-3533-4215-A5B1-9B7E2E2E5644}"/>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C-E19   57 / 81</a:t>
            </a:r>
          </a:p>
        </p:txBody>
      </p:sp>
    </p:spTree>
    <p:extLst>
      <p:ext uri="{BB962C8B-B14F-4D97-AF65-F5344CB8AC3E}">
        <p14:creationId xmlns:p14="http://schemas.microsoft.com/office/powerpoint/2010/main" val="169149486"/>
      </p:ext>
    </p:extLst>
  </p:cSld>
</p:sld>
</file>

<file path=ppt/slides/slide5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A09594-F699-4FA0-A6DD-3C4F577FBC08}"/>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58</a:t>
            </a:r>
          </a:p>
        </p:txBody>
      </p:sp>
      <p:sp>
        <p:nvSpPr>
          <p:cNvPr id="2" name="">
            <a:extLst xmlns:a="http://schemas.openxmlformats.org/drawingml/2006/main">
              <a:ext uri="{FF2B5EF4-FFF2-40B4-BE49-F238E27FC236}">
                <a16:creationId xmlns:a16="http://schemas.microsoft.com/office/drawing/2014/main" id="{50F4935D-3712-4E6F-8B7E-B0DA58D23A7E}"/>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20 / Decision value of information</a:t>
            </a:r>
          </a:p>
        </p:txBody>
      </p:sp>
      <p:sp>
        <p:nvSpPr>
          <p:cNvPr id="3" name="">
            <a:extLst xmlns:a="http://schemas.openxmlformats.org/drawingml/2006/main">
              <a:ext uri="{FF2B5EF4-FFF2-40B4-BE49-F238E27FC236}">
                <a16:creationId xmlns:a16="http://schemas.microsoft.com/office/drawing/2014/main" id="{6698C280-4087-4EAC-9204-CC342F6CAE66}"/>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USD2.5m net perfect-information ceiling</a:t>
            </a:r>
          </a:p>
        </p:txBody>
      </p:sp>
      <p:sp>
        <p:nvSpPr>
          <p:cNvPr id="4" name="">
            <a:extLst xmlns:a="http://schemas.openxmlformats.org/drawingml/2006/main">
              <a:ext uri="{FF2B5EF4-FFF2-40B4-BE49-F238E27FC236}">
                <a16:creationId xmlns:a16="http://schemas.microsoft.com/office/drawing/2014/main" id="{E74D030E-B95E-4B4B-B284-E30C8B268306}"/>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5ED61840-09C9-41DB-A60B-2DC901FE2BB9}"/>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Good state p=0.5: investment NPV 10; bad state p=0.5: −8; wait 0. Best prior EV=1; perfect-information EV=5; less study 1 and delay 0.5 gives net gain 2.5.</a:t>
            </a:r>
          </a:p>
        </p:txBody>
      </p:sp>
      <p:sp>
        <p:nvSpPr>
          <p:cNvPr id="6" name="">
            <a:extLst xmlns:a="http://schemas.openxmlformats.org/drawingml/2006/main">
              <a:ext uri="{FF2B5EF4-FFF2-40B4-BE49-F238E27FC236}">
                <a16:creationId xmlns:a16="http://schemas.microsoft.com/office/drawing/2014/main" id="{86EC70FA-18CF-4ACE-9560-F1DD51428790}"/>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perfect study is an upper bound. Do not add its benefit again to a policy that already includes learning.</a:t>
            </a:r>
          </a:p>
        </p:txBody>
      </p:sp>
      <p:sp>
        <p:nvSpPr>
          <p:cNvPr id="7" name="">
            <a:extLst xmlns:a="http://schemas.openxmlformats.org/drawingml/2006/main">
              <a:ext uri="{FF2B5EF4-FFF2-40B4-BE49-F238E27FC236}">
                <a16:creationId xmlns:a16="http://schemas.microsoft.com/office/drawing/2014/main" id="{1DBB6365-8810-4148-B3C0-E4426522510A}"/>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An imperfect pilot may be worth less than its cost; keep the wait option.</a:t>
            </a:r>
          </a:p>
        </p:txBody>
      </p:sp>
      <p:sp>
        <p:nvSpPr>
          <p:cNvPr id="8" name="">
            <a:extLst xmlns:a="http://schemas.openxmlformats.org/drawingml/2006/main">
              <a:ext uri="{FF2B5EF4-FFF2-40B4-BE49-F238E27FC236}">
                <a16:creationId xmlns:a16="http://schemas.microsoft.com/office/drawing/2014/main" id="{17F5C50B-ACB2-4966-80D5-7EBE9CD739FB}"/>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EAE72347-78AC-4145-A54D-D6B77AC6469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C-E20   58 / 81</a:t>
            </a:r>
          </a:p>
        </p:txBody>
      </p:sp>
    </p:spTree>
    <p:extLst>
      <p:ext uri="{BB962C8B-B14F-4D97-AF65-F5344CB8AC3E}">
        <p14:creationId xmlns:p14="http://schemas.microsoft.com/office/powerpoint/2010/main" val="326562958"/>
      </p:ext>
    </p:extLst>
  </p:cSld>
</p:sld>
</file>

<file path=ppt/slides/slide5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080F42-AA50-469B-9E8D-CFD3E7A08DE8}"/>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59</a:t>
            </a:r>
          </a:p>
        </p:txBody>
      </p:sp>
      <p:sp>
        <p:nvSpPr>
          <p:cNvPr id="2" name="">
            <a:extLst xmlns:a="http://schemas.openxmlformats.org/drawingml/2006/main">
              <a:ext uri="{FF2B5EF4-FFF2-40B4-BE49-F238E27FC236}">
                <a16:creationId xmlns:a16="http://schemas.microsoft.com/office/drawing/2014/main" id="{C5BB566B-B5C8-4BFF-AAFF-70623EB5B632}"/>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21 / Reverse stress</a:t>
            </a:r>
          </a:p>
        </p:txBody>
      </p:sp>
      <p:sp>
        <p:nvSpPr>
          <p:cNvPr id="3" name="">
            <a:extLst xmlns:a="http://schemas.openxmlformats.org/drawingml/2006/main">
              <a:ext uri="{FF2B5EF4-FFF2-40B4-BE49-F238E27FC236}">
                <a16:creationId xmlns:a16="http://schemas.microsoft.com/office/drawing/2014/main" id="{84F5694B-C5B6-4C96-AC17-CD45E274473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About 4.86% more initial orders needed</a:t>
            </a:r>
          </a:p>
        </p:txBody>
      </p:sp>
      <p:sp>
        <p:nvSpPr>
          <p:cNvPr id="4" name="">
            <a:extLst xmlns:a="http://schemas.openxmlformats.org/drawingml/2006/main">
              <a:ext uri="{FF2B5EF4-FFF2-40B4-BE49-F238E27FC236}">
                <a16:creationId xmlns:a16="http://schemas.microsoft.com/office/drawing/2014/main" id="{9FFABEF6-000E-4FD3-8704-EC0037BD1D2C}"/>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8E487B89-819E-4F67-8F36-2A02F8EFDFCA}"/>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The managed owned template reaches zero NPV at 104,862 initial annual order tonnes. The current 100,000 t base needs 4.86% more initial orders.</a:t>
            </a:r>
          </a:p>
        </p:txBody>
      </p:sp>
      <p:sp>
        <p:nvSpPr>
          <p:cNvPr id="6" name="">
            <a:extLst xmlns:a="http://schemas.openxmlformats.org/drawingml/2006/main">
              <a:ext uri="{FF2B5EF4-FFF2-40B4-BE49-F238E27FC236}">
                <a16:creationId xmlns:a16="http://schemas.microsoft.com/office/drawing/2014/main" id="{5D01C3DC-C6B9-47EF-8601-96B265C8C928}"/>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The threshold depends on cost, hurdle, tax and capacity; volume cannot repair a negative unit contribution.</a:t>
            </a:r>
          </a:p>
        </p:txBody>
      </p:sp>
      <p:sp>
        <p:nvSpPr>
          <p:cNvPr id="7" name="">
            <a:extLst xmlns:a="http://schemas.openxmlformats.org/drawingml/2006/main">
              <a:ext uri="{FF2B5EF4-FFF2-40B4-BE49-F238E27FC236}">
                <a16:creationId xmlns:a16="http://schemas.microsoft.com/office/drawing/2014/main" id="{B93EE0CE-7738-46F0-B3B5-8E0AC1CD97D5}"/>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Cost, FX or commissioning shocks shift the boundary. Monitor orders together with cash.</a:t>
            </a:r>
          </a:p>
        </p:txBody>
      </p:sp>
      <p:sp>
        <p:nvSpPr>
          <p:cNvPr id="8" name="">
            <a:extLst xmlns:a="http://schemas.openxmlformats.org/drawingml/2006/main">
              <a:ext uri="{FF2B5EF4-FFF2-40B4-BE49-F238E27FC236}">
                <a16:creationId xmlns:a16="http://schemas.microsoft.com/office/drawing/2014/main" id="{CD89B737-A86D-4139-A213-3DB6EECFECA7}"/>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2533DF41-CE63-4A0E-B466-E2FF479C2C6C}"/>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C-E21   59 / 81</a:t>
            </a:r>
          </a:p>
        </p:txBody>
      </p:sp>
    </p:spTree>
    <p:extLst>
      <p:ext uri="{BB962C8B-B14F-4D97-AF65-F5344CB8AC3E}">
        <p14:creationId xmlns:p14="http://schemas.microsoft.com/office/powerpoint/2010/main" val="805827666"/>
      </p:ext>
    </p:extLst>
  </p:cSld>
</p:sld>
</file>

<file path=ppt/slides/slide6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061B19-3ECB-417D-88E2-83E980228FE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CALCULATION APPENDIX  /  60</a:t>
            </a:r>
          </a:p>
        </p:txBody>
      </p:sp>
      <p:sp>
        <p:nvSpPr>
          <p:cNvPr id="2" name="">
            <a:extLst xmlns:a="http://schemas.openxmlformats.org/drawingml/2006/main">
              <a:ext uri="{FF2B5EF4-FFF2-40B4-BE49-F238E27FC236}">
                <a16:creationId xmlns:a16="http://schemas.microsoft.com/office/drawing/2014/main" id="{D75CD999-7BD6-46F9-B189-CCB12FDBE919}"/>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22 / Size ranking can reverse</a:t>
            </a:r>
          </a:p>
        </p:txBody>
      </p:sp>
      <p:sp>
        <p:nvSpPr>
          <p:cNvPr id="3" name="">
            <a:extLst xmlns:a="http://schemas.openxmlformats.org/drawingml/2006/main">
              <a:ext uri="{FF2B5EF4-FFF2-40B4-BE49-F238E27FC236}">
                <a16:creationId xmlns:a16="http://schemas.microsoft.com/office/drawing/2014/main" id="{94E7EBA6-DAF9-421F-B722-E630636F5D88}"/>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B has 3 times EBITDA despite half the category size</a:t>
            </a:r>
          </a:p>
        </p:txBody>
      </p:sp>
      <p:sp>
        <p:nvSpPr>
          <p:cNvPr id="4" name="">
            <a:extLst xmlns:a="http://schemas.openxmlformats.org/drawingml/2006/main">
              <a:ext uri="{FF2B5EF4-FFF2-40B4-BE49-F238E27FC236}">
                <a16:creationId xmlns:a16="http://schemas.microsoft.com/office/drawing/2014/main" id="{C36F7A07-B5FB-4FDE-A4B5-629AE89F13D5}"/>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Illustrative example—not Olam data</a:t>
            </a:r>
          </a:p>
        </p:txBody>
      </p:sp>
      <p:sp>
        <p:nvSpPr>
          <p:cNvPr id="5" name="">
            <a:extLst xmlns:a="http://schemas.openxmlformats.org/drawingml/2006/main">
              <a:ext uri="{FF2B5EF4-FFF2-40B4-BE49-F238E27FC236}">
                <a16:creationId xmlns:a16="http://schemas.microsoft.com/office/drawing/2014/main" id="{3E9F6128-11EF-49E2-B8C3-205309ACC2B7}"/>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Country A: demand 200 kt, capture 50 kt, unit contribution USD20, fixed USD0.7 m → EBITDA USD0.3 m. B: demand 100 kt, capture 40 kt, contribution USD40 → USD0.9 m.</a:t>
            </a:r>
          </a:p>
        </p:txBody>
      </p:sp>
      <p:sp>
        <p:nvSpPr>
          <p:cNvPr id="6" name="">
            <a:extLst xmlns:a="http://schemas.openxmlformats.org/drawingml/2006/main">
              <a:ext uri="{FF2B5EF4-FFF2-40B4-BE49-F238E27FC236}">
                <a16:creationId xmlns:a16="http://schemas.microsoft.com/office/drawing/2014/main" id="{AB6DF36A-650B-4C2F-B3B1-3DF71F6AB89E}"/>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and B are fictional teaching cases. Chosen capex USD5 m vs USD2 m and NWC USD2 m vs USD0.5 m further favour testing B.</a:t>
            </a:r>
          </a:p>
        </p:txBody>
      </p:sp>
      <p:sp>
        <p:nvSpPr>
          <p:cNvPr id="7" name="">
            <a:extLst xmlns:a="http://schemas.openxmlformats.org/drawingml/2006/main">
              <a:ext uri="{FF2B5EF4-FFF2-40B4-BE49-F238E27FC236}">
                <a16:creationId xmlns:a16="http://schemas.microsoft.com/office/drawing/2014/main" id="{BD419C92-4EE7-465D-8576-C1B79AA9B7E5}"/>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Before capital differences, A overtakes B above 80 kt captured at USD20/t while B stays at 40 kt.</a:t>
            </a:r>
          </a:p>
        </p:txBody>
      </p:sp>
      <p:sp>
        <p:nvSpPr>
          <p:cNvPr id="8" name="">
            <a:extLst xmlns:a="http://schemas.openxmlformats.org/drawingml/2006/main">
              <a:ext uri="{FF2B5EF4-FFF2-40B4-BE49-F238E27FC236}">
                <a16:creationId xmlns:a16="http://schemas.microsoft.com/office/drawing/2014/main" id="{4305C950-1CEF-40D0-9CB2-8ABBED3B1F83}"/>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A_EXAMPLE</a:t>
            </a:r>
          </a:p>
        </p:txBody>
      </p:sp>
      <p:sp>
        <p:nvSpPr>
          <p:cNvPr id="9" name="">
            <a:extLst xmlns:a="http://schemas.openxmlformats.org/drawingml/2006/main">
              <a:ext uri="{FF2B5EF4-FFF2-40B4-BE49-F238E27FC236}">
                <a16:creationId xmlns:a16="http://schemas.microsoft.com/office/drawing/2014/main" id="{948252BC-199E-403A-A13A-31E3A4ADAF70}"/>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C-E22   60 / 81</a:t>
            </a:r>
          </a:p>
        </p:txBody>
      </p:sp>
    </p:spTree>
    <p:extLst>
      <p:ext uri="{BB962C8B-B14F-4D97-AF65-F5344CB8AC3E}">
        <p14:creationId xmlns:p14="http://schemas.microsoft.com/office/powerpoint/2010/main" val="1933674143"/>
      </p:ext>
    </p:extLst>
  </p:cSld>
</p:sld>
</file>

<file path=ppt/slides/slide6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FFE001-F212-40D6-8F83-A45C50590A0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61</a:t>
            </a:r>
          </a:p>
        </p:txBody>
      </p:sp>
      <p:sp>
        <p:nvSpPr>
          <p:cNvPr id="2" name="">
            <a:extLst xmlns:a="http://schemas.openxmlformats.org/drawingml/2006/main">
              <a:ext uri="{FF2B5EF4-FFF2-40B4-BE49-F238E27FC236}">
                <a16:creationId xmlns:a16="http://schemas.microsoft.com/office/drawing/2014/main" id="{8FEC53EC-37D3-4478-9F69-74C333D27915}"/>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Data construction and coverage</a:t>
            </a:r>
          </a:p>
        </p:txBody>
      </p:sp>
      <p:sp>
        <p:nvSpPr>
          <p:cNvPr id="3" name="">
            <a:extLst xmlns:a="http://schemas.openxmlformats.org/drawingml/2006/main">
              <a:ext uri="{FF2B5EF4-FFF2-40B4-BE49-F238E27FC236}">
                <a16:creationId xmlns:a16="http://schemas.microsoft.com/office/drawing/2014/main" id="{636552E4-6F83-4DDD-9937-83E82498A046}"/>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Missing observations remain unknown; identifiers and vintages are retained.</a:t>
            </a:r>
          </a:p>
        </p:txBody>
      </p:sp>
      <p:sp>
        <p:nvSpPr>
          <p:cNvPr id="4" name="">
            <a:extLst xmlns:a="http://schemas.openxmlformats.org/drawingml/2006/main">
              <a:ext uri="{FF2B5EF4-FFF2-40B4-BE49-F238E27FC236}">
                <a16:creationId xmlns:a16="http://schemas.microsoft.com/office/drawing/2014/main" id="{695359C6-F25D-441E-B7EA-4A0855BB36FB}"/>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Join UN M49 identifiers to WDI by ISO3 and year; observers are VAT and PSE. Territories have a separate annex.</a:t>
            </a:r>
          </a:p>
        </p:txBody>
      </p:sp>
      <p:sp>
        <p:nvSpPr>
          <p:cNvPr id="5" name="">
            <a:extLst xmlns:a="http://schemas.openxmlformats.org/drawingml/2006/main">
              <a:ext uri="{FF2B5EF4-FFF2-40B4-BE49-F238E27FC236}">
                <a16:creationId xmlns:a16="http://schemas.microsoft.com/office/drawing/2014/main" id="{62FAD841-7ACC-48E6-88AB-41AD4FFCC956}"/>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Convert WPP population from thousands to persons. A broad food-import proxy uses food share and merchandise imports from the same year.</a:t>
            </a:r>
          </a:p>
        </p:txBody>
      </p:sp>
      <p:sp>
        <p:nvSpPr>
          <p:cNvPr id="6" name="">
            <a:extLst xmlns:a="http://schemas.openxmlformats.org/drawingml/2006/main">
              <a:ext uri="{FF2B5EF4-FFF2-40B4-BE49-F238E27FC236}">
                <a16:creationId xmlns:a16="http://schemas.microsoft.com/office/drawing/2014/main" id="{555E0B99-AC1C-4FA8-8168-DC7E7CDEFB4A}"/>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Food production is a supply index; real PPP income, urban share and water stress are dated observations, not customer demand.</a:t>
            </a:r>
          </a:p>
        </p:txBody>
      </p:sp>
      <p:sp>
        <p:nvSpPr>
          <p:cNvPr id="7" name="">
            <a:extLst xmlns:a="http://schemas.openxmlformats.org/drawingml/2006/main">
              <a:ext uri="{FF2B5EF4-FFF2-40B4-BE49-F238E27FC236}">
                <a16:creationId xmlns:a16="http://schemas.microsoft.com/office/drawing/2014/main" id="{4B6FCF3A-4171-4283-A98B-46AEE03C0731}"/>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Complete-case regression uses no imputation. Macro availability does not establish candidate feasibility.</a:t>
            </a:r>
          </a:p>
        </p:txBody>
      </p:sp>
      <p:sp>
        <p:nvSpPr>
          <p:cNvPr id="8" name="">
            <a:extLst xmlns:a="http://schemas.openxmlformats.org/drawingml/2006/main">
              <a:ext uri="{FF2B5EF4-FFF2-40B4-BE49-F238E27FC236}">
                <a16:creationId xmlns:a16="http://schemas.microsoft.com/office/drawing/2014/main" id="{A6A0F4A3-6799-404E-9070-2C06F1A90552}"/>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UN_M49 · UN_WPP</a:t>
            </a:r>
          </a:p>
        </p:txBody>
      </p:sp>
      <p:sp>
        <p:nvSpPr>
          <p:cNvPr id="9" name="">
            <a:extLst xmlns:a="http://schemas.openxmlformats.org/drawingml/2006/main">
              <a:ext uri="{FF2B5EF4-FFF2-40B4-BE49-F238E27FC236}">
                <a16:creationId xmlns:a16="http://schemas.microsoft.com/office/drawing/2014/main" id="{41D0E831-3D86-45C3-829B-D37F3F6CD655}"/>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61 / 81</a:t>
            </a:r>
          </a:p>
        </p:txBody>
      </p:sp>
    </p:spTree>
    <p:extLst>
      <p:ext uri="{BB962C8B-B14F-4D97-AF65-F5344CB8AC3E}">
        <p14:creationId xmlns:p14="http://schemas.microsoft.com/office/powerpoint/2010/main" val="1647382338"/>
      </p:ext>
    </p:extLst>
  </p:cSld>
</p:sld>
</file>

<file path=ppt/slides/slide6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3F7B89-FF94-43DC-B070-FB89D12A128F}"/>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62</a:t>
            </a:r>
          </a:p>
        </p:txBody>
      </p:sp>
      <p:sp>
        <p:nvSpPr>
          <p:cNvPr id="2" name="">
            <a:extLst xmlns:a="http://schemas.openxmlformats.org/drawingml/2006/main">
              <a:ext uri="{FF2B5EF4-FFF2-40B4-BE49-F238E27FC236}">
                <a16:creationId xmlns:a16="http://schemas.microsoft.com/office/drawing/2014/main" id="{393F4673-1055-4C13-99BB-A2BE7E41AE2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Demand and trade methods: no unsupported fitted elasticity</a:t>
            </a:r>
          </a:p>
        </p:txBody>
      </p:sp>
      <p:sp>
        <p:nvSpPr>
          <p:cNvPr id="3" name="">
            <a:extLst xmlns:a="http://schemas.openxmlformats.org/drawingml/2006/main">
              <a:ext uri="{FF2B5EF4-FFF2-40B4-BE49-F238E27FC236}">
                <a16:creationId xmlns:a16="http://schemas.microsoft.com/office/drawing/2014/main" id="{D29D7BCE-7B4F-4B6E-97D6-F177662A3F8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Implemented descriptive supply benchmark; product demand and trade models await data.</a:t>
            </a:r>
          </a:p>
        </p:txBody>
      </p:sp>
      <p:sp>
        <p:nvSpPr>
          <p:cNvPr id="4" name="">
            <a:extLst xmlns:a="http://schemas.openxmlformats.org/drawingml/2006/main">
              <a:ext uri="{FF2B5EF4-FFF2-40B4-BE49-F238E27FC236}">
                <a16:creationId xmlns:a16="http://schemas.microsoft.com/office/drawing/2014/main" id="{C607B6E5-DDDC-420B-BF9A-5EADCCDCECB4}"/>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Demand begins with population and per-person quantity by segment; accessible customers, capture and delivery then bound sales.</a:t>
            </a:r>
          </a:p>
        </p:txBody>
      </p:sp>
      <p:sp>
        <p:nvSpPr>
          <p:cNvPr id="5" name="">
            <a:extLst xmlns:a="http://schemas.openxmlformats.org/drawingml/2006/main">
              <a:ext uri="{FF2B5EF4-FFF2-40B4-BE49-F238E27FC236}">
                <a16:creationId xmlns:a16="http://schemas.microsoft.com/office/drawing/2014/main" id="{AA017355-F920-43A5-B963-8C81A0B0AA20}"/>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AIDS/QUAIDS and discrete-choice models need observed spending, prices and identification. No imported elasticity is used.</a:t>
            </a:r>
          </a:p>
        </p:txBody>
      </p:sp>
      <p:sp>
        <p:nvSpPr>
          <p:cNvPr id="6" name="">
            <a:extLst xmlns:a="http://schemas.openxmlformats.org/drawingml/2006/main">
              <a:ext uri="{FF2B5EF4-FFF2-40B4-BE49-F238E27FC236}">
                <a16:creationId xmlns:a16="http://schemas.microsoft.com/office/drawing/2014/main" id="{719F600A-B4C2-44B3-9C79-F96C374CE827}"/>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PPML gravity module would need bilateral product flows, fixed effects and barrier data. No fitted gravity result is claimed.</a:t>
            </a:r>
          </a:p>
        </p:txBody>
      </p:sp>
      <p:sp>
        <p:nvSpPr>
          <p:cNvPr id="7" name="">
            <a:extLst xmlns:a="http://schemas.openxmlformats.org/drawingml/2006/main">
              <a:ext uri="{FF2B5EF4-FFF2-40B4-BE49-F238E27FC236}">
                <a16:creationId xmlns:a16="http://schemas.microsoft.com/office/drawing/2014/main" id="{95412C5E-66E5-45EC-AF23-029317F983D5}"/>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Aglink-Cosimo is an institutional benchmark. Its official projection is not extended mechanically to 2051.</a:t>
            </a:r>
          </a:p>
        </p:txBody>
      </p:sp>
      <p:sp>
        <p:nvSpPr>
          <p:cNvPr id="8" name="">
            <a:extLst xmlns:a="http://schemas.openxmlformats.org/drawingml/2006/main">
              <a:ext uri="{FF2B5EF4-FFF2-40B4-BE49-F238E27FC236}">
                <a16:creationId xmlns:a16="http://schemas.microsoft.com/office/drawing/2014/main" id="{8FBEC5E1-1722-4A6D-AA2B-A7B6CDC2DAB6}"/>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OECD_METHOD</a:t>
            </a:r>
          </a:p>
        </p:txBody>
      </p:sp>
      <p:sp>
        <p:nvSpPr>
          <p:cNvPr id="9" name="">
            <a:extLst xmlns:a="http://schemas.openxmlformats.org/drawingml/2006/main">
              <a:ext uri="{FF2B5EF4-FFF2-40B4-BE49-F238E27FC236}">
                <a16:creationId xmlns:a16="http://schemas.microsoft.com/office/drawing/2014/main" id="{50D25B4A-38AD-4D6B-BB9D-C3CDB2F95D18}"/>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62 / 81</a:t>
            </a:r>
          </a:p>
        </p:txBody>
      </p:sp>
    </p:spTree>
    <p:extLst>
      <p:ext uri="{BB962C8B-B14F-4D97-AF65-F5344CB8AC3E}">
        <p14:creationId xmlns:p14="http://schemas.microsoft.com/office/powerpoint/2010/main" val="1875074044"/>
      </p:ext>
    </p:extLst>
  </p:cSld>
</p:sld>
</file>

<file path=ppt/slides/slide6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0C058F-037D-41CA-99FF-88A1483A92F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63</a:t>
            </a:r>
          </a:p>
        </p:txBody>
      </p:sp>
      <p:sp>
        <p:nvSpPr>
          <p:cNvPr id="2" name="">
            <a:extLst xmlns:a="http://schemas.openxmlformats.org/drawingml/2006/main">
              <a:ext uri="{FF2B5EF4-FFF2-40B4-BE49-F238E27FC236}">
                <a16:creationId xmlns:a16="http://schemas.microsoft.com/office/drawing/2014/main" id="{A7C660BA-F037-457A-AED2-426C1D22870D}"/>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Physical supply and adaptation need location-linked data</a:t>
            </a:r>
          </a:p>
        </p:txBody>
      </p:sp>
      <p:sp>
        <p:nvSpPr>
          <p:cNvPr id="3" name="">
            <a:extLst xmlns:a="http://schemas.openxmlformats.org/drawingml/2006/main">
              <a:ext uri="{FF2B5EF4-FFF2-40B4-BE49-F238E27FC236}">
                <a16:creationId xmlns:a16="http://schemas.microsoft.com/office/drawing/2014/main" id="{84F0024A-8312-4B07-96C2-05B7775E7D71}"/>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Do not turn a global warming number into a plant or crop loss coefficient.</a:t>
            </a:r>
          </a:p>
        </p:txBody>
      </p:sp>
      <p:sp>
        <p:nvSpPr>
          <p:cNvPr id="4" name="">
            <a:extLst xmlns:a="http://schemas.openxmlformats.org/drawingml/2006/main">
              <a:ext uri="{FF2B5EF4-FFF2-40B4-BE49-F238E27FC236}">
                <a16:creationId xmlns:a16="http://schemas.microsoft.com/office/drawing/2014/main" id="{E0F758E8-AA35-4314-B9EF-50FC081BAAA3}"/>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 crop panel would link calendar-specific weather and basin conditions to yields, with fixed effects and validated nonlinear responses.</a:t>
            </a:r>
          </a:p>
        </p:txBody>
      </p:sp>
      <p:sp>
        <p:nvSpPr>
          <p:cNvPr id="5" name="">
            <a:extLst xmlns:a="http://schemas.openxmlformats.org/drawingml/2006/main">
              <a:ext uri="{FF2B5EF4-FFF2-40B4-BE49-F238E27FC236}">
                <a16:creationId xmlns:a16="http://schemas.microsoft.com/office/drawing/2014/main" id="{203CD6AB-8E55-42CD-A104-ADC72D32BD22}"/>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Convert fitted yield or downtime into saleable volume, procurement cost and stock days; price adaptation explicitly.</a:t>
            </a:r>
          </a:p>
        </p:txBody>
      </p:sp>
      <p:sp>
        <p:nvSpPr>
          <p:cNvPr id="6" name="">
            <a:extLst xmlns:a="http://schemas.openxmlformats.org/drawingml/2006/main">
              <a:ext uri="{FF2B5EF4-FFF2-40B4-BE49-F238E27FC236}">
                <a16:creationId xmlns:a16="http://schemas.microsoft.com/office/drawing/2014/main" id="{22A6CCA6-DEC8-4766-930A-9E894269FB72}"/>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Traceability and standards affect access and compliance cost. Include a premium only when buyers pay it.</a:t>
            </a:r>
          </a:p>
        </p:txBody>
      </p:sp>
      <p:sp>
        <p:nvSpPr>
          <p:cNvPr id="7" name="">
            <a:extLst xmlns:a="http://schemas.openxmlformats.org/drawingml/2006/main">
              <a:ext uri="{FF2B5EF4-FFF2-40B4-BE49-F238E27FC236}">
                <a16:creationId xmlns:a16="http://schemas.microsoft.com/office/drawing/2014/main" id="{12101519-996C-4A59-9A45-07F331844F1F}"/>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Asset coordinates, hazards and measured adaptation effects are unavailable; financial damage outputs remain conditional.</a:t>
            </a:r>
          </a:p>
        </p:txBody>
      </p:sp>
      <p:sp>
        <p:nvSpPr>
          <p:cNvPr id="8" name="">
            <a:extLst xmlns:a="http://schemas.openxmlformats.org/drawingml/2006/main">
              <a:ext uri="{FF2B5EF4-FFF2-40B4-BE49-F238E27FC236}">
                <a16:creationId xmlns:a16="http://schemas.microsoft.com/office/drawing/2014/main" id="{E5AEDC91-0608-4F0E-B268-1D143E345624}"/>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IPCC · WMO</a:t>
            </a:r>
          </a:p>
        </p:txBody>
      </p:sp>
      <p:sp>
        <p:nvSpPr>
          <p:cNvPr id="9" name="">
            <a:extLst xmlns:a="http://schemas.openxmlformats.org/drawingml/2006/main">
              <a:ext uri="{FF2B5EF4-FFF2-40B4-BE49-F238E27FC236}">
                <a16:creationId xmlns:a16="http://schemas.microsoft.com/office/drawing/2014/main" id="{980127AC-0F84-47D9-88CC-9FFCAF378ED1}"/>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63 / 81</a:t>
            </a:r>
          </a:p>
        </p:txBody>
      </p:sp>
    </p:spTree>
    <p:extLst>
      <p:ext uri="{BB962C8B-B14F-4D97-AF65-F5344CB8AC3E}">
        <p14:creationId xmlns:p14="http://schemas.microsoft.com/office/powerpoint/2010/main" val="1860151493"/>
      </p:ext>
    </p:extLst>
  </p:cSld>
</p:sld>
</file>

<file path=ppt/slides/slide6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9C4BF6-975B-4AC3-A587-38BF15F70AD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64</a:t>
            </a:r>
          </a:p>
        </p:txBody>
      </p:sp>
      <p:sp>
        <p:nvSpPr>
          <p:cNvPr id="2" name="">
            <a:extLst xmlns:a="http://schemas.openxmlformats.org/drawingml/2006/main">
              <a:ext uri="{FF2B5EF4-FFF2-40B4-BE49-F238E27FC236}">
                <a16:creationId xmlns:a16="http://schemas.microsoft.com/office/drawing/2014/main" id="{7170D1FD-4FDF-4B0F-90B0-2137EA6BAD69}"/>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Operating and cash equations</a:t>
            </a:r>
          </a:p>
        </p:txBody>
      </p:sp>
      <p:sp>
        <p:nvSpPr>
          <p:cNvPr id="3" name="">
            <a:extLst xmlns:a="http://schemas.openxmlformats.org/drawingml/2006/main">
              <a:ext uri="{FF2B5EF4-FFF2-40B4-BE49-F238E27FC236}">
                <a16:creationId xmlns:a16="http://schemas.microsoft.com/office/drawing/2014/main" id="{E52C83C5-617D-4EFA-B0F2-BA8F73D7D42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Reconcile quantities and cash before computing returns.</a:t>
            </a:r>
          </a:p>
        </p:txBody>
      </p:sp>
      <p:sp>
        <p:nvSpPr>
          <p:cNvPr id="4" name="">
            <a:extLst xmlns:a="http://schemas.openxmlformats.org/drawingml/2006/main">
              <a:ext uri="{FF2B5EF4-FFF2-40B4-BE49-F238E27FC236}">
                <a16:creationId xmlns:a16="http://schemas.microsoft.com/office/drawing/2014/main" id="{D26C20DC-C577-4DF1-AC7A-DFEC7A9F7DBB}"/>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Delivered volume = min(eligible orders, usable capacity, route capacity). Revenue = delivered volume × net price.</a:t>
            </a:r>
          </a:p>
        </p:txBody>
      </p:sp>
      <p:sp>
        <p:nvSpPr>
          <p:cNvPr id="5" name="">
            <a:extLst xmlns:a="http://schemas.openxmlformats.org/drawingml/2006/main">
              <a:ext uri="{FF2B5EF4-FFF2-40B4-BE49-F238E27FC236}">
                <a16:creationId xmlns:a16="http://schemas.microsoft.com/office/drawing/2014/main" id="{CAF0DE26-76AC-4BE7-B8E8-89CF8D870273}"/>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EBITDA = volume × (price − variable cost per unit) − fixed cash cost. EBIT = EBITDA − D&amp;A.</a:t>
            </a:r>
          </a:p>
        </p:txBody>
      </p:sp>
      <p:sp>
        <p:nvSpPr>
          <p:cNvPr id="6" name="">
            <a:extLst xmlns:a="http://schemas.openxmlformats.org/drawingml/2006/main">
              <a:ext uri="{FF2B5EF4-FFF2-40B4-BE49-F238E27FC236}">
                <a16:creationId xmlns:a16="http://schemas.microsoft.com/office/drawing/2014/main" id="{C0902D1D-B340-420E-B438-A1A2273E2BB9}"/>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NWC = credit revenue × DSO/365 + inventory cost × DIO/365 − eligible purchases × DPO/365.</a:t>
            </a:r>
          </a:p>
        </p:txBody>
      </p:sp>
      <p:sp>
        <p:nvSpPr>
          <p:cNvPr id="7" name="">
            <a:extLst xmlns:a="http://schemas.openxmlformats.org/drawingml/2006/main">
              <a:ext uri="{FF2B5EF4-FFF2-40B4-BE49-F238E27FC236}">
                <a16:creationId xmlns:a16="http://schemas.microsoft.com/office/drawing/2014/main" id="{38B5EA86-6A41-4AB2-9C76-A019067CF960}"/>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FCFF = EBIT − cash tax + D&amp;A − capex − change in NWC + closeout. NPV discounts all incremental cash.</a:t>
            </a:r>
          </a:p>
        </p:txBody>
      </p:sp>
      <p:sp>
        <p:nvSpPr>
          <p:cNvPr id="8" name="">
            <a:extLst xmlns:a="http://schemas.openxmlformats.org/drawingml/2006/main">
              <a:ext uri="{FF2B5EF4-FFF2-40B4-BE49-F238E27FC236}">
                <a16:creationId xmlns:a16="http://schemas.microsoft.com/office/drawing/2014/main" id="{B3115CD2-FA0C-4EEC-B328-8C72174B49AD}"/>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a:t>
            </a:r>
          </a:p>
        </p:txBody>
      </p:sp>
      <p:sp>
        <p:nvSpPr>
          <p:cNvPr id="9" name="">
            <a:extLst xmlns:a="http://schemas.openxmlformats.org/drawingml/2006/main">
              <a:ext uri="{FF2B5EF4-FFF2-40B4-BE49-F238E27FC236}">
                <a16:creationId xmlns:a16="http://schemas.microsoft.com/office/drawing/2014/main" id="{8C178077-F999-4698-B6DD-3A389A440640}"/>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64 / 81</a:t>
            </a:r>
          </a:p>
        </p:txBody>
      </p:sp>
    </p:spTree>
    <p:extLst>
      <p:ext uri="{BB962C8B-B14F-4D97-AF65-F5344CB8AC3E}">
        <p14:creationId xmlns:p14="http://schemas.microsoft.com/office/powerpoint/2010/main" val="374877486"/>
      </p:ext>
    </p:extLst>
  </p:cSld>
</p:sld>
</file>

<file path=ppt/slides/slide6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C08C16-11F7-401E-8469-D0FFABC8EE3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65</a:t>
            </a:r>
          </a:p>
        </p:txBody>
      </p:sp>
      <p:sp>
        <p:nvSpPr>
          <p:cNvPr id="2" name="">
            <a:extLst xmlns:a="http://schemas.openxmlformats.org/drawingml/2006/main">
              <a:ext uri="{FF2B5EF4-FFF2-40B4-BE49-F238E27FC236}">
                <a16:creationId xmlns:a16="http://schemas.microsoft.com/office/drawing/2014/main" id="{BAAD2F08-3908-434A-A2FF-75E54A9D495F}"/>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Mathematics disciplines the decision; it does not certify the future</a:t>
            </a:r>
          </a:p>
        </p:txBody>
      </p:sp>
      <p:sp>
        <p:nvSpPr>
          <p:cNvPr id="3" name="">
            <a:extLst xmlns:a="http://schemas.openxmlformats.org/drawingml/2006/main">
              <a:ext uri="{FF2B5EF4-FFF2-40B4-BE49-F238E27FC236}">
                <a16:creationId xmlns:a16="http://schemas.microsoft.com/office/drawing/2014/main" id="{A266057E-636B-4E09-9774-F59874F9694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Use the smallest method that answers the question and validates on relevant data.</a:t>
            </a:r>
          </a:p>
        </p:txBody>
      </p:sp>
      <p:sp>
        <p:nvSpPr>
          <p:cNvPr id="4" name="">
            <a:extLst xmlns:a="http://schemas.openxmlformats.org/drawingml/2006/main">
              <a:ext uri="{FF2B5EF4-FFF2-40B4-BE49-F238E27FC236}">
                <a16:creationId xmlns:a16="http://schemas.microsoft.com/office/drawing/2014/main" id="{B7009B36-4074-4465-BEB7-0363F6D5F11F}"/>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Linear algebra supports regression and dependence; uncertainty requires an appropriate error structure.</a:t>
            </a:r>
          </a:p>
        </p:txBody>
      </p:sp>
      <p:sp>
        <p:nvSpPr>
          <p:cNvPr id="5" name="">
            <a:extLst xmlns:a="http://schemas.openxmlformats.org/drawingml/2006/main">
              <a:ext uri="{FF2B5EF4-FFF2-40B4-BE49-F238E27FC236}">
                <a16:creationId xmlns:a16="http://schemas.microsoft.com/office/drawing/2014/main" id="{F79307C5-7899-428F-8BEB-CF36063F5C92}"/>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Calculus and root finding locate margin and NPV thresholds. Capacity breakpoints can invalidate smooth derivatives.</a:t>
            </a:r>
          </a:p>
        </p:txBody>
      </p:sp>
      <p:sp>
        <p:nvSpPr>
          <p:cNvPr id="6" name="">
            <a:extLst xmlns:a="http://schemas.openxmlformats.org/drawingml/2006/main">
              <a:ext uri="{FF2B5EF4-FFF2-40B4-BE49-F238E27FC236}">
                <a16:creationId xmlns:a16="http://schemas.microsoft.com/office/drawing/2014/main" id="{AB30C8FF-3BDC-47F6-B8BA-5598BD1F60CD}"/>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Network flow connects origin, port and customer constraints. Inventory and queues need lead-time and service data.</a:t>
            </a:r>
          </a:p>
        </p:txBody>
      </p:sp>
      <p:sp>
        <p:nvSpPr>
          <p:cNvPr id="7" name="">
            <a:extLst xmlns:a="http://schemas.openxmlformats.org/drawingml/2006/main">
              <a:ext uri="{FF2B5EF4-FFF2-40B4-BE49-F238E27FC236}">
                <a16:creationId xmlns:a16="http://schemas.microsoft.com/office/drawing/2014/main" id="{BA383FDF-885C-44F7-B2B0-801E626D900D}"/>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Optimization, dynamic programming and Bayes structure actions and learning. Priors and transitions need evidence.</a:t>
            </a:r>
          </a:p>
        </p:txBody>
      </p:sp>
      <p:sp>
        <p:nvSpPr>
          <p:cNvPr id="8" name="">
            <a:extLst xmlns:a="http://schemas.openxmlformats.org/drawingml/2006/main">
              <a:ext uri="{FF2B5EF4-FFF2-40B4-BE49-F238E27FC236}">
                <a16:creationId xmlns:a16="http://schemas.microsoft.com/office/drawing/2014/main" id="{2FFE51A6-3717-474E-AC9E-035DB6B7AF80}"/>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CVAR</a:t>
            </a:r>
          </a:p>
        </p:txBody>
      </p:sp>
      <p:sp>
        <p:nvSpPr>
          <p:cNvPr id="9" name="">
            <a:extLst xmlns:a="http://schemas.openxmlformats.org/drawingml/2006/main">
              <a:ext uri="{FF2B5EF4-FFF2-40B4-BE49-F238E27FC236}">
                <a16:creationId xmlns:a16="http://schemas.microsoft.com/office/drawing/2014/main" id="{9CC02300-C78A-4CD6-9F63-4A1E097BF27F}"/>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65 / 81</a:t>
            </a:r>
          </a:p>
        </p:txBody>
      </p:sp>
    </p:spTree>
    <p:extLst>
      <p:ext uri="{BB962C8B-B14F-4D97-AF65-F5344CB8AC3E}">
        <p14:creationId xmlns:p14="http://schemas.microsoft.com/office/powerpoint/2010/main" val="596218805"/>
      </p:ext>
    </p:extLst>
  </p:cSld>
</p:sld>
</file>

<file path=ppt/slides/slide6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90597A-01A3-4281-8A7E-211DA7C92D4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66</a:t>
            </a:r>
          </a:p>
        </p:txBody>
      </p:sp>
      <p:sp>
        <p:nvSpPr>
          <p:cNvPr id="2" name="">
            <a:extLst xmlns:a="http://schemas.openxmlformats.org/drawingml/2006/main">
              <a:ext uri="{FF2B5EF4-FFF2-40B4-BE49-F238E27FC236}">
                <a16:creationId xmlns:a16="http://schemas.microsoft.com/office/drawing/2014/main" id="{D7C81D67-677C-40EB-B4A3-D34D9E291BB7}"/>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Executed OLS coefficients and uncertainty</a:t>
            </a:r>
          </a:p>
        </p:txBody>
      </p:sp>
      <p:sp>
        <p:nvSpPr>
          <p:cNvPr id="3" name="">
            <a:extLst xmlns:a="http://schemas.openxmlformats.org/drawingml/2006/main">
              <a:ext uri="{FF2B5EF4-FFF2-40B4-BE49-F238E27FC236}">
                <a16:creationId xmlns:a16="http://schemas.microsoft.com/office/drawing/2014/main" id="{8C808FF7-A67B-47B0-826A-072B027DEA89}"/>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No coefficient here is a country demand elasticity.</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4191000"/>
                <a:gridCol w="2190750"/>
                <a:gridCol w="2190750"/>
                <a:gridCol w="2400300"/>
              </a:tblGrid>
              <a:tr h="666750">
                <a:tc>
                  <a:txBody>
                    <a:bodyPr/>
                    <a:lstStyle/>
                    <a:p>
                      <a:r>
                        <a:rPr sz="1050" b="1">
                          <a:solidFill>
                            <a:srgbClr val="49624F"/>
                          </a:solidFill>
                          <a:latin typeface="DejaVu Sans"/>
                          <a:ea typeface="DejaVu Sans"/>
                          <a:cs typeface="DejaVu Sans"/>
                        </a:rPr>
                        <a:t>Term</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Coefficient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Cluster SE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95% interval</a:t>
                      </a:r>
                    </a:p>
                  </a:txBody>
                  <a:tcPr marL="114300" marR="114300" marT="76200" marB="76200" anchor="t">
                    <a:solidFill>
                      <a:srgbClr val="E7EEE4"/>
                    </a:solidFill>
                  </a:tcPr>
                </a:tc>
              </a:tr>
              <a:tr h="666750">
                <a:tc>
                  <a:txBody>
                    <a:bodyPr/>
                    <a:lstStyle/>
                    <a:p>
                      <a:r>
                        <a:rPr sz="1200">
                          <a:solidFill>
                            <a:srgbClr val="183B2A"/>
                          </a:solidFill>
                          <a:latin typeface="DejaVu Sans"/>
                          <a:ea typeface="DejaVu Sans"/>
                          <a:cs typeface="DejaVu Sans"/>
                        </a:rPr>
                        <a:t>Intercept</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0.01852</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0.00231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0.01398 to 0.02305</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g_income_ppp</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0.06197</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0.03750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-0.01153 to 0.13546</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du</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0.19450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0.40929</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-0.60770 to 0.99670</a:t>
                      </a:r>
                    </a:p>
                  </a:txBody>
                  <a:tcPr marL="114300" marR="114300" marT="76200" marB="76200" anchor="t">
                    <a:solidFill>
                      <a:srgbClr val="FFFEF9"/>
                    </a:solidFill>
                  </a:tcPr>
                </a:tc>
              </a:tr>
              <a:tr h="666750">
                <a:tc>
                  <a:txBody>
                    <a:bodyPr/>
                    <a:lstStyle/>
                    <a:p>
                      <a:r>
                        <a:rPr sz="1200">
                          <a:solidFill>
                            <a:srgbClr val="183B2A"/>
                          </a:solidFill>
                          <a:latin typeface="DejaVu Sans"/>
                          <a:ea typeface="DejaVu Sans"/>
                          <a:cs typeface="DejaVu Sans"/>
                        </a:rPr>
                        <a:t>g_cereal_yield</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-0.02331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0.01987</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-0.06226 to 0.01563</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46F436AF-9715-45DA-B63F-A09B03F1696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WB_food_index · WB_income_ppp · WB_urban · WB_cereal_yield</a:t>
            </a:r>
          </a:p>
        </p:txBody>
      </p:sp>
      <p:sp>
        <p:nvSpPr>
          <p:cNvPr id="6" name="">
            <a:extLst xmlns:a="http://schemas.openxmlformats.org/drawingml/2006/main">
              <a:ext uri="{FF2B5EF4-FFF2-40B4-BE49-F238E27FC236}">
                <a16:creationId xmlns:a16="http://schemas.microsoft.com/office/drawing/2014/main" id="{A93C4492-58D4-4310-ADC8-F333F78FA3D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C-OLS   66 / 81</a:t>
            </a:r>
          </a:p>
        </p:txBody>
      </p:sp>
    </p:spTree>
    <p:extLst>
      <p:ext uri="{BB962C8B-B14F-4D97-AF65-F5344CB8AC3E}">
        <p14:creationId xmlns:p14="http://schemas.microsoft.com/office/powerpoint/2010/main" val="1781210303"/>
      </p:ext>
    </p:extLst>
  </p:cSld>
</p:sld>
</file>

<file path=ppt/slides/slide6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630BCC-14B6-4B70-9E0D-F3AA71C8F71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67</a:t>
            </a:r>
          </a:p>
        </p:txBody>
      </p:sp>
      <p:sp>
        <p:nvSpPr>
          <p:cNvPr id="2" name="">
            <a:extLst xmlns:a="http://schemas.openxmlformats.org/drawingml/2006/main">
              <a:ext uri="{FF2B5EF4-FFF2-40B4-BE49-F238E27FC236}">
                <a16:creationId xmlns:a16="http://schemas.microsoft.com/office/drawing/2014/main" id="{695EC8BD-A050-4FD9-81C8-F6A636BB8728}"/>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Holdout and transfer validation limit the model</a:t>
            </a:r>
          </a:p>
        </p:txBody>
      </p:sp>
      <p:sp>
        <p:nvSpPr>
          <p:cNvPr id="3" name="">
            <a:extLst xmlns:a="http://schemas.openxmlformats.org/drawingml/2006/main">
              <a:ext uri="{FF2B5EF4-FFF2-40B4-BE49-F238E27FC236}">
                <a16:creationId xmlns:a16="http://schemas.microsoft.com/office/drawing/2014/main" id="{7BF7B63C-29F0-43CC-8A11-2A816C535DA4}"/>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Temporal improvement is small; geographic transfer is uneven.</a:t>
            </a:r>
          </a:p>
        </p:txBody>
      </p:sp>
      <p:graphicFrame>
        <p:nvGraphicFramePr>
          <p:cNvPr id="11" name=""/>
          <p:cNvGraphicFramePr/>
          <p:nvPr/>
        </p:nvGraphicFramePr>
        <p:xfrm>
          <a:off xmlns:a="http://schemas.openxmlformats.org/drawingml/2006/main" x="609600" y="2505075"/>
          <a:ext xmlns:a="http://schemas.openxmlformats.org/drawingml/2006/main" cx="10972800" cy="2714625"/>
        </p:xfrm>
        <a:graphic xmlns:a="http://schemas.openxmlformats.org/drawingml/2006/main">
          <a:graphicData uri="http://schemas.openxmlformats.org/drawingml/2006/table">
            <a:tbl>
              <a:tblPr/>
              <a:tblGrid>
                <a:gridCol w="4095750"/>
                <a:gridCol w="3438525"/>
                <a:gridCol w="3438525"/>
              </a:tblGrid>
              <a:tr h="452438">
                <a:tc>
                  <a:txBody>
                    <a:bodyPr/>
                    <a:lstStyle/>
                    <a:p>
                      <a:r>
                        <a:rPr sz="1050" b="1">
                          <a:solidFill>
                            <a:srgbClr val="49624F"/>
                          </a:solidFill>
                          <a:latin typeface="DejaVu Sans"/>
                          <a:ea typeface="DejaVu Sans"/>
                          <a:cs typeface="DejaVu Sans"/>
                        </a:rPr>
                        <a:t>Leave-region-out</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Model MAE</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Benchmark MAE</a:t>
                      </a:r>
                    </a:p>
                  </a:txBody>
                  <a:tcPr marL="114300" marR="114300" marT="76200" marB="76200" anchor="t">
                    <a:solidFill>
                      <a:srgbClr val="E7EEE4"/>
                    </a:solidFill>
                  </a:tcPr>
                </a:tc>
              </a:tr>
              <a:tr h="452438">
                <a:tc>
                  <a:txBody>
                    <a:bodyPr/>
                    <a:lstStyle/>
                    <a:p>
                      <a:r>
                        <a:rPr sz="1200">
                          <a:solidFill>
                            <a:srgbClr val="183B2A"/>
                          </a:solidFill>
                          <a:latin typeface="DejaVu Sans"/>
                          <a:ea typeface="DejaVu Sans"/>
                          <a:cs typeface="DejaVu Sans"/>
                        </a:rPr>
                        <a:t>Asia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0.04888</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0.04863</a:t>
                      </a:r>
                    </a:p>
                  </a:txBody>
                  <a:tcPr marL="114300" marR="114300" marT="76200" marB="76200" anchor="t">
                    <a:solidFill>
                      <a:srgbClr val="FFFEF9"/>
                    </a:solidFill>
                  </a:tcPr>
                </a:tc>
              </a:tr>
              <a:tr h="452438">
                <a:tc>
                  <a:txBody>
                    <a:bodyPr/>
                    <a:lstStyle/>
                    <a:p>
                      <a:r>
                        <a:rPr sz="1200">
                          <a:solidFill>
                            <a:srgbClr val="183B2A"/>
                          </a:solidFill>
                          <a:latin typeface="DejaVu Sans"/>
                          <a:ea typeface="DejaVu Sans"/>
                          <a:cs typeface="DejaVu Sans"/>
                        </a:rPr>
                        <a:t>Africa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0.04444</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0.04118</a:t>
                      </a:r>
                    </a:p>
                  </a:txBody>
                  <a:tcPr marL="114300" marR="114300" marT="76200" marB="76200" anchor="t">
                    <a:solidFill>
                      <a:srgbClr val="FFFEF9"/>
                    </a:solidFill>
                  </a:tcPr>
                </a:tc>
              </a:tr>
              <a:tr h="452438">
                <a:tc>
                  <a:txBody>
                    <a:bodyPr/>
                    <a:lstStyle/>
                    <a:p>
                      <a:r>
                        <a:rPr sz="1200">
                          <a:solidFill>
                            <a:srgbClr val="183B2A"/>
                          </a:solidFill>
                          <a:latin typeface="DejaVu Sans"/>
                          <a:ea typeface="DejaVu Sans"/>
                          <a:cs typeface="DejaVu Sans"/>
                        </a:rPr>
                        <a:t>Europe</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0.06458</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0.06461</a:t>
                      </a:r>
                    </a:p>
                  </a:txBody>
                  <a:tcPr marL="114300" marR="114300" marT="76200" marB="76200" anchor="t">
                    <a:solidFill>
                      <a:srgbClr val="FFFEF9"/>
                    </a:solidFill>
                  </a:tcPr>
                </a:tc>
              </a:tr>
              <a:tr h="452438">
                <a:tc>
                  <a:txBody>
                    <a:bodyPr/>
                    <a:lstStyle/>
                    <a:p>
                      <a:r>
                        <a:rPr sz="1200">
                          <a:solidFill>
                            <a:srgbClr val="183B2A"/>
                          </a:solidFill>
                          <a:latin typeface="DejaVu Sans"/>
                          <a:ea typeface="DejaVu Sans"/>
                          <a:cs typeface="DejaVu Sans"/>
                        </a:rPr>
                        <a:t>Americas</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0.04561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0.04558</a:t>
                      </a:r>
                    </a:p>
                  </a:txBody>
                  <a:tcPr marL="114300" marR="114300" marT="76200" marB="76200" anchor="t">
                    <a:solidFill>
                      <a:srgbClr val="FFFEF9"/>
                    </a:solidFill>
                  </a:tcPr>
                </a:tc>
              </a:tr>
              <a:tr h="452438">
                <a:tc>
                  <a:txBody>
                    <a:bodyPr/>
                    <a:lstStyle/>
                    <a:p>
                      <a:r>
                        <a:rPr sz="1200">
                          <a:solidFill>
                            <a:srgbClr val="183B2A"/>
                          </a:solidFill>
                          <a:latin typeface="DejaVu Sans"/>
                          <a:ea typeface="DejaVu Sans"/>
                          <a:cs typeface="DejaVu Sans"/>
                        </a:rPr>
                        <a:t>Oceania</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0.03681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0.03757</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77CF1C6F-6373-4185-832A-6A476006C22B}"/>
              </a:ext>
            </a:extLst>
          </p:cNvPr>
          <p:cNvSpPr>
            <a:spLocks xmlns:a="http://schemas.openxmlformats.org/drawingml/2006/main" noGrp="1"/>
          </p:cNvSpPr>
          <p:nvPr/>
        </p:nvSpPr>
        <p:spPr>
          <a:xfrm xmlns:a="http://schemas.openxmlformats.org/drawingml/2006/main">
            <a:off x="609600" y="5381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Latest-vintage temporal validation is retrospective. The small error gain and uneven geographic transfer do not justify investment forecasting.</a:t>
            </a:r>
          </a:p>
        </p:txBody>
      </p:sp>
      <p:sp>
        <p:nvSpPr>
          <p:cNvPr id="6" name="">
            <a:extLst xmlns:a="http://schemas.openxmlformats.org/drawingml/2006/main">
              <a:ext uri="{FF2B5EF4-FFF2-40B4-BE49-F238E27FC236}">
                <a16:creationId xmlns:a16="http://schemas.microsoft.com/office/drawing/2014/main" id="{833942E1-DCD4-46E1-B5BF-E6A06B989A9D}"/>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WB_food_index</a:t>
            </a:r>
          </a:p>
        </p:txBody>
      </p:sp>
      <p:sp>
        <p:nvSpPr>
          <p:cNvPr id="7" name="">
            <a:extLst xmlns:a="http://schemas.openxmlformats.org/drawingml/2006/main">
              <a:ext uri="{FF2B5EF4-FFF2-40B4-BE49-F238E27FC236}">
                <a16:creationId xmlns:a16="http://schemas.microsoft.com/office/drawing/2014/main" id="{663BC83B-667D-4D3D-8625-8B7F3B69A4AA}"/>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C-OLS   67 / 81</a:t>
            </a:r>
          </a:p>
        </p:txBody>
      </p:sp>
    </p:spTree>
    <p:extLst>
      <p:ext uri="{BB962C8B-B14F-4D97-AF65-F5344CB8AC3E}">
        <p14:creationId xmlns:p14="http://schemas.microsoft.com/office/powerpoint/2010/main" val="1248627207"/>
      </p:ext>
    </p:extLst>
  </p:cSld>
</p:sld>
</file>

<file path=ppt/slides/slide6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15E3EC-CBB0-4B54-8A0F-4CE2842F37B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68</a:t>
            </a:r>
          </a:p>
        </p:txBody>
      </p:sp>
      <p:sp>
        <p:nvSpPr>
          <p:cNvPr id="2" name="">
            <a:extLst xmlns:a="http://schemas.openxmlformats.org/drawingml/2006/main">
              <a:ext uri="{FF2B5EF4-FFF2-40B4-BE49-F238E27FC236}">
                <a16:creationId xmlns:a16="http://schemas.microsoft.com/office/drawing/2014/main" id="{4650001F-6997-4C66-B2E1-1DA884870343}"/>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Stress specification and convergence</a:t>
            </a:r>
          </a:p>
        </p:txBody>
      </p:sp>
      <p:sp>
        <p:nvSpPr>
          <p:cNvPr id="3" name="">
            <a:extLst xmlns:a="http://schemas.openxmlformats.org/drawingml/2006/main">
              <a:ext uri="{FF2B5EF4-FFF2-40B4-BE49-F238E27FC236}">
                <a16:creationId xmlns:a16="http://schemas.microsoft.com/office/drawing/2014/main" id="{89E71C02-9310-4A56-B57A-D71A43B4612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Simulation quantiles describe the chosen generator only.</a:t>
            </a:r>
          </a:p>
        </p:txBody>
      </p:sp>
      <p:graphicFrame>
        <p:nvGraphicFramePr>
          <p:cNvPr id="11" name=""/>
          <p:cNvGraphicFramePr/>
          <p:nvPr/>
        </p:nvGraphicFramePr>
        <p:xfrm>
          <a:off xmlns:a="http://schemas.openxmlformats.org/drawingml/2006/main" x="609600" y="2505075"/>
          <a:ext xmlns:a="http://schemas.openxmlformats.org/drawingml/2006/main" cx="10972800" cy="2714625"/>
        </p:xfrm>
        <a:graphic xmlns:a="http://schemas.openxmlformats.org/drawingml/2006/main">
          <a:graphicData uri="http://schemas.openxmlformats.org/drawingml/2006/table">
            <a:tbl>
              <a:tblPr/>
              <a:tblGrid>
                <a:gridCol w="4191000"/>
                <a:gridCol w="2190750"/>
                <a:gridCol w="2190750"/>
                <a:gridCol w="2400300"/>
              </a:tblGrid>
              <a:tr h="678656">
                <a:tc>
                  <a:txBody>
                    <a:bodyPr/>
                    <a:lstStyle/>
                    <a:p>
                      <a:r>
                        <a:rPr sz="1050" b="1">
                          <a:solidFill>
                            <a:srgbClr val="49624F"/>
                          </a:solidFill>
                          <a:latin typeface="DejaVu Sans"/>
                          <a:ea typeface="DejaVu Sans"/>
                          <a:cs typeface="DejaVu Sans"/>
                        </a:rPr>
                        <a:t>Runs</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p10 NPV</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p50 NPV</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Loss CVaR95</a:t>
                      </a:r>
                    </a:p>
                  </a:txBody>
                  <a:tcPr marL="114300" marR="114300" marT="76200" marB="76200" anchor="t">
                    <a:solidFill>
                      <a:srgbClr val="E7EEE4"/>
                    </a:solidFill>
                  </a:tcPr>
                </a:tc>
              </a:tr>
              <a:tr h="678656">
                <a:tc>
                  <a:txBody>
                    <a:bodyPr/>
                    <a:lstStyle/>
                    <a:p>
                      <a:r>
                        <a:rPr sz="1200">
                          <a:solidFill>
                            <a:srgbClr val="183B2A"/>
                          </a:solidFill>
                          <a:latin typeface="DejaVu Sans"/>
                          <a:ea typeface="DejaVu Sans"/>
                          <a:cs typeface="DejaVu Sans"/>
                        </a:rPr>
                        <a:t>2500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-18.91</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-1.65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29.14</a:t>
                      </a:r>
                    </a:p>
                  </a:txBody>
                  <a:tcPr marL="114300" marR="114300" marT="76200" marB="76200" anchor="t">
                    <a:solidFill>
                      <a:srgbClr val="FFFEF9"/>
                    </a:solidFill>
                  </a:tcPr>
                </a:tc>
              </a:tr>
              <a:tr h="678656">
                <a:tc>
                  <a:txBody>
                    <a:bodyPr/>
                    <a:lstStyle/>
                    <a:p>
                      <a:r>
                        <a:rPr sz="1200">
                          <a:solidFill>
                            <a:srgbClr val="183B2A"/>
                          </a:solidFill>
                          <a:latin typeface="DejaVu Sans"/>
                          <a:ea typeface="DejaVu Sans"/>
                          <a:cs typeface="DejaVu Sans"/>
                        </a:rPr>
                        <a:t>5000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-19.16</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-1.89</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28.98</a:t>
                      </a:r>
                    </a:p>
                  </a:txBody>
                  <a:tcPr marL="114300" marR="114300" marT="76200" marB="76200" anchor="t">
                    <a:solidFill>
                      <a:srgbClr val="FFFEF9"/>
                    </a:solidFill>
                  </a:tcPr>
                </a:tc>
              </a:tr>
              <a:tr h="678656">
                <a:tc>
                  <a:txBody>
                    <a:bodyPr/>
                    <a:lstStyle/>
                    <a:p>
                      <a:r>
                        <a:rPr sz="1200">
                          <a:solidFill>
                            <a:srgbClr val="183B2A"/>
                          </a:solidFill>
                          <a:latin typeface="DejaVu Sans"/>
                          <a:ea typeface="DejaVu Sans"/>
                          <a:cs typeface="DejaVu Sans"/>
                        </a:rPr>
                        <a:t>10000</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-19.27</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-1.65</a:t>
                      </a:r>
                    </a:p>
                  </a:txBody>
                  <a:tcPr marL="114300" marR="114300" marT="76200" marB="76200" anchor="t">
                    <a:solidFill>
                      <a:srgbClr val="FFFEF9"/>
                    </a:solidFill>
                  </a:tcPr>
                </a:tc>
                <a:tc>
                  <a:txBody>
                    <a:bodyPr/>
                    <a:lstStyle/>
                    <a:p>
                      <a:r>
                        <a:rPr sz="1200">
                          <a:solidFill>
                            <a:srgbClr val="183B2A"/>
                          </a:solidFill>
                          <a:latin typeface="DejaVu Sans"/>
                          <a:ea typeface="DejaVu Sans"/>
                          <a:cs typeface="DejaVu Sans"/>
                        </a:rPr>
                        <a:t>29.25</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D4F67F71-757F-41E7-AC67-0C4BD7FA3922}"/>
              </a:ext>
            </a:extLst>
          </p:cNvPr>
          <p:cNvSpPr>
            <a:spLocks xmlns:a="http://schemas.openxmlformats.org/drawingml/2006/main" noGrp="1"/>
          </p:cNvSpPr>
          <p:nvPr/>
        </p:nvSpPr>
        <p:spPr>
          <a:xfrm xmlns:a="http://schemas.openxmlformats.org/drawingml/2006/main">
            <a:off x="609600" y="5381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3B2A"/>
                </a:solidFill>
                <a:latin typeface="DejaVu Sans"/>
                <a:ea typeface="DejaVu Sans"/>
                <a:cs typeface="DejaVu Sans"/>
              </a:defRPr>
            </a:pPr>
            <a:r>
              <a:rPr sz="1350" b="0">
                <a:solidFill>
                  <a:srgbClr val="183B2A"/>
                </a:solidFill>
                <a:latin typeface="DejaVu Sans"/>
                <a:ea typeface="DejaVu Sans"/>
                <a:cs typeface="DejaVu Sans"/>
              </a:rPr>
              <a:t>Chosen latent factors jointly alter volume, costs, stocks and rates. Seed 20261008; covariance is constructed, not fitted to country data.</a:t>
            </a:r>
          </a:p>
        </p:txBody>
      </p:sp>
      <p:sp>
        <p:nvSpPr>
          <p:cNvPr id="6" name="">
            <a:extLst xmlns:a="http://schemas.openxmlformats.org/drawingml/2006/main">
              <a:ext uri="{FF2B5EF4-FFF2-40B4-BE49-F238E27FC236}">
                <a16:creationId xmlns:a16="http://schemas.microsoft.com/office/drawing/2014/main" id="{5B6C362E-59D5-4AA9-ACDC-4ED43F981BAD}"/>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a:t>
            </a:r>
          </a:p>
        </p:txBody>
      </p:sp>
      <p:sp>
        <p:nvSpPr>
          <p:cNvPr id="7" name="">
            <a:extLst xmlns:a="http://schemas.openxmlformats.org/drawingml/2006/main">
              <a:ext uri="{FF2B5EF4-FFF2-40B4-BE49-F238E27FC236}">
                <a16:creationId xmlns:a16="http://schemas.microsoft.com/office/drawing/2014/main" id="{4E33C8DB-7C5A-4F6D-8C2E-D7D1A72ADF3B}"/>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68 / 81</a:t>
            </a:r>
          </a:p>
        </p:txBody>
      </p:sp>
    </p:spTree>
    <p:extLst>
      <p:ext uri="{BB962C8B-B14F-4D97-AF65-F5344CB8AC3E}">
        <p14:creationId xmlns:p14="http://schemas.microsoft.com/office/powerpoint/2010/main" val="1676749958"/>
      </p:ext>
    </p:extLst>
  </p:cSld>
</p:sld>
</file>

<file path=ppt/slides/slide6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C8453C-0F64-4E11-A005-E3C6AD2BAF7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69</a:t>
            </a:r>
          </a:p>
        </p:txBody>
      </p:sp>
      <p:sp>
        <p:nvSpPr>
          <p:cNvPr id="2" name="">
            <a:extLst xmlns:a="http://schemas.openxmlformats.org/drawingml/2006/main">
              <a:ext uri="{FF2B5EF4-FFF2-40B4-BE49-F238E27FC236}">
                <a16:creationId xmlns:a16="http://schemas.microsoft.com/office/drawing/2014/main" id="{FC844B51-6970-4649-83F4-9647BA1C94A9}"/>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Prior art and originality boundary</a:t>
            </a:r>
          </a:p>
        </p:txBody>
      </p:sp>
      <p:sp>
        <p:nvSpPr>
          <p:cNvPr id="3" name="">
            <a:extLst xmlns:a="http://schemas.openxmlformats.org/drawingml/2006/main">
              <a:ext uri="{FF2B5EF4-FFF2-40B4-BE49-F238E27FC236}">
                <a16:creationId xmlns:a16="http://schemas.microsoft.com/office/drawing/2014/main" id="{AA57A328-F757-4D7D-B2BD-F368A5C498A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Integration is the proposal; mathematical novelty is not asserted.</a:t>
            </a:r>
          </a:p>
        </p:txBody>
      </p:sp>
      <p:sp>
        <p:nvSpPr>
          <p:cNvPr id="4" name="">
            <a:extLst xmlns:a="http://schemas.openxmlformats.org/drawingml/2006/main">
              <a:ext uri="{FF2B5EF4-FFF2-40B4-BE49-F238E27FC236}">
                <a16:creationId xmlns:a16="http://schemas.microsoft.com/office/drawing/2014/main" id="{4A5BF31C-4599-4523-B843-CB86777BB0EC}"/>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Robust regret, CVaR, constrained optimization, causal experiments, real options and EVSI are established methods.</a:t>
            </a:r>
          </a:p>
        </p:txBody>
      </p:sp>
      <p:sp>
        <p:nvSpPr>
          <p:cNvPr id="5" name="">
            <a:extLst xmlns:a="http://schemas.openxmlformats.org/drawingml/2006/main">
              <a:ext uri="{FF2B5EF4-FFF2-40B4-BE49-F238E27FC236}">
                <a16:creationId xmlns:a16="http://schemas.microsoft.com/office/drawing/2014/main" id="{A712CD56-F2E8-4400-95B9-B2CF302D0A3F}"/>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Growth, climate, time-series and causal research guide module choice; no Nobel research parameter is imported into company forecasts.</a:t>
            </a:r>
          </a:p>
        </p:txBody>
      </p:sp>
      <p:sp>
        <p:nvSpPr>
          <p:cNvPr id="6" name="">
            <a:extLst xmlns:a="http://schemas.openxmlformats.org/drawingml/2006/main">
              <a:ext uri="{FF2B5EF4-FFF2-40B4-BE49-F238E27FC236}">
                <a16:creationId xmlns:a16="http://schemas.microsoft.com/office/drawing/2014/main" id="{5398562C-6558-4929-9556-CCB43777D645}"/>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The proposed integration links usable customer output to seasonal cash and transferable learning.</a:t>
            </a:r>
          </a:p>
        </p:txBody>
      </p:sp>
      <p:sp>
        <p:nvSpPr>
          <p:cNvPr id="7" name="">
            <a:extLst xmlns:a="http://schemas.openxmlformats.org/drawingml/2006/main">
              <a:ext uri="{FF2B5EF4-FFF2-40B4-BE49-F238E27FC236}">
                <a16:creationId xmlns:a16="http://schemas.microsoft.com/office/drawing/2014/main" id="{9A3E9EDD-AAC5-4760-9DEB-708DB40C7842}"/>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Only the transparent teaching comparison is executed. Superiority over real country allocation is unvalidated.</a:t>
            </a:r>
          </a:p>
        </p:txBody>
      </p:sp>
      <p:sp>
        <p:nvSpPr>
          <p:cNvPr id="8" name="">
            <a:extLst xmlns:a="http://schemas.openxmlformats.org/drawingml/2006/main">
              <a:ext uri="{FF2B5EF4-FFF2-40B4-BE49-F238E27FC236}">
                <a16:creationId xmlns:a16="http://schemas.microsoft.com/office/drawing/2014/main" id="{AD22F1AA-12B6-4E03-B0C4-EEC696B2B47B}"/>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CVAR · DID · NOBEL_2003 · NOBEL_2018 · NOBEL_2021</a:t>
            </a:r>
          </a:p>
        </p:txBody>
      </p:sp>
      <p:sp>
        <p:nvSpPr>
          <p:cNvPr id="9" name="">
            <a:extLst xmlns:a="http://schemas.openxmlformats.org/drawingml/2006/main">
              <a:ext uri="{FF2B5EF4-FFF2-40B4-BE49-F238E27FC236}">
                <a16:creationId xmlns:a16="http://schemas.microsoft.com/office/drawing/2014/main" id="{8F062D30-45AF-4ABD-8137-81EF7B3E8B7D}"/>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69 / 81</a:t>
            </a:r>
          </a:p>
        </p:txBody>
      </p:sp>
    </p:spTree>
    <p:extLst>
      <p:ext uri="{BB962C8B-B14F-4D97-AF65-F5344CB8AC3E}">
        <p14:creationId xmlns:p14="http://schemas.microsoft.com/office/powerpoint/2010/main" val="1978960311"/>
      </p:ext>
    </p:extLst>
  </p:cSld>
</p:sld>
</file>

<file path=ppt/slides/slide7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5FB42A-D09B-4314-939F-40A9EE1DA6D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70</a:t>
            </a:r>
          </a:p>
        </p:txBody>
      </p:sp>
      <p:sp>
        <p:nvSpPr>
          <p:cNvPr id="2" name="">
            <a:extLst xmlns:a="http://schemas.openxmlformats.org/drawingml/2006/main">
              <a:ext uri="{FF2B5EF4-FFF2-40B4-BE49-F238E27FC236}">
                <a16:creationId xmlns:a16="http://schemas.microsoft.com/office/drawing/2014/main" id="{9FD328B4-CF74-4A5A-A09C-FC4A52A4C182}"/>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Pilot design and power: size from evidence</a:t>
            </a:r>
          </a:p>
        </p:txBody>
      </p:sp>
      <p:sp>
        <p:nvSpPr>
          <p:cNvPr id="3" name="">
            <a:extLst xmlns:a="http://schemas.openxmlformats.org/drawingml/2006/main">
              <a:ext uri="{FF2B5EF4-FFF2-40B4-BE49-F238E27FC236}">
                <a16:creationId xmlns:a16="http://schemas.microsoft.com/office/drawing/2014/main" id="{42D67812-9CD3-4272-93D1-14A93CADE88C}"/>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A convenient sample is not proof of an economically meaningful effect.</a:t>
            </a:r>
          </a:p>
        </p:txBody>
      </p:sp>
      <p:sp>
        <p:nvSpPr>
          <p:cNvPr id="4" name="">
            <a:extLst xmlns:a="http://schemas.openxmlformats.org/drawingml/2006/main">
              <a:ext uri="{FF2B5EF4-FFF2-40B4-BE49-F238E27FC236}">
                <a16:creationId xmlns:a16="http://schemas.microsoft.com/office/drawing/2014/main" id="{958A0A69-233F-40C5-8799-6E84AA52E828}"/>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For two independent arms, n ≈ 2(zα/2 + zβ)²σ²/δ² per arm. Cluster design effect = 1 + (m − 1)ICC.</a:t>
            </a:r>
          </a:p>
        </p:txBody>
      </p:sp>
      <p:sp>
        <p:nvSpPr>
          <p:cNvPr id="5" name="">
            <a:extLst xmlns:a="http://schemas.openxmlformats.org/drawingml/2006/main">
              <a:ext uri="{FF2B5EF4-FFF2-40B4-BE49-F238E27FC236}">
                <a16:creationId xmlns:a16="http://schemas.microsoft.com/office/drawing/2014/main" id="{4095F432-47E7-4EAE-9BAD-BF8DA02920F4}"/>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Chosen σ=10, δ=5, α=.05 and 80% power imply about 63 observations per arm before clustering or attrition.</a:t>
            </a:r>
          </a:p>
        </p:txBody>
      </p:sp>
      <p:sp>
        <p:nvSpPr>
          <p:cNvPr id="6" name="">
            <a:extLst xmlns:a="http://schemas.openxmlformats.org/drawingml/2006/main">
              <a:ext uri="{FF2B5EF4-FFF2-40B4-BE49-F238E27FC236}">
                <a16:creationId xmlns:a16="http://schemas.microsoft.com/office/drawing/2014/main" id="{CAB1627A-64B8-4985-8166-E53B96FFF516}"/>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With 10 customers per cluster and ICC=.10, the design effect is 1.9: about 120 adjusted observations per arm.</a:t>
            </a:r>
          </a:p>
        </p:txBody>
      </p:sp>
      <p:sp>
        <p:nvSpPr>
          <p:cNvPr id="7" name="">
            <a:extLst xmlns:a="http://schemas.openxmlformats.org/drawingml/2006/main">
              <a:ext uri="{FF2B5EF4-FFF2-40B4-BE49-F238E27FC236}">
                <a16:creationId xmlns:a16="http://schemas.microsoft.com/office/drawing/2014/main" id="{C62979E0-C4DE-4565-8F84-523820A90FC3}"/>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Actual route variance, balance, spillovers and attrition determine the final sample. No actual sample size is approved.</a:t>
            </a:r>
          </a:p>
        </p:txBody>
      </p:sp>
      <p:sp>
        <p:nvSpPr>
          <p:cNvPr id="8" name="">
            <a:extLst xmlns:a="http://schemas.openxmlformats.org/drawingml/2006/main">
              <a:ext uri="{FF2B5EF4-FFF2-40B4-BE49-F238E27FC236}">
                <a16:creationId xmlns:a16="http://schemas.microsoft.com/office/drawing/2014/main" id="{5FFFDF93-2EF3-45D4-80A3-B716E31DB82A}"/>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DID</a:t>
            </a:r>
          </a:p>
        </p:txBody>
      </p:sp>
      <p:sp>
        <p:nvSpPr>
          <p:cNvPr id="9" name="">
            <a:extLst xmlns:a="http://schemas.openxmlformats.org/drawingml/2006/main">
              <a:ext uri="{FF2B5EF4-FFF2-40B4-BE49-F238E27FC236}">
                <a16:creationId xmlns:a16="http://schemas.microsoft.com/office/drawing/2014/main" id="{378C9104-6F09-4BA6-8F3E-E25E03814A80}"/>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70 / 81</a:t>
            </a:r>
          </a:p>
        </p:txBody>
      </p:sp>
    </p:spTree>
    <p:extLst>
      <p:ext uri="{BB962C8B-B14F-4D97-AF65-F5344CB8AC3E}">
        <p14:creationId xmlns:p14="http://schemas.microsoft.com/office/powerpoint/2010/main" val="1863132913"/>
      </p:ext>
    </p:extLst>
  </p:cSld>
</p:sld>
</file>

<file path=ppt/slides/slide7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BB9898-69E7-4113-96FF-5CC22B53B528}"/>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71</a:t>
            </a:r>
          </a:p>
        </p:txBody>
      </p:sp>
      <p:sp>
        <p:nvSpPr>
          <p:cNvPr id="2" name="">
            <a:extLst xmlns:a="http://schemas.openxmlformats.org/drawingml/2006/main">
              <a:ext uri="{FF2B5EF4-FFF2-40B4-BE49-F238E27FC236}">
                <a16:creationId xmlns:a16="http://schemas.microsoft.com/office/drawing/2014/main" id="{57DBC0A5-A27F-4268-B273-7AAAC114B5DB}"/>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Country atlas: all countries, six worlds, seven milestones</a:t>
            </a:r>
          </a:p>
        </p:txBody>
      </p:sp>
      <p:sp>
        <p:nvSpPr>
          <p:cNvPr id="3" name="">
            <a:extLst xmlns:a="http://schemas.openxmlformats.org/drawingml/2006/main">
              <a:ext uri="{FF2B5EF4-FFF2-40B4-BE49-F238E27FC236}">
                <a16:creationId xmlns:a16="http://schemas.microsoft.com/office/drawing/2014/main" id="{ECC6005C-6DDD-4603-977A-14AA02D0F3E3}"/>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8,190 matrix rows preserve unknown finance rather than fabricate forecasts.</a:t>
            </a:r>
          </a:p>
        </p:txBody>
      </p:sp>
      <p:sp>
        <p:nvSpPr>
          <p:cNvPr id="4" name="">
            <a:extLst xmlns:a="http://schemas.openxmlformats.org/drawingml/2006/main">
              <a:ext uri="{FF2B5EF4-FFF2-40B4-BE49-F238E27FC236}">
                <a16:creationId xmlns:a16="http://schemas.microsoft.com/office/drawing/2014/main" id="{57DEF656-FD20-450B-AF7A-FE79E8FC7571}"/>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The country view links observations and source years to population paths, product/route hypotheses, modes and evidence gates.</a:t>
            </a:r>
          </a:p>
        </p:txBody>
      </p:sp>
      <p:sp>
        <p:nvSpPr>
          <p:cNvPr id="5" name="">
            <a:extLst xmlns:a="http://schemas.openxmlformats.org/drawingml/2006/main">
              <a:ext uri="{FF2B5EF4-FFF2-40B4-BE49-F238E27FC236}">
                <a16:creationId xmlns:a16="http://schemas.microsoft.com/office/drawing/2014/main" id="{0FEAC20F-A7A9-4CDD-A139-98AB31FC3FDF}"/>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Each of six worlds shows a normalized order threshold; country NPV remains unknown.</a:t>
            </a:r>
          </a:p>
        </p:txBody>
      </p:sp>
      <p:sp>
        <p:nvSpPr>
          <p:cNvPr id="6" name="">
            <a:extLst xmlns:a="http://schemas.openxmlformats.org/drawingml/2006/main">
              <a:ext uri="{FF2B5EF4-FFF2-40B4-BE49-F238E27FC236}">
                <a16:creationId xmlns:a16="http://schemas.microsoft.com/office/drawing/2014/main" id="{E0EF1BA7-E8EA-45AF-BD8A-24DCDDBC1A95}"/>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Seven milestones: 2026, 2030, 2035, 2040, 2045, 2050 and 2051. Exact matrix rows are downloadable.</a:t>
            </a:r>
          </a:p>
        </p:txBody>
      </p:sp>
      <p:sp>
        <p:nvSpPr>
          <p:cNvPr id="7" name="">
            <a:extLst xmlns:a="http://schemas.openxmlformats.org/drawingml/2006/main">
              <a:ext uri="{FF2B5EF4-FFF2-40B4-BE49-F238E27FC236}">
                <a16:creationId xmlns:a16="http://schemas.microsoft.com/office/drawing/2014/main" id="{7B01D9CE-68B3-4874-8C16-F7E830A2072E}"/>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Separate M49 territories are indexed. An undisclosed location is not proof that the company is absent.</a:t>
            </a:r>
          </a:p>
        </p:txBody>
      </p:sp>
      <p:sp>
        <p:nvSpPr>
          <p:cNvPr id="8" name="">
            <a:extLst xmlns:a="http://schemas.openxmlformats.org/drawingml/2006/main">
              <a:ext uri="{FF2B5EF4-FFF2-40B4-BE49-F238E27FC236}">
                <a16:creationId xmlns:a16="http://schemas.microsoft.com/office/drawing/2014/main" id="{6CBA6786-50EA-4B9B-BA18-F52F565ED12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UN_M49 · UN_WPP</a:t>
            </a:r>
          </a:p>
        </p:txBody>
      </p:sp>
      <p:sp>
        <p:nvSpPr>
          <p:cNvPr id="9" name="">
            <a:extLst xmlns:a="http://schemas.openxmlformats.org/drawingml/2006/main">
              <a:ext uri="{FF2B5EF4-FFF2-40B4-BE49-F238E27FC236}">
                <a16:creationId xmlns:a16="http://schemas.microsoft.com/office/drawing/2014/main" id="{16EFE630-9E8C-4392-BD5B-4B5AA422CB8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71 / 81</a:t>
            </a:r>
          </a:p>
        </p:txBody>
      </p:sp>
    </p:spTree>
    <p:extLst>
      <p:ext uri="{BB962C8B-B14F-4D97-AF65-F5344CB8AC3E}">
        <p14:creationId xmlns:p14="http://schemas.microsoft.com/office/powerpoint/2010/main" val="1192631995"/>
      </p:ext>
    </p:extLst>
  </p:cSld>
</p:sld>
</file>

<file path=ppt/slides/slide72.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F2896D-43A2-4491-9228-702193D1358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72</a:t>
            </a:r>
          </a:p>
        </p:txBody>
      </p:sp>
      <p:sp>
        <p:nvSpPr>
          <p:cNvPr id="2" name="">
            <a:extLst xmlns:a="http://schemas.openxmlformats.org/drawingml/2006/main">
              <a:ext uri="{FF2B5EF4-FFF2-40B4-BE49-F238E27FC236}">
                <a16:creationId xmlns:a16="http://schemas.microsoft.com/office/drawing/2014/main" id="{5F9FE0DC-820A-4883-A416-9B1DADDA26DD}"/>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Rank missing data by the decision it can reverse</a:t>
            </a:r>
          </a:p>
        </p:txBody>
      </p:sp>
      <p:sp>
        <p:nvSpPr>
          <p:cNvPr id="3" name="">
            <a:extLst xmlns:a="http://schemas.openxmlformats.org/drawingml/2006/main">
              <a:ext uri="{FF2B5EF4-FFF2-40B4-BE49-F238E27FC236}">
                <a16:creationId xmlns:a16="http://schemas.microsoft.com/office/drawing/2014/main" id="{A38BC67C-9D63-4400-8A2E-21816ADFA971}"/>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The package is a complete public-data decision scaffold; internal investment cases remain open.</a:t>
            </a:r>
          </a:p>
        </p:txBody>
      </p:sp>
      <p:sp>
        <p:nvSpPr>
          <p:cNvPr id="4" name="">
            <a:extLst xmlns:a="http://schemas.openxmlformats.org/drawingml/2006/main">
              <a:ext uri="{FF2B5EF4-FFF2-40B4-BE49-F238E27FC236}">
                <a16:creationId xmlns:a16="http://schemas.microsoft.com/office/drawing/2014/main" id="{E51D515A-E602-4B7F-9345-8F2869588742}"/>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Orders, capture, prices and costs can reverse contribution, NPV and country priorities.</a:t>
            </a:r>
          </a:p>
        </p:txBody>
      </p:sp>
      <p:sp>
        <p:nvSpPr>
          <p:cNvPr id="5" name="">
            <a:extLst xmlns:a="http://schemas.openxmlformats.org/drawingml/2006/main">
              <a:ext uri="{FF2B5EF4-FFF2-40B4-BE49-F238E27FC236}">
                <a16:creationId xmlns:a16="http://schemas.microsoft.com/office/drawing/2014/main" id="{B15578EA-64F4-4C02-9E11-B9027B9AD424}"/>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Monthly cash, FX, hedges and tax can create unfunded losses despite positive annual EBITDA.</a:t>
            </a:r>
          </a:p>
        </p:txBody>
      </p:sp>
      <p:sp>
        <p:nvSpPr>
          <p:cNvPr id="6" name="">
            <a:extLst xmlns:a="http://schemas.openxmlformats.org/drawingml/2006/main">
              <a:ext uri="{FF2B5EF4-FFF2-40B4-BE49-F238E27FC236}">
                <a16:creationId xmlns:a16="http://schemas.microsoft.com/office/drawing/2014/main" id="{01BDB533-9A91-49C8-BEC6-D27AD4570589}"/>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Yield, capacity, route access and rights can remove a candidate from the feasible set.</a:t>
            </a:r>
          </a:p>
        </p:txBody>
      </p:sp>
      <p:sp>
        <p:nvSpPr>
          <p:cNvPr id="7" name="">
            <a:extLst xmlns:a="http://schemas.openxmlformats.org/drawingml/2006/main">
              <a:ext uri="{FF2B5EF4-FFF2-40B4-BE49-F238E27FC236}">
                <a16:creationId xmlns:a16="http://schemas.microsoft.com/office/drawing/2014/main" id="{17A33D6B-8B68-4EF9-911D-607441F9CD94}"/>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Asset hazards, competitors and causal adoption can reverse resilience and transferability.</a:t>
            </a:r>
          </a:p>
        </p:txBody>
      </p:sp>
      <p:sp>
        <p:nvSpPr>
          <p:cNvPr id="8" name="">
            <a:extLst xmlns:a="http://schemas.openxmlformats.org/drawingml/2006/main">
              <a:ext uri="{FF2B5EF4-FFF2-40B4-BE49-F238E27FC236}">
                <a16:creationId xmlns:a16="http://schemas.microsoft.com/office/drawing/2014/main" id="{6672BA22-72C6-4AE8-8089-2C86C9BBEFE4}"/>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   |   A_TEMPLATE</a:t>
            </a:r>
          </a:p>
        </p:txBody>
      </p:sp>
      <p:sp>
        <p:nvSpPr>
          <p:cNvPr id="9" name="">
            <a:extLst xmlns:a="http://schemas.openxmlformats.org/drawingml/2006/main">
              <a:ext uri="{FF2B5EF4-FFF2-40B4-BE49-F238E27FC236}">
                <a16:creationId xmlns:a16="http://schemas.microsoft.com/office/drawing/2014/main" id="{9E2982D6-B4CB-4292-B80A-90FF4FCD6DE6}"/>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72 / 81</a:t>
            </a:r>
          </a:p>
        </p:txBody>
      </p:sp>
    </p:spTree>
    <p:extLst>
      <p:ext uri="{BB962C8B-B14F-4D97-AF65-F5344CB8AC3E}">
        <p14:creationId xmlns:p14="http://schemas.microsoft.com/office/powerpoint/2010/main" val="2027269792"/>
      </p:ext>
    </p:extLst>
  </p:cSld>
</p:sld>
</file>

<file path=ppt/slides/slide73.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4CF443-E09E-4602-9E77-7A59B439AF6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73</a:t>
            </a:r>
          </a:p>
        </p:txBody>
      </p:sp>
      <p:sp>
        <p:nvSpPr>
          <p:cNvPr id="2" name="">
            <a:extLst xmlns:a="http://schemas.openxmlformats.org/drawingml/2006/main">
              <a:ext uri="{FF2B5EF4-FFF2-40B4-BE49-F238E27FC236}">
                <a16:creationId xmlns:a16="http://schemas.microsoft.com/office/drawing/2014/main" id="{005F9BBA-A443-45C7-BEF0-0C6AC317E25D}"/>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Refresh evidence when events or decisions change</a:t>
            </a:r>
          </a:p>
        </p:txBody>
      </p:sp>
      <p:sp>
        <p:nvSpPr>
          <p:cNvPr id="3" name="">
            <a:extLst xmlns:a="http://schemas.openxmlformats.org/drawingml/2006/main">
              <a:ext uri="{FF2B5EF4-FFF2-40B4-BE49-F238E27FC236}">
                <a16:creationId xmlns:a16="http://schemas.microsoft.com/office/drawing/2014/main" id="{55B9D5F0-D2AE-40B2-B248-618C0F76DBC8}"/>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Keep a dated reproducible version; do not silently revise the investment case.</a:t>
            </a:r>
          </a:p>
        </p:txBody>
      </p:sp>
      <p:sp>
        <p:nvSpPr>
          <p:cNvPr id="4" name="">
            <a:extLst xmlns:a="http://schemas.openxmlformats.org/drawingml/2006/main">
              <a:ext uri="{FF2B5EF4-FFF2-40B4-BE49-F238E27FC236}">
                <a16:creationId xmlns:a16="http://schemas.microsoft.com/office/drawing/2014/main" id="{B2E416E7-7297-43E5-AF63-082650E008FC}"/>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Recheck company and ownership evidence at material transactions and results; preserve perimeter conflicts.</a:t>
            </a:r>
          </a:p>
        </p:txBody>
      </p:sp>
      <p:sp>
        <p:nvSpPr>
          <p:cNvPr id="5" name="">
            <a:extLst xmlns:a="http://schemas.openxmlformats.org/drawingml/2006/main">
              <a:ext uri="{FF2B5EF4-FFF2-40B4-BE49-F238E27FC236}">
                <a16:creationId xmlns:a16="http://schemas.microsoft.com/office/drawing/2014/main" id="{AFE9A9D8-8543-48A2-A819-99D60E5B5799}"/>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Legal rechecks rules, taxes, sanctions and rights before a named route commitment.</a:t>
            </a:r>
          </a:p>
        </p:txBody>
      </p:sp>
      <p:sp>
        <p:nvSpPr>
          <p:cNvPr id="6" name="">
            <a:extLst xmlns:a="http://schemas.openxmlformats.org/drawingml/2006/main">
              <a:ext uri="{FF2B5EF4-FFF2-40B4-BE49-F238E27FC236}">
                <a16:creationId xmlns:a16="http://schemas.microsoft.com/office/drawing/2014/main" id="{9ABC2F6A-F159-4B33-87FB-8CF1630C76E2}"/>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Review customer orders and stock cash monthly; escalate breaches immediately and test repeat after support ends.</a:t>
            </a:r>
          </a:p>
        </p:txBody>
      </p:sp>
      <p:sp>
        <p:nvSpPr>
          <p:cNvPr id="7" name="">
            <a:extLst xmlns:a="http://schemas.openxmlformats.org/drawingml/2006/main">
              <a:ext uri="{FF2B5EF4-FFF2-40B4-BE49-F238E27FC236}">
                <a16:creationId xmlns:a16="http://schemas.microsoft.com/office/drawing/2014/main" id="{20D27620-82A2-4A96-B5D3-90046A2523EA}"/>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Refresh data vintages, holdouts and scenarios annually; explain changed decisions, not only better fit.</a:t>
            </a:r>
          </a:p>
        </p:txBody>
      </p:sp>
      <p:sp>
        <p:nvSpPr>
          <p:cNvPr id="8" name="">
            <a:extLst xmlns:a="http://schemas.openxmlformats.org/drawingml/2006/main">
              <a:ext uri="{FF2B5EF4-FFF2-40B4-BE49-F238E27FC236}">
                <a16:creationId xmlns:a16="http://schemas.microsoft.com/office/drawing/2014/main" id="{04BB7387-3241-494B-BAB9-70C7CB03E845}"/>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CONDITIONAL / ILLUSTRATIVE</a:t>
            </a:r>
          </a:p>
        </p:txBody>
      </p:sp>
      <p:sp>
        <p:nvSpPr>
          <p:cNvPr id="9" name="">
            <a:extLst xmlns:a="http://schemas.openxmlformats.org/drawingml/2006/main">
              <a:ext uri="{FF2B5EF4-FFF2-40B4-BE49-F238E27FC236}">
                <a16:creationId xmlns:a16="http://schemas.microsoft.com/office/drawing/2014/main" id="{E27AD586-FDBD-4ABD-8F06-FC29D0FB9611}"/>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73 / 81</a:t>
            </a:r>
          </a:p>
        </p:txBody>
      </p:sp>
    </p:spTree>
    <p:extLst>
      <p:ext uri="{BB962C8B-B14F-4D97-AF65-F5344CB8AC3E}">
        <p14:creationId xmlns:p14="http://schemas.microsoft.com/office/powerpoint/2010/main" val="571604283"/>
      </p:ext>
    </p:extLst>
  </p:cSld>
</p:sld>
</file>

<file path=ppt/slides/slide74.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869B86-072C-49CB-9345-E649D24C99C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TECHNICAL APPENDIX  /  74</a:t>
            </a:r>
          </a:p>
        </p:txBody>
      </p:sp>
      <p:sp>
        <p:nvSpPr>
          <p:cNvPr id="2" name="">
            <a:extLst xmlns:a="http://schemas.openxmlformats.org/drawingml/2006/main">
              <a:ext uri="{FF2B5EF4-FFF2-40B4-BE49-F238E27FC236}">
                <a16:creationId xmlns:a16="http://schemas.microsoft.com/office/drawing/2014/main" id="{B1E013D5-5C9D-48C2-B0AA-3EC3E0EA2EB4}"/>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Starting-deck audit: every original slide receives treatment</a:t>
            </a:r>
          </a:p>
        </p:txBody>
      </p:sp>
      <p:sp>
        <p:nvSpPr>
          <p:cNvPr id="3" name="">
            <a:extLst xmlns:a="http://schemas.openxmlformats.org/drawingml/2006/main">
              <a:ext uri="{FF2B5EF4-FFF2-40B4-BE49-F238E27FC236}">
                <a16:creationId xmlns:a16="http://schemas.microsoft.com/office/drawing/2014/main" id="{18A5EE69-74DA-467B-BFD1-3024FAF2D36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Detailed44-row audit retains arithmetic and replaces unsupported certainty.</a:t>
            </a:r>
          </a:p>
        </p:txBody>
      </p:sp>
      <p:sp>
        <p:nvSpPr>
          <p:cNvPr id="4" name="">
            <a:extLst xmlns:a="http://schemas.openxmlformats.org/drawingml/2006/main">
              <a:ext uri="{FF2B5EF4-FFF2-40B4-BE49-F238E27FC236}">
                <a16:creationId xmlns:a16="http://schemas.microsoft.com/office/drawing/2014/main" id="{70E8D78E-0DBD-464F-93C2-91EB87D32278}"/>
              </a:ext>
            </a:extLst>
          </p:cNvPr>
          <p:cNvSpPr>
            <a:spLocks xmlns:a="http://schemas.openxmlformats.org/drawingml/2006/main" noGrp="1"/>
          </p:cNvSpPr>
          <p:nvPr/>
        </p:nvSpPr>
        <p:spPr>
          <a:xfrm xmlns:a="http://schemas.openxmlformats.org/drawingml/2006/main">
            <a:off x="609600" y="2676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Preserve customer economics, cash discipline, the Nigeria laboratory and accurately bounded candidate experience.</a:t>
            </a:r>
          </a:p>
        </p:txBody>
      </p:sp>
      <p:sp>
        <p:nvSpPr>
          <p:cNvPr id="5" name="">
            <a:extLst xmlns:a="http://schemas.openxmlformats.org/drawingml/2006/main">
              <a:ext uri="{FF2B5EF4-FFF2-40B4-BE49-F238E27FC236}">
                <a16:creationId xmlns:a16="http://schemas.microsoft.com/office/drawing/2014/main" id="{5CB6E6AD-26AF-42A5-878E-9C3E0EBD3087}"/>
              </a:ext>
            </a:extLst>
          </p:cNvPr>
          <p:cNvSpPr>
            <a:spLocks xmlns:a="http://schemas.openxmlformats.org/drawingml/2006/main" noGrp="1"/>
          </p:cNvSpPr>
          <p:nvPr/>
        </p:nvSpPr>
        <p:spPr>
          <a:xfrm xmlns:a="http://schemas.openxmlformats.org/drawingml/2006/main">
            <a:off x="609600" y="34766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Repair ownership, tonnage definitions, official projection horizons, procurement FX overlap and working-capital bases.</a:t>
            </a:r>
          </a:p>
        </p:txBody>
      </p:sp>
      <p:sp>
        <p:nvSpPr>
          <p:cNvPr id="6" name="">
            <a:extLst xmlns:a="http://schemas.openxmlformats.org/drawingml/2006/main">
              <a:ext uri="{FF2B5EF4-FFF2-40B4-BE49-F238E27FC236}">
                <a16:creationId xmlns:a16="http://schemas.microsoft.com/office/drawing/2014/main" id="{663C92E9-6EF8-424C-9024-FAA8655B8D0E}"/>
              </a:ext>
            </a:extLst>
          </p:cNvPr>
          <p:cNvSpPr>
            <a:spLocks xmlns:a="http://schemas.openxmlformats.org/drawingml/2006/main" noGrp="1"/>
          </p:cNvSpPr>
          <p:nvPr/>
        </p:nvSpPr>
        <p:spPr>
          <a:xfrm xmlns:a="http://schemas.openxmlformats.org/drawingml/2006/main">
            <a:off x="609600" y="42767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Expand to 195 countries, six worlds, full cash flow, causal pilot design and a linked technical package.</a:t>
            </a:r>
          </a:p>
        </p:txBody>
      </p:sp>
      <p:sp>
        <p:nvSpPr>
          <p:cNvPr id="7" name="">
            <a:extLst xmlns:a="http://schemas.openxmlformats.org/drawingml/2006/main">
              <a:ext uri="{FF2B5EF4-FFF2-40B4-BE49-F238E27FC236}">
                <a16:creationId xmlns:a16="http://schemas.microsoft.com/office/drawing/2014/main" id="{824368E6-DD96-4514-AD0D-33D18984AE6F}"/>
              </a:ext>
            </a:extLst>
          </p:cNvPr>
          <p:cNvSpPr>
            <a:spLocks xmlns:a="http://schemas.openxmlformats.org/drawingml/2006/main" noGrp="1"/>
          </p:cNvSpPr>
          <p:nvPr/>
        </p:nvSpPr>
        <p:spPr>
          <a:xfrm xmlns:a="http://schemas.openxmlformats.org/drawingml/2006/main">
            <a:off x="609600" y="50768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C3D"/>
                </a:solidFill>
                <a:latin typeface="DejaVu Sans"/>
                <a:ea typeface="DejaVu Sans"/>
                <a:cs typeface="DejaVu Sans"/>
              </a:defRPr>
            </a:pPr>
            <a:r>
              <a:rPr sz="1650" b="0">
                <a:solidFill>
                  <a:srgbClr val="344C3D"/>
                </a:solidFill>
                <a:latin typeface="DejaVu Sans"/>
                <a:ea typeface="DejaVu Sans"/>
                <a:cs typeface="DejaVu Sans"/>
              </a:rPr>
              <a:t>Replace unverified review counts, model probability claims and implied funding with evidence and actual validation.</a:t>
            </a:r>
          </a:p>
        </p:txBody>
      </p:sp>
      <p:sp>
        <p:nvSpPr>
          <p:cNvPr id="8" name="">
            <a:extLst xmlns:a="http://schemas.openxmlformats.org/drawingml/2006/main">
              <a:ext uri="{FF2B5EF4-FFF2-40B4-BE49-F238E27FC236}">
                <a16:creationId xmlns:a16="http://schemas.microsoft.com/office/drawing/2014/main" id="{CE1F1A13-D8BB-4D4E-9CC3-1F1408D093A3}"/>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BASELINE</a:t>
            </a:r>
          </a:p>
        </p:txBody>
      </p:sp>
      <p:sp>
        <p:nvSpPr>
          <p:cNvPr id="9" name="">
            <a:extLst xmlns:a="http://schemas.openxmlformats.org/drawingml/2006/main">
              <a:ext uri="{FF2B5EF4-FFF2-40B4-BE49-F238E27FC236}">
                <a16:creationId xmlns:a16="http://schemas.microsoft.com/office/drawing/2014/main" id="{6F129AE9-F3A6-4635-98A7-80CB5D77B447}"/>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74 / 81</a:t>
            </a:r>
          </a:p>
        </p:txBody>
      </p:sp>
    </p:spTree>
    <p:extLst>
      <p:ext uri="{BB962C8B-B14F-4D97-AF65-F5344CB8AC3E}">
        <p14:creationId xmlns:p14="http://schemas.microsoft.com/office/powerpoint/2010/main" val="1953090908"/>
      </p:ext>
    </p:extLst>
  </p:cSld>
</p:sld>
</file>

<file path=ppt/slides/slide75.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552E9C-B02A-40F3-9C1E-580F1D50B0C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75</a:t>
            </a:r>
          </a:p>
        </p:txBody>
      </p:sp>
      <p:sp>
        <p:nvSpPr>
          <p:cNvPr id="2" name="">
            <a:extLst xmlns:a="http://schemas.openxmlformats.org/drawingml/2006/main">
              <a:ext uri="{FF2B5EF4-FFF2-40B4-BE49-F238E27FC236}">
                <a16:creationId xmlns:a16="http://schemas.microsoft.com/office/drawing/2014/main" id="{1144E350-ABCE-45CC-A995-1E3076A5AE13}"/>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1–6</a:t>
            </a:r>
          </a:p>
        </p:txBody>
      </p:sp>
      <p:sp>
        <p:nvSpPr>
          <p:cNvPr id="3" name="">
            <a:extLst xmlns:a="http://schemas.openxmlformats.org/drawingml/2006/main">
              <a:ext uri="{FF2B5EF4-FFF2-40B4-BE49-F238E27FC236}">
                <a16:creationId xmlns:a16="http://schemas.microsoft.com/office/drawing/2014/main" id="{E04E446B-F0BB-4889-B310-AA8E43729852}"/>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CO_AR</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Annual Report 2025 · Printed pp. 3, 10–11; CFO overview and performance charts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CO_FACT</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factsheet, June 2026 · pp. 1–2; footprint, products, ownership</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CO_OWN</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Group reorganisation / Olam Agri · Olam Agri section: 27 April 2026 sale and 30 June CFG share issuance</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CO_ABOUT</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About Us · At a glance, products and ownership blocks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OECD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OECD–FAO Agricultural Outlook 2026–2035 · Publication 29 June 2026; executive summary, methodology; DOI 10.1787/47874669-en</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OECD_METHOD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Aglink-Cosimo methodology · Model overview and projection assumptions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42BAB42B-5BA5-4FC5-9612-627408122C40}"/>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CO_AR · CO_FACT · CO_OWN · CO_ABOUT · OECD · OECD_METHOD</a:t>
            </a:r>
          </a:p>
        </p:txBody>
      </p:sp>
      <p:sp>
        <p:nvSpPr>
          <p:cNvPr id="6" name="">
            <a:extLst xmlns:a="http://schemas.openxmlformats.org/drawingml/2006/main">
              <a:ext uri="{FF2B5EF4-FFF2-40B4-BE49-F238E27FC236}">
                <a16:creationId xmlns:a16="http://schemas.microsoft.com/office/drawing/2014/main" id="{DD2A4BE7-DE11-4622-AC29-31C140E593F0}"/>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75 / 81</a:t>
            </a:r>
          </a:p>
        </p:txBody>
      </p:sp>
    </p:spTree>
    <p:extLst>
      <p:ext uri="{BB962C8B-B14F-4D97-AF65-F5344CB8AC3E}">
        <p14:creationId xmlns:p14="http://schemas.microsoft.com/office/powerpoint/2010/main" val="1689596516"/>
      </p:ext>
    </p:extLst>
  </p:cSld>
</p:sld>
</file>

<file path=ppt/slides/slide76.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CDF414-C813-4C79-99DF-4505A09BA57F}"/>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76</a:t>
            </a:r>
          </a:p>
        </p:txBody>
      </p:sp>
      <p:sp>
        <p:nvSpPr>
          <p:cNvPr id="2" name="">
            <a:extLst xmlns:a="http://schemas.openxmlformats.org/drawingml/2006/main">
              <a:ext uri="{FF2B5EF4-FFF2-40B4-BE49-F238E27FC236}">
                <a16:creationId xmlns:a16="http://schemas.microsoft.com/office/drawing/2014/main" id="{ABFB9CD7-02E4-4579-978C-2E778ECC92F9}"/>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7–12</a:t>
            </a:r>
          </a:p>
        </p:txBody>
      </p:sp>
      <p:sp>
        <p:nvSpPr>
          <p:cNvPr id="3" name="">
            <a:extLst xmlns:a="http://schemas.openxmlformats.org/drawingml/2006/main">
              <a:ext uri="{FF2B5EF4-FFF2-40B4-BE49-F238E27FC236}">
                <a16:creationId xmlns:a16="http://schemas.microsoft.com/office/drawing/2014/main" id="{4A43AAFC-7B56-487C-AD90-1C32568C703B}"/>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UN_M49</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UN Statistics Division M49 · Country/area codes and region/subregion table</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UN_MEMBERS</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UN Dag Hammarskjöld Library: current member states · All 193 country sections, crosswalked to UN M49 ISO3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UN_OBSERVERS</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UN Dag Hammarskjöld Library: non-member observers · Holy See and State of Palestine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UN_WPP</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UN World Population Prospects 2024 · Medium variant sheet; country rows at 2026, 2030, 2035, 2040, 2045, 2050, 2051</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WB_population</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SP.POP.TOTL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WB_income_ppp</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NY.GDP.PCAP.PP.KD · Source 2; series and country/year records, update 2026-07-13</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7187728B-6FD6-43D7-84D4-732771E0180C}"/>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UN_M49 · UN_MEMBERS · UN_OBSERVERS · UN_WPP · WB_population · WB_income_ppp</a:t>
            </a:r>
          </a:p>
        </p:txBody>
      </p:sp>
      <p:sp>
        <p:nvSpPr>
          <p:cNvPr id="6" name="">
            <a:extLst xmlns:a="http://schemas.openxmlformats.org/drawingml/2006/main">
              <a:ext uri="{FF2B5EF4-FFF2-40B4-BE49-F238E27FC236}">
                <a16:creationId xmlns:a16="http://schemas.microsoft.com/office/drawing/2014/main" id="{6AE42C90-98AF-488B-831E-6F1BCB0A3BB5}"/>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76 / 81</a:t>
            </a:r>
          </a:p>
        </p:txBody>
      </p:sp>
    </p:spTree>
    <p:extLst>
      <p:ext uri="{BB962C8B-B14F-4D97-AF65-F5344CB8AC3E}">
        <p14:creationId xmlns:p14="http://schemas.microsoft.com/office/powerpoint/2010/main" val="610318441"/>
      </p:ext>
    </p:extLst>
  </p:cSld>
</p:sld>
</file>

<file path=ppt/slides/slide77.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5CAD70-5748-4DEC-AA97-313C072B7B5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77</a:t>
            </a:r>
          </a:p>
        </p:txBody>
      </p:sp>
      <p:sp>
        <p:nvSpPr>
          <p:cNvPr id="2" name="">
            <a:extLst xmlns:a="http://schemas.openxmlformats.org/drawingml/2006/main">
              <a:ext uri="{FF2B5EF4-FFF2-40B4-BE49-F238E27FC236}">
                <a16:creationId xmlns:a16="http://schemas.microsoft.com/office/drawing/2014/main" id="{7CAF80F2-E865-4AF6-8378-74FD67770672}"/>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13–18</a:t>
            </a:r>
          </a:p>
        </p:txBody>
      </p:sp>
      <p:sp>
        <p:nvSpPr>
          <p:cNvPr id="3" name="">
            <a:extLst xmlns:a="http://schemas.openxmlformats.org/drawingml/2006/main">
              <a:ext uri="{FF2B5EF4-FFF2-40B4-BE49-F238E27FC236}">
                <a16:creationId xmlns:a16="http://schemas.microsoft.com/office/drawing/2014/main" id="{9095C422-5A0C-4EDF-9CBE-6F439F0268B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WB_urban</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SP.URB.TOTL.IN.ZS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WB_inflation</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FP.CPI.TOTL.ZG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WB_food_index</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AG.PRD.FOOD.XD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WB_food_import_share</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TM.VAL.FOOD.ZS.UN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WB_food_export_share</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TX.VAL.FOOD.ZS.UN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WB_imports_usd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TM.VAL.MRCH.CD.WT · Source 2; series and country/year records, update 2026-07-13</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E423A595-9BB6-439A-A79C-8D4490A01512}"/>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WB_urban · WB_inflation · WB_food_index · WB_food_import_share · WB_food_export_share · WB_imports_usd</a:t>
            </a:r>
          </a:p>
        </p:txBody>
      </p:sp>
      <p:sp>
        <p:nvSpPr>
          <p:cNvPr id="6" name="">
            <a:extLst xmlns:a="http://schemas.openxmlformats.org/drawingml/2006/main">
              <a:ext uri="{FF2B5EF4-FFF2-40B4-BE49-F238E27FC236}">
                <a16:creationId xmlns:a16="http://schemas.microsoft.com/office/drawing/2014/main" id="{7EEFFE9B-9F1D-4FF0-A7B0-CA76457F195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77 / 81</a:t>
            </a:r>
          </a:p>
        </p:txBody>
      </p:sp>
    </p:spTree>
    <p:extLst>
      <p:ext uri="{BB962C8B-B14F-4D97-AF65-F5344CB8AC3E}">
        <p14:creationId xmlns:p14="http://schemas.microsoft.com/office/powerpoint/2010/main" val="375513261"/>
      </p:ext>
    </p:extLst>
  </p:cSld>
</p:sld>
</file>

<file path=ppt/slides/slide78.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BA8905-6FC0-42F6-B888-271AADB4A04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78</a:t>
            </a:r>
          </a:p>
        </p:txBody>
      </p:sp>
      <p:sp>
        <p:nvSpPr>
          <p:cNvPr id="2" name="">
            <a:extLst xmlns:a="http://schemas.openxmlformats.org/drawingml/2006/main">
              <a:ext uri="{FF2B5EF4-FFF2-40B4-BE49-F238E27FC236}">
                <a16:creationId xmlns:a16="http://schemas.microsoft.com/office/drawing/2014/main" id="{05C76FFD-70B3-4FD3-AABC-AC6D8868DAD6}"/>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19–24</a:t>
            </a:r>
          </a:p>
        </p:txBody>
      </p:sp>
      <p:sp>
        <p:nvSpPr>
          <p:cNvPr id="3" name="">
            <a:extLst xmlns:a="http://schemas.openxmlformats.org/drawingml/2006/main">
              <a:ext uri="{FF2B5EF4-FFF2-40B4-BE49-F238E27FC236}">
                <a16:creationId xmlns:a16="http://schemas.microsoft.com/office/drawing/2014/main" id="{46DAE073-C9E0-4A4B-91E2-F6D4BE030ABD}"/>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WB_exports_usd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TX.VAL.MRCH.CD.WT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WB_cereal_yield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AG.YLD.CREL.KG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WB_water_stress</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World Bank WDI: ER.H2O.FWST.ZS · Source 2; series and country/year records, update 2026-07-13</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CO_NGA</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Nigeria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CO_GHA</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Ghana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CO_SEN</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Senegal · Country capability/product sections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CFB776C4-EFC0-474E-90AD-2C02BDCF0821}"/>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WB_exports_usd · WB_cereal_yield · WB_water_stress · CO_NGA · CO_GHA · CO_SEN</a:t>
            </a:r>
          </a:p>
        </p:txBody>
      </p:sp>
      <p:sp>
        <p:nvSpPr>
          <p:cNvPr id="6" name="">
            <a:extLst xmlns:a="http://schemas.openxmlformats.org/drawingml/2006/main">
              <a:ext uri="{FF2B5EF4-FFF2-40B4-BE49-F238E27FC236}">
                <a16:creationId xmlns:a16="http://schemas.microsoft.com/office/drawing/2014/main" id="{82778B91-3D0C-4D75-B655-93CC3B224EB3}"/>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78 / 81</a:t>
            </a:r>
          </a:p>
        </p:txBody>
      </p:sp>
    </p:spTree>
    <p:extLst>
      <p:ext uri="{BB962C8B-B14F-4D97-AF65-F5344CB8AC3E}">
        <p14:creationId xmlns:p14="http://schemas.microsoft.com/office/powerpoint/2010/main" val="252045433"/>
      </p:ext>
    </p:extLst>
  </p:cSld>
</p:sld>
</file>

<file path=ppt/slides/slide79.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C674DA-638B-4B36-93F4-B953A396B9C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79</a:t>
            </a:r>
          </a:p>
        </p:txBody>
      </p:sp>
      <p:sp>
        <p:nvSpPr>
          <p:cNvPr id="2" name="">
            <a:extLst xmlns:a="http://schemas.openxmlformats.org/drawingml/2006/main">
              <a:ext uri="{FF2B5EF4-FFF2-40B4-BE49-F238E27FC236}">
                <a16:creationId xmlns:a16="http://schemas.microsoft.com/office/drawing/2014/main" id="{5AA8799B-3B55-4F36-97A3-6A848F9250CE}"/>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25–30</a:t>
            </a:r>
          </a:p>
        </p:txBody>
      </p:sp>
      <p:sp>
        <p:nvSpPr>
          <p:cNvPr id="3" name="">
            <a:extLst xmlns:a="http://schemas.openxmlformats.org/drawingml/2006/main">
              <a:ext uri="{FF2B5EF4-FFF2-40B4-BE49-F238E27FC236}">
                <a16:creationId xmlns:a16="http://schemas.microsoft.com/office/drawing/2014/main" id="{06E49AAA-E2E0-4D33-AAD7-1B6DBBFAAC10}"/>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CO_CMR</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Cameroon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CO_MOZ</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Mozambique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CO_ZAF</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South-Africa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CO_IND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India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CO_VNM</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Vietnam · Country capability/product sections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CO_BRA</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Olam Agri Brazil · Country capability/product sections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90EE03B5-E3E2-4275-AA21-80D07F7E7C3F}"/>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CO_CMR · CO_MOZ · CO_ZAF · CO_IND · CO_VNM · CO_BRA</a:t>
            </a:r>
          </a:p>
        </p:txBody>
      </p:sp>
      <p:sp>
        <p:nvSpPr>
          <p:cNvPr id="6" name="">
            <a:extLst xmlns:a="http://schemas.openxmlformats.org/drawingml/2006/main">
              <a:ext uri="{FF2B5EF4-FFF2-40B4-BE49-F238E27FC236}">
                <a16:creationId xmlns:a16="http://schemas.microsoft.com/office/drawing/2014/main" id="{910B0787-64E4-49D1-9487-57A3D9387678}"/>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79 / 81</a:t>
            </a:r>
          </a:p>
        </p:txBody>
      </p:sp>
    </p:spTree>
    <p:extLst>
      <p:ext uri="{BB962C8B-B14F-4D97-AF65-F5344CB8AC3E}">
        <p14:creationId xmlns:p14="http://schemas.microsoft.com/office/powerpoint/2010/main" val="1165452215"/>
      </p:ext>
    </p:extLst>
  </p:cSld>
</p:sld>
</file>

<file path=ppt/slides/slide80.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A19192-7B3D-4AA1-9B18-6B7805F0030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80</a:t>
            </a:r>
          </a:p>
        </p:txBody>
      </p:sp>
      <p:sp>
        <p:nvSpPr>
          <p:cNvPr id="2" name="">
            <a:extLst xmlns:a="http://schemas.openxmlformats.org/drawingml/2006/main">
              <a:ext uri="{FF2B5EF4-FFF2-40B4-BE49-F238E27FC236}">
                <a16:creationId xmlns:a16="http://schemas.microsoft.com/office/drawing/2014/main" id="{A67E5967-4520-48BE-8512-DF78A8918392}"/>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31–36</a:t>
            </a:r>
          </a:p>
        </p:txBody>
      </p:sp>
      <p:sp>
        <p:nvSpPr>
          <p:cNvPr id="3" name="">
            <a:extLst xmlns:a="http://schemas.openxmlformats.org/drawingml/2006/main">
              <a:ext uri="{FF2B5EF4-FFF2-40B4-BE49-F238E27FC236}">
                <a16:creationId xmlns:a16="http://schemas.microsoft.com/office/drawing/2014/main" id="{DA4C868F-A28D-4701-8FB4-C6BD0D0F7B13}"/>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IPCC</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IPCC AR6 WGII Chapter 5: Food · Chapter 5; food system risks, adaptation and regional limits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WMO</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WMO State of the Global Climate 2025 · 23 March 2026 release; global temperature and climate indicators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EUDR</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EU Regulation 2023/1115 · Articles 3–4 and commodity/product annex</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USDA_NGA</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USDA Nigeria Grain and Feed Annual 2026 · Wheat supply/trade and flour-demand narrative</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USDA_OIL</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USDA Nigeria fiscal and trade policy changes 2026 · Oilseeds/products and crude/refined policy discussion</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COMTRADE</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UN Comtrade Nigeria wheat import preview · 2024, reporter 566, HS 1001, flow M, partner 0</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05366C04-5922-4E7A-BF13-33136EEB04B4}"/>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IPCC · WMO · EUDR · USDA_NGA · USDA_OIL · COMTRADE</a:t>
            </a:r>
          </a:p>
        </p:txBody>
      </p:sp>
      <p:sp>
        <p:nvSpPr>
          <p:cNvPr id="6" name="">
            <a:extLst xmlns:a="http://schemas.openxmlformats.org/drawingml/2006/main">
              <a:ext uri="{FF2B5EF4-FFF2-40B4-BE49-F238E27FC236}">
                <a16:creationId xmlns:a16="http://schemas.microsoft.com/office/drawing/2014/main" id="{BCEF5928-8C92-4626-B467-95F534286F84}"/>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80 / 81</a:t>
            </a:r>
          </a:p>
        </p:txBody>
      </p:sp>
    </p:spTree>
    <p:extLst>
      <p:ext uri="{BB962C8B-B14F-4D97-AF65-F5344CB8AC3E}">
        <p14:creationId xmlns:p14="http://schemas.microsoft.com/office/powerpoint/2010/main" val="1955778408"/>
      </p:ext>
    </p:extLst>
  </p:cSld>
</p:sld>
</file>

<file path=ppt/slides/slide81.xml><?xml version="1.0" encoding="utf-8"?>
<p:sld xmlns:p="http://schemas.openxmlformats.org/presentationml/2006/main">
  <p:cSld>
    <p:bg>
      <p:bgPr>
        <a:solidFill xmlns:a="http://schemas.openxmlformats.org/drawingml/2006/main">
          <a:srgbClr val="FFFE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D3B473-7B02-4D62-8199-92B5EE9C97C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57468"/>
                </a:solidFill>
                <a:latin typeface="DejaVu Sans"/>
                <a:ea typeface="DejaVu Sans"/>
                <a:cs typeface="DejaVu Sans"/>
              </a:defRPr>
            </a:pPr>
            <a:r>
              <a:rPr sz="900" b="0">
                <a:solidFill>
                  <a:srgbClr val="657468"/>
                </a:solidFill>
                <a:latin typeface="DejaVu Sans"/>
                <a:ea typeface="DejaVu Sans"/>
                <a:cs typeface="DejaVu Sans"/>
              </a:rPr>
              <a:t>MANASH PROTIM DEORI  /  SOURCE APPENDIX  /  81</a:t>
            </a:r>
          </a:p>
        </p:txBody>
      </p:sp>
      <p:sp>
        <p:nvSpPr>
          <p:cNvPr id="2" name="">
            <a:extLst xmlns:a="http://schemas.openxmlformats.org/drawingml/2006/main">
              <a:ext uri="{FF2B5EF4-FFF2-40B4-BE49-F238E27FC236}">
                <a16:creationId xmlns:a16="http://schemas.microsoft.com/office/drawing/2014/main" id="{FAD32B2B-7D8D-4707-98B9-26DBF2D6E23E}"/>
              </a:ext>
            </a:extLst>
          </p:cNvPr>
          <p:cNvSpPr>
            <a:spLocks xmlns:a="http://schemas.openxmlformats.org/drawingml/2006/main" noGrp="1"/>
          </p:cNvSpPr>
          <p:nvPr/>
        </p:nvSpPr>
        <p:spPr>
          <a:xfrm xmlns:a="http://schemas.openxmlformats.org/drawingml/2006/main">
            <a:off x="609600" y="6953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B2A"/>
                </a:solidFill>
                <a:latin typeface="DejaVu Serif"/>
                <a:ea typeface="DejaVu Serif"/>
                <a:cs typeface="DejaVu Serif"/>
              </a:defRPr>
            </a:pPr>
            <a:r>
              <a:rPr sz="2850" b="0">
                <a:solidFill>
                  <a:srgbClr val="183B2A"/>
                </a:solidFill>
                <a:latin typeface="DejaVu Serif"/>
                <a:ea typeface="DejaVu Serif"/>
                <a:cs typeface="DejaVu Serif"/>
              </a:rPr>
              <a:t>Source register / 37–42</a:t>
            </a:r>
          </a:p>
        </p:txBody>
      </p:sp>
      <p:sp>
        <p:nvSpPr>
          <p:cNvPr id="3" name="">
            <a:extLst xmlns:a="http://schemas.openxmlformats.org/drawingml/2006/main">
              <a:ext uri="{FF2B5EF4-FFF2-40B4-BE49-F238E27FC236}">
                <a16:creationId xmlns:a16="http://schemas.microsoft.com/office/drawing/2014/main" id="{FF6076FC-ACDE-43BA-9663-8003AF79DB5F}"/>
              </a:ext>
            </a:extLst>
          </p:cNvPr>
          <p:cNvSpPr>
            <a:spLocks xmlns:a="http://schemas.openxmlformats.org/drawingml/2006/main" noGrp="1"/>
          </p:cNvSpPr>
          <p:nvPr/>
        </p:nvSpPr>
        <p:spPr>
          <a:xfrm xmlns:a="http://schemas.openxmlformats.org/drawingml/2006/main">
            <a:off x="609600" y="18002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D5947"/>
                </a:solidFill>
                <a:latin typeface="DejaVu Sans"/>
                <a:ea typeface="DejaVu Sans"/>
                <a:cs typeface="DejaVu Sans"/>
              </a:defRPr>
            </a:pPr>
            <a:r>
              <a:rPr sz="1650" b="0">
                <a:solidFill>
                  <a:srgbClr val="3D5947"/>
                </a:solidFill>
                <a:latin typeface="DejaVu Sans"/>
                <a:ea typeface="DejaVu Sans"/>
                <a:cs typeface="DejaVu Sans"/>
              </a:rPr>
              <a:t>Exact URLs and limitations are in the linked source book.</a:t>
            </a:r>
          </a:p>
        </p:txBody>
      </p:sp>
      <p:graphicFrame>
        <p:nvGraphicFramePr>
          <p:cNvPr id="10" name=""/>
          <p:cNvGraphicFramePr/>
          <p:nvPr/>
        </p:nvGraphicFramePr>
        <p:xfrm>
          <a:off xmlns:a="http://schemas.openxmlformats.org/drawingml/2006/main" x="609600" y="250507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476250">
                <a:tc>
                  <a:txBody>
                    <a:bodyPr/>
                    <a:lstStyle/>
                    <a:p>
                      <a:r>
                        <a:rPr sz="1050" b="1">
                          <a:solidFill>
                            <a:srgbClr val="49624F"/>
                          </a:solidFill>
                          <a:latin typeface="DejaVu Sans"/>
                          <a:ea typeface="DejaVu Sans"/>
                          <a:cs typeface="DejaVu Sans"/>
                        </a:rPr>
                        <a:t>ID</a:t>
                      </a:r>
                    </a:p>
                  </a:txBody>
                  <a:tcPr marL="114300" marR="114300" marT="76200" marB="76200" anchor="t">
                    <a:solidFill>
                      <a:srgbClr val="E7EEE4"/>
                    </a:solidFill>
                  </a:tcPr>
                </a:tc>
                <a:tc>
                  <a:txBody>
                    <a:bodyPr/>
                    <a:lstStyle/>
                    <a:p>
                      <a:r>
                        <a:rPr sz="1050" b="1">
                          <a:solidFill>
                            <a:srgbClr val="49624F"/>
                          </a:solidFill>
                          <a:latin typeface="DejaVu Sans"/>
                          <a:ea typeface="DejaVu Sans"/>
                          <a:cs typeface="DejaVu Sans"/>
                        </a:rPr>
                        <a:t>Source / pinpoint</a:t>
                      </a:r>
                    </a:p>
                  </a:txBody>
                  <a:tcPr marL="114300" marR="114300" marT="76200" marB="76200" anchor="t">
                    <a:solidFill>
                      <a:srgbClr val="E7EEE4"/>
                    </a:solidFill>
                  </a:tcPr>
                </a:tc>
              </a:tr>
              <a:tr h="476250">
                <a:tc>
                  <a:txBody>
                    <a:bodyPr/>
                    <a:lstStyle/>
                    <a:p>
                      <a:r>
                        <a:rPr sz="1050">
                          <a:solidFill>
                            <a:srgbClr val="183B2A"/>
                          </a:solidFill>
                          <a:latin typeface="DejaVu Sans"/>
                          <a:ea typeface="DejaVu Sans"/>
                          <a:cs typeface="DejaVu Sans"/>
                        </a:rPr>
                        <a:t>CVAR</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Rockafellar &amp; Uryasev: Optimization of CVaR · Loss definition and CVaR optimisation formulation</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DID</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Callaway &amp; Sant’Anna: Difference-in-differences · arXiv 1803.09015; identification with multiple time periods</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NOBEL_2003</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Economic Sciences prize 2003 · Prize motivation and research contribution</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NOBEL_2018</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Economic Sciences prize 2018 · Prize motivation and research contribution</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NOBEL_2021</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Economic Sciences prize 2021 · Prize motivation and research contribution</a:t>
                      </a:r>
                    </a:p>
                  </a:txBody>
                  <a:tcPr marL="114300" marR="114300" marT="76200" marB="76200" anchor="t">
                    <a:solidFill>
                      <a:srgbClr val="FFFEF9"/>
                    </a:solidFill>
                  </a:tcPr>
                </a:tc>
              </a:tr>
              <a:tr h="476250">
                <a:tc>
                  <a:txBody>
                    <a:bodyPr/>
                    <a:lstStyle/>
                    <a:p>
                      <a:r>
                        <a:rPr sz="1050">
                          <a:solidFill>
                            <a:srgbClr val="183B2A"/>
                          </a:solidFill>
                          <a:latin typeface="DejaVu Sans"/>
                          <a:ea typeface="DejaVu Sans"/>
                          <a:cs typeface="DejaVu Sans"/>
                        </a:rPr>
                        <a:t>BASELINE</a:t>
                      </a:r>
                    </a:p>
                  </a:txBody>
                  <a:tcPr marL="114300" marR="114300" marT="76200" marB="76200" anchor="t">
                    <a:solidFill>
                      <a:srgbClr val="FFFEF9"/>
                    </a:solidFill>
                  </a:tcPr>
                </a:tc>
                <a:tc>
                  <a:txBody>
                    <a:bodyPr/>
                    <a:lstStyle/>
                    <a:p>
                      <a:r>
                        <a:rPr sz="1050">
                          <a:solidFill>
                            <a:srgbClr val="183B2A"/>
                          </a:solidFill>
                          <a:latin typeface="DejaVu Sans"/>
                          <a:ea typeface="DejaVu Sans"/>
                          <a:cs typeface="DejaVu Sans"/>
                        </a:rPr>
                        <a:t>Portfolio baseline and résumé · src/data/olamAfricaStrategy.ts; src/lib/olamNigeriaDecisionModel.ts; src/data/resume.ts</a:t>
                      </a:r>
                    </a:p>
                  </a:txBody>
                  <a:tcPr marL="114300" marR="114300" marT="76200" marB="76200" anchor="t">
                    <a:solidFill>
                      <a:srgbClr val="FFFEF9"/>
                    </a:solidFill>
                  </a:tcPr>
                </a:tc>
              </a:tr>
            </a:tbl>
          </a:graphicData>
        </a:graphic>
      </p:graphicFrame>
      <p:sp>
        <p:nvSpPr>
          <p:cNvPr id="5" name="">
            <a:extLst xmlns:a="http://schemas.openxmlformats.org/drawingml/2006/main">
              <a:ext uri="{FF2B5EF4-FFF2-40B4-BE49-F238E27FC236}">
                <a16:creationId xmlns:a16="http://schemas.microsoft.com/office/drawing/2014/main" id="{10C09F10-4F00-44D5-ADDE-2BD45959690A}"/>
              </a:ext>
            </a:extLst>
          </p:cNvPr>
          <p:cNvSpPr>
            <a:spLocks xmlns:a="http://schemas.openxmlformats.org/drawingml/2006/main" noGrp="1"/>
          </p:cNvSpPr>
          <p:nvPr/>
        </p:nvSpPr>
        <p:spPr>
          <a:xfrm xmlns:a="http://schemas.openxmlformats.org/drawingml/2006/main">
            <a:off x="609600" y="62293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657468"/>
                </a:solidFill>
                <a:latin typeface="DejaVu Sans"/>
                <a:ea typeface="DejaVu Sans"/>
                <a:cs typeface="DejaVu Sans"/>
              </a:defRPr>
            </a:pPr>
            <a:r>
              <a:rPr sz="750" b="0">
                <a:solidFill>
                  <a:srgbClr val="657468"/>
                </a:solidFill>
                <a:latin typeface="DejaVu Sans"/>
                <a:ea typeface="DejaVu Sans"/>
                <a:cs typeface="DejaVu Sans"/>
              </a:rPr>
              <a:t>SOURCE CVAR · DID · NOBEL_2003 · NOBEL_2018 · NOBEL_2021 · BASELINE</a:t>
            </a:r>
          </a:p>
        </p:txBody>
      </p:sp>
      <p:sp>
        <p:nvSpPr>
          <p:cNvPr id="6" name="">
            <a:extLst xmlns:a="http://schemas.openxmlformats.org/drawingml/2006/main">
              <a:ext uri="{FF2B5EF4-FFF2-40B4-BE49-F238E27FC236}">
                <a16:creationId xmlns:a16="http://schemas.microsoft.com/office/drawing/2014/main" id="{509CCCD2-0D71-4428-9473-53995BDF055E}"/>
              </a:ext>
            </a:extLst>
          </p:cNvPr>
          <p:cNvSpPr>
            <a:spLocks xmlns:a="http://schemas.openxmlformats.org/drawingml/2006/main" noGrp="1"/>
          </p:cNvSpPr>
          <p:nvPr/>
        </p:nvSpPr>
        <p:spPr>
          <a:xfrm xmlns:a="http://schemas.openxmlformats.org/drawingml/2006/main">
            <a:off x="609600" y="6610350"/>
            <a:ext cx="109728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657468"/>
                </a:solidFill>
                <a:latin typeface="DejaVu Sans"/>
                <a:ea typeface="DejaVu Sans"/>
                <a:cs typeface="DejaVu Sans"/>
              </a:defRPr>
            </a:pPr>
            <a:r>
              <a:rPr sz="675" b="0">
                <a:solidFill>
                  <a:srgbClr val="657468"/>
                </a:solidFill>
                <a:latin typeface="DejaVu Sans"/>
                <a:ea typeface="DejaVu Sans"/>
                <a:cs typeface="DejaVu Sans"/>
              </a:rPr>
              <a:t>   81 / 81</a:t>
            </a:r>
          </a:p>
        </p:txBody>
      </p:sp>
    </p:spTree>
    <p:extLst>
      <p:ext uri="{BB962C8B-B14F-4D97-AF65-F5344CB8AC3E}">
        <p14:creationId xmlns:p14="http://schemas.microsoft.com/office/powerpoint/2010/main" val="1193298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2026-10-07T20:20:29.6190000Z</dcterms:created>
  <dcterms:modified xsi:type="dcterms:W3CDTF">2026-10-07T20:20:29.6190000Z</dcterms:modified>
</coreProperties>
</file>