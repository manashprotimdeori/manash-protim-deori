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ea4e5ac386d42f0" /><Relationship Type="http://schemas.openxmlformats.org/officeDocument/2006/relationships/extended-properties" Target="/docProps/app.xml" Id="Rdc2f070f9e8f45b1" /><Relationship Type="http://schemas.openxmlformats.org/officeDocument/2006/relationships/officeDocument" Target="/ppt/presentation.xml" Id="R8d1516d15d884ce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79c93be970e421f"/>
  </p:sldMasterIdLst>
  <p:notesMasterIdLst>
    <p:notesMasterId xmlns:r="http://schemas.openxmlformats.org/officeDocument/2006/relationships" r:id="R9212ecfe2995472a"/>
  </p:notesMasterIdLst>
  <p:sldIdLst>
    <p:sldId xmlns:r="http://schemas.openxmlformats.org/officeDocument/2006/relationships" id="256" r:id="R626ee6bbbf9c4303"/>
    <p:sldId xmlns:r="http://schemas.openxmlformats.org/officeDocument/2006/relationships" id="257" r:id="R9c8f2bae9d974812"/>
    <p:sldId xmlns:r="http://schemas.openxmlformats.org/officeDocument/2006/relationships" id="258" r:id="R866e34bdccd04e55"/>
    <p:sldId xmlns:r="http://schemas.openxmlformats.org/officeDocument/2006/relationships" id="259" r:id="Rce8d8c95a3b7465b"/>
    <p:sldId xmlns:r="http://schemas.openxmlformats.org/officeDocument/2006/relationships" id="260" r:id="R68360ff78ffb48f3"/>
    <p:sldId xmlns:r="http://schemas.openxmlformats.org/officeDocument/2006/relationships" id="261" r:id="Re29c28a67fc6477e"/>
    <p:sldId xmlns:r="http://schemas.openxmlformats.org/officeDocument/2006/relationships" id="262" r:id="R98cf419cbcd44d14"/>
    <p:sldId xmlns:r="http://schemas.openxmlformats.org/officeDocument/2006/relationships" id="263" r:id="R295d0c631099426c"/>
    <p:sldId xmlns:r="http://schemas.openxmlformats.org/officeDocument/2006/relationships" id="264" r:id="R87f3f5658d094bfb"/>
    <p:sldId xmlns:r="http://schemas.openxmlformats.org/officeDocument/2006/relationships" id="265" r:id="R3f3ec5cf44ab4289"/>
    <p:sldId xmlns:r="http://schemas.openxmlformats.org/officeDocument/2006/relationships" id="266" r:id="R6de93fcf320b4643"/>
    <p:sldId xmlns:r="http://schemas.openxmlformats.org/officeDocument/2006/relationships" id="267" r:id="R3bdaf7a3c4f748dd"/>
    <p:sldId xmlns:r="http://schemas.openxmlformats.org/officeDocument/2006/relationships" id="268" r:id="R66c96813e0a7437e"/>
    <p:sldId xmlns:r="http://schemas.openxmlformats.org/officeDocument/2006/relationships" id="269" r:id="Rda72d1219d744c5b"/>
    <p:sldId xmlns:r="http://schemas.openxmlformats.org/officeDocument/2006/relationships" id="270" r:id="R7303c098edea494c"/>
    <p:sldId xmlns:r="http://schemas.openxmlformats.org/officeDocument/2006/relationships" id="271" r:id="Rd857a1b130fa4d68"/>
    <p:sldId xmlns:r="http://schemas.openxmlformats.org/officeDocument/2006/relationships" id="272" r:id="R7dbdbc228df947b7"/>
    <p:sldId xmlns:r="http://schemas.openxmlformats.org/officeDocument/2006/relationships" id="273" r:id="R7baef48f1c384752"/>
    <p:sldId xmlns:r="http://schemas.openxmlformats.org/officeDocument/2006/relationships" id="274" r:id="R983c7c465c4e4193"/>
    <p:sldId xmlns:r="http://schemas.openxmlformats.org/officeDocument/2006/relationships" id="275" r:id="Rf145a03b2c244978"/>
    <p:sldId xmlns:r="http://schemas.openxmlformats.org/officeDocument/2006/relationships" id="276" r:id="Rbfa370b9ef874d01"/>
    <p:sldId xmlns:r="http://schemas.openxmlformats.org/officeDocument/2006/relationships" id="277" r:id="Ra83ddf138e8f4dab"/>
    <p:sldId xmlns:r="http://schemas.openxmlformats.org/officeDocument/2006/relationships" id="278" r:id="Re02c9ecbf7e44442"/>
    <p:sldId xmlns:r="http://schemas.openxmlformats.org/officeDocument/2006/relationships" id="279" r:id="R131aacc948464f7e"/>
    <p:sldId xmlns:r="http://schemas.openxmlformats.org/officeDocument/2006/relationships" id="280" r:id="R67aa48c0e4f44e3b"/>
    <p:sldId xmlns:r="http://schemas.openxmlformats.org/officeDocument/2006/relationships" id="281" r:id="Rc16b35d387214cc3"/>
    <p:sldId xmlns:r="http://schemas.openxmlformats.org/officeDocument/2006/relationships" id="282" r:id="R55db6e5dd3b24060"/>
    <p:sldId xmlns:r="http://schemas.openxmlformats.org/officeDocument/2006/relationships" id="283" r:id="Re8d9f53f314f47c4"/>
    <p:sldId xmlns:r="http://schemas.openxmlformats.org/officeDocument/2006/relationships" id="284" r:id="R8dba1627937a4540"/>
    <p:sldId xmlns:r="http://schemas.openxmlformats.org/officeDocument/2006/relationships" id="285" r:id="R5cb4c07f5f884837"/>
    <p:sldId xmlns:r="http://schemas.openxmlformats.org/officeDocument/2006/relationships" id="286" r:id="R75ddb12db98e4f61"/>
    <p:sldId xmlns:r="http://schemas.openxmlformats.org/officeDocument/2006/relationships" id="287" r:id="Rfabe0ace9b3e47f9"/>
    <p:sldId xmlns:r="http://schemas.openxmlformats.org/officeDocument/2006/relationships" id="288" r:id="R663707c348574cd1"/>
    <p:sldId xmlns:r="http://schemas.openxmlformats.org/officeDocument/2006/relationships" id="289" r:id="Reaf431252aa946a0"/>
    <p:sldId xmlns:r="http://schemas.openxmlformats.org/officeDocument/2006/relationships" id="290" r:id="R6b4b32a3ac9a4ad5"/>
    <p:sldId xmlns:r="http://schemas.openxmlformats.org/officeDocument/2006/relationships" id="291" r:id="R92fe72be70ef4c49"/>
    <p:sldId xmlns:r="http://schemas.openxmlformats.org/officeDocument/2006/relationships" id="292" r:id="Ree8f09290473440f"/>
    <p:sldId xmlns:r="http://schemas.openxmlformats.org/officeDocument/2006/relationships" id="293" r:id="Rdb5f099557234f3b"/>
    <p:sldId xmlns:r="http://schemas.openxmlformats.org/officeDocument/2006/relationships" id="294" r:id="Rfe8c6a95b53843f1"/>
    <p:sldId xmlns:r="http://schemas.openxmlformats.org/officeDocument/2006/relationships" id="295" r:id="Rdeabd9ca9f8b42d6"/>
    <p:sldId xmlns:r="http://schemas.openxmlformats.org/officeDocument/2006/relationships" id="296" r:id="R54a4ea6f57274396"/>
    <p:sldId xmlns:r="http://schemas.openxmlformats.org/officeDocument/2006/relationships" id="297" r:id="Rea88202f02704b29"/>
    <p:sldId xmlns:r="http://schemas.openxmlformats.org/officeDocument/2006/relationships" id="298" r:id="Rb398ba06b56e4dbf"/>
    <p:sldId xmlns:r="http://schemas.openxmlformats.org/officeDocument/2006/relationships" id="299" r:id="Rcc701a201270440c"/>
    <p:sldId xmlns:r="http://schemas.openxmlformats.org/officeDocument/2006/relationships" id="300" r:id="R3de62f4745ad4130"/>
    <p:sldId xmlns:r="http://schemas.openxmlformats.org/officeDocument/2006/relationships" id="301" r:id="Re6e1c3fff8a0420c"/>
    <p:sldId xmlns:r="http://schemas.openxmlformats.org/officeDocument/2006/relationships" id="302" r:id="R9834e450b9424359"/>
    <p:sldId xmlns:r="http://schemas.openxmlformats.org/officeDocument/2006/relationships" id="303" r:id="R63f9efbc561e4bda"/>
    <p:sldId xmlns:r="http://schemas.openxmlformats.org/officeDocument/2006/relationships" id="304" r:id="R3929df1dd61b448f"/>
    <p:sldId xmlns:r="http://schemas.openxmlformats.org/officeDocument/2006/relationships" id="305" r:id="Rdf8473f017e047f5"/>
    <p:sldId xmlns:r="http://schemas.openxmlformats.org/officeDocument/2006/relationships" id="306" r:id="Rbea2c50ee64e458a"/>
    <p:sldId xmlns:r="http://schemas.openxmlformats.org/officeDocument/2006/relationships" id="307" r:id="Ra7755e2603b6440e"/>
    <p:sldId xmlns:r="http://schemas.openxmlformats.org/officeDocument/2006/relationships" id="308" r:id="R985529dce3664dd7"/>
    <p:sldId xmlns:r="http://schemas.openxmlformats.org/officeDocument/2006/relationships" id="309" r:id="Rfbba2f08f0e149bd"/>
    <p:sldId xmlns:r="http://schemas.openxmlformats.org/officeDocument/2006/relationships" id="310" r:id="R4ee050d8cc9a4ac7"/>
    <p:sldId xmlns:r="http://schemas.openxmlformats.org/officeDocument/2006/relationships" id="311" r:id="Rba6b8bae15294eb0"/>
    <p:sldId xmlns:r="http://schemas.openxmlformats.org/officeDocument/2006/relationships" id="312" r:id="R9d334456377c4814"/>
    <p:sldId xmlns:r="http://schemas.openxmlformats.org/officeDocument/2006/relationships" id="313" r:id="R1e5f4cb224b04c4e"/>
    <p:sldId xmlns:r="http://schemas.openxmlformats.org/officeDocument/2006/relationships" id="314" r:id="Rf8e024ae56564a46"/>
    <p:sldId xmlns:r="http://schemas.openxmlformats.org/officeDocument/2006/relationships" id="315" r:id="R1ff2737d8fab4d31"/>
    <p:sldId xmlns:r="http://schemas.openxmlformats.org/officeDocument/2006/relationships" id="316" r:id="Rccbc0eb8ea9d43a2"/>
    <p:sldId xmlns:r="http://schemas.openxmlformats.org/officeDocument/2006/relationships" id="317" r:id="Re56cd5b0537c4d16"/>
    <p:sldId xmlns:r="http://schemas.openxmlformats.org/officeDocument/2006/relationships" id="318" r:id="Rd9bb1983026f4617"/>
    <p:sldId xmlns:r="http://schemas.openxmlformats.org/officeDocument/2006/relationships" id="319" r:id="R770059b3d4284a94"/>
    <p:sldId xmlns:r="http://schemas.openxmlformats.org/officeDocument/2006/relationships" id="320" r:id="R7c53bf81ed134edc"/>
    <p:sldId xmlns:r="http://schemas.openxmlformats.org/officeDocument/2006/relationships" id="321" r:id="R5fcd5ff712a54f62"/>
    <p:sldId xmlns:r="http://schemas.openxmlformats.org/officeDocument/2006/relationships" id="322" r:id="R4a7479f831e04b60"/>
    <p:sldId xmlns:r="http://schemas.openxmlformats.org/officeDocument/2006/relationships" id="323" r:id="R37d106f7f67645e7"/>
    <p:sldId xmlns:r="http://schemas.openxmlformats.org/officeDocument/2006/relationships" id="324" r:id="R38bbc163947e46f8"/>
    <p:sldId xmlns:r="http://schemas.openxmlformats.org/officeDocument/2006/relationships" id="325" r:id="Rcb86498dea2a42ad"/>
    <p:sldId xmlns:r="http://schemas.openxmlformats.org/officeDocument/2006/relationships" id="326" r:id="R5f0fbcb069744d85"/>
    <p:sldId xmlns:r="http://schemas.openxmlformats.org/officeDocument/2006/relationships" id="327" r:id="Ra600724bb7594034"/>
    <p:sldId xmlns:r="http://schemas.openxmlformats.org/officeDocument/2006/relationships" id="328" r:id="Rc0a35f2fed0843e7"/>
    <p:sldId xmlns:r="http://schemas.openxmlformats.org/officeDocument/2006/relationships" id="329" r:id="R5001eb25974a4a1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fd64896a8004604" /><Relationship Type="http://schemas.openxmlformats.org/officeDocument/2006/relationships/slideMaster" Target="/ppt/slideMasters/slideMaster1.xml" Id="Re79c93be970e421f" /><Relationship Type="http://schemas.openxmlformats.org/officeDocument/2006/relationships/notesMaster" Target="/ppt/notesMasters/notesMaster1.xml" Id="R9212ecfe2995472a" /><Relationship Type="http://schemas.openxmlformats.org/officeDocument/2006/relationships/presProps" Target="/ppt/presProps.xml" Id="R25241bf8fb964360" /><Relationship Type="http://schemas.openxmlformats.org/officeDocument/2006/relationships/tableStyles" Target="/ppt/tableStyles.xml" Id="Rf647c406436246c3" /><Relationship Type="http://schemas.openxmlformats.org/officeDocument/2006/relationships/slide" Target="/ppt/slides/slide1.xml" Id="R626ee6bbbf9c4303" /><Relationship Type="http://schemas.openxmlformats.org/officeDocument/2006/relationships/slide" Target="/ppt/slides/slide2.xml" Id="R9c8f2bae9d974812" /><Relationship Type="http://schemas.openxmlformats.org/officeDocument/2006/relationships/slide" Target="/ppt/slides/slide3.xml" Id="R866e34bdccd04e55" /><Relationship Type="http://schemas.openxmlformats.org/officeDocument/2006/relationships/slide" Target="/ppt/slides/slide4.xml" Id="Rce8d8c95a3b7465b" /><Relationship Type="http://schemas.openxmlformats.org/officeDocument/2006/relationships/slide" Target="/ppt/slides/slide5.xml" Id="R68360ff78ffb48f3" /><Relationship Type="http://schemas.openxmlformats.org/officeDocument/2006/relationships/slide" Target="/ppt/slides/slide6.xml" Id="Re29c28a67fc6477e" /><Relationship Type="http://schemas.openxmlformats.org/officeDocument/2006/relationships/slide" Target="/ppt/slides/slide7.xml" Id="R98cf419cbcd44d14" /><Relationship Type="http://schemas.openxmlformats.org/officeDocument/2006/relationships/slide" Target="/ppt/slides/slide8.xml" Id="R295d0c631099426c" /><Relationship Type="http://schemas.openxmlformats.org/officeDocument/2006/relationships/slide" Target="/ppt/slides/slide9.xml" Id="R87f3f5658d094bfb" /><Relationship Type="http://schemas.openxmlformats.org/officeDocument/2006/relationships/slide" Target="/ppt/slides/slide10.xml" Id="R3f3ec5cf44ab4289" /><Relationship Type="http://schemas.openxmlformats.org/officeDocument/2006/relationships/slide" Target="/ppt/slides/slide11.xml" Id="R6de93fcf320b4643" /><Relationship Type="http://schemas.openxmlformats.org/officeDocument/2006/relationships/slide" Target="/ppt/slides/slide12.xml" Id="R3bdaf7a3c4f748dd" /><Relationship Type="http://schemas.openxmlformats.org/officeDocument/2006/relationships/slide" Target="/ppt/slides/slide13.xml" Id="R66c96813e0a7437e" /><Relationship Type="http://schemas.openxmlformats.org/officeDocument/2006/relationships/slide" Target="/ppt/slides/slide14.xml" Id="Rda72d1219d744c5b" /><Relationship Type="http://schemas.openxmlformats.org/officeDocument/2006/relationships/slide" Target="/ppt/slides/slide15.xml" Id="R7303c098edea494c" /><Relationship Type="http://schemas.openxmlformats.org/officeDocument/2006/relationships/slide" Target="/ppt/slides/slide16.xml" Id="Rd857a1b130fa4d68" /><Relationship Type="http://schemas.openxmlformats.org/officeDocument/2006/relationships/slide" Target="/ppt/slides/slide17.xml" Id="R7dbdbc228df947b7" /><Relationship Type="http://schemas.openxmlformats.org/officeDocument/2006/relationships/slide" Target="/ppt/slides/slide18.xml" Id="R7baef48f1c384752" /><Relationship Type="http://schemas.openxmlformats.org/officeDocument/2006/relationships/slide" Target="/ppt/slides/slide19.xml" Id="R983c7c465c4e4193" /><Relationship Type="http://schemas.openxmlformats.org/officeDocument/2006/relationships/slide" Target="/ppt/slides/slide20.xml" Id="Rf145a03b2c244978" /><Relationship Type="http://schemas.openxmlformats.org/officeDocument/2006/relationships/slide" Target="/ppt/slides/slide21.xml" Id="Rbfa370b9ef874d01" /><Relationship Type="http://schemas.openxmlformats.org/officeDocument/2006/relationships/slide" Target="/ppt/slides/slide22.xml" Id="Ra83ddf138e8f4dab" /><Relationship Type="http://schemas.openxmlformats.org/officeDocument/2006/relationships/slide" Target="/ppt/slides/slide23.xml" Id="Re02c9ecbf7e44442" /><Relationship Type="http://schemas.openxmlformats.org/officeDocument/2006/relationships/slide" Target="/ppt/slides/slide24.xml" Id="R131aacc948464f7e" /><Relationship Type="http://schemas.openxmlformats.org/officeDocument/2006/relationships/slide" Target="/ppt/slides/slide25.xml" Id="R67aa48c0e4f44e3b" /><Relationship Type="http://schemas.openxmlformats.org/officeDocument/2006/relationships/slide" Target="/ppt/slides/slide26.xml" Id="Rc16b35d387214cc3" /><Relationship Type="http://schemas.openxmlformats.org/officeDocument/2006/relationships/slide" Target="/ppt/slides/slide27.xml" Id="R55db6e5dd3b24060" /><Relationship Type="http://schemas.openxmlformats.org/officeDocument/2006/relationships/slide" Target="/ppt/slides/slide28.xml" Id="Re8d9f53f314f47c4" /><Relationship Type="http://schemas.openxmlformats.org/officeDocument/2006/relationships/slide" Target="/ppt/slides/slide29.xml" Id="R8dba1627937a4540" /><Relationship Type="http://schemas.openxmlformats.org/officeDocument/2006/relationships/slide" Target="/ppt/slides/slide30.xml" Id="R5cb4c07f5f884837" /><Relationship Type="http://schemas.openxmlformats.org/officeDocument/2006/relationships/slide" Target="/ppt/slides/slide31.xml" Id="R75ddb12db98e4f61" /><Relationship Type="http://schemas.openxmlformats.org/officeDocument/2006/relationships/slide" Target="/ppt/slides/slide32.xml" Id="Rfabe0ace9b3e47f9" /><Relationship Type="http://schemas.openxmlformats.org/officeDocument/2006/relationships/slide" Target="/ppt/slides/slide33.xml" Id="R663707c348574cd1" /><Relationship Type="http://schemas.openxmlformats.org/officeDocument/2006/relationships/slide" Target="/ppt/slides/slide34.xml" Id="Reaf431252aa946a0" /><Relationship Type="http://schemas.openxmlformats.org/officeDocument/2006/relationships/slide" Target="/ppt/slides/slide35.xml" Id="R6b4b32a3ac9a4ad5" /><Relationship Type="http://schemas.openxmlformats.org/officeDocument/2006/relationships/slide" Target="/ppt/slides/slide36.xml" Id="R92fe72be70ef4c49" /><Relationship Type="http://schemas.openxmlformats.org/officeDocument/2006/relationships/slide" Target="/ppt/slides/slide37.xml" Id="Ree8f09290473440f" /><Relationship Type="http://schemas.openxmlformats.org/officeDocument/2006/relationships/slide" Target="/ppt/slides/slide38.xml" Id="Rdb5f099557234f3b" /><Relationship Type="http://schemas.openxmlformats.org/officeDocument/2006/relationships/slide" Target="/ppt/slides/slide39.xml" Id="Rfe8c6a95b53843f1" /><Relationship Type="http://schemas.openxmlformats.org/officeDocument/2006/relationships/slide" Target="/ppt/slides/slide40.xml" Id="Rdeabd9ca9f8b42d6" /><Relationship Type="http://schemas.openxmlformats.org/officeDocument/2006/relationships/slide" Target="/ppt/slides/slide41.xml" Id="R54a4ea6f57274396" /><Relationship Type="http://schemas.openxmlformats.org/officeDocument/2006/relationships/slide" Target="/ppt/slides/slide42.xml" Id="Rea88202f02704b29" /><Relationship Type="http://schemas.openxmlformats.org/officeDocument/2006/relationships/slide" Target="/ppt/slides/slide43.xml" Id="Rb398ba06b56e4dbf" /><Relationship Type="http://schemas.openxmlformats.org/officeDocument/2006/relationships/slide" Target="/ppt/slides/slide44.xml" Id="Rcc701a201270440c" /><Relationship Type="http://schemas.openxmlformats.org/officeDocument/2006/relationships/slide" Target="/ppt/slides/slide45.xml" Id="R3de62f4745ad4130" /><Relationship Type="http://schemas.openxmlformats.org/officeDocument/2006/relationships/slide" Target="/ppt/slides/slide46.xml" Id="Re6e1c3fff8a0420c" /><Relationship Type="http://schemas.openxmlformats.org/officeDocument/2006/relationships/slide" Target="/ppt/slides/slide47.xml" Id="R9834e450b9424359" /><Relationship Type="http://schemas.openxmlformats.org/officeDocument/2006/relationships/slide" Target="/ppt/slides/slide48.xml" Id="R63f9efbc561e4bda" /><Relationship Type="http://schemas.openxmlformats.org/officeDocument/2006/relationships/slide" Target="/ppt/slides/slide49.xml" Id="R3929df1dd61b448f" /><Relationship Type="http://schemas.openxmlformats.org/officeDocument/2006/relationships/slide" Target="/ppt/slides/slide50.xml" Id="Rdf8473f017e047f5" /><Relationship Type="http://schemas.openxmlformats.org/officeDocument/2006/relationships/slide" Target="/ppt/slides/slide51.xml" Id="Rbea2c50ee64e458a" /><Relationship Type="http://schemas.openxmlformats.org/officeDocument/2006/relationships/slide" Target="/ppt/slides/slide52.xml" Id="Ra7755e2603b6440e" /><Relationship Type="http://schemas.openxmlformats.org/officeDocument/2006/relationships/slide" Target="/ppt/slides/slide53.xml" Id="R985529dce3664dd7" /><Relationship Type="http://schemas.openxmlformats.org/officeDocument/2006/relationships/slide" Target="/ppt/slides/slide54.xml" Id="Rfbba2f08f0e149bd" /><Relationship Type="http://schemas.openxmlformats.org/officeDocument/2006/relationships/slide" Target="/ppt/slides/slide55.xml" Id="R4ee050d8cc9a4ac7" /><Relationship Type="http://schemas.openxmlformats.org/officeDocument/2006/relationships/slide" Target="/ppt/slides/slide56.xml" Id="Rba6b8bae15294eb0" /><Relationship Type="http://schemas.openxmlformats.org/officeDocument/2006/relationships/slide" Target="/ppt/slides/slide57.xml" Id="R9d334456377c4814" /><Relationship Type="http://schemas.openxmlformats.org/officeDocument/2006/relationships/slide" Target="/ppt/slides/slide58.xml" Id="R1e5f4cb224b04c4e" /><Relationship Type="http://schemas.openxmlformats.org/officeDocument/2006/relationships/slide" Target="/ppt/slides/slide59.xml" Id="Rf8e024ae56564a46" /><Relationship Type="http://schemas.openxmlformats.org/officeDocument/2006/relationships/slide" Target="/ppt/slides/slide60.xml" Id="R1ff2737d8fab4d31" /><Relationship Type="http://schemas.openxmlformats.org/officeDocument/2006/relationships/slide" Target="/ppt/slides/slide61.xml" Id="Rccbc0eb8ea9d43a2" /><Relationship Type="http://schemas.openxmlformats.org/officeDocument/2006/relationships/slide" Target="/ppt/slides/slide62.xml" Id="Re56cd5b0537c4d16" /><Relationship Type="http://schemas.openxmlformats.org/officeDocument/2006/relationships/slide" Target="/ppt/slides/slide63.xml" Id="Rd9bb1983026f4617" /><Relationship Type="http://schemas.openxmlformats.org/officeDocument/2006/relationships/slide" Target="/ppt/slides/slide64.xml" Id="R770059b3d4284a94" /><Relationship Type="http://schemas.openxmlformats.org/officeDocument/2006/relationships/slide" Target="/ppt/slides/slide65.xml" Id="R7c53bf81ed134edc" /><Relationship Type="http://schemas.openxmlformats.org/officeDocument/2006/relationships/slide" Target="/ppt/slides/slide66.xml" Id="R5fcd5ff712a54f62" /><Relationship Type="http://schemas.openxmlformats.org/officeDocument/2006/relationships/slide" Target="/ppt/slides/slide67.xml" Id="R4a7479f831e04b60" /><Relationship Type="http://schemas.openxmlformats.org/officeDocument/2006/relationships/slide" Target="/ppt/slides/slide68.xml" Id="R37d106f7f67645e7" /><Relationship Type="http://schemas.openxmlformats.org/officeDocument/2006/relationships/slide" Target="/ppt/slides/slide69.xml" Id="R38bbc163947e46f8" /><Relationship Type="http://schemas.openxmlformats.org/officeDocument/2006/relationships/slide" Target="/ppt/slides/slide70.xml" Id="Rcb86498dea2a42ad" /><Relationship Type="http://schemas.openxmlformats.org/officeDocument/2006/relationships/slide" Target="/ppt/slides/slide71.xml" Id="R5f0fbcb069744d85" /><Relationship Type="http://schemas.openxmlformats.org/officeDocument/2006/relationships/slide" Target="/ppt/slides/slide72.xml" Id="Ra600724bb7594034" /><Relationship Type="http://schemas.openxmlformats.org/officeDocument/2006/relationships/slide" Target="/ppt/slides/slide73.xml" Id="Rc0a35f2fed0843e7" /><Relationship Type="http://schemas.openxmlformats.org/officeDocument/2006/relationships/slide" Target="/ppt/slides/slide74.xml" Id="R5001eb25974a4a1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fe495b118b24e3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2a4c727162c4d16" /><Relationship Type="http://schemas.openxmlformats.org/officeDocument/2006/relationships/notesMaster" Target="/ppt/notesMasters/notesMaster1.xml" Id="R223698f53e774f9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d274237177b4ce0" /><Relationship Type="http://schemas.openxmlformats.org/officeDocument/2006/relationships/notesMaster" Target="/ppt/notesMasters/notesMaster1.xml" Id="R8cdaed8a157b4c5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0438fbb3b5e4ae9" /><Relationship Type="http://schemas.openxmlformats.org/officeDocument/2006/relationships/notesMaster" Target="/ppt/notesMasters/notesMaster1.xml" Id="R3823b4d5d3a14f3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05fd43d814642d6" /><Relationship Type="http://schemas.openxmlformats.org/officeDocument/2006/relationships/notesMaster" Target="/ppt/notesMasters/notesMaster1.xml" Id="R62b922e3ef7f40b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3b2c33ba2c84708" /><Relationship Type="http://schemas.openxmlformats.org/officeDocument/2006/relationships/notesMaster" Target="/ppt/notesMasters/notesMaster1.xml" Id="R0b0646ec3d104e6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575c18333cc469e" /><Relationship Type="http://schemas.openxmlformats.org/officeDocument/2006/relationships/notesMaster" Target="/ppt/notesMasters/notesMaster1.xml" Id="R48dfb3b30061452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1668bf08e3a4e9a" /><Relationship Type="http://schemas.openxmlformats.org/officeDocument/2006/relationships/notesMaster" Target="/ppt/notesMasters/notesMaster1.xml" Id="Rd27882eb9ad94ae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5ecb9483d904f4a" /><Relationship Type="http://schemas.openxmlformats.org/officeDocument/2006/relationships/notesMaster" Target="/ppt/notesMasters/notesMaster1.xml" Id="R9a782d54899f4b0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c21c21bb5904cb5" /><Relationship Type="http://schemas.openxmlformats.org/officeDocument/2006/relationships/notesMaster" Target="/ppt/notesMasters/notesMaster1.xml" Id="Rad1bf57466d545e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c61b8f005e54702" /><Relationship Type="http://schemas.openxmlformats.org/officeDocument/2006/relationships/notesMaster" Target="/ppt/notesMasters/notesMaster1.xml" Id="Rb91f921023db4ba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56efed911fc428a" /><Relationship Type="http://schemas.openxmlformats.org/officeDocument/2006/relationships/notesMaster" Target="/ppt/notesMasters/notesMaster1.xml" Id="Rafde7b837985407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36e731728144208" /><Relationship Type="http://schemas.openxmlformats.org/officeDocument/2006/relationships/notesMaster" Target="/ppt/notesMasters/notesMaster1.xml" Id="Re480c0f749d146f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d9f39ee933a43af" /><Relationship Type="http://schemas.openxmlformats.org/officeDocument/2006/relationships/notesMaster" Target="/ppt/notesMasters/notesMaster1.xml" Id="R957e99b2bdf8449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8b7e117c23c4e59" /><Relationship Type="http://schemas.openxmlformats.org/officeDocument/2006/relationships/notesMaster" Target="/ppt/notesMasters/notesMaster1.xml" Id="Rf423a7b5f908483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b5f9afdf7f543ea" /><Relationship Type="http://schemas.openxmlformats.org/officeDocument/2006/relationships/notesMaster" Target="/ppt/notesMasters/notesMaster1.xml" Id="Rf2b129d4a0aa4e7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211031bfa924f84" /><Relationship Type="http://schemas.openxmlformats.org/officeDocument/2006/relationships/notesMaster" Target="/ppt/notesMasters/notesMaster1.xml" Id="R4d532ede0c2940d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10ea7cfe6ae473a" /><Relationship Type="http://schemas.openxmlformats.org/officeDocument/2006/relationships/notesMaster" Target="/ppt/notesMasters/notesMaster1.xml" Id="R70c04eb524074b8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6e43651ce6a46a7" /><Relationship Type="http://schemas.openxmlformats.org/officeDocument/2006/relationships/notesMaster" Target="/ppt/notesMasters/notesMaster1.xml" Id="R384315e42fd0434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cf7fa2b825a4b75" /><Relationship Type="http://schemas.openxmlformats.org/officeDocument/2006/relationships/notesMaster" Target="/ppt/notesMasters/notesMaster1.xml" Id="Rf63b928a205141b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bd2e97ff3674da6" /><Relationship Type="http://schemas.openxmlformats.org/officeDocument/2006/relationships/notesMaster" Target="/ppt/notesMasters/notesMaster1.xml" Id="R99acb209fbe14e1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fbf4971a7544fe4" /><Relationship Type="http://schemas.openxmlformats.org/officeDocument/2006/relationships/notesMaster" Target="/ppt/notesMasters/notesMaster1.xml" Id="Rc8ad1331fd3743c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2e70463553c4d84" /><Relationship Type="http://schemas.openxmlformats.org/officeDocument/2006/relationships/notesMaster" Target="/ppt/notesMasters/notesMaster1.xml" Id="Rb035beb3ff094759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a53fb3b2317a4c3a" /><Relationship Type="http://schemas.openxmlformats.org/officeDocument/2006/relationships/notesMaster" Target="/ppt/notesMasters/notesMaster1.xml" Id="Re9268613972b406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c21eaa31135b4b2b" /><Relationship Type="http://schemas.openxmlformats.org/officeDocument/2006/relationships/notesMaster" Target="/ppt/notesMasters/notesMaster1.xml" Id="Re4b30e615b27469c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6b0bea22dee644dc" /><Relationship Type="http://schemas.openxmlformats.org/officeDocument/2006/relationships/notesMaster" Target="/ppt/notesMasters/notesMaster1.xml" Id="R17e7e478741c4375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0acfdc6a5fc54ed3" /><Relationship Type="http://schemas.openxmlformats.org/officeDocument/2006/relationships/notesMaster" Target="/ppt/notesMasters/notesMaster1.xml" Id="Rcde24192bf9f4b3a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0aab2bbb94fd4d39" /><Relationship Type="http://schemas.openxmlformats.org/officeDocument/2006/relationships/notesMaster" Target="/ppt/notesMasters/notesMaster1.xml" Id="R7a771bace80745e6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eeebc8c196774d0d" /><Relationship Type="http://schemas.openxmlformats.org/officeDocument/2006/relationships/notesMaster" Target="/ppt/notesMasters/notesMaster1.xml" Id="Rbdfbb45d23cf4bcf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0283e8367ba14774" /><Relationship Type="http://schemas.openxmlformats.org/officeDocument/2006/relationships/notesMaster" Target="/ppt/notesMasters/notesMaster1.xml" Id="R7a2830b568f54ff8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842d60ffa68c411f" /><Relationship Type="http://schemas.openxmlformats.org/officeDocument/2006/relationships/notesMaster" Target="/ppt/notesMasters/notesMaster1.xml" Id="Raf33acf037624563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21371d0b75eb4940" /><Relationship Type="http://schemas.openxmlformats.org/officeDocument/2006/relationships/notesMaster" Target="/ppt/notesMasters/notesMaster1.xml" Id="Ra048604c927a4d74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da8bab3cc9a54fc7" /><Relationship Type="http://schemas.openxmlformats.org/officeDocument/2006/relationships/notesMaster" Target="/ppt/notesMasters/notesMaster1.xml" Id="R4d027eed600f42e5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04b4612683184d13" /><Relationship Type="http://schemas.openxmlformats.org/officeDocument/2006/relationships/notesMaster" Target="/ppt/notesMasters/notesMaster1.xml" Id="Ree536a95ae2f4e99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17a1f081ae8a453a" /><Relationship Type="http://schemas.openxmlformats.org/officeDocument/2006/relationships/notesMaster" Target="/ppt/notesMasters/notesMaster1.xml" Id="R263134a50ddf4897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b81b749e845143a4" /><Relationship Type="http://schemas.openxmlformats.org/officeDocument/2006/relationships/notesMaster" Target="/ppt/notesMasters/notesMaster1.xml" Id="R0c8542b7a0634850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986dc83270e64508" /><Relationship Type="http://schemas.openxmlformats.org/officeDocument/2006/relationships/notesMaster" Target="/ppt/notesMasters/notesMaster1.xml" Id="R48217cec5c6b4b07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adbdf1c55f654092" /><Relationship Type="http://schemas.openxmlformats.org/officeDocument/2006/relationships/notesMaster" Target="/ppt/notesMasters/notesMaster1.xml" Id="Ra339b61d21d2490f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c66373813abe47b1" /><Relationship Type="http://schemas.openxmlformats.org/officeDocument/2006/relationships/notesMaster" Target="/ppt/notesMasters/notesMaster1.xml" Id="R63482512b6d4423c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659a25be5b724cca" /><Relationship Type="http://schemas.openxmlformats.org/officeDocument/2006/relationships/notesMaster" Target="/ppt/notesMasters/notesMaster1.xml" Id="Ra50b6443697547af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5c10a6e6e0534a57" /><Relationship Type="http://schemas.openxmlformats.org/officeDocument/2006/relationships/notesMaster" Target="/ppt/notesMasters/notesMaster1.xml" Id="R2bf8a19997c542b9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f329b4bd8e5c4a41" /><Relationship Type="http://schemas.openxmlformats.org/officeDocument/2006/relationships/notesMaster" Target="/ppt/notesMasters/notesMaster1.xml" Id="R47d1ebd4af5348ff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a7d96227faf04788" /><Relationship Type="http://schemas.openxmlformats.org/officeDocument/2006/relationships/notesMaster" Target="/ppt/notesMasters/notesMaster1.xml" Id="R9b088ff3c316471f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584a31b7d3314ab6" /><Relationship Type="http://schemas.openxmlformats.org/officeDocument/2006/relationships/notesMaster" Target="/ppt/notesMasters/notesMaster1.xml" Id="R557796cc70d94ad8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ea2ef2c1b9804012" /><Relationship Type="http://schemas.openxmlformats.org/officeDocument/2006/relationships/notesMaster" Target="/ppt/notesMasters/notesMaster1.xml" Id="R98da00fb8e80450a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f2b47dbdd3404715" /><Relationship Type="http://schemas.openxmlformats.org/officeDocument/2006/relationships/notesMaster" Target="/ppt/notesMasters/notesMaster1.xml" Id="R492e32f79b9d42fa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ec6c41af3abf4a17" /><Relationship Type="http://schemas.openxmlformats.org/officeDocument/2006/relationships/notesMaster" Target="/ppt/notesMasters/notesMaster1.xml" Id="R9fa197968512440e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8e9c9e23b0214178" /><Relationship Type="http://schemas.openxmlformats.org/officeDocument/2006/relationships/notesMaster" Target="/ppt/notesMasters/notesMaster1.xml" Id="R1a73ddb6c6f14074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1b7f924094d04035" /><Relationship Type="http://schemas.openxmlformats.org/officeDocument/2006/relationships/notesMaster" Target="/ppt/notesMasters/notesMaster1.xml" Id="R99207f6bb13e4450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8f26edd5f0774047" /><Relationship Type="http://schemas.openxmlformats.org/officeDocument/2006/relationships/notesMaster" Target="/ppt/notesMasters/notesMaster1.xml" Id="R614b0e4f229a4f48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2c641f0420344f3c" /><Relationship Type="http://schemas.openxmlformats.org/officeDocument/2006/relationships/notesMaster" Target="/ppt/notesMasters/notesMaster1.xml" Id="Ra89aed572e8f4822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df98110399394bfd" /><Relationship Type="http://schemas.openxmlformats.org/officeDocument/2006/relationships/notesMaster" Target="/ppt/notesMasters/notesMaster1.xml" Id="Rdfec51efd9fe4415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53c04b698d5542bf" /><Relationship Type="http://schemas.openxmlformats.org/officeDocument/2006/relationships/notesMaster" Target="/ppt/notesMasters/notesMaster1.xml" Id="R851237e051454927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77a08037c3294aab" /><Relationship Type="http://schemas.openxmlformats.org/officeDocument/2006/relationships/notesMaster" Target="/ppt/notesMasters/notesMaster1.xml" Id="R6189fba85d494eac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3765e570f3a541e1" /><Relationship Type="http://schemas.openxmlformats.org/officeDocument/2006/relationships/notesMaster" Target="/ppt/notesMasters/notesMaster1.xml" Id="R80c9b3e77d4d441f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463dfc537ac64a52" /><Relationship Type="http://schemas.openxmlformats.org/officeDocument/2006/relationships/notesMaster" Target="/ppt/notesMasters/notesMaster1.xml" Id="R84b1c02513584184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8076c86bda624859" /><Relationship Type="http://schemas.openxmlformats.org/officeDocument/2006/relationships/notesMaster" Target="/ppt/notesMasters/notesMaster1.xml" Id="R0aef540cb1b24c8f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bf0ef93ee5474077" /><Relationship Type="http://schemas.openxmlformats.org/officeDocument/2006/relationships/notesMaster" Target="/ppt/notesMasters/notesMaster1.xml" Id="R1bb52626e7e04a54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69dfcae613d547c6" /><Relationship Type="http://schemas.openxmlformats.org/officeDocument/2006/relationships/notesMaster" Target="/ppt/notesMasters/notesMaster1.xml" Id="R4f5d31b5b1e54675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114d38e61f22469a" /><Relationship Type="http://schemas.openxmlformats.org/officeDocument/2006/relationships/notesMaster" Target="/ppt/notesMasters/notesMaster1.xml" Id="R276cb311da714782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acef0eefe1634f64" /><Relationship Type="http://schemas.openxmlformats.org/officeDocument/2006/relationships/notesMaster" Target="/ppt/notesMasters/notesMaster1.xml" Id="Ra22f9957f6a84372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7f08168a1eb443c9" /><Relationship Type="http://schemas.openxmlformats.org/officeDocument/2006/relationships/notesMaster" Target="/ppt/notesMasters/notesMaster1.xml" Id="R4285fb5f23fa43fd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be7fc1df02904546" /><Relationship Type="http://schemas.openxmlformats.org/officeDocument/2006/relationships/notesMaster" Target="/ppt/notesMasters/notesMaster1.xml" Id="R9bf967f324494c5e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1c1e074464f74868" /><Relationship Type="http://schemas.openxmlformats.org/officeDocument/2006/relationships/notesMaster" Target="/ppt/notesMasters/notesMaster1.xml" Id="Rd2ef8917e19e4ffe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d6a690869e53457e" /><Relationship Type="http://schemas.openxmlformats.org/officeDocument/2006/relationships/notesMaster" Target="/ppt/notesMasters/notesMaster1.xml" Id="R11fc9d2603d14cd9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24c50a7c3d67400f" /><Relationship Type="http://schemas.openxmlformats.org/officeDocument/2006/relationships/notesMaster" Target="/ppt/notesMasters/notesMaster1.xml" Id="Rd7bc1dab9bc84d14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dc1a14f9daa042e3" /><Relationship Type="http://schemas.openxmlformats.org/officeDocument/2006/relationships/notesMaster" Target="/ppt/notesMasters/notesMaster1.xml" Id="R528da9efdf224f42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1292fb441f674404" /><Relationship Type="http://schemas.openxmlformats.org/officeDocument/2006/relationships/notesMaster" Target="/ppt/notesMasters/notesMaster1.xml" Id="R02cd48d2a69a4510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efb2270ef5a4426d" /><Relationship Type="http://schemas.openxmlformats.org/officeDocument/2006/relationships/notesMaster" Target="/ppt/notesMasters/notesMaster1.xml" Id="R05f8b5207dd84067" /></Relationships>
</file>

<file path=ppt/notesSlides/_rels/notesSlide69.xml.rels>&#65279;<?xml version="1.0" encoding="utf-8"?><Relationships xmlns="http://schemas.openxmlformats.org/package/2006/relationships"><Relationship Type="http://schemas.openxmlformats.org/officeDocument/2006/relationships/slide" Target="/ppt/slides/slide69.xml" Id="R3fb33ffb48b34232" /><Relationship Type="http://schemas.openxmlformats.org/officeDocument/2006/relationships/notesMaster" Target="/ppt/notesMasters/notesMaster1.xml" Id="R5f0caa8d01c3479e" /></Relationships>
</file>

<file path=ppt/notesSlides/_rels/notesSlide70.xml.rels>&#65279;<?xml version="1.0" encoding="utf-8"?><Relationships xmlns="http://schemas.openxmlformats.org/package/2006/relationships"><Relationship Type="http://schemas.openxmlformats.org/officeDocument/2006/relationships/slide" Target="/ppt/slides/slide70.xml" Id="R29b69dd3eccc4f41" /><Relationship Type="http://schemas.openxmlformats.org/officeDocument/2006/relationships/notesMaster" Target="/ppt/notesMasters/notesMaster1.xml" Id="R12a4dd377185413c" /></Relationships>
</file>

<file path=ppt/notesSlides/_rels/notesSlide71.xml.rels>&#65279;<?xml version="1.0" encoding="utf-8"?><Relationships xmlns="http://schemas.openxmlformats.org/package/2006/relationships"><Relationship Type="http://schemas.openxmlformats.org/officeDocument/2006/relationships/slide" Target="/ppt/slides/slide71.xml" Id="R91a28e358d414626" /><Relationship Type="http://schemas.openxmlformats.org/officeDocument/2006/relationships/notesMaster" Target="/ppt/notesMasters/notesMaster1.xml" Id="R8561f9d1927d42ab" /></Relationships>
</file>

<file path=ppt/notesSlides/_rels/notesSlide72.xml.rels>&#65279;<?xml version="1.0" encoding="utf-8"?><Relationships xmlns="http://schemas.openxmlformats.org/package/2006/relationships"><Relationship Type="http://schemas.openxmlformats.org/officeDocument/2006/relationships/slide" Target="/ppt/slides/slide72.xml" Id="R3b375f4bd7824819" /><Relationship Type="http://schemas.openxmlformats.org/officeDocument/2006/relationships/notesMaster" Target="/ppt/notesMasters/notesMaster1.xml" Id="R942e57ab6e174403" /></Relationships>
</file>

<file path=ppt/notesSlides/_rels/notesSlide73.xml.rels>&#65279;<?xml version="1.0" encoding="utf-8"?><Relationships xmlns="http://schemas.openxmlformats.org/package/2006/relationships"><Relationship Type="http://schemas.openxmlformats.org/officeDocument/2006/relationships/slide" Target="/ppt/slides/slide73.xml" Id="Rf1fa843483f945f0" /><Relationship Type="http://schemas.openxmlformats.org/officeDocument/2006/relationships/notesMaster" Target="/ppt/notesMasters/notesMaster1.xml" Id="Rf1137df8bfb14aab" /></Relationships>
</file>

<file path=ppt/notesSlides/_rels/notesSlide74.xml.rels>&#65279;<?xml version="1.0" encoding="utf-8"?><Relationships xmlns="http://schemas.openxmlformats.org/package/2006/relationships"><Relationship Type="http://schemas.openxmlformats.org/officeDocument/2006/relationships/slide" Target="/ppt/slides/slide74.xml" Id="R58b0e509468945d1" /><Relationship Type="http://schemas.openxmlformats.org/officeDocument/2006/relationships/notesMaster" Target="/ppt/notesMasters/notesMaster1.xml" Id="R1b587c5d9eeb4ee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source dossier covers different aspects of a case. The core-source count is a publication check for the narrow main statement, not certification of every secondary fact. Shared origins, access failures and disputed details are visible. A literal exhaustive census and four independent sources for every atomic fact were not achieved.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{"government":"BJP-led Government of Goa; Chief Minister Pramod Sawant","qualification":"The research starts on 1 January 2019. Sawant took office in March 2019. Earlier decisions, Union responsibilities and local-body actions require separate attribution.","sources":["P16","P17"]}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Percentages · NFHS-5 2019–21 / NFHS-6 2023–24. High blood sugar means &gt;140 mg/dl or medication; it is not diagnosed diabetes. P07. No causal or significance estimate.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https://www.mohfw-dohfw.gov.in/static/uploads/2026/05/111ff4a13ca36b5cabb7f94aec5bb0ce.pdf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Percentages · Stunting, wasting and underweight: under 5. Vaccination: 12–23 months, card or maternal recall. P07, printed pages 30–31. Official values take precedence over inconsistent journal rows.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https://www.mohfw-dohfw.gov.in/static/uploads/2026/05/111ff4a13ca36b5cabb7f94aec5bb0ce.pdf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P02, Appendix 1.3: 2019–20 to 2023–24. Nominal growth includes inflation. The 29.93% adjusted debt ratio excludes specified GST-compensation loans; wider liabilities are a separate measure.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https://cag.gov.in/en/audit-report/details/122272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G01 · GMC oxygen crisis</a:t>
            </a:r>
          </a:p>
          <a:p xmlns:a="http://schemas.openxmlformats.org/drawingml/2006/main">
            <a:r>
              <a:t>May 2021; inquiry October 2021 · Bambolim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FACT / G01-C1: The government-appointed inquiry said GMC did not seek oxygen augmentation in time; it could not establish that pressure interruptions caused the deaths.</a:t>
            </a:r>
          </a:p>
          <a:p xmlns:a="http://schemas.openxmlformats.org/drawingml/2006/main">
            <a:r>
              <a:t>EFFECT ON GOA: Patients faced a disrupted critical-care supply system during the second wave. Bereaved families faced unresolved questions about preventability.</a:t>
            </a:r>
          </a:p>
          <a:p xmlns:a="http://schemas.openxmlformats.org/drawingml/2006/main">
            <a:r>
              <a:t>INCUMBENT IMPLICATION: Creates a serious health-administration accountability issue for the incumbent.</a:t>
            </a:r>
          </a:p>
          <a:p xmlns:a="http://schemas.openxmlformats.org/drawingml/2006/main">
            <a:r>
              <a:t>LOGIC / RATIONALE: Managing a government hospital and responding to supply warnings are public responsibilities. A failure to escalate demand can undermine confidence in emergency preparedness.</a:t>
            </a:r>
          </a:p>
          <a:p xmlns:a="http://schemas.openxmlformats.org/drawingml/2006/main">
            <a:r>
              <a:t>ASSUMPTIONS: Public confidence depends partly on timely escalation, transparent mortality records and independent explanations.</a:t>
            </a:r>
          </a:p>
          <a:p xmlns:a="http://schemas.openxmlformats.org/drawingml/2006/main">
            <a:r>
              <a:t>LIMITS: The 26 overnight deaths reported in May are not a verified oxygen-attributable death count. The statewide figure of 75 deaths that day is a different denominator.</a:t>
            </a:r>
          </a:p>
          <a:p xmlns:a="http://schemas.openxmlformats.org/drawingml/2006/main">
            <a:r>
              <a:t>RESPONSE / COUNTER-FINDING: The later panel distinguished hospital and DHS shortcomings from responsibility attributed to the state administration; oxygen infrastructure was augmented. This qualification must accompany criticism.</a:t>
            </a:r>
          </a:p>
          <a:p xmlns:a="http://schemas.openxmlformats.org/drawingml/2006/main">
            <a:r>
              <a:t>VERIFICATION: Below four-source threshold (3 readable supporting records)</a:t>
            </a:r>
          </a:p>
          <a:p xmlns:a="http://schemas.openxmlformats.org/drawingml/2006/main">
            <a:r>
              <a:t>Underlying audit, survey, inquiry or official statement is shared across some publications; four citations do not establish four independent measurements.</a:t>
            </a:r>
          </a:p>
          <a:p xmlns:a="http://schemas.openxmlformats.org/drawingml/2006/main">
            <a:r>
              <a:t>Readable core sources: S397, S385, S386</a:t>
            </a:r>
          </a:p>
          <a:p xmlns:a="http://schemas.openxmlformats.org/drawingml/2006/main">
            <a:r>
              <a:t>Follow-up: Obtain the current primary record and action-taken outcome; reconcile discrepancies before extending the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P01 · Goa public health performance audit Report 4 of 2024</a:t>
            </a:r>
          </a:p>
          <a:p xmlns:a="http://schemas.openxmlformats.org/drawingml/2006/main">
            <a:r>
              <a:t>Comptroller and Auditor General of India · 7 August 2024</a:t>
            </a:r>
          </a:p>
          <a:p xmlns:a="http://schemas.openxmlformats.org/drawingml/2006/main">
            <a:r>
              <a:t>https://cag.gov.in/en/audit-report/details/120344</a:t>
            </a:r>
          </a:p>
          <a:p xmlns:a="http://schemas.openxmlformats.org/drawingml/2006/main">
            <a:r>
              <a:t>Executive summary vii–xi; chapters II–V; audit 2016–17 to 2021–22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P09 · South Goa Advocates Association and related PILs order 13 May 2021</a:t>
            </a:r>
          </a:p>
          <a:p xmlns:a="http://schemas.openxmlformats.org/drawingml/2006/main">
            <a:r>
              <a:t>Bombay High Court at Goa reproduced by Bar and Bench · 13 May 2021</a:t>
            </a:r>
          </a:p>
          <a:p xmlns:a="http://schemas.openxmlformats.org/drawingml/2006/main">
            <a:r>
              <a:t>https://images.assettype.com/barandbench/2021-05/c81602a6-6620-4d2c-bec1-f781e238bfc0/South_Goa_Advocates_Association_v__State_of_Goa___Ors____May_13.pdf</a:t>
            </a:r>
          </a:p>
          <a:p xmlns:a="http://schemas.openxmlformats.org/drawingml/2006/main">
            <a:r>
              <a:t>PIL filing numbers 1172, 1173 and 1174 of 2021; paragraphs on oxygen logistics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S396 · 26 deaths in Goa hospital, Health Minister says CM ‘misguided’ | Goa News - The Indian Express</a:t>
            </a:r>
          </a:p>
          <a:p xmlns:a="http://schemas.openxmlformats.org/drawingml/2006/main">
            <a:r>
              <a:t>The Indian Express · May 12, 2021</a:t>
            </a:r>
          </a:p>
          <a:p xmlns:a="http://schemas.openxmlformats.org/drawingml/2006/main">
            <a:r>
              <a:t>https://indianexpress.com/article/cities/goa/goa-covid-patients-die-at-gmch-minister-seeks-hc-probe-7311085/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S397 · GMC oxygen crisis: Panel says nothing unusual about death data; blames hospital for not raising supply issues | Goa News - The Indian Express</a:t>
            </a:r>
          </a:p>
          <a:p xmlns:a="http://schemas.openxmlformats.org/drawingml/2006/main">
            <a:r>
              <a:t>The Indian Express · Oct 18, 2021</a:t>
            </a:r>
          </a:p>
          <a:p xmlns:a="http://schemas.openxmlformats.org/drawingml/2006/main">
            <a:r>
              <a:t>https://indianexpress.com/article/cities/goa/goa-medical-college-oxygen-crisis-panel-7577097/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S385 · Goa govt not responsible for oxygen deaths at GMC: Govt panel | Goa News - Times of India</a:t>
            </a:r>
          </a:p>
          <a:p xmlns:a="http://schemas.openxmlformats.org/drawingml/2006/main">
            <a:r>
              <a:t>The Times of India · Oct 18, 2021</a:t>
            </a:r>
          </a:p>
          <a:p xmlns:a="http://schemas.openxmlformats.org/drawingml/2006/main">
            <a:r>
              <a:t>https://timesofindia.indiatimes.com/city/goa/state-not-responsible-for-o2-deaths-at-gmc-govt-panel/articleshow/87092353.cms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S394 · GMC failed to raise oxygen shortage on time: Probe report on O2 shortage</a:t>
            </a:r>
          </a:p>
          <a:p xmlns:a="http://schemas.openxmlformats.org/drawingml/2006/main">
            <a:r>
              <a:t>O Heraldo · See original for publication date</a:t>
            </a:r>
          </a:p>
          <a:p xmlns:a="http://schemas.openxmlformats.org/drawingml/2006/main">
            <a:r>
              <a:t>https://www.heraldgoa.in/goa/gmc-failed-to-raise-oxygen-shortage-on-time-probe-report-on-o2-shortage/307091/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unavailable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S391 · Opp questions Goa govt over report on oxygen supply to GMC | Goa News - The Indian Express</a:t>
            </a:r>
          </a:p>
          <a:p xmlns:a="http://schemas.openxmlformats.org/drawingml/2006/main">
            <a:r>
              <a:t>The Indian Express · Oct 19, 2021</a:t>
            </a:r>
          </a:p>
          <a:p xmlns:a="http://schemas.openxmlformats.org/drawingml/2006/main">
            <a:r>
              <a:t>https://indianexpress.com/article/cities/goa/opp-questions-goa-govt-over-report-on-oxygen-supply-to-gmc-7578906/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S386 · Expert report on ‘dark hour deaths’ fails to do justice | The Goan</a:t>
            </a:r>
          </a:p>
          <a:p xmlns:a="http://schemas.openxmlformats.org/drawingml/2006/main">
            <a:r>
              <a:t>The Goan Everyday · Publication date not independently established; accessed 14 October 2026</a:t>
            </a:r>
          </a:p>
          <a:p xmlns:a="http://schemas.openxmlformats.org/drawingml/2006/main">
            <a:r>
              <a:t>https://www.thegoan.net/editorial/%C3%AF%C2%BB%C2%BFexpert-report-on-%C3%A2%E2%82%AC%CB%9Cdark-hour-deaths%C3%A2%E2%82%AC%E2%84%A2-fails-to-do-justice/75760.html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G02 · Health workforce vacancies</a:t>
            </a:r>
          </a:p>
          <a:p xmlns:a="http://schemas.openxmlformats.org/drawingml/2006/main">
            <a:r>
              <a:t>Position at March 2022; audit tabled August 2024 · Statewide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FACT / G02-C1: CAG recorded a 51% shortfall of doctors and medical officers against sanctioned strength at GMC.</a:t>
            </a:r>
          </a:p>
          <a:p xmlns:a="http://schemas.openxmlformats.org/drawingml/2006/main">
            <a:r>
              <a:t>EFFECT ON GOA: Vacancies constrain specialist availability and can increase workload and referrals; the audit documented related service gaps.</a:t>
            </a:r>
          </a:p>
          <a:p xmlns:a="http://schemas.openxmlformats.org/drawingml/2006/main">
            <a:r>
              <a:t>INCUMBENT IMPLICATION: Challenges the incumbent’s claim that public health capacity matches Goa’s resources.</a:t>
            </a:r>
          </a:p>
          <a:p xmlns:a="http://schemas.openxmlformats.org/drawingml/2006/main">
            <a:r>
              <a:t>LOGIC / RATIONALE: The state controls sanctioned posts, recruitment and deployment. Persistent vacancies are a more direct test of administrative delivery than broad mortality comparisons.</a:t>
            </a:r>
          </a:p>
          <a:p xmlns:a="http://schemas.openxmlformats.org/drawingml/2006/main">
            <a:r>
              <a:t>ASSUMPTIONS: The sanctioned establishment is a meaningful capacity benchmark; contract staff and actual service provision must also be considered.</a:t>
            </a:r>
          </a:p>
          <a:p xmlns:a="http://schemas.openxmlformats.org/drawingml/2006/main">
            <a:r>
              <a:t>LIMITS: This is a March 2022 finding, not a verified October 2026 vacancy rate. The audit period includes years before 2019.</a:t>
            </a:r>
          </a:p>
          <a:p xmlns:a="http://schemas.openxmlformats.org/drawingml/2006/main">
            <a:r>
              <a:t>RESPONSE / COUNTER-FINDING: Recruitment initiatives, including reported junior-doctor hiring, provide a partial response; a current sanctioned-versus-filled reconciliation remains necessary.</a:t>
            </a:r>
          </a:p>
          <a:p xmlns:a="http://schemas.openxmlformats.org/drawingml/2006/main">
            <a:r>
              <a:t>VERIFICATION: Below four-source threshold (3 readable supporting records)</a:t>
            </a:r>
          </a:p>
          <a:p xmlns:a="http://schemas.openxmlformats.org/drawingml/2006/main">
            <a:r>
              <a:t>Underlying audit, survey, inquiry or official statement is shared across some publications; four citations do not establish four independent measurements.</a:t>
            </a:r>
          </a:p>
          <a:p xmlns:a="http://schemas.openxmlformats.org/drawingml/2006/main">
            <a:r>
              <a:t>Readable core sources: P01, S166, S168</a:t>
            </a:r>
          </a:p>
          <a:p xmlns:a="http://schemas.openxmlformats.org/drawingml/2006/main">
            <a:r>
              <a:t>Follow-up: Obtain the current primary record and action-taken outcome; reconcile discrepancies before extending the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P01 · Goa public health performance audit Report 4 of 2024</a:t>
            </a:r>
          </a:p>
          <a:p xmlns:a="http://schemas.openxmlformats.org/drawingml/2006/main">
            <a:r>
              <a:t>Comptroller and Auditor General of India · 7 August 2024</a:t>
            </a:r>
          </a:p>
          <a:p xmlns:a="http://schemas.openxmlformats.org/drawingml/2006/main">
            <a:r>
              <a:t>https://cag.gov.in/en/audit-report/details/120344</a:t>
            </a:r>
          </a:p>
          <a:p xmlns:a="http://schemas.openxmlformats.org/drawingml/2006/main">
            <a:r>
              <a:t>Executive summary vii–xi; chapters II–V; audit 2016–17 to 2021–22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S166 · CAG finds flaws in govt’s medicines procurement | The Goan</a:t>
            </a:r>
          </a:p>
          <a:p xmlns:a="http://schemas.openxmlformats.org/drawingml/2006/main">
            <a:r>
              <a:t>The Goan Everyday · Publication date not independently established; accessed 14 October 2026</a:t>
            </a:r>
          </a:p>
          <a:p xmlns:a="http://schemas.openxmlformats.org/drawingml/2006/main">
            <a:r>
              <a:t>https://www.thegoan.net/goa-news/cag-finds-flaws-in-govt%C3%A2%E2%82%AC%E2%84%A2s-medicines-procurement/117072.html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S168 · CAG Points Out “Severe Shortages” Of Doctors, Nurses In Goa</a:t>
            </a:r>
          </a:p>
          <a:p xmlns:a="http://schemas.openxmlformats.org/drawingml/2006/main">
            <a:r>
              <a:t>Prudent Media · See original for publication date</a:t>
            </a:r>
          </a:p>
          <a:p xmlns:a="http://schemas.openxmlformats.org/drawingml/2006/main">
            <a:r>
              <a:t>https://www.prudentmedia.in/health/cag-points-out-%E2%80%9Csevere-shortages%E2%80%9D-of-doctors-nurses-in-goa/30591.html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S195 · GMC moves to beat staff crunch, to hire 60 junior doctors | The Goan</a:t>
            </a:r>
          </a:p>
          <a:p xmlns:a="http://schemas.openxmlformats.org/drawingml/2006/main">
            <a:r>
              <a:t>The Goan Everyday · See original for publication date</a:t>
            </a:r>
          </a:p>
          <a:p xmlns:a="http://schemas.openxmlformats.org/drawingml/2006/main">
            <a:r>
              <a:t>https://www.thegoan.net/goa-news/gmc-moves-to-beat-staff-crunch-to-hire-60-junior-doctors/117145.html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unavailable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S170 · Vacancies – NHM</a:t>
            </a:r>
          </a:p>
          <a:p xmlns:a="http://schemas.openxmlformats.org/drawingml/2006/main">
            <a:r>
              <a:t>Government of Goa · 12 October 2026</a:t>
            </a:r>
          </a:p>
          <a:p xmlns:a="http://schemas.openxmlformats.org/drawingml/2006/main">
            <a:r>
              <a:t>https://nhm.goa.gov.in/vacancies/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G03 · Medicine procurement and availability</a:t>
            </a:r>
          </a:p>
          <a:p xmlns:a="http://schemas.openxmlformats.org/drawingml/2006/main">
            <a:r>
              <a:t>2020–22 observations; August 2024 publication · Sampled health institutions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FACT / G03-C1: CAG found procurement delays and inadequate drug quality controls; sampled facilities lacked parts of the required medicine range.</a:t>
            </a:r>
          </a:p>
          <a:p xmlns:a="http://schemas.openxmlformats.org/drawingml/2006/main">
            <a:r>
              <a:t>EFFECT ON GOA: Unavailable free medicines can shift purchases to patients and interrupt treatment. The audit does not quantify statewide household expenditure caused by these gaps.</a:t>
            </a:r>
          </a:p>
          <a:p xmlns:a="http://schemas.openxmlformats.org/drawingml/2006/main">
            <a:r>
              <a:t>INCUMBENT IMPLICATION: Raises an implementation and procurement-control challenge for health leadership.</a:t>
            </a:r>
          </a:p>
          <a:p xmlns:a="http://schemas.openxmlformats.org/drawingml/2006/main">
            <a:r>
              <a:t>LOGIC / RATIONALE: Public provision promises depend on reliable purchasing, testing, storage and distribution. Failures in these controllable processes weaken the credibility of service commitments.</a:t>
            </a:r>
          </a:p>
          <a:p xmlns:a="http://schemas.openxmlformats.org/drawingml/2006/main">
            <a:r>
              <a:t>ASSUMPTIONS: Patients could not obtain equivalent free substitutes promptly; cost effects vary by prescription and facility.</a:t>
            </a:r>
          </a:p>
          <a:p xmlns:a="http://schemas.openxmlformats.org/drawingml/2006/main">
            <a:r>
              <a:t>LIMITS: Sample percentages are not statewide prevalence. Distribution without batch testing indicates risk, not proof that every medicine was unsafe.</a:t>
            </a:r>
          </a:p>
          <a:p xmlns:a="http://schemas.openxmlformats.org/drawingml/2006/main">
            <a:r>
              <a:t>RESPONSE / COUNTER-FINDING: CAG recommended a procurement policy and centralised procurement body. Completion and effectiveness of reforms require a dated compliance record.</a:t>
            </a:r>
          </a:p>
          <a:p xmlns:a="http://schemas.openxmlformats.org/drawingml/2006/main">
            <a:r>
              <a:t>VERIFICATION: Four-publication check; shared origins disclosed</a:t>
            </a:r>
          </a:p>
          <a:p xmlns:a="http://schemas.openxmlformats.org/drawingml/2006/main">
            <a:r>
              <a:t>Underlying audit, survey, inquiry or official statement is shared across some publications; four citations do not establish four independent measurements.</a:t>
            </a:r>
          </a:p>
          <a:p xmlns:a="http://schemas.openxmlformats.org/drawingml/2006/main">
            <a:r>
              <a:t>Readable core sources: P01, S166, S168, S165</a:t>
            </a:r>
          </a:p>
          <a:p xmlns:a="http://schemas.openxmlformats.org/drawingml/2006/main">
            <a:r>
              <a:t>Follow-up: Obtain the current primary record and action-taken outcome; reconcile discrepancies before extending the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P01 · Goa public health performance audit Report 4 of 2024</a:t>
            </a:r>
          </a:p>
          <a:p xmlns:a="http://schemas.openxmlformats.org/drawingml/2006/main">
            <a:r>
              <a:t>Comptroller and Auditor General of India · 7 August 2024</a:t>
            </a:r>
          </a:p>
          <a:p xmlns:a="http://schemas.openxmlformats.org/drawingml/2006/main">
            <a:r>
              <a:t>https://cag.gov.in/en/audit-report/details/120344</a:t>
            </a:r>
          </a:p>
          <a:p xmlns:a="http://schemas.openxmlformats.org/drawingml/2006/main">
            <a:r>
              <a:t>Executive summary vii–xi; chapters II–V; audit 2016–17 to 2021–22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S166 · CAG finds flaws in govt’s medicines procurement | The Goan</a:t>
            </a:r>
          </a:p>
          <a:p xmlns:a="http://schemas.openxmlformats.org/drawingml/2006/main">
            <a:r>
              <a:t>The Goan Everyday · Publication date not independently established; accessed 14 October 2026</a:t>
            </a:r>
          </a:p>
          <a:p xmlns:a="http://schemas.openxmlformats.org/drawingml/2006/main">
            <a:r>
              <a:t>https://www.thegoan.net/goa-news/cag-finds-flaws-in-govt%C3%A2%E2%82%AC%E2%84%A2s-medicines-procurement/117072.html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S168 · CAG Points Out “Severe Shortages” Of Doctors, Nurses In Goa</a:t>
            </a:r>
          </a:p>
          <a:p xmlns:a="http://schemas.openxmlformats.org/drawingml/2006/main">
            <a:r>
              <a:t>Prudent Media · See original for publication date</a:t>
            </a:r>
          </a:p>
          <a:p xmlns:a="http://schemas.openxmlformats.org/drawingml/2006/main">
            <a:r>
              <a:t>https://www.prudentmedia.in/health/cag-points-out-%E2%80%9Csevere-shortages%E2%80%9D-of-doctors-nurses-in-goa/30591.html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S165 · Performance Audit on Public Health Infrastructure and Management of Health Services, Goa — Audit India</a:t>
            </a:r>
          </a:p>
          <a:p xmlns:a="http://schemas.openxmlformats.org/drawingml/2006/main">
            <a:r>
              <a:t>auditindia.org · 27 Aug 2026</a:t>
            </a:r>
          </a:p>
          <a:p xmlns:a="http://schemas.openxmlformats.org/drawingml/2006/main">
            <a:r>
              <a:t>https://www.auditindia.org/en/reports/cag-goa-public-health-2024-04/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G04 · Hospital services and infrastructure gaps</a:t>
            </a:r>
          </a:p>
          <a:p xmlns:a="http://schemas.openxmlformats.org/drawingml/2006/main">
            <a:r>
              <a:t>Audit through 2021–22; published 2024 · District hospitals and sampled facilities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FACT / G04-C1: The health audit reported missing ICU services at both district hospitals during the audited period and gaps in diagnostics and other essential services.</a:t>
            </a:r>
          </a:p>
          <a:p xmlns:a="http://schemas.openxmlformats.org/drawingml/2006/main">
            <a:r>
              <a:t>EFFECT ON GOA: Missing services can require transfers to GMC or private care, increasing travel and dependence on tertiary facilities.</a:t>
            </a:r>
          </a:p>
          <a:p xmlns:a="http://schemas.openxmlformats.org/drawingml/2006/main">
            <a:r>
              <a:t>INCUMBENT IMPLICATION: Creates a service-access accountability issue despite investment in buildings.</a:t>
            </a:r>
          </a:p>
          <a:p xmlns:a="http://schemas.openxmlformats.org/drawingml/2006/main">
            <a:r>
              <a:t>LOGIC / RATIONALE: A hospital building is useful only when equipment, staff and clinical services function together. The state is responsible for commissioning those capabilities.</a:t>
            </a:r>
          </a:p>
          <a:p xmlns:a="http://schemas.openxmlformats.org/drawingml/2006/main">
            <a:r>
              <a:t>ASSUMPTIONS: Unavailable services were not consistently provided through another accessible public facility.</a:t>
            </a:r>
          </a:p>
          <a:p xmlns:a="http://schemas.openxmlformats.org/drawingml/2006/main">
            <a:r>
              <a:t>LIMITS: Do not treat an old audit finding as proof that the same service remains absent in 2026. Referral-related costs are an inference unless documented for patients.</a:t>
            </a:r>
          </a:p>
          <a:p xmlns:a="http://schemas.openxmlformats.org/drawingml/2006/main">
            <a:r>
              <a:t>RESPONSE / COUNTER-FINDING: The audit proposed service and infrastructure improvements; the required followup is a facility-by-facility operational inventory.</a:t>
            </a:r>
          </a:p>
          <a:p xmlns:a="http://schemas.openxmlformats.org/drawingml/2006/main">
            <a:r>
              <a:t>VERIFICATION: Below four-source threshold (2 readable supporting records)</a:t>
            </a:r>
          </a:p>
          <a:p xmlns:a="http://schemas.openxmlformats.org/drawingml/2006/main">
            <a:r>
              <a:t>Underlying audit, survey, inquiry or official statement is shared across some publications; four citations do not establish four independent measurements.</a:t>
            </a:r>
          </a:p>
          <a:p xmlns:a="http://schemas.openxmlformats.org/drawingml/2006/main">
            <a:r>
              <a:t>Readable core sources: P01, S165</a:t>
            </a:r>
          </a:p>
          <a:p xmlns:a="http://schemas.openxmlformats.org/drawingml/2006/main">
            <a:r>
              <a:t>Follow-up: Obtain the current primary record and action-taken outcome; reconcile discrepancies before extending the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P01 · Goa public health performance audit Report 4 of 2024</a:t>
            </a:r>
          </a:p>
          <a:p xmlns:a="http://schemas.openxmlformats.org/drawingml/2006/main">
            <a:r>
              <a:t>Comptroller and Auditor General of India · 7 August 2024</a:t>
            </a:r>
          </a:p>
          <a:p xmlns:a="http://schemas.openxmlformats.org/drawingml/2006/main">
            <a:r>
              <a:t>https://cag.gov.in/en/audit-report/details/120344</a:t>
            </a:r>
          </a:p>
          <a:p xmlns:a="http://schemas.openxmlformats.org/drawingml/2006/main">
            <a:r>
              <a:t>Executive summary vii–xi; chapters II–V; audit 2016–17 to 2021–22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S165 · Performance Audit on Public Health Infrastructure and Management of Health Services, Goa — Audit India</a:t>
            </a:r>
          </a:p>
          <a:p xmlns:a="http://schemas.openxmlformats.org/drawingml/2006/main">
            <a:r>
              <a:t>auditindia.org · 27 Aug 2026</a:t>
            </a:r>
          </a:p>
          <a:p xmlns:a="http://schemas.openxmlformats.org/drawingml/2006/main">
            <a:r>
              <a:t>https://www.auditindia.org/en/reports/cag-goa-public-health-2024-04/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S166 · CAG finds flaws in govt’s medicines procurement | The Goan</a:t>
            </a:r>
          </a:p>
          <a:p xmlns:a="http://schemas.openxmlformats.org/drawingml/2006/main">
            <a:r>
              <a:t>The Goan Everyday · Publication date not independently established; accessed 14 October 2026</a:t>
            </a:r>
          </a:p>
          <a:p xmlns:a="http://schemas.openxmlformats.org/drawingml/2006/main">
            <a:r>
              <a:t>https://www.thegoan.net/goa-news/cag-finds-flaws-in-govt%C3%A2%E2%82%AC%E2%84%A2s-medicines-procurement/117072.html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S168 · CAG Points Out “Severe Shortages” Of Doctors, Nurses In Goa</a:t>
            </a:r>
          </a:p>
          <a:p xmlns:a="http://schemas.openxmlformats.org/drawingml/2006/main">
            <a:r>
              <a:t>Prudent Media · See original for publication date</a:t>
            </a:r>
          </a:p>
          <a:p xmlns:a="http://schemas.openxmlformats.org/drawingml/2006/main">
            <a:r>
              <a:t>https://www.prudentmedia.in/health/cag-points-out-%E2%80%9Csevere-shortages%E2%80%9D-of-doctors-nurses-in-goa/30591.html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G05 · Adult overweight, obesity and blood-sugar burden</a:t>
            </a:r>
          </a:p>
          <a:p xmlns:a="http://schemas.openxmlformats.org/drawingml/2006/main">
            <a:r>
              <a:t>NFHS-5 to NFHS-6, 2019–21 versus 2023–24 · Statewide survey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FACT / G05-C1: NFHS-6 reports overweight or obesity among women aged 15–49 at 45.1%, versus 36.1% in NFHS-5; for men, 43.6% versus 32.6%.</a:t>
            </a:r>
          </a:p>
          <a:p xmlns:a="http://schemas.openxmlformats.org/drawingml/2006/main">
            <a:r>
              <a:t>EFFECT ON GOA: These indicators signal greater chronic-disease prevention and care needs. They do not measure expenditure or deaths attributable to government policy.</a:t>
            </a:r>
          </a:p>
          <a:p xmlns:a="http://schemas.openxmlformats.org/drawingml/2006/main">
            <a:r>
              <a:t>INCUMBENT IMPLICATION: Places prevention, screening and primary-care effectiveness under scrutiny.</a:t>
            </a:r>
          </a:p>
          <a:p xmlns:a="http://schemas.openxmlformats.org/drawingml/2006/main">
            <a:r>
              <a:t>LOGIC / RATIONALE: A worsening population risk profile increases the burden on services the state manages; it tests whether health policy addresses prevention as well as hospital treatment.</a:t>
            </a:r>
          </a:p>
          <a:p xmlns:a="http://schemas.openxmlformats.org/drawingml/2006/main">
            <a:r>
              <a:t>ASSUMPTIONS: The survey populations and BMI definitions are sufficiently comparable; lifestyle, ageing and private choices also contribute.</a:t>
            </a:r>
          </a:p>
          <a:p xmlns:a="http://schemas.openxmlformats.org/drawingml/2006/main">
            <a:r>
              <a:t>LIMITS: The factsheet warns about small samples. High blood sugar or medication use is a screening indicator, not identical to clinically diagnosed diabetes prevalence.</a:t>
            </a:r>
          </a:p>
          <a:p xmlns:a="http://schemas.openxmlformats.org/drawingml/2006/main">
            <a:r>
              <a:t>RESPONSE / COUNTER-FINDING: National and state health programmes provide context; no evaluated programme effect sufficient to explain the changes was identified.</a:t>
            </a:r>
          </a:p>
          <a:p xmlns:a="http://schemas.openxmlformats.org/drawingml/2006/main">
            <a:r>
              <a:t>VERIFICATION: Four-publication check; shared origins disclosed</a:t>
            </a:r>
          </a:p>
          <a:p xmlns:a="http://schemas.openxmlformats.org/drawingml/2006/main">
            <a:r>
              <a:t>Underlying audit, survey, inquiry or official statement is shared across some publications; four citations do not establish four independent measurements.</a:t>
            </a:r>
          </a:p>
          <a:p xmlns:a="http://schemas.openxmlformats.org/drawingml/2006/main">
            <a:r>
              <a:t>Readable core sources: P07, S263, S276, S266, S268</a:t>
            </a:r>
          </a:p>
          <a:p xmlns:a="http://schemas.openxmlformats.org/drawingml/2006/main">
            <a:r>
              <a:t>Follow-up: Obtain the current primary record and action-taken outcome; reconcile discrepancies before extending the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P07 · NFHS-6 India and State Factsheets Goa</a:t>
            </a:r>
          </a:p>
          <a:p xmlns:a="http://schemas.openxmlformats.org/drawingml/2006/main">
            <a:r>
              <a:t>Ministry of Health and Family Welfare and IIPS · 29 May 2026</a:t>
            </a:r>
          </a:p>
          <a:p xmlns:a="http://schemas.openxmlformats.org/drawingml/2006/main">
            <a:r>
              <a:t>https://www.mohfw-dohfw.gov.in/static/uploads/2026/05/111ff4a13ca36b5cabb7f94aec5bb0ce.pdf</a:t>
            </a:r>
          </a:p>
          <a:p xmlns:a="http://schemas.openxmlformats.org/drawingml/2006/main">
            <a:r>
              <a:t>PDF pages 51–53; indicators 5, 30, 44, 69–72, 76–83; survey 2023–24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S275 · NATIONAL FAMILY HEALTH SURVEY</a:t>
            </a:r>
          </a:p>
          <a:p xmlns:a="http://schemas.openxmlformats.org/drawingml/2006/main">
            <a:r>
              <a:t>IIPS NFHS · 28 May 2023</a:t>
            </a:r>
          </a:p>
          <a:p xmlns:a="http://schemas.openxmlformats.org/drawingml/2006/main">
            <a:r>
              <a:t>https://www.nfhsiips.in/nfhsuser/assets/National%20Family%20Health%20Survey%20%28NFHS-6%29%202023-2024%20Fact%20Sheets.pdf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S263 · Goa among most obese states in country: National Family Health Survey</a:t>
            </a:r>
          </a:p>
          <a:p xmlns:a="http://schemas.openxmlformats.org/drawingml/2006/main">
            <a:r>
              <a:t>The Times of India · Jun 02, 2026</a:t>
            </a:r>
          </a:p>
          <a:p xmlns:a="http://schemas.openxmlformats.org/drawingml/2006/main">
            <a:r>
              <a:t>https://timesofindia.indiatimes.com/city/goa/goa-among-most-obese-states-in-country-national-family-health-survey/articleshow/131449453.cms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S276 · Data paints stark picture of Goa’s lifestyle crisis | The Goan</a:t>
            </a:r>
          </a:p>
          <a:p xmlns:a="http://schemas.openxmlformats.org/drawingml/2006/main">
            <a:r>
              <a:t>The Goan Everyday · Publication date not independently established; accessed 14 October 2026</a:t>
            </a:r>
          </a:p>
          <a:p xmlns:a="http://schemas.openxmlformats.org/drawingml/2006/main">
            <a:r>
              <a:t>https://www.thegoan.net/goa-news/data-paints-stark-picture-of-goa%C3%A2%E2%82%AC%E2%84%A2s-lifestyle-crisis/149197.html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S266 · Goa · NFHS-6 State Profile</a:t>
            </a:r>
          </a:p>
          <a:p xmlns:a="http://schemas.openxmlformats.org/drawingml/2006/main">
            <a:r>
              <a:t>nfhs-navigator.lovable.app · See original for publication date</a:t>
            </a:r>
          </a:p>
          <a:p xmlns:a="http://schemas.openxmlformats.org/drawingml/2006/main">
            <a:r>
              <a:t>https://nfhs-navigator.lovable.app/states/Goa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S268 · NFHS India Explorer — Rounds 3 to 6 (2005–2024)</a:t>
            </a:r>
          </a:p>
          <a:p xmlns:a="http://schemas.openxmlformats.org/drawingml/2006/main">
            <a:r>
              <a:t>drpakhare.github.io · See original for publication date</a:t>
            </a:r>
          </a:p>
          <a:p xmlns:a="http://schemas.openxmlformats.org/drawingml/2006/main">
            <a:r>
              <a:t>https://drpakhare.github.io/NFHS-6/dashboard/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G06 · Water and maternal-care survey warning signs</a:t>
            </a:r>
          </a:p>
          <a:p xmlns:a="http://schemas.openxmlformats.org/drawingml/2006/main">
            <a:r>
              <a:t>2019–21 versus 2023–24 · Statewide survey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FACT / G06-C1: The NFHS-6 factsheet shows improved drinking-water-source coverage at 95.5%, compared with 98.5% in NFHS-5; four or more antenatal visits at 88.0%, versus 93.0%.</a:t>
            </a:r>
          </a:p>
          <a:p xmlns:a="http://schemas.openxmlformats.org/drawingml/2006/main">
            <a:r>
              <a:t>EFFECT ON GOA: The reported changes warrant investigation of access, continuity and uneven coverage, including rural differences.</a:t>
            </a:r>
          </a:p>
          <a:p xmlns:a="http://schemas.openxmlformats.org/drawingml/2006/main">
            <a:r>
              <a:t>INCUMBENT IMPLICATION: Creates a focused service-delivery question for the incumbent.</a:t>
            </a:r>
          </a:p>
          <a:p xmlns:a="http://schemas.openxmlformats.org/drawingml/2006/main">
            <a:r>
              <a:t>LOGIC / RATIONALE: Water services and maternal-health programmes are within public responsibilities. Adverse survey movement can justify scrutiny of reach and reliability.</a:t>
            </a:r>
          </a:p>
          <a:p xmlns:a="http://schemas.openxmlformats.org/drawingml/2006/main">
            <a:r>
              <a:t>ASSUMPTIONS: Sampling variation does not fully explain the point estimates; definitions and survey composition remain comparable.</a:t>
            </a:r>
          </a:p>
          <a:p xmlns:a="http://schemas.openxmlformats.org/drawingml/2006/main">
            <a:r>
              <a:t>LIMITS: Improved source does not mean continuous or contamination-free water. Survey changes do not prove negligence or identify individual excluded households.</a:t>
            </a:r>
          </a:p>
          <a:p xmlns:a="http://schemas.openxmlformats.org/drawingml/2006/main">
            <a:r>
              <a:t>RESPONSE / COUNTER-FINDING: Use current programme records to reconcile the estimates; do not substitute connection counts for household survey measures.</a:t>
            </a:r>
          </a:p>
          <a:p xmlns:a="http://schemas.openxmlformats.org/drawingml/2006/main">
            <a:r>
              <a:t>VERIFICATION: Below four-source threshold (3 readable supporting records)</a:t>
            </a:r>
          </a:p>
          <a:p xmlns:a="http://schemas.openxmlformats.org/drawingml/2006/main">
            <a:r>
              <a:t>Underlying audit, survey, inquiry or official statement is shared across some publications; four citations do not establish four independent measurements.</a:t>
            </a:r>
          </a:p>
          <a:p xmlns:a="http://schemas.openxmlformats.org/drawingml/2006/main">
            <a:r>
              <a:t>Readable core sources: P07, S266, S268</a:t>
            </a:r>
          </a:p>
          <a:p xmlns:a="http://schemas.openxmlformats.org/drawingml/2006/main">
            <a:r>
              <a:t>Follow-up: Obtain the current primary record and action-taken outcome; reconcile discrepancies before extending the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P07 · NFHS-6 India and State Factsheets Goa</a:t>
            </a:r>
          </a:p>
          <a:p xmlns:a="http://schemas.openxmlformats.org/drawingml/2006/main">
            <a:r>
              <a:t>Ministry of Health and Family Welfare and IIPS · 29 May 2026</a:t>
            </a:r>
          </a:p>
          <a:p xmlns:a="http://schemas.openxmlformats.org/drawingml/2006/main">
            <a:r>
              <a:t>https://www.mohfw-dohfw.gov.in/static/uploads/2026/05/111ff4a13ca36b5cabb7f94aec5bb0ce.pdf</a:t>
            </a:r>
          </a:p>
          <a:p xmlns:a="http://schemas.openxmlformats.org/drawingml/2006/main">
            <a:r>
              <a:t>PDF pages 51–53; indicators 5, 30, 44, 69–72, 76–83; survey 2023–24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S266 · Goa · NFHS-6 State Profile</a:t>
            </a:r>
          </a:p>
          <a:p xmlns:a="http://schemas.openxmlformats.org/drawingml/2006/main">
            <a:r>
              <a:t>nfhs-navigator.lovable.app · See original for publication date</a:t>
            </a:r>
          </a:p>
          <a:p xmlns:a="http://schemas.openxmlformats.org/drawingml/2006/main">
            <a:r>
              <a:t>https://nfhs-navigator.lovable.app/states/Goa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S268 · NFHS India Explorer — Rounds 3 to 6 (2005–2024)</a:t>
            </a:r>
          </a:p>
          <a:p xmlns:a="http://schemas.openxmlformats.org/drawingml/2006/main">
            <a:r>
              <a:t>drpakhare.github.io · See original for publication date</a:t>
            </a:r>
          </a:p>
          <a:p xmlns:a="http://schemas.openxmlformats.org/drawingml/2006/main">
            <a:r>
              <a:t>https://drpakhare.github.io/NFHS-6/dashboard/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S272 · NFHS 6 - 2023-24 - Goa - NFHS 6 Fact Sheet - CKAN</a:t>
            </a:r>
          </a:p>
          <a:p xmlns:a="http://schemas.openxmlformats.org/drawingml/2006/main">
            <a:r>
              <a:t>data.opencity.in · See original for publication date</a:t>
            </a:r>
          </a:p>
          <a:p xmlns:a="http://schemas.openxmlformats.org/drawingml/2006/main">
            <a:r>
              <a:t>https://data.opencity.in/dataset/303e0d47-fe33-469d-aa85-9d645b9b03c1/resource/f544a1f2-d5ad-4322-bdbb-48915103278b?view_id=d08d42b8-a301-4ea1-b9ad-998af6244108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G07 · Child nutrition and vaccination improvements</a:t>
            </a:r>
          </a:p>
          <a:p xmlns:a="http://schemas.openxmlformats.org/drawingml/2006/main">
            <a:r>
              <a:t>2019–21 versus 2023–24 · Statewide survey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FACT / G07-C1: NFHS-6 reports stunting at 19.4%, versus 25.8%; wasting at 16.3%, versus 19.1%; full vaccination at 93.8%, versus 81.9%.</a:t>
            </a:r>
          </a:p>
          <a:p xmlns:a="http://schemas.openxmlformats.org/drawingml/2006/main">
            <a:r>
              <a:t>EFFECT ON GOA: The point estimates indicate improved child outcomes and coverage, although substantial nutritional needs remain.</a:t>
            </a:r>
          </a:p>
          <a:p xmlns:a="http://schemas.openxmlformats.org/drawingml/2006/main">
            <a:r>
              <a:t>INCUMBENT IMPLICATION: Provides evidence that limits a blanket claim of declining public health.</a:t>
            </a:r>
          </a:p>
          <a:p xmlns:a="http://schemas.openxmlformats.org/drawingml/2006/main">
            <a:r>
              <a:t>LOGIC / RATIONALE: An accountability assessment must recognise favourable outcomes. Improvements can strengthen service credibility, without proving that one government programme caused them.</a:t>
            </a:r>
          </a:p>
          <a:p xmlns:a="http://schemas.openxmlformats.org/drawingml/2006/main">
            <a:r>
              <a:t>ASSUMPTIONS: Comparable definitions and adequate survey precision; improved outcomes may reflect several public and household factors.</a:t>
            </a:r>
          </a:p>
          <a:p xmlns:a="http://schemas.openxmlformats.org/drawingml/2006/main">
            <a:r>
              <a:t>LIMITS: A journal article gives different Goa anthropometric values; the official factsheet takes precedence. Statistical significance cannot be inferred from point estimates alone.</a:t>
            </a:r>
          </a:p>
          <a:p xmlns:a="http://schemas.openxmlformats.org/drawingml/2006/main">
            <a:r>
              <a:t>RESPONSE / COUNTER-FINDING: Retain the improvements alongside remaining gaps; seek uncertainty estimates and programme evaluation before assigning exclusive credit.</a:t>
            </a:r>
          </a:p>
          <a:p xmlns:a="http://schemas.openxmlformats.org/drawingml/2006/main">
            <a:r>
              <a:t>VERIFICATION: Four-publication check; shared origins disclosed</a:t>
            </a:r>
          </a:p>
          <a:p xmlns:a="http://schemas.openxmlformats.org/drawingml/2006/main">
            <a:r>
              <a:t>Underlying audit, survey, inquiry or official statement is shared across some publications; four citations do not establish four independent measurements.</a:t>
            </a:r>
          </a:p>
          <a:p xmlns:a="http://schemas.openxmlformats.org/drawingml/2006/main">
            <a:r>
              <a:t>Readable core sources: P07, S266, S268, S269</a:t>
            </a:r>
          </a:p>
          <a:p xmlns:a="http://schemas.openxmlformats.org/drawingml/2006/main">
            <a:r>
              <a:t>Follow-up: Obtain the current primary record and action-taken outcome; reconcile discrepancies before extending the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P07 · NFHS-6 India and State Factsheets Goa</a:t>
            </a:r>
          </a:p>
          <a:p xmlns:a="http://schemas.openxmlformats.org/drawingml/2006/main">
            <a:r>
              <a:t>Ministry of Health and Family Welfare and IIPS · 29 May 2026</a:t>
            </a:r>
          </a:p>
          <a:p xmlns:a="http://schemas.openxmlformats.org/drawingml/2006/main">
            <a:r>
              <a:t>https://www.mohfw-dohfw.gov.in/static/uploads/2026/05/111ff4a13ca36b5cabb7f94aec5bb0ce.pdf</a:t>
            </a:r>
          </a:p>
          <a:p xmlns:a="http://schemas.openxmlformats.org/drawingml/2006/main">
            <a:r>
              <a:t>PDF pages 51–53; indicators 5, 30, 44, 69–72, 76–83; survey 2023–24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S266 · Goa · NFHS-6 State Profile</a:t>
            </a:r>
          </a:p>
          <a:p xmlns:a="http://schemas.openxmlformats.org/drawingml/2006/main">
            <a:r>
              <a:t>nfhs-navigator.lovable.app · See original for publication date</a:t>
            </a:r>
          </a:p>
          <a:p xmlns:a="http://schemas.openxmlformats.org/drawingml/2006/main">
            <a:r>
              <a:t>https://nfhs-navigator.lovable.app/states/Goa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S268 · NFHS India Explorer — Rounds 3 to 6 (2005–2024)</a:t>
            </a:r>
          </a:p>
          <a:p xmlns:a="http://schemas.openxmlformats.org/drawingml/2006/main">
            <a:r>
              <a:t>drpakhare.github.io · See original for publication date</a:t>
            </a:r>
          </a:p>
          <a:p xmlns:a="http://schemas.openxmlformats.org/drawingml/2006/main">
            <a:r>
              <a:t>https://drpakhare.github.io/NFHS-6/dashboard/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S269 · Goa NFHS 6 Report | राज्यातील बालकांचे वजन घटतेय</a:t>
            </a:r>
          </a:p>
          <a:p xmlns:a="http://schemas.openxmlformats.org/drawingml/2006/main">
            <a:r>
              <a:t>pudhari.news · See original for publication date</a:t>
            </a:r>
          </a:p>
          <a:p xmlns:a="http://schemas.openxmlformats.org/drawingml/2006/main">
            <a:r>
              <a:t>https://pudhari.news/amp/story/goa/goa-nfhs-6-survey-obesity-above-national-average-child-malnutrition-drops-vaccination-rises-sd22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S007 · Frontiers | State-level nutritional disparities and policy priorities in India</a:t>
            </a:r>
          </a:p>
          <a:p xmlns:a="http://schemas.openxmlformats.org/drawingml/2006/main">
            <a:r>
              <a:t>Frontiers in Nutrition · 08 September 2026</a:t>
            </a:r>
          </a:p>
          <a:p xmlns:a="http://schemas.openxmlformats.org/drawingml/2006/main">
            <a:r>
              <a:t>https://www.frontiersin.org/journals/nutrition/articles/10.3389/fnut.2026.1902541/full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G08 · Historical anaemia deterioration</a:t>
            </a:r>
          </a:p>
          <a:p xmlns:a="http://schemas.openxmlformats.org/drawingml/2006/main">
            <a:r>
              <a:t>NFHS-4 2015–16 to NFHS-5 2019–21 · Statewide survey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FACT / G08-C1: Official NFHS tables report child anaemia at 53.2%, against 48.3% in the previous round.</a:t>
            </a:r>
          </a:p>
          <a:p xmlns:a="http://schemas.openxmlformats.org/drawingml/2006/main">
            <a:r>
              <a:t>EFFECT ON GOA: Anaemia is an important nutrition concern, but the comparison spans substantial time before the requested period.</a:t>
            </a:r>
          </a:p>
          <a:p xmlns:a="http://schemas.openxmlformats.org/drawingml/2006/main">
            <a:r>
              <a:t>INCUMBENT IMPLICATION: Supports scrutiny of nutrition policy, with limited attribution to the post-2019 incumbent.</a:t>
            </a:r>
          </a:p>
          <a:p xmlns:a="http://schemas.openxmlformats.org/drawingml/2006/main">
            <a:r>
              <a:t>LOGIC / RATIONALE: A higher reported burden increases the need for programme delivery and monitoring. The observation does not isolate what changed after the incumbent took office.</a:t>
            </a:r>
          </a:p>
          <a:p xmlns:a="http://schemas.openxmlformats.org/drawingml/2006/main">
            <a:r>
              <a:t>ASSUMPTIONS: Measurement methods are comparable and sampling uncertainty is considered.</a:t>
            </a:r>
          </a:p>
          <a:p xmlns:a="http://schemas.openxmlformats.org/drawingml/2006/main">
            <a:r>
              <a:t>LIMITS: A published analysis reports the Goa difference as not statistically significant. Anaemia is absent from the released NFHS-6 factsheets; no 2023–24 anaemia estimate is supplied here.</a:t>
            </a:r>
          </a:p>
          <a:p xmlns:a="http://schemas.openxmlformats.org/drawingml/2006/main">
            <a:r>
              <a:t>RESPONSE / COUNTER-FINDING: Check nutrition-programme implementation and the promised subsequent anaemia data; do not invent a new trend.</a:t>
            </a:r>
          </a:p>
          <a:p xmlns:a="http://schemas.openxmlformats.org/drawingml/2006/main">
            <a:r>
              <a:t>VERIFICATION: Below four-source threshold (2 readable supporting records)</a:t>
            </a:r>
          </a:p>
          <a:p xmlns:a="http://schemas.openxmlformats.org/drawingml/2006/main">
            <a:r>
              <a:t>Underlying audit, survey, inquiry or official statement is shared across some publications; four citations do not establish four independent measurements.</a:t>
            </a:r>
          </a:p>
          <a:p xmlns:a="http://schemas.openxmlformats.org/drawingml/2006/main">
            <a:r>
              <a:t>Readable core sources: S179, S181</a:t>
            </a:r>
          </a:p>
          <a:p xmlns:a="http://schemas.openxmlformats.org/drawingml/2006/main">
            <a:r>
              <a:t>Follow-up: Obtain the current primary record and action-taken outcome; reconcile discrepancies before extending the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S179 · Press Release Page | Press Information Bureau</a:t>
            </a:r>
          </a:p>
          <a:p xmlns:a="http://schemas.openxmlformats.org/drawingml/2006/main">
            <a:r>
              <a:t>Press Information Bureau · 04 FEB 2022</a:t>
            </a:r>
          </a:p>
          <a:p xmlns:a="http://schemas.openxmlformats.org/drawingml/2006/main">
            <a:r>
              <a:t>https://www.pib.gov.in/PressReleasePage.aspx?PRID=1795421&amp;lang=1&amp;reg=3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S182 · Press Release:Press Information Bureau</a:t>
            </a:r>
          </a:p>
          <a:p xmlns:a="http://schemas.openxmlformats.org/drawingml/2006/main">
            <a:r>
              <a:t>Press Information Bureau · See original for publication date</a:t>
            </a:r>
          </a:p>
          <a:p xmlns:a="http://schemas.openxmlformats.org/drawingml/2006/main">
            <a:r>
              <a:t>https://www.pib.gov.in/PressReleaseIframePage.aspx?PRID=1795421&amp;lang=2&amp;reg=48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unavailable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S183 · GOVERNMENT OF INDIA</a:t>
            </a:r>
          </a:p>
          <a:p xmlns:a="http://schemas.openxmlformats.org/drawingml/2006/main">
            <a:r>
              <a:t>eparlib.sansad.in · See original for publication date</a:t>
            </a:r>
          </a:p>
          <a:p xmlns:a="http://schemas.openxmlformats.org/drawingml/2006/main">
            <a:r>
              <a:t>https://eparlib.sansad.in/bitstream/123456789/1467095/1/AS47.pdf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unavailable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S181 · Key drivers of reversal of trend in childhood anaemia in India: evidence from Indian demographic and health surveys, 2016–21 - PMC</a:t>
            </a:r>
          </a:p>
          <a:p xmlns:a="http://schemas.openxmlformats.org/drawingml/2006/main">
            <a:r>
              <a:t>pmc.ncbi.nlm.nih.gov · See original for publication date</a:t>
            </a:r>
          </a:p>
          <a:p xmlns:a="http://schemas.openxmlformats.org/drawingml/2006/main">
            <a:r>
              <a:t>https://pmc.ncbi.nlm.nih.gov/articles/PMC10436448/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S260 · No anaemia data in NFHS fact sheets, officials say report not final</a:t>
            </a:r>
          </a:p>
          <a:p xmlns:a="http://schemas.openxmlformats.org/drawingml/2006/main">
            <a:r>
              <a:t>The Times of India · Jun 08, 2026</a:t>
            </a:r>
          </a:p>
          <a:p xmlns:a="http://schemas.openxmlformats.org/drawingml/2006/main">
            <a:r>
              <a:t>https://timesofindia.indiatimes.com/science/no-anaemia-data-in-nfhs-fact-sheets-officials-say-report-not-final/articleshow/131575822.cms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S261 · Anaemia data missing from NFHS-6 fact sheets; govt says new survey will fill gap</a:t>
            </a:r>
          </a:p>
          <a:p xmlns:a="http://schemas.openxmlformats.org/drawingml/2006/main">
            <a:r>
              <a:t>The Times of India · See original for publication date</a:t>
            </a:r>
          </a:p>
          <a:p xmlns:a="http://schemas.openxmlformats.org/drawingml/2006/main">
            <a:r>
              <a:t>https://timesofindia.indiatimes.com/india/anaemia-data-missing-from-nfhs-6-fact-sheets-govt-says-new-survey-will-fill-gap/articleshow/131568084.cms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Not fully retrieved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G09 · Teacher vacancies and temporary staffing</a:t>
            </a:r>
          </a:p>
          <a:p xmlns:a="http://schemas.openxmlformats.org/drawingml/2006/main">
            <a:r>
              <a:t>2025 observations; recruitment update October 2026 · Statewide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FACT / G09-C1: Reporting on the Samagra Shiksha review identified more than 800 vacancies across school levels in 2025.</a:t>
            </a:r>
          </a:p>
          <a:p xmlns:a="http://schemas.openxmlformats.org/drawingml/2006/main">
            <a:r>
              <a:t>EFFECT ON GOA: Unfilled permanent posts and temporary deployment can weaken continuity and subject coverage; vacancies do not always mean classrooms had no teacher.</a:t>
            </a:r>
          </a:p>
          <a:p xmlns:a="http://schemas.openxmlformats.org/drawingml/2006/main">
            <a:r>
              <a:t>INCUMBENT IMPLICATION: Raises a recruitment and institutional-capacity challenge for the education administration.</a:t>
            </a:r>
          </a:p>
          <a:p xmlns:a="http://schemas.openxmlformats.org/drawingml/2006/main">
            <a:r>
              <a:t>LOGIC / RATIONALE: Teacher appointment and deployment are controllable inputs. A vacancy backlog can undermine confidence that reform commitments are supported by staff.</a:t>
            </a:r>
          </a:p>
          <a:p xmlns:a="http://schemas.openxmlformats.org/drawingml/2006/main">
            <a:r>
              <a:t>ASSUMPTIONS: The vacancies concern necessary sanctioned posts; contractual substitutes may mitigate teaching gaps.</a:t>
            </a:r>
          </a:p>
          <a:p xmlns:a="http://schemas.openxmlformats.org/drawingml/2006/main">
            <a:r>
              <a:t>LIMITS: The separate 838 figure uses another dated record. Do not add those figures. An October 2026 report says 83% of advertised primary posts were filled, a narrower measure.</a:t>
            </a:r>
          </a:p>
          <a:p xmlns:a="http://schemas.openxmlformats.org/drawingml/2006/main">
            <a:r>
              <a:t>RESPONSE / COUNTER-FINDING: Recruitment and regularisation initiatives provide a response. Verify appointment orders, joining and subject-wise placement before assessing completion.</a:t>
            </a:r>
          </a:p>
          <a:p xmlns:a="http://schemas.openxmlformats.org/drawingml/2006/main">
            <a:r>
              <a:t>VERIFICATION: Below four-source threshold (2 readable supporting records)</a:t>
            </a:r>
          </a:p>
          <a:p xmlns:a="http://schemas.openxmlformats.org/drawingml/2006/main">
            <a:r>
              <a:t>Underlying audit, survey, inquiry or official statement is shared across some publications; four citations do not establish four independent measurements.</a:t>
            </a:r>
          </a:p>
          <a:p xmlns:a="http://schemas.openxmlformats.org/drawingml/2006/main">
            <a:r>
              <a:t>Readable core sources: S214, S213</a:t>
            </a:r>
          </a:p>
          <a:p xmlns:a="http://schemas.openxmlformats.org/drawingml/2006/main">
            <a:r>
              <a:t>Follow-up: Obtain the current primary record and action-taken outcome; reconcile discrepancies before extending the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S214 · Central panel seeks answers on over 800 teacher vacancies | Goa News - Times of India</a:t>
            </a:r>
          </a:p>
          <a:p xmlns:a="http://schemas.openxmlformats.org/drawingml/2006/main">
            <a:r>
              <a:t>The Times of India · May 07, 2025</a:t>
            </a:r>
          </a:p>
          <a:p xmlns:a="http://schemas.openxmlformats.org/drawingml/2006/main">
            <a:r>
              <a:t>https://timesofindia.indiatimes.com/city/goa/central-panel-seeks-answers-on-over-800-teacher-vacancies/articleshow/120941828.cms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S213 · Goa: 67 govt primary schools shut or merged since 2020-21, more at risk - Daijiworld.com</a:t>
            </a:r>
          </a:p>
          <a:p xmlns:a="http://schemas.openxmlformats.org/drawingml/2006/main">
            <a:r>
              <a:t>Daijiworld · See original for publication date</a:t>
            </a:r>
          </a:p>
          <a:p xmlns:a="http://schemas.openxmlformats.org/drawingml/2006/main">
            <a:r>
              <a:t>https://www.daijiworld.com/index.php/news/newsDisplay?newsID=1289531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S047 · Goa Education: गोव्यात 838 शिक्षकांची पदे रिक्त! मुख्‍यमंत्र्यांच्‍या उत्तरातून उघड; सरकारी शाळांत 592 कंत्राटी शिक्षक | Goa teacher vacancies | Goa News in Marathi | Dainik Gomantak</a:t>
            </a:r>
          </a:p>
          <a:p xmlns:a="http://schemas.openxmlformats.org/drawingml/2006/main">
            <a:r>
              <a:t>Dainik Gomantak · See original for publication date</a:t>
            </a:r>
          </a:p>
          <a:p xmlns:a="http://schemas.openxmlformats.org/drawingml/2006/main">
            <a:r>
              <a:t>https://dainikgomantak.esakal.com/goa/goa-government-school-teacher-vacancies-cm-pramod-sawant-assembly-smp90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unavailable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S043 · Advertisement Details</a:t>
            </a:r>
          </a:p>
          <a:p xmlns:a="http://schemas.openxmlformats.org/drawingml/2006/main">
            <a:r>
              <a:t>Government of Goa · See original for publication date</a:t>
            </a:r>
          </a:p>
          <a:p xmlns:a="http://schemas.openxmlformats.org/drawingml/2006/main">
            <a:r>
              <a:t>https://cbes.goa.gov.in/advertisement?id=99be66752473ec0e7fac37ce60864fdb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S041 · Goa Staff Selection Commission fills 83% of govt primary teacher posts</a:t>
            </a:r>
          </a:p>
          <a:p xmlns:a="http://schemas.openxmlformats.org/drawingml/2006/main">
            <a:r>
              <a:t>The Times of India · Oct 13, 2026</a:t>
            </a:r>
          </a:p>
          <a:p xmlns:a="http://schemas.openxmlformats.org/drawingml/2006/main">
            <a:r>
              <a:t>https://timesofindia.indiatimes.com/city/goa/goa-staff-selection-commission-fills-83-of-govt-primary-teacher-posts/articleshow/134901615.cms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S218 · Contractual edu staff with 10 years service will get regularised by Oct | Goa News - The Times of India</a:t>
            </a:r>
          </a:p>
          <a:p xmlns:a="http://schemas.openxmlformats.org/drawingml/2006/main">
            <a:r>
              <a:t>The Times of India · Sep 1, 2026</a:t>
            </a:r>
          </a:p>
          <a:p xmlns:a="http://schemas.openxmlformats.org/drawingml/2006/main">
            <a:r>
              <a:t>https://timesofindia.indiatimes.com/city/goa/contractual-edu-staff-with-10-years-service-will-get-regularised-by-oct/amp_articleshow/133661870.cms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G10 · School internet reliability</a:t>
            </a:r>
          </a:p>
          <a:p xmlns:a="http://schemas.openxmlformats.org/drawingml/2006/main">
            <a:r>
              <a:t>2026 reporting · Canacona, Quepem and Sanguem examples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FACT / G10-C1: School reporting describes unreliable internet that limits the use of smart classrooms despite administrative connectivity records.</a:t>
            </a:r>
          </a:p>
          <a:p xmlns:a="http://schemas.openxmlformats.org/drawingml/2006/main">
            <a:r>
              <a:t>EFFECT ON GOA: Equipment may be underused; teachers lose lesson time and cannot consistently use online resources.</a:t>
            </a:r>
          </a:p>
          <a:p xmlns:a="http://schemas.openxmlformats.org/drawingml/2006/main">
            <a:r>
              <a:t>INCUMBENT IMPLICATION: Challenges the implementation quality of digital-education commitments.</a:t>
            </a:r>
          </a:p>
          <a:p xmlns:a="http://schemas.openxmlformats.org/drawingml/2006/main">
            <a:r>
              <a:t>LOGIC / RATIONALE: A recorded connection is an input; usable bandwidth, power backup and coverage are the actual service. The difference can expose monitoring weaknesses.</a:t>
            </a:r>
          </a:p>
          <a:p xmlns:a="http://schemas.openxmlformats.org/drawingml/2006/main">
            <a:r>
              <a:t>ASSUMPTIONS: The described schools are accurately reported and the issues persisted beyond isolated outages.</a:t>
            </a:r>
          </a:p>
          <a:p xmlns:a="http://schemas.openxmlformats.org/drawingml/2006/main">
            <a:r>
              <a:t>LIMITS: This is not a representative statewide reliability survey and does not prove that all connected schools lack service.</a:t>
            </a:r>
          </a:p>
          <a:p xmlns:a="http://schemas.openxmlformats.org/drawingml/2006/main">
            <a:r>
              <a:t>RESPONSE / COUNTER-FINDING: The report cites private connections and local workarounds. Obtain uptime logs, school inspections and rural service contracts.</a:t>
            </a:r>
          </a:p>
          <a:p xmlns:a="http://schemas.openxmlformats.org/drawingml/2006/main">
            <a:r>
              <a:t>VERIFICATION: Below four-source threshold (1 readable supporting records)</a:t>
            </a:r>
          </a:p>
          <a:p xmlns:a="http://schemas.openxmlformats.org/drawingml/2006/main">
            <a:r>
              <a:t>Underlying audit, survey, inquiry or official statement is shared across some publications; four citations do not establish four independent measurements.</a:t>
            </a:r>
          </a:p>
          <a:p xmlns:a="http://schemas.openxmlformats.org/drawingml/2006/main">
            <a:r>
              <a:t>Readable core sources: S053</a:t>
            </a:r>
          </a:p>
          <a:p xmlns:a="http://schemas.openxmlformats.org/drawingml/2006/main">
            <a:r>
              <a:t>Follow-up: Obtain the current primary record and action-taken outcome; reconcile discrepancies before extending the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S053 · Net issues in Goa schools turn smart boards into blackboards despite 100% internet claim</a:t>
            </a:r>
          </a:p>
          <a:p xmlns:a="http://schemas.openxmlformats.org/drawingml/2006/main">
            <a:r>
              <a:t>The Times of India · Jul 27, 2026</a:t>
            </a:r>
          </a:p>
          <a:p xmlns:a="http://schemas.openxmlformats.org/drawingml/2006/main">
            <a:r>
              <a:t>https://timesofindia.indiatimes.com/city/goa/net-issues-in-goa-schools-turn-smart-boards-into-blackboards-despite-100-internet-claim/articleshow/132651309.cms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P08 · Goa Economic Survey 2025–26</a:t>
            </a:r>
          </a:p>
          <a:p xmlns:a="http://schemas.openxmlformats.org/drawingml/2006/main">
            <a:r>
              <a:t>Directorate of Planning Statistics and Evaluation Goa · 2026</a:t>
            </a:r>
          </a:p>
          <a:p xmlns:a="http://schemas.openxmlformats.org/drawingml/2006/main">
            <a:r>
              <a:t>https://www.dpse.goa.gov.in/economic-survey-2025-26.pdf</a:t>
            </a:r>
          </a:p>
          <a:p xmlns:a="http://schemas.openxmlformats.org/drawingml/2006/main">
            <a:r>
              <a:t>Sector chapters and statistical annexures; individual data periods vary</a:t>
            </a:r>
          </a:p>
          <a:p xmlns:a="http://schemas.openxmlformats.org/drawingml/2006/main">
            <a:r>
              <a:t>Access: retrieved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G11 · Government-school closures and mergers</a:t>
            </a:r>
          </a:p>
          <a:p xmlns:a="http://schemas.openxmlformats.org/drawingml/2006/main">
            <a:r>
              <a:t>2020–21 onward; August 2025 reporting · Statewide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FACT / G11-C1: A report based on education records describes 67 government primary schools closed or merged over five years.</a:t>
            </a:r>
          </a:p>
          <a:p xmlns:a="http://schemas.openxmlformats.org/drawingml/2006/main">
            <a:r>
              <a:t>EFFECT ON GOA: Changes can alter travel and local access. Low enrolment, demography and parental preference complicate the interpretation.</a:t>
            </a:r>
          </a:p>
          <a:p xmlns:a="http://schemas.openxmlformats.org/drawingml/2006/main">
            <a:r>
              <a:t>INCUMBENT IMPLICATION: Creates a question about confidence in government schools and safeguards during consolidation.</a:t>
            </a:r>
          </a:p>
          <a:p xmlns:a="http://schemas.openxmlformats.org/drawingml/2006/main">
            <a:r>
              <a:t>LOGIC / RATIONALE: Persistent enrolment loss can signal perceived quality or access issues; consolidation can also be a reasonable response to small cohorts.</a:t>
            </a:r>
          </a:p>
          <a:p xmlns:a="http://schemas.openxmlformats.org/drawingml/2006/main">
            <a:r>
              <a:t>ASSUMPTIONS: Affected pupils faced changed access or services; this requires school-specific examination.</a:t>
            </a:r>
          </a:p>
          <a:p xmlns:a="http://schemas.openxmlformats.org/drawingml/2006/main">
            <a:r>
              <a:t>LIMITS: The number is not independently checked against four readable sources. It is not proof that 67 communities lost education altogether.</a:t>
            </a:r>
          </a:p>
          <a:p xmlns:a="http://schemas.openxmlformats.org/drawingml/2006/main">
            <a:r>
              <a:t>RESPONSE / COUNTER-FINDING: Authorities cite low enrolment and preference for aided or private institutions; examine pupil relocation and receiving-school capacity.</a:t>
            </a:r>
          </a:p>
          <a:p xmlns:a="http://schemas.openxmlformats.org/drawingml/2006/main">
            <a:r>
              <a:t>VERIFICATION: Below four-source threshold (1 readable supporting records)</a:t>
            </a:r>
          </a:p>
          <a:p xmlns:a="http://schemas.openxmlformats.org/drawingml/2006/main">
            <a:r>
              <a:t>Underlying audit, survey, inquiry or official statement is shared across some publications; four citations do not establish four independent measurements.</a:t>
            </a:r>
          </a:p>
          <a:p xmlns:a="http://schemas.openxmlformats.org/drawingml/2006/main">
            <a:r>
              <a:t>Readable core sources: S213</a:t>
            </a:r>
          </a:p>
          <a:p xmlns:a="http://schemas.openxmlformats.org/drawingml/2006/main">
            <a:r>
              <a:t>Follow-up: Obtain the current primary record and action-taken outcome; reconcile discrepancies before extending the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S213 · Goa: 67 govt primary schools shut or merged since 2020-21, more at risk - Daijiworld.com</a:t>
            </a:r>
          </a:p>
          <a:p xmlns:a="http://schemas.openxmlformats.org/drawingml/2006/main">
            <a:r>
              <a:t>Daijiworld · See original for publication date</a:t>
            </a:r>
          </a:p>
          <a:p xmlns:a="http://schemas.openxmlformats.org/drawingml/2006/main">
            <a:r>
              <a:t>https://www.daijiworld.com/index.php/news/newsDisplay?newsID=1289531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S045 · Over 2,000 applicants compete for 390 govt teacher vacancies in Goa</a:t>
            </a:r>
          </a:p>
          <a:p xmlns:a="http://schemas.openxmlformats.org/drawingml/2006/main">
            <a:r>
              <a:t>The Times of India · May 18, 2026</a:t>
            </a:r>
          </a:p>
          <a:p xmlns:a="http://schemas.openxmlformats.org/drawingml/2006/main">
            <a:r>
              <a:t>https://timesofindia.indiatimes.com/city/goa/over-2000-applicants-compete-for-390-govt-teacher-vacancies-in-goa/articleshow/131160842.cms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G12 · Education indices improve while learning remains weak</a:t>
            </a:r>
          </a:p>
          <a:p xmlns:a="http://schemas.openxmlformats.org/drawingml/2006/main">
            <a:r>
              <a:t>2022–23 to reported 2025–26 assessments · State and both districts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FACT / G12-C1: Published reporting records a rise in Goa’s overall school performance score; learning outcomes remain a weaker domain.</a:t>
            </a:r>
          </a:p>
          <a:p xmlns:a="http://schemas.openxmlformats.org/drawingml/2006/main">
            <a:r>
              <a:t>EFFECT ON GOA: Better administrative indicators can coexist with unfinished classroom improvements.</a:t>
            </a:r>
          </a:p>
          <a:p xmlns:a="http://schemas.openxmlformats.org/drawingml/2006/main">
            <a:r>
              <a:t>INCUMBENT IMPLICATION: Offers the incumbent a favourable overall trend while preserving an accountability question about learning.</a:t>
            </a:r>
          </a:p>
          <a:p xmlns:a="http://schemas.openxmlformats.org/drawingml/2006/main">
            <a:r>
              <a:t>LOGIC / RATIONALE: An index aggregates different domains. An improved total does not eliminate low attainment, and weak attainment does not establish that the total declined.</a:t>
            </a:r>
          </a:p>
          <a:p xmlns:a="http://schemas.openxmlformats.org/drawingml/2006/main">
            <a:r>
              <a:t>ASSUMPTIONS: Readers distinguish state and district indices and assessment versions.</a:t>
            </a:r>
          </a:p>
          <a:p xmlns:a="http://schemas.openxmlformats.org/drawingml/2006/main">
            <a:r>
              <a:t>LIMITS: One article mixes district scores out of 600 with state scores out of 1,000. Newer primary PDFs could not be fully retrieved; precise latest totals remain below the verification threshold.</a:t>
            </a:r>
          </a:p>
          <a:p xmlns:a="http://schemas.openxmlformats.org/drawingml/2006/main">
            <a:r>
              <a:t>RESPONSE / COUNTER-FINDING: Use the available improvement as a counter-finding. Obtain the current official report and assessment methodology before comparing learning scores across frameworks.</a:t>
            </a:r>
          </a:p>
          <a:p xmlns:a="http://schemas.openxmlformats.org/drawingml/2006/main">
            <a:r>
              <a:t>VERIFICATION: Below four-source threshold (3 readable supporting records)</a:t>
            </a:r>
          </a:p>
          <a:p xmlns:a="http://schemas.openxmlformats.org/drawingml/2006/main">
            <a:r>
              <a:t>Underlying audit, survey, inquiry or official statement is shared across some publications; four citations do not establish four independent measurements.</a:t>
            </a:r>
          </a:p>
          <a:p xmlns:a="http://schemas.openxmlformats.org/drawingml/2006/main">
            <a:r>
              <a:t>Readable core sources: S008, S188, S202</a:t>
            </a:r>
          </a:p>
          <a:p xmlns:a="http://schemas.openxmlformats.org/drawingml/2006/main">
            <a:r>
              <a:t>Follow-up: Obtain the current primary record and action-taken outcome; reconcile discrepancies before extending the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S008 · Reality check for edu: Goa lags in learning outcomes | The Goan</a:t>
            </a:r>
          </a:p>
          <a:p xmlns:a="http://schemas.openxmlformats.org/drawingml/2006/main">
            <a:r>
              <a:t>The Goan Everyday · Publication date not independently established; accessed 14 October 2026</a:t>
            </a:r>
          </a:p>
          <a:p xmlns:a="http://schemas.openxmlformats.org/drawingml/2006/main">
            <a:r>
              <a:t>https://www.thegoan.net/goa-news/reality-check-for-edu-goa-lags-in-learning-outcomes/152997.html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S188 · Goa improves in school edu sector, says national index | Goa News - Times of India</a:t>
            </a:r>
          </a:p>
          <a:p xmlns:a="http://schemas.openxmlformats.org/drawingml/2006/main">
            <a:r>
              <a:t>The Times of India · Jun 19, 2025</a:t>
            </a:r>
          </a:p>
          <a:p xmlns:a="http://schemas.openxmlformats.org/drawingml/2006/main">
            <a:r>
              <a:t>https://timesofindia.indiatimes.com/city/goa/goa-improves-in-school-edu-sector-says-national-index/articleshow/121938944.cms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S198 · Chandigarh, Punjab, Delhi toppers in Centre’s PGI school education report; Meghalaya at bottom | Education News - The Indian Express</a:t>
            </a:r>
          </a:p>
          <a:p xmlns:a="http://schemas.openxmlformats.org/drawingml/2006/main">
            <a:r>
              <a:t>The Indian Express · See original for publication date</a:t>
            </a:r>
          </a:p>
          <a:p xmlns:a="http://schemas.openxmlformats.org/drawingml/2006/main">
            <a:r>
              <a:t>https://indianexpress.com/article/education/chandigarh-punjab-delhi-toppers-centre-pgi-school-education-report-10075425/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unavailable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S202 · Chandigarh scores highest in school education index; big drop for Andaman, Chhattisgarh - Times of India</a:t>
            </a:r>
          </a:p>
          <a:p xmlns:a="http://schemas.openxmlformats.org/drawingml/2006/main">
            <a:r>
              <a:t>The Times of India · Jun 19, 2025</a:t>
            </a:r>
          </a:p>
          <a:p xmlns:a="http://schemas.openxmlformats.org/drawingml/2006/main">
            <a:r>
              <a:t>https://timesofindia.indiatimes.com/education/news/chandigarh-scores-highest-in-school-education-index-big-drop-for-andaman-chhattisgarh/articleshow/121944707.cms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S280 · Goa climbs up in Centre’s school performance edu index | Goa News - The Times of India</a:t>
            </a:r>
          </a:p>
          <a:p xmlns:a="http://schemas.openxmlformats.org/drawingml/2006/main">
            <a:r>
              <a:t>The Times of India · Jul 8, 2026</a:t>
            </a:r>
          </a:p>
          <a:p xmlns:a="http://schemas.openxmlformats.org/drawingml/2006/main">
            <a:r>
              <a:t>https://timesofindia.indiatimes.com/city/goa/goa-climbs-up-in-centres-school-performance-edu-index/amp_articleshow/132247168.cms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S283 · Performance Grading Index 2.0 for States/UTs (2025-26): A Comprehensive Review | Education for All in India</a:t>
            </a:r>
          </a:p>
          <a:p xmlns:a="http://schemas.openxmlformats.org/drawingml/2006/main">
            <a:r>
              <a:t>educationforallinindia.com · May 30, 2026</a:t>
            </a:r>
          </a:p>
          <a:p xmlns:a="http://schemas.openxmlformats.org/drawingml/2006/main">
            <a:r>
              <a:t>https://educationforallinindia.com/performance-grading-index-2-0-for-states-uts-2025-26-a-comprehensive-review/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S285 · School PGI climbs, but learning score stays frozen | India News - The Times of India</a:t>
            </a:r>
          </a:p>
          <a:p xmlns:a="http://schemas.openxmlformats.org/drawingml/2006/main">
            <a:r>
              <a:t>The Times of India · Jul 07, 2026</a:t>
            </a:r>
          </a:p>
          <a:p xmlns:a="http://schemas.openxmlformats.org/drawingml/2006/main">
            <a:r>
              <a:t>https://timesofindia.indiatimes.com/india/school-pgi-climbs-but-learning-score-stays-frozen/articleshow/132242844.cms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G13 · IIT campus dispute at Melauli</a:t>
            </a:r>
          </a:p>
          <a:p xmlns:a="http://schemas.openxmlformats.org/drawingml/2006/main">
            <a:r>
              <a:t>2020–January 2021; continuing followup · Shel-Melauli, Sattari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FACT / G13-C1: The government withdrew the proposed IIT campus location at Melauli after sustained protests and clashes during land demarcation.</a:t>
            </a:r>
          </a:p>
          <a:p xmlns:a="http://schemas.openxmlformats.org/drawingml/2006/main">
            <a:r>
              <a:t>EFFECT ON GOA: Villagers faced land-use uncertainty and policing disputes; withdrawal delayed identification of a permanent campus location.</a:t>
            </a:r>
          </a:p>
          <a:p xmlns:a="http://schemas.openxmlformats.org/drawingml/2006/main">
            <a:r>
              <a:t>INCUMBENT IMPLICATION: Challenges consultation and site-selection competence, while the withdrawal shows responsiveness.</a:t>
            </a:r>
          </a:p>
          <a:p xmlns:a="http://schemas.openxmlformats.org/drawingml/2006/main">
            <a:r>
              <a:t>LOGIC / RATIONALE: A project that depends on local land consent and suitable classification can lose time and legitimacy if those concerns are not resolved before implementation.</a:t>
            </a:r>
          </a:p>
          <a:p xmlns:a="http://schemas.openxmlformats.org/drawingml/2006/main">
            <a:r>
              <a:t>ASSUMPTIONS: Earlier consultation could have reduced conflict; not every objection could necessarily have been resolved.</a:t>
            </a:r>
          </a:p>
          <a:p xmlns:a="http://schemas.openxmlformats.org/drawingml/2006/main">
            <a:r>
              <a:t>LIMITS: Withdrawal concerned the location, not abolition of IIT Goa. Land-return and criminal-case outcomes need separate current records.</a:t>
            </a:r>
          </a:p>
          <a:p xmlns:a="http://schemas.openxmlformats.org/drawingml/2006/main">
            <a:r>
              <a:t>RESPONSE / COUNTER-FINDING: The CM announced relocation and review of protest cases. Later demands for withdrawal of cases show that the response was not identical to full resolution.</a:t>
            </a:r>
          </a:p>
          <a:p xmlns:a="http://schemas.openxmlformats.org/drawingml/2006/main">
            <a:r>
              <a:t>VERIFICATION: Four-publication check; shared origins disclosed</a:t>
            </a:r>
          </a:p>
          <a:p xmlns:a="http://schemas.openxmlformats.org/drawingml/2006/main">
            <a:r>
              <a:t>Underlying audit, survey, inquiry or official statement is shared across some publications; four citations do not establish four independent measurements.</a:t>
            </a:r>
          </a:p>
          <a:p xmlns:a="http://schemas.openxmlformats.org/drawingml/2006/main">
            <a:r>
              <a:t>Readable core sources: S511, S512, S515, S525</a:t>
            </a:r>
          </a:p>
          <a:p xmlns:a="http://schemas.openxmlformats.org/drawingml/2006/main">
            <a:r>
              <a:t>Follow-up: Obtain the current primary record and action-taken outcome; reconcile discrepancies before extending the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S511 · CM bows to public pressure, scraps IIT project at Melauli | Goa News - Times of India</a:t>
            </a:r>
          </a:p>
          <a:p xmlns:a="http://schemas.openxmlformats.org/drawingml/2006/main">
            <a:r>
              <a:t>The Times of India · Jan 16, 2021</a:t>
            </a:r>
          </a:p>
          <a:p xmlns:a="http://schemas.openxmlformats.org/drawingml/2006/main">
            <a:r>
              <a:t>https://timesofindia.indiatimes.com/city/goa/cm-bows-to-public-pressure-scraps-iit-project-at-melauli/articleshow/80294580.cms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S512 · Goa Government Decides To Shift Proposed IIT Campus Amid Major Protest</a:t>
            </a:r>
          </a:p>
          <a:p xmlns:a="http://schemas.openxmlformats.org/drawingml/2006/main">
            <a:r>
              <a:t>NDTV / underlying byline · Jan 15, 2021</a:t>
            </a:r>
          </a:p>
          <a:p xmlns:a="http://schemas.openxmlformats.org/drawingml/2006/main">
            <a:r>
              <a:t>https://www.ndtv.com/goa-news/goa-government-decides-to-shift-iit-project-out-of-sattari-2353004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S515 · Following protests, CM Pramod Sawant scraps IIT-Goa project at Shel-Melauli | Goa News - The Indian Express</a:t>
            </a:r>
          </a:p>
          <a:p xmlns:a="http://schemas.openxmlformats.org/drawingml/2006/main">
            <a:r>
              <a:t>The Indian Express · Jan 15, 2021</a:t>
            </a:r>
          </a:p>
          <a:p xmlns:a="http://schemas.openxmlformats.org/drawingml/2006/main">
            <a:r>
              <a:t>https://indianexpress.com/article/cities/goa/following-protests-cm-pramod-sawant-scraps-iit-goa-project-at-shel-melaulim-7147375/lite/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S516 · Villagers, police clash over proposed IIT campus in Goa | Goa News - The Indian Express</a:t>
            </a:r>
          </a:p>
          <a:p xmlns:a="http://schemas.openxmlformats.org/drawingml/2006/main">
            <a:r>
              <a:t>The Indian Express · Jan 6, 2021</a:t>
            </a:r>
          </a:p>
          <a:p xmlns:a="http://schemas.openxmlformats.org/drawingml/2006/main">
            <a:r>
              <a:t>https://indianexpress.com/article/cities/goa/villagers-police-clash-over-proposed-iit-campus-in-goa-7135436/lite/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S513 · Withdraw cases against locals in IIT matter: Vishwajit Rane to Goa CM Pramod Sawant | Goa News - Times of India</a:t>
            </a:r>
          </a:p>
          <a:p xmlns:a="http://schemas.openxmlformats.org/drawingml/2006/main">
            <a:r>
              <a:t>The Times of India · Dec 28, 2021</a:t>
            </a:r>
          </a:p>
          <a:p xmlns:a="http://schemas.openxmlformats.org/drawingml/2006/main">
            <a:r>
              <a:t>https://timesofindia.indiatimes.com/city/goa/withdraw-cases-against-locals-in-iit-matter-rane-to-sawant/articleshow/88531801.cms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S519 · Locals want cases against IIT protesters to be dropped | The Goan</a:t>
            </a:r>
          </a:p>
          <a:p xmlns:a="http://schemas.openxmlformats.org/drawingml/2006/main">
            <a:r>
              <a:t>The Goan Everyday · Publication date not independently established; accessed 14 October 2026</a:t>
            </a:r>
          </a:p>
          <a:p xmlns:a="http://schemas.openxmlformats.org/drawingml/2006/main">
            <a:r>
              <a:t>https://www.thegoan.net/goa-news/locals-want-cases-against-iit-protesters-to-be-dropped/72016.html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S525 · After protests, Goa CM announces relocation of IIT project from Melaulim | India News</a:t>
            </a:r>
          </a:p>
          <a:p xmlns:a="http://schemas.openxmlformats.org/drawingml/2006/main">
            <a:r>
              <a:t>Hindustan Times · Oct 14, 2026</a:t>
            </a:r>
          </a:p>
          <a:p xmlns:a="http://schemas.openxmlformats.org/drawingml/2006/main">
            <a:r>
              <a:t>https://www.hindustantimes.com/india-news/after-protests-goa-cm-announces-relocation-of-iit-project-from-melaulim-101610734662888.html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G14 · Mining interruption and partial restart</a:t>
            </a:r>
          </a:p>
          <a:p xmlns:a="http://schemas.openxmlformats.org/drawingml/2006/main">
            <a:r>
              <a:t>2019–2024 and later transition · Bicholim and mining belt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FACT / G14-C1: Fresh extraction resumed at the Bicholim auctioned block in April 2024 after the 2018 shutdown.</a:t>
            </a:r>
          </a:p>
          <a:p xmlns:a="http://schemas.openxmlformats.org/drawingml/2006/main">
            <a:r>
              <a:t>EFFECT ON GOA: Mining-dependent workers and transport businesses experienced prolonged uncertainty; resumed extraction does not demonstrate full livelihood restoration.</a:t>
            </a:r>
          </a:p>
          <a:p xmlns:a="http://schemas.openxmlformats.org/drawingml/2006/main">
            <a:r>
              <a:t>INCUMBENT IMPLICATION: Combines an accountability question about transition support with a creditable restart milestone.</a:t>
            </a:r>
          </a:p>
          <a:p xmlns:a="http://schemas.openxmlformats.org/drawingml/2006/main">
            <a:r>
              <a:t>LOGIC / RATIONALE: The government is assessed on lawful restart, relief and diversification. A court-imposed legacy shutdown cannot be assigned wholly to a leader who took office later.</a:t>
            </a:r>
          </a:p>
          <a:p xmlns:a="http://schemas.openxmlformats.org/drawingml/2006/main">
            <a:r>
              <a:t>ASSUMPTIONS: Affected livelihoods remained dependent on mining and alternative opportunities were limited.</a:t>
            </a:r>
          </a:p>
          <a:p xmlns:a="http://schemas.openxmlformats.org/drawingml/2006/main">
            <a:r>
              <a:t>LIMITS: Jobs promised, operations commenced and households re-employed are different measures. No aggregate loss or full employment-recovery estimate is asserted.</a:t>
            </a:r>
          </a:p>
          <a:p xmlns:a="http://schemas.openxmlformats.org/drawingml/2006/main">
            <a:r>
              <a:t>RESPONSE / COUNTER-FINDING: Auctions and renewed operations are material remedial actions; local employment and environmental compliance still require followup.</a:t>
            </a:r>
          </a:p>
          <a:p xmlns:a="http://schemas.openxmlformats.org/drawingml/2006/main">
            <a:r>
              <a:t>VERIFICATION: Below four-source threshold (2 readable supporting records)</a:t>
            </a:r>
          </a:p>
          <a:p xmlns:a="http://schemas.openxmlformats.org/drawingml/2006/main">
            <a:r>
              <a:t>Underlying audit, survey, inquiry or official statement is shared across some publications; four citations do not establish four independent measurements.</a:t>
            </a:r>
          </a:p>
          <a:p xmlns:a="http://schemas.openxmlformats.org/drawingml/2006/main">
            <a:r>
              <a:t>Readable core sources: S025, S028</a:t>
            </a:r>
          </a:p>
          <a:p xmlns:a="http://schemas.openxmlformats.org/drawingml/2006/main">
            <a:r>
              <a:t>Follow-up: Obtain the current primary record and action-taken outcome; reconcile discrepancies before extending the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P08 · Goa Economic Survey 2025–26</a:t>
            </a:r>
          </a:p>
          <a:p xmlns:a="http://schemas.openxmlformats.org/drawingml/2006/main">
            <a:r>
              <a:t>Directorate of Planning Statistics and Evaluation Goa · 2026</a:t>
            </a:r>
          </a:p>
          <a:p xmlns:a="http://schemas.openxmlformats.org/drawingml/2006/main">
            <a:r>
              <a:t>https://www.dpse.goa.gov.in/economic-survey-2025-26.pdf</a:t>
            </a:r>
          </a:p>
          <a:p xmlns:a="http://schemas.openxmlformats.org/drawingml/2006/main">
            <a:r>
              <a:t>Sector chapters and statistical annexures; individual data periods vary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S025 · Mining resumes, but where are the jobs? Cong says BJP ‘dangled a carrot’ in North Goa | Political Pulse News - The Indian Express</a:t>
            </a:r>
          </a:p>
          <a:p xmlns:a="http://schemas.openxmlformats.org/drawingml/2006/main">
            <a:r>
              <a:t>The Indian Express · May 1, 2024</a:t>
            </a:r>
          </a:p>
          <a:p xmlns:a="http://schemas.openxmlformats.org/drawingml/2006/main">
            <a:r>
              <a:t>https://indianexpress.com/article/political-pulse/mining-resumes-in-north-goa-but-where-are-the-jobs-cong-says-bjp-dangled-a-carrot-9297993/lite/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S027 · Mining resumes in Goa after 6 years; Vedanta begins operations at Bicholim block</a:t>
            </a:r>
          </a:p>
          <a:p xmlns:a="http://schemas.openxmlformats.org/drawingml/2006/main">
            <a:r>
              <a:t>moneycontrol.com · See original for publication date</a:t>
            </a:r>
          </a:p>
          <a:p xmlns:a="http://schemas.openxmlformats.org/drawingml/2006/main">
            <a:r>
              <a:t>https://www.moneycontrol.com/news/business/companies/mining-resumes-in-goa-after-6-years-vedanta-begins-operations-at-bicholim-block-12577671.html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unavailable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S028 · After 6 yrs, mining ops begin in state | Goa News - Times of India</a:t>
            </a:r>
          </a:p>
          <a:p xmlns:a="http://schemas.openxmlformats.org/drawingml/2006/main">
            <a:r>
              <a:t>The Times of India · Apr 05, 2024</a:t>
            </a:r>
          </a:p>
          <a:p xmlns:a="http://schemas.openxmlformats.org/drawingml/2006/main">
            <a:r>
              <a:t>https://timesofindia.indiatimes.com/city/goa/after-6-yrs-mining-ops-begin-in-state/articleshow/109059112.cms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S031 · Politics Of Mining: Why Some Goans Don't Want Mining To Resume | Outlook India</a:t>
            </a:r>
          </a:p>
          <a:p xmlns:a="http://schemas.openxmlformats.org/drawingml/2006/main">
            <a:r>
              <a:t>outlookindia.com · See original for publication date</a:t>
            </a:r>
          </a:p>
          <a:p xmlns:a="http://schemas.openxmlformats.org/drawingml/2006/main">
            <a:r>
              <a:t>https://www.outlookindia.com/amp/story/elections/politics-of-mining-why-some-goans-dont-want-mining-to-resume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unavailable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S035 · Press Releases | Sesa Goa Iron Ore</a:t>
            </a:r>
          </a:p>
          <a:p xmlns:a="http://schemas.openxmlformats.org/drawingml/2006/main">
            <a:r>
              <a:t>sesagoaironore.com · See original for publication date</a:t>
            </a:r>
          </a:p>
          <a:p xmlns:a="http://schemas.openxmlformats.org/drawingml/2006/main">
            <a:r>
              <a:t>https://sesagoaironore.com/media/press-releases/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unavailable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S040 · Minutes of 24th EAC (Non-Coal Mining) meeting held during 26-28 December, 2023</a:t>
            </a:r>
          </a:p>
          <a:p xmlns:a="http://schemas.openxmlformats.org/drawingml/2006/main">
            <a:r>
              <a:t>environmentclearance.nic.in · See original for publication date</a:t>
            </a:r>
          </a:p>
          <a:p xmlns:a="http://schemas.openxmlformats.org/drawingml/2006/main">
            <a:r>
              <a:t>https://environmentclearance.nic.in/writereaddata/Form-1A/Minutes/0501202486178076Minutes_24thEACmeeting_26-28Dec%2C2023.pdf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unavailable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G15 · Persistent unemployment despite improvement</a:t>
            </a:r>
          </a:p>
          <a:p xmlns:a="http://schemas.openxmlformats.org/drawingml/2006/main">
            <a:r>
              <a:t>PLFS 2019–20 to 2023–24; latest series caveat · Statewide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FACT / G15-C1: PLFS-based sources put all-age usual-status unemployment at 8.5% in 2023–24, below 12.0% in 2021–22 but above the national figure cited in the same analysis.</a:t>
            </a:r>
          </a:p>
          <a:p xmlns:a="http://schemas.openxmlformats.org/drawingml/2006/main">
            <a:r>
              <a:t>EFFECT ON GOA: Job access remains an economic concern even while the rate falls.</a:t>
            </a:r>
          </a:p>
          <a:p xmlns:a="http://schemas.openxmlformats.org/drawingml/2006/main">
            <a:r>
              <a:t>INCUMBENT IMPLICATION: Tests the incumbent’s employment record without supporting a claim of uninterrupted deterioration.</a:t>
            </a:r>
          </a:p>
          <a:p xmlns:a="http://schemas.openxmlformats.org/drawingml/2006/main">
            <a:r>
              <a:t>LOGIC / RATIONALE: An elevated rate can weaken confidence in economic opportunity; a declining rate weakens a narrative that conditions worsened every year.</a:t>
            </a:r>
          </a:p>
          <a:p xmlns:a="http://schemas.openxmlformats.org/drawingml/2006/main">
            <a:r>
              <a:t>ASSUMPTIONS: Usual-status definitions, denominators and survey periods are matched.</a:t>
            </a:r>
          </a:p>
          <a:p xmlns:a="http://schemas.openxmlformats.org/drawingml/2006/main">
            <a:r>
              <a:t>LIMITS: New calendar-year PLFS data must not be spliced into the old July–June series without checking redesign. Registered jobseekers are not unemployment counts.</a:t>
            </a:r>
          </a:p>
          <a:p xmlns:a="http://schemas.openxmlformats.org/drawingml/2006/main">
            <a:r>
              <a:t>RESPONSE / COUNTER-FINDING: The economic survey discusses employment initiatives; outcomes need retained-job and participation evidence rather than announcements alone.</a:t>
            </a:r>
          </a:p>
          <a:p xmlns:a="http://schemas.openxmlformats.org/drawingml/2006/main">
            <a:r>
              <a:t>VERIFICATION: Below four-source threshold (3 readable supporting records)</a:t>
            </a:r>
          </a:p>
          <a:p xmlns:a="http://schemas.openxmlformats.org/drawingml/2006/main">
            <a:r>
              <a:t>Underlying audit, survey, inquiry or official statement is shared across some publications; four citations do not establish four independent measurements.</a:t>
            </a:r>
          </a:p>
          <a:p xmlns:a="http://schemas.openxmlformats.org/drawingml/2006/main">
            <a:r>
              <a:t>Readable core sources: P08, S009, S345</a:t>
            </a:r>
          </a:p>
          <a:p xmlns:a="http://schemas.openxmlformats.org/drawingml/2006/main">
            <a:r>
              <a:t>Follow-up: Obtain the current primary record and action-taken outcome; reconcile discrepancies before extending the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P08 · Goa Economic Survey 2025–26</a:t>
            </a:r>
          </a:p>
          <a:p xmlns:a="http://schemas.openxmlformats.org/drawingml/2006/main">
            <a:r>
              <a:t>Directorate of Planning Statistics and Evaluation Goa · 2026</a:t>
            </a:r>
          </a:p>
          <a:p xmlns:a="http://schemas.openxmlformats.org/drawingml/2006/main">
            <a:r>
              <a:t>https://www.dpse.goa.gov.in/economic-survey-2025-26.pdf</a:t>
            </a:r>
          </a:p>
          <a:p xmlns:a="http://schemas.openxmlformats.org/drawingml/2006/main">
            <a:r>
              <a:t>Sector chapters and statistical annexures; individual data periods vary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S009 · Document at ncaer.org</a:t>
            </a:r>
          </a:p>
          <a:p xmlns:a="http://schemas.openxmlformats.org/drawingml/2006/main">
            <a:r>
              <a:t>NCAER · See original for publication date</a:t>
            </a:r>
          </a:p>
          <a:p xmlns:a="http://schemas.openxmlformats.org/drawingml/2006/main">
            <a:r>
              <a:t>https://ncaer.org/wp-content/uploads/2025/01/Macro-and-Fiscal-Landscape-of-the-State-of-Goa-2.pdf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S161 · Gujarat has second-lowest unemployment rate in country in PLFS 2023-24; state-wise data here | DeshGujarat</a:t>
            </a:r>
          </a:p>
          <a:p xmlns:a="http://schemas.openxmlformats.org/drawingml/2006/main">
            <a:r>
              <a:t>deshgujarat.com · See original for publication date</a:t>
            </a:r>
          </a:p>
          <a:p xmlns:a="http://schemas.openxmlformats.org/drawingml/2006/main">
            <a:r>
              <a:t>https://deshgujarat.com/2024/11/27/gujarat-has-second-lowest-unemployment-rate-in-country-in-plfs-2023-24-state-wise-data-here/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Not fully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S345 · Red faces in Goa BJP after minister’s comments on unemployment, state chief says ‘will speak to him’ | India News - The Indian Express</a:t>
            </a:r>
          </a:p>
          <a:p xmlns:a="http://schemas.openxmlformats.org/drawingml/2006/main">
            <a:r>
              <a:t>The Indian Express · Sep 28, 2024</a:t>
            </a:r>
          </a:p>
          <a:p xmlns:a="http://schemas.openxmlformats.org/drawingml/2006/main">
            <a:r>
              <a:t>https://indianexpress.com/article/india/red-faces-in-goa-bjp-after-ministers-comments-on-unemployment-state-chief-says-will-speak-to-him-9592007/lite/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S224 · Unemployment Rate on a Declining Trend In India</a:t>
            </a:r>
          </a:p>
          <a:p xmlns:a="http://schemas.openxmlformats.org/drawingml/2006/main">
            <a:r>
              <a:t>Press Information Bureau · 22 JUL 2024</a:t>
            </a:r>
          </a:p>
          <a:p xmlns:a="http://schemas.openxmlformats.org/drawingml/2006/main">
            <a:r>
              <a:t>https://www.pib.gov.in/Pressreleaseshare.aspx?PRID=2035278&amp;lang=2&amp;reg=48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S350 · वार्षिक रिपोर्ि, पीएलएफएस, 2025/Annual Report, PLFS, 2025</a:t>
            </a:r>
          </a:p>
          <a:p xmlns:a="http://schemas.openxmlformats.org/drawingml/2006/main">
            <a:r>
              <a:t>mospi.gov.in · 26</a:t>
            </a:r>
          </a:p>
          <a:p xmlns:a="http://schemas.openxmlformats.org/drawingml/2006/main">
            <a:r>
              <a:t>                           March, 2026</a:t>
            </a:r>
          </a:p>
          <a:p xmlns:a="http://schemas.openxmlformats.org/drawingml/2006/main">
            <a:r>
              <a:t>https://mospi.gov.in/uploads/publications_reports/publications_reports1780040415321_0624fb13-fb47-40bc-b470-7c7e9635c3ef_PLFS_2025_F_REV_29052026.pdf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G16 · Debt exposure and fiscal limits</a:t>
            </a:r>
          </a:p>
          <a:p xmlns:a="http://schemas.openxmlformats.org/drawingml/2006/main">
            <a:r>
              <a:t>Accounts for 2023–24; report August 2025 · Statewide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FACT / G16-C1: CAG identified approximately Rs 706 crore of off-budget liabilities and an adjusted debt ratio of 29.93%, above the stated 25% statutory ceiling.</a:t>
            </a:r>
          </a:p>
          <a:p xmlns:a="http://schemas.openxmlformats.org/drawingml/2006/main">
            <a:r>
              <a:t>EFFECT ON GOA: Debt service can constrain future spending flexibility. The report does not establish insolvency.</a:t>
            </a:r>
          </a:p>
          <a:p xmlns:a="http://schemas.openxmlformats.org/drawingml/2006/main">
            <a:r>
              <a:t>INCUMBENT IMPLICATION: Creates a fiscal-discipline accountability issue for the finance administration.</a:t>
            </a:r>
          </a:p>
          <a:p xmlns:a="http://schemas.openxmlformats.org/drawingml/2006/main">
            <a:r>
              <a:t>LOGIC / RATIONALE: Borrowing outside headline accounts obscures obligations; a breached statutory ratio warrants explanation even if annual deficit targets are met.</a:t>
            </a:r>
          </a:p>
          <a:p xmlns:a="http://schemas.openxmlformats.org/drawingml/2006/main">
            <a:r>
              <a:t>ASSUMPTIONS: The audit classification and applicable fiscal-law treatment are used consistently.</a:t>
            </a:r>
          </a:p>
          <a:p xmlns:a="http://schemas.openxmlformats.org/drawingml/2006/main">
            <a:r>
              <a:t>LIMITS: The debt ratio excludes specified GST-compensation loans. Dividing the headline debt total by GSDP without those adjustments gives a different ratio.</a:t>
            </a:r>
          </a:p>
          <a:p xmlns:a="http://schemas.openxmlformats.org/drawingml/2006/main">
            <a:r>
              <a:t>RESPONSE / COUNTER-FINDING: CAG also records revenue surpluses, capital spending growth and compliance with amended fiscal-deficit limits. These counter-facts materially qualify criticism.</a:t>
            </a:r>
          </a:p>
          <a:p xmlns:a="http://schemas.openxmlformats.org/drawingml/2006/main">
            <a:r>
              <a:t>VERIFICATION: Four-publication check; shared origins disclosed</a:t>
            </a:r>
          </a:p>
          <a:p xmlns:a="http://schemas.openxmlformats.org/drawingml/2006/main">
            <a:r>
              <a:t>Underlying audit, survey, inquiry or official statement is shared across some publications; four citations do not establish four independent measurements.</a:t>
            </a:r>
          </a:p>
          <a:p xmlns:a="http://schemas.openxmlformats.org/drawingml/2006/main">
            <a:r>
              <a:t>Readable core sources: P02, S005, S676, S677</a:t>
            </a:r>
          </a:p>
          <a:p xmlns:a="http://schemas.openxmlformats.org/drawingml/2006/main">
            <a:r>
              <a:t>Follow-up: Obtain the current primary record and action-taken outcome; reconcile discrepancies before extending the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P02 · Goa State Finances Audit Report 3 of 2025</a:t>
            </a:r>
          </a:p>
          <a:p xmlns:a="http://schemas.openxmlformats.org/drawingml/2006/main">
            <a:r>
              <a:t>Comptroller and Auditor General of India · 8 August 2025</a:t>
            </a:r>
          </a:p>
          <a:p xmlns:a="http://schemas.openxmlformats.org/drawingml/2006/main">
            <a:r>
              <a:t>https://cag.gov.in/en/audit-report/details/122272</a:t>
            </a:r>
          </a:p>
          <a:p xmlns:a="http://schemas.openxmlformats.org/drawingml/2006/main">
            <a:r>
              <a:t>Executive summary vii–xiii; chapter I fiscal targets; year ended March 2024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S005 · Press Release Page | Press Information Bureau</a:t>
            </a:r>
          </a:p>
          <a:p xmlns:a="http://schemas.openxmlformats.org/drawingml/2006/main">
            <a:r>
              <a:t>Press Information Bureau · 08 AUG 2025</a:t>
            </a:r>
          </a:p>
          <a:p xmlns:a="http://schemas.openxmlformats.org/drawingml/2006/main">
            <a:r>
              <a:t>https://www.pib.gov.in/PressReleasePage.aspx?PRID=2154277&amp;lang=2&amp;reg=48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S676 · CAG warns Goa of rising debt, calls for urgent ...</a:t>
            </a:r>
          </a:p>
          <a:p xmlns:a="http://schemas.openxmlformats.org/drawingml/2006/main">
            <a:r>
              <a:t>The Times of India · Aug 09, 2025</a:t>
            </a:r>
          </a:p>
          <a:p xmlns:a="http://schemas.openxmlformats.org/drawingml/2006/main">
            <a:r>
              <a:t>https://timesofindia.indiatimes.com/city/goa/cag-warns-goa-of-rising-debt-calls-for-urgent-management-strategy/articleshow/123195983.cms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S677 · Opposition slams govt as CAG flags fiscal instability</a:t>
            </a:r>
          </a:p>
          <a:p xmlns:a="http://schemas.openxmlformats.org/drawingml/2006/main">
            <a:r>
              <a:t>The Goan Everyday · Publication date not independently established; accessed 14 October 2026</a:t>
            </a:r>
          </a:p>
          <a:p xmlns:a="http://schemas.openxmlformats.org/drawingml/2006/main">
            <a:r>
              <a:t>https://www.thegoan.net/goa-news/opposition-slams-govt-as-cag-flags-fiscal-instability/134588.html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S678 · Goa's Rising Debt Hit Rs 33573 Cr, CAG Calls For ...</a:t>
            </a:r>
          </a:p>
          <a:p xmlns:a="http://schemas.openxmlformats.org/drawingml/2006/main">
            <a:r>
              <a:t>businessworld.in · See original for publication date</a:t>
            </a:r>
          </a:p>
          <a:p xmlns:a="http://schemas.openxmlformats.org/drawingml/2006/main">
            <a:r>
              <a:t>https://www.businessworld.in/article/goas-rising-debt-hit-rs-33573-cr-cag-calls-for-debt-management-framework-566807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blocked_or_incomplete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S187 · Goa Budget Analysis 2026-27  PRS Legislative Research</a:t>
            </a:r>
          </a:p>
          <a:p xmlns:a="http://schemas.openxmlformats.org/drawingml/2006/main">
            <a:r>
              <a:t>prsindia.org · 27</a:t>
            </a:r>
          </a:p>
          <a:p xmlns:a="http://schemas.openxmlformats.org/drawingml/2006/main">
            <a:r>
              <a:t>    Items                                                                                     2025</a:t>
            </a:r>
          </a:p>
          <a:p xmlns:a="http://schemas.openxmlformats.org/drawingml/2006/main">
            <a:r>
              <a:t>https://prsindia.org/files/budget/budget_state/goa/2026/Budget_Analysis_2026-27-Goa.pdf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S189 · Goa Budget Analysis 2026-27</a:t>
            </a:r>
          </a:p>
          <a:p xmlns:a="http://schemas.openxmlformats.org/drawingml/2006/main">
            <a:r>
              <a:t>prsindia.org · 25 Actuals    </a:t>
            </a:r>
          </a:p>
          <a:p xmlns:a="http://schemas.openxmlformats.org/drawingml/2006/main">
            <a:r>
              <a:t>2025</a:t>
            </a:r>
          </a:p>
          <a:p xmlns:a="http://schemas.openxmlformats.org/drawingml/2006/main">
            <a:r>
              <a:t>https://prsindia.org/budgets/states/goa-budget-analysis-2026-27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G17 · Budget utilisation and financial reporting</a:t>
            </a:r>
          </a:p>
          <a:p xmlns:a="http://schemas.openxmlformats.org/drawingml/2006/main">
            <a:r>
              <a:t>March 2024 position; historical backlog · Statewide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FACT / G17-C1: CAG reported pending utilisation certificates and unregularised excess expenditure from earlier years.</a:t>
            </a:r>
          </a:p>
          <a:p xmlns:a="http://schemas.openxmlformats.org/drawingml/2006/main">
            <a:r>
              <a:t>EFFECT ON GOA: Unresolved accounts weaken assurance that spending achieved its stated purpose and that legislative control operated effectively.</a:t>
            </a:r>
          </a:p>
          <a:p xmlns:a="http://schemas.openxmlformats.org/drawingml/2006/main">
            <a:r>
              <a:t>INCUMBENT IMPLICATION: Raises a transparency and follow-through issue for the incumbent.</a:t>
            </a:r>
          </a:p>
          <a:p xmlns:a="http://schemas.openxmlformats.org/drawingml/2006/main">
            <a:r>
              <a:t>LOGIC / RATIONALE: Current administrations inherit backlogs but are accountable for resolving them and preventing additions. An unresolved certificate indicates missing assurance, not automatic theft.</a:t>
            </a:r>
          </a:p>
          <a:p xmlns:a="http://schemas.openxmlformats.org/drawingml/2006/main">
            <a:r>
              <a:t>ASSUMPTIONS: The backlog remained unresolved at the recorded audit date.</a:t>
            </a:r>
          </a:p>
          <a:p xmlns:a="http://schemas.openxmlformats.org/drawingml/2006/main">
            <a:r>
              <a:t>LIMITS: The excess-expenditure period begins in 2008–09. It cannot all be described as money misused since 2019 or assigned to the current CM.</a:t>
            </a:r>
          </a:p>
          <a:p xmlns:a="http://schemas.openxmlformats.org/drawingml/2006/main">
            <a:r>
              <a:t>RESPONSE / COUNTER-FINDING: CAG reports no excess expenditure in 2023–24 itself. Followup requires dated regularisation, reconciliations and accepted certificates.</a:t>
            </a:r>
          </a:p>
          <a:p xmlns:a="http://schemas.openxmlformats.org/drawingml/2006/main">
            <a:r>
              <a:t>VERIFICATION: Below four-source threshold (2 readable supporting records)</a:t>
            </a:r>
          </a:p>
          <a:p xmlns:a="http://schemas.openxmlformats.org/drawingml/2006/main">
            <a:r>
              <a:t>Underlying audit, survey, inquiry or official statement is shared across some publications; four citations do not establish four independent measurements.</a:t>
            </a:r>
          </a:p>
          <a:p xmlns:a="http://schemas.openxmlformats.org/drawingml/2006/main">
            <a:r>
              <a:t>Readable core sources: P02, S005</a:t>
            </a:r>
          </a:p>
          <a:p xmlns:a="http://schemas.openxmlformats.org/drawingml/2006/main">
            <a:r>
              <a:t>Follow-up: Obtain the current primary record and action-taken outcome; reconcile discrepancies before extending the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P02 · Goa State Finances Audit Report 3 of 2025</a:t>
            </a:r>
          </a:p>
          <a:p xmlns:a="http://schemas.openxmlformats.org/drawingml/2006/main">
            <a:r>
              <a:t>Comptroller and Auditor General of India · 8 August 2025</a:t>
            </a:r>
          </a:p>
          <a:p xmlns:a="http://schemas.openxmlformats.org/drawingml/2006/main">
            <a:r>
              <a:t>https://cag.gov.in/en/audit-report/details/122272</a:t>
            </a:r>
          </a:p>
          <a:p xmlns:a="http://schemas.openxmlformats.org/drawingml/2006/main">
            <a:r>
              <a:t>Executive summary vii–xiii; chapter I fiscal targets; year ended March 2024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S005 · Press Release Page | Press Information Bureau</a:t>
            </a:r>
          </a:p>
          <a:p xmlns:a="http://schemas.openxmlformats.org/drawingml/2006/main">
            <a:r>
              <a:t>Press Information Bureau · 08 AUG 2025</a:t>
            </a:r>
          </a:p>
          <a:p xmlns:a="http://schemas.openxmlformats.org/drawingml/2006/main">
            <a:r>
              <a:t>https://www.pib.gov.in/PressReleasePage.aspx?PRID=2154277&amp;lang=2&amp;reg=48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S189 · Goa Budget Analysis 2026-27</a:t>
            </a:r>
          </a:p>
          <a:p xmlns:a="http://schemas.openxmlformats.org/drawingml/2006/main">
            <a:r>
              <a:t>prsindia.org · 25 Actuals    </a:t>
            </a:r>
          </a:p>
          <a:p xmlns:a="http://schemas.openxmlformats.org/drawingml/2006/main">
            <a:r>
              <a:t>2025</a:t>
            </a:r>
          </a:p>
          <a:p xmlns:a="http://schemas.openxmlformats.org/drawingml/2006/main">
            <a:r>
              <a:t>https://prsindia.org/budgets/states/goa-budget-analysis-2026-27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G18 · National Social Assistance Programme delivery</a:t>
            </a:r>
          </a:p>
          <a:p xmlns:a="http://schemas.openxmlformats.org/drawingml/2006/main">
            <a:r>
              <a:t>Audit observations through 2021–22; tabled 2025 · Eligible vulnerable households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FACT / G18-C1: CAG’s official summary says further central NSAP assistance was not received during 2016–17 to 2021–22 because of utilisation and documentation failures.</a:t>
            </a:r>
          </a:p>
          <a:p xmlns:a="http://schemas.openxmlformats.org/drawingml/2006/main">
            <a:r>
              <a:t>EFFECT ON GOA: Eligible pension beneficiaries faced a programme-delivery shortfall; other state pensions must be assessed separately.</a:t>
            </a:r>
          </a:p>
          <a:p xmlns:a="http://schemas.openxmlformats.org/drawingml/2006/main">
            <a:r>
              <a:t>INCUMBENT IMPLICATION: Creates a strong welfare-administration accountability question.</a:t>
            </a:r>
          </a:p>
          <a:p xmlns:a="http://schemas.openxmlformats.org/drawingml/2006/main">
            <a:r>
              <a:t>LOGIC / RATIONALE: Failure to use funds and submit required records can interrupt assistance despite scheme eligibility. This is a documented implementation mechanism rather than a generic allegation.</a:t>
            </a:r>
          </a:p>
          <a:p xmlns:a="http://schemas.openxmlformats.org/drawingml/2006/main">
            <a:r>
              <a:t>ASSUMPTIONS: The audit correctly identifies administrative failures as the reason for withheld scheme funds.</a:t>
            </a:r>
          </a:p>
          <a:p xmlns:a="http://schemas.openxmlformats.org/drawingml/2006/main">
            <a:r>
              <a:t>LIMITS: The observation is specific to NSAP, not proof that all pensions stopped. Its origin predates 2019 and current beneficiaries require updated records.</a:t>
            </a:r>
          </a:p>
          <a:p xmlns:a="http://schemas.openxmlformats.org/drawingml/2006/main">
            <a:r>
              <a:t>RESPONSE / COUNTER-FINDING: The critical followup is scheme-wise disbursement and reconciliation of central assistance; no verified complete remedy is established in the sources used.</a:t>
            </a:r>
          </a:p>
          <a:p xmlns:a="http://schemas.openxmlformats.org/drawingml/2006/main">
            <a:r>
              <a:t>VERIFICATION: Below four-source threshold (1 readable supporting records)</a:t>
            </a:r>
          </a:p>
          <a:p xmlns:a="http://schemas.openxmlformats.org/drawingml/2006/main">
            <a:r>
              <a:t>Underlying audit, survey, inquiry or official statement is shared across some publications; four citations do not establish four independent measurements.</a:t>
            </a:r>
          </a:p>
          <a:p xmlns:a="http://schemas.openxmlformats.org/drawingml/2006/main">
            <a:r>
              <a:t>Readable core sources: S005</a:t>
            </a:r>
          </a:p>
          <a:p xmlns:a="http://schemas.openxmlformats.org/drawingml/2006/main">
            <a:r>
              <a:t>Follow-up: Obtain the current primary record and action-taken outcome; reconcile discrepancies before extending the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S005 · Press Release Page | Press Information Bureau</a:t>
            </a:r>
          </a:p>
          <a:p xmlns:a="http://schemas.openxmlformats.org/drawingml/2006/main">
            <a:r>
              <a:t>Press Information Bureau · 08 AUG 2025</a:t>
            </a:r>
          </a:p>
          <a:p xmlns:a="http://schemas.openxmlformats.org/drawingml/2006/main">
            <a:r>
              <a:t>https://www.pib.gov.in/PressReleasePage.aspx?PRID=2154277&amp;lang=2&amp;reg=48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S204 · Audit Report for the year ended 31 March 2022</a:t>
            </a:r>
          </a:p>
          <a:p xmlns:a="http://schemas.openxmlformats.org/drawingml/2006/main">
            <a:r>
              <a:t>goabudget.gov.in · See original for publication date</a:t>
            </a:r>
          </a:p>
          <a:p xmlns:a="http://schemas.openxmlformats.org/drawingml/2006/main">
            <a:r>
              <a:t>https://goabudget.gov.in/assets/documents/AuditReports/2025-26/Rep-1-of-2025-CAG.pdf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unavailable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S205 · Report No. 10 of 2023</a:t>
            </a:r>
          </a:p>
          <a:p xmlns:a="http://schemas.openxmlformats.org/drawingml/2006/main">
            <a:r>
              <a:t>Comptroller and Auditor General of India · See original for publication date</a:t>
            </a:r>
          </a:p>
          <a:p xmlns:a="http://schemas.openxmlformats.org/drawingml/2006/main">
            <a:r>
              <a:t>https://cag.gov.in/webroot/uploads/download_audit_report/2023/Report-No.-10-of-2023_NSAP_English_PDF-A-064d229f832dad7.55068084.pdf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Not fully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S209 · social-and-welfare-schemes national-social-assistance-programme-nsap Statistics and Growth Figures Year-wise of goa– Indiastat</a:t>
            </a:r>
          </a:p>
          <a:p xmlns:a="http://schemas.openxmlformats.org/drawingml/2006/main">
            <a:r>
              <a:t>indiastat.com · See original for publication date</a:t>
            </a:r>
          </a:p>
          <a:p xmlns:a="http://schemas.openxmlformats.org/drawingml/2006/main">
            <a:r>
              <a:t>https://www.indiastat.com/goa-state/data/social-and-welfare-schemes/national-social-assistance-programme-nsap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Not fully retrieved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G19 · Construction-worker welfare failures</a:t>
            </a:r>
          </a:p>
          <a:p xmlns:a="http://schemas.openxmlformats.org/drawingml/2006/main">
            <a:r>
              <a:t>2017–22 audit; tabled August 2025 · Both districts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FACT / G19-C1: CAG found weak establishment registration, delayed cess processes, inadequate inspections and missing annual accounts from 2018–19.</a:t>
            </a:r>
          </a:p>
          <a:p xmlns:a="http://schemas.openxmlformats.org/drawingml/2006/main">
            <a:r>
              <a:t>EFFECT ON GOA: Workers can miss welfare access while employers operate outside effective safety oversight.</a:t>
            </a:r>
          </a:p>
          <a:p xmlns:a="http://schemas.openxmlformats.org/drawingml/2006/main">
            <a:r>
              <a:t>INCUMBENT IMPLICATION: Challenges labour protection and administration of earmarked welfare funds.</a:t>
            </a:r>
          </a:p>
          <a:p xmlns:a="http://schemas.openxmlformats.org/drawingml/2006/main">
            <a:r>
              <a:t>LOGIC / RATIONALE: The scheme depends on identifying establishments, collecting cess and enrolling workers. Weaknesses at each step reduce the chance that resources reach eligible people.</a:t>
            </a:r>
          </a:p>
          <a:p xmlns:a="http://schemas.openxmlformats.org/drawingml/2006/main">
            <a:r>
              <a:t>ASSUMPTIONS: The sampled failures reflect material implementation problems; individual worker losses differ.</a:t>
            </a:r>
          </a:p>
          <a:p xmlns:a="http://schemas.openxmlformats.org/drawingml/2006/main">
            <a:r>
              <a:t>LIMITS: Several statutory implementation delays began long before 2019. The audit sample is not a census of every employer.</a:t>
            </a:r>
          </a:p>
          <a:p xmlns:a="http://schemas.openxmlformats.org/drawingml/2006/main">
            <a:r>
              <a:t>RESPONSE / COUNTER-FINDING: The government gave explanations and assurances in the audit. Verify subsequent accounts, registrations, inspections and benefits paid.</a:t>
            </a:r>
          </a:p>
          <a:p xmlns:a="http://schemas.openxmlformats.org/drawingml/2006/main">
            <a:r>
              <a:t>VERIFICATION: Below four-source threshold (2 readable supporting records)</a:t>
            </a:r>
          </a:p>
          <a:p xmlns:a="http://schemas.openxmlformats.org/drawingml/2006/main">
            <a:r>
              <a:t>Underlying audit, survey, inquiry or official statement is shared across some publications; four citations do not establish four independent measurements.</a:t>
            </a:r>
          </a:p>
          <a:p xmlns:a="http://schemas.openxmlformats.org/drawingml/2006/main">
            <a:r>
              <a:t>Readable core sources: P04, S005</a:t>
            </a:r>
          </a:p>
          <a:p xmlns:a="http://schemas.openxmlformats.org/drawingml/2006/main">
            <a:r>
              <a:t>Follow-up: Obtain the current primary record and action-taken outcome; reconcile discrepancies before extending the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P04 · Welfare of Building and Other Construction Workers in Goa Report 2 of 2025</a:t>
            </a:r>
          </a:p>
          <a:p xmlns:a="http://schemas.openxmlformats.org/drawingml/2006/main">
            <a:r>
              <a:t>Comptroller and Auditor General of India · 8 August 2025</a:t>
            </a:r>
          </a:p>
          <a:p xmlns:a="http://schemas.openxmlformats.org/drawingml/2006/main">
            <a:r>
              <a:t>https://cag.gov.in/en/audit-report/details/122261</a:t>
            </a:r>
          </a:p>
          <a:p xmlns:a="http://schemas.openxmlformats.org/drawingml/2006/main">
            <a:r>
              <a:t>Executive summary v–ix; registration chapter III; accounts chapter V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S005 · Press Release Page | Press Information Bureau</a:t>
            </a:r>
          </a:p>
          <a:p xmlns:a="http://schemas.openxmlformats.org/drawingml/2006/main">
            <a:r>
              <a:t>Press Information Bureau · 08 AUG 2025</a:t>
            </a:r>
          </a:p>
          <a:p xmlns:a="http://schemas.openxmlformats.org/drawingml/2006/main">
            <a:r>
              <a:t>https://www.pib.gov.in/PressReleasePage.aspx?PRID=2154277&amp;lang=2&amp;reg=48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S691 · CAG flags huge gap between construction licences issued ...</a:t>
            </a:r>
          </a:p>
          <a:p xmlns:a="http://schemas.openxmlformats.org/drawingml/2006/main">
            <a:r>
              <a:t>The Goan Everyday · Publication date not independently established; accessed 14 October 2026</a:t>
            </a:r>
          </a:p>
          <a:p xmlns:a="http://schemas.openxmlformats.org/drawingml/2006/main">
            <a:r>
              <a:t>https://www.thegoan.net/goa-news/cag-flags-huge-gap-between-construction-licences-issued-and-works-executed/134611.html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S536 · Audit Reports | Accountant General, GOA</a:t>
            </a:r>
          </a:p>
          <a:p xmlns:a="http://schemas.openxmlformats.org/drawingml/2006/main">
            <a:r>
              <a:t>Comptroller and Auditor General of India · 08 Aug, 2025</a:t>
            </a:r>
          </a:p>
          <a:p xmlns:a="http://schemas.openxmlformats.org/drawingml/2006/main">
            <a:r>
              <a:t>https://cag.gov.in/ag/goa/en/audit-report/details/122261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S544 · Citizen Charter – Office of the Commissioner, Labour &amp; Employment, Government of Goa</a:t>
            </a:r>
          </a:p>
          <a:p xmlns:a="http://schemas.openxmlformats.org/drawingml/2006/main">
            <a:r>
              <a:t>Government of Goa · See original for publication date</a:t>
            </a:r>
          </a:p>
          <a:p xmlns:a="http://schemas.openxmlformats.org/drawingml/2006/main">
            <a:r>
              <a:t>https://labour.goa.gov.in/citizen-charter/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S556 · GBOCWWB Start Registration Drive  For Construction Workers | Government of Goa</a:t>
            </a:r>
          </a:p>
          <a:p xmlns:a="http://schemas.openxmlformats.org/drawingml/2006/main">
            <a:r>
              <a:t>Government of Goa · See original for publication date</a:t>
            </a:r>
          </a:p>
          <a:p xmlns:a="http://schemas.openxmlformats.org/drawingml/2006/main">
            <a:r>
              <a:t>https://www.goa.gov.in/policy_downloads/gbocwwb-start-registration-drive-for-construction-workers/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unavailable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G20 · Solid waste treatment gaps</a:t>
            </a:r>
          </a:p>
          <a:p xmlns:a="http://schemas.openxmlformats.org/drawingml/2006/main">
            <a:r>
              <a:t>2017–22 audit; tabled January 2026 · Urban local bodies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FACT / G20-C1: CAG reported that an average of 78% of collected waste across the urban bodies was treated during the audited period.</a:t>
            </a:r>
          </a:p>
          <a:p xmlns:a="http://schemas.openxmlformats.org/drawingml/2006/main">
            <a:r>
              <a:t>EFFECT ON GOA: Untreated waste contributes to dumpsites and raises environmental and public-health exposure.</a:t>
            </a:r>
          </a:p>
          <a:p xmlns:a="http://schemas.openxmlformats.org/drawingml/2006/main">
            <a:r>
              <a:t>INCUMBENT IMPLICATION: Creates a municipal-capacity and state-oversight challenge.</a:t>
            </a:r>
          </a:p>
          <a:p xmlns:a="http://schemas.openxmlformats.org/drawingml/2006/main">
            <a:r>
              <a:t>LOGIC / RATIONALE: Collection without processing shifts the problem to dumps. State policy, municipal staffing and waste infrastructure must work together to deliver disposal.</a:t>
            </a:r>
          </a:p>
          <a:p xmlns:a="http://schemas.openxmlformats.org/drawingml/2006/main">
            <a:r>
              <a:t>ASSUMPTIONS: The audit’s collection and treatment records are adequate; uncollected waste is not included in this denominator.</a:t>
            </a:r>
          </a:p>
          <a:p xmlns:a="http://schemas.openxmlformats.org/drawingml/2006/main">
            <a:r>
              <a:t>LIMITS: The figure is not 22% of all waste generated statewide, nor a measurement of 2026 treatment. Sampled planning findings and statewide reported treatment data have different scope.</a:t>
            </a:r>
          </a:p>
          <a:p xmlns:a="http://schemas.openxmlformats.org/drawingml/2006/main">
            <a:r>
              <a:t>RESPONSE / COUNTER-FINDING: Policy was revised in 2024; subsequent capacity and operating data are needed to test improvement.</a:t>
            </a:r>
          </a:p>
          <a:p xmlns:a="http://schemas.openxmlformats.org/drawingml/2006/main">
            <a:r>
              <a:t>VERIFICATION: Below four-source threshold (2 readable supporting records)</a:t>
            </a:r>
          </a:p>
          <a:p xmlns:a="http://schemas.openxmlformats.org/drawingml/2006/main">
            <a:r>
              <a:t>Underlying audit, survey, inquiry or official statement is shared across some publications; four citations do not establish four independent measurements.</a:t>
            </a:r>
          </a:p>
          <a:p xmlns:a="http://schemas.openxmlformats.org/drawingml/2006/main">
            <a:r>
              <a:t>Readable core sources: P03, S006</a:t>
            </a:r>
          </a:p>
          <a:p xmlns:a="http://schemas.openxmlformats.org/drawingml/2006/main">
            <a:r>
              <a:t>Follow-up: Obtain the current primary record and action-taken outcome; reconcile discrepancies before extending the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P03 · Goa Compliance Audit Report 4 of 2025</a:t>
            </a:r>
          </a:p>
          <a:p xmlns:a="http://schemas.openxmlformats.org/drawingml/2006/main">
            <a:r>
              <a:t>Comptroller and Auditor General of India · 16 January 2026</a:t>
            </a:r>
          </a:p>
          <a:p xmlns:a="http://schemas.openxmlformats.org/drawingml/2006/main">
            <a:r>
              <a:t>https://cag.gov.in/en/audit-report/details/123865</a:t>
            </a:r>
          </a:p>
          <a:p xmlns:a="http://schemas.openxmlformats.org/drawingml/2006/main">
            <a:r>
              <a:t>Overview vii–xiii; SWM 1.5; EDC chapter III; period ended March 2023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S006 · Press Release Page | Press Information Bureau</a:t>
            </a:r>
          </a:p>
          <a:p xmlns:a="http://schemas.openxmlformats.org/drawingml/2006/main">
            <a:r>
              <a:t>Press Information Bureau · 16 JAN 2026</a:t>
            </a:r>
          </a:p>
          <a:p xmlns:a="http://schemas.openxmlformats.org/drawingml/2006/main">
            <a:r>
              <a:t>https://www.pib.gov.in/PressReleasePage.aspx?PRID=2215331&amp;lang=2&amp;reg=48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G21 · EDC loan management weaknesses</a:t>
            </a:r>
          </a:p>
          <a:p xmlns:a="http://schemas.openxmlformats.org/drawingml/2006/main">
            <a:r>
              <a:t>2018–19 to 2022–23 audit; published 2026 · State development finance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FACT / G21-C1: CAG identified appraisal, security, interest-rate and recovery weaknesses in EDC loan management.</a:t>
            </a:r>
          </a:p>
          <a:p xmlns:a="http://schemas.openxmlformats.org/drawingml/2006/main">
            <a:r>
              <a:t>EFFECT ON GOA: Weak lending controls can reduce recoveries and the effective use of development finance.</a:t>
            </a:r>
          </a:p>
          <a:p xmlns:a="http://schemas.openxmlformats.org/drawingml/2006/main">
            <a:r>
              <a:t>INCUMBENT IMPLICATION: Raises stewardship questions concerning support for businesses and MSMEs.</a:t>
            </a:r>
          </a:p>
          <a:p xmlns:a="http://schemas.openxmlformats.org/drawingml/2006/main">
            <a:r>
              <a:t>LOGIC / RATIONALE: Public financial institutions must allocate capital transparently and recover loans consistently. Unjustified concessions or weak recovery can impair available resources.</a:t>
            </a:r>
          </a:p>
          <a:p xmlns:a="http://schemas.openxmlformats.org/drawingml/2006/main">
            <a:r>
              <a:t>ASSUMPTIONS: Audit observations remain material after considering management replies and recoveries.</a:t>
            </a:r>
          </a:p>
          <a:p xmlns:a="http://schemas.openxmlformats.org/drawingml/2006/main">
            <a:r>
              <a:t>LIMITS: A loan default does not itself prove corruption. Retained profits are not necessarily idle loss; alternative uses require proper appraisal.</a:t>
            </a:r>
          </a:p>
          <a:p xmlns:a="http://schemas.openxmlformats.org/drawingml/2006/main">
            <a:r>
              <a:t>RESPONSE / COUNTER-FINDING: Use management replies and subsequent recovery statements to distinguish closed observations from continuing problems.</a:t>
            </a:r>
          </a:p>
          <a:p xmlns:a="http://schemas.openxmlformats.org/drawingml/2006/main">
            <a:r>
              <a:t>VERIFICATION: Below four-source threshold (2 readable supporting records)</a:t>
            </a:r>
          </a:p>
          <a:p xmlns:a="http://schemas.openxmlformats.org/drawingml/2006/main">
            <a:r>
              <a:t>Underlying audit, survey, inquiry or official statement is shared across some publications; four citations do not establish four independent measurements.</a:t>
            </a:r>
          </a:p>
          <a:p xmlns:a="http://schemas.openxmlformats.org/drawingml/2006/main">
            <a:r>
              <a:t>Readable core sources: P03, S006</a:t>
            </a:r>
          </a:p>
          <a:p xmlns:a="http://schemas.openxmlformats.org/drawingml/2006/main">
            <a:r>
              <a:t>Follow-up: Obtain the current primary record and action-taken outcome; reconcile discrepancies before extending the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P03 · Goa Compliance Audit Report 4 of 2025</a:t>
            </a:r>
          </a:p>
          <a:p xmlns:a="http://schemas.openxmlformats.org/drawingml/2006/main">
            <a:r>
              <a:t>Comptroller and Auditor General of India · 16 January 2026</a:t>
            </a:r>
          </a:p>
          <a:p xmlns:a="http://schemas.openxmlformats.org/drawingml/2006/main">
            <a:r>
              <a:t>https://cag.gov.in/en/audit-report/details/123865</a:t>
            </a:r>
          </a:p>
          <a:p xmlns:a="http://schemas.openxmlformats.org/drawingml/2006/main">
            <a:r>
              <a:t>Overview vii–xiii; SWM 1.5; EDC chapter III; period ended March 2023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S006 · Press Release Page | Press Information Bureau</a:t>
            </a:r>
          </a:p>
          <a:p xmlns:a="http://schemas.openxmlformats.org/drawingml/2006/main">
            <a:r>
              <a:t>Press Information Bureau · 16 JAN 2026</a:t>
            </a:r>
          </a:p>
          <a:p xmlns:a="http://schemas.openxmlformats.org/drawingml/2006/main">
            <a:r>
              <a:t>https://www.pib.gov.in/PressReleasePage.aspx?PRID=2215331&amp;lang=2&amp;reg=48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G22 · River Sal desilting procurement</a:t>
            </a:r>
          </a:p>
          <a:p xmlns:a="http://schemas.openxmlformats.org/drawingml/2006/main">
            <a:r>
              <a:t>Transactions audited through March 2023; report 2026 · River Sal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FACT / G22-C1: CAG reported an undue benefit of Rs 3.14 crore in nomination-based desilting contracts.</a:t>
            </a:r>
          </a:p>
          <a:p xmlns:a="http://schemas.openxmlformats.org/drawingml/2006/main">
            <a:r>
              <a:t>EFFECT ON GOA: The finding identifies a specific value-for-money concern in public works.</a:t>
            </a:r>
          </a:p>
          <a:p xmlns:a="http://schemas.openxmlformats.org/drawingml/2006/main">
            <a:r>
              <a:t>INCUMBENT IMPLICATION: Creates a procurement-accountability issue for responsible departments.</a:t>
            </a:r>
          </a:p>
          <a:p xmlns:a="http://schemas.openxmlformats.org/drawingml/2006/main">
            <a:r>
              <a:t>LOGIC / RATIONALE: A quantified audit finding tied to contract procedure is stronger evidence than an untested general corruption charge.</a:t>
            </a:r>
          </a:p>
          <a:p xmlns:a="http://schemas.openxmlformats.org/drawingml/2006/main">
            <a:r>
              <a:t>ASSUMPTIONS: The audit’s cost and procedural comparisons are accepted after departmental response.</a:t>
            </a:r>
          </a:p>
          <a:p xmlns:a="http://schemas.openxmlformats.org/drawingml/2006/main">
            <a:r>
              <a:t>LIMITS: The amount is an audit-assessed undue benefit, not a proven bribe or a criminal conviction. Four independent corroborating records were not retrieved.</a:t>
            </a:r>
          </a:p>
          <a:p xmlns:a="http://schemas.openxmlformats.org/drawingml/2006/main">
            <a:r>
              <a:t>RESPONSE / COUNTER-FINDING: Obtain action-taken reports, recovery orders and any disciplinary or criminal outcome before asserting final culpability.</a:t>
            </a:r>
          </a:p>
          <a:p xmlns:a="http://schemas.openxmlformats.org/drawingml/2006/main">
            <a:r>
              <a:t>VERIFICATION: Below four-source threshold (2 readable supporting records)</a:t>
            </a:r>
          </a:p>
          <a:p xmlns:a="http://schemas.openxmlformats.org/drawingml/2006/main">
            <a:r>
              <a:t>Underlying audit, survey, inquiry or official statement is shared across some publications; four citations do not establish four independent measurements.</a:t>
            </a:r>
          </a:p>
          <a:p xmlns:a="http://schemas.openxmlformats.org/drawingml/2006/main">
            <a:r>
              <a:t>Readable core sources: P03, S006</a:t>
            </a:r>
          </a:p>
          <a:p xmlns:a="http://schemas.openxmlformats.org/drawingml/2006/main">
            <a:r>
              <a:t>Follow-up: Obtain the current primary record and action-taken outcome; reconcile discrepancies before extending the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P03 · Goa Compliance Audit Report 4 of 2025</a:t>
            </a:r>
          </a:p>
          <a:p xmlns:a="http://schemas.openxmlformats.org/drawingml/2006/main">
            <a:r>
              <a:t>Comptroller and Auditor General of India · 16 January 2026</a:t>
            </a:r>
          </a:p>
          <a:p xmlns:a="http://schemas.openxmlformats.org/drawingml/2006/main">
            <a:r>
              <a:t>https://cag.gov.in/en/audit-report/details/123865</a:t>
            </a:r>
          </a:p>
          <a:p xmlns:a="http://schemas.openxmlformats.org/drawingml/2006/main">
            <a:r>
              <a:t>Overview vii–xiii; SWM 1.5; EDC chapter III; period ended March 2023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S006 · Press Release Page | Press Information Bureau</a:t>
            </a:r>
          </a:p>
          <a:p xmlns:a="http://schemas.openxmlformats.org/drawingml/2006/main">
            <a:r>
              <a:t>Press Information Bureau · 16 JAN 2026</a:t>
            </a:r>
          </a:p>
          <a:p xmlns:a="http://schemas.openxmlformats.org/drawingml/2006/main">
            <a:r>
              <a:t>https://www.pib.gov.in/PressReleasePage.aspx?PRID=2215331&amp;lang=2&amp;reg=48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G23 · Idle expenditure on land acquisition</a:t>
            </a:r>
          </a:p>
          <a:p xmlns:a="http://schemas.openxmlformats.org/drawingml/2006/main">
            <a:r>
              <a:t>Audit through March 2023; tabled 2026 · State development projects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FACT / G23-C1: CAG’s compliance report identified Rs 70.45 crore of idle expenditure on financially unviable land acquisition.</a:t>
            </a:r>
          </a:p>
          <a:p xmlns:a="http://schemas.openxmlformats.org/drawingml/2006/main">
            <a:r>
              <a:t>EFFECT ON GOA: Resources committed to unused land have an opportunity cost for alternative public investment.</a:t>
            </a:r>
          </a:p>
          <a:p xmlns:a="http://schemas.openxmlformats.org/drawingml/2006/main">
            <a:r>
              <a:t>INCUMBENT IMPLICATION: Raises appraisal and project-planning questions for the incumbent.</a:t>
            </a:r>
          </a:p>
          <a:p xmlns:a="http://schemas.openxmlformats.org/drawingml/2006/main">
            <a:r>
              <a:t>LOGIC / RATIONALE: Acquisition should be supported by feasible delivery plans. Documented non-utilisation tests the quality of investment decisions.</a:t>
            </a:r>
          </a:p>
          <a:p xmlns:a="http://schemas.openxmlformats.org/drawingml/2006/main">
            <a:r>
              <a:t>ASSUMPTIONS: The land remained unused at the audit’s assessment date and an alternative use did not subsequently recover value.</a:t>
            </a:r>
          </a:p>
          <a:p xmlns:a="http://schemas.openxmlformats.org/drawingml/2006/main">
            <a:r>
              <a:t>LIMITS: Idle expenditure is not identical to permanent loss: land can retain value. No claim of a Rs 70.45 crore theft is justified.</a:t>
            </a:r>
          </a:p>
          <a:p xmlns:a="http://schemas.openxmlformats.org/drawingml/2006/main">
            <a:r>
              <a:t>RESPONSE / COUNTER-FINDING: A current asset-use and valuation record is needed to assess whether the observation has been remedied.</a:t>
            </a:r>
          </a:p>
          <a:p xmlns:a="http://schemas.openxmlformats.org/drawingml/2006/main">
            <a:r>
              <a:t>VERIFICATION: Below four-source threshold (2 readable supporting records)</a:t>
            </a:r>
          </a:p>
          <a:p xmlns:a="http://schemas.openxmlformats.org/drawingml/2006/main">
            <a:r>
              <a:t>Underlying audit, survey, inquiry or official statement is shared across some publications; four citations do not establish four independent measurements.</a:t>
            </a:r>
          </a:p>
          <a:p xmlns:a="http://schemas.openxmlformats.org/drawingml/2006/main">
            <a:r>
              <a:t>Readable core sources: P03, S006</a:t>
            </a:r>
          </a:p>
          <a:p xmlns:a="http://schemas.openxmlformats.org/drawingml/2006/main">
            <a:r>
              <a:t>Follow-up: Obtain the current primary record and action-taken outcome; reconcile discrepancies before extending the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P03 · Goa Compliance Audit Report 4 of 2025</a:t>
            </a:r>
          </a:p>
          <a:p xmlns:a="http://schemas.openxmlformats.org/drawingml/2006/main">
            <a:r>
              <a:t>Comptroller and Auditor General of India · 16 January 2026</a:t>
            </a:r>
          </a:p>
          <a:p xmlns:a="http://schemas.openxmlformats.org/drawingml/2006/main">
            <a:r>
              <a:t>https://cag.gov.in/en/audit-report/details/123865</a:t>
            </a:r>
          </a:p>
          <a:p xmlns:a="http://schemas.openxmlformats.org/drawingml/2006/main">
            <a:r>
              <a:t>Overview vii–xiii; SWM 1.5; EDC chapter III; period ended March 2023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S006 · Press Release Page | Press Information Bureau</a:t>
            </a:r>
          </a:p>
          <a:p xmlns:a="http://schemas.openxmlformats.org/drawingml/2006/main">
            <a:r>
              <a:t>Press Information Bureau · 16 JAN 2026</a:t>
            </a:r>
          </a:p>
          <a:p xmlns:a="http://schemas.openxmlformats.org/drawingml/2006/main">
            <a:r>
              <a:t>https://www.pib.gov.in/PressReleasePage.aspx?PRID=2215331&amp;lang=2&amp;reg=48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G24 · Section 17(2) planning rules curtailed</a:t>
            </a:r>
          </a:p>
          <a:p xmlns:a="http://schemas.openxmlformats.org/drawingml/2006/main">
            <a:r>
              <a:t>March–July 2025; later status needs checking · Statewide zoning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FACT / G24-C1: The High Court read down Section 17(2) and struck down the associated 2023 rules; reporting records no interim Supreme Court stay in July 2025.</a:t>
            </a:r>
          </a:p>
          <a:p xmlns:a="http://schemas.openxmlformats.org/drawingml/2006/main">
            <a:r>
              <a:t>EFFECT ON GOA: The ruling constrained the challenged zoning mechanism and generated uncertainty over individual approvals.</a:t>
            </a:r>
          </a:p>
          <a:p xmlns:a="http://schemas.openxmlformats.org/drawingml/2006/main">
            <a:r>
              <a:t>INCUMBENT IMPLICATION: Creates a direct legal-design and planning accountability challenge.</a:t>
            </a:r>
          </a:p>
          <a:p xmlns:a="http://schemas.openxmlformats.org/drawingml/2006/main">
            <a:r>
              <a:t>LOGIC / RATIONALE: Judicial rejection of rules on statutory and constitutional grounds undermines the administration’s defence of that mechanism.</a:t>
            </a:r>
          </a:p>
          <a:p xmlns:a="http://schemas.openxmlformats.org/drawingml/2006/main">
            <a:r>
              <a:t>ASSUMPTIONS: The operative orders are distinguished from political descriptions of a land scam.</a:t>
            </a:r>
          </a:p>
          <a:p xmlns:a="http://schemas.openxmlformats.org/drawingml/2006/main">
            <a:r>
              <a:t>LIMITS: The provision was read down, not simply erased. Individual approvals require their own legal assessment; current appeal status must be checked before acting.</a:t>
            </a:r>
          </a:p>
          <a:p xmlns:a="http://schemas.openxmlformats.org/drawingml/2006/main">
            <a:r>
              <a:t>RESPONSE / COUNTER-FINDING: The minister defended the parent provision and the government challenged the judgment. A refused interim stay is not a final merits decision by the Supreme Court.</a:t>
            </a:r>
          </a:p>
          <a:p xmlns:a="http://schemas.openxmlformats.org/drawingml/2006/main">
            <a:r>
              <a:t>VERIFICATION: Four-publication check; shared origins disclosed</a:t>
            </a:r>
          </a:p>
          <a:p xmlns:a="http://schemas.openxmlformats.org/drawingml/2006/main">
            <a:r>
              <a:t>Underlying audit, survey, inquiry or official statement is shared across some publications; four citations do not establish four independent measurements.</a:t>
            </a:r>
          </a:p>
          <a:p xmlns:a="http://schemas.openxmlformats.org/drawingml/2006/main">
            <a:r>
              <a:t>Readable core sources: S114, S119, S109, S110, S106</a:t>
            </a:r>
          </a:p>
          <a:p xmlns:a="http://schemas.openxmlformats.org/drawingml/2006/main">
            <a:r>
              <a:t>Follow-up: Obtain the current primary record and action-taken outcome; reconcile discrepancies before extending the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S114 · Court reads down Sec 17(2), sets aside rules of operation | The Goan</a:t>
            </a:r>
          </a:p>
          <a:p xmlns:a="http://schemas.openxmlformats.org/drawingml/2006/main">
            <a:r>
              <a:t>The Goan Everyday · Publication date not independently established; accessed 14 October 2026</a:t>
            </a:r>
          </a:p>
          <a:p xmlns:a="http://schemas.openxmlformats.org/drawingml/2006/main">
            <a:r>
              <a:t>https://www.thegoan.net/goa-news/court-reads-down-sec-17%282%29-sets-aside-rules-of-operation/127410.html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S119 · ‘Not in furtherance…of public interest’: High Court reads down change in Goa’s land use law | India News - The Indian Express</a:t>
            </a:r>
          </a:p>
          <a:p xmlns:a="http://schemas.openxmlformats.org/drawingml/2006/main">
            <a:r>
              <a:t>The Indian Express · Mar 14, 2025</a:t>
            </a:r>
          </a:p>
          <a:p xmlns:a="http://schemas.openxmlformats.org/drawingml/2006/main">
            <a:r>
              <a:t>https://indianexpress.com/article/india/not-in-furtheranceof-public-interest-high-court-reads-down-change-in-goas-land-use-law-9885669/lite/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S109 · HC order nullifying Sec 17 (2) rules, norms comes into force | Goa News - The Times of India</a:t>
            </a:r>
          </a:p>
          <a:p xmlns:a="http://schemas.openxmlformats.org/drawingml/2006/main">
            <a:r>
              <a:t>The Times of India · May 2, 2025</a:t>
            </a:r>
          </a:p>
          <a:p xmlns:a="http://schemas.openxmlformats.org/drawingml/2006/main">
            <a:r>
              <a:t>https://timesofindia.indiatimes.com/city/goa/hc-order-nullifying-sec-17-2-rules-norms-comes-into-force/articleshow/120802685.cms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S110 · SC declines to stay High Court order on TCP Act, ODPs | The Goan</a:t>
            </a:r>
          </a:p>
          <a:p xmlns:a="http://schemas.openxmlformats.org/drawingml/2006/main">
            <a:r>
              <a:t>The Goan Everyday · Publication date not independently established; accessed 14 October 2026</a:t>
            </a:r>
          </a:p>
          <a:p xmlns:a="http://schemas.openxmlformats.org/drawingml/2006/main">
            <a:r>
              <a:t>https://www.thegoan.net/goa-news/sc-declines-to-stay-high-court-order-on-tcp-act-odps/133551.html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S106 · SC refuses to stay HC judgments in 17(2) and ODP matters; Issues notice; Orders status quo | Goa Foundation : Goa Foundation</a:t>
            </a:r>
          </a:p>
          <a:p xmlns:a="http://schemas.openxmlformats.org/drawingml/2006/main">
            <a:r>
              <a:t>Goa Foundation advocacy organisation · See original for publication date</a:t>
            </a:r>
          </a:p>
          <a:p xmlns:a="http://schemas.openxmlformats.org/drawingml/2006/main">
            <a:r>
              <a:t>https://goafoundation.org/sc-refuses-to-stay-hc-judgments-in-172-and-odp-matters-issues-notice-orders-status-quo/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S116 · HC upheld Sec 17(2), will move Supreme Court, says Vishwajit | The Goan</a:t>
            </a:r>
          </a:p>
          <a:p xmlns:a="http://schemas.openxmlformats.org/drawingml/2006/main">
            <a:r>
              <a:t>The Goan Everyday · Publication date not independently established; accessed 14 October 2026</a:t>
            </a:r>
          </a:p>
          <a:p xmlns:a="http://schemas.openxmlformats.org/drawingml/2006/main">
            <a:r>
              <a:t>https://www.thegoan.net/goa-news/hc-upheld-sec-17%282%29-will-move-supreme-court-says-vishwajit/127406.html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G25 · Section 39A conversions and protests</a:t>
            </a:r>
          </a:p>
          <a:p xmlns:a="http://schemas.openxmlformats.org/drawingml/2006/main">
            <a:r>
              <a:t>February 2024 onward; major protests February 2026 · Several talukas; St Andre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FACT / G25-C1: Section 39A introduced a process for changing land zones; protests in 2026 demanded repeal and led to suspension of specified St Andre changes.</a:t>
            </a:r>
          </a:p>
          <a:p xmlns:a="http://schemas.openxmlformats.org/drawingml/2006/main">
            <a:r>
              <a:t>EFFECT ON GOA: Parcel-level changes raise questions about ecological safeguards, consultation and infrastructure demand.</a:t>
            </a:r>
          </a:p>
          <a:p xmlns:a="http://schemas.openxmlformats.org/drawingml/2006/main">
            <a:r>
              <a:t>INCUMBENT IMPLICATION: Creates a land-governance legitimacy challenge for the incumbent.</a:t>
            </a:r>
          </a:p>
          <a:p xmlns:a="http://schemas.openxmlformats.org/drawingml/2006/main">
            <a:r>
              <a:t>LOGIC / RATIONALE: Discretionary conversions can be perceived as favouring private development when objections and cumulative effects are not explained convincingly.</a:t>
            </a:r>
          </a:p>
          <a:p xmlns:a="http://schemas.openxmlformats.org/drawingml/2006/main">
            <a:r>
              <a:t>ASSUMPTIONS: Residents understand and care about the approval process; specific environmental damage requires separate evidence.</a:t>
            </a:r>
          </a:p>
          <a:p xmlns:a="http://schemas.openxmlformats.org/drawingml/2006/main">
            <a:r>
              <a:t>LIMITS: Controversy does not prove every conversion illegal. A reported converted-area total is not a measured loss of forest or completed construction.</a:t>
            </a:r>
          </a:p>
          <a:p xmlns:a="http://schemas.openxmlformats.org/drawingml/2006/main">
            <a:r>
              <a:t>RESPONSE / COUNTER-FINDING: Officials defend transparency and resist repeal; the St Andre suspension is a partial response, not repeal of the statewide mechanism.</a:t>
            </a:r>
          </a:p>
          <a:p xmlns:a="http://schemas.openxmlformats.org/drawingml/2006/main">
            <a:r>
              <a:t>VERIFICATION: Four-publication check; shared origins disclosed</a:t>
            </a:r>
          </a:p>
          <a:p xmlns:a="http://schemas.openxmlformats.org/drawingml/2006/main">
            <a:r>
              <a:t>Underlying audit, survey, inquiry or official statement is shared across some publications; four citations do not establish four independent measurements.</a:t>
            </a:r>
          </a:p>
          <a:p xmlns:a="http://schemas.openxmlformats.org/drawingml/2006/main">
            <a:r>
              <a:t>Readable core sources: S127, S128, S134, S137</a:t>
            </a:r>
          </a:p>
          <a:p xmlns:a="http://schemas.openxmlformats.org/drawingml/2006/main">
            <a:r>
              <a:t>Follow-up: Obtain the current primary record and action-taken outcome; reconcile discrepancies before extending the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S129 · Reg. No. RNP/GOA/32/2024-2026</a:t>
            </a:r>
          </a:p>
          <a:p xmlns:a="http://schemas.openxmlformats.org/drawingml/2006/main">
            <a:r>
              <a:t>Goa Legislative Assembly · See original for publication date</a:t>
            </a:r>
          </a:p>
          <a:p xmlns:a="http://schemas.openxmlformats.org/drawingml/2006/main">
            <a:r>
              <a:t>https://static.goavidhansabha.gov.in/goalpub/docs/question_docs/file_5b936a51-8a1b-44c4-81f5-ccd5d2630677.pdf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blocked_or_incomplete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S127 · Why Goans are protesting against a ‘contentious’ land conversion law | Explained News - The Indian Express</a:t>
            </a:r>
          </a:p>
          <a:p xmlns:a="http://schemas.openxmlformats.org/drawingml/2006/main">
            <a:r>
              <a:t>The Indian Express · Mar 2, 2026</a:t>
            </a:r>
          </a:p>
          <a:p xmlns:a="http://schemas.openxmlformats.org/drawingml/2006/main">
            <a:r>
              <a:t>https://indianexpress.com/article/explained/goa-land-conversion-protests-tcp-act-10561018/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S128 · Protesters gherao minister Vishwajit Rane’s house in Goa, demand scrapping of contentious land-use change law 39A | India News - The Indian Express</a:t>
            </a:r>
          </a:p>
          <a:p xmlns:a="http://schemas.openxmlformats.org/drawingml/2006/main">
            <a:r>
              <a:t>The Indian Express · Feb 24, 2026</a:t>
            </a:r>
          </a:p>
          <a:p xmlns:a="http://schemas.openxmlformats.org/drawingml/2006/main">
            <a:r>
              <a:t>https://indianexpress.com/article/india/protesters-gherao-ministers-house-in-goa-demand-scrapping-of-contentious-land-use-change-law-10548308/lite/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S134 · Goa MLA Jit Arolkar to Introduce Bills to Halt Land Conversions Under Section 39A | Goa News - The Times of India</a:t>
            </a:r>
          </a:p>
          <a:p xmlns:a="http://schemas.openxmlformats.org/drawingml/2006/main">
            <a:r>
              <a:t>The Times of India · Mar 03, 2026</a:t>
            </a:r>
          </a:p>
          <a:p xmlns:a="http://schemas.openxmlformats.org/drawingml/2006/main">
            <a:r>
              <a:t>https://timesofindia.indiatimes.com/city/goa/jit-to-table-bills-to-curb-changes-under-sec-39a/articleshow/128985637.cms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S137 · State govt suspends zone changes in St Andre, MLA ends hunger strike | Goa News - The Times of India</a:t>
            </a:r>
          </a:p>
          <a:p xmlns:a="http://schemas.openxmlformats.org/drawingml/2006/main">
            <a:r>
              <a:t>The Times of India · Feb 27, 2026</a:t>
            </a:r>
          </a:p>
          <a:p xmlns:a="http://schemas.openxmlformats.org/drawingml/2006/main">
            <a:r>
              <a:t>https://timesofindia.indiatimes.com/city/goa/state-govt-suspends-zone-changes-in-st-andre-mla-ends-hunger-strike/articleshow/128825399.cms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S135 · Assembly Session | Section 39A sees 12.78L sqm land converted to settlement | The Goan</a:t>
            </a:r>
          </a:p>
          <a:p xmlns:a="http://schemas.openxmlformats.org/drawingml/2006/main">
            <a:r>
              <a:t>The Goan Everyday · Publication date not independently established; accessed 14 October 2026</a:t>
            </a:r>
          </a:p>
          <a:p xmlns:a="http://schemas.openxmlformats.org/drawingml/2006/main">
            <a:r>
              <a:t>https://www.thegoan.net/goa-news/assembly-session-%EF%BB%BFsection-39a-sees-1278l-sqm-land-converted-to-settlement/144821.html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S139 · Govt not inclined to scrap Sec 39A: TCP Minister | The Goan</a:t>
            </a:r>
          </a:p>
          <a:p xmlns:a="http://schemas.openxmlformats.org/drawingml/2006/main">
            <a:r>
              <a:t>The Goan Everyday · Publication date not independently established; accessed 14 October 2026</a:t>
            </a:r>
          </a:p>
          <a:p xmlns:a="http://schemas.openxmlformats.org/drawingml/2006/main">
            <a:r>
              <a:t>https://www.thegoan.net/goa-news/%EF%BB%BFgovt-not-inclined-to-scrap-sec-39a-tcp-minister/143621.html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G26 · Forged property transfers and land-grab cases</a:t>
            </a:r>
          </a:p>
          <a:p xmlns:a="http://schemas.openxmlformats.org/drawingml/2006/main">
            <a:r>
              <a:t>SIT formed June 2022; cases and followup through 2026 · Bardez and other locations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FACT / G26-C1: The state constituted a land-grab SIT after complaints about transfers using forged records; later reporting describes continuing investigations and special courts.</a:t>
            </a:r>
          </a:p>
          <a:p xmlns:a="http://schemas.openxmlformats.org/drawingml/2006/main">
            <a:r>
              <a:t>EFFECT ON GOA: Owners and buyers faced insecure title, litigation and delayed remedies.</a:t>
            </a:r>
          </a:p>
          <a:p xmlns:a="http://schemas.openxmlformats.org/drawingml/2006/main">
            <a:r>
              <a:t>INCUMBENT IMPLICATION: Challenges record integrity while allowing credit for investigations and specialist courts.</a:t>
            </a:r>
          </a:p>
          <a:p xmlns:a="http://schemas.openxmlformats.org/drawingml/2006/main">
            <a:r>
              <a:t>LOGIC / RATIONALE: Fraudulent transfers expose safeguards in registration, mutation and archives. Remedial enforcement is relevant but does not erase earlier vulnerabilities.</a:t>
            </a:r>
          </a:p>
          <a:p xmlns:a="http://schemas.openxmlformats.org/drawingml/2006/main">
            <a:r>
              <a:t>ASSUMPTIONS: Public processes were used or bypassed in the described transfers; not all complaints involve an organised racket.</a:t>
            </a:r>
          </a:p>
          <a:p xmlns:a="http://schemas.openxmlformats.org/drawingml/2006/main">
            <a:r>
              <a:t>LIMITS: Complaints, FIRs, chargesheets and convictions are different counts. ED attachment is provisional and not restitution to an owner.</a:t>
            </a:r>
          </a:p>
          <a:p xmlns:a="http://schemas.openxmlformats.org/drawingml/2006/main">
            <a:r>
              <a:t>RESPONSE / COUNTER-FINDING: SIT, a commission and designated courts are documented responses. Translation of old records and forensic delays were cited as obstacles.</a:t>
            </a:r>
          </a:p>
          <a:p xmlns:a="http://schemas.openxmlformats.org/drawingml/2006/main">
            <a:r>
              <a:t>VERIFICATION: Below four-source threshold (3 readable supporting records)</a:t>
            </a:r>
          </a:p>
          <a:p xmlns:a="http://schemas.openxmlformats.org/drawingml/2006/main">
            <a:r>
              <a:t>Underlying audit, survey, inquiry or official statement is shared across some publications; four citations do not establish four independent measurements.</a:t>
            </a:r>
          </a:p>
          <a:p xmlns:a="http://schemas.openxmlformats.org/drawingml/2006/main">
            <a:r>
              <a:t>Readable core sources: S325, S329, S316</a:t>
            </a:r>
          </a:p>
          <a:p xmlns:a="http://schemas.openxmlformats.org/drawingml/2006/main">
            <a:r>
              <a:t>Follow-up: Obtain the current primary record and action-taken outcome; reconcile discrepancies before extending the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S325 · Goa govt sets up SIT to probe land grab cases | Goa News - The Indian Express</a:t>
            </a:r>
          </a:p>
          <a:p xmlns:a="http://schemas.openxmlformats.org/drawingml/2006/main">
            <a:r>
              <a:t>The Indian Express · Jun 16, 2022</a:t>
            </a:r>
          </a:p>
          <a:p xmlns:a="http://schemas.openxmlformats.org/drawingml/2006/main">
            <a:r>
              <a:t>https://indianexpress.com/article/cities/goa/goa-govt-sets-up-sit-to-probe-land-grab-cases-7972994/lite/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S327 · Rs 1,500 crore &amp; counting: How ancestral lands were grabbed in Goa, one fake heir at a time</a:t>
            </a:r>
          </a:p>
          <a:p xmlns:a="http://schemas.openxmlformats.org/drawingml/2006/main">
            <a:r>
              <a:t>ThePrint / underlying byline · See original for publication date</a:t>
            </a:r>
          </a:p>
          <a:p xmlns:a="http://schemas.openxmlformats.org/drawingml/2006/main">
            <a:r>
              <a:t>https://theprint.in/the-fineprint/rs-1500-crore-counting-how-ancestral-lands-were-grabbed-in-goa-one-fake-heir-at-a-time/2809717/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unavailable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S329 · The Great Goa Land Grab: ‘How did the dead sign sale deeds?’ | Long Reads News - The Indian Express</a:t>
            </a:r>
          </a:p>
          <a:p xmlns:a="http://schemas.openxmlformats.org/drawingml/2006/main">
            <a:r>
              <a:t>The Indian Express · May 13, 2026</a:t>
            </a:r>
          </a:p>
          <a:p xmlns:a="http://schemas.openxmlformats.org/drawingml/2006/main">
            <a:r>
              <a:t>https://indianexpress.com/article/long-reads/goa-land-grab-case-how-did-the-dead-sign-sale-deeds-10686505/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S333 · PRESS RELEASE</a:t>
            </a:r>
          </a:p>
          <a:p xmlns:a="http://schemas.openxmlformats.org/drawingml/2006/main">
            <a:r>
              <a:t>Enforcement Directorate · See original for publication date</a:t>
            </a:r>
          </a:p>
          <a:p xmlns:a="http://schemas.openxmlformats.org/drawingml/2006/main">
            <a:r>
              <a:t>https://enforcementdirectorate.gov.in/sites/default/files/latestnews/Press%20Release-%20land%20grabbing.pdf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unavailable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S316 · Probe in 31% land grab cases completed | Goa News - The Times of India</a:t>
            </a:r>
          </a:p>
          <a:p xmlns:a="http://schemas.openxmlformats.org/drawingml/2006/main">
            <a:r>
              <a:t>The Times of India · Sep 05, 2025</a:t>
            </a:r>
          </a:p>
          <a:p xmlns:a="http://schemas.openxmlformats.org/drawingml/2006/main">
            <a:r>
              <a:t>https://timesofindia.indiatimes.com/city/goa/probe-in-31-land-grab-cases-completed/articleshow/123705618.cms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S328 · State names special courts in Panaji, Margao to deal with land grab cases | Goa News - Times of India</a:t>
            </a:r>
          </a:p>
          <a:p xmlns:a="http://schemas.openxmlformats.org/drawingml/2006/main">
            <a:r>
              <a:t>The Times of India · Jul 02, 2025</a:t>
            </a:r>
          </a:p>
          <a:p xmlns:a="http://schemas.openxmlformats.org/drawingml/2006/main">
            <a:r>
              <a:t>https://timesofindia.indiatimes.com/city/goa/state-names-special-courts-in-panaji-margao-to-deal-with-land-grab-cases/articleshow/122190482.cms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S320 · SUBJECT: SIT LAND GRABBING</a:t>
            </a:r>
          </a:p>
          <a:p xmlns:a="http://schemas.openxmlformats.org/drawingml/2006/main">
            <a:r>
              <a:t>static.gladns.in · See original for publication date</a:t>
            </a:r>
          </a:p>
          <a:p xmlns:a="http://schemas.openxmlformats.org/drawingml/2006/main">
            <a:r>
              <a:t>https://static.gladns.in/goalpub/docs/question_docs/file_829afe57-c607-4e16-bc07-38ee18ae3874.pdf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unavailable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G27 · Assagao demolition and police conduct</a:t>
            </a:r>
          </a:p>
          <a:p xmlns:a="http://schemas.openxmlformats.org/drawingml/2006/main">
            <a:r>
              <a:t>June 2024; subsequent proceedings · Assagao, Bardez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FACT / G27-C1: Partial demolition of an occupied house prompted a government inquiry; a police report alleged pressure from the DGP.</a:t>
            </a:r>
          </a:p>
          <a:p xmlns:a="http://schemas.openxmlformats.org/drawingml/2006/main">
            <a:r>
              <a:t>EFFECT ON GOA: The family experienced property harm and a dispute over police protection; the incident affected trust in impartial enforcement.</a:t>
            </a:r>
          </a:p>
          <a:p xmlns:a="http://schemas.openxmlformats.org/drawingml/2006/main">
            <a:r>
              <a:t>INCUMBENT IMPLICATION: Creates a policing-accountability and property-protection challenge.</a:t>
            </a:r>
          </a:p>
          <a:p xmlns:a="http://schemas.openxmlformats.org/drawingml/2006/main">
            <a:r>
              <a:t>LOGIC / RATIONALE: If officers failed to protect occupants or faced improper instructions, a private dispute would reveal institutional vulnerability. The allegations must be tested.</a:t>
            </a:r>
          </a:p>
          <a:p xmlns:a="http://schemas.openxmlformats.org/drawingml/2006/main">
            <a:r>
              <a:t>ASSUMPTIONS: The reported account is accurate; title and possession issues do not by themselves justify unlawful force.</a:t>
            </a:r>
          </a:p>
          <a:p xmlns:a="http://schemas.openxmlformats.org/drawingml/2006/main">
            <a:r>
              <a:t>LIMITS: The alleged pressure is not a judicial finding of guilt. Transfer and suspension are administrative actions; reinstatement is not necessarily exoneration.</a:t>
            </a:r>
          </a:p>
          <a:p xmlns:a="http://schemas.openxmlformats.org/drawingml/2006/main">
            <a:r>
              <a:t>RESPONSE / COUNTER-FINDING: The CM ordered an inquiry; the DGP was transferred and an inspector’s suspension later revoked. Reporting on chargesheet omissions adds an unresolved followup.</a:t>
            </a:r>
          </a:p>
          <a:p xmlns:a="http://schemas.openxmlformats.org/drawingml/2006/main">
            <a:r>
              <a:t>VERIFICATION: Four-publication check; shared origins disclosed</a:t>
            </a:r>
          </a:p>
          <a:p xmlns:a="http://schemas.openxmlformats.org/drawingml/2006/main">
            <a:r>
              <a:t>Underlying audit, survey, inquiry or official statement is shared across some publications; four citations do not establish four independent measurements.</a:t>
            </a:r>
          </a:p>
          <a:p xmlns:a="http://schemas.openxmlformats.org/drawingml/2006/main">
            <a:r>
              <a:t>Readable core sources: S089, S093, S096, S097</a:t>
            </a:r>
          </a:p>
          <a:p xmlns:a="http://schemas.openxmlformats.org/drawingml/2006/main">
            <a:r>
              <a:t>Follow-up: Obtain the current primary record and action-taken outcome; reconcile discrepancies before extending the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S089 · DGP ‘pressured’ police to allow demolition of Goan home, claims report sent to Chief Secy | India News - The Indian Express</a:t>
            </a:r>
          </a:p>
          <a:p xmlns:a="http://schemas.openxmlformats.org/drawingml/2006/main">
            <a:r>
              <a:t>The Indian Express · Jun 29, 2024</a:t>
            </a:r>
          </a:p>
          <a:p xmlns:a="http://schemas.openxmlformats.org/drawingml/2006/main">
            <a:r>
              <a:t>https://indianexpress.com/article/india/police-goa-dgp-home-report-chief-secy-9420791/lite/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S093 · Goa DGP sided with intelligence officer's wife, bullied cops, got house razed | Goa News - Times of India</a:t>
            </a:r>
          </a:p>
          <a:p xmlns:a="http://schemas.openxmlformats.org/drawingml/2006/main">
            <a:r>
              <a:t>The Times of India · Jun 28, 2024</a:t>
            </a:r>
          </a:p>
          <a:p xmlns:a="http://schemas.openxmlformats.org/drawingml/2006/main">
            <a:r>
              <a:t>https://timesofindia.indiatimes.com/city/goa/goa-dgp-sided-with-intel-officers-wife-bullied-cops-got-house-razed/articleshow/111323314.cms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S096 · Assagao saga: DGP comes in line of fire | The Goan</a:t>
            </a:r>
          </a:p>
          <a:p xmlns:a="http://schemas.openxmlformats.org/drawingml/2006/main">
            <a:r>
              <a:t>The Goan Everyday · Publication date not independently established; accessed 14 October 2026</a:t>
            </a:r>
          </a:p>
          <a:p xmlns:a="http://schemas.openxmlformats.org/drawingml/2006/main">
            <a:r>
              <a:t>https://www.thegoan.net/goa-news/%C3%AF%C2%BB%C2%BFassagao-saga-dgp-comes-in-line-of-fire/115239.html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S097 · House partially razed in Goa village: CM Sawant orders high-level probe</a:t>
            </a:r>
          </a:p>
          <a:p xmlns:a="http://schemas.openxmlformats.org/drawingml/2006/main">
            <a:r>
              <a:t>deccanherald.com · 26 June 2024</a:t>
            </a:r>
          </a:p>
          <a:p xmlns:a="http://schemas.openxmlformats.org/drawingml/2006/main">
            <a:r>
              <a:t>https://www.deccanherald.com/india/goa/house-partially-razed-in-goa-village-cm-sawant-orders-high-level-probe-3081111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S095 · Illegal demolition case: Goa crime branch issues summons to Mumbai-based woman | India News - The Indian Express</a:t>
            </a:r>
          </a:p>
          <a:p xmlns:a="http://schemas.openxmlformats.org/drawingml/2006/main">
            <a:r>
              <a:t>The Indian Express · Jun 30, 2024</a:t>
            </a:r>
          </a:p>
          <a:p xmlns:a="http://schemas.openxmlformats.org/drawingml/2006/main">
            <a:r>
              <a:t>https://indianexpress.com/article/india/illegal-demolition-case-goa-crime-branch-issues-summons-to-mumbai-based-woman-9424146/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S091 · Assagao house demolition case: Cop reinstated | Goa News - Times of India</a:t>
            </a:r>
          </a:p>
          <a:p xmlns:a="http://schemas.openxmlformats.org/drawingml/2006/main">
            <a:r>
              <a:t>The Times of India · Oct 29, 2024</a:t>
            </a:r>
          </a:p>
          <a:p xmlns:a="http://schemas.openxmlformats.org/drawingml/2006/main">
            <a:r>
              <a:t>https://timesofindia.indiatimes.com/city/goa/assagao-house-demolition-case-cop-reinstated/articleshow/114703246.cms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S098 · Assagao razing: Cops leave out intel officer’s wife from chargesheet | Goa News - Times of India</a:t>
            </a:r>
          </a:p>
          <a:p xmlns:a="http://schemas.openxmlformats.org/drawingml/2006/main">
            <a:r>
              <a:t>The Times of India · May 30, 2025</a:t>
            </a:r>
          </a:p>
          <a:p xmlns:a="http://schemas.openxmlformats.org/drawingml/2006/main">
            <a:r>
              <a:t>https://timesofindia.indiatimes.com/city/goa/assagao-razing-cops-leave-out-intel-officers-wife-from-chargesheet/articleshow/121498198.cms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G28 · Mollem railway wildlife clearance</a:t>
            </a:r>
          </a:p>
          <a:p xmlns:a="http://schemas.openxmlformats.org/drawingml/2006/main">
            <a:r>
              <a:t>2020–May 2022; REC followup March 2026 · Castle Rock–Kulem protected landscape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FACT / G28-C1: The Supreme Court set aside the challenged wildlife clearance for railway doubling in May 2022.</a:t>
            </a:r>
          </a:p>
          <a:p xmlns:a="http://schemas.openxmlformats.org/drawingml/2006/main">
            <a:r>
              <a:t>EFFECT ON GOA: The ruling protected the affected landscape from that approval while requiring reconsideration of claimed transport benefits and ecological safeguards.</a:t>
            </a:r>
          </a:p>
          <a:p xmlns:a="http://schemas.openxmlformats.org/drawingml/2006/main">
            <a:r>
              <a:t>INCUMBENT IMPLICATION: Challenges the credibility of the government-backed justification and approval process.</a:t>
            </a:r>
          </a:p>
          <a:p xmlns:a="http://schemas.openxmlformats.org/drawingml/2006/main">
            <a:r>
              <a:t>LOGIC / RATIONALE: A court rejecting supporting evidence and clearance reasoning is a concrete governance setback; state backing and central approvals involve shared responsibility.</a:t>
            </a:r>
          </a:p>
          <a:p xmlns:a="http://schemas.openxmlformats.org/drawingml/2006/main">
            <a:r>
              <a:t>ASSUMPTIONS: The order’s segment and type of clearance are accurately identified.</a:t>
            </a:r>
          </a:p>
          <a:p xmlns:a="http://schemas.openxmlformats.org/drawingml/2006/main">
            <a:r>
              <a:t>LIMITS: The ruling did not cancel every railway work in Goa or all three Mollem projects. Later clearance proposals require separate status checks.</a:t>
            </a:r>
          </a:p>
          <a:p xmlns:a="http://schemas.openxmlformats.org/drawingml/2006/main">
            <a:r>
              <a:t>RESPONSE / COUNTER-FINDING: Project agencies defended capacity needs. A 2026 advocacy statement reports rejection of restoration requests; retrieve the REC record before treating that update as a final independent finding.</a:t>
            </a:r>
          </a:p>
          <a:p xmlns:a="http://schemas.openxmlformats.org/drawingml/2006/main">
            <a:r>
              <a:t>VERIFICATION: Four-publication check; shared origins disclosed</a:t>
            </a:r>
          </a:p>
          <a:p xmlns:a="http://schemas.openxmlformats.org/drawingml/2006/main">
            <a:r>
              <a:t>Underlying audit, survey, inquiry or official statement is shared across some publications; four citations do not establish four independent measurements.</a:t>
            </a:r>
          </a:p>
          <a:p xmlns:a="http://schemas.openxmlformats.org/drawingml/2006/main">
            <a:r>
              <a:t>Readable core sources: P10, S338, S344, S490</a:t>
            </a:r>
          </a:p>
          <a:p xmlns:a="http://schemas.openxmlformats.org/drawingml/2006/main">
            <a:r>
              <a:t>Follow-up: Obtain the current primary record and action-taken outcome; reconcile discrepancies before extending the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P10 · In re T N Godavarman railway clearance judgment</a:t>
            </a:r>
          </a:p>
          <a:p xmlns:a="http://schemas.openxmlformats.org/drawingml/2006/main">
            <a:r>
              <a:t>Supreme Court of India reproduced by Indian Kanoon · 9 May 2022</a:t>
            </a:r>
          </a:p>
          <a:p xmlns:a="http://schemas.openxmlformats.org/drawingml/2006/main">
            <a:r>
              <a:t>https://indiankanoon.org/doc/23487975/</a:t>
            </a:r>
          </a:p>
          <a:p xmlns:a="http://schemas.openxmlformats.org/drawingml/2006/main">
            <a:r>
              <a:t>Judgment discussing railway doubling wildlife clearance and supporting projections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S338 · SC sets aside NBWL clearance for railway doubling in Karnataka-Goa route | Goa News - The Indian Express</a:t>
            </a:r>
          </a:p>
          <a:p xmlns:a="http://schemas.openxmlformats.org/drawingml/2006/main">
            <a:r>
              <a:t>The Indian Express · May 9, 2022</a:t>
            </a:r>
          </a:p>
          <a:p xmlns:a="http://schemas.openxmlformats.org/drawingml/2006/main">
            <a:r>
              <a:t>https://indianexpress.com/article/cities/goa/sc-nbwl-clearance-karnataka-goa-route-railway-doubling-7907849/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S344 · Big victory for greens as SC sets aside approval for double-tracking in Mollem, ETLegalWorld</a:t>
            </a:r>
          </a:p>
          <a:p xmlns:a="http://schemas.openxmlformats.org/drawingml/2006/main">
            <a:r>
              <a:t>legal.economictimes.indiatimes.com · May 11, 2022</a:t>
            </a:r>
          </a:p>
          <a:p xmlns:a="http://schemas.openxmlformats.org/drawingml/2006/main">
            <a:r>
              <a:t>https://legal.economictimes.indiatimes.com/amp/news/industry/big-victory-for-greens-as-sc-sets-aside-approval-for-double-tracking-in-mollem/91484681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S324 · REC’s rejection of Goa Govt's proposal for restoring forest clearances for railway double tracking | Goa Foundation : Goa Foundation</a:t>
            </a:r>
          </a:p>
          <a:p xmlns:a="http://schemas.openxmlformats.org/drawingml/2006/main">
            <a:r>
              <a:t>Goa Foundation advocacy organisation · See original for publication date</a:t>
            </a:r>
          </a:p>
          <a:p xmlns:a="http://schemas.openxmlformats.org/drawingml/2006/main">
            <a:r>
              <a:t>https://goafoundation.org/recs-rejection-of-goa-govts-proposal-for-restoring-forest-clearances-for-railway-double-tracking/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S490 · Devil in the details: A coal corridor that cuts across Goa’s green heart | Goa News - Times of India</a:t>
            </a:r>
          </a:p>
          <a:p xmlns:a="http://schemas.openxmlformats.org/drawingml/2006/main">
            <a:r>
              <a:t>The Times of India · Nov 2, 2020</a:t>
            </a:r>
          </a:p>
          <a:p xmlns:a="http://schemas.openxmlformats.org/drawingml/2006/main">
            <a:r>
              <a:t>https://timesofindia.indiatimes.com/city/goa/devil-in-the-details-a-coal-corridor-that-cuts-across-goas-green-heart/articleshow/78989359.cms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G29 · Other Mollem linear projects</a:t>
            </a:r>
          </a:p>
          <a:p xmlns:a="http://schemas.openxmlformats.org/drawingml/2006/main">
            <a:r>
              <a:t>2020 onward · Bhagwan Mahavir and Mollem landscape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FACT / G29-C1: Highway expansion and a transmission line were separately contested alongside railway doubling.</a:t>
            </a:r>
          </a:p>
          <a:p xmlns:a="http://schemas.openxmlformats.org/drawingml/2006/main">
            <a:r>
              <a:t>EFFECT ON GOA: The proposals raised habitat, land-use and consultation concerns while seeking road and electricity benefits.</a:t>
            </a:r>
          </a:p>
          <a:p xmlns:a="http://schemas.openxmlformats.org/drawingml/2006/main">
            <a:r>
              <a:t>INCUMBENT IMPLICATION: Creates a scrutiny issue over cumulative planning and alternatives.</a:t>
            </a:r>
          </a:p>
          <a:p xmlns:a="http://schemas.openxmlformats.org/drawingml/2006/main">
            <a:r>
              <a:t>LOGIC / RATIONALE: Several projects affecting one landscape should be assessed cumulatively; examining them separately can miss combined exposure.</a:t>
            </a:r>
          </a:p>
          <a:p xmlns:a="http://schemas.openxmlformats.org/drawingml/2006/main">
            <a:r>
              <a:t>ASSUMPTIONS: The projects’ impacts overlap geographically and alternative routes were practicable enough to examine.</a:t>
            </a:r>
          </a:p>
          <a:p xmlns:a="http://schemas.openxmlformats.org/drawingml/2006/main">
            <a:r>
              <a:t>LIMITS: The railway judgment cannot establish illegality or actual damage for the highway or transmission line. Their current operative clearances were not fully verified here.</a:t>
            </a:r>
          </a:p>
          <a:p xmlns:a="http://schemas.openxmlformats.org/drawingml/2006/main">
            <a:r>
              <a:t>RESPONSE / COUNTER-FINDING: Keep this case below the verification threshold and obtain project-specific permissions, conditions and completion records.</a:t>
            </a:r>
          </a:p>
          <a:p xmlns:a="http://schemas.openxmlformats.org/drawingml/2006/main">
            <a:r>
              <a:t>VERIFICATION: Below four-source threshold (2 readable supporting records)</a:t>
            </a:r>
          </a:p>
          <a:p xmlns:a="http://schemas.openxmlformats.org/drawingml/2006/main">
            <a:r>
              <a:t>Underlying audit, survey, inquiry or official statement is shared across some publications; four citations do not establish four independent measurements.</a:t>
            </a:r>
          </a:p>
          <a:p xmlns:a="http://schemas.openxmlformats.org/drawingml/2006/main">
            <a:r>
              <a:t>Readable core sources: S338, S490</a:t>
            </a:r>
          </a:p>
          <a:p xmlns:a="http://schemas.openxmlformats.org/drawingml/2006/main">
            <a:r>
              <a:t>Follow-up: Obtain the current primary record and action-taken outcome; reconcile discrepancies before extending the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P10 · In re T N Godavarman railway clearance judgment</a:t>
            </a:r>
          </a:p>
          <a:p xmlns:a="http://schemas.openxmlformats.org/drawingml/2006/main">
            <a:r>
              <a:t>Supreme Court of India reproduced by Indian Kanoon · 9 May 2022</a:t>
            </a:r>
          </a:p>
          <a:p xmlns:a="http://schemas.openxmlformats.org/drawingml/2006/main">
            <a:r>
              <a:t>https://indiankanoon.org/doc/23487975/</a:t>
            </a:r>
          </a:p>
          <a:p xmlns:a="http://schemas.openxmlformats.org/drawingml/2006/main">
            <a:r>
              <a:t>Judgment discussing railway doubling wildlife clearance and supporting projections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S338 · SC sets aside NBWL clearance for railway doubling in Karnataka-Goa route | Goa News - The Indian Express</a:t>
            </a:r>
          </a:p>
          <a:p xmlns:a="http://schemas.openxmlformats.org/drawingml/2006/main">
            <a:r>
              <a:t>The Indian Express · May 9, 2022</a:t>
            </a:r>
          </a:p>
          <a:p xmlns:a="http://schemas.openxmlformats.org/drawingml/2006/main">
            <a:r>
              <a:t>https://indianexpress.com/article/cities/goa/sc-nbwl-clearance-karnataka-goa-route-railway-doubling-7907849/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S490 · Devil in the details: A coal corridor that cuts across Goa’s green heart | Goa News - Times of India</a:t>
            </a:r>
          </a:p>
          <a:p xmlns:a="http://schemas.openxmlformats.org/drawingml/2006/main">
            <a:r>
              <a:t>The Times of India · Nov 2, 2020</a:t>
            </a:r>
          </a:p>
          <a:p xmlns:a="http://schemas.openxmlformats.org/drawingml/2006/main">
            <a:r>
              <a:t>https://timesofindia.indiatimes.com/city/goa/devil-in-the-details-a-coal-corridor-that-cuts-across-goas-green-heart/articleshow/78989359.cms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S474 · || Annual Report 2023-2024, Goa State Pollution Control Board ||</a:t>
            </a:r>
          </a:p>
          <a:p xmlns:a="http://schemas.openxmlformats.org/drawingml/2006/main">
            <a:r>
              <a:t>Goa State Pollution Control Board · 61</a:t>
            </a:r>
          </a:p>
          <a:p xmlns:a="http://schemas.openxmlformats.org/drawingml/2006/main">
            <a:r>
              <a:t>           March 2024</a:t>
            </a:r>
          </a:p>
          <a:p xmlns:a="http://schemas.openxmlformats.org/drawingml/2006/main">
            <a:r>
              <a:t>https://goaspcb.gov.in/wp-content/uploads/2024/09/Annual-Report_2023-2024.pdf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G30 · Mhadei interstate water dispute</a:t>
            </a:r>
          </a:p>
          <a:p xmlns:a="http://schemas.openxmlformats.org/drawingml/2006/main">
            <a:r>
              <a:t>2022–October 2026 developments · Mhadei basin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FACT / G30-C1: CWC appraisal of Karnataka’s diversion proposals generated objections; Goa pursued litigation and requested inspection, while a 2026 report describes withheld wildlife clearance.</a:t>
            </a:r>
          </a:p>
          <a:p xmlns:a="http://schemas.openxmlformats.org/drawingml/2006/main">
            <a:r>
              <a:t>EFFECT ON GOA: The dispute concerns potential downstream water and ecological effects; measured loss attributable to an operational diversion is not established here.</a:t>
            </a:r>
          </a:p>
          <a:p xmlns:a="http://schemas.openxmlformats.org/drawingml/2006/main">
            <a:r>
              <a:t>INCUMBENT IMPLICATION: Tests the incumbent’s ability to defend water interests and communicate progress.</a:t>
            </a:r>
          </a:p>
          <a:p xmlns:a="http://schemas.openxmlformats.org/drawingml/2006/main">
            <a:r>
              <a:t>LOGIC / RATIONALE: Residents may judge legal preparation and monitoring as protection of a critical resource. Responsibilities also belong to Karnataka and Union authorities.</a:t>
            </a:r>
          </a:p>
          <a:p xmlns:a="http://schemas.openxmlformats.org/drawingml/2006/main">
            <a:r>
              <a:t>ASSUMPTIONS: The proposed or alleged diversions would materially affect downstream conditions; hydrological evidence is required.</a:t>
            </a:r>
          </a:p>
          <a:p xmlns:a="http://schemas.openxmlformats.org/drawingml/2006/main">
            <a:r>
              <a:t>LIMITS: DPR appraisal is not all statutory clearance. Goa’s allegations of diversion are not independent flow measurements, and the reported hold is not permanent settlement.</a:t>
            </a:r>
          </a:p>
          <a:p xmlns:a="http://schemas.openxmlformats.org/drawingml/2006/main">
            <a:r>
              <a:t>RESPONSE / COUNTER-FINDING: Goa filed challenges and sought PRAWAH inspection; the reported clearance hold limits claims that the government had simply conceded the dispute.</a:t>
            </a:r>
          </a:p>
          <a:p xmlns:a="http://schemas.openxmlformats.org/drawingml/2006/main">
            <a:r>
              <a:t>VERIFICATION: Four-publication check; shared origins disclosed</a:t>
            </a:r>
          </a:p>
          <a:p xmlns:a="http://schemas.openxmlformats.org/drawingml/2006/main">
            <a:r>
              <a:t>Underlying audit, survey, inquiry or official statement is shared across some publications; four citations do not establish four independent measurements.</a:t>
            </a:r>
          </a:p>
          <a:p xmlns:a="http://schemas.openxmlformats.org/drawingml/2006/main">
            <a:r>
              <a:t>Readable core sources: S317, S334, S330, S332, S335</a:t>
            </a:r>
          </a:p>
          <a:p xmlns:a="http://schemas.openxmlformats.org/drawingml/2006/main">
            <a:r>
              <a:t>Follow-up: Obtain the current primary record and action-taken outcome; reconcile discrepancies before extending the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S317 · Microsoft Word - UNSTARRED LAQ 002 Annexure-I</a:t>
            </a:r>
          </a:p>
          <a:p xmlns:a="http://schemas.openxmlformats.org/drawingml/2006/main">
            <a:r>
              <a:t>Goa Legislative Assembly · See original for publication date</a:t>
            </a:r>
          </a:p>
          <a:p xmlns:a="http://schemas.openxmlformats.org/drawingml/2006/main">
            <a:r>
              <a:t>https://static.goavidhansabha.gov.in/goalpub/docs/question_docs/file_6094d005-cce9-4dbb-a56b-d024ba0482f0.pdf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S334 · Supreme Court admits Goa’s plea challenging Mahadayi tribunal decision: CM Pramod Sawant | Goa News - The Indian Express</a:t>
            </a:r>
          </a:p>
          <a:p xmlns:a="http://schemas.openxmlformats.org/drawingml/2006/main">
            <a:r>
              <a:t>The Indian Express · Jul 11, 2023</a:t>
            </a:r>
          </a:p>
          <a:p xmlns:a="http://schemas.openxmlformats.org/drawingml/2006/main">
            <a:r>
              <a:t>https://indianexpress.com/article/cities/goa/supreme-court-goa-plea-challenging-mahadayi-tribunal-decision-cm-pramod-sawant-8825768/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S330 · Goa asks Centre to inspect K’taka’s projects on Mhadei | Goa News - The Times of India</a:t>
            </a:r>
          </a:p>
          <a:p xmlns:a="http://schemas.openxmlformats.org/drawingml/2006/main">
            <a:r>
              <a:t>The Times of India · Oct 03, 2026</a:t>
            </a:r>
          </a:p>
          <a:p xmlns:a="http://schemas.openxmlformats.org/drawingml/2006/main">
            <a:r>
              <a:t>https://timesofindia.indiatimes.com/city/goa/goa-asks-centre-to-inspect-ktakas-projects-on-mhadei/articleshow/134646174.cms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S332 · Centre puts Kalasa project on hold until SC verdict | The Goan</a:t>
            </a:r>
          </a:p>
          <a:p xmlns:a="http://schemas.openxmlformats.org/drawingml/2006/main">
            <a:r>
              <a:t>The Goan Everyday · Publication date not independently established; accessed 14 October 2026</a:t>
            </a:r>
          </a:p>
          <a:p xmlns:a="http://schemas.openxmlformats.org/drawingml/2006/main">
            <a:r>
              <a:t>https://www.thegoan.net/goa-news/centre-puts-kalasa-project-on-hold-until-sc-verdict/151603.html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S335 · Mhadei case will not end even if Karnataka withdraws plea: Goa | The Goan</a:t>
            </a:r>
          </a:p>
          <a:p xmlns:a="http://schemas.openxmlformats.org/drawingml/2006/main">
            <a:r>
              <a:t>The Goan Everyday · Publication date not independently established; accessed 14 October 2026</a:t>
            </a:r>
          </a:p>
          <a:p xmlns:a="http://schemas.openxmlformats.org/drawingml/2006/main">
            <a:r>
              <a:t>https://www.thegoan.net/goa-news/mhadei-case-will-not-end-even-if-karnataka-withdraws-plea-goa/152224.html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S337 · Document at goavidhansabha.gov.in</a:t>
            </a:r>
          </a:p>
          <a:p xmlns:a="http://schemas.openxmlformats.org/drawingml/2006/main">
            <a:r>
              <a:t>Goa Legislative Assembly · See original for publication date</a:t>
            </a:r>
          </a:p>
          <a:p xmlns:a="http://schemas.openxmlformats.org/drawingml/2006/main">
            <a:r>
              <a:t>https://www.goavidhansabha.gov.in/_questions.php?assembly_id=14&amp;display_id=28133&amp;is_ajax=1&amp;member_id=0&amp;portfolio_id=0&amp;session_id=197&amp;sitting_id=3811&amp;starred=Y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blocked_or_incomplete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S341 · Document at goavidhansabha.gov.in</a:t>
            </a:r>
          </a:p>
          <a:p xmlns:a="http://schemas.openxmlformats.org/drawingml/2006/main">
            <a:r>
              <a:t>Goa Legislative Assembly · See original for publication date</a:t>
            </a:r>
          </a:p>
          <a:p xmlns:a="http://schemas.openxmlformats.org/drawingml/2006/main">
            <a:r>
              <a:t>https://goavidhansabha.gov.in/_questions.php?assembly_id=14&amp;display_id=27818&amp;is_ajax=1&amp;member_id=0&amp;portfolio_id=0&amp;session_id=196&amp;sitting_id=3809&amp;starred=N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Not fully retrieved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G31 · Mopa environmental appraisal setback</a:t>
            </a:r>
          </a:p>
          <a:p xmlns:a="http://schemas.openxmlformats.org/drawingml/2006/main">
            <a:r>
              <a:t>March 2019–January 2020; airport later operational · Mopa, Pernem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FACT / G31-C1: The Supreme Court suspended Mopa’s environmental clearance in March 2019; the suspension was lifted after reconsideration in January 2020.</a:t>
            </a:r>
          </a:p>
          <a:p xmlns:a="http://schemas.openxmlformats.org/drawingml/2006/main">
            <a:r>
              <a:t>EFFECT ON GOA: The process imposed additional scrutiny and delayed project progress; later operation is relevant to the outcome.</a:t>
            </a:r>
          </a:p>
          <a:p xmlns:a="http://schemas.openxmlformats.org/drawingml/2006/main">
            <a:r>
              <a:t>INCUMBENT IMPLICATION: Challenges initial appraisal quality but also records corrective progress.</a:t>
            </a:r>
          </a:p>
          <a:p xmlns:a="http://schemas.openxmlformats.org/drawingml/2006/main">
            <a:r>
              <a:t>LOGIC / RATIONALE: Material omissions in an environmental process are a governance concern. Reappraisal and eventual clearance cannot be omitted from the assessment.</a:t>
            </a:r>
          </a:p>
          <a:p xmlns:a="http://schemas.openxmlformats.org/drawingml/2006/main">
            <a:r>
              <a:t>ASSUMPTIONS: A more complete original assessment could have avoided some delay.</a:t>
            </a:r>
          </a:p>
          <a:p xmlns:a="http://schemas.openxmlformats.org/drawingml/2006/main">
            <a:r>
              <a:t>LIMITS: This is not proof the airport permanently lacked clearance or that it produced a net economic loss. Earlier planning and Union appraisal spread responsibility.</a:t>
            </a:r>
          </a:p>
          <a:p xmlns:a="http://schemas.openxmlformats.org/drawingml/2006/main">
            <a:r>
              <a:t>RESPONSE / COUNTER-FINDING: Additional environmental information and conditions supported the subsequent lifting of suspension.</a:t>
            </a:r>
          </a:p>
          <a:p xmlns:a="http://schemas.openxmlformats.org/drawingml/2006/main">
            <a:r>
              <a:t>VERIFICATION: Below four-source threshold (2 readable supporting records)</a:t>
            </a:r>
          </a:p>
          <a:p xmlns:a="http://schemas.openxmlformats.org/drawingml/2006/main">
            <a:r>
              <a:t>Underlying audit, survey, inquiry or official statement is shared across some publications; four citations do not establish four independent measurements.</a:t>
            </a:r>
          </a:p>
          <a:p xmlns:a="http://schemas.openxmlformats.org/drawingml/2006/main">
            <a:r>
              <a:t>Readable core sources: P11, P12</a:t>
            </a:r>
          </a:p>
          <a:p xmlns:a="http://schemas.openxmlformats.org/drawingml/2006/main">
            <a:r>
              <a:t>Follow-up: Obtain the current primary record and action-taken outcome; reconcile discrepancies before extending the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P11 · Hanuman Laxman Aroskar versus Union of India</a:t>
            </a:r>
          </a:p>
          <a:p xmlns:a="http://schemas.openxmlformats.org/drawingml/2006/main">
            <a:r>
              <a:t>Supreme Court of India reproduced by Indian Kanoon · 29 March 2019</a:t>
            </a:r>
          </a:p>
          <a:p xmlns:a="http://schemas.openxmlformats.org/drawingml/2006/main">
            <a:r>
              <a:t>https://indiankanoon.org/doc/52367199/</a:t>
            </a:r>
          </a:p>
          <a:p xmlns:a="http://schemas.openxmlformats.org/drawingml/2006/main">
            <a:r>
              <a:t>Environmental appraisal and directions concerning Mopa airport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P12 · Hanuman Laxman Aroskar subsequent judgment</a:t>
            </a:r>
          </a:p>
          <a:p xmlns:a="http://schemas.openxmlformats.org/drawingml/2006/main">
            <a:r>
              <a:t>Supreme Court of India reproduced by CaseMine · 16 January 2020</a:t>
            </a:r>
          </a:p>
          <a:p xmlns:a="http://schemas.openxmlformats.org/drawingml/2006/main">
            <a:r>
              <a:t>https://www.casemine.com/judgement/in/5e20a8e73321bc76fbbfd5f1</a:t>
            </a:r>
          </a:p>
          <a:p xmlns:a="http://schemas.openxmlformats.org/drawingml/2006/main">
            <a:r>
              <a:t>Subsequent judgment lifting suspension after reconsideration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S039 · GOVT INTENDS TO UNDERTAKE SUSTAINABLE MINING : CM</a:t>
            </a:r>
          </a:p>
          <a:p xmlns:a="http://schemas.openxmlformats.org/drawingml/2006/main">
            <a:r>
              <a:t>Government of Goa · See original for publication date</a:t>
            </a:r>
          </a:p>
          <a:p xmlns:a="http://schemas.openxmlformats.org/drawingml/2006/main">
            <a:r>
              <a:t>https://www.goa.gov.in/wp-content/uploads/2025/06/GOVT-INTENDS-TO.pdf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S479 · After massive protest, CM agrees to yellow-black taxi stand at new airport | Goa News - Times of India</a:t>
            </a:r>
          </a:p>
          <a:p xmlns:a="http://schemas.openxmlformats.org/drawingml/2006/main">
            <a:r>
              <a:t>The Times of India · Jan 3, 2023</a:t>
            </a:r>
          </a:p>
          <a:p xmlns:a="http://schemas.openxmlformats.org/drawingml/2006/main">
            <a:r>
              <a:t>https://timesofindia.indiatimes.com/city/goa/after-massive-protest-cm-agrees-to-yellow-black-taxi-stand-at-new-airport/articleshow/96691848.cms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G32 · Coal handling and freight pollution concerns</a:t>
            </a:r>
          </a:p>
          <a:p xmlns:a="http://schemas.openxmlformats.org/drawingml/2006/main">
            <a:r>
              <a:t>2019 onward · Mormugao, Vasco and freight corridors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FACT / G32-C1: Residents contested coal handling and transport; pollution-control records and litigation document regulatory oversight of port activities.</a:t>
            </a:r>
          </a:p>
          <a:p xmlns:a="http://schemas.openxmlformats.org/drawingml/2006/main">
            <a:r>
              <a:t>EFFECT ON GOA: Dust, traffic and noise concerns affect residential amenity and livelihoods, subject to measured exposure evidence.</a:t>
            </a:r>
          </a:p>
          <a:p xmlns:a="http://schemas.openxmlformats.org/drawingml/2006/main">
            <a:r>
              <a:t>INCUMBENT IMPLICATION: Creates a balancing and enforcement challenge for state regulators and port-linked policy.</a:t>
            </a:r>
          </a:p>
          <a:p xmlns:a="http://schemas.openxmlformats.org/drawingml/2006/main">
            <a:r>
              <a:t>LOGIC / RATIONALE: Economic freight benefits do not remove duties to control pollution. Failure to enforce conditions can weaken confidence in environmental protection.</a:t>
            </a:r>
          </a:p>
          <a:p xmlns:a="http://schemas.openxmlformats.org/drawingml/2006/main">
            <a:r>
              <a:t>ASSUMPTIONS: Pollution complained of is attributable to the relevant operations and not other sources.</a:t>
            </a:r>
          </a:p>
          <a:p xmlns:a="http://schemas.openxmlformats.org/drawingml/2006/main">
            <a:r>
              <a:t>LIMITS: Mormugao Port is not solely controlled by the state. General complaints do not establish individual disease causation or prove all port activity unlawful.</a:t>
            </a:r>
          </a:p>
          <a:p xmlns:a="http://schemas.openxmlformats.org/drawingml/2006/main">
            <a:r>
              <a:t>RESPONSE / COUNTER-FINDING: Regulatory consents and court decisions must be evaluated alongside protests. Obtain site-specific monitoring and compliance data.</a:t>
            </a:r>
          </a:p>
          <a:p xmlns:a="http://schemas.openxmlformats.org/drawingml/2006/main">
            <a:r>
              <a:t>VERIFICATION: Four-publication check; shared origins disclosed</a:t>
            </a:r>
          </a:p>
          <a:p xmlns:a="http://schemas.openxmlformats.org/drawingml/2006/main">
            <a:r>
              <a:t>Underlying audit, survey, inquiry or official statement is shared across some publications; four citations do not establish four independent measurements.</a:t>
            </a:r>
          </a:p>
          <a:p xmlns:a="http://schemas.openxmlformats.org/drawingml/2006/main">
            <a:r>
              <a:t>Readable core sources: S474, S482, S490, S493</a:t>
            </a:r>
          </a:p>
          <a:p xmlns:a="http://schemas.openxmlformats.org/drawingml/2006/main">
            <a:r>
              <a:t>Follow-up: Obtain the current primary record and action-taken outcome; reconcile discrepancies before extending the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S474 · || Annual Report 2023-2024, Goa State Pollution Control Board ||</a:t>
            </a:r>
          </a:p>
          <a:p xmlns:a="http://schemas.openxmlformats.org/drawingml/2006/main">
            <a:r>
              <a:t>Goa State Pollution Control Board · 61</a:t>
            </a:r>
          </a:p>
          <a:p xmlns:a="http://schemas.openxmlformats.org/drawingml/2006/main">
            <a:r>
              <a:t>           March 2024</a:t>
            </a:r>
          </a:p>
          <a:p xmlns:a="http://schemas.openxmlformats.org/drawingml/2006/main">
            <a:r>
              <a:t>https://goaspcb.gov.in/wp-content/uploads/2024/09/Annual-Report_2023-2024.pdf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S473 · India’s new coal geography: Coastal transformations, imported fuel and state-business collaboration in the transition to more fossil fuel energy - ScienceDirect</a:t>
            </a:r>
          </a:p>
          <a:p xmlns:a="http://schemas.openxmlformats.org/drawingml/2006/main">
            <a:r>
              <a:t>sciencedirect.com · See original for publication date</a:t>
            </a:r>
          </a:p>
          <a:p xmlns:a="http://schemas.openxmlformats.org/drawingml/2006/main">
            <a:r>
              <a:t>https://www.sciencedirect.com/science/article/pii/S2214629620304783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blocked_or_incomplete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S482 · Abhijit Prabhudesai vs Goa Pollution Control Board on 14 November, 2022</a:t>
            </a:r>
          </a:p>
          <a:p xmlns:a="http://schemas.openxmlformats.org/drawingml/2006/main">
            <a:r>
              <a:t>Indian Kanoon judicial record reproduction · 14 November, 2022</a:t>
            </a:r>
          </a:p>
          <a:p xmlns:a="http://schemas.openxmlformats.org/drawingml/2006/main">
            <a:r>
              <a:t>https://indiankanoon.org/doc/89858769/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S490 · Devil in the details: A coal corridor that cuts across Goa’s green heart | Goa News - Times of India</a:t>
            </a:r>
          </a:p>
          <a:p xmlns:a="http://schemas.openxmlformats.org/drawingml/2006/main">
            <a:r>
              <a:t>The Times of India · Nov 2, 2020</a:t>
            </a:r>
          </a:p>
          <a:p xmlns:a="http://schemas.openxmlformats.org/drawingml/2006/main">
            <a:r>
              <a:t>https://timesofindia.indiatimes.com/city/goa/devil-in-the-details-a-coal-corridor-that-cuts-across-goas-green-heart/articleshow/78989359.cms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S493 · Goa: MPT gets pollution board permission to handle more coal | Goa News - Times of India</a:t>
            </a:r>
          </a:p>
          <a:p xmlns:a="http://schemas.openxmlformats.org/drawingml/2006/main">
            <a:r>
              <a:t>The Times of India · Nov 7, 2020</a:t>
            </a:r>
          </a:p>
          <a:p xmlns:a="http://schemas.openxmlformats.org/drawingml/2006/main">
            <a:r>
              <a:t>https://timesofindia.indiatimes.com/city/goa/mpt-gets-pollution-board-permission-to-handle-more-coal/articleshow/79090476.cms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S478 · MPT letter reveals hidden truth: Coal &amp; double-tracking link</a:t>
            </a:r>
          </a:p>
          <a:p xmlns:a="http://schemas.openxmlformats.org/drawingml/2006/main">
            <a:r>
              <a:t>The Goan Everyday · Publication date not independently established; accessed 14 October 2026</a:t>
            </a:r>
          </a:p>
          <a:p xmlns:a="http://schemas.openxmlformats.org/drawingml/2006/main">
            <a:r>
              <a:t>https://www.thegoan.net/goa-news/mpt-letter-reveals-hidden-truth-coal-doubletracking-link/62338.html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G33 · Panaji Smart City construction safety</a:t>
            </a:r>
          </a:p>
          <a:p xmlns:a="http://schemas.openxmlformats.org/drawingml/2006/main">
            <a:r>
              <a:t>January 2024 and later works · Mala, Panaji and Ribandar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FACT / G33-C1: Ayush Halarnkar died after his motorcycle fell into a sewerage-work trench on New Year’s Day 2024.</a:t>
            </a:r>
          </a:p>
          <a:p xmlns:a="http://schemas.openxmlformats.org/drawingml/2006/main">
            <a:r>
              <a:t>EFFECT ON GOA: The death and surrounding complaints made worksite safety and construction coordination a major public concern.</a:t>
            </a:r>
          </a:p>
          <a:p xmlns:a="http://schemas.openxmlformats.org/drawingml/2006/main">
            <a:r>
              <a:t>INCUMBENT IMPLICATION: Challenges the credibility of urban-project supervision.</a:t>
            </a:r>
          </a:p>
          <a:p xmlns:a="http://schemas.openxmlformats.org/drawingml/2006/main">
            <a:r>
              <a:t>LOGIC / RATIONALE: Government project agencies must supervise safe construction. A fatal worksite incident warrants scrutiny even where the immediate cause is disputed.</a:t>
            </a:r>
          </a:p>
          <a:p xmlns:a="http://schemas.openxmlformats.org/drawingml/2006/main">
            <a:r>
              <a:t>ASSUMPTIONS: The worksite condition contributed materially and appropriate safeguards were reasonably available.</a:t>
            </a:r>
          </a:p>
          <a:p xmlns:a="http://schemas.openxmlformats.org/drawingml/2006/main">
            <a:r>
              <a:t>LIMITS: Relatives alleged inadequate barricading; an official claimed double barricades and high-speed entry. Final negligence findings are not established by those competing statements.</a:t>
            </a:r>
          </a:p>
          <a:p xmlns:a="http://schemas.openxmlformats.org/drawingml/2006/main">
            <a:r>
              <a:t>RESPONSE / COUNTER-FINDING: GHRC issued notices and the CM announced review. Completion statements must be checked separately from accident responsibility.</a:t>
            </a:r>
          </a:p>
          <a:p xmlns:a="http://schemas.openxmlformats.org/drawingml/2006/main">
            <a:r>
              <a:t>VERIFICATION: Four-publication check; shared origins disclosed</a:t>
            </a:r>
          </a:p>
          <a:p xmlns:a="http://schemas.openxmlformats.org/drawingml/2006/main">
            <a:r>
              <a:t>Underlying audit, survey, inquiry or official statement is shared across some publications; four citations do not establish four independent measurements.</a:t>
            </a:r>
          </a:p>
          <a:p xmlns:a="http://schemas.openxmlformats.org/drawingml/2006/main">
            <a:r>
              <a:t>Readable core sources: S400, S418, S663, S666, S664</a:t>
            </a:r>
          </a:p>
          <a:p xmlns:a="http://schemas.openxmlformats.org/drawingml/2006/main">
            <a:r>
              <a:t>Follow-up: Obtain the current primary record and action-taken outcome; reconcile discrepancies before extending the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S400 · ‘Young life cut short’: Student dies after motorcycle falls in area dug up for Goa smart city project | India News - The Indian Express</a:t>
            </a:r>
          </a:p>
          <a:p xmlns:a="http://schemas.openxmlformats.org/drawingml/2006/main">
            <a:r>
              <a:t>The Indian Express · Jan 2, 2024</a:t>
            </a:r>
          </a:p>
          <a:p xmlns:a="http://schemas.openxmlformats.org/drawingml/2006/main">
            <a:r>
              <a:t>https://indianexpress.com/article/india/goa-smart-city-project-accident-student-death-9090872/lite/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S418 · Fortnight after son's death, father files for intervention | The Goan</a:t>
            </a:r>
          </a:p>
          <a:p xmlns:a="http://schemas.openxmlformats.org/drawingml/2006/main">
            <a:r>
              <a:t>The Goan Everyday · Publication date not independently established; accessed 14 October 2026</a:t>
            </a:r>
          </a:p>
          <a:p xmlns:a="http://schemas.openxmlformats.org/drawingml/2006/main">
            <a:r>
              <a:t>https://www.thegoan.net/goa-news/fortnight-after-sons-death-father-files-for-intervention/108402.html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S663 · GHRC takes note of fatal accident at Mala, issues notices | The Goan</a:t>
            </a:r>
          </a:p>
          <a:p xmlns:a="http://schemas.openxmlformats.org/drawingml/2006/main">
            <a:r>
              <a:t>The Goan Everyday · Publication date not independently established; accessed 14 October 2026</a:t>
            </a:r>
          </a:p>
          <a:p xmlns:a="http://schemas.openxmlformats.org/drawingml/2006/main">
            <a:r>
              <a:t>https://www.thegoan.net/goa-news/ghrc-takes-note-of-fatal-accident-at-mala-issues-notices/107870.html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S666 · Mala accident: CM promises inquiry, oppn demands action | Goa News - Times of India</a:t>
            </a:r>
          </a:p>
          <a:p xmlns:a="http://schemas.openxmlformats.org/drawingml/2006/main">
            <a:r>
              <a:t>The Times of India · Jan 2, 2024</a:t>
            </a:r>
          </a:p>
          <a:p xmlns:a="http://schemas.openxmlformats.org/drawingml/2006/main">
            <a:r>
              <a:t>https://timesofindia.indiatimes.com/city/goa/mala-accident-cm-promises-inquiry-oppn-demands-action/articleshow/106459150.cms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S664 · The Goan EveryDay: Tragic start to New Year, mishaps kill 4</a:t>
            </a:r>
          </a:p>
          <a:p xmlns:a="http://schemas.openxmlformats.org/drawingml/2006/main">
            <a:r>
              <a:t>The Goan Everyday · Publication date not independently established; accessed 14 October 2026</a:t>
            </a:r>
          </a:p>
          <a:p xmlns:a="http://schemas.openxmlformats.org/drawingml/2006/main">
            <a:r>
              <a:t>https://www.thegoan.net/goa-news/tragic-start-to-new-year-mishaps-kill-4/107849.html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S670 · IPSMCD HAS EXECUTE SEWERAGE WORKS IN PANAJI UNDER AMRUT AND SMART CITIES MISSION – Department of Information and Publicity</a:t>
            </a:r>
          </a:p>
          <a:p xmlns:a="http://schemas.openxmlformats.org/drawingml/2006/main">
            <a:r>
              <a:t>Government of Goa · See original for publication date</a:t>
            </a:r>
          </a:p>
          <a:p xmlns:a="http://schemas.openxmlformats.org/drawingml/2006/main">
            <a:r>
              <a:t>https://dip.goa.gov.in/ipsmcd-has-execute-sewerage-works-in-panaji-under-amrut-and-smart-cities-mission/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S669 · 20 infrastructure works complete, 15 under way, says Smart City CEO | Goa News - Times of India</a:t>
            </a:r>
          </a:p>
          <a:p xmlns:a="http://schemas.openxmlformats.org/drawingml/2006/main">
            <a:r>
              <a:t>The Times of India · Jan 19, 2024</a:t>
            </a:r>
          </a:p>
          <a:p xmlns:a="http://schemas.openxmlformats.org/drawingml/2006/main">
            <a:r>
              <a:t>https://timesofindia.indiatimes.com/city/goa/20-infrastructure-works-complete-15-under-way-says-smart-city-ceo/articleshow/106967677.cms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G34 · Kala Academy renovation and repeated defects</a:t>
            </a:r>
          </a:p>
          <a:p xmlns:a="http://schemas.openxmlformats.org/drawingml/2006/main">
            <a:r>
              <a:t>2023 collapse; 2026 inspection reporting · Campal, Panaji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FACT / G34-C1: After the 2023 roof collapse, 2026 reporting on an IIT Madras inspection described structural and waterproofing deficiencies at Kala Academy.</a:t>
            </a:r>
          </a:p>
          <a:p xmlns:a="http://schemas.openxmlformats.org/drawingml/2006/main">
            <a:r>
              <a:t>EFFECT ON GOA: Repairs and proposed closures disrupt performances, teaching and use of a major cultural facility.</a:t>
            </a:r>
          </a:p>
          <a:p xmlns:a="http://schemas.openxmlformats.org/drawingml/2006/main">
            <a:r>
              <a:t>INCUMBENT IMPLICATION: Creates a substantial workmanship and public-investment accountability issue.</a:t>
            </a:r>
          </a:p>
          <a:p xmlns:a="http://schemas.openxmlformats.org/drawingml/2006/main">
            <a:r>
              <a:t>LOGIC / RATIONALE: Repeated defects after renovation question whether spending produced a reliable asset and whether technical supervision was adequate.</a:t>
            </a:r>
          </a:p>
          <a:p xmlns:a="http://schemas.openxmlformats.org/drawingml/2006/main">
            <a:r>
              <a:t>ASSUMPTIONS: The inspected defects reflect relevant work or maintenance failures; technical causation must distinguish renovation from old structural deterioration.</a:t>
            </a:r>
          </a:p>
          <a:p xmlns:a="http://schemas.openxmlformats.org/drawingml/2006/main">
            <a:r>
              <a:t>LIMITS: Do not combine varying announced renovation costs into an invented loss. The cause of the earlier collapse and defects in later works are related but distinct questions.</a:t>
            </a:r>
          </a:p>
          <a:p xmlns:a="http://schemas.openxmlformats.org/drawingml/2006/main">
            <a:r>
              <a:t>RESPONSE / COUNTER-FINDING: A task force and repair proposals provide a response; current closure, completed remedies and contractor liability require dated records.</a:t>
            </a:r>
          </a:p>
          <a:p xmlns:a="http://schemas.openxmlformats.org/drawingml/2006/main">
            <a:r>
              <a:t>VERIFICATION: Below four-source threshold (3 readable supporting records)</a:t>
            </a:r>
          </a:p>
          <a:p xmlns:a="http://schemas.openxmlformats.org/drawingml/2006/main">
            <a:r>
              <a:t>Underlying audit, survey, inquiry or official statement is shared across some publications; four citations do not establish four independent measurements.</a:t>
            </a:r>
          </a:p>
          <a:p xmlns:a="http://schemas.openxmlformats.org/drawingml/2006/main">
            <a:r>
              <a:t>Readable core sources: S014, S624, S629</a:t>
            </a:r>
          </a:p>
          <a:p xmlns:a="http://schemas.openxmlformats.org/drawingml/2006/main">
            <a:r>
              <a:t>Follow-up: Obtain the current primary record and action-taken outcome; reconcile discrepancies before extending the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S014 · What IIT Madras team found at Goa's iconic Kala Academy</a:t>
            </a:r>
          </a:p>
          <a:p xmlns:a="http://schemas.openxmlformats.org/drawingml/2006/main">
            <a:r>
              <a:t>The Indian Express · Jun 17, 2026</a:t>
            </a:r>
          </a:p>
          <a:p xmlns:a="http://schemas.openxmlformats.org/drawingml/2006/main">
            <a:r>
              <a:t>https://indianexpress.com/article/india/mould-cracks-superficial-patchwork-what-iit-madras-team-found-at-goas-iconic-kala-academy-10743161/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S622 · IIT report finds serious flaws in Kala Academy renovation</a:t>
            </a:r>
          </a:p>
          <a:p xmlns:a="http://schemas.openxmlformats.org/drawingml/2006/main">
            <a:r>
              <a:t>O Heraldo · See original for publication date</a:t>
            </a:r>
          </a:p>
          <a:p xmlns:a="http://schemas.openxmlformats.org/drawingml/2006/main">
            <a:r>
              <a:t>https://www.heraldgoa.in/goa/iit-report-finds-serious-flaws-in-kala-academy-renovation/478095/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unavailable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S623 · IIT report flags serious structural defects in Goa's iconic Kala Academy building – ThePrint – PTIFeed</a:t>
            </a:r>
          </a:p>
          <a:p xmlns:a="http://schemas.openxmlformats.org/drawingml/2006/main">
            <a:r>
              <a:t>ThePrint / underlying byline · See original for publication date</a:t>
            </a:r>
          </a:p>
          <a:p xmlns:a="http://schemas.openxmlformats.org/drawingml/2006/main">
            <a:r>
              <a:t>https://theprint.in/india/iit-report-flags-serious-structural-defects-in-goas-iconic-kala-academy-building/2958879/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unavailable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S624 · Taskforce suggests KA close auditorium for repairs from Aug 1 | Goa News - The Times of India</a:t>
            </a:r>
          </a:p>
          <a:p xmlns:a="http://schemas.openxmlformats.org/drawingml/2006/main">
            <a:r>
              <a:t>The Times of India · Jun 10, 2026</a:t>
            </a:r>
          </a:p>
          <a:p xmlns:a="http://schemas.openxmlformats.org/drawingml/2006/main">
            <a:r>
              <a:t>https://timesofindia.indiatimes.com/city/goa/taskforce-suggests-kala-academy-close-auditorium-for-repairs-from-aug-1/articleshow/131619205.cms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S629 · Kala Academy to shut from August 1 for repairs | The Goan</a:t>
            </a:r>
          </a:p>
          <a:p xmlns:a="http://schemas.openxmlformats.org/drawingml/2006/main">
            <a:r>
              <a:t>The Goan Everyday · Publication date not independently established; accessed 14 October 2026</a:t>
            </a:r>
          </a:p>
          <a:p xmlns:a="http://schemas.openxmlformats.org/drawingml/2006/main">
            <a:r>
              <a:t>https://www.thegoan.net/goa-news/kala-academy-to-shut-from-august-1-for-repairs/149393.html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S632 · Friday, August 11, 2023</a:t>
            </a:r>
          </a:p>
          <a:p xmlns:a="http://schemas.openxmlformats.org/drawingml/2006/main">
            <a:r>
              <a:t>epaper.navhindtimes.in · See original for publication date</a:t>
            </a:r>
          </a:p>
          <a:p xmlns:a="http://schemas.openxmlformats.org/drawingml/2006/main">
            <a:r>
              <a:t>https://epaper.navhindtimes.in/PageImages/pdf/2023/08/11/1108023-md-ga-01.pdf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S621 · Audit Report – KALA ACADEMY GOA</a:t>
            </a:r>
          </a:p>
          <a:p xmlns:a="http://schemas.openxmlformats.org/drawingml/2006/main">
            <a:r>
              <a:t>kalaacademygoa.co.in · 8 October, 2026</a:t>
            </a:r>
          </a:p>
          <a:p xmlns:a="http://schemas.openxmlformats.org/drawingml/2006/main">
            <a:r>
              <a:t>https://kalaacademygoa.co.in/audit-report/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G35 · Old Goa heritage bungalow dispute</a:t>
            </a:r>
          </a:p>
          <a:p xmlns:a="http://schemas.openxmlformats.org/drawingml/2006/main">
            <a:r>
              <a:t>2020–2026 · Ella, Old Goa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FACT / G35-C1: An official February 2026 statement says the ASI removal order was challenged and the matter remained before the Supreme Court.</a:t>
            </a:r>
          </a:p>
          <a:p xmlns:a="http://schemas.openxmlformats.org/drawingml/2006/main">
            <a:r>
              <a:t>EFFECT ON GOA: The dispute concerns construction within a protected heritage setting and the effectiveness of oversight.</a:t>
            </a:r>
          </a:p>
          <a:p xmlns:a="http://schemas.openxmlformats.org/drawingml/2006/main">
            <a:r>
              <a:t>INCUMBENT IMPLICATION: Raises a heritage-protection and permission-accountability question.</a:t>
            </a:r>
          </a:p>
          <a:p xmlns:a="http://schemas.openxmlformats.org/drawingml/2006/main">
            <a:r>
              <a:t>LOGIC / RATIONALE: Public trust depends on consistent enforcement around protected monuments; procedural failures can delay enforcement even when an authority seeks demolition.</a:t>
            </a:r>
          </a:p>
          <a:p xmlns:a="http://schemas.openxmlformats.org/drawingml/2006/main">
            <a:r>
              <a:t>ASSUMPTIONS: The disputed work exceeded valid permissions; the inspection and final judicial findings must be distinguished.</a:t>
            </a:r>
          </a:p>
          <a:p xmlns:a="http://schemas.openxmlformats.org/drawingml/2006/main">
            <a:r>
              <a:t>LIMITS: The High Court quashed the ASI order in 2023; litigation prevents treating demolition as a legally settled obligation. Alleged new construction is not identical to a final judgment.</a:t>
            </a:r>
          </a:p>
          <a:p xmlns:a="http://schemas.openxmlformats.org/drawingml/2006/main">
            <a:r>
              <a:t>RESPONSE / COUNTER-FINDING: ASI pursued action and the Supreme Court appointed inspection oversight. The reported inspection conclusion needs the operative final order for resolution.</a:t>
            </a:r>
          </a:p>
          <a:p xmlns:a="http://schemas.openxmlformats.org/drawingml/2006/main">
            <a:r>
              <a:t>VERIFICATION: Four-publication check; shared origins disclosed</a:t>
            </a:r>
          </a:p>
          <a:p xmlns:a="http://schemas.openxmlformats.org/drawingml/2006/main">
            <a:r>
              <a:t>Underlying audit, survey, inquiry or official statement is shared across some publications; four citations do not establish four independent measurements.</a:t>
            </a:r>
          </a:p>
          <a:p xmlns:a="http://schemas.openxmlformats.org/drawingml/2006/main">
            <a:r>
              <a:t>Readable core sources: P13, S635, S637, S638, S640</a:t>
            </a:r>
          </a:p>
          <a:p xmlns:a="http://schemas.openxmlformats.org/drawingml/2006/main">
            <a:r>
              <a:t>Follow-up: Obtain the current primary record and action-taken outcome; reconcile discrepancies before extending the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P13 · Court case holding up demolition near Old Goa monuments</a:t>
            </a:r>
          </a:p>
          <a:p xmlns:a="http://schemas.openxmlformats.org/drawingml/2006/main">
            <a:r>
              <a:t>Ministry of Culture Press Information Bureau · 2 February 2026</a:t>
            </a:r>
          </a:p>
          <a:p xmlns:a="http://schemas.openxmlformats.org/drawingml/2006/main">
            <a:r>
              <a:t>https://www.pib.gov.in/PressReleasePage.aspx?PRID=2222307&amp;lang=2&amp;reg=48</a:t>
            </a:r>
          </a:p>
          <a:p xmlns:a="http://schemas.openxmlformats.org/drawingml/2006/main">
            <a:r>
              <a:t>Lok Sabha response; ASI order and subsequent High Court and Supreme Court proceedings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S635 · SC inspection finds structure was constructed, not repaired | The Goan</a:t>
            </a:r>
          </a:p>
          <a:p xmlns:a="http://schemas.openxmlformats.org/drawingml/2006/main">
            <a:r>
              <a:t>The Goan Everyday · Publication date not independently established; accessed 14 October 2026</a:t>
            </a:r>
          </a:p>
          <a:p xmlns:a="http://schemas.openxmlformats.org/drawingml/2006/main">
            <a:r>
              <a:t>https://www.thegoan.net/goa-news/sc-inspection-finds-structure-was-constructed-not-repaired/143183.html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S637 · Damning report: Structure at Old Goa rebuilt, not repaired</a:t>
            </a:r>
          </a:p>
          <a:p xmlns:a="http://schemas.openxmlformats.org/drawingml/2006/main">
            <a:r>
              <a:t>O Heraldo · Oct 14, 2026</a:t>
            </a:r>
          </a:p>
          <a:p xmlns:a="http://schemas.openxmlformats.org/drawingml/2006/main">
            <a:r>
              <a:t>https://www.heraldgoa.in/goa/damning-report-structure-at-old-goa-rebuilt-not-repaired/463787/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S638 · Save Old Goa Action Committee vs Union Of India on 5 February, 2026</a:t>
            </a:r>
          </a:p>
          <a:p xmlns:a="http://schemas.openxmlformats.org/drawingml/2006/main">
            <a:r>
              <a:t>Indian Kanoon judicial record reproduction · 5 February, 2026</a:t>
            </a:r>
          </a:p>
          <a:p xmlns:a="http://schemas.openxmlformats.org/drawingml/2006/main">
            <a:r>
              <a:t>https://indiankanoon.org/doc/79420276/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S640 · HC quashes ASI order to raze Old Goa bungalow | Goa News - Times of India</a:t>
            </a:r>
          </a:p>
          <a:p xmlns:a="http://schemas.openxmlformats.org/drawingml/2006/main">
            <a:r>
              <a:t>The Times of India · Feb 08, 2023</a:t>
            </a:r>
          </a:p>
          <a:p xmlns:a="http://schemas.openxmlformats.org/drawingml/2006/main">
            <a:r>
              <a:t>https://timesofindia.indiatimes.com/city/goa/hc-quashes-asi-order-to-raze-old-goa-bungalow/articleshow/97707836.cms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S642 · Bungalow construction in Old Goa heritage site triggers protests | Goa News - The Indian Express</a:t>
            </a:r>
          </a:p>
          <a:p xmlns:a="http://schemas.openxmlformats.org/drawingml/2006/main">
            <a:r>
              <a:t>The Indian Express · Nov 22, 2021</a:t>
            </a:r>
          </a:p>
          <a:p xmlns:a="http://schemas.openxmlformats.org/drawingml/2006/main">
            <a:r>
              <a:t>https://indianexpress.com/article/cities/goa/bungalow-construction-in-old-goa-heritage-site-triggers-protests-7634663/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S645 · SC appoints retd judge to oversee inspection of Old Goa bungalow | Goa News - The Times of India</a:t>
            </a:r>
          </a:p>
          <a:p xmlns:a="http://schemas.openxmlformats.org/drawingml/2006/main">
            <a:r>
              <a:t>The Times of India · Dec 7, 2025</a:t>
            </a:r>
          </a:p>
          <a:p xmlns:a="http://schemas.openxmlformats.org/drawingml/2006/main">
            <a:r>
              <a:t>https://timesofindia.indiatimes.com/city/goa/sc-appoints-retd-judge-to-oversee-inspection-of-old-goa-bungalow/amp_articleshow/125809602.cms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G36 · Birch by Romeo Lane fire</a:t>
            </a:r>
          </a:p>
          <a:p xmlns:a="http://schemas.openxmlformats.org/drawingml/2006/main">
            <a:r>
              <a:t>6 December 2025; proceedings through October 2026 · Arpora, Bardez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FACT / G36-C1: The Arpora nightclub fire killed 25 people; reporting on the magisterial inquiry identifies failures in licensing and enforcement.</a:t>
            </a:r>
          </a:p>
          <a:p xmlns:a="http://schemas.openxmlformats.org/drawingml/2006/main">
            <a:r>
              <a:t>EFFECT ON GOA: Deaths devastated families and workers and exposed hazards in tourism-linked commercial premises.</a:t>
            </a:r>
          </a:p>
          <a:p xmlns:a="http://schemas.openxmlformats.org/drawingml/2006/main">
            <a:r>
              <a:t>INCUMBENT IMPLICATION: Creates a severe safety and regulatory-accountability challenge for the incumbent.</a:t>
            </a:r>
          </a:p>
          <a:p xmlns:a="http://schemas.openxmlformats.org/drawingml/2006/main">
            <a:r>
              <a:t>LOGIC / RATIONALE: Documented missed licensing and enforcement safeguards make the case more directly connected to governance than a private fire without prior regulatory failures.</a:t>
            </a:r>
          </a:p>
          <a:p xmlns:a="http://schemas.openxmlformats.org/drawingml/2006/main">
            <a:r>
              <a:t>ASSUMPTIONS: Enforcement of documented duties could have materially reduced exposure; criminal causation remains for adjudication.</a:t>
            </a:r>
          </a:p>
          <a:p xmlns:a="http://schemas.openxmlformats.org/drawingml/2006/main">
            <a:r>
              <a:t>LIMITS: Early reports suggested a gas explosion; later investigation focused on indoor pyrotechnics. Bail developments changed repeatedly and do not decide guilt.</a:t>
            </a:r>
          </a:p>
          <a:p xmlns:a="http://schemas.openxmlformats.org/drawingml/2006/main">
            <a:r>
              <a:t>RESPONSE / COUNTER-FINDING: The state appointed an inquiry, police filed a chargesheet and authorities undertook inspections. The inquiry’s public availability and administrative outcomes remain important accountability questions.</a:t>
            </a:r>
          </a:p>
          <a:p xmlns:a="http://schemas.openxmlformats.org/drawingml/2006/main">
            <a:r>
              <a:t>VERIFICATION: Four-publication check; shared origins disclosed</a:t>
            </a:r>
          </a:p>
          <a:p xmlns:a="http://schemas.openxmlformats.org/drawingml/2006/main">
            <a:r>
              <a:t>Underlying audit, survey, inquiry or official statement is shared across some publications; four citations do not establish four independent measurements.</a:t>
            </a:r>
          </a:p>
          <a:p xmlns:a="http://schemas.openxmlformats.org/drawingml/2006/main">
            <a:r>
              <a:t>Readable core sources: S018, S378, S384, S383</a:t>
            </a:r>
          </a:p>
          <a:p xmlns:a="http://schemas.openxmlformats.org/drawingml/2006/main">
            <a:r>
              <a:t>Follow-up: Obtain the current primary record and action-taken outcome; reconcile discrepancies before extending the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S017 · India's Goa state orders probe after nightclub fire kills 25</a:t>
            </a:r>
          </a:p>
          <a:p xmlns:a="http://schemas.openxmlformats.org/drawingml/2006/main">
            <a:r>
              <a:t>Reuters · See original for publication date</a:t>
            </a:r>
          </a:p>
          <a:p xmlns:a="http://schemas.openxmlformats.org/drawingml/2006/main">
            <a:r>
              <a:t>https://www.reuters.com/world/india/least-23-people-dead-after-fire-indias-goa-chief-minister-says-2025-12-06/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unavailable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S018 · 25 dead after fire ravages nightclub in popular Indian tourism spot</a:t>
            </a:r>
          </a:p>
          <a:p xmlns:a="http://schemas.openxmlformats.org/drawingml/2006/main">
            <a:r>
              <a:t>washingtonpost.com · See original for publication date</a:t>
            </a:r>
          </a:p>
          <a:p xmlns:a="http://schemas.openxmlformats.org/drawingml/2006/main">
            <a:r>
              <a:t>https://www.washingtonpost.com/world/2025/12/07/goa-nightclub-fire-deaths/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S370 · GOVT. CONSTITUTES MAGISTERIAL INQUIRY COMMITTEE – Department of Information and Publicity</a:t>
            </a:r>
          </a:p>
          <a:p xmlns:a="http://schemas.openxmlformats.org/drawingml/2006/main">
            <a:r>
              <a:t>Government of Goa · See original for publication date</a:t>
            </a:r>
          </a:p>
          <a:p xmlns:a="http://schemas.openxmlformats.org/drawingml/2006/main">
            <a:r>
              <a:t>https://dip.goa.gov.in/govt-constitutes-magisterial-inquiry-committee/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S378 · Goa club fire: Probe report is out, exposing series of missteps and collusion | India News - The Indian Express</a:t>
            </a:r>
          </a:p>
          <a:p xmlns:a="http://schemas.openxmlformats.org/drawingml/2006/main">
            <a:r>
              <a:t>The Indian Express · Jan 1, 2026</a:t>
            </a:r>
          </a:p>
          <a:p xmlns:a="http://schemas.openxmlformats.org/drawingml/2006/main">
            <a:r>
              <a:t>https://indianexpress.com/article/india/goa-club-fire-probe-report-is-out-exposing-series-of-missteps-and-collusion-10449222/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S384 · Goa nightclub fire: Panchayat secy colluded, cops didn’t act on plaints, finds probe | Goa News - The Times of India</a:t>
            </a:r>
          </a:p>
          <a:p xmlns:a="http://schemas.openxmlformats.org/drawingml/2006/main">
            <a:r>
              <a:t>The Times of India · Jan 01, 2026</a:t>
            </a:r>
          </a:p>
          <a:p xmlns:a="http://schemas.openxmlformats.org/drawingml/2006/main">
            <a:r>
              <a:t>https://timesofindia.indiatimes.com/city/goa/panchayat-secretary-colluded-cops-closed-noise-plaints-against-birch-probe/articleshow/126278477.cms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S387 · Exclusive: How Fire Dept Goofed Up With Birch NOC? | Goa News - Prudent Media</a:t>
            </a:r>
          </a:p>
          <a:p xmlns:a="http://schemas.openxmlformats.org/drawingml/2006/main">
            <a:r>
              <a:t>Prudent Media · See original for publication date</a:t>
            </a:r>
          </a:p>
          <a:p xmlns:a="http://schemas.openxmlformats.org/drawingml/2006/main">
            <a:r>
              <a:t>https://www.prudentmedia.in/politics/exclusive-how-fire-dept-goofed-up-with-birch-noc-/35415.html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S016 · Goa nightclub fire: Club owner Luthras among 13 ...</a:t>
            </a:r>
          </a:p>
          <a:p xmlns:a="http://schemas.openxmlformats.org/drawingml/2006/main">
            <a:r>
              <a:t>The Indian Express · Feb 26, 2026</a:t>
            </a:r>
          </a:p>
          <a:p xmlns:a="http://schemas.openxmlformats.org/drawingml/2006/main">
            <a:r>
              <a:t>https://indianexpress.com/article/india/goa-nightclub-fire-club-owner-luthras-among-13-chargesheeted-10554112/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S388 · HC extends deadline for p'yats to file affidavits in Arpora fire probe</a:t>
            </a:r>
          </a:p>
          <a:p xmlns:a="http://schemas.openxmlformats.org/drawingml/2006/main">
            <a:r>
              <a:t>The Goan Everyday · Publication date not independently established; accessed 14 October 2026</a:t>
            </a:r>
          </a:p>
          <a:p xmlns:a="http://schemas.openxmlformats.org/drawingml/2006/main">
            <a:r>
              <a:t>https://www.thegoan.net/goa-news/%C3%AF%C2%BB%C2%BFhc-extends-deadline-for-pyats-to-file-affidavits-in-arpora-fire-probe/145455.html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S011 · Disparity in treatment of persons  weighs in favour of Luthra bros' bailSparkler machine operators not held during probe: Court in Luthra case</a:t>
            </a:r>
          </a:p>
          <a:p xmlns:a="http://schemas.openxmlformats.org/drawingml/2006/main">
            <a:r>
              <a:t>The Times of India · Oct 09, 2026</a:t>
            </a:r>
          </a:p>
          <a:p xmlns:a="http://schemas.openxmlformats.org/drawingml/2006/main">
            <a:r>
              <a:t>https://timesofindia.indiatimes.com/city/goa/disparity-in-treatment-of-persons-weighs-in-favour-of-luthra-bros-bailbrsparkler-machine-operators-not-held-during-probe-court-in-luthra-case/articleshow/134799901.cms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S147 · Birch Nightclub Fire: Goa Government Reverses Suspensions of Two Officials Amid Ongoing Inquiry | Goa News - The Times of India</a:t>
            </a:r>
          </a:p>
          <a:p xmlns:a="http://schemas.openxmlformats.org/drawingml/2006/main">
            <a:r>
              <a:t>The Times of India · See original for publication date</a:t>
            </a:r>
          </a:p>
          <a:p xmlns:a="http://schemas.openxmlformats.org/drawingml/2006/main">
            <a:r>
              <a:t>https://timesofindia.indiatimes.com/city/goa/birch-fire-case-suspension-of-two-govt-officials-revoked/articleshow/128894720.cms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Not fully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S383 · Birch probe affirms lapses flagged by The Goan</a:t>
            </a:r>
          </a:p>
          <a:p xmlns:a="http://schemas.openxmlformats.org/drawingml/2006/main">
            <a:r>
              <a:t>The Goan Everyday · Publication date not independently established; accessed 14 October 2026</a:t>
            </a:r>
          </a:p>
          <a:p xmlns:a="http://schemas.openxmlformats.org/drawingml/2006/main">
            <a:r>
              <a:t>https://www.thegoan.net/goa-news/birch-probe-affirms-lapses-flagged-by-the-goan/141284.html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G37 · Shirgao festival stampede</a:t>
            </a:r>
          </a:p>
          <a:p xmlns:a="http://schemas.openxmlformats.org/drawingml/2006/main">
            <a:r>
              <a:t>3 May 2025; inquiry May 2025 · Shirgao, Bicholim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FACT / G37-C1: Six people died in the Lairai festival stampede; the inquiry described preventable coordination and crowd-management lapses.</a:t>
            </a:r>
          </a:p>
          <a:p xmlns:a="http://schemas.openxmlformats.org/drawingml/2006/main">
            <a:r>
              <a:t>EFFECT ON GOA: Families lost lives and many devotees were injured; the incident put large-event safety under scrutiny.</a:t>
            </a:r>
          </a:p>
          <a:p xmlns:a="http://schemas.openxmlformats.org/drawingml/2006/main">
            <a:r>
              <a:t>INCUMBENT IMPLICATION: Creates a substantial district-administration and policing accountability issue.</a:t>
            </a:r>
          </a:p>
          <a:p xmlns:a="http://schemas.openxmlformats.org/drawingml/2006/main">
            <a:r>
              <a:t>LOGIC / RATIONALE: An inquiry linking a tragedy to avoidable management failures supports scrutiny of preparedness rather than treating the incident only as misfortune.</a:t>
            </a:r>
          </a:p>
          <a:p xmlns:a="http://schemas.openxmlformats.org/drawingml/2006/main">
            <a:r>
              <a:t>ASSUMPTIONS: The inquiry’s findings are reliable and appropriate crowd arrangements were feasible.</a:t>
            </a:r>
          </a:p>
          <a:p xmlns:a="http://schemas.openxmlformats.org/drawingml/2006/main">
            <a:r>
              <a:t>LIMITS: Injury totals evolved from early reports; one early headline said seven deaths. The temple committee disputed parts of the inquiry, which must be included.</a:t>
            </a:r>
          </a:p>
          <a:p xmlns:a="http://schemas.openxmlformats.org/drawingml/2006/main">
            <a:r>
              <a:t>RESPONSE / COUNTER-FINDING: Authorities investigated and issued show-cause notices; these are not final disciplinary findings. Obtain final action and later festival-safety records.</a:t>
            </a:r>
          </a:p>
          <a:p xmlns:a="http://schemas.openxmlformats.org/drawingml/2006/main">
            <a:r>
              <a:t>VERIFICATION: Four-publication check; shared origins disclosed</a:t>
            </a:r>
          </a:p>
          <a:p xmlns:a="http://schemas.openxmlformats.org/drawingml/2006/main">
            <a:r>
              <a:t>Underlying audit, survey, inquiry or official statement is shared across some publications; four citations do not establish four independent measurements.</a:t>
            </a:r>
          </a:p>
          <a:p xmlns:a="http://schemas.openxmlformats.org/drawingml/2006/main">
            <a:r>
              <a:t>Readable core sources: S560, S563, S565, S658, S571</a:t>
            </a:r>
          </a:p>
          <a:p xmlns:a="http://schemas.openxmlformats.org/drawingml/2006/main">
            <a:r>
              <a:t>Follow-up: Obtain the current primary record and action-taken outcome; reconcile discrepancies before extending the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S560 · Goa temple stampede that killed 6 was ‘entirely preventable’, probe finds | India News - The Indian Express</a:t>
            </a:r>
          </a:p>
          <a:p xmlns:a="http://schemas.openxmlformats.org/drawingml/2006/main">
            <a:r>
              <a:t>The Indian Express · May 14, 2025</a:t>
            </a:r>
          </a:p>
          <a:p xmlns:a="http://schemas.openxmlformats.org/drawingml/2006/main">
            <a:r>
              <a:t>https://indianexpress.com/article/india/not-act-of-fate-goa-temple-stampede-killed-6-lapses-probe-panel-10003465/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S563 · 6 dead, 60 injured in stampede during Lairai Zatra festival in Goa | Goa News - The Times of India</a:t>
            </a:r>
          </a:p>
          <a:p xmlns:a="http://schemas.openxmlformats.org/drawingml/2006/main">
            <a:r>
              <a:t>The Times of India · May 03, 2025</a:t>
            </a:r>
          </a:p>
          <a:p xmlns:a="http://schemas.openxmlformats.org/drawingml/2006/main">
            <a:r>
              <a:t>https://timesofindia.indiatimes.com/city/goa/6-dead-60-injured-in-stampede-at-lairai-zatra-in-goa/articleshow/120839511.cms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S565 · Stampede in north Goa temple kills 6, injures 70 during annual festival | India News</a:t>
            </a:r>
          </a:p>
          <a:p xmlns:a="http://schemas.openxmlformats.org/drawingml/2006/main">
            <a:r>
              <a:t>Hindustan Times · Oct 14, 2026</a:t>
            </a:r>
          </a:p>
          <a:p xmlns:a="http://schemas.openxmlformats.org/drawingml/2006/main">
            <a:r>
              <a:t>https://www.hindustantimes.com/india-news/stampede-in-north-goa-temple-kills-6-injures-70-during-annual-festival-101746246624196.html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S569 · Probe panel report cited stampede-like scenario last year | The Goan</a:t>
            </a:r>
          </a:p>
          <a:p xmlns:a="http://schemas.openxmlformats.org/drawingml/2006/main">
            <a:r>
              <a:t>The Goan Everyday · Publication date not independently established; accessed 14 October 2026</a:t>
            </a:r>
          </a:p>
          <a:p xmlns:a="http://schemas.openxmlformats.org/drawingml/2006/main">
            <a:r>
              <a:t>https://www.thegoan.net/goa-news/probe-panel-report-cited-stampedelike-scenario-last-year/130329.html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S655 · GOVERNOR EXPRESSES GRIEF OVER SHIRGAO JATRA STAMPEDE – Department of Information and Publicity</a:t>
            </a:r>
          </a:p>
          <a:p xmlns:a="http://schemas.openxmlformats.org/drawingml/2006/main">
            <a:r>
              <a:t>Government of Goa · May 3, 2025</a:t>
            </a:r>
          </a:p>
          <a:p xmlns:a="http://schemas.openxmlformats.org/drawingml/2006/main">
            <a:r>
              <a:t>https://dip.goa.gov.in/governor-expresses-grief-over-shirgao-jatra-stampede/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S656 · Shirgao Jatra Stampede: Officials Given Extra Week to Respond to Show-Cause Notices | Goa News - Times of India</a:t>
            </a:r>
          </a:p>
          <a:p xmlns:a="http://schemas.openxmlformats.org/drawingml/2006/main">
            <a:r>
              <a:t>The Times of India · May 27, 2025</a:t>
            </a:r>
          </a:p>
          <a:p xmlns:a="http://schemas.openxmlformats.org/drawingml/2006/main">
            <a:r>
              <a:t>https://timesofindia.indiatimes.com/city/goa/shirgao-jatra-stampede-officials-given-extra-week-to-respond-to-show-cause-notices/amp_articleshow/121438605.cms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S658 · Report puts Shirgao jatra stampede onus on collector, SP, others | Goa News - Times of India</a:t>
            </a:r>
          </a:p>
          <a:p xmlns:a="http://schemas.openxmlformats.org/drawingml/2006/main">
            <a:r>
              <a:t>The Times of India · May 10, 2025</a:t>
            </a:r>
          </a:p>
          <a:p xmlns:a="http://schemas.openxmlformats.org/drawingml/2006/main">
            <a:r>
              <a:t>https://timesofindia.indiatimes.com/city/goa/report-puts-shirgao-jatra-stampede-onus-on-collector-sp-others/articleshow/121040843.cms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S571 · Worshipers stampede at a temple in western India, killing 6 and injuring dozens</a:t>
            </a:r>
          </a:p>
          <a:p xmlns:a="http://schemas.openxmlformats.org/drawingml/2006/main">
            <a:r>
              <a:t>apnews.com · 50      </a:t>
            </a:r>
          </a:p>
          <a:p xmlns:a="http://schemas.openxmlformats.org/drawingml/2006/main">
            <a:r>
              <a:t> Politics  </a:t>
            </a:r>
          </a:p>
          <a:p xmlns:a="http://schemas.openxmlformats.org/drawingml/2006/main">
            <a:r>
              <a:t>  2026</a:t>
            </a:r>
          </a:p>
          <a:p xmlns:a="http://schemas.openxmlformats.org/drawingml/2006/main">
            <a:r>
              <a:t>https://apnews.com/article/d8e28f3bb85532b0daf21bcdfa9e00e0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G38 · Road fatalities and safety enforcement</a:t>
            </a:r>
          </a:p>
          <a:p xmlns:a="http://schemas.openxmlformats.org/drawingml/2006/main">
            <a:r>
              <a:t>2023–2025; 2026 partial followup · Statewide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FACT / G38-C1: Traffic reporting records 290 road deaths in 2023, about 286–287 in 2024 and 269 in 2025.</a:t>
            </a:r>
          </a:p>
          <a:p xmlns:a="http://schemas.openxmlformats.org/drawingml/2006/main">
            <a:r>
              <a:t>EFFECT ON GOA: The continuing death toll imposes household loss, injury burdens and emergency-service demand despite a recent reduction.</a:t>
            </a:r>
          </a:p>
          <a:p xmlns:a="http://schemas.openxmlformats.org/drawingml/2006/main">
            <a:r>
              <a:t>INCUMBENT IMPLICATION: Keeps road safety an accountability issue but does not support a continuously rising death trend.</a:t>
            </a:r>
          </a:p>
          <a:p xmlns:a="http://schemas.openxmlformats.org/drawingml/2006/main">
            <a:r>
              <a:t>LOGIC / RATIONALE: Authorities influence engineering, enforcement and response; driver behaviour and exposure also matter. A missed reduction target is different from an increase in deaths.</a:t>
            </a:r>
          </a:p>
          <a:p xmlns:a="http://schemas.openxmlformats.org/drawingml/2006/main">
            <a:r>
              <a:t>ASSUMPTIONS: Police recording and reference periods are comparable.</a:t>
            </a:r>
          </a:p>
          <a:p xmlns:a="http://schemas.openxmlformats.org/drawingml/2006/main">
            <a:r>
              <a:t>LIMITS: Sources disagree by one on the 2024 total. Fatal crashes and persons killed are distinct; a reported percentage reduction in one article is arithmetically inconsistent.</a:t>
            </a:r>
          </a:p>
          <a:p xmlns:a="http://schemas.openxmlformats.org/drawingml/2006/main">
            <a:r>
              <a:t>RESPONSE / COUNTER-FINDING: Police announced a 20% reduction target and reported a smaller actual reduction. Obtain the definitive annual release and exposure-adjusted analysis.</a:t>
            </a:r>
          </a:p>
          <a:p xmlns:a="http://schemas.openxmlformats.org/drawingml/2006/main">
            <a:r>
              <a:t>VERIFICATION: Four-publication check; shared origins disclosed</a:t>
            </a:r>
          </a:p>
          <a:p xmlns:a="http://schemas.openxmlformats.org/drawingml/2006/main">
            <a:r>
              <a:t>Underlying audit, survey, inquiry or official statement is shared across some publications; four citations do not establish four independent measurements.</a:t>
            </a:r>
          </a:p>
          <a:p xmlns:a="http://schemas.openxmlformats.org/drawingml/2006/main">
            <a:r>
              <a:t>Readable core sources: S401, S404, S420, S426</a:t>
            </a:r>
          </a:p>
          <a:p xmlns:a="http://schemas.openxmlformats.org/drawingml/2006/main">
            <a:r>
              <a:t>Follow-up: Obtain the current primary record and action-taken outcome; reconcile discrepancies before extending the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S401 · State saw negligible dip in road accident deaths in 2024 | Goa News - The Times of India</a:t>
            </a:r>
          </a:p>
          <a:p xmlns:a="http://schemas.openxmlformats.org/drawingml/2006/main">
            <a:r>
              <a:t>The Times of India · Feb 14, 2025</a:t>
            </a:r>
          </a:p>
          <a:p xmlns:a="http://schemas.openxmlformats.org/drawingml/2006/main">
            <a:r>
              <a:t>https://timesofindia.indiatimes.com/city/goa/state-saw-negligible-dip-in-road-accident-deaths-in-2024/articleshow/118256373.cms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S404 · Goa Achieves 5% Reduction in Road Fatalities for 2025 | Goa News - The Times of India</a:t>
            </a:r>
          </a:p>
          <a:p xmlns:a="http://schemas.openxmlformats.org/drawingml/2006/main">
            <a:r>
              <a:t>The Times of India · Jan 29, 2026</a:t>
            </a:r>
          </a:p>
          <a:p xmlns:a="http://schemas.openxmlformats.org/drawingml/2006/main">
            <a:r>
              <a:t>https://timesofindia.indiatimes.com/city/goa/over-5-drop-in-road-fatalities-in-2025/articleshow/127728233.cms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S420 · New Year day sees fewer mishaps than last year: Data | The Goan</a:t>
            </a:r>
          </a:p>
          <a:p xmlns:a="http://schemas.openxmlformats.org/drawingml/2006/main">
            <a:r>
              <a:t>The Goan Everyday · Publication date not independently established; accessed 14 October 2026</a:t>
            </a:r>
          </a:p>
          <a:p xmlns:a="http://schemas.openxmlformats.org/drawingml/2006/main">
            <a:r>
              <a:t>https://www.thegoan.net/goa-news/new-year-day-sees-fewer-mishaps-than-last-year-data/141396.html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S424 · Alarming deaths on Goan roads</a:t>
            </a:r>
          </a:p>
          <a:p xmlns:a="http://schemas.openxmlformats.org/drawingml/2006/main">
            <a:r>
              <a:t>O Heraldo · See original for publication date</a:t>
            </a:r>
          </a:p>
          <a:p xmlns:a="http://schemas.openxmlformats.org/drawingml/2006/main">
            <a:r>
              <a:t>https://www.heraldgoa.in/goa/alarming-deaths-on-goan-roads/15980/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unavailable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S426 · BEYOND THE CRASH COUNT: Goa's stubbornly high road death toll</a:t>
            </a:r>
          </a:p>
          <a:p xmlns:a="http://schemas.openxmlformats.org/drawingml/2006/main">
            <a:r>
              <a:t>O Heraldo · Oct 14, 2026</a:t>
            </a:r>
          </a:p>
          <a:p xmlns:a="http://schemas.openxmlformats.org/drawingml/2006/main">
            <a:r>
              <a:t>https://www.heraldgoa.in/review/beyond-the-crash-count-goas-stubbornly-high-road-death-toll/478366/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S419 · 81% of accidents in state occurred on straight roads: Traffic cell data | Goa News - The Times of India</a:t>
            </a:r>
          </a:p>
          <a:p xmlns:a="http://schemas.openxmlformats.org/drawingml/2006/main">
            <a:r>
              <a:t>The Times of India · Feb 24, 2025</a:t>
            </a:r>
          </a:p>
          <a:p xmlns:a="http://schemas.openxmlformats.org/drawingml/2006/main">
            <a:r>
              <a:t>https://timesofindia.indiatimes.com/city/goa/81-of-accidents-in-state-occurred-on-straight-roads-traffic-cell-data/amp_articleshow/118511661.cms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S421 · Press Release Page | Press Information Bureau</a:t>
            </a:r>
          </a:p>
          <a:p xmlns:a="http://schemas.openxmlformats.org/drawingml/2006/main">
            <a:r>
              <a:t>Press Information Bureau · 11 DEC 2024</a:t>
            </a:r>
          </a:p>
          <a:p xmlns:a="http://schemas.openxmlformats.org/drawingml/2006/main">
            <a:r>
              <a:t>https://www.pib.gov.in/PressReleasePage.aspx?PRID=2083422&amp;lang=2&amp;reg=3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G39 · Khandepar pipeline failure</a:t>
            </a:r>
          </a:p>
          <a:p xmlns:a="http://schemas.openxmlformats.org/drawingml/2006/main">
            <a:r>
              <a:t>August 2019 · Tiswadi and Ponda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FACT / G39-C1: A landslide damaged major water pipelines at Curti-Khandepar and interrupted supply for several days.</a:t>
            </a:r>
          </a:p>
          <a:p xmlns:a="http://schemas.openxmlformats.org/drawingml/2006/main">
            <a:r>
              <a:t>EFFECT ON GOA: Households and institutions faced shortages and dependence on emergency arrangements.</a:t>
            </a:r>
          </a:p>
          <a:p xmlns:a="http://schemas.openxmlformats.org/drawingml/2006/main">
            <a:r>
              <a:t>INCUMBENT IMPLICATION: Raises resilience and backup-supply questions for the incumbent.</a:t>
            </a:r>
          </a:p>
          <a:p xmlns:a="http://schemas.openxmlformats.org/drawingml/2006/main">
            <a:r>
              <a:t>LOGIC / RATIONALE: Extreme rain is an external trigger, but network redundancy and restoration arrangements are public-service responsibilities.</a:t>
            </a:r>
          </a:p>
          <a:p xmlns:a="http://schemas.openxmlformats.org/drawingml/2006/main">
            <a:r>
              <a:t>ASSUMPTIONS: Alternative supply capacity could have reduced the disruption at reasonable cost.</a:t>
            </a:r>
          </a:p>
          <a:p xmlns:a="http://schemas.openxmlformats.org/drawingml/2006/main">
            <a:r>
              <a:t>LIMITS: The initial four-day repair forecast was not the realised interruption everywhere. Separate reports cover different localities and restoration stages.</a:t>
            </a:r>
          </a:p>
          <a:p xmlns:a="http://schemas.openxmlformats.org/drawingml/2006/main">
            <a:r>
              <a:t>RESPONSE / COUNTER-FINDING: PWD restored pipelines in stages. Examine engineering inspections and redundancy investments rather than assuming deliberate neglect.</a:t>
            </a:r>
          </a:p>
          <a:p xmlns:a="http://schemas.openxmlformats.org/drawingml/2006/main">
            <a:r>
              <a:t>VERIFICATION: Four-publication check; shared origins disclosed</a:t>
            </a:r>
          </a:p>
          <a:p xmlns:a="http://schemas.openxmlformats.org/drawingml/2006/main">
            <a:r>
              <a:t>Underlying audit, survey, inquiry or official statement is shared across some publications; four citations do not establish four independent measurements.</a:t>
            </a:r>
          </a:p>
          <a:p xmlns:a="http://schemas.openxmlformats.org/drawingml/2006/main">
            <a:r>
              <a:t>Readable core sources: S434, S439, S442, S451</a:t>
            </a:r>
          </a:p>
          <a:p xmlns:a="http://schemas.openxmlformats.org/drawingml/2006/main">
            <a:r>
              <a:t>Follow-up: Obtain the current primary record and action-taken outcome; reconcile discrepancies before extending the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S434 · No Water Supply In Parts Of Goa For Third Day After Pipeline Burst</a:t>
            </a:r>
          </a:p>
          <a:p xmlns:a="http://schemas.openxmlformats.org/drawingml/2006/main">
            <a:r>
              <a:t>NDTV / underlying byline · Aug 17, 2019</a:t>
            </a:r>
          </a:p>
          <a:p xmlns:a="http://schemas.openxmlformats.org/drawingml/2006/main">
            <a:r>
              <a:t>https://www.ndtv.com/goa-news/no-water-supply-in-parts-of-goa-for-third-day-after-pipeline-burst-2086535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S439 · Water trickles into Panaji, may flow from taps today | Goa News - Times of India</a:t>
            </a:r>
          </a:p>
          <a:p xmlns:a="http://schemas.openxmlformats.org/drawingml/2006/main">
            <a:r>
              <a:t>The Times of India · Aug 22, 2019</a:t>
            </a:r>
          </a:p>
          <a:p xmlns:a="http://schemas.openxmlformats.org/drawingml/2006/main">
            <a:r>
              <a:t>https://timesofindia.indiatimes.com/city/goa/water-trickles-into-panaji-may-flow-from-taps-today/articleshow/70777994.cms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S442 · Curti landslide to leave Ponda, Tiswadi talukas dry for 4 days | Goa News - Times of India</a:t>
            </a:r>
          </a:p>
          <a:p xmlns:a="http://schemas.openxmlformats.org/drawingml/2006/main">
            <a:r>
              <a:t>The Times of India · Aug 16, 2019</a:t>
            </a:r>
          </a:p>
          <a:p xmlns:a="http://schemas.openxmlformats.org/drawingml/2006/main">
            <a:r>
              <a:t>https://timesofindia.indiatimes.com/city/goa/curti-landslide-to-leave-ponda-tiswadi-talukas-dry-for-4-days/articleshow/70693702.cms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S453 · Water plight in Tiswadi, Ponda continues - Herald Goa</a:t>
            </a:r>
          </a:p>
          <a:p xmlns:a="http://schemas.openxmlformats.org/drawingml/2006/main">
            <a:r>
              <a:t>O Heraldo · See original for publication date</a:t>
            </a:r>
          </a:p>
          <a:p xmlns:a="http://schemas.openxmlformats.org/drawingml/2006/main">
            <a:r>
              <a:t>https://www.heraldgoa.in/goa/water-plight-in-tiswadi-ponda-continues/366383/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unavailable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S451 · THE NAVHIND TIMES</a:t>
            </a:r>
          </a:p>
          <a:p xmlns:a="http://schemas.openxmlformats.org/drawingml/2006/main">
            <a:r>
              <a:t>epaper.navhindtimes.in · See original for publication date</a:t>
            </a:r>
          </a:p>
          <a:p xmlns:a="http://schemas.openxmlformats.org/drawingml/2006/main">
            <a:r>
              <a:t>https://epaper.navhindtimes.in/PageImages/PDF/NAVHINDTIMEPDFMERGER/Merged/18082019-md-ga-all.pdf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S454 · Panaji pipeline restored; Cumbharjua likely to get water by weekend | Goa News - The Times of India</a:t>
            </a:r>
          </a:p>
          <a:p xmlns:a="http://schemas.openxmlformats.org/drawingml/2006/main">
            <a:r>
              <a:t>The Times of India · Aug 22, 2019</a:t>
            </a:r>
          </a:p>
          <a:p xmlns:a="http://schemas.openxmlformats.org/drawingml/2006/main">
            <a:r>
              <a:t>https://timesofindia.indiatimes.com/city/goa/panaji-pipeline-restored-cumbharjua-likely-to-get-water-by-weekend/articleshow/70777921.cms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G40 · Electricity reliability concerns</a:t>
            </a:r>
          </a:p>
          <a:p xmlns:a="http://schemas.openxmlformats.org/drawingml/2006/main">
            <a:r>
              <a:t>April 2024–March 2026 reporting · Several divisions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FACT / G40-C1: A report based on power-sector data describes repeated planned and unplanned interruptions, with high counts in Curchorem and Ponda.</a:t>
            </a:r>
          </a:p>
          <a:p xmlns:a="http://schemas.openxmlformats.org/drawingml/2006/main">
            <a:r>
              <a:t>EFFECT ON GOA: Interruptions can affect household convenience, businesses, students and public facilities.</a:t>
            </a:r>
          </a:p>
          <a:p xmlns:a="http://schemas.openxmlformats.org/drawingml/2006/main">
            <a:r>
              <a:t>INCUMBENT IMPLICATION: Tests the incumbent’s reliability commitments and distribution-network management.</a:t>
            </a:r>
          </a:p>
          <a:p xmlns:a="http://schemas.openxmlformats.org/drawingml/2006/main">
            <a:r>
              <a:t>LOGIC / RATIONALE: Service reliability depends on maintenance and adequate capacity. Monitoring outages is necessary to judge whether investments improve actual supply.</a:t>
            </a:r>
          </a:p>
          <a:p xmlns:a="http://schemas.openxmlformats.org/drawingml/2006/main">
            <a:r>
              <a:t>ASSUMPTIONS: Unplanned interruptions were material; planned maintenance may improve later reliability.</a:t>
            </a:r>
          </a:p>
          <a:p xmlns:a="http://schemas.openxmlformats.org/drawingml/2006/main">
            <a:r>
              <a:t>LIMITS: Division outage totals cannot be treated as statewide simultaneous blackouts. Consumer-event counts may include repeat consumers; hours cannot simply be added as household downtime.</a:t>
            </a:r>
          </a:p>
          <a:p xmlns:a="http://schemas.openxmlformats.org/drawingml/2006/main">
            <a:r>
              <a:t>RESPONSE / COUNTER-FINDING: Official monthly reports allow followup. Distinguish maintenance, weather and equipment failures before quantifying avoidable loss.</a:t>
            </a:r>
          </a:p>
          <a:p xmlns:a="http://schemas.openxmlformats.org/drawingml/2006/main">
            <a:r>
              <a:t>VERIFICATION: Below four-source threshold (3 readable supporting records)</a:t>
            </a:r>
          </a:p>
          <a:p xmlns:a="http://schemas.openxmlformats.org/drawingml/2006/main">
            <a:r>
              <a:t>Underlying audit, survey, inquiry or official statement is shared across some publications; four citations do not establish four independent measurements.</a:t>
            </a:r>
          </a:p>
          <a:p xmlns:a="http://schemas.openxmlformats.org/drawingml/2006/main">
            <a:r>
              <a:t>Readable core sources: S448, S458, S462</a:t>
            </a:r>
          </a:p>
          <a:p xmlns:a="http://schemas.openxmlformats.org/drawingml/2006/main">
            <a:r>
              <a:t>Follow-up: Obtain the current primary record and action-taken outcome; reconcile discrepancies before extending the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S448 · Electricity demand continues to soar, so do outages: Data | The Goan</a:t>
            </a:r>
          </a:p>
          <a:p xmlns:a="http://schemas.openxmlformats.org/drawingml/2006/main">
            <a:r>
              <a:t>The Goan Everyday · Publication date not independently established; accessed 14 October 2026</a:t>
            </a:r>
          </a:p>
          <a:p xmlns:a="http://schemas.openxmlformats.org/drawingml/2006/main">
            <a:r>
              <a:t>https://www.thegoan.net/goa-news/electricity-demand-continues-to-soar-so-do-outages-data/154182.html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S431 · Electricity Department, Government of Goa</a:t>
            </a:r>
          </a:p>
          <a:p xmlns:a="http://schemas.openxmlformats.org/drawingml/2006/main">
            <a:r>
              <a:t>goaelectricity.gov.in · See original for publication date</a:t>
            </a:r>
          </a:p>
          <a:p xmlns:a="http://schemas.openxmlformats.org/drawingml/2006/main">
            <a:r>
              <a:t>https://www.goaelectricity.gov.in/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Not fully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S458 · Outage Report for Apr 2025 - Electricity Department, Government of Goa</a:t>
            </a:r>
          </a:p>
          <a:p xmlns:a="http://schemas.openxmlformats.org/drawingml/2006/main">
            <a:r>
              <a:t>goaelectricity.gov.in · 25  </a:t>
            </a:r>
          </a:p>
          <a:p xmlns:a="http://schemas.openxmlformats.org/drawingml/2006/main">
            <a:r>
              <a:t>FY 2024</a:t>
            </a:r>
          </a:p>
          <a:p xmlns:a="http://schemas.openxmlformats.org/drawingml/2006/main">
            <a:r>
              <a:t>https://www.goaelectricity.gov.in/general-information/power-interruptions/outage-report-for-apr-2025/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S462 · Outage Report for December 2025 - Electricity Department, Government of Goa</a:t>
            </a:r>
          </a:p>
          <a:p xmlns:a="http://schemas.openxmlformats.org/drawingml/2006/main">
            <a:r>
              <a:t>goaelectricity.gov.in · 25  </a:t>
            </a:r>
          </a:p>
          <a:p xmlns:a="http://schemas.openxmlformats.org/drawingml/2006/main">
            <a:r>
              <a:t>FY 2024</a:t>
            </a:r>
          </a:p>
          <a:p xmlns:a="http://schemas.openxmlformats.org/drawingml/2006/main">
            <a:r>
              <a:t>https://www.goaelectricity.gov.in/general-information/power-interruptions/outage-report-for-december-2025/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G41 · Cyclone Tauktae damage and relief</a:t>
            </a:r>
          </a:p>
          <a:p xmlns:a="http://schemas.openxmlformats.org/drawingml/2006/main">
            <a:r>
              <a:t>May 2021 · Statewide, including coastal agriculture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FACT / G41-C1: Official records document deaths, house damage and agricultural losses from Cyclone Tauktae in Goa.</a:t>
            </a:r>
          </a:p>
          <a:p xmlns:a="http://schemas.openxmlformats.org/drawingml/2006/main">
            <a:r>
              <a:t>EFFECT ON GOA: Power infrastructure, homes and livelihoods were disrupted; compensation needs varied by locality and damage category.</a:t>
            </a:r>
          </a:p>
          <a:p xmlns:a="http://schemas.openxmlformats.org/drawingml/2006/main">
            <a:r>
              <a:t>INCUMBENT IMPLICATION: Tests preparedness, restoration and relief delivery, without making the storm itself proof of bad governance.</a:t>
            </a:r>
          </a:p>
          <a:p xmlns:a="http://schemas.openxmlformats.org/drawingml/2006/main">
            <a:r>
              <a:t>LOGIC / RATIONALE: Governments cannot prevent a cyclone but can reduce vulnerability and deliver timely recovery support.</a:t>
            </a:r>
          </a:p>
          <a:p xmlns:a="http://schemas.openxmlformats.org/drawingml/2006/main">
            <a:r>
              <a:t>ASSUMPTIONS: Some losses were mitigable and relief processes affected recovery.</a:t>
            </a:r>
          </a:p>
          <a:p xmlns:a="http://schemas.openxmlformats.org/drawingml/2006/main">
            <a:r>
              <a:t>LIMITS: Reported monetary losses changed as assessments expanded. Rs 40 crore, Rs 146 crore and later higher estimates cannot be treated as the same final figure.</a:t>
            </a:r>
          </a:p>
          <a:p xmlns:a="http://schemas.openxmlformats.org/drawingml/2006/main">
            <a:r>
              <a:t>RESPONSE / COUNTER-FINDING: Compensation was sanctioned and restoration undertaken. Sanction is not proof that every eligible claimant received payment.</a:t>
            </a:r>
          </a:p>
          <a:p xmlns:a="http://schemas.openxmlformats.org/drawingml/2006/main">
            <a:r>
              <a:t>VERIFICATION: Four-publication check; shared origins disclosed</a:t>
            </a:r>
          </a:p>
          <a:p xmlns:a="http://schemas.openxmlformats.org/drawingml/2006/main">
            <a:r>
              <a:t>Underlying audit, survey, inquiry or official statement is shared across some publications; four citations do not establish four independent measurements.</a:t>
            </a:r>
          </a:p>
          <a:p xmlns:a="http://schemas.openxmlformats.org/drawingml/2006/main">
            <a:r>
              <a:t>Readable core sources: S429, S433, S445, S449</a:t>
            </a:r>
          </a:p>
          <a:p xmlns:a="http://schemas.openxmlformats.org/drawingml/2006/main">
            <a:r>
              <a:t>Follow-up: Obtain the current primary record and action-taken outcome; reconcile discrepancies before extending the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S429 · Loss of Life and Property Due to Cyclone Tauktae and Yaas</a:t>
            </a:r>
          </a:p>
          <a:p xmlns:a="http://schemas.openxmlformats.org/drawingml/2006/main">
            <a:r>
              <a:t>Press Information Bureau · 28 JUL 2021</a:t>
            </a:r>
          </a:p>
          <a:p xmlns:a="http://schemas.openxmlformats.org/drawingml/2006/main">
            <a:r>
              <a:t>https://www.pib.gov.in/Pressreleaseshare.aspx?PRID=1739933&amp;lang=2&amp;reg=48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S433 · GOVERNMENT OF INDIA</a:t>
            </a:r>
          </a:p>
          <a:p xmlns:a="http://schemas.openxmlformats.org/drawingml/2006/main">
            <a:r>
              <a:t>mha.gov.in · 18 May 2021</a:t>
            </a:r>
          </a:p>
          <a:p xmlns:a="http://schemas.openxmlformats.org/drawingml/2006/main">
            <a:r>
              <a:t>https://www.mha.gov.in/MHA1/Par2017/pdfs/par2021-pdfs/LS-20072021/390.pdf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S435 · State sanctions Rs 20.66 lakh worth compensation - Herald Goa</a:t>
            </a:r>
          </a:p>
          <a:p xmlns:a="http://schemas.openxmlformats.org/drawingml/2006/main">
            <a:r>
              <a:t>O Heraldo · See original for publication date</a:t>
            </a:r>
          </a:p>
          <a:p xmlns:a="http://schemas.openxmlformats.org/drawingml/2006/main">
            <a:r>
              <a:t>https://www.heraldgoa.in/goa/state-sanctions-rs-20-66-lakh-worth-compensation/110949/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unavailable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S445 · STATE COUNTS ITS LOSSES | The Goan</a:t>
            </a:r>
          </a:p>
          <a:p xmlns:a="http://schemas.openxmlformats.org/drawingml/2006/main">
            <a:r>
              <a:t>The Goan Everyday · Publication date not independently established; accessed 14 October 2026</a:t>
            </a:r>
          </a:p>
          <a:p xmlns:a="http://schemas.openxmlformats.org/drawingml/2006/main">
            <a:r>
              <a:t>https://www.thegoan.net/goa-news/state-counts-its-losses/69602.html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S447 · Tauktae losses huge, but compensation comes in trickle</a:t>
            </a:r>
          </a:p>
          <a:p xmlns:a="http://schemas.openxmlformats.org/drawingml/2006/main">
            <a:r>
              <a:t>The Goan Everyday · Publication date not independently established; accessed 14 October 2026</a:t>
            </a:r>
          </a:p>
          <a:p xmlns:a="http://schemas.openxmlformats.org/drawingml/2006/main">
            <a:r>
              <a:t>https://www.thegoan.net/goa-news/tauktae-losses-huge-but-compensation-comes-in-trickle/69865.html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S449 · Goa Government Pegs Losses Due To Cyclone Tauktae At Rs 146 Crore</a:t>
            </a:r>
          </a:p>
          <a:p xmlns:a="http://schemas.openxmlformats.org/drawingml/2006/main">
            <a:r>
              <a:t>NDTV / underlying byline · May 22, 2021</a:t>
            </a:r>
          </a:p>
          <a:p xmlns:a="http://schemas.openxmlformats.org/drawingml/2006/main">
            <a:r>
              <a:t>https://www.ndtv.com/goa-news/goa-government-pegs-losses-due-to-cyclone-tauktae-at-rs-146-crore-2447085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S437 · National Crisis Management Committee (NCMC) headed by Cabinet Secretary, reviews relief and restoration efforts in aftermath of cyclonic storm ‘Tauktae’</a:t>
            </a:r>
          </a:p>
          <a:p xmlns:a="http://schemas.openxmlformats.org/drawingml/2006/main">
            <a:r>
              <a:t>Press Information Bureau · See original for publication date</a:t>
            </a:r>
          </a:p>
          <a:p xmlns:a="http://schemas.openxmlformats.org/drawingml/2006/main">
            <a:r>
              <a:t>https://www.pib.gov.in/Pressreleaseshare.aspx?PRID=1720280&amp;lang=2&amp;reg=48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Not fully retrieved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G42 · July 2021 floods</a:t>
            </a:r>
          </a:p>
          <a:p xmlns:a="http://schemas.openxmlformats.org/drawingml/2006/main">
            <a:r>
              <a:t>23 July 2021 onward · Sattari, Bicholim, Ponda and other talukas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FACT / G42-C1: Severe flooding damaged homes and infrastructure and required evacuations in July 2021.</a:t>
            </a:r>
          </a:p>
          <a:p xmlns:a="http://schemas.openxmlformats.org/drawingml/2006/main">
            <a:r>
              <a:t>EFFECT ON GOA: Residents experienced displacement, interrupted access and damage to household and farm assets.</a:t>
            </a:r>
          </a:p>
          <a:p xmlns:a="http://schemas.openxmlformats.org/drawingml/2006/main">
            <a:r>
              <a:t>INCUMBENT IMPLICATION: Creates a resilience and recovery-delivery test for the incumbent.</a:t>
            </a:r>
          </a:p>
          <a:p xmlns:a="http://schemas.openxmlformats.org/drawingml/2006/main">
            <a:r>
              <a:t>LOGIC / RATIONALE: Exceptional rainfall explains the hazard; preparedness, drainage, land-use control and assistance determine part of the eventual damage and recovery.</a:t>
            </a:r>
          </a:p>
          <a:p xmlns:a="http://schemas.openxmlformats.org/drawingml/2006/main">
            <a:r>
              <a:t>ASSUMPTIONS: Public measures could reduce exposure in at least some affected locations.</a:t>
            </a:r>
          </a:p>
          <a:p xmlns:a="http://schemas.openxmlformats.org/drawingml/2006/main">
            <a:r>
              <a:t>LIMITS: Early reports recorded no deaths; later reports recorded one. The phrase worst in 40 years is a reported characterisation, not a independently reconstructed hydrological ranking.</a:t>
            </a:r>
          </a:p>
          <a:p xmlns:a="http://schemas.openxmlformats.org/drawingml/2006/main">
            <a:r>
              <a:t>RESPONSE / COUNTER-FINDING: Rescue and compensation commitments are documented. Verify payments and repeated-risk treatment before concluding relief failure.</a:t>
            </a:r>
          </a:p>
          <a:p xmlns:a="http://schemas.openxmlformats.org/drawingml/2006/main">
            <a:r>
              <a:t>VERIFICATION: Four-publication check; shared origins disclosed</a:t>
            </a:r>
          </a:p>
          <a:p xmlns:a="http://schemas.openxmlformats.org/drawingml/2006/main">
            <a:r>
              <a:t>Underlying audit, survey, inquiry or official statement is shared across some publications; four citations do not establish four independent measurements.</a:t>
            </a:r>
          </a:p>
          <a:p xmlns:a="http://schemas.openxmlformats.org/drawingml/2006/main">
            <a:r>
              <a:t>Readable core sources: S609, S610, S613, S615</a:t>
            </a:r>
          </a:p>
          <a:p xmlns:a="http://schemas.openxmlformats.org/drawingml/2006/main">
            <a:r>
              <a:t>Follow-up: Obtain the current primary record and action-taken outcome; reconcile discrepancies before extending the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S609 · Worst flood in 40 years destroys rural Goa, hundreds evacuated | Goa News - Times of India</a:t>
            </a:r>
          </a:p>
          <a:p xmlns:a="http://schemas.openxmlformats.org/drawingml/2006/main">
            <a:r>
              <a:t>The Times of India · Jul 24, 2021</a:t>
            </a:r>
          </a:p>
          <a:p xmlns:a="http://schemas.openxmlformats.org/drawingml/2006/main">
            <a:r>
              <a:t>https://timesofindia.indiatimes.com/city/goa/worst-flood-in-40-yrs-destroys-rural-goa-woman-feared-dead/articleshow/84692593.cms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S610 · Incessant rain triggers Goa’s worst floods in decades; property worth crores damaged | Goa News - The Indian Express</a:t>
            </a:r>
          </a:p>
          <a:p xmlns:a="http://schemas.openxmlformats.org/drawingml/2006/main">
            <a:r>
              <a:t>The Indian Express · Jul 24, 2021</a:t>
            </a:r>
          </a:p>
          <a:p xmlns:a="http://schemas.openxmlformats.org/drawingml/2006/main">
            <a:r>
              <a:t>https://indianexpress.com/article/cities/goa/goa-cm-pramod-sawant-visits-flood-affected-areas-as-rescue-work-progresses-7418628/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S613 · Nearly 1,000 Houses Damaged, Hundreds Evacuated In Flood-Hit Goa</a:t>
            </a:r>
          </a:p>
          <a:p xmlns:a="http://schemas.openxmlformats.org/drawingml/2006/main">
            <a:r>
              <a:t>NDTV / underlying byline · Jul 24, 2021</a:t>
            </a:r>
          </a:p>
          <a:p xmlns:a="http://schemas.openxmlformats.org/drawingml/2006/main">
            <a:r>
              <a:t>https://www.ndtv.com/india-news/nearly-1-000-houses-damaged-hundreds-evacuated-in-flood-hit-goa-2493536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S612 · Goa CM Pramod Sawant assures compensation of up to Rs 2.5 lakh for flood-hit homes | Goa News - Times of India</a:t>
            </a:r>
          </a:p>
          <a:p xmlns:a="http://schemas.openxmlformats.org/drawingml/2006/main">
            <a:r>
              <a:t>The Times of India · Jul 31, 2021</a:t>
            </a:r>
          </a:p>
          <a:p xmlns:a="http://schemas.openxmlformats.org/drawingml/2006/main">
            <a:r>
              <a:t>https://timesofindia.indiatimes.com/city/goa/sawant-assures-compensation-of-up-to-rs-2-5-lakh-for-flood-hit-homes/articleshow/84908759.cms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S615 · Too much yet too little July rain reflects climate change dynamics in Goa | Goa News - Times of India</a:t>
            </a:r>
          </a:p>
          <a:p xmlns:a="http://schemas.openxmlformats.org/drawingml/2006/main">
            <a:r>
              <a:t>The Times of India · Aug 1, 2021</a:t>
            </a:r>
          </a:p>
          <a:p xmlns:a="http://schemas.openxmlformats.org/drawingml/2006/main">
            <a:r>
              <a:t>https://timesofindia.indiatimes.com/city/goa/too-much-yet-too-little-of-july-rain-reflects-climate-change-dynamics/articleshow/84934942.cms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G43 · March 2023 forest fires</a:t>
            </a:r>
          </a:p>
          <a:p xmlns:a="http://schemas.openxmlformats.org/drawingml/2006/main">
            <a:r>
              <a:t>March 2023 · Mhadei and other forest locations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FACT / G43-C1: The Forest Department produced a report on fires affecting multiple locations in March 2023.</a:t>
            </a:r>
          </a:p>
          <a:p xmlns:a="http://schemas.openxmlformats.org/drawingml/2006/main">
            <a:r>
              <a:t>EFFECT ON GOA: Fires created ecological exposure and required substantial response coordination.</a:t>
            </a:r>
          </a:p>
          <a:p xmlns:a="http://schemas.openxmlformats.org/drawingml/2006/main">
            <a:r>
              <a:t>INCUMBENT IMPLICATION: Raises questions about surveillance, prevention and firefighting capacity.</a:t>
            </a:r>
          </a:p>
          <a:p xmlns:a="http://schemas.openxmlformats.org/drawingml/2006/main">
            <a:r>
              <a:t>LOGIC / RATIONALE: Known fire risk and protected-area duties make preparedness relevant; documented response should be assessed alongside the occurrence.</a:t>
            </a:r>
          </a:p>
          <a:p xmlns:a="http://schemas.openxmlformats.org/drawingml/2006/main">
            <a:r>
              <a:t>ASSUMPTIONS: Earlier detection or mitigation could reduce at least some damage.</a:t>
            </a:r>
          </a:p>
          <a:p xmlns:a="http://schemas.openxmlformats.org/drawingml/2006/main">
            <a:r>
              <a:t>LIMITS: Do not assume intentional arson or assign all affected forest as permanently destroyed. Area, vegetation loss and recovery require separate measures.</a:t>
            </a:r>
          </a:p>
          <a:p xmlns:a="http://schemas.openxmlformats.org/drawingml/2006/main">
            <a:r>
              <a:t>RESPONSE / COUNTER-FINDING: Forest staff and additional response resources were mobilised; review recommendations, staffing and subsequent prevention measures.</a:t>
            </a:r>
          </a:p>
          <a:p xmlns:a="http://schemas.openxmlformats.org/drawingml/2006/main">
            <a:r>
              <a:t>VERIFICATION: Below four-source threshold (2 readable supporting records)</a:t>
            </a:r>
          </a:p>
          <a:p xmlns:a="http://schemas.openxmlformats.org/drawingml/2006/main">
            <a:r>
              <a:t>Underlying audit, survey, inquiry or official statement is shared across some publications; four citations do not establish four independent measurements.</a:t>
            </a:r>
          </a:p>
          <a:p xmlns:a="http://schemas.openxmlformats.org/drawingml/2006/main">
            <a:r>
              <a:t>Readable core sources: S450, S461</a:t>
            </a:r>
          </a:p>
          <a:p xmlns:a="http://schemas.openxmlformats.org/drawingml/2006/main">
            <a:r>
              <a:t>Follow-up: Obtain the current primary record and action-taken outcome; reconcile discrepancies before extending the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S436 · 1. INTRODUCTION</a:t>
            </a:r>
          </a:p>
          <a:p xmlns:a="http://schemas.openxmlformats.org/drawingml/2006/main">
            <a:r>
              <a:t>Government of Goa · See original for publication date</a:t>
            </a:r>
          </a:p>
          <a:p xmlns:a="http://schemas.openxmlformats.org/drawingml/2006/main">
            <a:r>
              <a:t>https://www.forest.goa.gov.in/sites/default/files/2023-07/Report%20on%20Forest%20Fire-.pdf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unavailable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S441 · 6th March 2023</a:t>
            </a:r>
          </a:p>
          <a:p xmlns:a="http://schemas.openxmlformats.org/drawingml/2006/main">
            <a:r>
              <a:t>Government of Goa · See original for publication date</a:t>
            </a:r>
          </a:p>
          <a:p xmlns:a="http://schemas.openxmlformats.org/drawingml/2006/main">
            <a:r>
              <a:t>https://forest.goa.gov.in/sites/default/files/2023-07/Report%20on%20Forest%20Fire-.pdf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unavailable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S450 · Multiple fires at Mhadei wildlife sanctuary in Goa | Goa News - Times of India</a:t>
            </a:r>
          </a:p>
          <a:p xmlns:a="http://schemas.openxmlformats.org/drawingml/2006/main">
            <a:r>
              <a:t>The Times of India · Mar 6, 2023</a:t>
            </a:r>
          </a:p>
          <a:p xmlns:a="http://schemas.openxmlformats.org/drawingml/2006/main">
            <a:r>
              <a:t>https://timesofindia.indiatimes.com/city/goa/multiple-fires-at-mhadei-wildlife-sanctuary-in-goa/articleshow/98446764.cms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S461 · Why did Goa see a spate of forest fires in March? | Explained News - The Indian Express</a:t>
            </a:r>
          </a:p>
          <a:p xmlns:a="http://schemas.openxmlformats.org/drawingml/2006/main">
            <a:r>
              <a:t>The Indian Express · May 7, 2023</a:t>
            </a:r>
          </a:p>
          <a:p xmlns:a="http://schemas.openxmlformats.org/drawingml/2006/main">
            <a:r>
              <a:t>https://indianexpress.com/article/explained/explained-climate/goa-forest-fires-in-march-2023-explained-8596719/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G44 · Tiger poisoning and wildlife conflict</a:t>
            </a:r>
          </a:p>
          <a:p xmlns:a="http://schemas.openxmlformats.org/drawingml/2006/main">
            <a:r>
              <a:t>January 2020 discoveries · Mhadei landscape, Sattari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FACT / G44-C1: Four tiger carcasses were discovered in the Mhadei landscape; forest officials reported poisoning and arrests.</a:t>
            </a:r>
          </a:p>
          <a:p xmlns:a="http://schemas.openxmlformats.org/drawingml/2006/main">
            <a:r>
              <a:t>EFFECT ON GOA: The deaths exposed conflict between wildlife conservation and livestock-dependent households.</a:t>
            </a:r>
          </a:p>
          <a:p xmlns:a="http://schemas.openxmlformats.org/drawingml/2006/main">
            <a:r>
              <a:t>INCUMBENT IMPLICATION: Challenges preventive conservation and conflict-response systems.</a:t>
            </a:r>
          </a:p>
          <a:p xmlns:a="http://schemas.openxmlformats.org/drawingml/2006/main">
            <a:r>
              <a:t>LOGIC / RATIONALE: Timely compensation, outreach and enforcement may reduce retaliatory risks; private offences remain distinct from public negligence.</a:t>
            </a:r>
          </a:p>
          <a:p xmlns:a="http://schemas.openxmlformats.org/drawingml/2006/main">
            <a:r>
              <a:t>ASSUMPTIONS: Unresolved livestock losses or response gaps contributed to the incident; that mechanism needs case evidence.</a:t>
            </a:r>
          </a:p>
          <a:p xmlns:a="http://schemas.openxmlformats.org/drawingml/2006/main">
            <a:r>
              <a:t>LIMITS: Reports differ on age and sex descriptions of the animals. Use the verified count and avoid unconfirmed family descriptions or claiming all Goa tigers were lost.</a:t>
            </a:r>
          </a:p>
          <a:p xmlns:a="http://schemas.openxmlformats.org/drawingml/2006/main">
            <a:r>
              <a:t>RESPONSE / COUNTER-FINDING: Investigations and arrests were undertaken. The final prosecution outcome and compensation history were not fully established.</a:t>
            </a:r>
          </a:p>
          <a:p xmlns:a="http://schemas.openxmlformats.org/drawingml/2006/main">
            <a:r>
              <a:t>VERIFICATION: Below four-source threshold (1 readable supporting records)</a:t>
            </a:r>
          </a:p>
          <a:p xmlns:a="http://schemas.openxmlformats.org/drawingml/2006/main">
            <a:r>
              <a:t>Underlying audit, survey, inquiry or official statement is shared across some publications; four citations do not establish four independent measurements.</a:t>
            </a:r>
          </a:p>
          <a:p xmlns:a="http://schemas.openxmlformats.org/drawingml/2006/main">
            <a:r>
              <a:t>Readable core sources: S444</a:t>
            </a:r>
          </a:p>
          <a:p xmlns:a="http://schemas.openxmlformats.org/drawingml/2006/main">
            <a:r>
              <a:t>Follow-up: Obtain the current primary record and action-taken outcome; reconcile discrepancies before extending the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S428 · Goa Forest News Jan to Mar 2020 second draft</a:t>
            </a:r>
          </a:p>
          <a:p xmlns:a="http://schemas.openxmlformats.org/drawingml/2006/main">
            <a:r>
              <a:t>Government of Goa · See original for publication date</a:t>
            </a:r>
          </a:p>
          <a:p xmlns:a="http://schemas.openxmlformats.org/drawingml/2006/main">
            <a:r>
              <a:t>https://www.forest.goa.gov.in/sites/default/files/2022-06/Goa-Forest-News-Jan-to-Mar-2020-final.pdf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unavailable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S432 · Goa: Tigress, 3 cubs poisoned, 3 locals held | India News - The Indian Express</a:t>
            </a:r>
          </a:p>
          <a:p xmlns:a="http://schemas.openxmlformats.org/drawingml/2006/main">
            <a:r>
              <a:t>The Indian Express · See original for publication date</a:t>
            </a:r>
          </a:p>
          <a:p xmlns:a="http://schemas.openxmlformats.org/drawingml/2006/main">
            <a:r>
              <a:t>https://indianexpress.com/article/india/goa-tigress-3-cubs-poisoned-3-locals-held-6207076/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Not fully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S438 · Three more tiger carcasses found in Goa, forest officials say all 4 poisoned | Goa News - The Indian Express</a:t>
            </a:r>
          </a:p>
          <a:p xmlns:a="http://schemas.openxmlformats.org/drawingml/2006/main">
            <a:r>
              <a:t>The Indian Express · See original for publication date</a:t>
            </a:r>
          </a:p>
          <a:p xmlns:a="http://schemas.openxmlformats.org/drawingml/2006/main">
            <a:r>
              <a:t>https://indianexpress.com/article/cities/goa/two-more-tiger-carcasses-found-in-goa-probe-underway-6206143/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Not fully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S444 · 4 tigers found dead in Goa sanctuary,  Centre names 2-member probe team</a:t>
            </a:r>
          </a:p>
          <a:p xmlns:a="http://schemas.openxmlformats.org/drawingml/2006/main">
            <a:r>
              <a:t>The Indian Express · 10 Jan 2020</a:t>
            </a:r>
          </a:p>
          <a:p xmlns:a="http://schemas.openxmlformats.org/drawingml/2006/main">
            <a:r>
              <a:t>https://www.newindianexpress.com/states/karnataka/2020/Jan/10/4-tigers-found-dead-in-goa-sanctuary--centre-names-2-member-probe-team-2087641.html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S456 · 3 Tigers Found Dead In Goa's Mahadayi Forest In 4 Days</a:t>
            </a:r>
          </a:p>
          <a:p xmlns:a="http://schemas.openxmlformats.org/drawingml/2006/main">
            <a:r>
              <a:t>NDTV / underlying byline · See original for publication date</a:t>
            </a:r>
          </a:p>
          <a:p xmlns:a="http://schemas.openxmlformats.org/drawingml/2006/main">
            <a:r>
              <a:t>https://www.ndtv.com/goa-news/3-tigers-found-dead-in-goas-mahadayi-forest-in-4-days-2160818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Not fully retrieved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G45 · Tourism recovery and foreign-segment weakness</a:t>
            </a:r>
          </a:p>
          <a:p xmlns:a="http://schemas.openxmlformats.org/drawingml/2006/main">
            <a:r>
              <a:t>2023–2025 data and reporting · Statewide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FACT / G45-C1: Official tourism data report higher total arrivals, while reporting identifies weaker charter and foreign segments relative to earlier peaks.</a:t>
            </a:r>
          </a:p>
          <a:p xmlns:a="http://schemas.openxmlformats.org/drawingml/2006/main">
            <a:r>
              <a:t>EFFECT ON GOA: Growth in total visitors can coexist with pressure on businesses serving different markets.</a:t>
            </a:r>
          </a:p>
          <a:p xmlns:a="http://schemas.openxmlformats.org/drawingml/2006/main">
            <a:r>
              <a:t>INCUMBENT IMPLICATION: Limits a blanket tourism-collapse claim while testing diversification and data transparency.</a:t>
            </a:r>
          </a:p>
          <a:p xmlns:a="http://schemas.openxmlformats.org/drawingml/2006/main">
            <a:r>
              <a:t>LOGIC / RATIONALE: Segment composition, spending and seasonality matter as much as headline arrivals. Higher volume does not prove every business prospered.</a:t>
            </a:r>
          </a:p>
          <a:p xmlns:a="http://schemas.openxmlformats.org/drawingml/2006/main">
            <a:r>
              <a:t>ASSUMPTIONS: Counting methods are consistent enough for comparison; expenditure differences across segments are substantiated.</a:t>
            </a:r>
          </a:p>
          <a:p xmlns:a="http://schemas.openxmlformats.org/drawingml/2006/main">
            <a:r>
              <a:t>LIMITS: Transport passengers and tourist arrivals must not be conflated. Published figures and methodology have been challenged; no statewide lost-revenue total is verified.</a:t>
            </a:r>
          </a:p>
          <a:p xmlns:a="http://schemas.openxmlformats.org/drawingml/2006/main">
            <a:r>
              <a:t>RESPONSE / COUNTER-FINDING: The tourism department defended its data and recovery trajectory. Obtain methods, nights stayed, spending and segment-level outcomes.</a:t>
            </a:r>
          </a:p>
          <a:p xmlns:a="http://schemas.openxmlformats.org/drawingml/2006/main">
            <a:r>
              <a:t>VERIFICATION: Four-publication check; shared origins disclosed</a:t>
            </a:r>
          </a:p>
          <a:p xmlns:a="http://schemas.openxmlformats.org/drawingml/2006/main">
            <a:r>
              <a:t>Underlying audit, survey, inquiry or official statement is shared across some publications; four citations do not establish four independent measurements.</a:t>
            </a:r>
          </a:p>
          <a:p xmlns:a="http://schemas.openxmlformats.org/drawingml/2006/main">
            <a:r>
              <a:t>Readable core sources: S464, S472, S480, S486, S469</a:t>
            </a:r>
          </a:p>
          <a:p xmlns:a="http://schemas.openxmlformats.org/drawingml/2006/main">
            <a:r>
              <a:t>Follow-up: Obtain the current primary record and action-taken outcome; reconcile discrepancies before extending the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S464 · Goa records strong and sustained growth in tourist arrivals 2025 figures reflect continued momentum – Department of Tourism, Government of Goa</a:t>
            </a:r>
          </a:p>
          <a:p xmlns:a="http://schemas.openxmlformats.org/drawingml/2006/main">
            <a:r>
              <a:t>goatourism.gov.in · See original for publication date</a:t>
            </a:r>
          </a:p>
          <a:p xmlns:a="http://schemas.openxmlformats.org/drawingml/2006/main">
            <a:r>
              <a:t>https://goatourism.gov.in/blog-list/goa-records-strong-and-sustained-growth-in-tourist-arrivals-2025-figures-reflect-continued-momentum/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S472 · GTDC – Goa Tourism Development Corporation</a:t>
            </a:r>
          </a:p>
          <a:p xmlns:a="http://schemas.openxmlformats.org/drawingml/2006/main">
            <a:r>
              <a:t>goa-tourism.com · See original for publication date</a:t>
            </a:r>
          </a:p>
          <a:p xmlns:a="http://schemas.openxmlformats.org/drawingml/2006/main">
            <a:r>
              <a:t>https://goa-tourism.com/news/goa-records-robust-21-percent-growth-in-tourism-sets-new-milestones-in-2024/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S480 · ‘Every social media influencer took Goa for a ride,’ says tourism minister, this time armed with data | India News - The Indian Express</a:t>
            </a:r>
          </a:p>
          <a:p xmlns:a="http://schemas.openxmlformats.org/drawingml/2006/main">
            <a:r>
              <a:t>The Indian Express · Jan 14, 2025</a:t>
            </a:r>
          </a:p>
          <a:p xmlns:a="http://schemas.openxmlformats.org/drawingml/2006/main">
            <a:r>
              <a:t>https://indianexpress.com/article/india/every-social-media-influencer-took-goa-for-a-ride-says-tourism-minister-this-time-armed-with-data-9777264/lite/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S486 · ‘So-called influencers sitting outside state, paid to create false narratives’: Goa tourism minister | India News - The Indian Express</a:t>
            </a:r>
          </a:p>
          <a:p xmlns:a="http://schemas.openxmlformats.org/drawingml/2006/main">
            <a:r>
              <a:t>The Indian Express · Jul 24, 2025</a:t>
            </a:r>
          </a:p>
          <a:p xmlns:a="http://schemas.openxmlformats.org/drawingml/2006/main">
            <a:r>
              <a:t>https://indianexpress.com/article/india/influencers-outside-state-paid-create-false-narratives-goa-tourism-minister-10146771/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S469 · Goa saw one crore tourists in 2025, but foreign arrivals below pre-Covid levels | Goa News - The Times of India</a:t>
            </a:r>
          </a:p>
          <a:p xmlns:a="http://schemas.openxmlformats.org/drawingml/2006/main">
            <a:r>
              <a:t>The Times of India · Jan 14, 2026</a:t>
            </a:r>
          </a:p>
          <a:p xmlns:a="http://schemas.openxmlformats.org/drawingml/2006/main">
            <a:r>
              <a:t>https://timesofindia.indiatimes.com/city/goa/goa-saw-one-crore-tourists-in-2025-but-foreign-arrivals-below-pre-covid-levels/articleshow/126457882.cms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S470 · Lost in the crowd: RIP once-thriving charter tourism | The Goan</a:t>
            </a:r>
          </a:p>
          <a:p xmlns:a="http://schemas.openxmlformats.org/drawingml/2006/main">
            <a:r>
              <a:t>The Goan Everyday · Publication date not independently established; accessed 14 October 2026</a:t>
            </a:r>
          </a:p>
          <a:p xmlns:a="http://schemas.openxmlformats.org/drawingml/2006/main">
            <a:r>
              <a:t>https://www.thegoan.net/editorial/%EF%BB%BFlost-in-the-crowd-rip-oncethriving-charter-tourism/141790.html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S471 · Year 2022 | Foreign 169005 | % increase 663% --- |</a:t>
            </a:r>
          </a:p>
          <a:p xmlns:a="http://schemas.openxmlformats.org/drawingml/2006/main">
            <a:r>
              <a:t>Goa Legislative Assembly · See original for publication date</a:t>
            </a:r>
          </a:p>
          <a:p xmlns:a="http://schemas.openxmlformats.org/drawingml/2006/main">
            <a:r>
              <a:t>https://static.goavidhansabha.gov.in/goalpub/docs/question_docs/file_ad5652b9-f7d5-4232-8a3a-89d1d8962485.pdf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G46 · Taxi disputes and visitor mobility</a:t>
            </a:r>
          </a:p>
          <a:p xmlns:a="http://schemas.openxmlformats.org/drawingml/2006/main">
            <a:r>
              <a:t>2023–2025 and continuing · Mopa, Dabolim, Canacona and tourism corridors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FACT / G46-C1: Taxi operators protested app-based services and airport arrangements; reporting documents continuing conflicts over visitor transport.</a:t>
            </a:r>
          </a:p>
          <a:p xmlns:a="http://schemas.openxmlformats.org/drawingml/2006/main">
            <a:r>
              <a:t>EFFECT ON GOA: Disputes can restrict choice, create travel uncertainty and threaten operator income during transition.</a:t>
            </a:r>
          </a:p>
          <a:p xmlns:a="http://schemas.openxmlformats.org/drawingml/2006/main">
            <a:r>
              <a:t>INCUMBENT IMPLICATION: Tests the incumbent’s ability to reconcile consumer access with livelihoods.</a:t>
            </a:r>
          </a:p>
          <a:p xmlns:a="http://schemas.openxmlformats.org/drawingml/2006/main">
            <a:r>
              <a:t>LOGIC / RATIONALE: A functioning transport policy must provide predictable rules and enforce them. Recurrent conflict suggests unresolved implementation.</a:t>
            </a:r>
          </a:p>
          <a:p xmlns:a="http://schemas.openxmlformats.org/drawingml/2006/main">
            <a:r>
              <a:t>ASSUMPTIONS: The reported disputes affected a meaningful number of trips; statewide economic loss is not measured.</a:t>
            </a:r>
          </a:p>
          <a:p xmlns:a="http://schemas.openxmlformats.org/drawingml/2006/main">
            <a:r>
              <a:t>LIMITS: Do not describe all taxi operators as a criminal monopoly. Individual harassment allegations require verification; fares depend on distance and service.</a:t>
            </a:r>
          </a:p>
          <a:p xmlns:a="http://schemas.openxmlformats.org/drawingml/2006/main">
            <a:r>
              <a:t>RESPONSE / COUNTER-FINDING: Authorities supported apps and negotiated stands or operating arrangements. Assess actual availability, enforcement and affordability.</a:t>
            </a:r>
          </a:p>
          <a:p xmlns:a="http://schemas.openxmlformats.org/drawingml/2006/main">
            <a:r>
              <a:t>VERIFICATION: Four-publication check; shared origins disclosed</a:t>
            </a:r>
          </a:p>
          <a:p xmlns:a="http://schemas.openxmlformats.org/drawingml/2006/main">
            <a:r>
              <a:t>Underlying audit, survey, inquiry or official statement is shared across some publications; four citations do not establish four independent measurements.</a:t>
            </a:r>
          </a:p>
          <a:p xmlns:a="http://schemas.openxmlformats.org/drawingml/2006/main">
            <a:r>
              <a:t>Readable core sources: S476, S477, S479, S489, S491</a:t>
            </a:r>
          </a:p>
          <a:p xmlns:a="http://schemas.openxmlformats.org/drawingml/2006/main">
            <a:r>
              <a:t>Follow-up: Obtain the current primary record and action-taken outcome; reconcile discrepancies before extending the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S476 · Goa taxi operators protest govt’s cab aggregator app plan, cite threat to livelihoods | Akashvani News</a:t>
            </a:r>
          </a:p>
          <a:p xmlns:a="http://schemas.openxmlformats.org/drawingml/2006/main">
            <a:r>
              <a:t>Akashvani News · See original for publication date</a:t>
            </a:r>
          </a:p>
          <a:p xmlns:a="http://schemas.openxmlformats.org/drawingml/2006/main">
            <a:r>
              <a:t>https://newsonair.gov.in/goa-taxi-operators-protest-govts-cab-aggregator-app-plan-cite-threat-to-livelihoods/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S477 · Mopa taxi operators continue their protest | The Goan</a:t>
            </a:r>
          </a:p>
          <a:p xmlns:a="http://schemas.openxmlformats.org/drawingml/2006/main">
            <a:r>
              <a:t>The Goan Everyday · Publication date not independently established; accessed 14 October 2026</a:t>
            </a:r>
          </a:p>
          <a:p xmlns:a="http://schemas.openxmlformats.org/drawingml/2006/main">
            <a:r>
              <a:t>https://www.thegoan.net/goa-news/mopa-taxi-operators-continue-their-protest/98566.html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S479 · After massive protest, CM agrees to yellow-black taxi stand at new airport | Goa News - Times of India</a:t>
            </a:r>
          </a:p>
          <a:p xmlns:a="http://schemas.openxmlformats.org/drawingml/2006/main">
            <a:r>
              <a:t>The Times of India · Jan 3, 2023</a:t>
            </a:r>
          </a:p>
          <a:p xmlns:a="http://schemas.openxmlformats.org/drawingml/2006/main">
            <a:r>
              <a:t>https://timesofindia.indiatimes.com/city/goa/after-massive-protest-cm-agrees-to-yellow-black-taxi-stand-at-new-airport/articleshow/96691848.cms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S489 · Goa cabbies protest, demand govt scrap GoaMiles service | Goa News - The Times of India</a:t>
            </a:r>
          </a:p>
          <a:p xmlns:a="http://schemas.openxmlformats.org/drawingml/2006/main">
            <a:r>
              <a:t>The Times of India · Aug 23, 2024</a:t>
            </a:r>
          </a:p>
          <a:p xmlns:a="http://schemas.openxmlformats.org/drawingml/2006/main">
            <a:r>
              <a:t>https://timesofindia.indiatimes.com/city/goa/goa-cabbies-protest-demand-govt-scrap-goamiles-service/articleshow/112720386.cms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S491 · Behind taxi turf wars that cast shadow on tourism in Goa | India News - The Indian Express</a:t>
            </a:r>
          </a:p>
          <a:p xmlns:a="http://schemas.openxmlformats.org/drawingml/2006/main">
            <a:r>
              <a:t>The Indian Express · Nov 16, 2025</a:t>
            </a:r>
          </a:p>
          <a:p xmlns:a="http://schemas.openxmlformats.org/drawingml/2006/main">
            <a:r>
              <a:t>https://indianexpress.com/article/india/behind-taxi-turf-wars-that-cast-shadow-on-tourism-in-goa-10368241/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S488 · Operations of Blue Cab taxis suspended at Mopa airport | The Goan</a:t>
            </a:r>
          </a:p>
          <a:p xmlns:a="http://schemas.openxmlformats.org/drawingml/2006/main">
            <a:r>
              <a:t>The Goan Everyday · Publication date not independently established; accessed 14 October 2026</a:t>
            </a:r>
          </a:p>
          <a:p xmlns:a="http://schemas.openxmlformats.org/drawingml/2006/main">
            <a:r>
              <a:t>https://www.thegoan.net/goa-news/%EF%BB%BFoperations-of-blue-cab-taxis-suspended-at-mopa-airport/128960.html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G47 · Velingkar remarks and public protests</a:t>
            </a:r>
          </a:p>
          <a:p xmlns:a="http://schemas.openxmlformats.org/drawingml/2006/main">
            <a:r>
              <a:t>October 2024 · Margao, Old Goa and other places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FACT / G47-C1: Remarks about Saint Francis Xavier prompted complaints, an FIR and protests; Church bodies appealed for restraint.</a:t>
            </a:r>
          </a:p>
          <a:p xmlns:a="http://schemas.openxmlformats.org/drawingml/2006/main">
            <a:r>
              <a:t>EFFECT ON GOA: The dispute strained public trust and briefly disrupted public activity in affected locations.</a:t>
            </a:r>
          </a:p>
          <a:p xmlns:a="http://schemas.openxmlformats.org/drawingml/2006/main">
            <a:r>
              <a:t>INCUMBENT IMPLICATION: Tests impartial policing and the incumbent’s credibility in protecting community harmony.</a:t>
            </a:r>
          </a:p>
          <a:p xmlns:a="http://schemas.openxmlformats.org/drawingml/2006/main">
            <a:r>
              <a:t>LOGIC / RATIONALE: The government is accountable for fair, timely enforcement and de-escalation, not automatically for every private speaker’s words.</a:t>
            </a:r>
          </a:p>
          <a:p xmlns:a="http://schemas.openxmlformats.org/drawingml/2006/main">
            <a:r>
              <a:t>ASSUMPTIONS: Affected communities assess state responses as indicators of equal protection.</a:t>
            </a:r>
          </a:p>
          <a:p xmlns:a="http://schemas.openxmlformats.org/drawingml/2006/main">
            <a:r>
              <a:t>LIMITS: An FIR is an allegation, not a conviction. Former organisational affiliation does not prove the incumbent directed or endorsed the remarks.</a:t>
            </a:r>
          </a:p>
          <a:p xmlns:a="http://schemas.openxmlformats.org/drawingml/2006/main">
            <a:r>
              <a:t>RESPONSE / COUNTER-FINDING: Police action and appeals for peace are documented. Include restraint and cessation of protests alongside concern.</a:t>
            </a:r>
          </a:p>
          <a:p xmlns:a="http://schemas.openxmlformats.org/drawingml/2006/main">
            <a:r>
              <a:t>VERIFICATION: Four-publication check; shared origins disclosed</a:t>
            </a:r>
          </a:p>
          <a:p xmlns:a="http://schemas.openxmlformats.org/drawingml/2006/main">
            <a:r>
              <a:t>Underlying audit, survey, inquiry or official statement is shared across some publications; four citations do not establish four independent measurements.</a:t>
            </a:r>
          </a:p>
          <a:p xmlns:a="http://schemas.openxmlformats.org/drawingml/2006/main">
            <a:r>
              <a:t>Readable core sources: S497, S500, S504, S507</a:t>
            </a:r>
          </a:p>
          <a:p xmlns:a="http://schemas.openxmlformats.org/drawingml/2006/main">
            <a:r>
              <a:t>Follow-up: Obtain the current primary record and action-taken outcome; reconcile discrepancies before extending the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S497 · As protests flare over ex-Goa RSS chief’s remarks on Saint Francis Xavier, Church says ‘insulting’, but calls for restraint</a:t>
            </a:r>
          </a:p>
          <a:p xmlns:a="http://schemas.openxmlformats.org/drawingml/2006/main">
            <a:r>
              <a:t>The Indian Express · Oct 7, 2024</a:t>
            </a:r>
          </a:p>
          <a:p xmlns:a="http://schemas.openxmlformats.org/drawingml/2006/main">
            <a:r>
              <a:t>https://indianexpress.com/article/india/ex-goa-rss-chiefs-remarks-on-saint-francis-xavier-protests-flare-9607493/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S500 · FIR against Velingkar as hundreds lay siege to South Goa police HQ | Goa News - Times of India</a:t>
            </a:r>
          </a:p>
          <a:p xmlns:a="http://schemas.openxmlformats.org/drawingml/2006/main">
            <a:r>
              <a:t>The Times of India · Oct 5, 2024</a:t>
            </a:r>
          </a:p>
          <a:p xmlns:a="http://schemas.openxmlformats.org/drawingml/2006/main">
            <a:r>
              <a:t>https://timesofindia.indiatimes.com/city/goa/fir-against-velingkar-as-hundreds-lay-siege-to-south-goa-police-hq/articleshow/113949341.cms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S504 · Group files plaint against statements on St Francis</a:t>
            </a:r>
          </a:p>
          <a:p xmlns:a="http://schemas.openxmlformats.org/drawingml/2006/main">
            <a:r>
              <a:t>The Goan Everyday · Publication date not independently established; accessed 14 October 2026</a:t>
            </a:r>
          </a:p>
          <a:p xmlns:a="http://schemas.openxmlformats.org/drawingml/2006/main">
            <a:r>
              <a:t>https://www.thegoan.net/goa-news/group-files-plaint-against-statements-on-st-francis/119768.html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S507 · Tense moments in Margao as protesters hit the streets, demand FIR against Velingkar | The Goan</a:t>
            </a:r>
          </a:p>
          <a:p xmlns:a="http://schemas.openxmlformats.org/drawingml/2006/main">
            <a:r>
              <a:t>The Goan Everyday · Publication date not independently established; accessed 14 October 2026</a:t>
            </a:r>
          </a:p>
          <a:p xmlns:a="http://schemas.openxmlformats.org/drawingml/2006/main">
            <a:r>
              <a:t>https://www.thegoan.net/goa-news/tense-moments-in-margao-as-protesters-hit-the-streets-demand-fir-against-velingkar/119881.html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S505 · Words ‘hurtful’, but restraint required now: Church wing | Goa News - Times of India</a:t>
            </a:r>
          </a:p>
          <a:p xmlns:a="http://schemas.openxmlformats.org/drawingml/2006/main">
            <a:r>
              <a:t>The Times of India · Oct 6, 2024</a:t>
            </a:r>
          </a:p>
          <a:p xmlns:a="http://schemas.openxmlformats.org/drawingml/2006/main">
            <a:r>
              <a:t>https://timesofindia.indiatimes.com/city/goa/words-hurtful-but-restraint-required-now-church-wing/articleshow/113972733.cms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S496 · Facing arrest over remarks on Goa’s patron saint, who is former RSS chief Subhash Velingkar | Political Pulse News - The Indian Express</a:t>
            </a:r>
          </a:p>
          <a:p xmlns:a="http://schemas.openxmlformats.org/drawingml/2006/main">
            <a:r>
              <a:t>The Indian Express · Oct 12, 2024</a:t>
            </a:r>
          </a:p>
          <a:p xmlns:a="http://schemas.openxmlformats.org/drawingml/2006/main">
            <a:r>
              <a:t>https://indianexpress.com/article/political-pulse/who-is-former-rss-chief-subhash-velingkar-9615153/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G48 · Shivaji-related religious controversies</a:t>
            </a:r>
          </a:p>
          <a:p xmlns:a="http://schemas.openxmlformats.org/drawingml/2006/main">
            <a:r>
              <a:t>August 2023 and related developments · Vasco, Chicalim and other locations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FACT / G48-C1: A priest’s remarks led to an FIR and demonstrations; separate statue-related disputes generated further police action.</a:t>
            </a:r>
          </a:p>
          <a:p xmlns:a="http://schemas.openxmlformats.org/drawingml/2006/main">
            <a:r>
              <a:t>EFFECT ON GOA: Residents faced apprehension and disruption; different incidents must not be merged into one assumed communal riot.</a:t>
            </a:r>
          </a:p>
          <a:p xmlns:a="http://schemas.openxmlformats.org/drawingml/2006/main">
            <a:r>
              <a:t>INCUMBENT IMPLICATION: Creates an equal-enforcement and de-escalation test for government.</a:t>
            </a:r>
          </a:p>
          <a:p xmlns:a="http://schemas.openxmlformats.org/drawingml/2006/main">
            <a:r>
              <a:t>LOGIC / RATIONALE: Public authorities need consistent standards for speech complaints, protection and lawful assembly across communities.</a:t>
            </a:r>
          </a:p>
          <a:p xmlns:a="http://schemas.openxmlformats.org/drawingml/2006/main">
            <a:r>
              <a:t>ASSUMPTIONS: The disputes threatened relations beyond the immediate complainants; wider effects require evidence.</a:t>
            </a:r>
          </a:p>
          <a:p xmlns:a="http://schemas.openxmlformats.org/drawingml/2006/main">
            <a:r>
              <a:t>LIMITS: Do not infer who vandalised a statue from the prior sermon controversy. The accused’s clarification and the difference between criticism and a legal offence matter.</a:t>
            </a:r>
          </a:p>
          <a:p xmlns:a="http://schemas.openxmlformats.org/drawingml/2006/main">
            <a:r>
              <a:t>RESPONSE / COUNTER-FINDING: Police registered offences; reporting describes appeals for calm and return to routine. Final court outcomes require followup.</a:t>
            </a:r>
          </a:p>
          <a:p xmlns:a="http://schemas.openxmlformats.org/drawingml/2006/main">
            <a:r>
              <a:t>VERIFICATION: Four-publication check; shared origins disclosed</a:t>
            </a:r>
          </a:p>
          <a:p xmlns:a="http://schemas.openxmlformats.org/drawingml/2006/main">
            <a:r>
              <a:t>Underlying audit, survey, inquiry or official statement is shared across some publications; four citations do not establish four independent measurements.</a:t>
            </a:r>
          </a:p>
          <a:p xmlns:a="http://schemas.openxmlformats.org/drawingml/2006/main">
            <a:r>
              <a:t>Readable core sources: S236, S238, S239, S241</a:t>
            </a:r>
          </a:p>
          <a:p xmlns:a="http://schemas.openxmlformats.org/drawingml/2006/main">
            <a:r>
              <a:t>Follow-up: Obtain the current primary record and action-taken outcome; reconcile discrepancies before extending the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S236 · Priest booked for remarks on Shivaji in Goa | India News - The Indian Express</a:t>
            </a:r>
          </a:p>
          <a:p xmlns:a="http://schemas.openxmlformats.org/drawingml/2006/main">
            <a:r>
              <a:t>The Indian Express · Aug 5, 2023</a:t>
            </a:r>
          </a:p>
          <a:p xmlns:a="http://schemas.openxmlformats.org/drawingml/2006/main">
            <a:r>
              <a:t>https://indianexpress.com/article/india/priest-booked-for-remarks-on-shivaji-in-goa-8877199/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S238 · Fr Bolmax booked as crowd presses for his arrest in Vasco | Goa News - Times of India</a:t>
            </a:r>
          </a:p>
          <a:p xmlns:a="http://schemas.openxmlformats.org/drawingml/2006/main">
            <a:r>
              <a:t>The Times of India · Aug 5, 2023</a:t>
            </a:r>
          </a:p>
          <a:p xmlns:a="http://schemas.openxmlformats.org/drawingml/2006/main">
            <a:r>
              <a:t>https://timesofindia.indiatimes.com/city/goa/fr-bolmax-booked-as-crowd-presses-for-his-arrest-in-vasco/articleshow/102435215.cms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S239 · Tense moments at Vasco, FIR against Fr Bolmax | The Goan</a:t>
            </a:r>
          </a:p>
          <a:p xmlns:a="http://schemas.openxmlformats.org/drawingml/2006/main">
            <a:r>
              <a:t>The Goan Everyday · Publication date not independently established; accessed 14 October 2026</a:t>
            </a:r>
          </a:p>
          <a:p xmlns:a="http://schemas.openxmlformats.org/drawingml/2006/main">
            <a:r>
              <a:t>https://www.thegoan.net/goa-news/tense-moments-at-vasco-fir-against-fr-bolmax/102303.html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S241 · Life back to routine after latent threat of communal unrest|Gomantak Times</a:t>
            </a:r>
          </a:p>
          <a:p xmlns:a="http://schemas.openxmlformats.org/drawingml/2006/main">
            <a:r>
              <a:t>gomantaktimes.com · 07 Aug 2023</a:t>
            </a:r>
          </a:p>
          <a:p xmlns:a="http://schemas.openxmlformats.org/drawingml/2006/main">
            <a:r>
              <a:t>https://www.gomantaktimes.com/news/goa/life-back-to-routine-after-latent-threat-of-communal-unrest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S237 · Shivaji statue vandalised in Goa, police initiate inquiry | India News - The Indian Express</a:t>
            </a:r>
          </a:p>
          <a:p xmlns:a="http://schemas.openxmlformats.org/drawingml/2006/main">
            <a:r>
              <a:t>The Indian Express · Aug 15, 2023</a:t>
            </a:r>
          </a:p>
          <a:p xmlns:a="http://schemas.openxmlformats.org/drawingml/2006/main">
            <a:r>
              <a:t>https://indianexpress.com/article/india/shivaji-statue-vandalised-goa-police-inquiry-8892527/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S246 · Installed overnight, 16-foot statue of Shivaji becomes a flashpoint in Goa village | Goa News - The Indian Express</a:t>
            </a:r>
          </a:p>
          <a:p xmlns:a="http://schemas.openxmlformats.org/drawingml/2006/main">
            <a:r>
              <a:t>The Indian Express · Jul 11, 2023</a:t>
            </a:r>
          </a:p>
          <a:p xmlns:a="http://schemas.openxmlformats.org/drawingml/2006/main">
            <a:r>
              <a:t>https://indianexpress.com/article/cities/goa/installed-overnight-16-foot-statue-of-shivaji-becomes-a-flashpoint-in-goa-village-8825199/lite/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G49 · Proposed anti-conversion bill halted</a:t>
            </a:r>
          </a:p>
          <a:p xmlns:a="http://schemas.openxmlformats.org/drawingml/2006/main">
            <a:r>
              <a:t>August–September 2026 · State legislature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FACT / G49-C1: After cabinet approval, the government did not introduce the proposed anti-conversion bill in the relevant monsoon session following objections.</a:t>
            </a:r>
          </a:p>
          <a:p xmlns:a="http://schemas.openxmlformats.org/drawingml/2006/main">
            <a:r>
              <a:t>EFFECT ON GOA: The proposal prompted concern about freedom and harmony; feared enforcement consequences were prospective.</a:t>
            </a:r>
          </a:p>
          <a:p xmlns:a="http://schemas.openxmlformats.org/drawingml/2006/main">
            <a:r>
              <a:t>INCUMBENT IMPLICATION: Creates a consultation and coalition-coordination challenge, while withdrawal can be read as responsiveness.</a:t>
            </a:r>
          </a:p>
          <a:p xmlns:a="http://schemas.openxmlformats.org/drawingml/2006/main">
            <a:r>
              <a:t>LOGIC / RATIONALE: Objections from supporting legislators and community organisations question the policy-development process. Deferral avoids assuming the feared harms already occurred.</a:t>
            </a:r>
          </a:p>
          <a:p xmlns:a="http://schemas.openxmlformats.org/drawingml/2006/main">
            <a:r>
              <a:t>ASSUMPTIONS: The objections were substantive and public consultation could have improved the proposal.</a:t>
            </a:r>
          </a:p>
          <a:p xmlns:a="http://schemas.openxmlformats.org/drawingml/2006/main">
            <a:r>
              <a:t>LIMITS: The proposal is not an enacted or operative law in the evidence cited. Criticisms of potential misuse are predictions, not measured outcomes.</a:t>
            </a:r>
          </a:p>
          <a:p xmlns:a="http://schemas.openxmlformats.org/drawingml/2006/main">
            <a:r>
              <a:t>RESPONSE / COUNTER-FINDING: The CM and supporting legislators said further study and consultation were needed; record the decision as a qualification to criticism.</a:t>
            </a:r>
          </a:p>
          <a:p xmlns:a="http://schemas.openxmlformats.org/drawingml/2006/main">
            <a:r>
              <a:t>VERIFICATION: Below four-source threshold (3 readable supporting records)</a:t>
            </a:r>
          </a:p>
          <a:p xmlns:a="http://schemas.openxmlformats.org/drawingml/2006/main">
            <a:r>
              <a:t>Underlying audit, survey, inquiry or official statement is shared across some publications; four citations do not establish four independent measurements.</a:t>
            </a:r>
          </a:p>
          <a:p xmlns:a="http://schemas.openxmlformats.org/drawingml/2006/main">
            <a:r>
              <a:t>Readable core sources: S136, S405, S423</a:t>
            </a:r>
          </a:p>
          <a:p xmlns:a="http://schemas.openxmlformats.org/drawingml/2006/main">
            <a:r>
              <a:t>Follow-up: Obtain the current primary record and action-taken outcome; reconcile discrepancies before extending the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S136 · Facing pushback from within, Goa halts plan for anti-conversion bill</a:t>
            </a:r>
          </a:p>
          <a:p xmlns:a="http://schemas.openxmlformats.org/drawingml/2006/main">
            <a:r>
              <a:t>The Indian Express · Sep 1, 2026</a:t>
            </a:r>
          </a:p>
          <a:p xmlns:a="http://schemas.openxmlformats.org/drawingml/2006/main">
            <a:r>
              <a:t>https://indianexpress.com/article/political-pulse/goa-govt-drops-anti-religious-conversion-bill-2026-bjp-mlas-pushback-pramod-sawant-10857424/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S405 · Goa CM Pramod Sawant says anti-conversion bill won't be introduced</a:t>
            </a:r>
          </a:p>
          <a:p xmlns:a="http://schemas.openxmlformats.org/drawingml/2006/main">
            <a:r>
              <a:t>The Times of India · Sep 01, 2026</a:t>
            </a:r>
          </a:p>
          <a:p xmlns:a="http://schemas.openxmlformats.org/drawingml/2006/main">
            <a:r>
              <a:t>https://timesofindia.indiatimes.com/city/goa/cm-says-anti-conversion-bill-wont-be-introduced/articleshow/133662365.cms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S399 · Govt drops plan to table religious conversion bill | The Goan</a:t>
            </a:r>
          </a:p>
          <a:p xmlns:a="http://schemas.openxmlformats.org/drawingml/2006/main">
            <a:r>
              <a:t>The Goan Everyday · See original for publication date</a:t>
            </a:r>
          </a:p>
          <a:p xmlns:a="http://schemas.openxmlformats.org/drawingml/2006/main">
            <a:r>
              <a:t>https://www.thegoan.net/goa-news/govt-drops-plan-to-table-religious-conversion-bill/153554.html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Not fully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S423 · Church associations oppose Goa Anti-Conversion Bill | The Goan</a:t>
            </a:r>
          </a:p>
          <a:p xmlns:a="http://schemas.openxmlformats.org/drawingml/2006/main">
            <a:r>
              <a:t>The Goan Everyday · Publication date not independently established; accessed 14 October 2026</a:t>
            </a:r>
          </a:p>
          <a:p xmlns:a="http://schemas.openxmlformats.org/drawingml/2006/main">
            <a:r>
              <a:t>https://www.thegoan.net/goa-news/church-associations-oppose-goa-anticonversion-bill/153321.html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S425 · Goa govt drops plan to table anti-conversion bill in assembly after pushback from minority MLAs – ThePrint – PTIFeed</a:t>
            </a:r>
          </a:p>
          <a:p xmlns:a="http://schemas.openxmlformats.org/drawingml/2006/main">
            <a:r>
              <a:t>ThePrint / underlying byline · See original for publication date</a:t>
            </a:r>
          </a:p>
          <a:p xmlns:a="http://schemas.openxmlformats.org/drawingml/2006/main">
            <a:r>
              <a:t>https://theprint.in/india/goa-govt-drops-plan-to-table-anti-conversion-bill-in-assembly-after-pushback-from-minority-mlas/3029797/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unavailable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S407 · Anti-conversion Bill: Why the Goa BJP decided to backtrack on its passing | Hindustan Times</a:t>
            </a:r>
          </a:p>
          <a:p xmlns:a="http://schemas.openxmlformats.org/drawingml/2006/main">
            <a:r>
              <a:t>Hindustan Times · Oct 14, 2026</a:t>
            </a:r>
          </a:p>
          <a:p xmlns:a="http://schemas.openxmlformats.org/drawingml/2006/main">
            <a:r>
              <a:t>https://www.hindustantimes.com/ht-explainers/anticonversion-bill-why-the-goa-bjp-decided-to-backtrack-on-its-passing-101788423118900.html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G50 · Defections and democratic accountability</a:t>
            </a:r>
          </a:p>
          <a:p xmlns:a="http://schemas.openxmlformats.org/drawingml/2006/main">
            <a:r>
              <a:t>July 2019; September 2022; litigation through 2026 · State assembly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FACT / G50-C1: Large groups of Congress legislators joined the BJP in 2019 and 2022; the episodes generated disqualification litigation.</a:t>
            </a:r>
          </a:p>
          <a:p xmlns:a="http://schemas.openxmlformats.org/drawingml/2006/main">
            <a:r>
              <a:t>EFFECT ON GOA: The changes altered legislative representation and opposition strength; a service-delivery effect is not established.</a:t>
            </a:r>
          </a:p>
          <a:p xmlns:a="http://schemas.openxmlformats.org/drawingml/2006/main">
            <a:r>
              <a:t>INCUMBENT IMPLICATION: Strengthened the governing party numerically while creating a mandate and trust controversy.</a:t>
            </a:r>
          </a:p>
          <a:p xmlns:a="http://schemas.openxmlformats.org/drawingml/2006/main">
            <a:r>
              <a:t>LOGIC / RATIONALE: Legislative consolidation can improve voting stability, but voters may view party switching as weakening electoral accountability. These effects can run in opposite directions.</a:t>
            </a:r>
          </a:p>
          <a:p xmlns:a="http://schemas.openxmlformats.org/drawingml/2006/main">
            <a:r>
              <a:t>ASSUMPTIONS: Voters attach importance to party mandate; actual opinion requires polling rather than inference.</a:t>
            </a:r>
          </a:p>
          <a:p xmlns:a="http://schemas.openxmlformats.org/drawingml/2006/main">
            <a:r>
              <a:t>LIMITS: The High Court rejected 2019 disqualification pleas; a later report says the Supreme Court disposed of that petition as infructuous. That does not settle every question about 2022.</a:t>
            </a:r>
          </a:p>
          <a:p xmlns:a="http://schemas.openxmlformats.org/drawingml/2006/main">
            <a:r>
              <a:t>RESPONSE / COUNTER-FINDING: The merger justification and operative legal decisions must be presented alongside political criticism.</a:t>
            </a:r>
          </a:p>
          <a:p xmlns:a="http://schemas.openxmlformats.org/drawingml/2006/main">
            <a:r>
              <a:t>VERIFICATION: Four-publication check; shared origins disclosed</a:t>
            </a:r>
          </a:p>
          <a:p xmlns:a="http://schemas.openxmlformats.org/drawingml/2006/main">
            <a:r>
              <a:t>Underlying audit, survey, inquiry or official statement is shared across some publications; four citations do not establish four independent measurements.</a:t>
            </a:r>
          </a:p>
          <a:p xmlns:a="http://schemas.openxmlformats.org/drawingml/2006/main">
            <a:r>
              <a:t>Readable core sources: S398, S415, S403, P14</a:t>
            </a:r>
          </a:p>
          <a:p xmlns:a="http://schemas.openxmlformats.org/drawingml/2006/main">
            <a:r>
              <a:t>Follow-up: Obtain the current primary record and action-taken outcome; reconcile discrepancies before extending the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S398 · Goa: High court dismisses petitions seeking disqualification of Congress, MGP MLAs who defected to BJP | Goa News - The Indian Express</a:t>
            </a:r>
          </a:p>
          <a:p xmlns:a="http://schemas.openxmlformats.org/drawingml/2006/main">
            <a:r>
              <a:t>The Indian Express · Feb 24, 2022</a:t>
            </a:r>
          </a:p>
          <a:p xmlns:a="http://schemas.openxmlformats.org/drawingml/2006/main">
            <a:r>
              <a:t>https://indianexpress.com/article/cities/goa/goa-hc-dismisses-petitions-disqualification-congress-mgp-mlas-bjp-7788953/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S415 · Goa: HC dismisses plea seeking disqualification of defector MLAs who merged with the BJP | Goa News - Times of India</a:t>
            </a:r>
          </a:p>
          <a:p xmlns:a="http://schemas.openxmlformats.org/drawingml/2006/main">
            <a:r>
              <a:t>The Times of India · Feb 24, 2022</a:t>
            </a:r>
          </a:p>
          <a:p xmlns:a="http://schemas.openxmlformats.org/drawingml/2006/main">
            <a:r>
              <a:t>https://timesofindia.indiatimes.com/city/goa/goa-hc-dismisses-plea-seeking-disqualification-of-defector-mlas-who-merged-with-the-bjp/articleshow/89793996.cms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S403 · Supreme Court Disposes of Plea Against 2019 Congress to BJP MLAs Switch | Goa News - The Times of India</a:t>
            </a:r>
          </a:p>
          <a:p xmlns:a="http://schemas.openxmlformats.org/drawingml/2006/main">
            <a:r>
              <a:t>The Times of India · Feb 14, 2026</a:t>
            </a:r>
          </a:p>
          <a:p xmlns:a="http://schemas.openxmlformats.org/drawingml/2006/main">
            <a:r>
              <a:t>https://timesofindia.indiatimes.com/city/goa/sc-disposes-of-plea-over-2019-cong-mlas-switch-to-bjp/articleshow/128321062.cms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S413 · Goa: Congress, MGP petitions against 12 MLAs who defected to BJP in 2019 for final disposal before HC on Dec 10 | Goa News - The Indian Express</a:t>
            </a:r>
          </a:p>
          <a:p xmlns:a="http://schemas.openxmlformats.org/drawingml/2006/main">
            <a:r>
              <a:t>The Indian Express · See original for publication date</a:t>
            </a:r>
          </a:p>
          <a:p xmlns:a="http://schemas.openxmlformats.org/drawingml/2006/main">
            <a:r>
              <a:t>https://indianexpress.com/article/cities/goa/goa-congress-mgp-petitions-against-12-mlas-who-defected-to-bjp-in-2019-for-final-disposal-before-hc-on-dec-10-7636290/lite/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Not fully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S406 · ‘Get candidates who won’t defect’: SC on Goa Congress plea on anti-defection law | India News</a:t>
            </a:r>
          </a:p>
          <a:p xmlns:a="http://schemas.openxmlformats.org/drawingml/2006/main">
            <a:r>
              <a:t>Hindustan Times · See original for publication date</a:t>
            </a:r>
          </a:p>
          <a:p xmlns:a="http://schemas.openxmlformats.org/drawingml/2006/main">
            <a:r>
              <a:t>https://www.hindustantimes.com/india-news/get-candidates-who-won-t-defect-sc-on-goa-congress-plea-on-anti-defection-law-101650641957682.html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Not fully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P14 · Eight Congress MLAs join BJP in Goa</a:t>
            </a:r>
          </a:p>
          <a:p xmlns:a="http://schemas.openxmlformats.org/drawingml/2006/main">
            <a:r>
              <a:t>The News Minute · 14 September 2022</a:t>
            </a:r>
          </a:p>
          <a:p xmlns:a="http://schemas.openxmlformats.org/drawingml/2006/main">
            <a:r>
              <a:t>https://www.thenewsminute.com/news/eight-congress-mlas-join-bjp-goa-inc-calls-it-operation-kichad-167879</a:t>
            </a:r>
          </a:p>
          <a:p xmlns:a="http://schemas.openxmlformats.org/drawingml/2006/main">
            <a:r>
              <a:t>Contemporaneous reporting of 2022 party switching</a:t>
            </a:r>
          </a:p>
          <a:p xmlns:a="http://schemas.openxmlformats.org/drawingml/2006/main">
            <a:r>
              <a:t>Access: retrieved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G51 · Sunburn-associated deaths and event safety</a:t>
            </a:r>
          </a:p>
          <a:p xmlns:a="http://schemas.openxmlformats.org/drawingml/2006/main">
            <a:r>
              <a:t>December 2019; distinct December 2024 case · Vagator and event-linked locations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FACT / G51-C1: Deaths in and around the 2019 festival prompted investigation and debate; early medical causes were reserved pending forensic results.</a:t>
            </a:r>
          </a:p>
          <a:p xmlns:a="http://schemas.openxmlformats.org/drawingml/2006/main">
            <a:r>
              <a:t>EFFECT ON GOA: The incidents raised concerns about event health preparedness and drug enforcement.</a:t>
            </a:r>
          </a:p>
          <a:p xmlns:a="http://schemas.openxmlformats.org/drawingml/2006/main">
            <a:r>
              <a:t>INCUMBENT IMPLICATION: Creates an oversight question for permissions, emergency care and investigation.</a:t>
            </a:r>
          </a:p>
          <a:p xmlns:a="http://schemas.openxmlformats.org/drawingml/2006/main">
            <a:r>
              <a:t>LOGIC / RATIONALE: Repeated event-related emergencies warrant scrutiny of prevention and response, while the organisers’ and individuals’ conduct must be assessed separately.</a:t>
            </a:r>
          </a:p>
          <a:p xmlns:a="http://schemas.openxmlformats.org/drawingml/2006/main">
            <a:r>
              <a:t>ASSUMPTIONS: The events were sufficiently connected to the venue or its services to justify oversight review.</a:t>
            </a:r>
          </a:p>
          <a:p xmlns:a="http://schemas.openxmlformats.org/drawingml/2006/main">
            <a:r>
              <a:t>LIMITS: Do not label every 2019 death a confirmed overdose. A 2024 death and later forensic reporting concern a different individual and must not be added to the 2019 toll.</a:t>
            </a:r>
          </a:p>
          <a:p xmlns:a="http://schemas.openxmlformats.org/drawingml/2006/main">
            <a:r>
              <a:t>RESPONSE / COUNTER-FINDING: Police and medical investigations are documented; final cause, prosecution and safety reforms require case-specific records.</a:t>
            </a:r>
          </a:p>
          <a:p xmlns:a="http://schemas.openxmlformats.org/drawingml/2006/main">
            <a:r>
              <a:t>VERIFICATION: Below four-source threshold (3 readable supporting records)</a:t>
            </a:r>
          </a:p>
          <a:p xmlns:a="http://schemas.openxmlformats.org/drawingml/2006/main">
            <a:r>
              <a:t>Underlying audit, survey, inquiry or official statement is shared across some publications; four citations do not establish four independent measurements.</a:t>
            </a:r>
          </a:p>
          <a:p xmlns:a="http://schemas.openxmlformats.org/drawingml/2006/main">
            <a:r>
              <a:t>Readable core sources: S058, S059, S065</a:t>
            </a:r>
          </a:p>
          <a:p xmlns:a="http://schemas.openxmlformats.org/drawingml/2006/main">
            <a:r>
              <a:t>Follow-up: Obtain the current primary record and action-taken outcome; reconcile discrepancies before extending the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S058 · 3 deaths at EDM: No viscera report even after eight months in Goa | Goa News - Times of India</a:t>
            </a:r>
          </a:p>
          <a:p xmlns:a="http://schemas.openxmlformats.org/drawingml/2006/main">
            <a:r>
              <a:t>The Times of India · Sep 28, 2020</a:t>
            </a:r>
          </a:p>
          <a:p xmlns:a="http://schemas.openxmlformats.org/drawingml/2006/main">
            <a:r>
              <a:t>https://timesofindia.indiatimes.com/city/goa/3-deaths-at-edm-no-viscera-report-even-after-eight-months/articleshow/78354850.cms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S059 · EDM: Vicera tests to reveal cause of death | Goa News - Times of India</a:t>
            </a:r>
          </a:p>
          <a:p xmlns:a="http://schemas.openxmlformats.org/drawingml/2006/main">
            <a:r>
              <a:t>The Times of India · Dec 29, 2019</a:t>
            </a:r>
          </a:p>
          <a:p xmlns:a="http://schemas.openxmlformats.org/drawingml/2006/main">
            <a:r>
              <a:t>https://timesofindia.indiatimes.com/city/goa/edm-vicera-tests-to-reveal-cause-of-death/articleshow/73012778.cms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S063 · Follow on: ` Regd No. G-2 RNP/GOA/153/2018-2020 I</a:t>
            </a:r>
          </a:p>
          <a:p xmlns:a="http://schemas.openxmlformats.org/drawingml/2006/main">
            <a:r>
              <a:t>epaper.navhindtimes.in · See original for publication date</a:t>
            </a:r>
          </a:p>
          <a:p xmlns:a="http://schemas.openxmlformats.org/drawingml/2006/main">
            <a:r>
              <a:t>https://epaper.navhindtimes.in/PageImages/pdf/NAVHINDTIMEPDFMERGER/Merged/31122019-md-ga-all.pdf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unavailable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S065 · Congress alleges drug overdose behind Sunburn deaths, cops say no evidence</a:t>
            </a:r>
          </a:p>
          <a:p xmlns:a="http://schemas.openxmlformats.org/drawingml/2006/main">
            <a:r>
              <a:t>indiatoday.in · Dec 29, 2019</a:t>
            </a:r>
          </a:p>
          <a:p xmlns:a="http://schemas.openxmlformats.org/drawingml/2006/main">
            <a:r>
              <a:t>https://www.indiatoday.in/india/story/congress-alleges-drug-overdose-behind-sunburn-deaths-cops-say-no-evidence-1632404-2019-12-29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S070 · Goa Minister Govind Gawade As 3 Die At Sunburn Festival, No One Is Forced To Go There</a:t>
            </a:r>
          </a:p>
          <a:p xmlns:a="http://schemas.openxmlformats.org/drawingml/2006/main">
            <a:r>
              <a:t>NDTV / underlying byline · See original for publication date</a:t>
            </a:r>
          </a:p>
          <a:p xmlns:a="http://schemas.openxmlformats.org/drawingml/2006/main">
            <a:r>
              <a:t>https://www.ndtv.com/goa-news/goa-sunburn-edm-deaths-minister-govind-gawade-says-no-one-forced-tourists-to-attend-festival-2156588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unavailable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S061 · Goa Sunburn Death: Delhi man dies at Sunburn EDM festival in Goa | Goa News - Times of India</a:t>
            </a:r>
          </a:p>
          <a:p xmlns:a="http://schemas.openxmlformats.org/drawingml/2006/main">
            <a:r>
              <a:t>The Times of India · See original for publication date</a:t>
            </a:r>
          </a:p>
          <a:p xmlns:a="http://schemas.openxmlformats.org/drawingml/2006/main">
            <a:r>
              <a:t>https://timesofindia.indiatimes.com/city/goa/sunburn-death-gmc-prelim-report-points-to-drug-overdose/articleshow/116808416.cms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Not fully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S064 · EDM death: Forensic report points to drug-alcohol mix | The Goan</a:t>
            </a:r>
          </a:p>
          <a:p xmlns:a="http://schemas.openxmlformats.org/drawingml/2006/main">
            <a:r>
              <a:t>The Goan Everyday · See original for publication date</a:t>
            </a:r>
          </a:p>
          <a:p xmlns:a="http://schemas.openxmlformats.org/drawingml/2006/main">
            <a:r>
              <a:t>https://www.thegoan.net/goa-news/edm-death-forensic-report-points-to-drugalcohol-mix/132393.html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unavailable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G52 · Offshore casinos and relocation commitments</a:t>
            </a:r>
          </a:p>
          <a:p xmlns:a="http://schemas.openxmlformats.org/drawingml/2006/main">
            <a:r>
              <a:t>2019–2026; major dispute in 2026 · Mandovi, Panaji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FACT / G52-C1: Assembly records acknowledge repeated extensions for offshore operations; residents challenged a proposed larger casino vessel in 2026.</a:t>
            </a:r>
          </a:p>
          <a:p xmlns:a="http://schemas.openxmlformats.org/drawingml/2006/main">
            <a:r>
              <a:t>EFFECT ON GOA: The controversy concerns river use, congestion, ecological risks and tourism’s local costs and benefits.</a:t>
            </a:r>
          </a:p>
          <a:p xmlns:a="http://schemas.openxmlformats.org/drawingml/2006/main">
            <a:r>
              <a:t>INCUMBENT IMPLICATION: Tests consistency between relocation commitments and operating permissions.</a:t>
            </a:r>
          </a:p>
          <a:p xmlns:a="http://schemas.openxmlformats.org/drawingml/2006/main">
            <a:r>
              <a:t>LOGIC / RATIONALE: Repeated extensions can weaken credibility of timelines; fees and employment benefits are relevant counter-considerations, not substitutes for lawful regulation.</a:t>
            </a:r>
          </a:p>
          <a:p xmlns:a="http://schemas.openxmlformats.org/drawingml/2006/main">
            <a:r>
              <a:t>ASSUMPTIONS: Relocation promises were specific enough to evaluate and feasible alternatives existed.</a:t>
            </a:r>
          </a:p>
          <a:p xmlns:a="http://schemas.openxmlformats.org/drawingml/2006/main">
            <a:r>
              <a:t>LIMITS: Concerns about gambling or ecology are not proof of measured harm to all households or the river. Court restrictions on a new vessel are not a ban on every casino.</a:t>
            </a:r>
          </a:p>
          <a:p xmlns:a="http://schemas.openxmlformats.org/drawingml/2006/main">
            <a:r>
              <a:t>RESPONSE / COUNTER-FINDING: The government reported casino fee revenue; the High Court required permission for new vessels. Check current orders and compliance.</a:t>
            </a:r>
          </a:p>
          <a:p xmlns:a="http://schemas.openxmlformats.org/drawingml/2006/main">
            <a:r>
              <a:t>VERIFICATION: Four-publication check; shared origins disclosed</a:t>
            </a:r>
          </a:p>
          <a:p xmlns:a="http://schemas.openxmlformats.org/drawingml/2006/main">
            <a:r>
              <a:t>Underlying audit, survey, inquiry or official statement is shared across some publications; four citations do not establish four independent measurements.</a:t>
            </a:r>
          </a:p>
          <a:p xmlns:a="http://schemas.openxmlformats.org/drawingml/2006/main">
            <a:r>
              <a:t>Readable core sources: S072, S078, S080, S085, S084</a:t>
            </a:r>
          </a:p>
          <a:p xmlns:a="http://schemas.openxmlformats.org/drawingml/2006/main">
            <a:r>
              <a:t>Follow-up: Obtain the current primary record and action-taken outcome; reconcile discrepancies before extending the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S072 · SUBJECT:-EXTENSIONS FOR CONTINUOUS OPERATIONS OF</a:t>
            </a:r>
          </a:p>
          <a:p xmlns:a="http://schemas.openxmlformats.org/drawingml/2006/main">
            <a:r>
              <a:t>Goa Legislative Assembly · See original for publication date</a:t>
            </a:r>
          </a:p>
          <a:p xmlns:a="http://schemas.openxmlformats.org/drawingml/2006/main">
            <a:r>
              <a:t>https://static.goavidhansabha.gov.in/goalpub/docs/question_docs/file_55e97d1f-cacb-4bcb-8de7-d748aa8985b7.pdf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S073 · Captain of Ports Department</a:t>
            </a:r>
          </a:p>
          <a:p xmlns:a="http://schemas.openxmlformats.org/drawingml/2006/main">
            <a:r>
              <a:t>Government of Goa · See original for publication date</a:t>
            </a:r>
          </a:p>
          <a:p xmlns:a="http://schemas.openxmlformats.org/drawingml/2006/main">
            <a:r>
              <a:t>https://ports.goa.gov.in/wp-content/uploads/2026/02/Notice-to-Mariners-1.pdf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unavailable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S078 · Goa casino controversy: Why are residents of Goa’s Panaji opposing casinos?</a:t>
            </a:r>
          </a:p>
          <a:p xmlns:a="http://schemas.openxmlformats.org/drawingml/2006/main">
            <a:r>
              <a:t>The Indian Express · Feb 20, 2026</a:t>
            </a:r>
          </a:p>
          <a:p xmlns:a="http://schemas.openxmlformats.org/drawingml/2006/main">
            <a:r>
              <a:t>https://indianexpress.com/article/india/why-residents-goa-panaji-opposing-casinos-10541491/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S080 · High Court bars new casino vessel entry into Mandovi | The Goan</a:t>
            </a:r>
          </a:p>
          <a:p xmlns:a="http://schemas.openxmlformats.org/drawingml/2006/main">
            <a:r>
              <a:t>The Goan Everyday · Publication date not independently established; accessed 14 October 2026</a:t>
            </a:r>
          </a:p>
          <a:p xmlns:a="http://schemas.openxmlformats.org/drawingml/2006/main">
            <a:r>
              <a:t>https://www.thegoan.net/goa-news/high-court-bars-new-casino-vessel-entry-into-mandovi/147788.html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S085 · 2,000-passenger casino vessel can’t sail into Goa’s Mandovi river just yet, Bombay HC says | India News - The Indian Express</a:t>
            </a:r>
          </a:p>
          <a:p xmlns:a="http://schemas.openxmlformats.org/drawingml/2006/main">
            <a:r>
              <a:t>The Indian Express · May 7, 2026</a:t>
            </a:r>
          </a:p>
          <a:p xmlns:a="http://schemas.openxmlformats.org/drawingml/2006/main">
            <a:r>
              <a:t>https://indianexpress.com/article/india/2000-passenger-casino-vessel-cant-sail-into-goas-mandovi-river-just-yet-bombay-hc-says-10676730/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S084 · Goa earned Rs 1 661 crore as fees from casinos in 5 years CM Sawant- The Week</a:t>
            </a:r>
          </a:p>
          <a:p xmlns:a="http://schemas.openxmlformats.org/drawingml/2006/main">
            <a:r>
              <a:t>theweek.in · See original for publication date</a:t>
            </a:r>
          </a:p>
          <a:p xmlns:a="http://schemas.openxmlformats.org/drawingml/2006/main">
            <a:r>
              <a:t>https://www.theweek.in/wire-updates/business/2025/07/30/bom12-ga-assembly-casinos.html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S082 · Goa government grants ‘final’ extension to offshore casinos to operate on river Mandovi | India News - The Indian Express</a:t>
            </a:r>
          </a:p>
          <a:p xmlns:a="http://schemas.openxmlformats.org/drawingml/2006/main">
            <a:r>
              <a:t>The Indian Express · Dec 19, 2024</a:t>
            </a:r>
          </a:p>
          <a:p xmlns:a="http://schemas.openxmlformats.org/drawingml/2006/main">
            <a:r>
              <a:t>https://indianexpress.com/article/india/goa-government-grants-final-extension-to-offshore-casinos-to-operate-on-river-mandovi-9733190/lite/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G53 · Siddhi Naik investigation controversy</a:t>
            </a:r>
          </a:p>
          <a:p xmlns:a="http://schemas.openxmlformats.org/drawingml/2006/main">
            <a:r>
              <a:t>2021 onward · Calangute and Bardez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FACT / G53-C1: Police found no evidence supporting murder and a closure report was reported; family concerns and later accounts of investigative status continued.</a:t>
            </a:r>
          </a:p>
          <a:p xmlns:a="http://schemas.openxmlformats.org/drawingml/2006/main">
            <a:r>
              <a:t>EFFECT ON GOA: The unresolved public dispute affected trust in investigation and communication.</a:t>
            </a:r>
          </a:p>
          <a:p xmlns:a="http://schemas.openxmlformats.org/drawingml/2006/main">
            <a:r>
              <a:t>INCUMBENT IMPLICATION: Creates an investigative-transparency question, not proof of a government cover-up.</a:t>
            </a:r>
          </a:p>
          <a:p xmlns:a="http://schemas.openxmlformats.org/drawingml/2006/main">
            <a:r>
              <a:t>LOGIC / RATIONALE: Clear forensic reasoning and consistent disclosure can sustain confidence even when evidence does not support prosecution.</a:t>
            </a:r>
          </a:p>
          <a:p xmlns:a="http://schemas.openxmlformats.org/drawingml/2006/main">
            <a:r>
              <a:t>ASSUMPTIONS: Communication or investigation gaps were material; family dissatisfaction alone does not establish misconduct.</a:t>
            </a:r>
          </a:p>
          <a:p xmlns:a="http://schemas.openxmlformats.org/drawingml/2006/main">
            <a:r>
              <a:t>LIMITS: Conflicting closure and continuing-investigation accounts require the court file. No murder, sexual assault or culpable official conduct is established here.</a:t>
            </a:r>
          </a:p>
          <a:p xmlns:a="http://schemas.openxmlformats.org/drawingml/2006/main">
            <a:r>
              <a:t>RESPONSE / COUNTER-FINDING: Police cited lack of evidence; obtain the accepted or rejected closure order and any subsequent investigation direction.</a:t>
            </a:r>
          </a:p>
          <a:p xmlns:a="http://schemas.openxmlformats.org/drawingml/2006/main">
            <a:r>
              <a:t>VERIFICATION: Four-publication check; shared origins disclosed</a:t>
            </a:r>
          </a:p>
          <a:p xmlns:a="http://schemas.openxmlformats.org/drawingml/2006/main">
            <a:r>
              <a:t>Underlying audit, survey, inquiry or official statement is shared across some publications; four citations do not establish four independent measurements.</a:t>
            </a:r>
          </a:p>
          <a:p xmlns:a="http://schemas.openxmlformats.org/drawingml/2006/main">
            <a:r>
              <a:t>Readable core sources: S143, S145, S154, S156</a:t>
            </a:r>
          </a:p>
          <a:p xmlns:a="http://schemas.openxmlformats.org/drawingml/2006/main">
            <a:r>
              <a:t>Follow-up: Obtain the current primary record and action-taken outcome; reconcile discrepancies before extending the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S143 · Two years on, probe into Siddhi Naik’s death drags | The Goan</a:t>
            </a:r>
          </a:p>
          <a:p xmlns:a="http://schemas.openxmlformats.org/drawingml/2006/main">
            <a:r>
              <a:t>The Goan Everyday · Publication date not independently established; accessed 14 October 2026</a:t>
            </a:r>
          </a:p>
          <a:p xmlns:a="http://schemas.openxmlformats.org/drawingml/2006/main">
            <a:r>
              <a:t>https://www.thegoan.net/goa-news/two-years-on-probe-into-siddhi-naik%E2%80%99s-death-drags/101674.html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S145 · No evidence that 19-yr-old woman found dead on Goa beach was murdered: Police | India News</a:t>
            </a:r>
          </a:p>
          <a:p xmlns:a="http://schemas.openxmlformats.org/drawingml/2006/main">
            <a:r>
              <a:t>Hindustan Times · Oct 14, 2026</a:t>
            </a:r>
          </a:p>
          <a:p xmlns:a="http://schemas.openxmlformats.org/drawingml/2006/main">
            <a:r>
              <a:t>https://www.hindustantimes.com/india-news/no-evidence-that-19-yr-old-woman-found-dead-on-goa-beach-was-murdered-police-101660648226046.html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S151 · Siddhi Naik case: Goa Police files closure report</a:t>
            </a:r>
          </a:p>
          <a:p xmlns:a="http://schemas.openxmlformats.org/drawingml/2006/main">
            <a:r>
              <a:t>O Heraldo · See original for publication date</a:t>
            </a:r>
          </a:p>
          <a:p xmlns:a="http://schemas.openxmlformats.org/drawingml/2006/main">
            <a:r>
              <a:t>https://www.heraldgoa.in/goa/siddhi-naik-case-goa-police-files-closure-report/51928/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unavailable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S154 · Crime Branch says Siddhi Naik case is not closed</a:t>
            </a:r>
          </a:p>
          <a:p xmlns:a="http://schemas.openxmlformats.org/drawingml/2006/main">
            <a:r>
              <a:t>gomantaktimes.com · 16 Aug 2022</a:t>
            </a:r>
          </a:p>
          <a:p xmlns:a="http://schemas.openxmlformats.org/drawingml/2006/main">
            <a:r>
              <a:t>https://www.gomantaktimes.com/news/goa/crime-branch-says-siddhi-naik-case-is-not-closed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S156 · The Goan EveryDay: Crime Branch set to close Siddhi’s case</a:t>
            </a:r>
          </a:p>
          <a:p xmlns:a="http://schemas.openxmlformats.org/drawingml/2006/main">
            <a:r>
              <a:t>The Goan Everyday · Publication date not independently established; accessed 14 October 2026</a:t>
            </a:r>
          </a:p>
          <a:p xmlns:a="http://schemas.openxmlformats.org/drawingml/2006/main">
            <a:r>
              <a:t>https://www.thegoan.net/goa-news/crime-branch-set-to-close-siddhi%E2%80%99s-case/87828.html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S152 · Goa Police are in connivance with the accused: Siddhi’s dad</a:t>
            </a:r>
          </a:p>
          <a:p xmlns:a="http://schemas.openxmlformats.org/drawingml/2006/main">
            <a:r>
              <a:t>O Heraldo · See original for publication date</a:t>
            </a:r>
          </a:p>
          <a:p xmlns:a="http://schemas.openxmlformats.org/drawingml/2006/main">
            <a:r>
              <a:t>https://www.heraldgoa.in/goa/goa-police-are-in-connivance-with-the-accused-siddhis-dad/137918/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Not fully retrieved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G54 · Sonali Phogat death and prosecution</a:t>
            </a:r>
          </a:p>
          <a:p xmlns:a="http://schemas.openxmlformats.org/drawingml/2006/main">
            <a:r>
              <a:t>August 2022; chargesheet 2022; court update 2026 · Anjuna and North Goa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FACT / G54-C1: CBI filed a chargesheet against two associates following Sonali Phogat’s death in Goa.</a:t>
            </a:r>
          </a:p>
          <a:p xmlns:a="http://schemas.openxmlformats.org/drawingml/2006/main">
            <a:r>
              <a:t>EFFECT ON GOA: The case raised concerns about tourist safety and narcotics oversight, without establishing state complicity.</a:t>
            </a:r>
          </a:p>
          <a:p xmlns:a="http://schemas.openxmlformats.org/drawingml/2006/main">
            <a:r>
              <a:t>INCUMBENT IMPLICATION: Creates a safety and enforcement scrutiny issue of shared responsibility.</a:t>
            </a:r>
          </a:p>
          <a:p xmlns:a="http://schemas.openxmlformats.org/drawingml/2006/main">
            <a:r>
              <a:t>LOGIC / RATIONALE: Private alleged offending can expose regulatory or policing gaps only where prior knowledge, duty and omission are established.</a:t>
            </a:r>
          </a:p>
          <a:p xmlns:a="http://schemas.openxmlformats.org/drawingml/2006/main">
            <a:r>
              <a:t>ASSUMPTIONS: Relevant enforcement could reasonably have prevented part of the exposure; this is not proved by the death alone.</a:t>
            </a:r>
          </a:p>
          <a:p xmlns:a="http://schemas.openxmlformats.org/drawingml/2006/main">
            <a:r>
              <a:t>LIMITS: Charges are not convictions. Reports differ on chargesheet page totals and filing dates; those details are not needed for the core finding.</a:t>
            </a:r>
          </a:p>
          <a:p xmlns:a="http://schemas.openxmlformats.org/drawingml/2006/main">
            <a:r>
              <a:t>RESPONSE / COUNTER-FINDING: The investigation moved from Goa Police to CBI; a 2026 court report describes proceedings at the stage of arguments before charge.</a:t>
            </a:r>
          </a:p>
          <a:p xmlns:a="http://schemas.openxmlformats.org/drawingml/2006/main">
            <a:r>
              <a:t>VERIFICATION: Below four-source threshold (3 readable supporting records)</a:t>
            </a:r>
          </a:p>
          <a:p xmlns:a="http://schemas.openxmlformats.org/drawingml/2006/main">
            <a:r>
              <a:t>Underlying audit, survey, inquiry or official statement is shared across some publications; four citations do not establish four independent measurements.</a:t>
            </a:r>
          </a:p>
          <a:p xmlns:a="http://schemas.openxmlformats.org/drawingml/2006/main">
            <a:r>
              <a:t>Readable core sources: S227, S232, S229</a:t>
            </a:r>
          </a:p>
          <a:p xmlns:a="http://schemas.openxmlformats.org/drawingml/2006/main">
            <a:r>
              <a:t>Follow-up: Obtain the current primary record and action-taken outcome; reconcile discrepancies before extending the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S227 · Phogat: Goa: CBI files chargesheet in Sonali Phogat case, fails to establish motive | Goa News - Times of India</a:t>
            </a:r>
          </a:p>
          <a:p xmlns:a="http://schemas.openxmlformats.org/drawingml/2006/main">
            <a:r>
              <a:t>The Times of India · Nov 23, 2022</a:t>
            </a:r>
          </a:p>
          <a:p xmlns:a="http://schemas.openxmlformats.org/drawingml/2006/main">
            <a:r>
              <a:t>https://timesofindia.indiatimes.com/city/goa/cbi-files-chargesheet-in-phogat-case-fails-to-establish-motive/articleshow/95697092.cms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S228 · CBI files chargesheet in Sonali Phogat murder case | Goa News - Times of India</a:t>
            </a:r>
          </a:p>
          <a:p xmlns:a="http://schemas.openxmlformats.org/drawingml/2006/main">
            <a:r>
              <a:t>The Times of India · See original for publication date</a:t>
            </a:r>
          </a:p>
          <a:p xmlns:a="http://schemas.openxmlformats.org/drawingml/2006/main">
            <a:r>
              <a:t>https://timesofindia.indiatimes.com/city/goa/cbi-files-chargesheet-in-sonali-phogat-murder-case/articleshow/95676552.cms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Not fully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S226 · सोनाली फोगाट मर्डर केस में सीबीआई ने कोर्ट में पेश की चार्जशीट, पर्सनल असिस्टेंट समेत 2 पर है जबरन ड्रग्स देने का आरोप | CBI files chargesheet in Sonali Phogat murder case - NDTV India</a:t>
            </a:r>
          </a:p>
          <a:p xmlns:a="http://schemas.openxmlformats.org/drawingml/2006/main">
            <a:r>
              <a:t>ndtv.in · See original for publication date</a:t>
            </a:r>
          </a:p>
          <a:p xmlns:a="http://schemas.openxmlformats.org/drawingml/2006/main">
            <a:r>
              <a:t>https://ndtv.in/crime-news/cbi-files-chargesheet-in-sonali-phogat-murder-case-3542583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Not fully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S232 · CBI charges Sonali Phogat’s manager, his assistant for her murder: Official | India News</a:t>
            </a:r>
          </a:p>
          <a:p xmlns:a="http://schemas.openxmlformats.org/drawingml/2006/main">
            <a:r>
              <a:t>Hindustan Times · Oct 14, 2026</a:t>
            </a:r>
          </a:p>
          <a:p xmlns:a="http://schemas.openxmlformats.org/drawingml/2006/main">
            <a:r>
              <a:t>https://www.hindustantimes.com/india-news/cbi-charges-sonali-phogat-s-manager-his-assistant-for-her-murder-official-101669142637562.html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S229 · Accused in 2022 Sonali Phogat matter allowed to travel abroad | Goa News - The Times of India</a:t>
            </a:r>
          </a:p>
          <a:p xmlns:a="http://schemas.openxmlformats.org/drawingml/2006/main">
            <a:r>
              <a:t>The Times of India · Jan 25, 2026</a:t>
            </a:r>
          </a:p>
          <a:p xmlns:a="http://schemas.openxmlformats.org/drawingml/2006/main">
            <a:r>
              <a:t>https://timesofindia.indiatimes.com/city/goa/accused-in-2022-sonali-phogat-matter-allowed-to-travel-abroad/articleshow/127421527.cms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S230 · Goa: CBI files chargesheet in Sonali Phogat murder case | Hindustan Times</a:t>
            </a:r>
          </a:p>
          <a:p xmlns:a="http://schemas.openxmlformats.org/drawingml/2006/main">
            <a:r>
              <a:t>Hindustan Times · Nov 22, 2022</a:t>
            </a:r>
          </a:p>
          <a:p xmlns:a="http://schemas.openxmlformats.org/drawingml/2006/main">
            <a:r>
              <a:t>https://www.hindustantimes.com/cities/others/goa-cbi-files-charge-sheet-in-sonali-phogat-murder-case-101669123310623-amp.html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G55 · Industrial accidents and prosecution gaps</a:t>
            </a:r>
          </a:p>
          <a:p xmlns:a="http://schemas.openxmlformats.org/drawingml/2006/main">
            <a:r>
              <a:t>2019–2026 reporting windows · Tuem, Cuncolim, Pilerne, Kundaim and Betul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FACT / G55-C1: Reporting on official data describes repeated factory accidents and limited prosecutions, including explosions and fires during the period.</a:t>
            </a:r>
          </a:p>
          <a:p xmlns:a="http://schemas.openxmlformats.org/drawingml/2006/main">
            <a:r>
              <a:t>EFFECT ON GOA: Workers suffered death or injury and nearby communities faced industrial hazards.</a:t>
            </a:r>
          </a:p>
          <a:p xmlns:a="http://schemas.openxmlformats.org/drawingml/2006/main">
            <a:r>
              <a:t>INCUMBENT IMPLICATION: Challenges inspection coverage and consistent enforcement.</a:t>
            </a:r>
          </a:p>
          <a:p xmlns:a="http://schemas.openxmlformats.org/drawingml/2006/main">
            <a:r>
              <a:t>LOGIC / RATIONALE: Employers hold immediate safety duties; public inspection and prosecution systems should detect and address preventable violations.</a:t>
            </a:r>
          </a:p>
          <a:p xmlns:a="http://schemas.openxmlformats.org/drawingml/2006/main">
            <a:r>
              <a:t>ASSUMPTIONS: Reported cases fall under the same enforcement framework and prosecution totals use appropriate denominators.</a:t>
            </a:r>
          </a:p>
          <a:p xmlns:a="http://schemas.openxmlformats.org/drawingml/2006/main">
            <a:r>
              <a:t>LIMITS: Totals of 163, 175 and 138 cover different periods; do not combine them. Older industrial disasters in retrospective lists fall outside the requested window.</a:t>
            </a:r>
          </a:p>
          <a:p xmlns:a="http://schemas.openxmlformats.org/drawingml/2006/main">
            <a:r>
              <a:t>RESPONSE / COUNTER-FINDING: Some convictions and court cases are reported. Obtain inspection histories and accident-wise enforcement outcomes before assigning individual negligence.</a:t>
            </a:r>
          </a:p>
          <a:p xmlns:a="http://schemas.openxmlformats.org/drawingml/2006/main">
            <a:r>
              <a:t>VERIFICATION: Four-publication check; shared origins disclosed</a:t>
            </a:r>
          </a:p>
          <a:p xmlns:a="http://schemas.openxmlformats.org/drawingml/2006/main">
            <a:r>
              <a:t>Underlying audit, survey, inquiry or official statement is shared across some publications; four citations do not establish four independent measurements.</a:t>
            </a:r>
          </a:p>
          <a:p xmlns:a="http://schemas.openxmlformats.org/drawingml/2006/main">
            <a:r>
              <a:t>Readable core sources: S594, S596, S599, S601, S604</a:t>
            </a:r>
          </a:p>
          <a:p xmlns:a="http://schemas.openxmlformats.org/drawingml/2006/main">
            <a:r>
              <a:t>Follow-up: Obtain the current primary record and action-taken outcome; reconcile discrepancies before extending the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S594 · SPOTLIGHT | Explosions to fires: Goa’s deadliest industrial accidents over the years | The Goan</a:t>
            </a:r>
          </a:p>
          <a:p xmlns:a="http://schemas.openxmlformats.org/drawingml/2006/main">
            <a:r>
              <a:t>The Goan Everyday · Publication date not independently established; accessed 14 October 2026</a:t>
            </a:r>
          </a:p>
          <a:p xmlns:a="http://schemas.openxmlformats.org/drawingml/2006/main">
            <a:r>
              <a:t>https://www.thegoan.net/goa-news/%EF%BB%BFspotlight-explosions-to-fires-goa%E2%80%99s-deadliest-industrial-accidents-over-the-years/138040.html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S596 · 175 industrial accidents, 20 deaths across State in last five years</a:t>
            </a:r>
          </a:p>
          <a:p xmlns:a="http://schemas.openxmlformats.org/drawingml/2006/main">
            <a:r>
              <a:t>The Goan Everyday · Publication date not independently established; accessed 14 October 2026</a:t>
            </a:r>
          </a:p>
          <a:p xmlns:a="http://schemas.openxmlformats.org/drawingml/2006/main">
            <a:r>
              <a:t>https://www.thegoan.net/goa-news/175-industrial-accidents-20-deaths-across-state-in-last-five-years/116741.html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S599 · Action taken in just 9 of 138 factory accidents reported in Goa since 2022 | Goa News - The Times of India</a:t>
            </a:r>
          </a:p>
          <a:p xmlns:a="http://schemas.openxmlformats.org/drawingml/2006/main">
            <a:r>
              <a:t>The Times of India · Sep 16, 2026</a:t>
            </a:r>
          </a:p>
          <a:p xmlns:a="http://schemas.openxmlformats.org/drawingml/2006/main">
            <a:r>
              <a:t>https://timesofindia.indiatimes.com/city/goa/action-taken-in-just-9-of-138-factory-accidents-reported-in-goa-since-2022/amp_articleshow/134294623.cms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S601 · Goa Factory Accidents | गोव्यात कारखान्यांमधील सुरक्षेचा बोजवारा! 4 वर्षांत 138 अपघातांत 20 कामगारांचा बळी</a:t>
            </a:r>
          </a:p>
          <a:p xmlns:a="http://schemas.openxmlformats.org/drawingml/2006/main">
            <a:r>
              <a:t>pudhari.news · 20 Sep 2026</a:t>
            </a:r>
          </a:p>
          <a:p xmlns:a="http://schemas.openxmlformats.org/drawingml/2006/main">
            <a:r>
              <a:t>https://pudhari.news/goa/goa-factory-accidents-138-incidents-20-deaths-since-2022-sd22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S603 · INDUSTRIAL MISHAPS IN RECENT YEARS | The Goan</a:t>
            </a:r>
          </a:p>
          <a:p xmlns:a="http://schemas.openxmlformats.org/drawingml/2006/main">
            <a:r>
              <a:t>The Goan Everyday · Publication date not independently established; accessed 14 October 2026</a:t>
            </a:r>
          </a:p>
          <a:p xmlns:a="http://schemas.openxmlformats.org/drawingml/2006/main">
            <a:r>
              <a:t>https://www.thegoan.net/goa-news/%EF%BB%BFindustrial-mishaps-in-recent-years/93943.html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S604 · 163 industrial accidents claim 19 lives in 5 years | Goa News - Times of India</a:t>
            </a:r>
          </a:p>
          <a:p xmlns:a="http://schemas.openxmlformats.org/drawingml/2006/main">
            <a:r>
              <a:t>The Times of India · Aug 7, 2023</a:t>
            </a:r>
          </a:p>
          <a:p xmlns:a="http://schemas.openxmlformats.org/drawingml/2006/main">
            <a:r>
              <a:t>https://timesofindia.indiatimes.com/city/goa/163-industrial-accidents-claim-19-lives-in-5-years/amp_articleshow/102480591.cms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S600 · Statistics - Government of Goa , Directorate of Fire &amp; Emergency</a:t>
            </a:r>
          </a:p>
          <a:p xmlns:a="http://schemas.openxmlformats.org/drawingml/2006/main">
            <a:r>
              <a:t>Government of Goa · See original for publication date</a:t>
            </a:r>
          </a:p>
          <a:p xmlns:a="http://schemas.openxmlformats.org/drawingml/2006/main">
            <a:r>
              <a:t>https://dfes.goa.gov.in/fire-extinction/statistics/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unavailable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G56 · Khazan livelihoods and crop losses</a:t>
            </a:r>
          </a:p>
          <a:p xmlns:a="http://schemas.openxmlformats.org/drawingml/2006/main">
            <a:r>
              <a:t>2024–2026 sources · Coastal saline lands and farming talukas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FACT / G56-C1: Official research identifies salinity and productivity challenges in khazan systems; crop-damage reporting records losses and compensation.</a:t>
            </a:r>
          </a:p>
          <a:p xmlns:a="http://schemas.openxmlformats.org/drawingml/2006/main">
            <a:r>
              <a:t>EFFECT ON GOA: Farmers face production risk, reduced income and dependence on restoration or adaptive measures.</a:t>
            </a:r>
          </a:p>
          <a:p xmlns:a="http://schemas.openxmlformats.org/drawingml/2006/main">
            <a:r>
              <a:t>INCUMBENT IMPLICATION: Tests agricultural support, land protection and timely relief.</a:t>
            </a:r>
          </a:p>
          <a:p xmlns:a="http://schemas.openxmlformats.org/drawingml/2006/main">
            <a:r>
              <a:t>LOGIC / RATIONALE: Public agencies influence drainage, bund maintenance, seed support and compensation, while weather and long-term land-use change also matter.</a:t>
            </a:r>
          </a:p>
          <a:p xmlns:a="http://schemas.openxmlformats.org/drawingml/2006/main">
            <a:r>
              <a:t>ASSUMPTIONS: Identified public interventions address important constraints and reach affected farmers.</a:t>
            </a:r>
          </a:p>
          <a:p xmlns:a="http://schemas.openxmlformats.org/drawingml/2006/main">
            <a:r>
              <a:t>LIMITS: The evidence does not establish that all khazan decline began after 2019 or was caused by this government. Compensation announcements need payment verification.</a:t>
            </a:r>
          </a:p>
          <a:p xmlns:a="http://schemas.openxmlformats.org/drawingml/2006/main">
            <a:r>
              <a:t>RESPONSE / COUNTER-FINDING: ICAR trials, training, subsidies and compensation provide documented positive responses; assess reach and continuity.</a:t>
            </a:r>
          </a:p>
          <a:p xmlns:a="http://schemas.openxmlformats.org/drawingml/2006/main">
            <a:r>
              <a:t>VERIFICATION: Below four-source threshold (2 readable supporting records)</a:t>
            </a:r>
          </a:p>
          <a:p xmlns:a="http://schemas.openxmlformats.org/drawingml/2006/main">
            <a:r>
              <a:t>Underlying audit, survey, inquiry or official statement is shared across some publications; four citations do not establish four independent measurements.</a:t>
            </a:r>
          </a:p>
          <a:p xmlns:a="http://schemas.openxmlformats.org/drawingml/2006/main">
            <a:r>
              <a:t>Readable core sources: S547, S552</a:t>
            </a:r>
          </a:p>
          <a:p xmlns:a="http://schemas.openxmlformats.org/drawingml/2006/main">
            <a:r>
              <a:t>Follow-up: Obtain the current primary record and action-taken outcome; reconcile discrepancies before extending the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S539 · Capacity Building Programme on Empowering Communities through Khazan Land Aquaculture for Sustainable Livelihoods in Salt-Affected Ecosystems of Goa | ICAR</a:t>
            </a:r>
          </a:p>
          <a:p xmlns:a="http://schemas.openxmlformats.org/drawingml/2006/main">
            <a:r>
              <a:t>Indian Council of Agricultural Research · See original for publication date</a:t>
            </a:r>
          </a:p>
          <a:p xmlns:a="http://schemas.openxmlformats.org/drawingml/2006/main">
            <a:r>
              <a:t>https://icar.gov.in/en/capacity-building-programme-empowering-communities-through-khazan-land-aquaculture-sustainable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unavailable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S532 · Shri Sadanand Shet Tanavade, Member of Parliament (Rajya Sabha) attends Farmer-Scientist Interface on Khazan Land Rejuvenation in Goa | ICAR</a:t>
            </a:r>
          </a:p>
          <a:p xmlns:a="http://schemas.openxmlformats.org/drawingml/2006/main">
            <a:r>
              <a:t>Indian Council of Agricultural Research · See original for publication date</a:t>
            </a:r>
          </a:p>
          <a:p xmlns:a="http://schemas.openxmlformats.org/drawingml/2006/main">
            <a:r>
              <a:t>https://www.icar.gov.in/en/shri-sadanand-shet-tanavade-member-parliament-rajya-sabha-attends-farmer-scientist-interface-khazan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unavailable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S533 · Experimental trial on Khazan Land Aquaculture reveals Success at Merces, Goa: Scoping Livelihood pathways for coastal farmers of Goa | ICAR</a:t>
            </a:r>
          </a:p>
          <a:p xmlns:a="http://schemas.openxmlformats.org/drawingml/2006/main">
            <a:r>
              <a:t>Indian Council of Agricultural Research · See original for publication date</a:t>
            </a:r>
          </a:p>
          <a:p xmlns:a="http://schemas.openxmlformats.org/drawingml/2006/main">
            <a:r>
              <a:t>https://icar.gov.in/en/experimental-trial-khazan-land-aquaculture-reveals-success-merces-goa-scoping-livelihood-pathways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unavailable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S547 · GOA STATE AMRITKAL AGRICULTURE POLICY, 2025</a:t>
            </a:r>
          </a:p>
          <a:p xmlns:a="http://schemas.openxmlformats.org/drawingml/2006/main">
            <a:r>
              <a:t>Goa Legislative Assembly · See original for publication date</a:t>
            </a:r>
          </a:p>
          <a:p xmlns:a="http://schemas.openxmlformats.org/drawingml/2006/main">
            <a:r>
              <a:t>https://static.goavidhansabha.gov.in/goalpub/docs/question_docs/file_9c6c1c4f-8f22-4d18-9c9f-415d98aa51ec.pdf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S530 · AGRICULTURE &amp; ALLIED ACTIVITIES</a:t>
            </a:r>
          </a:p>
          <a:p xmlns:a="http://schemas.openxmlformats.org/drawingml/2006/main">
            <a:r>
              <a:t>Government of Goa · 38</a:t>
            </a:r>
          </a:p>
          <a:p xmlns:a="http://schemas.openxmlformats.org/drawingml/2006/main">
            <a:r>
              <a:t>      Societies 2024</a:t>
            </a:r>
          </a:p>
          <a:p xmlns:a="http://schemas.openxmlformats.org/drawingml/2006/main">
            <a:r>
              <a:t>https://www.dpse.goa.gov.in/Eco-Survey-2024-25.pdf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S552 · Pre-monsoon deluge destroys rabi crop in 5 talukas | The Goan</a:t>
            </a:r>
          </a:p>
          <a:p xmlns:a="http://schemas.openxmlformats.org/drawingml/2006/main">
            <a:r>
              <a:t>The Goan Everyday · Publication date not independently established; accessed 14 October 2026</a:t>
            </a:r>
          </a:p>
          <a:p xmlns:a="http://schemas.openxmlformats.org/drawingml/2006/main">
            <a:r>
              <a:t>https://www.thegoan.net/goa-news/premonsoon-deluge-destroys-rabi-crop-in-5-talukas/131305.html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G57 · Local government devolution gaps</a:t>
            </a:r>
          </a:p>
          <a:p xmlns:a="http://schemas.openxmlformats.org/drawingml/2006/main">
            <a:r>
              <a:t>2016–21 audit; reports tabled 2024 · Municipalities and panchayats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FACT / G57-C1: CAG found that formal devolution did not translate into complete practical transfer of functions, funds and personnel.</a:t>
            </a:r>
          </a:p>
          <a:p xmlns:a="http://schemas.openxmlformats.org/drawingml/2006/main">
            <a:r>
              <a:t>EFFECT ON GOA: Weak autonomy and capacity can delay local decisions and obscure service responsibility.</a:t>
            </a:r>
          </a:p>
          <a:p xmlns:a="http://schemas.openxmlformats.org/drawingml/2006/main">
            <a:r>
              <a:t>INCUMBENT IMPLICATION: Creates a state-level decentralisation accountability issue.</a:t>
            </a:r>
          </a:p>
          <a:p xmlns:a="http://schemas.openxmlformats.org/drawingml/2006/main">
            <a:r>
              <a:t>LOGIC / RATIONALE: The state determines much of the institutional framework. Assigning functions without adequate powers or staff can leave local bodies unable to deliver.</a:t>
            </a:r>
          </a:p>
          <a:p xmlns:a="http://schemas.openxmlformats.org/drawingml/2006/main">
            <a:r>
              <a:t>ASSUMPTIONS: Greater effective devolution would improve at least some decisions; local administrative quality remains relevant.</a:t>
            </a:r>
          </a:p>
          <a:p xmlns:a="http://schemas.openxmlformats.org/drawingml/2006/main">
            <a:r>
              <a:t>LIMITS: The audits include pre-2019 years and sampled bodies. Legal compliance in some provisions and later reforms must be recognised.</a:t>
            </a:r>
          </a:p>
          <a:p xmlns:a="http://schemas.openxmlformats.org/drawingml/2006/main">
            <a:r>
              <a:t>RESPONSE / COUNTER-FINDING: Audit recommendations address election powers, function mapping, finance and staffing; implementation needs current action-taken evidence.</a:t>
            </a:r>
          </a:p>
          <a:p xmlns:a="http://schemas.openxmlformats.org/drawingml/2006/main">
            <a:r>
              <a:t>VERIFICATION: Below four-source threshold (2 readable supporting records)</a:t>
            </a:r>
          </a:p>
          <a:p xmlns:a="http://schemas.openxmlformats.org/drawingml/2006/main">
            <a:r>
              <a:t>Underlying audit, survey, inquiry or official statement is shared across some publications; four citations do not establish four independent measurements.</a:t>
            </a:r>
          </a:p>
          <a:p xmlns:a="http://schemas.openxmlformats.org/drawingml/2006/main">
            <a:r>
              <a:t>Readable core sources: P05, P06</a:t>
            </a:r>
          </a:p>
          <a:p xmlns:a="http://schemas.openxmlformats.org/drawingml/2006/main">
            <a:r>
              <a:t>Follow-up: Obtain the current primary record and action-taken outcome; reconcile discrepancies before extending the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P05 · Implementation of the 74th Constitutional Amendment in Goa Report 2 of 2024</a:t>
            </a:r>
          </a:p>
          <a:p xmlns:a="http://schemas.openxmlformats.org/drawingml/2006/main">
            <a:r>
              <a:t>Comptroller and Auditor General of India · 7 August 2024</a:t>
            </a:r>
          </a:p>
          <a:p xmlns:a="http://schemas.openxmlformats.org/drawingml/2006/main">
            <a:r>
              <a:t>https://cag.gov.in/en/audit-report/details/120313</a:t>
            </a:r>
          </a:p>
          <a:p xmlns:a="http://schemas.openxmlformats.org/drawingml/2006/main">
            <a:r>
              <a:t>Executive summary v–vii; audit 2016–17 to 2020–21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P06 · Implementation of the 73rd Constitutional Amendment in Goa Report 1 of 2024</a:t>
            </a:r>
          </a:p>
          <a:p xmlns:a="http://schemas.openxmlformats.org/drawingml/2006/main">
            <a:r>
              <a:t>Comptroller and Auditor General of India · 7 August 2024</a:t>
            </a:r>
          </a:p>
          <a:p xmlns:a="http://schemas.openxmlformats.org/drawingml/2006/main">
            <a:r>
              <a:t>https://cag.gov.in/en/audit-report/details/120312</a:t>
            </a:r>
          </a:p>
          <a:p xmlns:a="http://schemas.openxmlformats.org/drawingml/2006/main">
            <a:r>
              <a:t>Executive summary v–vii; audit 2016–17 to 2020–21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S526 · PA of Implementation of 74th Constitutional Amendment Act in Goa</a:t>
            </a:r>
          </a:p>
          <a:p xmlns:a="http://schemas.openxmlformats.org/drawingml/2006/main">
            <a:r>
              <a:t>Comptroller and Auditor General of India · See original for publication date</a:t>
            </a:r>
          </a:p>
          <a:p xmlns:a="http://schemas.openxmlformats.org/drawingml/2006/main">
            <a:r>
              <a:t>https://cag.gov.in/uploads/download_audit_report/2024/Report-No.2-GOA--74th-CAA---30.04.2024-signed-066b361b00942c0.98344155.pdf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unavailable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S527 · Audit Reports | Accountant General, GOA</a:t>
            </a:r>
          </a:p>
          <a:p xmlns:a="http://schemas.openxmlformats.org/drawingml/2006/main">
            <a:r>
              <a:t>Comptroller and Auditor General of India · 07 Aug, 2024</a:t>
            </a:r>
          </a:p>
          <a:p xmlns:a="http://schemas.openxmlformats.org/drawingml/2006/main">
            <a:r>
              <a:t>https://cag.gov.in/ag/goa/en/audit-report/details/120313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S531 · Audit Reports | Accountant General, GOA</a:t>
            </a:r>
          </a:p>
          <a:p xmlns:a="http://schemas.openxmlformats.org/drawingml/2006/main">
            <a:r>
              <a:t>Comptroller and Auditor General of India · 07 Aug, 2024</a:t>
            </a:r>
          </a:p>
          <a:p xmlns:a="http://schemas.openxmlformats.org/drawingml/2006/main">
            <a:r>
              <a:t>https://cag.gov.in/ag/goa/en/audit-report/details/120312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S210 · Goa lax about finance panel reports, central grants at risk: CAG</a:t>
            </a:r>
          </a:p>
          <a:p xmlns:a="http://schemas.openxmlformats.org/drawingml/2006/main">
            <a:r>
              <a:t>The Times of India · Aug 11, 2025</a:t>
            </a:r>
          </a:p>
          <a:p xmlns:a="http://schemas.openxmlformats.org/drawingml/2006/main">
            <a:r>
              <a:t>https://timesofindia.indiatimes.com/city/goa/goa-lax-about-finance-panel-reports-central-grants-at-risk-cag/articleshow/123222855.cms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G58 · October 2026 protest permissions and detention</a:t>
            </a:r>
          </a:p>
          <a:p xmlns:a="http://schemas.openxmlformats.org/drawingml/2006/main">
            <a:r>
              <a:t>11–13 October 2026 · Azad Maidan, Panaji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FACT / G58-C1: Police blocked a planned CJP demonstration and detained protesters; later reporting describes judicial release and police explanations.</a:t>
            </a:r>
          </a:p>
          <a:p xmlns:a="http://schemas.openxmlformats.org/drawingml/2006/main">
            <a:r>
              <a:t>EFFECT ON GOA: The incident raises access-to-protest and procedural-fairness questions.</a:t>
            </a:r>
          </a:p>
          <a:p xmlns:a="http://schemas.openxmlformats.org/drawingml/2006/main">
            <a:r>
              <a:t>INCUMBENT IMPLICATION: Creates a current civil-liberties accountability question for the Home administration.</a:t>
            </a:r>
          </a:p>
          <a:p xmlns:a="http://schemas.openxmlformats.org/drawingml/2006/main">
            <a:r>
              <a:t>LOGIC / RATIONALE: Restrictions should be grounded in lawful, proportionate reasons. Judicial intervention can prompt scrutiny of those reasons.</a:t>
            </a:r>
          </a:p>
          <a:p xmlns:a="http://schemas.openxmlformats.org/drawingml/2006/main">
            <a:r>
              <a:t>ASSUMPTIONS: The reported restrictions and release orders are accurately described.</a:t>
            </a:r>
          </a:p>
          <a:p xmlns:a="http://schemas.openxmlformats.org/drawingml/2006/main">
            <a:r>
              <a:t>LIMITS: Only a short time separates the incident from cutoff. Full orders and detention records were not obtained; do not announce a final illegality finding.</a:t>
            </a:r>
          </a:p>
          <a:p xmlns:a="http://schemas.openxmlformats.org/drawingml/2006/main">
            <a:r>
              <a:t>RESPONSE / COUNTER-FINDING: Police cited previous permission-condition violations and other concerns. Evaluate the written reasons and court orders together.</a:t>
            </a:r>
          </a:p>
          <a:p xmlns:a="http://schemas.openxmlformats.org/drawingml/2006/main">
            <a:r>
              <a:t>VERIFICATION: Below four-source threshold (3 readable supporting records)</a:t>
            </a:r>
          </a:p>
          <a:p xmlns:a="http://schemas.openxmlformats.org/drawingml/2006/main">
            <a:r>
              <a:t>Underlying audit, survey, inquiry or official statement is shared across some publications; four citations do not establish four independent measurements.</a:t>
            </a:r>
          </a:p>
          <a:p xmlns:a="http://schemas.openxmlformats.org/drawingml/2006/main">
            <a:r>
              <a:t>Readable core sources: S295, S297, S311</a:t>
            </a:r>
          </a:p>
          <a:p xmlns:a="http://schemas.openxmlformats.org/drawingml/2006/main">
            <a:r>
              <a:t>Follow-up: Obtain the current primary record and action-taken outcome; reconcile discrepancies before extending the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S295 · Umar Khalid support cited as reason for Goa police denying protest permission</a:t>
            </a:r>
          </a:p>
          <a:p xmlns:a="http://schemas.openxmlformats.org/drawingml/2006/main">
            <a:r>
              <a:t>The Indian Express · Oct 14, 2026</a:t>
            </a:r>
          </a:p>
          <a:p xmlns:a="http://schemas.openxmlformats.org/drawingml/2006/main">
            <a:r>
              <a:t>https://indianexpress.com/article/india/goa-police-azad-maidan-panaji-cjp-protest-denied-umar-khalid-10919472/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S297 · CJP protest against CEC Gyanesh Kumar blocked in Goa, dozens detained</a:t>
            </a:r>
          </a:p>
          <a:p xmlns:a="http://schemas.openxmlformats.org/drawingml/2006/main">
            <a:r>
              <a:t>The Times of India · Oct 11, 2026</a:t>
            </a:r>
          </a:p>
          <a:p xmlns:a="http://schemas.openxmlformats.org/drawingml/2006/main">
            <a:r>
              <a:t>https://timesofindia.indiatimes.com/india/cjp-protest-against-cec-gyanesh-kumar-blocked-in-goa-dozens-detained/articleshow/134870633.cms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S303 · Goa police cite Umar Khalid support, past violations to justify CJP stir crackdown - India Today</a:t>
            </a:r>
          </a:p>
          <a:p xmlns:a="http://schemas.openxmlformats.org/drawingml/2006/main">
            <a:r>
              <a:t>indiatoday.in · See original for publication date</a:t>
            </a:r>
          </a:p>
          <a:p xmlns:a="http://schemas.openxmlformats.org/drawingml/2006/main">
            <a:r>
              <a:t>https://www.indiatoday.in/amp/india/story/goa-police-cite-umar-khalid-support-past-violations-in-cjp-protest-crackdown-3015985-2026-10-12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Not fully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S311 · After Bombay High Court Orders Release Of CJP Members, Goa Police Justifies Detention Citing Past Violations, 'Patronising Umar Khalid'</a:t>
            </a:r>
          </a:p>
          <a:p xmlns:a="http://schemas.openxmlformats.org/drawingml/2006/main">
            <a:r>
              <a:t>livelaw.in · 11 PM </a:t>
            </a:r>
          </a:p>
          <a:p xmlns:a="http://schemas.openxmlformats.org/drawingml/2006/main">
            <a:r>
              <a:t>2026</a:t>
            </a:r>
          </a:p>
          <a:p xmlns:a="http://schemas.openxmlformats.org/drawingml/2006/main">
            <a:r>
              <a:t>https://www.livelaw.in/amp/high-court/bombay-high-court/after-bombay-high-court-orders-release-of-cjp-members-goa-police-justifies-detention-citing-past-violations-patronising-umar-khalid-554371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G59 · Goa villa cybercrime investigation</a:t>
            </a:r>
          </a:p>
          <a:p xmlns:a="http://schemas.openxmlformats.org/drawingml/2006/main">
            <a:r>
              <a:t>Reporting at 14 October 2026 cutoff · Villa-based operation in Goa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FACT / G59-C1: A contemporaneous report describes a Mumbai Police investigation into a cybercrime operation run from a Goa villa.</a:t>
            </a:r>
          </a:p>
          <a:p xmlns:a="http://schemas.openxmlformats.org/drawingml/2006/main">
            <a:r>
              <a:t>EFFECT ON GOA: The alleged operation harmed victims beyond Goa and raised questions about detection of criminal businesses.</a:t>
            </a:r>
          </a:p>
          <a:p xmlns:a="http://schemas.openxmlformats.org/drawingml/2006/main">
            <a:r>
              <a:t>INCUMBENT IMPLICATION: Creates a potential coordination question, with no established incumbent culpability.</a:t>
            </a:r>
          </a:p>
          <a:p xmlns:a="http://schemas.openxmlformats.org/drawingml/2006/main">
            <a:r>
              <a:t>LOGIC / RATIONALE: A crime occurring in Goa does not itself prove state negligence. Accountability requires evidence of warnings, knowledge or an omitted enforcement duty.</a:t>
            </a:r>
          </a:p>
          <a:p xmlns:a="http://schemas.openxmlformats.org/drawingml/2006/main">
            <a:r>
              <a:t>ASSUMPTIONS: A relevant local enforcement opportunity existed; that has not yet been established.</a:t>
            </a:r>
          </a:p>
          <a:p xmlns:a="http://schemas.openxmlformats.org/drawingml/2006/main">
            <a:r>
              <a:t>LIMITS: The headline financial scale is an allegation and cannot be treated as verified loss to Goa. This breaking lead is not supported by four independent sources.</a:t>
            </a:r>
          </a:p>
          <a:p xmlns:a="http://schemas.openxmlformats.org/drawingml/2006/main">
            <a:r>
              <a:t>RESPONSE / COUNTER-FINDING: The investigating agency’s action is documented in reporting; obtain official records and state cooperation details before drawing stronger conclusions.</a:t>
            </a:r>
          </a:p>
          <a:p xmlns:a="http://schemas.openxmlformats.org/drawingml/2006/main">
            <a:r>
              <a:t>VERIFICATION: Below four-source threshold (0 readable supporting records)</a:t>
            </a:r>
          </a:p>
          <a:p xmlns:a="http://schemas.openxmlformats.org/drawingml/2006/main">
            <a:r>
              <a:t>Underlying audit, survey, inquiry or official statement is shared across some publications; four citations do not establish four independent measurements.</a:t>
            </a:r>
          </a:p>
          <a:p xmlns:a="http://schemas.openxmlformats.org/drawingml/2006/main">
            <a:r>
              <a:t>Readable core sources: None</a:t>
            </a:r>
          </a:p>
          <a:p xmlns:a="http://schemas.openxmlformats.org/drawingml/2006/main">
            <a:r>
              <a:t>Follow-up: Obtain the current primary record and action-taken outcome; reconcile discrepancies before extending the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S010 · How 12 young men turned the wheels of a multi-crore scam from a luxury Goa villa</a:t>
            </a:r>
          </a:p>
          <a:p xmlns:a="http://schemas.openxmlformats.org/drawingml/2006/main">
            <a:r>
              <a:t>The Indian Express · See original for publication date</a:t>
            </a:r>
          </a:p>
          <a:p xmlns:a="http://schemas.openxmlformats.org/drawingml/2006/main">
            <a:r>
              <a:t>https://indianexpress.com/article/long-reads/inside-goa-villas-multi-crore-cyber-crime-money-laundering-scam-mumbai-police-raid-900-crore-10920429/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Not fully retrieved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G60 · Sewage and pollution monitoring</a:t>
            </a:r>
          </a:p>
          <a:p xmlns:a="http://schemas.openxmlformats.org/drawingml/2006/main">
            <a:r>
              <a:t>2023–2024 regulatory records · Rivers, coast and industrial areas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FACT / G60-C1: Pollution-control records document monitoring and consent conditions; sewage and wastewater compliance require site-level assessment.</a:t>
            </a:r>
          </a:p>
          <a:p xmlns:a="http://schemas.openxmlformats.org/drawingml/2006/main">
            <a:r>
              <a:t>EFFECT ON GOA: Untreated discharge presents ecological and health risks, but exposure and injury must be measured rather than assumed.</a:t>
            </a:r>
          </a:p>
          <a:p xmlns:a="http://schemas.openxmlformats.org/drawingml/2006/main">
            <a:r>
              <a:t>INCUMBENT IMPLICATION: Creates an oversight question where specific breaches are substantiated.</a:t>
            </a:r>
          </a:p>
          <a:p xmlns:a="http://schemas.openxmlformats.org/drawingml/2006/main">
            <a:r>
              <a:t>LOGIC / RATIONALE: Authorities are accountable for monitoring and enforcing discharge standards. The existence of a monitoring programme alone proves neither failure nor success.</a:t>
            </a:r>
          </a:p>
          <a:p xmlns:a="http://schemas.openxmlformats.org/drawingml/2006/main">
            <a:r>
              <a:t>ASSUMPTIONS: Identified exceedances correspond to meaningful exposure and a controllable source.</a:t>
            </a:r>
          </a:p>
          <a:p xmlns:a="http://schemas.openxmlformats.org/drawingml/2006/main">
            <a:r>
              <a:t>LIMITS: A comprehensive four-source inventory of wastewater violations was not established. No statewide disease burden is attributed to sewage here.</a:t>
            </a:r>
          </a:p>
          <a:p xmlns:a="http://schemas.openxmlformats.org/drawingml/2006/main">
            <a:r>
              <a:t>RESPONSE / COUNTER-FINDING: Retain this as a coverage gap and obtain sampling tables, notices, treatment volumes and compliance outcomes for each site.</a:t>
            </a:r>
          </a:p>
          <a:p xmlns:a="http://schemas.openxmlformats.org/drawingml/2006/main">
            <a:r>
              <a:t>VERIFICATION: Below four-source threshold (1 readable supporting records)</a:t>
            </a:r>
          </a:p>
          <a:p xmlns:a="http://schemas.openxmlformats.org/drawingml/2006/main">
            <a:r>
              <a:t>Underlying audit, survey, inquiry or official statement is shared across some publications; four citations do not establish four independent measurements.</a:t>
            </a:r>
          </a:p>
          <a:p xmlns:a="http://schemas.openxmlformats.org/drawingml/2006/main">
            <a:r>
              <a:t>Readable core sources: S474</a:t>
            </a:r>
          </a:p>
          <a:p xmlns:a="http://schemas.openxmlformats.org/drawingml/2006/main">
            <a:r>
              <a:t>Follow-up: Obtain the current primary record and action-taken outcome; reconcile discrepancies before extending the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S474 · || Annual Report 2023-2024, Goa State Pollution Control Board ||</a:t>
            </a:r>
          </a:p>
          <a:p xmlns:a="http://schemas.openxmlformats.org/drawingml/2006/main">
            <a:r>
              <a:t>Goa State Pollution Control Board · 61</a:t>
            </a:r>
          </a:p>
          <a:p xmlns:a="http://schemas.openxmlformats.org/drawingml/2006/main">
            <a:r>
              <a:t>           March 2024</a:t>
            </a:r>
          </a:p>
          <a:p xmlns:a="http://schemas.openxmlformats.org/drawingml/2006/main">
            <a:r>
              <a:t>https://goaspcb.gov.in/wp-content/uploads/2024/09/Annual-Report_2023-2024.pdf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P03 · Goa Compliance Audit Report 4 of 2025</a:t>
            </a:r>
          </a:p>
          <a:p xmlns:a="http://schemas.openxmlformats.org/drawingml/2006/main">
            <a:r>
              <a:t>Comptroller and Auditor General of India · 16 January 2026</a:t>
            </a:r>
          </a:p>
          <a:p xmlns:a="http://schemas.openxmlformats.org/drawingml/2006/main">
            <a:r>
              <a:t>https://cag.gov.in/en/audit-report/details/123865</a:t>
            </a:r>
          </a:p>
          <a:p xmlns:a="http://schemas.openxmlformats.org/drawingml/2006/main">
            <a:r>
              <a:t>Overview vii–xiii; SWM 1.5; EDC chapter III; period ended March 2023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P08 · Goa Economic Survey 2025–26</a:t>
            </a:r>
          </a:p>
          <a:p xmlns:a="http://schemas.openxmlformats.org/drawingml/2006/main">
            <a:r>
              <a:t>Directorate of Planning Statistics and Evaluation Goa · 2026</a:t>
            </a:r>
          </a:p>
          <a:p xmlns:a="http://schemas.openxmlformats.org/drawingml/2006/main">
            <a:r>
              <a:t>https://www.dpse.goa.gov.in/economic-survey-2025-26.pdf</a:t>
            </a:r>
          </a:p>
          <a:p xmlns:a="http://schemas.openxmlformats.org/drawingml/2006/main">
            <a:r>
              <a:t>Sector chapters and statistical annexures; individual data periods vary</a:t>
            </a:r>
          </a:p>
          <a:p xmlns:a="http://schemas.openxmlformats.org/drawingml/2006/main">
            <a:r>
              <a:t>Access: retrieved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G61 · Cash-for-jobs fraud and disputed official links</a:t>
            </a:r>
          </a:p>
          <a:p xmlns:a="http://schemas.openxmlformats.org/drawingml/2006/main">
            <a:r>
              <a:t>October 2024–October 2026 · Multiple locations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FACT / G61-C1: Police registered cases concerning payments for promised government jobs; later police inquiry rejected one accused person’s allegations against named officials.</a:t>
            </a:r>
          </a:p>
          <a:p xmlns:a="http://schemas.openxmlformats.org/drawingml/2006/main">
            <a:r>
              <a:t>EFFECT ON GOA: Jobseekers faced alleged financial loss and uncertainty about recruitment integrity.</a:t>
            </a:r>
          </a:p>
          <a:p xmlns:a="http://schemas.openxmlformats.org/drawingml/2006/main">
            <a:r>
              <a:t>INCUMBENT IMPLICATION: Creates a substantial recruitment-trust issue, but does not establish that ministers sold jobs.</a:t>
            </a:r>
          </a:p>
          <a:p xmlns:a="http://schemas.openxmlformats.org/drawingml/2006/main">
            <a:r>
              <a:t>LOGIC / RATIONALE: Repeated fraud exploiting the promise of public employment tests transparent recruitment and enforcement. Proving private deception and proving official collusion are separate tasks.</a:t>
            </a:r>
          </a:p>
          <a:p xmlns:a="http://schemas.openxmlformats.org/drawingml/2006/main">
            <a:r>
              <a:t>ASSUMPTIONS: Public confidence is affected by recruitment-related fraud and the perceived independence of investigation.</a:t>
            </a:r>
          </a:p>
          <a:p xmlns:a="http://schemas.openxmlformats.org/drawingml/2006/main">
            <a:r>
              <a:t>LIMITS: The accused’s asserted money and applicant totals are allegations. Police findings of no supporting evidence must accompany political accusations; neither arrests nor allegations prove guilt.</a:t>
            </a:r>
          </a:p>
          <a:p xmlns:a="http://schemas.openxmlformats.org/drawingml/2006/main">
            <a:r>
              <a:t>RESPONSE / COUNTER-FINDING: Police and ED investigations, official denials and continuing complaints are documented. A 2026 allegation about a different network cannot be used to reverse an earlier finding without new evidence.</a:t>
            </a:r>
          </a:p>
          <a:p xmlns:a="http://schemas.openxmlformats.org/drawingml/2006/main">
            <a:r>
              <a:t>VERIFICATION: Four-publication check; shared origins disclosed</a:t>
            </a:r>
          </a:p>
          <a:p xmlns:a="http://schemas.openxmlformats.org/drawingml/2006/main">
            <a:r>
              <a:t>Underlying audit, survey, inquiry or official statement is shared across some publications; four citations do not establish four independent measurements.</a:t>
            </a:r>
          </a:p>
          <a:p xmlns:a="http://schemas.openxmlformats.org/drawingml/2006/main">
            <a:r>
              <a:t>Readable core sources: S308, S367, S369, S305, S306, S301</a:t>
            </a:r>
          </a:p>
          <a:p xmlns:a="http://schemas.openxmlformats.org/drawingml/2006/main">
            <a:r>
              <a:t>Follow-up: Obtain the current primary record and action-taken outcome; reconcile discrepancies before extending the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S308 · SUB: CASH FOR JOB CASES</a:t>
            </a:r>
          </a:p>
          <a:p xmlns:a="http://schemas.openxmlformats.org/drawingml/2006/main">
            <a:r>
              <a:t>Goa Legislative Assembly · See original for publication date</a:t>
            </a:r>
          </a:p>
          <a:p xmlns:a="http://schemas.openxmlformats.org/drawingml/2006/main">
            <a:r>
              <a:t>https://static.goavidhansabha.gov.in/goalpub/docs/question_docs/file_28db7ac9-af1a-4ea1-b078-56f3a1893dc8.pdf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S367 · Hundreds fall victim to Goa cash-for-job scam | India News - The Times of India</a:t>
            </a:r>
          </a:p>
          <a:p xmlns:a="http://schemas.openxmlformats.org/drawingml/2006/main">
            <a:r>
              <a:t>The Times of India · Nov 13, 2024</a:t>
            </a:r>
          </a:p>
          <a:p xmlns:a="http://schemas.openxmlformats.org/drawingml/2006/main">
            <a:r>
              <a:t>https://timesofindia.indiatimes.com/india/hundreds-fall-victim-to-goa-cash-for-job-scam/articleshow/115231886.cms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S369 · ‘Govt jobs are on sale’: In Goa, woman’s arrest opens can of worms, gives Opposition some firepower | Political Pulse News - The Indian Express</a:t>
            </a:r>
          </a:p>
          <a:p xmlns:a="http://schemas.openxmlformats.org/drawingml/2006/main">
            <a:r>
              <a:t>The Indian Express · Dec 8, 2024</a:t>
            </a:r>
          </a:p>
          <a:p xmlns:a="http://schemas.openxmlformats.org/drawingml/2006/main">
            <a:r>
              <a:t>https://indianexpress.com/article/political-pulse/goa-cash-for-jobs-scam-cm-sawant-faces-cong-aap-firestorm-9712274/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S305 · Goa ‘cash-for-jobs scam’: Police expand probe after key accused claims minister, IAS officer involved | India News - The Indian Express</a:t>
            </a:r>
          </a:p>
          <a:p xmlns:a="http://schemas.openxmlformats.org/drawingml/2006/main">
            <a:r>
              <a:t>The Indian Express · Nov 12, 2025</a:t>
            </a:r>
          </a:p>
          <a:p xmlns:a="http://schemas.openxmlformats.org/drawingml/2006/main">
            <a:r>
              <a:t>https://indianexpress.com/article/india/goa-cash-for-jobs-scam-police-expand-probe-after-key-accused-claims-minister-ias-officer-involved-10360198/lite/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S306 · Claim of minister, IAS involvement in Goa cash-for-jobs scam baseless, police say: ‘No evidence against any official’ | India News - The Indian Express</a:t>
            </a:r>
          </a:p>
          <a:p xmlns:a="http://schemas.openxmlformats.org/drawingml/2006/main">
            <a:r>
              <a:t>The Indian Express · Dec 3, 2025</a:t>
            </a:r>
          </a:p>
          <a:p xmlns:a="http://schemas.openxmlformats.org/drawingml/2006/main">
            <a:r>
              <a:t>https://indianexpress.com/article/india/claim-of-minister-ias-involvement-in-goa-cash-for-jobs-scam-baseless-police-say-no-evidence-against-any-official-10398936/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S301 · No proof found against minister, 2 officials in jobs scam: Police | The Goan</a:t>
            </a:r>
          </a:p>
          <a:p xmlns:a="http://schemas.openxmlformats.org/drawingml/2006/main">
            <a:r>
              <a:t>The Goan Everyday · Publication date not independently established; accessed 14 October 2026</a:t>
            </a:r>
          </a:p>
          <a:p xmlns:a="http://schemas.openxmlformats.org/drawingml/2006/main">
            <a:r>
              <a:t>https://www.thegoan.net/goa-news/no-proof-found-against-minister-2-officials-in-jobs-scam-police/139914.html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S314 · THE NAVHIND TIMES</a:t>
            </a:r>
          </a:p>
          <a:p xmlns:a="http://schemas.openxmlformats.org/drawingml/2006/main">
            <a:r>
              <a:t>epaper.navhindtimes.in · See original for publication date</a:t>
            </a:r>
          </a:p>
          <a:p xmlns:a="http://schemas.openxmlformats.org/drawingml/2006/main">
            <a:r>
              <a:t>https://epaper.navhindtimes.in/PageImages/pdf/2024/11/17/1711024-md-ga-02.pdf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S298 · Carlos Ferreira Targets BJP Government Over Continuing Cash-for-Jobs Scams, Demands Action Against Influential Accused - GoaPlusNews</a:t>
            </a:r>
          </a:p>
          <a:p xmlns:a="http://schemas.openxmlformats.org/drawingml/2006/main">
            <a:r>
              <a:t>goaplusnews.com · See original for publication date</a:t>
            </a:r>
          </a:p>
          <a:p xmlns:a="http://schemas.openxmlformats.org/drawingml/2006/main">
            <a:r>
              <a:t>https://goaplusnews.com/carlos-ferreira-targets-bjp-government-over-continuing-cash-for-jobs-scams-demands-action-against-influential-accused/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unavailable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S360 · No proof against minister, govt functionaries: DGP on Pooja's allegations | The Goan</a:t>
            </a:r>
          </a:p>
          <a:p xmlns:a="http://schemas.openxmlformats.org/drawingml/2006/main">
            <a:r>
              <a:t>The Goan Everyday · Publication date not independently established; accessed 14 October 2026</a:t>
            </a:r>
          </a:p>
          <a:p xmlns:a="http://schemas.openxmlformats.org/drawingml/2006/main">
            <a:r>
              <a:t>https://www.thegoan.net/goa-news/%C3%AF%C2%BB%C2%BFno-proof-against-minister-govt-functionaries-dgp-on-poojas-allegations/139629.html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G62 · Nu Shi Nalini tanker grounding</a:t>
            </a:r>
          </a:p>
          <a:p xmlns:a="http://schemas.openxmlformats.org/drawingml/2006/main">
            <a:r>
              <a:t>October–December 2019 · Dona Paula and Mormugao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FACT / G62-C1: The naphtha-carrying tanker Nu Shi Nalini grounded off Goa in October 2019 and required specialist salvage.</a:t>
            </a:r>
          </a:p>
          <a:p xmlns:a="http://schemas.openxmlformats.org/drawingml/2006/main">
            <a:r>
              <a:t>EFFECT ON GOA: The incident created a serious coastal safety risk and concern for communities and the visitor economy.</a:t>
            </a:r>
          </a:p>
          <a:p xmlns:a="http://schemas.openxmlformats.org/drawingml/2006/main">
            <a:r>
              <a:t>INCUMBENT IMPLICATION: Tests maritime coordination and contingency readiness, with shared authority.</a:t>
            </a:r>
          </a:p>
          <a:p xmlns:a="http://schemas.openxmlformats.org/drawingml/2006/main">
            <a:r>
              <a:t>LOGIC / RATIONALE: The state has response responsibilities, while port and shipping authorities control other safety decisions. Accountability depends on the anchorage decision, warnings and salvage preparedness.</a:t>
            </a:r>
          </a:p>
          <a:p xmlns:a="http://schemas.openxmlformats.org/drawingml/2006/main">
            <a:r>
              <a:t>ASSUMPTIONS: A relevant public duty or preventable omission can be documented; grounding alone does not establish state negligence.</a:t>
            </a:r>
          </a:p>
          <a:p xmlns:a="http://schemas.openxmlformats.org/drawingml/2006/main">
            <a:r>
              <a:t>LIMITS: Cargo figures differ between early official and media accounts. Risk of a spill is not proof that the whole cargo entered the sea or caused a measured economic loss.</a:t>
            </a:r>
          </a:p>
          <a:p xmlns:a="http://schemas.openxmlformats.org/drawingml/2006/main">
            <a:r>
              <a:t>RESPONSE / COUNTER-FINDING: The state sought Navy, Coast Guard and professional assistance; later reporting describes refloating. Assess both the delay and successful mitigation.</a:t>
            </a:r>
          </a:p>
          <a:p xmlns:a="http://schemas.openxmlformats.org/drawingml/2006/main">
            <a:r>
              <a:t>VERIFICATION: Four-publication check; shared origins disclosed</a:t>
            </a:r>
          </a:p>
          <a:p xmlns:a="http://schemas.openxmlformats.org/drawingml/2006/main">
            <a:r>
              <a:t>Underlying audit, survey, inquiry or official statement is shared across some publications; four citations do not establish four independent measurements.</a:t>
            </a:r>
          </a:p>
          <a:p xmlns:a="http://schemas.openxmlformats.org/drawingml/2006/main">
            <a:r>
              <a:t>Readable core sources: P15, S578, S579, S582, S584, S585</a:t>
            </a:r>
          </a:p>
          <a:p xmlns:a="http://schemas.openxmlformats.org/drawingml/2006/main">
            <a:r>
              <a:t>Follow-up: Obtain the current primary record and action-taken outcome; reconcile discrepancies before extending the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P15 · Nu Shi vessel Nalini expert team assessing situation</a:t>
            </a:r>
          </a:p>
          <a:p xmlns:a="http://schemas.openxmlformats.org/drawingml/2006/main">
            <a:r>
              <a:t>Government of Goa Information and Publicity · 26 October 2019</a:t>
            </a:r>
          </a:p>
          <a:p xmlns:a="http://schemas.openxmlformats.org/drawingml/2006/main">
            <a:r>
              <a:t>https://www.goa.gov.in/wp-content/uploads/2019/10/NU-SHI-VESSEL-NALINI-3-MEMBER-EXPERT-TEAM-ASSESSING-SITUATION.pdf</a:t>
            </a:r>
          </a:p>
          <a:p xmlns:a="http://schemas.openxmlformats.org/drawingml/2006/main">
            <a:r>
              <a:t>Official incident bulletin and cargo assessment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S578 · Removal of Naphtha may start from Wednesday | Goa News - Times of India</a:t>
            </a:r>
          </a:p>
          <a:p xmlns:a="http://schemas.openxmlformats.org/drawingml/2006/main">
            <a:r>
              <a:t>The Times of India · Oct 29, 2019</a:t>
            </a:r>
          </a:p>
          <a:p xmlns:a="http://schemas.openxmlformats.org/drawingml/2006/main">
            <a:r>
              <a:t>https://timesofindia.indiatimes.com/city/goa/removal-of-naphtha-may-start-tomorrow/articleshow/71797647.cms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S579 · Nu-Shi Nalini salvage work picks up pace | Goa News - Times of India</a:t>
            </a:r>
          </a:p>
          <a:p xmlns:a="http://schemas.openxmlformats.org/drawingml/2006/main">
            <a:r>
              <a:t>The Times of India · Dec 2, 2019</a:t>
            </a:r>
          </a:p>
          <a:p xmlns:a="http://schemas.openxmlformats.org/drawingml/2006/main">
            <a:r>
              <a:t>https://timesofindia.indiatimes.com/city/goa/nu-shi-nalini-salvage-work-picks-up-pace/articleshow/72323628.cms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S582 · Salvage of tanker grounded off Goa delayed by storms :: Lloyd's List</a:t>
            </a:r>
          </a:p>
          <a:p xmlns:a="http://schemas.openxmlformats.org/drawingml/2006/main">
            <a:r>
              <a:t>lloydslist.com · 28 Oct 2019</a:t>
            </a:r>
          </a:p>
          <a:p xmlns:a="http://schemas.openxmlformats.org/drawingml/2006/main">
            <a:r>
              <a:t>https://www.lloydslist.com/LL1129703/Salvage-of-tanker-grounded-off-Goa-delayed-by-storms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S584 · Naphtha ship still stuck, Goa file FIR against vessel owners | Goa News - Times of India</a:t>
            </a:r>
          </a:p>
          <a:p xmlns:a="http://schemas.openxmlformats.org/drawingml/2006/main">
            <a:r>
              <a:t>The Times of India · Oct 27, 2019</a:t>
            </a:r>
          </a:p>
          <a:p xmlns:a="http://schemas.openxmlformats.org/drawingml/2006/main">
            <a:r>
              <a:t>https://timesofindia.indiatimes.com/city/goa/naphtha-ship-still-stuck-state-file-fir-against-vessel-owners/amp_articleshow/71780872.cms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S585 · Dutch salvage firm finally refloats naphtha tanker &amp; tows it to Mormugao Port Trust | Goa News - Times of India</a:t>
            </a:r>
          </a:p>
          <a:p xmlns:a="http://schemas.openxmlformats.org/drawingml/2006/main">
            <a:r>
              <a:t>The Times of India · Dec 12, 2019</a:t>
            </a:r>
          </a:p>
          <a:p xmlns:a="http://schemas.openxmlformats.org/drawingml/2006/main">
            <a:r>
              <a:t>https://timesofindia.indiatimes.com/city/goa/dutch-salvage-firm-finally-refloats-naphtha-tanker-tows-it-to-mpt/articleshow/72481988.cms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S587 · Nalini’s goa sojourn IN TROUBLED WATERS from day 1 | The Goan</a:t>
            </a:r>
          </a:p>
          <a:p xmlns:a="http://schemas.openxmlformats.org/drawingml/2006/main">
            <a:r>
              <a:t>The Goan Everyday · Publication date not independently established; accessed 14 October 2026</a:t>
            </a:r>
          </a:p>
          <a:p xmlns:a="http://schemas.openxmlformats.org/drawingml/2006/main">
            <a:r>
              <a:t>https://www.thegoan.net/goa-news/nalini%C3%A2%E2%82%AC%E2%84%A2s-goa-sojourn-in-troubled-waters-from-day-1/55074.html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S588 · Sawant: Moves afoot to remove naphtha from grounded tanker | The Goan</a:t>
            </a:r>
          </a:p>
          <a:p xmlns:a="http://schemas.openxmlformats.org/drawingml/2006/main">
            <a:r>
              <a:t>The Goan Everyday · Publication date not independently established; accessed 14 October 2026</a:t>
            </a:r>
          </a:p>
          <a:p xmlns:a="http://schemas.openxmlformats.org/drawingml/2006/main">
            <a:r>
              <a:t>https://www.thegoan.net/goa-news/sawant-moves-afoot-to-remove-naphtha-from-grounded-tanker/55095.html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G63 · Tourism assets and Swadesh Darshan planning</a:t>
            </a:r>
          </a:p>
          <a:p xmlns:a="http://schemas.openxmlformats.org/drawingml/2006/main">
            <a:r>
              <a:t>Projects audited through 2021–22; report 2025 · Coastal circuit locations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FACT / G63-C1: The official audit summary identifies planning and utilisation problems in coastal tourism assets, including parking and helipad sites.</a:t>
            </a:r>
          </a:p>
          <a:p xmlns:a="http://schemas.openxmlformats.org/drawingml/2006/main">
            <a:r>
              <a:t>EFFECT ON GOA: Unused or abandoned assets can tie up public resources without delivering promised access or tourism services.</a:t>
            </a:r>
          </a:p>
          <a:p xmlns:a="http://schemas.openxmlformats.org/drawingml/2006/main">
            <a:r>
              <a:t>INCUMBENT IMPLICATION: Creates a project-appraisal and coordination accountability issue.</a:t>
            </a:r>
          </a:p>
          <a:p xmlns:a="http://schemas.openxmlformats.org/drawingml/2006/main">
            <a:r>
              <a:t>LOGIC / RATIONALE: Investment must be judged by functional use rather than expenditure alone. Missing coordination with local bodies can obstruct promised benefits.</a:t>
            </a:r>
          </a:p>
          <a:p xmlns:a="http://schemas.openxmlformats.org/drawingml/2006/main">
            <a:r>
              <a:t>ASSUMPTIONS: The identified assets remained unusable at the audit date and have not since been repurposed successfully.</a:t>
            </a:r>
          </a:p>
          <a:p xmlns:a="http://schemas.openxmlformats.org/drawingml/2006/main">
            <a:r>
              <a:t>LIMITS: Do not describe all tourism investment as waste or add asset costs without checking overlap. This finding rests mainly on one audit origin.</a:t>
            </a:r>
          </a:p>
          <a:p xmlns:a="http://schemas.openxmlformats.org/drawingml/2006/main">
            <a:r>
              <a:t>RESPONSE / COUNTER-FINDING: Obtain asset-wise completion, use, maintenance and corrective-action records to assess the current position.</a:t>
            </a:r>
          </a:p>
          <a:p xmlns:a="http://schemas.openxmlformats.org/drawingml/2006/main">
            <a:r>
              <a:t>VERIFICATION: Below four-source threshold (1 readable supporting records)</a:t>
            </a:r>
          </a:p>
          <a:p xmlns:a="http://schemas.openxmlformats.org/drawingml/2006/main">
            <a:r>
              <a:t>Underlying audit, survey, inquiry or official statement is shared across some publications; four citations do not establish four independent measurements.</a:t>
            </a:r>
          </a:p>
          <a:p xmlns:a="http://schemas.openxmlformats.org/drawingml/2006/main">
            <a:r>
              <a:t>Readable core sources: S005</a:t>
            </a:r>
          </a:p>
          <a:p xmlns:a="http://schemas.openxmlformats.org/drawingml/2006/main">
            <a:r>
              <a:t>Follow-up: Obtain the current primary record and action-taken outcome; reconcile discrepancies before extending the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S005 · Press Release Page | Press Information Bureau</a:t>
            </a:r>
          </a:p>
          <a:p xmlns:a="http://schemas.openxmlformats.org/drawingml/2006/main">
            <a:r>
              <a:t>Press Information Bureau · 08 AUG 2025</a:t>
            </a:r>
          </a:p>
          <a:p xmlns:a="http://schemas.openxmlformats.org/drawingml/2006/main">
            <a:r>
              <a:t>https://www.pib.gov.in/PressReleasePage.aspx?PRID=2154277&amp;lang=2&amp;reg=48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S204 · Audit Report for the year ended 31 March 2022</a:t>
            </a:r>
          </a:p>
          <a:p xmlns:a="http://schemas.openxmlformats.org/drawingml/2006/main">
            <a:r>
              <a:t>goabudget.gov.in · See original for publication date</a:t>
            </a:r>
          </a:p>
          <a:p xmlns:a="http://schemas.openxmlformats.org/drawingml/2006/main">
            <a:r>
              <a:t>https://goabudget.gov.in/assets/documents/AuditReports/2025-26/Rep-1-of-2025-CAG.pdf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unavailable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P08 · Goa Economic Survey 2025–26</a:t>
            </a:r>
          </a:p>
          <a:p xmlns:a="http://schemas.openxmlformats.org/drawingml/2006/main">
            <a:r>
              <a:t>Directorate of Planning Statistics and Evaluation Goa · 2026</a:t>
            </a:r>
          </a:p>
          <a:p xmlns:a="http://schemas.openxmlformats.org/drawingml/2006/main">
            <a:r>
              <a:t>https://www.dpse.goa.gov.in/economic-survey-2025-26.pdf</a:t>
            </a:r>
          </a:p>
          <a:p xmlns:a="http://schemas.openxmlformats.org/drawingml/2006/main">
            <a:r>
              <a:t>Sector chapters and statistical annexures; individual data periods vary</a:t>
            </a:r>
          </a:p>
          <a:p xmlns:a="http://schemas.openxmlformats.org/drawingml/2006/main">
            <a:r>
              <a:t>Access: retrieved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G64 · GST and revenue oversight weaknesses</a:t>
            </a:r>
          </a:p>
          <a:p xmlns:a="http://schemas.openxmlformats.org/drawingml/2006/main">
            <a:r>
              <a:t>2018–2021 transactions and later audit publication · State taxes and revenue departments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FACT / G64-C1: CAG summaries identify weak followup of non-filers, return mismatches and other revenue-control shortcomings.</a:t>
            </a:r>
          </a:p>
          <a:p xmlns:a="http://schemas.openxmlformats.org/drawingml/2006/main">
            <a:r>
              <a:t>EFFECT ON GOA: Unresolved tax compliance and short levies can reduce revenue assurance; assessed amounts are not automatically permanent losses.</a:t>
            </a:r>
          </a:p>
          <a:p xmlns:a="http://schemas.openxmlformats.org/drawingml/2006/main">
            <a:r>
              <a:t>INCUMBENT IMPLICATION: Creates a revenue-administration and financial-control challenge.</a:t>
            </a:r>
          </a:p>
          <a:p xmlns:a="http://schemas.openxmlformats.org/drawingml/2006/main">
            <a:r>
              <a:t>LOGIC / RATIONALE: Monitoring, reconciliation and consistent recovery protect resources for public services. Weak controls warrant scrutiny regardless of whether overall revenue rises.</a:t>
            </a:r>
          </a:p>
          <a:p xmlns:a="http://schemas.openxmlformats.org/drawingml/2006/main">
            <a:r>
              <a:t>ASSUMPTIONS: The discrepancies are material and not resolved by subsequent reconciliation or recovery.</a:t>
            </a:r>
          </a:p>
          <a:p xmlns:a="http://schemas.openxmlformats.org/drawingml/2006/main">
            <a:r>
              <a:t>LIMITS: A mismatch may be explainable; it is not automatically evasion or fraud. Do not combine different audit samples into one unverified loss total.</a:t>
            </a:r>
          </a:p>
          <a:p xmlns:a="http://schemas.openxmlformats.org/drawingml/2006/main">
            <a:r>
              <a:t>RESPONSE / COUNTER-FINDING: Departmental replies and subsequent recoveries must determine which observations remain open.</a:t>
            </a:r>
          </a:p>
          <a:p xmlns:a="http://schemas.openxmlformats.org/drawingml/2006/main">
            <a:r>
              <a:t>VERIFICATION: Below four-source threshold (3 readable supporting records)</a:t>
            </a:r>
          </a:p>
          <a:p xmlns:a="http://schemas.openxmlformats.org/drawingml/2006/main">
            <a:r>
              <a:t>Underlying audit, survey, inquiry or official statement is shared across some publications; four citations do not establish four independent measurements.</a:t>
            </a:r>
          </a:p>
          <a:p xmlns:a="http://schemas.openxmlformats.org/drawingml/2006/main">
            <a:r>
              <a:t>Readable core sources: P03, S006, S005</a:t>
            </a:r>
          </a:p>
          <a:p xmlns:a="http://schemas.openxmlformats.org/drawingml/2006/main">
            <a:r>
              <a:t>Follow-up: Obtain the current primary record and action-taken outcome; reconcile discrepancies before extending the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P03 · Goa Compliance Audit Report 4 of 2025</a:t>
            </a:r>
          </a:p>
          <a:p xmlns:a="http://schemas.openxmlformats.org/drawingml/2006/main">
            <a:r>
              <a:t>Comptroller and Auditor General of India · 16 January 2026</a:t>
            </a:r>
          </a:p>
          <a:p xmlns:a="http://schemas.openxmlformats.org/drawingml/2006/main">
            <a:r>
              <a:t>https://cag.gov.in/en/audit-report/details/123865</a:t>
            </a:r>
          </a:p>
          <a:p xmlns:a="http://schemas.openxmlformats.org/drawingml/2006/main">
            <a:r>
              <a:t>Overview vii–xiii; SWM 1.5; EDC chapter III; period ended March 2023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S006 · Press Release Page | Press Information Bureau</a:t>
            </a:r>
          </a:p>
          <a:p xmlns:a="http://schemas.openxmlformats.org/drawingml/2006/main">
            <a:r>
              <a:t>Press Information Bureau · 16 JAN 2026</a:t>
            </a:r>
          </a:p>
          <a:p xmlns:a="http://schemas.openxmlformats.org/drawingml/2006/main">
            <a:r>
              <a:t>https://www.pib.gov.in/PressReleasePage.aspx?PRID=2215331&amp;lang=2&amp;reg=48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S005 · Press Release Page | Press Information Bureau</a:t>
            </a:r>
          </a:p>
          <a:p xmlns:a="http://schemas.openxmlformats.org/drawingml/2006/main">
            <a:r>
              <a:t>Press Information Bureau · 08 AUG 2025</a:t>
            </a:r>
          </a:p>
          <a:p xmlns:a="http://schemas.openxmlformats.org/drawingml/2006/main">
            <a:r>
              <a:t>https://www.pib.gov.in/PressReleasePage.aspx?PRID=2154277&amp;lang=2&amp;reg=48</a:t>
            </a:r>
          </a:p>
          <a:p xmlns:a="http://schemas.openxmlformats.org/drawingml/2006/main">
            <a:r>
              <a:t>Relevant article body or document section; accessed 14 October 2026</a:t>
            </a:r>
          </a:p>
          <a:p xmlns:a="http://schemas.openxmlformats.org/drawingml/2006/main">
            <a:r>
              <a:t>Access: retrieved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bb400757d4439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cda2ed190b446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434e9f9eff404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330871c9f54de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0d2adb7117476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dfa5ee12a14be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EC54487-6CF0-43E6-9CEE-ECD62F90ED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D326BE0-119A-4A18-9E46-57C0E59D6A7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B9A6619-0D35-4C56-8EBF-D424EC0FD1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3BFC3B7-82D2-405B-98EB-FE9299F02E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9AFC06C-7B31-4628-9691-6A7A205E286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D50185E-C643-45C0-A03D-E74542BCD1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74DE5B9-E342-4118-970C-BB6BAD94A50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5B6AEB2-2346-4CBC-A694-CE55C71DF99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7FABA9C-5B44-41E0-8A32-88E2DD6FD9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B3343EE-7BCB-46CD-A881-68F60F32A5D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547812aeb3c47b6" /><Relationship Type="http://schemas.openxmlformats.org/officeDocument/2006/relationships/slideLayout" Target="/ppt/slideLayouts/slideLayout1.xml" Id="R797ca2b1b37d4379" /><Relationship Type="http://schemas.openxmlformats.org/officeDocument/2006/relationships/slideLayout" Target="/ppt/slideLayouts/slideLayout2.xml" Id="R7e9ef2aa01ae4477" /><Relationship Type="http://schemas.openxmlformats.org/officeDocument/2006/relationships/slideLayout" Target="/ppt/slideLayouts/slideLayout3.xml" Id="Rb7c0a74509af457d" /><Relationship Type="http://schemas.openxmlformats.org/officeDocument/2006/relationships/slideLayout" Target="/ppt/slideLayouts/slideLayout4.xml" Id="Rc5a6e60b68c146c7" /><Relationship Type="http://schemas.openxmlformats.org/officeDocument/2006/relationships/slideLayout" Target="/ppt/slideLayouts/slideLayout5.xml" Id="R63990c8ebcb645d5" /><Relationship Type="http://schemas.openxmlformats.org/officeDocument/2006/relationships/slideLayout" Target="/ppt/slideLayouts/slideLayout6.xml" Id="Red41055cf6774bd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97ca2b1b37d4379"/>
    <p:sldLayoutId xmlns:r="http://schemas.openxmlformats.org/officeDocument/2006/relationships" id="2147483650" r:id="R7e9ef2aa01ae4477"/>
    <p:sldLayoutId xmlns:r="http://schemas.openxmlformats.org/officeDocument/2006/relationships" id="2147483651" r:id="Rb7c0a74509af457d"/>
    <p:sldLayoutId xmlns:r="http://schemas.openxmlformats.org/officeDocument/2006/relationships" id="2147483652" r:id="Rc5a6e60b68c146c7"/>
    <p:sldLayoutId xmlns:r="http://schemas.openxmlformats.org/officeDocument/2006/relationships" id="2147483653" r:id="R63990c8ebcb645d5"/>
    <p:sldLayoutId xmlns:r="http://schemas.openxmlformats.org/officeDocument/2006/relationships" id="2147483654" r:id="Red41055cf6774bd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64a80a4cd048d8" /><Relationship Type="http://schemas.openxmlformats.org/officeDocument/2006/relationships/notesSlide" Target="/ppt/notesSlides/notesSlide1.xml" Id="R8f7db1ef8d8246d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aff52e5dae47f3" /><Relationship Type="http://schemas.openxmlformats.org/officeDocument/2006/relationships/notesSlide" Target="/ppt/notesSlides/notesSlide2.xml" Id="R86f0d06ff3c64b5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3cbca36be744fe" /><Relationship Type="http://schemas.openxmlformats.org/officeDocument/2006/relationships/notesSlide" Target="/ppt/notesSlides/notesSlide3.xml" Id="Rc275feadc12b4cb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a7444fa65e4018" /><Relationship Type="http://schemas.openxmlformats.org/officeDocument/2006/relationships/notesSlide" Target="/ppt/notesSlides/notesSlide4.xml" Id="R3ad9a3e021e5446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e1d008d4d34083" /><Relationship Type="http://schemas.openxmlformats.org/officeDocument/2006/relationships/notesSlide" Target="/ppt/notesSlides/notesSlide5.xml" Id="R1812318616db45a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2e719eeaed4fc5" /><Relationship Type="http://schemas.openxmlformats.org/officeDocument/2006/relationships/notesSlide" Target="/ppt/notesSlides/notesSlide6.xml" Id="R9b51fde5b61c470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3f27ed206c472c" /><Relationship Type="http://schemas.openxmlformats.org/officeDocument/2006/relationships/notesSlide" Target="/ppt/notesSlides/notesSlide7.xml" Id="R4f760a1e3f8d4be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eca54f2bf44f24" /><Relationship Type="http://schemas.openxmlformats.org/officeDocument/2006/relationships/notesSlide" Target="/ppt/notesSlides/notesSlide8.xml" Id="R294f71a9acb5459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6b06df02e34207" /><Relationship Type="http://schemas.openxmlformats.org/officeDocument/2006/relationships/notesSlide" Target="/ppt/notesSlides/notesSlide9.xml" Id="R3489c60a762e454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f381aeb81c4496" /><Relationship Type="http://schemas.openxmlformats.org/officeDocument/2006/relationships/notesSlide" Target="/ppt/notesSlides/notesSlide10.xml" Id="R11bf9a4dee4f4f9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ffe8c108534ae8" /><Relationship Type="http://schemas.openxmlformats.org/officeDocument/2006/relationships/notesSlide" Target="/ppt/notesSlides/notesSlide11.xml" Id="R4fc34761a3fa40a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0b936e6b964b88" /><Relationship Type="http://schemas.openxmlformats.org/officeDocument/2006/relationships/notesSlide" Target="/ppt/notesSlides/notesSlide12.xml" Id="R395278acfdcf47e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7868fd0abd404a" /><Relationship Type="http://schemas.openxmlformats.org/officeDocument/2006/relationships/notesSlide" Target="/ppt/notesSlides/notesSlide13.xml" Id="R4fa88a9a090b49c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d1399a542d4de1" /><Relationship Type="http://schemas.openxmlformats.org/officeDocument/2006/relationships/notesSlide" Target="/ppt/notesSlides/notesSlide14.xml" Id="R8d3750541936412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010dfa0a1c4b99" /><Relationship Type="http://schemas.openxmlformats.org/officeDocument/2006/relationships/notesSlide" Target="/ppt/notesSlides/notesSlide15.xml" Id="Rc8eb39d80abd454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16a7ec0f3f43e8" /><Relationship Type="http://schemas.openxmlformats.org/officeDocument/2006/relationships/notesSlide" Target="/ppt/notesSlides/notesSlide16.xml" Id="Rbc447a3324104d0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92489c7f6e4f27" /><Relationship Type="http://schemas.openxmlformats.org/officeDocument/2006/relationships/notesSlide" Target="/ppt/notesSlides/notesSlide17.xml" Id="R3976585b636f4f8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00b8a4800445f5" /><Relationship Type="http://schemas.openxmlformats.org/officeDocument/2006/relationships/notesSlide" Target="/ppt/notesSlides/notesSlide18.xml" Id="R803c35d144f7485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12993f226b407a" /><Relationship Type="http://schemas.openxmlformats.org/officeDocument/2006/relationships/notesSlide" Target="/ppt/notesSlides/notesSlide19.xml" Id="Ra424a0060a464ee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001133676c4c96" /><Relationship Type="http://schemas.openxmlformats.org/officeDocument/2006/relationships/notesSlide" Target="/ppt/notesSlides/notesSlide20.xml" Id="Rac51e85f01f1402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98990e23c1456f" /><Relationship Type="http://schemas.openxmlformats.org/officeDocument/2006/relationships/notesSlide" Target="/ppt/notesSlides/notesSlide21.xml" Id="R10d8c65f8dbd40e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0c05e91ed140b7" /><Relationship Type="http://schemas.openxmlformats.org/officeDocument/2006/relationships/notesSlide" Target="/ppt/notesSlides/notesSlide22.xml" Id="R5e899dc9cda24a0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ebad3f23d14d42" /><Relationship Type="http://schemas.openxmlformats.org/officeDocument/2006/relationships/notesSlide" Target="/ppt/notesSlides/notesSlide23.xml" Id="R26b99da40ba44a4e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ca6a39d9b5448e" /><Relationship Type="http://schemas.openxmlformats.org/officeDocument/2006/relationships/notesSlide" Target="/ppt/notesSlides/notesSlide24.xml" Id="R2d7a9a45e26747c4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e66ca2550142e3" /><Relationship Type="http://schemas.openxmlformats.org/officeDocument/2006/relationships/notesSlide" Target="/ppt/notesSlides/notesSlide25.xml" Id="Rdd86348db2524bee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10640ef21a4f0c" /><Relationship Type="http://schemas.openxmlformats.org/officeDocument/2006/relationships/notesSlide" Target="/ppt/notesSlides/notesSlide26.xml" Id="R4086ebe748094013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e3c3608f984207" /><Relationship Type="http://schemas.openxmlformats.org/officeDocument/2006/relationships/notesSlide" Target="/ppt/notesSlides/notesSlide27.xml" Id="R5e3ac93e4b8443a9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1e0320a8454757" /><Relationship Type="http://schemas.openxmlformats.org/officeDocument/2006/relationships/notesSlide" Target="/ppt/notesSlides/notesSlide28.xml" Id="Ra655333ea2c34112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c617c67ba44b5c" /><Relationship Type="http://schemas.openxmlformats.org/officeDocument/2006/relationships/notesSlide" Target="/ppt/notesSlides/notesSlide29.xml" Id="R149f9d21b9e94efe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c67c0e18ad4d66" /><Relationship Type="http://schemas.openxmlformats.org/officeDocument/2006/relationships/notesSlide" Target="/ppt/notesSlides/notesSlide30.xml" Id="R3236f8f48f604a10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f6730eda734c71" /><Relationship Type="http://schemas.openxmlformats.org/officeDocument/2006/relationships/notesSlide" Target="/ppt/notesSlides/notesSlide31.xml" Id="Red64448f6e3c41e3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eab2639d954922" /><Relationship Type="http://schemas.openxmlformats.org/officeDocument/2006/relationships/notesSlide" Target="/ppt/notesSlides/notesSlide32.xml" Id="Rf8e2489109f343a8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186875af184e77" /><Relationship Type="http://schemas.openxmlformats.org/officeDocument/2006/relationships/notesSlide" Target="/ppt/notesSlides/notesSlide33.xml" Id="R42f9f8217e644084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8e2931c8f24dd6" /><Relationship Type="http://schemas.openxmlformats.org/officeDocument/2006/relationships/notesSlide" Target="/ppt/notesSlides/notesSlide34.xml" Id="R77a503d2fd584b34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e1938d8fad4876" /><Relationship Type="http://schemas.openxmlformats.org/officeDocument/2006/relationships/notesSlide" Target="/ppt/notesSlides/notesSlide35.xml" Id="R967a19a81c2a4aad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1fe5fe1edd4074" /><Relationship Type="http://schemas.openxmlformats.org/officeDocument/2006/relationships/notesSlide" Target="/ppt/notesSlides/notesSlide36.xml" Id="Rbe4afe89d08c40a6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49a87dc35e488d" /><Relationship Type="http://schemas.openxmlformats.org/officeDocument/2006/relationships/notesSlide" Target="/ppt/notesSlides/notesSlide37.xml" Id="R7bc25de088db4a53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89871a21e64c27" /><Relationship Type="http://schemas.openxmlformats.org/officeDocument/2006/relationships/notesSlide" Target="/ppt/notesSlides/notesSlide38.xml" Id="R6a79c3020fd34d27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85b59a025c4e3b" /><Relationship Type="http://schemas.openxmlformats.org/officeDocument/2006/relationships/notesSlide" Target="/ppt/notesSlides/notesSlide39.xml" Id="R945c97a3b8264dee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79e45bde3f4a31" /><Relationship Type="http://schemas.openxmlformats.org/officeDocument/2006/relationships/notesSlide" Target="/ppt/notesSlides/notesSlide40.xml" Id="R4db897ddfaa844ea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2598705bf94ae4" /><Relationship Type="http://schemas.openxmlformats.org/officeDocument/2006/relationships/notesSlide" Target="/ppt/notesSlides/notesSlide41.xml" Id="R3467f69b901b40fc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c187dd11d443fa" /><Relationship Type="http://schemas.openxmlformats.org/officeDocument/2006/relationships/notesSlide" Target="/ppt/notesSlides/notesSlide42.xml" Id="Rad18d0a8fb18498a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f39985550c4002" /><Relationship Type="http://schemas.openxmlformats.org/officeDocument/2006/relationships/notesSlide" Target="/ppt/notesSlides/notesSlide43.xml" Id="Ree2d85e3a5114127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93fde5858f4b60" /><Relationship Type="http://schemas.openxmlformats.org/officeDocument/2006/relationships/notesSlide" Target="/ppt/notesSlides/notesSlide44.xml" Id="Rc93ebe2103a04720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33cf4939c24c20" /><Relationship Type="http://schemas.openxmlformats.org/officeDocument/2006/relationships/notesSlide" Target="/ppt/notesSlides/notesSlide45.xml" Id="Rf92c02d767ec4a94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2c075e1f0349b4" /><Relationship Type="http://schemas.openxmlformats.org/officeDocument/2006/relationships/notesSlide" Target="/ppt/notesSlides/notesSlide46.xml" Id="R8a573ac8dd054980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025824080d44e4" /><Relationship Type="http://schemas.openxmlformats.org/officeDocument/2006/relationships/notesSlide" Target="/ppt/notesSlides/notesSlide47.xml" Id="R386cad14e08c4e97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cf666468d34040" /><Relationship Type="http://schemas.openxmlformats.org/officeDocument/2006/relationships/notesSlide" Target="/ppt/notesSlides/notesSlide48.xml" Id="R34c6e5a924894617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cbf9fdc5e94cec" /><Relationship Type="http://schemas.openxmlformats.org/officeDocument/2006/relationships/notesSlide" Target="/ppt/notesSlides/notesSlide49.xml" Id="R2387d5e92c474dd3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43658efe6a4bc0" /><Relationship Type="http://schemas.openxmlformats.org/officeDocument/2006/relationships/notesSlide" Target="/ppt/notesSlides/notesSlide50.xml" Id="R1fad9572d82e4353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fadde2ccee4638" /><Relationship Type="http://schemas.openxmlformats.org/officeDocument/2006/relationships/notesSlide" Target="/ppt/notesSlides/notesSlide51.xml" Id="R0d9025b19f60482a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58e20048d341e5" /><Relationship Type="http://schemas.openxmlformats.org/officeDocument/2006/relationships/notesSlide" Target="/ppt/notesSlides/notesSlide52.xml" Id="R97f0a66affe24b56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57458ad5364abc" /><Relationship Type="http://schemas.openxmlformats.org/officeDocument/2006/relationships/notesSlide" Target="/ppt/notesSlides/notesSlide53.xml" Id="R38e840cf61ed4bb4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44266fa84b4f35" /><Relationship Type="http://schemas.openxmlformats.org/officeDocument/2006/relationships/notesSlide" Target="/ppt/notesSlides/notesSlide54.xml" Id="R1813a36bbab74707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ff5ed237e84fe2" /><Relationship Type="http://schemas.openxmlformats.org/officeDocument/2006/relationships/notesSlide" Target="/ppt/notesSlides/notesSlide55.xml" Id="R578e43014f0b44cb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b689899e5f4a7e" /><Relationship Type="http://schemas.openxmlformats.org/officeDocument/2006/relationships/notesSlide" Target="/ppt/notesSlides/notesSlide56.xml" Id="R2e3fff96a3c14779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3cfc61498547d5" /><Relationship Type="http://schemas.openxmlformats.org/officeDocument/2006/relationships/notesSlide" Target="/ppt/notesSlides/notesSlide57.xml" Id="R5bdd0da62e184412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85532eff264a04" /><Relationship Type="http://schemas.openxmlformats.org/officeDocument/2006/relationships/notesSlide" Target="/ppt/notesSlides/notesSlide58.xml" Id="R6b79dd1c475a4c46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9e034ac7934371" /><Relationship Type="http://schemas.openxmlformats.org/officeDocument/2006/relationships/notesSlide" Target="/ppt/notesSlides/notesSlide59.xml" Id="R72104b08397e431e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a087b2b3844ec7" /><Relationship Type="http://schemas.openxmlformats.org/officeDocument/2006/relationships/notesSlide" Target="/ppt/notesSlides/notesSlide60.xml" Id="R40d8178b3fc14459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9c796e9b2f4be8" /><Relationship Type="http://schemas.openxmlformats.org/officeDocument/2006/relationships/notesSlide" Target="/ppt/notesSlides/notesSlide61.xml" Id="R02bf70e3d4da4ff2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6ef40dc1a240dd" /><Relationship Type="http://schemas.openxmlformats.org/officeDocument/2006/relationships/notesSlide" Target="/ppt/notesSlides/notesSlide62.xml" Id="R4d852c9964334059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aaff44b3724995" /><Relationship Type="http://schemas.openxmlformats.org/officeDocument/2006/relationships/notesSlide" Target="/ppt/notesSlides/notesSlide63.xml" Id="Rc52cdb72a2b34a07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31fda8ee0e4eeb" /><Relationship Type="http://schemas.openxmlformats.org/officeDocument/2006/relationships/notesSlide" Target="/ppt/notesSlides/notesSlide64.xml" Id="R0d69b061bbaa4c7d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43d88a15454f06" /><Relationship Type="http://schemas.openxmlformats.org/officeDocument/2006/relationships/notesSlide" Target="/ppt/notesSlides/notesSlide65.xml" Id="R5eb7969a5f5a4bd5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09beede24649e2" /><Relationship Type="http://schemas.openxmlformats.org/officeDocument/2006/relationships/notesSlide" Target="/ppt/notesSlides/notesSlide66.xml" Id="Rec8b2b36e8a44d1f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7c4d29d324436e" /><Relationship Type="http://schemas.openxmlformats.org/officeDocument/2006/relationships/notesSlide" Target="/ppt/notesSlides/notesSlide67.xml" Id="R2c51ce09e436421f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70cfbd742f45d7" /><Relationship Type="http://schemas.openxmlformats.org/officeDocument/2006/relationships/notesSlide" Target="/ppt/notesSlides/notesSlide68.xml" Id="Rd22353782280405f" /></Relationships>
</file>

<file path=ppt/slides/_rels/slide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c49a7ebcbe4c03" /><Relationship Type="http://schemas.openxmlformats.org/officeDocument/2006/relationships/notesSlide" Target="/ppt/notesSlides/notesSlide69.xml" Id="R08b8b67e832c4b08" /></Relationships>
</file>

<file path=ppt/slides/_rels/slide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2c92edf1d24827" /><Relationship Type="http://schemas.openxmlformats.org/officeDocument/2006/relationships/notesSlide" Target="/ppt/notesSlides/notesSlide70.xml" Id="R2ad86d58073f492d" /></Relationships>
</file>

<file path=ppt/slides/_rels/slide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172ef3e5664410" /><Relationship Type="http://schemas.openxmlformats.org/officeDocument/2006/relationships/notesSlide" Target="/ppt/notesSlides/notesSlide71.xml" Id="R917b9da492d94495" /></Relationships>
</file>

<file path=ppt/slides/_rels/slide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abaa31d2d64149" /><Relationship Type="http://schemas.openxmlformats.org/officeDocument/2006/relationships/notesSlide" Target="/ppt/notesSlides/notesSlide72.xml" Id="Raa53d9140d8b4ecb" /></Relationships>
</file>

<file path=ppt/slides/_rels/slide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cfb6ab908b4d35" /><Relationship Type="http://schemas.openxmlformats.org/officeDocument/2006/relationships/notesSlide" Target="/ppt/notesSlides/notesSlide73.xml" Id="Rdc0c415287314ea4" /></Relationships>
</file>

<file path=ppt/slides/_rels/slide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20c9ee22e24799" /><Relationship Type="http://schemas.openxmlformats.org/officeDocument/2006/relationships/notesSlide" Target="/ppt/notesSlides/notesSlide74.xml" Id="R8a2437ba635d412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D8B3CF34-097C-456F-9579-117087B7B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2019–2026 · PREPARED FOR MANASH PROTIM DEORI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8026203-40C2-44D9-A023-58BF337AF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53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defRPr>
            </a:pPr>
            <a:r>
              <a: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rPr>
              <a:t>Goa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defRPr>
            </a:pPr>
            <a:r>
              <a: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rPr>
              <a:t>Governance Evidence Review</a:t>
            </a:r>
          </a:p>
        </p:txBody>
      </p:sp>
      <p:sp>
        <p:nvSpPr>
          <p:cNvPr id="3" name="page-footer">
            <a:extLst xmlns:a="http://schemas.openxmlformats.org/drawingml/2006/main">
              <a:ext uri="{FF2B5EF4-FFF2-40B4-BE49-F238E27FC236}">
                <a16:creationId xmlns:a16="http://schemas.microsoft.com/office/drawing/2014/main" id="{901FBB98-0A69-4AA0-8369-723A90089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GOA GOVERNANCE  /  14 OCTOBER 2026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45654BE-E025-4974-9049-A883AA7D4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514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39CF845A-9C40-450F-8CD7-95F6BA62C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10001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75" b="0">
                <a:solidFill>
                  <a:srgbClr val="182F38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2775" b="0">
                <a:solidFill>
                  <a:srgbClr val="182F38"/>
                </a:solidFill>
                <a:latin typeface="DejaVu Serif"/>
                <a:ea typeface="DejaVu Serif"/>
                <a:cs typeface="DejaVu Serif"/>
              </a:defRPr>
            </a:pPr>
            <a:r>
              <a:rPr sz="2775" b="0">
                <a:solidFill>
                  <a:srgbClr val="182F38"/>
                </a:solidFill>
                <a:latin typeface="DejaVu Serif"/>
                <a:ea typeface="DejaVu Serif"/>
                <a:cs typeface="DejaVu Serif"/>
              </a:rPr>
              <a:t>Facts, effects and implications for the incumbent government</a:t>
            </a:r>
          </a:p>
        </p:txBody>
      </p:sp>
      <p:sp>
        <p:nvSpPr>
          <p:cNvPr id="6" name="cover-description">
            <a:extLst xmlns:a="http://schemas.openxmlformats.org/drawingml/2006/main">
              <a:ext uri="{FF2B5EF4-FFF2-40B4-BE49-F238E27FC236}">
                <a16:creationId xmlns:a16="http://schemas.microsoft.com/office/drawing/2014/main" id="{01032A66-506C-4E7B-A0CF-4D09EC035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210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64 dossiers. Explicit reasoning and assumptions.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210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Discrepancies, responses and counter-findings included.</a:t>
            </a:r>
          </a:p>
        </p:txBody>
      </p:sp>
      <p:sp>
        <p:nvSpPr>
          <p:cNvPr id="7" name="cover-limit">
            <a:extLst xmlns:a="http://schemas.openxmlformats.org/drawingml/2006/main">
              <a:ext uri="{FF2B5EF4-FFF2-40B4-BE49-F238E27FC236}">
                <a16:creationId xmlns:a16="http://schemas.microsoft.com/office/drawing/2014/main" id="{FB7D0728-4BE6-47A6-9DD5-D2BFD48E9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62575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800" b="0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Four independent origins per atomic fact and an exhaustive incident census were not achieved. Evidence gaps are marked.</a:t>
            </a:r>
          </a:p>
        </p:txBody>
      </p:sp>
    </p:spTree>
    <p:extLst>
      <p:ext uri="{BB962C8B-B14F-4D97-AF65-F5344CB8AC3E}">
        <p14:creationId xmlns:p14="http://schemas.microsoft.com/office/powerpoint/2010/main" val="14286615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D7330ACF-AC9B-4D35-96C9-9DDFBFDB2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HOW TO USE THIS PRESENTATION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4AF6518-9B61-4721-9DF2-826A0986E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53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defRPr>
            </a:pPr>
            <a:r>
              <a: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rPr>
              <a:t>Evidence status is part of every conclusion</a:t>
            </a:r>
          </a:p>
        </p:txBody>
      </p:sp>
      <p:sp>
        <p:nvSpPr>
          <p:cNvPr id="3" name="page-footer">
            <a:extLst xmlns:a="http://schemas.openxmlformats.org/drawingml/2006/main">
              <a:ext uri="{FF2B5EF4-FFF2-40B4-BE49-F238E27FC236}">
                <a16:creationId xmlns:a16="http://schemas.microsoft.com/office/drawing/2014/main" id="{A17F79CB-0EC7-459E-AA78-88B76A75C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GOA GOVERNANCE  /  14 OCTOBER 2026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BE60151-67E7-40DA-A276-5A7BF0938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514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5" name="29 dossiers-label">
            <a:extLst xmlns:a="http://schemas.openxmlformats.org/drawingml/2006/main">
              <a:ext uri="{FF2B5EF4-FFF2-40B4-BE49-F238E27FC236}">
                <a16:creationId xmlns:a16="http://schemas.microsoft.com/office/drawing/2014/main" id="{EC68385D-367E-43E4-9F65-BE87966E8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29 DOSSIERS</a:t>
            </a:r>
          </a:p>
        </p:txBody>
      </p:sp>
      <p:sp>
        <p:nvSpPr>
          <p:cNvPr id="6" name="29 dossiers-text">
            <a:extLst xmlns:a="http://schemas.openxmlformats.org/drawingml/2006/main">
              <a:ext uri="{FF2B5EF4-FFF2-40B4-BE49-F238E27FC236}">
                <a16:creationId xmlns:a16="http://schemas.microsoft.com/office/drawing/2014/main" id="{013DAAA3-CBD2-4575-A884-CDF348E44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5143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2025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At least four readable supporting publications for the narrow core statement. Shared underlying records reduce independence.</a:t>
            </a:r>
          </a:p>
        </p:txBody>
      </p:sp>
      <p:sp>
        <p:nvSpPr>
          <p:cNvPr id="7" name="35 dossiers-label">
            <a:extLst xmlns:a="http://schemas.openxmlformats.org/drawingml/2006/main">
              <a:ext uri="{FF2B5EF4-FFF2-40B4-BE49-F238E27FC236}">
                <a16:creationId xmlns:a16="http://schemas.microsoft.com/office/drawing/2014/main" id="{4301A48C-BE78-4D4E-9B7F-2BB4041D0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288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35 DOSSIERS</a:t>
            </a:r>
          </a:p>
        </p:txBody>
      </p:sp>
      <p:sp>
        <p:nvSpPr>
          <p:cNvPr id="8" name="35 dossiers-text">
            <a:extLst xmlns:a="http://schemas.openxmlformats.org/drawingml/2006/main">
              <a:ext uri="{FF2B5EF4-FFF2-40B4-BE49-F238E27FC236}">
                <a16:creationId xmlns:a16="http://schemas.microsoft.com/office/drawing/2014/main" id="{2D085B1B-A3C8-4226-B7CE-13DA0E865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33600"/>
            <a:ext cx="5143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2025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Below the four-publication threshold. Retained as qualified findings or research leads, with specific limits.</a:t>
            </a:r>
          </a:p>
        </p:txBody>
      </p:sp>
      <p:sp>
        <p:nvSpPr>
          <p:cNvPr id="9" name="Source trail-label">
            <a:extLst xmlns:a="http://schemas.openxmlformats.org/drawingml/2006/main">
              <a:ext uri="{FF2B5EF4-FFF2-40B4-BE49-F238E27FC236}">
                <a16:creationId xmlns:a16="http://schemas.microsoft.com/office/drawing/2014/main" id="{C7648E44-0A73-461E-9E19-6E370BA7E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529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SOURCE TRAIL</a:t>
            </a:r>
          </a:p>
        </p:txBody>
      </p:sp>
      <p:sp>
        <p:nvSpPr>
          <p:cNvPr id="10" name="Source trail-text">
            <a:extLst xmlns:a="http://schemas.openxmlformats.org/drawingml/2006/main">
              <a:ext uri="{FF2B5EF4-FFF2-40B4-BE49-F238E27FC236}">
                <a16:creationId xmlns:a16="http://schemas.microsoft.com/office/drawing/2014/main" id="{1B280DB9-A57B-4C5A-8834-5B737E88F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5143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875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Readable records, context, responses and access failures are separated in the PDF and full slide notes.</a:t>
            </a:r>
          </a:p>
        </p:txBody>
      </p:sp>
      <p:sp>
        <p:nvSpPr>
          <p:cNvPr id="11" name="Political analysis-label">
            <a:extLst xmlns:a="http://schemas.openxmlformats.org/drawingml/2006/main">
              <a:ext uri="{FF2B5EF4-FFF2-40B4-BE49-F238E27FC236}">
                <a16:creationId xmlns:a16="http://schemas.microsoft.com/office/drawing/2014/main" id="{BBA00367-DC4C-4FE5-9CC8-872357BED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1529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POLITICAL ANALYSIS</a:t>
            </a:r>
          </a:p>
        </p:txBody>
      </p:sp>
      <p:sp>
        <p:nvSpPr>
          <p:cNvPr id="12" name="Political analysis-text">
            <a:extLst xmlns:a="http://schemas.openxmlformats.org/drawingml/2006/main">
              <a:ext uri="{FF2B5EF4-FFF2-40B4-BE49-F238E27FC236}">
                <a16:creationId xmlns:a16="http://schemas.microsoft.com/office/drawing/2014/main" id="{4B41AC7A-66D3-42A5-AF7F-C15EDD2F6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57700"/>
            <a:ext cx="5143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875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Qualitative accountability implications. Actual public-trust change, vote effects and seat outcomes are unmeasured.</a:t>
            </a:r>
          </a:p>
        </p:txBody>
      </p:sp>
    </p:spTree>
    <p:extLst>
      <p:ext uri="{BB962C8B-B14F-4D97-AF65-F5344CB8AC3E}">
        <p14:creationId xmlns:p14="http://schemas.microsoft.com/office/powerpoint/2010/main" val="20170656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BDC73ADF-7E49-44D0-BDD5-77A86445D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THE ACCOUNTABILITY TEST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0C191EE-F601-4B85-AE0C-EE22DD29E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53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defRPr>
            </a:pPr>
            <a:r>
              <a: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rPr>
              <a:t>From an event to a government implication</a:t>
            </a:r>
          </a:p>
        </p:txBody>
      </p:sp>
      <p:sp>
        <p:nvSpPr>
          <p:cNvPr id="3" name="page-footer">
            <a:extLst xmlns:a="http://schemas.openxmlformats.org/drawingml/2006/main">
              <a:ext uri="{FF2B5EF4-FFF2-40B4-BE49-F238E27FC236}">
                <a16:creationId xmlns:a16="http://schemas.microsoft.com/office/drawing/2014/main" id="{526186B4-8BF8-4478-BC58-FCF2371F1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GOA GOVERNANCE  /  14 OCTOBER 2026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9B120DA-C742-4BB6-B6E4-F867C7521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514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5" name="Duty and control-label">
            <a:extLst xmlns:a="http://schemas.openxmlformats.org/drawingml/2006/main">
              <a:ext uri="{FF2B5EF4-FFF2-40B4-BE49-F238E27FC236}">
                <a16:creationId xmlns:a16="http://schemas.microsoft.com/office/drawing/2014/main" id="{0BC745D6-E60A-4020-8816-D9BCBFE00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DUTY AND CONTROL</a:t>
            </a:r>
          </a:p>
        </p:txBody>
      </p:sp>
      <p:sp>
        <p:nvSpPr>
          <p:cNvPr id="6" name="Duty and control-text">
            <a:extLst xmlns:a="http://schemas.openxmlformats.org/drawingml/2006/main">
              <a:ext uri="{FF2B5EF4-FFF2-40B4-BE49-F238E27FC236}">
                <a16:creationId xmlns:a16="http://schemas.microsoft.com/office/drawing/2014/main" id="{61C21761-59C1-4D13-839A-5030AD7B6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66925"/>
            <a:ext cx="5143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875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Who had authority? Distinguish state, Union, local body, contractor, private operator and court responsibilities.</a:t>
            </a:r>
          </a:p>
        </p:txBody>
      </p:sp>
      <p:sp>
        <p:nvSpPr>
          <p:cNvPr id="7" name="Evidence and connection-label">
            <a:extLst xmlns:a="http://schemas.openxmlformats.org/drawingml/2006/main">
              <a:ext uri="{FF2B5EF4-FFF2-40B4-BE49-F238E27FC236}">
                <a16:creationId xmlns:a16="http://schemas.microsoft.com/office/drawing/2014/main" id="{6ED1BB8B-5F31-41C4-B696-882F99806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62125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EVIDENCE AND CONNECTION</a:t>
            </a:r>
          </a:p>
        </p:txBody>
      </p:sp>
      <p:sp>
        <p:nvSpPr>
          <p:cNvPr id="8" name="Evidence and connection-text">
            <a:extLst xmlns:a="http://schemas.openxmlformats.org/drawingml/2006/main">
              <a:ext uri="{FF2B5EF4-FFF2-40B4-BE49-F238E27FC236}">
                <a16:creationId xmlns:a16="http://schemas.microsoft.com/office/drawing/2014/main" id="{3EA884D9-3405-42D7-8A74-FBD4DAD41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66925"/>
            <a:ext cx="5143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875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What standard or warning existed? Was the failure documented? Did evidence connect it to the harm?</a:t>
            </a:r>
          </a:p>
        </p:txBody>
      </p:sp>
      <p:sp>
        <p:nvSpPr>
          <p:cNvPr id="9" name="Rationale-label">
            <a:extLst xmlns:a="http://schemas.openxmlformats.org/drawingml/2006/main">
              <a:ext uri="{FF2B5EF4-FFF2-40B4-BE49-F238E27FC236}">
                <a16:creationId xmlns:a16="http://schemas.microsoft.com/office/drawing/2014/main" id="{4E0A4698-AA62-4C09-B251-B26751138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RATIONALE</a:t>
            </a:r>
          </a:p>
        </p:txBody>
      </p:sp>
      <p:sp>
        <p:nvSpPr>
          <p:cNvPr id="10" name="Rationale-text">
            <a:extLst xmlns:a="http://schemas.openxmlformats.org/drawingml/2006/main">
              <a:ext uri="{FF2B5EF4-FFF2-40B4-BE49-F238E27FC236}">
                <a16:creationId xmlns:a16="http://schemas.microsoft.com/office/drawing/2014/main" id="{DC994E98-08AE-4488-95E3-6E0827863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5143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875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A documented failure in a public duty can create scrutiny and pressure for remedy. A bad outcome alone does not prove negligence.</a:t>
            </a:r>
          </a:p>
        </p:txBody>
      </p:sp>
      <p:sp>
        <p:nvSpPr>
          <p:cNvPr id="11" name="Assumption-label">
            <a:extLst xmlns:a="http://schemas.openxmlformats.org/drawingml/2006/main">
              <a:ext uri="{FF2B5EF4-FFF2-40B4-BE49-F238E27FC236}">
                <a16:creationId xmlns:a16="http://schemas.microsoft.com/office/drawing/2014/main" id="{2521F635-5728-4E12-9A46-833F80551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6715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ASSUMPTION</a:t>
            </a:r>
          </a:p>
        </p:txBody>
      </p:sp>
      <p:sp>
        <p:nvSpPr>
          <p:cNvPr id="12" name="Assumption-text">
            <a:extLst xmlns:a="http://schemas.openxmlformats.org/drawingml/2006/main">
              <a:ext uri="{FF2B5EF4-FFF2-40B4-BE49-F238E27FC236}">
                <a16:creationId xmlns:a16="http://schemas.microsoft.com/office/drawing/2014/main" id="{E4190EE3-D884-4A58-AE6F-358A0F5B3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171950"/>
            <a:ext cx="5143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875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Political relevance depends on public awareness, attribution, corrective action and competing priorities. No electoral magnitude is assigned.</a:t>
            </a:r>
          </a:p>
        </p:txBody>
      </p:sp>
    </p:spTree>
    <p:extLst>
      <p:ext uri="{BB962C8B-B14F-4D97-AF65-F5344CB8AC3E}">
        <p14:creationId xmlns:p14="http://schemas.microsoft.com/office/powerpoint/2010/main" val="16333101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4614DBA7-1A3E-4445-9A3F-B1658C7F7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DEFINITIONS BEFORE CONCLUSIONS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22BE3EA-143E-42A9-8257-F439678DB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53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defRPr>
            </a:pPr>
            <a:r>
              <a: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rPr>
              <a:t>Health risks: selected adverse survey changes</a:t>
            </a:r>
          </a:p>
        </p:txBody>
      </p:sp>
      <p:sp>
        <p:nvSpPr>
          <p:cNvPr id="3" name="page-footer">
            <a:extLst xmlns:a="http://schemas.openxmlformats.org/drawingml/2006/main">
              <a:ext uri="{FF2B5EF4-FFF2-40B4-BE49-F238E27FC236}">
                <a16:creationId xmlns:a16="http://schemas.microsoft.com/office/drawing/2014/main" id="{0DE55DB5-9936-40C4-9332-A7C1248C9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GOA GOVERNANCE  /  14 OCTOBER 2026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53CED8D-E0ED-4B1F-9960-D7255B19C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514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D05328-3AC0-42BA-A39C-4597A93C0A76}"/>
              </a:ext>
            </a:extLst>
          </p:cNvPr>
          <p:cNvGraphicFramePr/>
          <p:nvPr/>
        </p:nvGraphicFramePr>
        <p:xfrm>
          <a:off xmlns:a="http://schemas.openxmlformats.org/drawingml/2006/main" x="609600" y="1790700"/>
          <a:ext xmlns:a="http://schemas.openxmlformats.org/drawingml/2006/main" cx="10972800" cy="39338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572250"/>
                <a:gridCol w="1466850"/>
                <a:gridCol w="1466850"/>
                <a:gridCol w="1466850"/>
              </a:tblGrid>
              <a:tr h="561975">
                <a:tc>
                  <a:txBody>
                    <a:bodyPr wrap="square" lIns="95250" tIns="95250" rIns="95250" bIns="95250"/>
                    <a:lstStyle/>
                    <a:p>
                      <a:r>
                        <a:rPr sz="1500" b="1">
                          <a:solidFill>
                            <a:srgbClr val="182F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Indicator / population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CFD5CF"/>
                      </a:solidFill>
                      <a:prstDash val="solid"/>
                    </a:lnL>
                    <a:lnR w="5715">
                      <a:solidFill>
                        <a:srgbClr val="CFD5CF"/>
                      </a:solidFill>
                      <a:prstDash val="solid"/>
                    </a:lnR>
                    <a:lnT w="5715">
                      <a:solidFill>
                        <a:srgbClr val="CFD5CF"/>
                      </a:solidFill>
                      <a:prstDash val="solid"/>
                    </a:lnT>
                    <a:lnB w="5715">
                      <a:solidFill>
                        <a:srgbClr val="CFD5CF"/>
                      </a:solidFill>
                      <a:prstDash val="solid"/>
                    </a:lnB>
                    <a:solidFill>
                      <a:srgbClr val="E1E8E2"/>
                    </a:solidFill>
                  </a:tcPr>
                </a:tc>
                <a:tc>
                  <a:txBody>
                    <a:bodyPr wrap="square" lIns="95250" tIns="95250" rIns="95250" bIns="95250"/>
                    <a:lstStyle/>
                    <a:p>
                      <a:r>
                        <a:rPr sz="1500" b="1">
                          <a:solidFill>
                            <a:srgbClr val="182F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NFHS-5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FD5CF"/>
                      </a:solidFill>
                      <a:prstDash val="solid"/>
                    </a:lnR>
                    <a:lnT w="5715">
                      <a:solidFill>
                        <a:srgbClr val="CFD5CF"/>
                      </a:solidFill>
                      <a:prstDash val="solid"/>
                    </a:lnT>
                    <a:lnB w="5715">
                      <a:solidFill>
                        <a:srgbClr val="CFD5CF"/>
                      </a:solidFill>
                      <a:prstDash val="solid"/>
                    </a:lnB>
                    <a:solidFill>
                      <a:srgbClr val="E1E8E2"/>
                    </a:solidFill>
                  </a:tcPr>
                </a:tc>
                <a:tc>
                  <a:txBody>
                    <a:bodyPr wrap="square" lIns="95250" tIns="95250" rIns="95250" bIns="95250"/>
                    <a:lstStyle/>
                    <a:p>
                      <a:r>
                        <a:rPr sz="1500" b="1">
                          <a:solidFill>
                            <a:srgbClr val="182F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NFHS-6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FD5CF"/>
                      </a:solidFill>
                      <a:prstDash val="solid"/>
                    </a:lnR>
                    <a:lnT w="5715">
                      <a:solidFill>
                        <a:srgbClr val="CFD5CF"/>
                      </a:solidFill>
                      <a:prstDash val="solid"/>
                    </a:lnT>
                    <a:lnB w="5715">
                      <a:solidFill>
                        <a:srgbClr val="CFD5CF"/>
                      </a:solidFill>
                      <a:prstDash val="solid"/>
                    </a:lnB>
                    <a:solidFill>
                      <a:srgbClr val="E1E8E2"/>
                    </a:solidFill>
                  </a:tcPr>
                </a:tc>
                <a:tc>
                  <a:txBody>
                    <a:bodyPr wrap="square" lIns="95250" tIns="95250" rIns="95250" bIns="95250"/>
                    <a:lstStyle/>
                    <a:p>
                      <a:r>
                        <a:rPr sz="1500" b="1">
                          <a:solidFill>
                            <a:srgbClr val="182F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Change, pp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FD5CF"/>
                      </a:solidFill>
                      <a:prstDash val="solid"/>
                    </a:lnR>
                    <a:lnT w="5715">
                      <a:solidFill>
                        <a:srgbClr val="CFD5CF"/>
                      </a:solidFill>
                      <a:prstDash val="solid"/>
                    </a:lnT>
                    <a:lnB w="5715">
                      <a:solidFill>
                        <a:srgbClr val="CFD5CF"/>
                      </a:solidFill>
                      <a:prstDash val="solid"/>
                    </a:lnB>
                    <a:solidFill>
                      <a:srgbClr val="E1E8E2"/>
                    </a:solidFill>
                  </a:tcPr>
                </a:tc>
              </a:tr>
              <a:tr h="561975">
                <a:tc>
                  <a:txBody>
                    <a:bodyPr wrap="square" lIns="95250" tIns="95250" rIns="95250" bIns="95250"/>
                    <a:lstStyle/>
                    <a:p>
                      <a:r>
                        <a:rPr sz="1500" b="0">
                          <a:solidFill>
                            <a:srgbClr val="182F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Women 15–49: overweight or obese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CFD5CF"/>
                      </a:solidFill>
                      <a:prstDash val="solid"/>
                    </a:lnL>
                    <a:lnR w="5715">
                      <a:solidFill>
                        <a:srgbClr val="CFD5CF"/>
                      </a:solidFill>
                      <a:prstDash val="solid"/>
                    </a:lnR>
                    <a:lnB w="5715">
                      <a:solidFill>
                        <a:srgbClr val="CFD5CF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 wrap="square" lIns="95250" tIns="95250" rIns="95250" bIns="95250"/>
                    <a:lstStyle/>
                    <a:p>
                      <a:r>
                        <a:rPr sz="1500" b="0">
                          <a:solidFill>
                            <a:srgbClr val="182F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36.1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FD5CF"/>
                      </a:solidFill>
                      <a:prstDash val="solid"/>
                    </a:lnR>
                    <a:lnB w="5715">
                      <a:solidFill>
                        <a:srgbClr val="CFD5CF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 wrap="square" lIns="95250" tIns="95250" rIns="95250" bIns="95250"/>
                    <a:lstStyle/>
                    <a:p>
                      <a:r>
                        <a:rPr sz="1500" b="0">
                          <a:solidFill>
                            <a:srgbClr val="182F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45.1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FD5CF"/>
                      </a:solidFill>
                      <a:prstDash val="solid"/>
                    </a:lnR>
                    <a:lnB w="5715">
                      <a:solidFill>
                        <a:srgbClr val="CFD5CF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 wrap="square" lIns="95250" tIns="95250" rIns="95250" bIns="95250"/>
                    <a:lstStyle/>
                    <a:p>
                      <a:r>
                        <a:rPr sz="1500" b="0">
                          <a:solidFill>
                            <a:srgbClr val="182F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9.0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FD5CF"/>
                      </a:solidFill>
                      <a:prstDash val="solid"/>
                    </a:lnR>
                    <a:lnB w="5715">
                      <a:solidFill>
                        <a:srgbClr val="CFD5CF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</a:tr>
              <a:tr h="561975">
                <a:tc>
                  <a:txBody>
                    <a:bodyPr wrap="square" lIns="95250" tIns="95250" rIns="95250" bIns="95250"/>
                    <a:lstStyle/>
                    <a:p>
                      <a:r>
                        <a:rPr sz="1500" b="0">
                          <a:solidFill>
                            <a:srgbClr val="182F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Men 15–49: overweight or obese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CFD5CF"/>
                      </a:solidFill>
                      <a:prstDash val="solid"/>
                    </a:lnL>
                    <a:lnR w="5715">
                      <a:solidFill>
                        <a:srgbClr val="CFD5CF"/>
                      </a:solidFill>
                      <a:prstDash val="solid"/>
                    </a:lnR>
                    <a:lnB w="5715">
                      <a:solidFill>
                        <a:srgbClr val="CFD5CF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 wrap="square" lIns="95250" tIns="95250" rIns="95250" bIns="95250"/>
                    <a:lstStyle/>
                    <a:p>
                      <a:r>
                        <a:rPr sz="1500" b="0">
                          <a:solidFill>
                            <a:srgbClr val="182F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32.6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FD5CF"/>
                      </a:solidFill>
                      <a:prstDash val="solid"/>
                    </a:lnR>
                    <a:lnB w="5715">
                      <a:solidFill>
                        <a:srgbClr val="CFD5CF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 wrap="square" lIns="95250" tIns="95250" rIns="95250" bIns="95250"/>
                    <a:lstStyle/>
                    <a:p>
                      <a:r>
                        <a:rPr sz="1500" b="0">
                          <a:solidFill>
                            <a:srgbClr val="182F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43.6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FD5CF"/>
                      </a:solidFill>
                      <a:prstDash val="solid"/>
                    </a:lnR>
                    <a:lnB w="5715">
                      <a:solidFill>
                        <a:srgbClr val="CFD5CF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 wrap="square" lIns="95250" tIns="95250" rIns="95250" bIns="95250"/>
                    <a:lstStyle/>
                    <a:p>
                      <a:r>
                        <a:rPr sz="1500" b="0">
                          <a:solidFill>
                            <a:srgbClr val="182F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11.0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FD5CF"/>
                      </a:solidFill>
                      <a:prstDash val="solid"/>
                    </a:lnR>
                    <a:lnB w="5715">
                      <a:solidFill>
                        <a:srgbClr val="CFD5CF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</a:tr>
              <a:tr h="561975">
                <a:tc>
                  <a:txBody>
                    <a:bodyPr wrap="square" lIns="95250" tIns="95250" rIns="95250" bIns="95250"/>
                    <a:lstStyle/>
                    <a:p>
                      <a:r>
                        <a:rPr sz="1500" b="0">
                          <a:solidFill>
                            <a:srgbClr val="182F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Women 15+: high blood sugar or medication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CFD5CF"/>
                      </a:solidFill>
                      <a:prstDash val="solid"/>
                    </a:lnL>
                    <a:lnR w="5715">
                      <a:solidFill>
                        <a:srgbClr val="CFD5CF"/>
                      </a:solidFill>
                      <a:prstDash val="solid"/>
                    </a:lnR>
                    <a:lnB w="5715">
                      <a:solidFill>
                        <a:srgbClr val="CFD5CF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 wrap="square" lIns="95250" tIns="95250" rIns="95250" bIns="95250"/>
                    <a:lstStyle/>
                    <a:p>
                      <a:r>
                        <a:rPr sz="1500" b="0">
                          <a:solidFill>
                            <a:srgbClr val="182F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20.8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FD5CF"/>
                      </a:solidFill>
                      <a:prstDash val="solid"/>
                    </a:lnR>
                    <a:lnB w="5715">
                      <a:solidFill>
                        <a:srgbClr val="CFD5CF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 wrap="square" lIns="95250" tIns="95250" rIns="95250" bIns="95250"/>
                    <a:lstStyle/>
                    <a:p>
                      <a:r>
                        <a:rPr sz="1500" b="0">
                          <a:solidFill>
                            <a:srgbClr val="182F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27.5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FD5CF"/>
                      </a:solidFill>
                      <a:prstDash val="solid"/>
                    </a:lnR>
                    <a:lnB w="5715">
                      <a:solidFill>
                        <a:srgbClr val="CFD5CF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 wrap="square" lIns="95250" tIns="95250" rIns="95250" bIns="95250"/>
                    <a:lstStyle/>
                    <a:p>
                      <a:r>
                        <a:rPr sz="1500" b="0">
                          <a:solidFill>
                            <a:srgbClr val="182F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6.7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FD5CF"/>
                      </a:solidFill>
                      <a:prstDash val="solid"/>
                    </a:lnR>
                    <a:lnB w="5715">
                      <a:solidFill>
                        <a:srgbClr val="CFD5CF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</a:tr>
              <a:tr h="561975">
                <a:tc>
                  <a:txBody>
                    <a:bodyPr wrap="square" lIns="95250" tIns="95250" rIns="95250" bIns="95250"/>
                    <a:lstStyle/>
                    <a:p>
                      <a:r>
                        <a:rPr sz="1500" b="0">
                          <a:solidFill>
                            <a:srgbClr val="182F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Men 15+: high blood sugar or medication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CFD5CF"/>
                      </a:solidFill>
                      <a:prstDash val="solid"/>
                    </a:lnL>
                    <a:lnR w="5715">
                      <a:solidFill>
                        <a:srgbClr val="CFD5CF"/>
                      </a:solidFill>
                      <a:prstDash val="solid"/>
                    </a:lnR>
                    <a:lnB w="5715">
                      <a:solidFill>
                        <a:srgbClr val="CFD5CF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 wrap="square" lIns="95250" tIns="95250" rIns="95250" bIns="95250"/>
                    <a:lstStyle/>
                    <a:p>
                      <a:r>
                        <a:rPr sz="1500" b="0">
                          <a:solidFill>
                            <a:srgbClr val="182F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24.1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FD5CF"/>
                      </a:solidFill>
                      <a:prstDash val="solid"/>
                    </a:lnR>
                    <a:lnB w="5715">
                      <a:solidFill>
                        <a:srgbClr val="CFD5CF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 wrap="square" lIns="95250" tIns="95250" rIns="95250" bIns="95250"/>
                    <a:lstStyle/>
                    <a:p>
                      <a:r>
                        <a:rPr sz="1500" b="0">
                          <a:solidFill>
                            <a:srgbClr val="182F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32.1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FD5CF"/>
                      </a:solidFill>
                      <a:prstDash val="solid"/>
                    </a:lnR>
                    <a:lnB w="5715">
                      <a:solidFill>
                        <a:srgbClr val="CFD5CF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 wrap="square" lIns="95250" tIns="95250" rIns="95250" bIns="95250"/>
                    <a:lstStyle/>
                    <a:p>
                      <a:r>
                        <a:rPr sz="1500" b="0">
                          <a:solidFill>
                            <a:srgbClr val="182F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8.0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FD5CF"/>
                      </a:solidFill>
                      <a:prstDash val="solid"/>
                    </a:lnR>
                    <a:lnB w="5715">
                      <a:solidFill>
                        <a:srgbClr val="CFD5CF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</a:tr>
              <a:tr h="561975">
                <a:tc>
                  <a:txBody>
                    <a:bodyPr wrap="square" lIns="95250" tIns="95250" rIns="95250" bIns="95250"/>
                    <a:lstStyle/>
                    <a:p>
                      <a:r>
                        <a:rPr sz="1500" b="0">
                          <a:solidFill>
                            <a:srgbClr val="182F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Population: improved water source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CFD5CF"/>
                      </a:solidFill>
                      <a:prstDash val="solid"/>
                    </a:lnL>
                    <a:lnR w="5715">
                      <a:solidFill>
                        <a:srgbClr val="CFD5CF"/>
                      </a:solidFill>
                      <a:prstDash val="solid"/>
                    </a:lnR>
                    <a:lnB w="5715">
                      <a:solidFill>
                        <a:srgbClr val="CFD5CF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 wrap="square" lIns="95250" tIns="95250" rIns="95250" bIns="95250"/>
                    <a:lstStyle/>
                    <a:p>
                      <a:r>
                        <a:rPr sz="1500" b="0">
                          <a:solidFill>
                            <a:srgbClr val="182F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98.5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FD5CF"/>
                      </a:solidFill>
                      <a:prstDash val="solid"/>
                    </a:lnR>
                    <a:lnB w="5715">
                      <a:solidFill>
                        <a:srgbClr val="CFD5CF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 wrap="square" lIns="95250" tIns="95250" rIns="95250" bIns="95250"/>
                    <a:lstStyle/>
                    <a:p>
                      <a:r>
                        <a:rPr sz="1500" b="0">
                          <a:solidFill>
                            <a:srgbClr val="182F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95.5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FD5CF"/>
                      </a:solidFill>
                      <a:prstDash val="solid"/>
                    </a:lnR>
                    <a:lnB w="5715">
                      <a:solidFill>
                        <a:srgbClr val="CFD5CF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 wrap="square" lIns="95250" tIns="95250" rIns="95250" bIns="95250"/>
                    <a:lstStyle/>
                    <a:p>
                      <a:r>
                        <a:rPr sz="1500" b="0">
                          <a:solidFill>
                            <a:srgbClr val="182F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-3.0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FD5CF"/>
                      </a:solidFill>
                      <a:prstDash val="solid"/>
                    </a:lnR>
                    <a:lnB w="5715">
                      <a:solidFill>
                        <a:srgbClr val="CFD5CF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</a:tr>
              <a:tr h="561975">
                <a:tc>
                  <a:txBody>
                    <a:bodyPr wrap="square" lIns="95250" tIns="95250" rIns="95250" bIns="95250"/>
                    <a:lstStyle/>
                    <a:p>
                      <a:r>
                        <a:rPr sz="1500" b="0">
                          <a:solidFill>
                            <a:srgbClr val="182F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Mothers: at least four antenatal visits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CFD5CF"/>
                      </a:solidFill>
                      <a:prstDash val="solid"/>
                    </a:lnL>
                    <a:lnR w="5715">
                      <a:solidFill>
                        <a:srgbClr val="CFD5CF"/>
                      </a:solidFill>
                      <a:prstDash val="solid"/>
                    </a:lnR>
                    <a:lnB w="5715">
                      <a:solidFill>
                        <a:srgbClr val="CFD5CF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 wrap="square" lIns="95250" tIns="95250" rIns="95250" bIns="95250"/>
                    <a:lstStyle/>
                    <a:p>
                      <a:r>
                        <a:rPr sz="1500" b="0">
                          <a:solidFill>
                            <a:srgbClr val="182F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93.0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FD5CF"/>
                      </a:solidFill>
                      <a:prstDash val="solid"/>
                    </a:lnR>
                    <a:lnB w="5715">
                      <a:solidFill>
                        <a:srgbClr val="CFD5CF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 wrap="square" lIns="95250" tIns="95250" rIns="95250" bIns="95250"/>
                    <a:lstStyle/>
                    <a:p>
                      <a:r>
                        <a:rPr sz="1500" b="0">
                          <a:solidFill>
                            <a:srgbClr val="182F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88.0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FD5CF"/>
                      </a:solidFill>
                      <a:prstDash val="solid"/>
                    </a:lnR>
                    <a:lnB w="5715">
                      <a:solidFill>
                        <a:srgbClr val="CFD5CF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 wrap="square" lIns="95250" tIns="95250" rIns="95250" bIns="95250"/>
                    <a:lstStyle/>
                    <a:p>
                      <a:r>
                        <a:rPr sz="1500" b="0">
                          <a:solidFill>
                            <a:srgbClr val="182F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-5.0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FD5CF"/>
                      </a:solidFill>
                      <a:prstDash val="solid"/>
                    </a:lnR>
                    <a:lnB w="5715">
                      <a:solidFill>
                        <a:srgbClr val="CFD5CF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</a:tr>
            </a:tbl>
          </a:graphicData>
        </a:graphic>
      </p:graphicFrame>
      <p:sp>
        <p:nvSpPr>
          <p:cNvPr id="6" name="table-note">
            <a:extLst xmlns:a="http://schemas.openxmlformats.org/drawingml/2006/main">
              <a:ext uri="{FF2B5EF4-FFF2-40B4-BE49-F238E27FC236}">
                <a16:creationId xmlns:a16="http://schemas.microsoft.com/office/drawing/2014/main" id="{F12BEFE1-BA76-473D-B633-E005FB924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Percentages · NFHS-5 2019–21 / NFHS-6 2023–24. High blood sugar means &gt;140 mg/dl or medication; it is not diagnosed diabetes. P07. No causal or significance estimate.</a:t>
            </a:r>
          </a:p>
        </p:txBody>
      </p:sp>
    </p:spTree>
    <p:extLst>
      <p:ext uri="{BB962C8B-B14F-4D97-AF65-F5344CB8AC3E}">
        <p14:creationId xmlns:p14="http://schemas.microsoft.com/office/powerpoint/2010/main" val="138216488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98D8C000-4EDD-45BE-A700-54A275A29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COUNTER-FINDINGS MATTER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B4E330B-5A2C-428C-A0AF-74A7FC3B0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53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defRPr>
            </a:pPr>
            <a:r>
              <a: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rPr>
              <a:t>Child outcomes improved on several measures</a:t>
            </a:r>
          </a:p>
        </p:txBody>
      </p:sp>
      <p:sp>
        <p:nvSpPr>
          <p:cNvPr id="3" name="page-footer">
            <a:extLst xmlns:a="http://schemas.openxmlformats.org/drawingml/2006/main">
              <a:ext uri="{FF2B5EF4-FFF2-40B4-BE49-F238E27FC236}">
                <a16:creationId xmlns:a16="http://schemas.microsoft.com/office/drawing/2014/main" id="{1E60A0FE-7546-49B8-8AAB-A2D805811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GOA GOVERNANCE  /  14 OCTOBER 2026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201CCA5-CD96-4861-963E-4D70EEAF7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514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1E421B-D88E-4BE3-9FBD-1E7D6F8D2472}"/>
              </a:ext>
            </a:extLst>
          </p:cNvPr>
          <p:cNvGraphicFramePr/>
          <p:nvPr/>
        </p:nvGraphicFramePr>
        <p:xfrm>
          <a:off xmlns:a="http://schemas.openxmlformats.org/drawingml/2006/main" x="609600" y="1790700"/>
          <a:ext xmlns:a="http://schemas.openxmlformats.org/drawingml/2006/main" cx="10972800" cy="2809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572250"/>
                <a:gridCol w="1466850"/>
                <a:gridCol w="1466850"/>
                <a:gridCol w="1466850"/>
              </a:tblGrid>
              <a:tr h="561975">
                <a:tc>
                  <a:txBody>
                    <a:bodyPr wrap="square" lIns="95250" tIns="95250" rIns="95250" bIns="95250"/>
                    <a:lstStyle/>
                    <a:p>
                      <a:r>
                        <a:rPr sz="1500" b="1">
                          <a:solidFill>
                            <a:srgbClr val="182F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Indicator / population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CFD5CF"/>
                      </a:solidFill>
                      <a:prstDash val="solid"/>
                    </a:lnL>
                    <a:lnR w="5715">
                      <a:solidFill>
                        <a:srgbClr val="CFD5CF"/>
                      </a:solidFill>
                      <a:prstDash val="solid"/>
                    </a:lnR>
                    <a:lnT w="5715">
                      <a:solidFill>
                        <a:srgbClr val="CFD5CF"/>
                      </a:solidFill>
                      <a:prstDash val="solid"/>
                    </a:lnT>
                    <a:lnB w="5715">
                      <a:solidFill>
                        <a:srgbClr val="CFD5CF"/>
                      </a:solidFill>
                      <a:prstDash val="solid"/>
                    </a:lnB>
                    <a:solidFill>
                      <a:srgbClr val="E1E8E2"/>
                    </a:solidFill>
                  </a:tcPr>
                </a:tc>
                <a:tc>
                  <a:txBody>
                    <a:bodyPr wrap="square" lIns="95250" tIns="95250" rIns="95250" bIns="95250"/>
                    <a:lstStyle/>
                    <a:p>
                      <a:r>
                        <a:rPr sz="1500" b="1">
                          <a:solidFill>
                            <a:srgbClr val="182F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NFHS-5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FD5CF"/>
                      </a:solidFill>
                      <a:prstDash val="solid"/>
                    </a:lnR>
                    <a:lnT w="5715">
                      <a:solidFill>
                        <a:srgbClr val="CFD5CF"/>
                      </a:solidFill>
                      <a:prstDash val="solid"/>
                    </a:lnT>
                    <a:lnB w="5715">
                      <a:solidFill>
                        <a:srgbClr val="CFD5CF"/>
                      </a:solidFill>
                      <a:prstDash val="solid"/>
                    </a:lnB>
                    <a:solidFill>
                      <a:srgbClr val="E1E8E2"/>
                    </a:solidFill>
                  </a:tcPr>
                </a:tc>
                <a:tc>
                  <a:txBody>
                    <a:bodyPr wrap="square" lIns="95250" tIns="95250" rIns="95250" bIns="95250"/>
                    <a:lstStyle/>
                    <a:p>
                      <a:r>
                        <a:rPr sz="1500" b="1">
                          <a:solidFill>
                            <a:srgbClr val="182F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NFHS-6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FD5CF"/>
                      </a:solidFill>
                      <a:prstDash val="solid"/>
                    </a:lnR>
                    <a:lnT w="5715">
                      <a:solidFill>
                        <a:srgbClr val="CFD5CF"/>
                      </a:solidFill>
                      <a:prstDash val="solid"/>
                    </a:lnT>
                    <a:lnB w="5715">
                      <a:solidFill>
                        <a:srgbClr val="CFD5CF"/>
                      </a:solidFill>
                      <a:prstDash val="solid"/>
                    </a:lnB>
                    <a:solidFill>
                      <a:srgbClr val="E1E8E2"/>
                    </a:solidFill>
                  </a:tcPr>
                </a:tc>
                <a:tc>
                  <a:txBody>
                    <a:bodyPr wrap="square" lIns="95250" tIns="95250" rIns="95250" bIns="95250"/>
                    <a:lstStyle/>
                    <a:p>
                      <a:r>
                        <a:rPr sz="1500" b="1">
                          <a:solidFill>
                            <a:srgbClr val="182F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Change, pp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FD5CF"/>
                      </a:solidFill>
                      <a:prstDash val="solid"/>
                    </a:lnR>
                    <a:lnT w="5715">
                      <a:solidFill>
                        <a:srgbClr val="CFD5CF"/>
                      </a:solidFill>
                      <a:prstDash val="solid"/>
                    </a:lnT>
                    <a:lnB w="5715">
                      <a:solidFill>
                        <a:srgbClr val="CFD5CF"/>
                      </a:solidFill>
                      <a:prstDash val="solid"/>
                    </a:lnB>
                    <a:solidFill>
                      <a:srgbClr val="E1E8E2"/>
                    </a:solidFill>
                  </a:tcPr>
                </a:tc>
              </a:tr>
              <a:tr h="561975">
                <a:tc>
                  <a:txBody>
                    <a:bodyPr wrap="square" lIns="95250" tIns="95250" rIns="95250" bIns="95250"/>
                    <a:lstStyle/>
                    <a:p>
                      <a:r>
                        <a:rPr sz="1500" b="0">
                          <a:solidFill>
                            <a:srgbClr val="182F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Children under 5: stunted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CFD5CF"/>
                      </a:solidFill>
                      <a:prstDash val="solid"/>
                    </a:lnL>
                    <a:lnR w="5715">
                      <a:solidFill>
                        <a:srgbClr val="CFD5CF"/>
                      </a:solidFill>
                      <a:prstDash val="solid"/>
                    </a:lnR>
                    <a:lnB w="5715">
                      <a:solidFill>
                        <a:srgbClr val="CFD5CF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 wrap="square" lIns="95250" tIns="95250" rIns="95250" bIns="95250"/>
                    <a:lstStyle/>
                    <a:p>
                      <a:r>
                        <a:rPr sz="1500" b="0">
                          <a:solidFill>
                            <a:srgbClr val="182F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25.8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FD5CF"/>
                      </a:solidFill>
                      <a:prstDash val="solid"/>
                    </a:lnR>
                    <a:lnB w="5715">
                      <a:solidFill>
                        <a:srgbClr val="CFD5CF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 wrap="square" lIns="95250" tIns="95250" rIns="95250" bIns="95250"/>
                    <a:lstStyle/>
                    <a:p>
                      <a:r>
                        <a:rPr sz="1500" b="0">
                          <a:solidFill>
                            <a:srgbClr val="182F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19.4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FD5CF"/>
                      </a:solidFill>
                      <a:prstDash val="solid"/>
                    </a:lnR>
                    <a:lnB w="5715">
                      <a:solidFill>
                        <a:srgbClr val="CFD5CF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 wrap="square" lIns="95250" tIns="95250" rIns="95250" bIns="95250"/>
                    <a:lstStyle/>
                    <a:p>
                      <a:r>
                        <a:rPr sz="1500" b="0">
                          <a:solidFill>
                            <a:srgbClr val="182F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-6.4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FD5CF"/>
                      </a:solidFill>
                      <a:prstDash val="solid"/>
                    </a:lnR>
                    <a:lnB w="5715">
                      <a:solidFill>
                        <a:srgbClr val="CFD5CF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</a:tr>
              <a:tr h="561975">
                <a:tc>
                  <a:txBody>
                    <a:bodyPr wrap="square" lIns="95250" tIns="95250" rIns="95250" bIns="95250"/>
                    <a:lstStyle/>
                    <a:p>
                      <a:r>
                        <a:rPr sz="1500" b="0">
                          <a:solidFill>
                            <a:srgbClr val="182F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Children under 5: wasted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CFD5CF"/>
                      </a:solidFill>
                      <a:prstDash val="solid"/>
                    </a:lnL>
                    <a:lnR w="5715">
                      <a:solidFill>
                        <a:srgbClr val="CFD5CF"/>
                      </a:solidFill>
                      <a:prstDash val="solid"/>
                    </a:lnR>
                    <a:lnB w="5715">
                      <a:solidFill>
                        <a:srgbClr val="CFD5CF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 wrap="square" lIns="95250" tIns="95250" rIns="95250" bIns="95250"/>
                    <a:lstStyle/>
                    <a:p>
                      <a:r>
                        <a:rPr sz="1500" b="0">
                          <a:solidFill>
                            <a:srgbClr val="182F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19.1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FD5CF"/>
                      </a:solidFill>
                      <a:prstDash val="solid"/>
                    </a:lnR>
                    <a:lnB w="5715">
                      <a:solidFill>
                        <a:srgbClr val="CFD5CF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 wrap="square" lIns="95250" tIns="95250" rIns="95250" bIns="95250"/>
                    <a:lstStyle/>
                    <a:p>
                      <a:r>
                        <a:rPr sz="1500" b="0">
                          <a:solidFill>
                            <a:srgbClr val="182F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16.3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FD5CF"/>
                      </a:solidFill>
                      <a:prstDash val="solid"/>
                    </a:lnR>
                    <a:lnB w="5715">
                      <a:solidFill>
                        <a:srgbClr val="CFD5CF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 wrap="square" lIns="95250" tIns="95250" rIns="95250" bIns="95250"/>
                    <a:lstStyle/>
                    <a:p>
                      <a:r>
                        <a:rPr sz="1500" b="0">
                          <a:solidFill>
                            <a:srgbClr val="182F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-2.8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FD5CF"/>
                      </a:solidFill>
                      <a:prstDash val="solid"/>
                    </a:lnR>
                    <a:lnB w="5715">
                      <a:solidFill>
                        <a:srgbClr val="CFD5CF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</a:tr>
              <a:tr h="561975">
                <a:tc>
                  <a:txBody>
                    <a:bodyPr wrap="square" lIns="95250" tIns="95250" rIns="95250" bIns="95250"/>
                    <a:lstStyle/>
                    <a:p>
                      <a:r>
                        <a:rPr sz="1500" b="0">
                          <a:solidFill>
                            <a:srgbClr val="182F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Children under 5: underweight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CFD5CF"/>
                      </a:solidFill>
                      <a:prstDash val="solid"/>
                    </a:lnL>
                    <a:lnR w="5715">
                      <a:solidFill>
                        <a:srgbClr val="CFD5CF"/>
                      </a:solidFill>
                      <a:prstDash val="solid"/>
                    </a:lnR>
                    <a:lnB w="5715">
                      <a:solidFill>
                        <a:srgbClr val="CFD5CF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 wrap="square" lIns="95250" tIns="95250" rIns="95250" bIns="95250"/>
                    <a:lstStyle/>
                    <a:p>
                      <a:r>
                        <a:rPr sz="1500" b="0">
                          <a:solidFill>
                            <a:srgbClr val="182F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24.0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FD5CF"/>
                      </a:solidFill>
                      <a:prstDash val="solid"/>
                    </a:lnR>
                    <a:lnB w="5715">
                      <a:solidFill>
                        <a:srgbClr val="CFD5CF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 wrap="square" lIns="95250" tIns="95250" rIns="95250" bIns="95250"/>
                    <a:lstStyle/>
                    <a:p>
                      <a:r>
                        <a:rPr sz="1500" b="0">
                          <a:solidFill>
                            <a:srgbClr val="182F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19.9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FD5CF"/>
                      </a:solidFill>
                      <a:prstDash val="solid"/>
                    </a:lnR>
                    <a:lnB w="5715">
                      <a:solidFill>
                        <a:srgbClr val="CFD5CF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 wrap="square" lIns="95250" tIns="95250" rIns="95250" bIns="95250"/>
                    <a:lstStyle/>
                    <a:p>
                      <a:r>
                        <a:rPr sz="1500" b="0">
                          <a:solidFill>
                            <a:srgbClr val="182F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-4.1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FD5CF"/>
                      </a:solidFill>
                      <a:prstDash val="solid"/>
                    </a:lnR>
                    <a:lnB w="5715">
                      <a:solidFill>
                        <a:srgbClr val="CFD5CF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</a:tr>
              <a:tr h="561975">
                <a:tc>
                  <a:txBody>
                    <a:bodyPr wrap="square" lIns="95250" tIns="95250" rIns="95250" bIns="95250"/>
                    <a:lstStyle/>
                    <a:p>
                      <a:r>
                        <a:rPr sz="1500" b="0">
                          <a:solidFill>
                            <a:srgbClr val="182F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Children 12–23 months: fully vaccinated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CFD5CF"/>
                      </a:solidFill>
                      <a:prstDash val="solid"/>
                    </a:lnL>
                    <a:lnR w="5715">
                      <a:solidFill>
                        <a:srgbClr val="CFD5CF"/>
                      </a:solidFill>
                      <a:prstDash val="solid"/>
                    </a:lnR>
                    <a:lnB w="5715">
                      <a:solidFill>
                        <a:srgbClr val="CFD5CF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 wrap="square" lIns="95250" tIns="95250" rIns="95250" bIns="95250"/>
                    <a:lstStyle/>
                    <a:p>
                      <a:r>
                        <a:rPr sz="1500" b="0">
                          <a:solidFill>
                            <a:srgbClr val="182F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81.9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FD5CF"/>
                      </a:solidFill>
                      <a:prstDash val="solid"/>
                    </a:lnR>
                    <a:lnB w="5715">
                      <a:solidFill>
                        <a:srgbClr val="CFD5CF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 wrap="square" lIns="95250" tIns="95250" rIns="95250" bIns="95250"/>
                    <a:lstStyle/>
                    <a:p>
                      <a:r>
                        <a:rPr sz="1500" b="0">
                          <a:solidFill>
                            <a:srgbClr val="182F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93.8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FD5CF"/>
                      </a:solidFill>
                      <a:prstDash val="solid"/>
                    </a:lnR>
                    <a:lnB w="5715">
                      <a:solidFill>
                        <a:srgbClr val="CFD5CF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 wrap="square" lIns="95250" tIns="95250" rIns="95250" bIns="95250"/>
                    <a:lstStyle/>
                    <a:p>
                      <a:r>
                        <a:rPr sz="1500" b="0">
                          <a:solidFill>
                            <a:srgbClr val="182F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11.9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FD5CF"/>
                      </a:solidFill>
                      <a:prstDash val="solid"/>
                    </a:lnR>
                    <a:lnB w="5715">
                      <a:solidFill>
                        <a:srgbClr val="CFD5CF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</a:tr>
            </a:tbl>
          </a:graphicData>
        </a:graphic>
      </p:graphicFrame>
      <p:sp>
        <p:nvSpPr>
          <p:cNvPr id="6" name="table-note">
            <a:extLst xmlns:a="http://schemas.openxmlformats.org/drawingml/2006/main">
              <a:ext uri="{FF2B5EF4-FFF2-40B4-BE49-F238E27FC236}">
                <a16:creationId xmlns:a16="http://schemas.microsoft.com/office/drawing/2014/main" id="{887F0C2B-7551-425F-9B14-22085D013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33925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Percentages · Stunting, wasting and underweight: under 5. Vaccination: 12–23 months, card or maternal recall. P07, printed pages 30–31. Official values take precedence over inconsistent journal rows.</a:t>
            </a:r>
          </a:p>
        </p:txBody>
      </p:sp>
    </p:spTree>
    <p:extLst>
      <p:ext uri="{BB962C8B-B14F-4D97-AF65-F5344CB8AC3E}">
        <p14:creationId xmlns:p14="http://schemas.microsoft.com/office/powerpoint/2010/main" val="192147238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2B1A2880-8E7B-4BD3-B83E-7226A9195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NOMINAL VALUES · RS CRORE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71C3EF3-D4DA-412C-AB39-6B355BFF7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53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defRPr>
            </a:pPr>
            <a:r>
              <a: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rPr>
              <a:t>Fiscal scrutiny alongside revenue recovery</a:t>
            </a:r>
          </a:p>
        </p:txBody>
      </p:sp>
      <p:sp>
        <p:nvSpPr>
          <p:cNvPr id="3" name="page-footer">
            <a:extLst xmlns:a="http://schemas.openxmlformats.org/drawingml/2006/main">
              <a:ext uri="{FF2B5EF4-FFF2-40B4-BE49-F238E27FC236}">
                <a16:creationId xmlns:a16="http://schemas.microsoft.com/office/drawing/2014/main" id="{1FC4994C-747A-45B6-82C5-71CEC4647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GOA GOVERNANCE  /  14 OCTOBER 2026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05EC055-71F4-4C48-8454-8F6F434FE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514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72D7B3-67A0-46F2-86DA-92E58421EAF7}"/>
              </a:ext>
            </a:extLst>
          </p:cNvPr>
          <p:cNvGraphicFramePr/>
          <p:nvPr/>
        </p:nvGraphicFramePr>
        <p:xfrm>
          <a:off xmlns:a="http://schemas.openxmlformats.org/drawingml/2006/main" x="609600" y="1790700"/>
          <a:ext xmlns:a="http://schemas.openxmlformats.org/drawingml/2006/main" cx="10972800" cy="3371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3086100"/>
                <a:gridCol w="3086100"/>
                <a:gridCol w="3086100"/>
              </a:tblGrid>
              <a:tr h="561975">
                <a:tc>
                  <a:txBody>
                    <a:bodyPr wrap="square" lIns="95250" tIns="95250" rIns="95250" bIns="95250"/>
                    <a:lstStyle/>
                    <a:p>
                      <a:r>
                        <a:rPr sz="1500" b="1">
                          <a:solidFill>
                            <a:srgbClr val="182F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Year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CFD5CF"/>
                      </a:solidFill>
                      <a:prstDash val="solid"/>
                    </a:lnL>
                    <a:lnR w="5715">
                      <a:solidFill>
                        <a:srgbClr val="CFD5CF"/>
                      </a:solidFill>
                      <a:prstDash val="solid"/>
                    </a:lnR>
                    <a:lnT w="5715">
                      <a:solidFill>
                        <a:srgbClr val="CFD5CF"/>
                      </a:solidFill>
                      <a:prstDash val="solid"/>
                    </a:lnT>
                    <a:lnB w="5715">
                      <a:solidFill>
                        <a:srgbClr val="CFD5CF"/>
                      </a:solidFill>
                      <a:prstDash val="solid"/>
                    </a:lnB>
                    <a:solidFill>
                      <a:srgbClr val="E1E8E2"/>
                    </a:solidFill>
                  </a:tcPr>
                </a:tc>
                <a:tc>
                  <a:txBody>
                    <a:bodyPr wrap="square" lIns="95250" tIns="95250" rIns="95250" bIns="95250"/>
                    <a:lstStyle/>
                    <a:p>
                      <a:r>
                        <a:rPr sz="1500" b="1">
                          <a:solidFill>
                            <a:srgbClr val="182F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Nominal GSDP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FD5CF"/>
                      </a:solidFill>
                      <a:prstDash val="solid"/>
                    </a:lnR>
                    <a:lnT w="5715">
                      <a:solidFill>
                        <a:srgbClr val="CFD5CF"/>
                      </a:solidFill>
                      <a:prstDash val="solid"/>
                    </a:lnT>
                    <a:lnB w="5715">
                      <a:solidFill>
                        <a:srgbClr val="CFD5CF"/>
                      </a:solidFill>
                      <a:prstDash val="solid"/>
                    </a:lnB>
                    <a:solidFill>
                      <a:srgbClr val="E1E8E2"/>
                    </a:solidFill>
                  </a:tcPr>
                </a:tc>
                <a:tc>
                  <a:txBody>
                    <a:bodyPr wrap="square" lIns="95250" tIns="95250" rIns="95250" bIns="95250"/>
                    <a:lstStyle/>
                    <a:p>
                      <a:r>
                        <a:rPr sz="1500" b="1">
                          <a:solidFill>
                            <a:srgbClr val="182F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Revenue balance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FD5CF"/>
                      </a:solidFill>
                      <a:prstDash val="solid"/>
                    </a:lnR>
                    <a:lnT w="5715">
                      <a:solidFill>
                        <a:srgbClr val="CFD5CF"/>
                      </a:solidFill>
                      <a:prstDash val="solid"/>
                    </a:lnT>
                    <a:lnB w="5715">
                      <a:solidFill>
                        <a:srgbClr val="CFD5CF"/>
                      </a:solidFill>
                      <a:prstDash val="solid"/>
                    </a:lnB>
                    <a:solidFill>
                      <a:srgbClr val="E1E8E2"/>
                    </a:solidFill>
                  </a:tcPr>
                </a:tc>
                <a:tc>
                  <a:txBody>
                    <a:bodyPr wrap="square" lIns="95250" tIns="95250" rIns="95250" bIns="95250"/>
                    <a:lstStyle/>
                    <a:p>
                      <a:r>
                        <a:rPr sz="1500" b="1">
                          <a:solidFill>
                            <a:srgbClr val="182F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Capital expenditure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FD5CF"/>
                      </a:solidFill>
                      <a:prstDash val="solid"/>
                    </a:lnR>
                    <a:lnT w="5715">
                      <a:solidFill>
                        <a:srgbClr val="CFD5CF"/>
                      </a:solidFill>
                      <a:prstDash val="solid"/>
                    </a:lnT>
                    <a:lnB w="5715">
                      <a:solidFill>
                        <a:srgbClr val="CFD5CF"/>
                      </a:solidFill>
                      <a:prstDash val="solid"/>
                    </a:lnB>
                    <a:solidFill>
                      <a:srgbClr val="E1E8E2"/>
                    </a:solidFill>
                  </a:tcPr>
                </a:tc>
              </a:tr>
              <a:tr h="561975">
                <a:tc>
                  <a:txBody>
                    <a:bodyPr wrap="square" lIns="95250" tIns="95250" rIns="95250" bIns="95250"/>
                    <a:lstStyle/>
                    <a:p>
                      <a:r>
                        <a:rPr sz="1500" b="0">
                          <a:solidFill>
                            <a:srgbClr val="182F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2019–20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CFD5CF"/>
                      </a:solidFill>
                      <a:prstDash val="solid"/>
                    </a:lnL>
                    <a:lnR w="5715">
                      <a:solidFill>
                        <a:srgbClr val="CFD5CF"/>
                      </a:solidFill>
                      <a:prstDash val="solid"/>
                    </a:lnR>
                    <a:lnB w="5715">
                      <a:solidFill>
                        <a:srgbClr val="CFD5CF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 wrap="square" lIns="95250" tIns="95250" rIns="95250" bIns="95250"/>
                    <a:lstStyle/>
                    <a:p>
                      <a:r>
                        <a:rPr sz="1500" b="0">
                          <a:solidFill>
                            <a:srgbClr val="182F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75,032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FD5CF"/>
                      </a:solidFill>
                      <a:prstDash val="solid"/>
                    </a:lnR>
                    <a:lnB w="5715">
                      <a:solidFill>
                        <a:srgbClr val="CFD5CF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 wrap="square" lIns="95250" tIns="95250" rIns="95250" bIns="95250"/>
                    <a:lstStyle/>
                    <a:p>
                      <a:r>
                        <a:rPr sz="1500" b="0">
                          <a:solidFill>
                            <a:srgbClr val="182F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−325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FD5CF"/>
                      </a:solidFill>
                      <a:prstDash val="solid"/>
                    </a:lnR>
                    <a:lnB w="5715">
                      <a:solidFill>
                        <a:srgbClr val="CFD5CF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 wrap="square" lIns="95250" tIns="95250" rIns="95250" bIns="95250"/>
                    <a:lstStyle/>
                    <a:p>
                      <a:r>
                        <a:rPr sz="1500" b="0">
                          <a:solidFill>
                            <a:srgbClr val="182F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1,660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FD5CF"/>
                      </a:solidFill>
                      <a:prstDash val="solid"/>
                    </a:lnR>
                    <a:lnB w="5715">
                      <a:solidFill>
                        <a:srgbClr val="CFD5CF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</a:tr>
              <a:tr h="561975">
                <a:tc>
                  <a:txBody>
                    <a:bodyPr wrap="square" lIns="95250" tIns="95250" rIns="95250" bIns="95250"/>
                    <a:lstStyle/>
                    <a:p>
                      <a:r>
                        <a:rPr sz="1500" b="0">
                          <a:solidFill>
                            <a:srgbClr val="182F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2020–21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CFD5CF"/>
                      </a:solidFill>
                      <a:prstDash val="solid"/>
                    </a:lnL>
                    <a:lnR w="5715">
                      <a:solidFill>
                        <a:srgbClr val="CFD5CF"/>
                      </a:solidFill>
                      <a:prstDash val="solid"/>
                    </a:lnR>
                    <a:lnB w="5715">
                      <a:solidFill>
                        <a:srgbClr val="CFD5CF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 wrap="square" lIns="95250" tIns="95250" rIns="95250" bIns="95250"/>
                    <a:lstStyle/>
                    <a:p>
                      <a:r>
                        <a:rPr sz="1500" b="0">
                          <a:solidFill>
                            <a:srgbClr val="182F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74,158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FD5CF"/>
                      </a:solidFill>
                      <a:prstDash val="solid"/>
                    </a:lnR>
                    <a:lnB w="5715">
                      <a:solidFill>
                        <a:srgbClr val="CFD5CF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 wrap="square" lIns="95250" tIns="95250" rIns="95250" bIns="95250"/>
                    <a:lstStyle/>
                    <a:p>
                      <a:r>
                        <a:rPr sz="1500" b="0">
                          <a:solidFill>
                            <a:srgbClr val="182F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−1,653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FD5CF"/>
                      </a:solidFill>
                      <a:prstDash val="solid"/>
                    </a:lnR>
                    <a:lnB w="5715">
                      <a:solidFill>
                        <a:srgbClr val="CFD5CF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 wrap="square" lIns="95250" tIns="95250" rIns="95250" bIns="95250"/>
                    <a:lstStyle/>
                    <a:p>
                      <a:r>
                        <a:rPr sz="1500" b="0">
                          <a:solidFill>
                            <a:srgbClr val="182F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1,997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FD5CF"/>
                      </a:solidFill>
                      <a:prstDash val="solid"/>
                    </a:lnR>
                    <a:lnB w="5715">
                      <a:solidFill>
                        <a:srgbClr val="CFD5CF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</a:tr>
              <a:tr h="561975">
                <a:tc>
                  <a:txBody>
                    <a:bodyPr wrap="square" lIns="95250" tIns="95250" rIns="95250" bIns="95250"/>
                    <a:lstStyle/>
                    <a:p>
                      <a:r>
                        <a:rPr sz="1500" b="0">
                          <a:solidFill>
                            <a:srgbClr val="182F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2021–22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CFD5CF"/>
                      </a:solidFill>
                      <a:prstDash val="solid"/>
                    </a:lnL>
                    <a:lnR w="5715">
                      <a:solidFill>
                        <a:srgbClr val="CFD5CF"/>
                      </a:solidFill>
                      <a:prstDash val="solid"/>
                    </a:lnR>
                    <a:lnB w="5715">
                      <a:solidFill>
                        <a:srgbClr val="CFD5CF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 wrap="square" lIns="95250" tIns="95250" rIns="95250" bIns="95250"/>
                    <a:lstStyle/>
                    <a:p>
                      <a:r>
                        <a:rPr sz="1500" b="0">
                          <a:solidFill>
                            <a:srgbClr val="182F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84,266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FD5CF"/>
                      </a:solidFill>
                      <a:prstDash val="solid"/>
                    </a:lnR>
                    <a:lnB w="5715">
                      <a:solidFill>
                        <a:srgbClr val="CFD5CF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 wrap="square" lIns="95250" tIns="95250" rIns="95250" bIns="95250"/>
                    <a:lstStyle/>
                    <a:p>
                      <a:r>
                        <a:rPr sz="1500" b="0">
                          <a:solidFill>
                            <a:srgbClr val="182F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59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FD5CF"/>
                      </a:solidFill>
                      <a:prstDash val="solid"/>
                    </a:lnR>
                    <a:lnB w="5715">
                      <a:solidFill>
                        <a:srgbClr val="CFD5CF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 wrap="square" lIns="95250" tIns="95250" rIns="95250" bIns="95250"/>
                    <a:lstStyle/>
                    <a:p>
                      <a:r>
                        <a:rPr sz="1500" b="0">
                          <a:solidFill>
                            <a:srgbClr val="182F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2,681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FD5CF"/>
                      </a:solidFill>
                      <a:prstDash val="solid"/>
                    </a:lnR>
                    <a:lnB w="5715">
                      <a:solidFill>
                        <a:srgbClr val="CFD5CF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</a:tr>
              <a:tr h="561975">
                <a:tc>
                  <a:txBody>
                    <a:bodyPr wrap="square" lIns="95250" tIns="95250" rIns="95250" bIns="95250"/>
                    <a:lstStyle/>
                    <a:p>
                      <a:r>
                        <a:rPr sz="1500" b="0">
                          <a:solidFill>
                            <a:srgbClr val="182F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2022–23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CFD5CF"/>
                      </a:solidFill>
                      <a:prstDash val="solid"/>
                    </a:lnL>
                    <a:lnR w="5715">
                      <a:solidFill>
                        <a:srgbClr val="CFD5CF"/>
                      </a:solidFill>
                      <a:prstDash val="solid"/>
                    </a:lnR>
                    <a:lnB w="5715">
                      <a:solidFill>
                        <a:srgbClr val="CFD5CF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 wrap="square" lIns="95250" tIns="95250" rIns="95250" bIns="95250"/>
                    <a:lstStyle/>
                    <a:p>
                      <a:r>
                        <a:rPr sz="1500" b="0">
                          <a:solidFill>
                            <a:srgbClr val="182F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93,672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FD5CF"/>
                      </a:solidFill>
                      <a:prstDash val="solid"/>
                    </a:lnR>
                    <a:lnB w="5715">
                      <a:solidFill>
                        <a:srgbClr val="CFD5CF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 wrap="square" lIns="95250" tIns="95250" rIns="95250" bIns="95250"/>
                    <a:lstStyle/>
                    <a:p>
                      <a:r>
                        <a:rPr sz="1500" b="0">
                          <a:solidFill>
                            <a:srgbClr val="182F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2,400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FD5CF"/>
                      </a:solidFill>
                      <a:prstDash val="solid"/>
                    </a:lnR>
                    <a:lnB w="5715">
                      <a:solidFill>
                        <a:srgbClr val="CFD5CF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 wrap="square" lIns="95250" tIns="95250" rIns="95250" bIns="95250"/>
                    <a:lstStyle/>
                    <a:p>
                      <a:r>
                        <a:rPr sz="1500" b="0">
                          <a:solidFill>
                            <a:srgbClr val="182F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3,425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FD5CF"/>
                      </a:solidFill>
                      <a:prstDash val="solid"/>
                    </a:lnR>
                    <a:lnB w="5715">
                      <a:solidFill>
                        <a:srgbClr val="CFD5CF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</a:tr>
              <a:tr h="561975">
                <a:tc>
                  <a:txBody>
                    <a:bodyPr wrap="square" lIns="95250" tIns="95250" rIns="95250" bIns="95250"/>
                    <a:lstStyle/>
                    <a:p>
                      <a:r>
                        <a:rPr sz="1500" b="0">
                          <a:solidFill>
                            <a:srgbClr val="182F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2023–24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CFD5CF"/>
                      </a:solidFill>
                      <a:prstDash val="solid"/>
                    </a:lnL>
                    <a:lnR w="5715">
                      <a:solidFill>
                        <a:srgbClr val="CFD5CF"/>
                      </a:solidFill>
                      <a:prstDash val="solid"/>
                    </a:lnR>
                    <a:lnB w="5715">
                      <a:solidFill>
                        <a:srgbClr val="CFD5CF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 wrap="square" lIns="95250" tIns="95250" rIns="95250" bIns="95250"/>
                    <a:lstStyle/>
                    <a:p>
                      <a:r>
                        <a:rPr sz="1500" b="0">
                          <a:solidFill>
                            <a:srgbClr val="182F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106,533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FD5CF"/>
                      </a:solidFill>
                      <a:prstDash val="solid"/>
                    </a:lnR>
                    <a:lnB w="5715">
                      <a:solidFill>
                        <a:srgbClr val="CFD5CF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 wrap="square" lIns="95250" tIns="95250" rIns="95250" bIns="95250"/>
                    <a:lstStyle/>
                    <a:p>
                      <a:r>
                        <a:rPr sz="1500" b="0">
                          <a:solidFill>
                            <a:srgbClr val="182F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1,423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FD5CF"/>
                      </a:solidFill>
                      <a:prstDash val="solid"/>
                    </a:lnR>
                    <a:lnB w="5715">
                      <a:solidFill>
                        <a:srgbClr val="CFD5CF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 wrap="square" lIns="95250" tIns="95250" rIns="95250" bIns="95250"/>
                    <a:lstStyle/>
                    <a:p>
                      <a:r>
                        <a:rPr sz="1500" b="0">
                          <a:solidFill>
                            <a:srgbClr val="182F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3,571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FD5CF"/>
                      </a:solidFill>
                      <a:prstDash val="solid"/>
                    </a:lnR>
                    <a:lnB w="5715">
                      <a:solidFill>
                        <a:srgbClr val="CFD5CF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</a:tr>
            </a:tbl>
          </a:graphicData>
        </a:graphic>
      </p:graphicFrame>
      <p:sp>
        <p:nvSpPr>
          <p:cNvPr id="6" name="table-note">
            <a:extLst xmlns:a="http://schemas.openxmlformats.org/drawingml/2006/main">
              <a:ext uri="{FF2B5EF4-FFF2-40B4-BE49-F238E27FC236}">
                <a16:creationId xmlns:a16="http://schemas.microsoft.com/office/drawing/2014/main" id="{79A19DC0-A256-4674-9FA7-DA43ED6DC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P02, Appendix 1.3: 2019–20 to 2023–24. Nominal growth includes inflation. The 29.93% adjusted debt ratio excludes specified GST-compensation loans; wider liabilities are a separate measure.</a:t>
            </a:r>
          </a:p>
        </p:txBody>
      </p:sp>
    </p:spTree>
    <p:extLst>
      <p:ext uri="{BB962C8B-B14F-4D97-AF65-F5344CB8AC3E}">
        <p14:creationId xmlns:p14="http://schemas.microsoft.com/office/powerpoint/2010/main" val="2754208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2DD30D99-32CD-4985-A865-3A1B66B45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READING THE 64 CASES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3799272-27FF-49E8-89BE-171EFB54D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53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defRPr>
            </a:pPr>
            <a:r>
              <a: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rPr>
              <a:t>Recurring questions, different levels of responsibility</a:t>
            </a:r>
          </a:p>
        </p:txBody>
      </p:sp>
      <p:sp>
        <p:nvSpPr>
          <p:cNvPr id="3" name="page-footer">
            <a:extLst xmlns:a="http://schemas.openxmlformats.org/drawingml/2006/main">
              <a:ext uri="{FF2B5EF4-FFF2-40B4-BE49-F238E27FC236}">
                <a16:creationId xmlns:a16="http://schemas.microsoft.com/office/drawing/2014/main" id="{36A3DCB1-3E13-46AD-90C4-B184B09B9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GOA GOVERNANCE  /  14 OCTOBER 2026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D3D40E6-9E23-4393-8EEA-5F49AB6BC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514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  <p:sp>
        <p:nvSpPr>
          <p:cNvPr id="5" name="Direct administrative duties-label">
            <a:extLst xmlns:a="http://schemas.openxmlformats.org/drawingml/2006/main">
              <a:ext uri="{FF2B5EF4-FFF2-40B4-BE49-F238E27FC236}">
                <a16:creationId xmlns:a16="http://schemas.microsoft.com/office/drawing/2014/main" id="{AACE90D3-C3A7-4857-9934-7BCF68353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DIRECT ADMINISTRATIVE DUTIES</a:t>
            </a:r>
          </a:p>
        </p:txBody>
      </p:sp>
      <p:sp>
        <p:nvSpPr>
          <p:cNvPr id="6" name="Direct administrative duties-text">
            <a:extLst xmlns:a="http://schemas.openxmlformats.org/drawingml/2006/main">
              <a:ext uri="{FF2B5EF4-FFF2-40B4-BE49-F238E27FC236}">
                <a16:creationId xmlns:a16="http://schemas.microsoft.com/office/drawing/2014/main" id="{58A3E4AA-68E6-4814-ADD4-4904E4B19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66925"/>
            <a:ext cx="5143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875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Public staffing, medicine procurement, spending controls and statutory enforcement create identifiable accountability questions.</a:t>
            </a:r>
          </a:p>
        </p:txBody>
      </p:sp>
      <p:sp>
        <p:nvSpPr>
          <p:cNvPr id="7" name="Shared or disputed control-label">
            <a:extLst xmlns:a="http://schemas.openxmlformats.org/drawingml/2006/main">
              <a:ext uri="{FF2B5EF4-FFF2-40B4-BE49-F238E27FC236}">
                <a16:creationId xmlns:a16="http://schemas.microsoft.com/office/drawing/2014/main" id="{C3149AB8-AB16-4D0D-9DA8-7B4D28389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62125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SHARED OR DISPUTED CONTROL</a:t>
            </a:r>
          </a:p>
        </p:txBody>
      </p:sp>
      <p:sp>
        <p:nvSpPr>
          <p:cNvPr id="8" name="Shared or disputed control-text">
            <a:extLst xmlns:a="http://schemas.openxmlformats.org/drawingml/2006/main">
              <a:ext uri="{FF2B5EF4-FFF2-40B4-BE49-F238E27FC236}">
                <a16:creationId xmlns:a16="http://schemas.microsoft.com/office/drawing/2014/main" id="{C26C167E-BEB9-459A-B252-08660360F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66925"/>
            <a:ext cx="5143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875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Interstate water, rail, airports, policing allegations and private disasters require institution-specific attribution.</a:t>
            </a:r>
          </a:p>
        </p:txBody>
      </p:sp>
      <p:sp>
        <p:nvSpPr>
          <p:cNvPr id="9" name="Mixed outcomes-label">
            <a:extLst xmlns:a="http://schemas.openxmlformats.org/drawingml/2006/main">
              <a:ext uri="{FF2B5EF4-FFF2-40B4-BE49-F238E27FC236}">
                <a16:creationId xmlns:a16="http://schemas.microsoft.com/office/drawing/2014/main" id="{9C71D41A-FB72-4DAC-A020-0B7C535F3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4775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MIXED OUTCOMES</a:t>
            </a:r>
          </a:p>
        </p:txBody>
      </p:sp>
      <p:sp>
        <p:nvSpPr>
          <p:cNvPr id="10" name="Mixed outcomes-text">
            <a:extLst xmlns:a="http://schemas.openxmlformats.org/drawingml/2006/main">
              <a:ext uri="{FF2B5EF4-FFF2-40B4-BE49-F238E27FC236}">
                <a16:creationId xmlns:a16="http://schemas.microsoft.com/office/drawing/2014/main" id="{968488D0-49C9-4198-83D7-E807809CE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9575"/>
            <a:ext cx="5143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875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Tourism recovery, fiscal surpluses and improved child indicators must accompany adverse findings.</a:t>
            </a:r>
          </a:p>
        </p:txBody>
      </p:sp>
      <p:sp>
        <p:nvSpPr>
          <p:cNvPr id="11" name="Unresolved leads-label">
            <a:extLst xmlns:a="http://schemas.openxmlformats.org/drawingml/2006/main">
              <a:ext uri="{FF2B5EF4-FFF2-40B4-BE49-F238E27FC236}">
                <a16:creationId xmlns:a16="http://schemas.microsoft.com/office/drawing/2014/main" id="{C0AA4174-4B01-4870-85C1-41B5F06D8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14775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UNRESOLVED LEADS</a:t>
            </a:r>
          </a:p>
        </p:txBody>
      </p:sp>
      <p:sp>
        <p:nvSpPr>
          <p:cNvPr id="12" name="Unresolved leads-text">
            <a:extLst xmlns:a="http://schemas.openxmlformats.org/drawingml/2006/main">
              <a:ext uri="{FF2B5EF4-FFF2-40B4-BE49-F238E27FC236}">
                <a16:creationId xmlns:a16="http://schemas.microsoft.com/office/drawing/2014/main" id="{37FB3E69-B3A8-421C-84B4-B7912710A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19575"/>
            <a:ext cx="5143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875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Emerging cases and incomplete records are follow-up tasks. They cannot be presented as established misconduct.</a:t>
            </a:r>
          </a:p>
        </p:txBody>
      </p:sp>
    </p:spTree>
    <p:extLst>
      <p:ext uri="{BB962C8B-B14F-4D97-AF65-F5344CB8AC3E}">
        <p14:creationId xmlns:p14="http://schemas.microsoft.com/office/powerpoint/2010/main" val="163062941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7AC39965-3F43-4FC7-AEEC-F870599AD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G01 · HEALTH · MAY 2021; INQUIRY OCTOBER 2021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A67EC85-23E6-4A62-A19F-BEA49EB9B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53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defRPr>
            </a:pPr>
            <a:r>
              <a: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rPr>
              <a:t>GMC oxygen crisis</a:t>
            </a:r>
          </a:p>
        </p:txBody>
      </p:sp>
      <p:sp>
        <p:nvSpPr>
          <p:cNvPr id="3" name="page-footer">
            <a:extLst xmlns:a="http://schemas.openxmlformats.org/drawingml/2006/main">
              <a:ext uri="{FF2B5EF4-FFF2-40B4-BE49-F238E27FC236}">
                <a16:creationId xmlns:a16="http://schemas.microsoft.com/office/drawing/2014/main" id="{C483CD99-F0A1-49DB-95C9-F2D28B8EC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GOA GOVERNANCE  /  14 OCTOBER 2026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C800E6B-8C96-4511-9146-137E8BB60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514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  <p:sp>
        <p:nvSpPr>
          <p:cNvPr id="5" name="fact-body">
            <a:extLst xmlns:a="http://schemas.openxmlformats.org/drawingml/2006/main">
              <a:ext uri="{FF2B5EF4-FFF2-40B4-BE49-F238E27FC236}">
                <a16:creationId xmlns:a16="http://schemas.microsoft.com/office/drawing/2014/main" id="{8A1C47E6-1CB4-4F72-AA3F-4F1BAF28D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5191125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FACT / G01-C1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The government-appointed inquiry said GMC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did not seek oxygen augmentation in time; it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could not establish that pressure interruptions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caused the deaths.</a:t>
            </a:r>
          </a:p>
        </p:txBody>
      </p:sp>
      <p:sp>
        <p:nvSpPr>
          <p:cNvPr id="6" name="effect-body">
            <a:extLst xmlns:a="http://schemas.openxmlformats.org/drawingml/2006/main">
              <a:ext uri="{FF2B5EF4-FFF2-40B4-BE49-F238E27FC236}">
                <a16:creationId xmlns:a16="http://schemas.microsoft.com/office/drawing/2014/main" id="{ACC605B6-096D-4055-BEBE-3DCBF8421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5191125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EFFECT ON GOA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Patients faced a disrupted critical-care supply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system during the second wave. Bereaved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families faced unresolved questions about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preventability.</a:t>
            </a:r>
          </a:p>
        </p:txBody>
      </p:sp>
      <p:sp>
        <p:nvSpPr>
          <p:cNvPr id="7" name="implication-body">
            <a:extLst xmlns:a="http://schemas.openxmlformats.org/drawingml/2006/main">
              <a:ext uri="{FF2B5EF4-FFF2-40B4-BE49-F238E27FC236}">
                <a16:creationId xmlns:a16="http://schemas.microsoft.com/office/drawing/2014/main" id="{E4FAB9D1-12FB-429C-BCC7-F86F2B2A4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71650"/>
            <a:ext cx="51911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INCUMBENT IMPLICATION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Creates a serious health-administration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accountability issue for the incumbent.</a:t>
            </a:r>
          </a:p>
        </p:txBody>
      </p:sp>
      <p:sp>
        <p:nvSpPr>
          <p:cNvPr id="8" name="logic-body">
            <a:extLst xmlns:a="http://schemas.openxmlformats.org/drawingml/2006/main">
              <a:ext uri="{FF2B5EF4-FFF2-40B4-BE49-F238E27FC236}">
                <a16:creationId xmlns:a16="http://schemas.microsoft.com/office/drawing/2014/main" id="{FEA1D488-E42D-4D65-8B00-4539CCB5F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09850"/>
            <a:ext cx="5191125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LOGIC / RATIONALE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Managing a government hospital and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responding to supply warnings are public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responsibilities. A failure to escalate demand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can undermine confidence in emergency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preparedness.</a:t>
            </a:r>
          </a:p>
        </p:txBody>
      </p:sp>
      <p:sp>
        <p:nvSpPr>
          <p:cNvPr id="9" name="assumptions-body">
            <a:extLst xmlns:a="http://schemas.openxmlformats.org/drawingml/2006/main">
              <a:ext uri="{FF2B5EF4-FFF2-40B4-BE49-F238E27FC236}">
                <a16:creationId xmlns:a16="http://schemas.microsoft.com/office/drawing/2014/main" id="{D3F2B80F-77DD-4ECF-9D96-B73790494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19575"/>
            <a:ext cx="5191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ASSUMPTIONS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Public confidence depends partly on timely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escalation, transparent mortality records and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independent explanations.</a:t>
            </a:r>
          </a:p>
        </p:txBody>
      </p:sp>
      <p:sp>
        <p:nvSpPr>
          <p:cNvPr id="10" name="limit-label">
            <a:extLst xmlns:a="http://schemas.openxmlformats.org/drawingml/2006/main">
              <a:ext uri="{FF2B5EF4-FFF2-40B4-BE49-F238E27FC236}">
                <a16:creationId xmlns:a16="http://schemas.microsoft.com/office/drawing/2014/main" id="{F2DAEDFE-07DB-46E6-8468-C05C53D3D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LIMIT / COUNTER-FINDING</a:t>
            </a:r>
          </a:p>
        </p:txBody>
      </p:sp>
      <p:sp>
        <p:nvSpPr>
          <p:cNvPr id="11" name="case-limit">
            <a:extLst xmlns:a="http://schemas.openxmlformats.org/drawingml/2006/main">
              <a:ext uri="{FF2B5EF4-FFF2-40B4-BE49-F238E27FC236}">
                <a16:creationId xmlns:a16="http://schemas.microsoft.com/office/drawing/2014/main" id="{F10D4B70-88C9-42BA-91FA-A6DBB0A03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53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The 26 overnight deaths reported in May are not a verified oxygen-attributable death count. The statewide figure of 75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deaths that day is a different denominator.</a:t>
            </a:r>
          </a:p>
        </p:txBody>
      </p:sp>
      <p:sp>
        <p:nvSpPr>
          <p:cNvPr id="12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3F4B679F-C153-4960-A8C3-9A661074C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76975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3 readable core records · below four-source threshold · Sources: P01, P09, S396, S397, S385, S394, S391, S386</a:t>
            </a:r>
          </a:p>
        </p:txBody>
      </p:sp>
    </p:spTree>
    <p:extLst>
      <p:ext uri="{BB962C8B-B14F-4D97-AF65-F5344CB8AC3E}">
        <p14:creationId xmlns:p14="http://schemas.microsoft.com/office/powerpoint/2010/main" val="84840105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457D1298-06AF-41E4-B20C-C826F9E8D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G02 · HEALTH · POSITION AT MARCH 2022; AUDIT TABLED AUGUST 2024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F4FCB1F-48EF-4050-8653-B7BCBCDC4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53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defRPr>
            </a:pPr>
            <a:r>
              <a: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rPr>
              <a:t>Health workforce vacancies</a:t>
            </a:r>
          </a:p>
        </p:txBody>
      </p:sp>
      <p:sp>
        <p:nvSpPr>
          <p:cNvPr id="3" name="page-footer">
            <a:extLst xmlns:a="http://schemas.openxmlformats.org/drawingml/2006/main">
              <a:ext uri="{FF2B5EF4-FFF2-40B4-BE49-F238E27FC236}">
                <a16:creationId xmlns:a16="http://schemas.microsoft.com/office/drawing/2014/main" id="{28E3D2DD-6C0F-4508-BC5C-474752B1B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GOA GOVERNANCE  /  14 OCTOBER 2026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F0B6382-05B9-4CD4-BBDC-EAE27563B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514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09</a:t>
            </a:r>
          </a:p>
        </p:txBody>
      </p:sp>
      <p:sp>
        <p:nvSpPr>
          <p:cNvPr id="5" name="fact-body">
            <a:extLst xmlns:a="http://schemas.openxmlformats.org/drawingml/2006/main">
              <a:ext uri="{FF2B5EF4-FFF2-40B4-BE49-F238E27FC236}">
                <a16:creationId xmlns:a16="http://schemas.microsoft.com/office/drawing/2014/main" id="{B57AFEC8-6EB2-4C4C-84D2-8D6A7FE69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5191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FACT / G02-C1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CAG recorded a 51% shortfall of doctors and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medical officers against sanctioned strength at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GMC.</a:t>
            </a:r>
          </a:p>
        </p:txBody>
      </p:sp>
      <p:sp>
        <p:nvSpPr>
          <p:cNvPr id="6" name="effect-body">
            <a:extLst xmlns:a="http://schemas.openxmlformats.org/drawingml/2006/main">
              <a:ext uri="{FF2B5EF4-FFF2-40B4-BE49-F238E27FC236}">
                <a16:creationId xmlns:a16="http://schemas.microsoft.com/office/drawing/2014/main" id="{13406806-50F7-4AF3-B901-C7CCCF046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67025"/>
            <a:ext cx="5191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EFFECT ON GOA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Vacancies constrain specialist availability and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can increase workload and referrals; the audit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documented related service gaps.</a:t>
            </a:r>
          </a:p>
        </p:txBody>
      </p:sp>
      <p:sp>
        <p:nvSpPr>
          <p:cNvPr id="7" name="implication-body">
            <a:extLst xmlns:a="http://schemas.openxmlformats.org/drawingml/2006/main">
              <a:ext uri="{FF2B5EF4-FFF2-40B4-BE49-F238E27FC236}">
                <a16:creationId xmlns:a16="http://schemas.microsoft.com/office/drawing/2014/main" id="{15AD0CA5-3511-4399-9C7B-FC2058C6A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71650"/>
            <a:ext cx="51911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INCUMBENT IMPLICATION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Challenges the incumbent’s claim that public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health capacity matches Goa’s resources.</a:t>
            </a:r>
          </a:p>
        </p:txBody>
      </p:sp>
      <p:sp>
        <p:nvSpPr>
          <p:cNvPr id="8" name="logic-body">
            <a:extLst xmlns:a="http://schemas.openxmlformats.org/drawingml/2006/main">
              <a:ext uri="{FF2B5EF4-FFF2-40B4-BE49-F238E27FC236}">
                <a16:creationId xmlns:a16="http://schemas.microsoft.com/office/drawing/2014/main" id="{FC1A4DB2-EDE9-4A94-81FA-58BA57237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09850"/>
            <a:ext cx="5191125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LOGIC / RATIONALE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The state controls sanctioned posts,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recruitment and deployment. Persistent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vacancies are a more direct test of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administrative delivery than broad mortality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comparisons.</a:t>
            </a:r>
          </a:p>
        </p:txBody>
      </p:sp>
      <p:sp>
        <p:nvSpPr>
          <p:cNvPr id="9" name="assumptions-body">
            <a:extLst xmlns:a="http://schemas.openxmlformats.org/drawingml/2006/main">
              <a:ext uri="{FF2B5EF4-FFF2-40B4-BE49-F238E27FC236}">
                <a16:creationId xmlns:a16="http://schemas.microsoft.com/office/drawing/2014/main" id="{E653A011-CB4E-4416-8A74-4F2E0492D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19575"/>
            <a:ext cx="5191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ASSUMPTIONS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The sanctioned establishment is a meaningful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capacity benchmark; contract staff and actual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service provision must also be considered.</a:t>
            </a:r>
          </a:p>
        </p:txBody>
      </p:sp>
      <p:sp>
        <p:nvSpPr>
          <p:cNvPr id="10" name="limit-label">
            <a:extLst xmlns:a="http://schemas.openxmlformats.org/drawingml/2006/main">
              <a:ext uri="{FF2B5EF4-FFF2-40B4-BE49-F238E27FC236}">
                <a16:creationId xmlns:a16="http://schemas.microsoft.com/office/drawing/2014/main" id="{544D6EA8-7FEE-43E9-BC34-D31E4C9ED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LIMIT / COUNTER-FINDING</a:t>
            </a:r>
          </a:p>
        </p:txBody>
      </p:sp>
      <p:sp>
        <p:nvSpPr>
          <p:cNvPr id="11" name="case-limit">
            <a:extLst xmlns:a="http://schemas.openxmlformats.org/drawingml/2006/main">
              <a:ext uri="{FF2B5EF4-FFF2-40B4-BE49-F238E27FC236}">
                <a16:creationId xmlns:a16="http://schemas.microsoft.com/office/drawing/2014/main" id="{B3C5EE13-0BD0-4330-A889-36A8C7B01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53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This is a March 2022 finding, not a verified October 2026 vacancy rate. The audit period includes years before 2019.</a:t>
            </a:r>
          </a:p>
        </p:txBody>
      </p:sp>
      <p:sp>
        <p:nvSpPr>
          <p:cNvPr id="12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0F0B1A25-11C9-41B6-A3E0-7413B7BAC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76975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3 readable core records · below four-source threshold · Sources: P01, S166, S168, S195, S170</a:t>
            </a:r>
          </a:p>
        </p:txBody>
      </p:sp>
    </p:spTree>
    <p:extLst>
      <p:ext uri="{BB962C8B-B14F-4D97-AF65-F5344CB8AC3E}">
        <p14:creationId xmlns:p14="http://schemas.microsoft.com/office/powerpoint/2010/main" val="97089045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F84E9FB3-4A6D-4CD3-B089-3D0352C6E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G03 · HEALTH · 2020–22 OBSERVATIONS; AUGUST 2024 PUBLICATION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1509FE6-C557-44F8-A3BC-2C84F069E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53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defRPr>
            </a:pPr>
            <a:r>
              <a: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rPr>
              <a:t>Medicine procurement and availability</a:t>
            </a:r>
          </a:p>
        </p:txBody>
      </p:sp>
      <p:sp>
        <p:nvSpPr>
          <p:cNvPr id="3" name="page-footer">
            <a:extLst xmlns:a="http://schemas.openxmlformats.org/drawingml/2006/main">
              <a:ext uri="{FF2B5EF4-FFF2-40B4-BE49-F238E27FC236}">
                <a16:creationId xmlns:a16="http://schemas.microsoft.com/office/drawing/2014/main" id="{E452A9E1-0C80-4B28-BF44-BFADF0942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GOA GOVERNANCE  /  14 OCTOBER 2026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0AD6C47-2C22-495D-B024-B50654759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514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5" name="fact-body">
            <a:extLst xmlns:a="http://schemas.openxmlformats.org/drawingml/2006/main">
              <a:ext uri="{FF2B5EF4-FFF2-40B4-BE49-F238E27FC236}">
                <a16:creationId xmlns:a16="http://schemas.microsoft.com/office/drawing/2014/main" id="{601D12B1-C689-4DC7-AF89-7C5237586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5191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FACT / G03-C1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CAG found procurement delays and inadequate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drug quality controls; sampled facilities lacked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parts of the required medicine range.</a:t>
            </a:r>
          </a:p>
        </p:txBody>
      </p:sp>
      <p:sp>
        <p:nvSpPr>
          <p:cNvPr id="6" name="effect-body">
            <a:extLst xmlns:a="http://schemas.openxmlformats.org/drawingml/2006/main">
              <a:ext uri="{FF2B5EF4-FFF2-40B4-BE49-F238E27FC236}">
                <a16:creationId xmlns:a16="http://schemas.microsoft.com/office/drawing/2014/main" id="{36AEEFC2-7284-407B-8D9A-D2A98FBBB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67025"/>
            <a:ext cx="5191125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EFFECT ON GOA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Unavailable free medicines can shift purchases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to patients and interrupt treatment. The audit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does not quantify statewide household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expenditure caused by these gaps.</a:t>
            </a:r>
          </a:p>
        </p:txBody>
      </p:sp>
      <p:sp>
        <p:nvSpPr>
          <p:cNvPr id="7" name="implication-body">
            <a:extLst xmlns:a="http://schemas.openxmlformats.org/drawingml/2006/main">
              <a:ext uri="{FF2B5EF4-FFF2-40B4-BE49-F238E27FC236}">
                <a16:creationId xmlns:a16="http://schemas.microsoft.com/office/drawing/2014/main" id="{0FBB328F-9715-45FA-A250-B2E417802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71650"/>
            <a:ext cx="5191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INCUMBENT IMPLICATION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Raises an implementation and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procurement-control challenge for health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leadership.</a:t>
            </a:r>
          </a:p>
        </p:txBody>
      </p:sp>
      <p:sp>
        <p:nvSpPr>
          <p:cNvPr id="8" name="logic-body">
            <a:extLst xmlns:a="http://schemas.openxmlformats.org/drawingml/2006/main">
              <a:ext uri="{FF2B5EF4-FFF2-40B4-BE49-F238E27FC236}">
                <a16:creationId xmlns:a16="http://schemas.microsoft.com/office/drawing/2014/main" id="{48CD2608-BBAC-474A-8B2A-D94588023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67025"/>
            <a:ext cx="5191125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LOGIC / RATIONALE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Public provision promises depend on reliable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purchasing, testing, storage and distribution.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Failures in these controllable processes weaken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the credibility of service commitments.</a:t>
            </a:r>
          </a:p>
        </p:txBody>
      </p:sp>
      <p:sp>
        <p:nvSpPr>
          <p:cNvPr id="9" name="assumptions-body">
            <a:extLst xmlns:a="http://schemas.openxmlformats.org/drawingml/2006/main">
              <a:ext uri="{FF2B5EF4-FFF2-40B4-BE49-F238E27FC236}">
                <a16:creationId xmlns:a16="http://schemas.microsoft.com/office/drawing/2014/main" id="{89578592-EF09-4D12-BB8C-24C74798C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19575"/>
            <a:ext cx="5191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ASSUMPTIONS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Patients could not obtain equivalent free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substitutes promptly; cost effects vary by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prescription and facility.</a:t>
            </a:r>
          </a:p>
        </p:txBody>
      </p:sp>
      <p:sp>
        <p:nvSpPr>
          <p:cNvPr id="10" name="limit-label">
            <a:extLst xmlns:a="http://schemas.openxmlformats.org/drawingml/2006/main">
              <a:ext uri="{FF2B5EF4-FFF2-40B4-BE49-F238E27FC236}">
                <a16:creationId xmlns:a16="http://schemas.microsoft.com/office/drawing/2014/main" id="{9731B46F-C9D5-4EEF-A698-60A150167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LIMIT / COUNTER-FINDING</a:t>
            </a:r>
          </a:p>
        </p:txBody>
      </p:sp>
      <p:sp>
        <p:nvSpPr>
          <p:cNvPr id="11" name="case-limit">
            <a:extLst xmlns:a="http://schemas.openxmlformats.org/drawingml/2006/main">
              <a:ext uri="{FF2B5EF4-FFF2-40B4-BE49-F238E27FC236}">
                <a16:creationId xmlns:a16="http://schemas.microsoft.com/office/drawing/2014/main" id="{E7B49FDC-1E7F-4D68-82FA-5FF56D3D6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53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Sample percentages are not statewide prevalence. Distribution without batch testing indicates risk, not proof that every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medicine was unsafe.</a:t>
            </a:r>
          </a:p>
        </p:txBody>
      </p:sp>
      <p:sp>
        <p:nvSpPr>
          <p:cNvPr id="12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78325227-8653-43BC-A987-4CD594ED8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76975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4 readable core records · shared origins disclosed · Sources: P01, S166, S168, S165</a:t>
            </a:r>
          </a:p>
        </p:txBody>
      </p:sp>
    </p:spTree>
    <p:extLst>
      <p:ext uri="{BB962C8B-B14F-4D97-AF65-F5344CB8AC3E}">
        <p14:creationId xmlns:p14="http://schemas.microsoft.com/office/powerpoint/2010/main" val="10503196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96C449B5-4F27-4564-AB38-72373E24E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G04 · HEALTH · AUDIT THROUGH 2021–22; PUBLISHED 2024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4004B31-D9DB-4E51-A7D3-B22160233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53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defRPr>
            </a:pPr>
            <a:r>
              <a: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rPr>
              <a:t>Hospital services and infrastructure gaps</a:t>
            </a:r>
          </a:p>
        </p:txBody>
      </p:sp>
      <p:sp>
        <p:nvSpPr>
          <p:cNvPr id="3" name="page-footer">
            <a:extLst xmlns:a="http://schemas.openxmlformats.org/drawingml/2006/main">
              <a:ext uri="{FF2B5EF4-FFF2-40B4-BE49-F238E27FC236}">
                <a16:creationId xmlns:a16="http://schemas.microsoft.com/office/drawing/2014/main" id="{764940F0-5B2A-4F37-9F4E-F111E5868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GOA GOVERNANCE  /  14 OCTOBER 2026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BC5EC13-BD76-4238-B307-A8066A527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514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  <p:sp>
        <p:nvSpPr>
          <p:cNvPr id="5" name="fact-body">
            <a:extLst xmlns:a="http://schemas.openxmlformats.org/drawingml/2006/main">
              <a:ext uri="{FF2B5EF4-FFF2-40B4-BE49-F238E27FC236}">
                <a16:creationId xmlns:a16="http://schemas.microsoft.com/office/drawing/2014/main" id="{A2631ECF-0D5E-4FA4-BDFD-0A68CD379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5191125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FACT / G04-C1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The health audit reported missing ICU services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at both district hospitals during the audited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period and gaps in diagnostics and other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essential services.</a:t>
            </a:r>
          </a:p>
        </p:txBody>
      </p:sp>
      <p:sp>
        <p:nvSpPr>
          <p:cNvPr id="6" name="effect-body">
            <a:extLst xmlns:a="http://schemas.openxmlformats.org/drawingml/2006/main">
              <a:ext uri="{FF2B5EF4-FFF2-40B4-BE49-F238E27FC236}">
                <a16:creationId xmlns:a16="http://schemas.microsoft.com/office/drawing/2014/main" id="{1EF7E8D4-6D3E-461E-95D7-45B463099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5191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EFFECT ON GOA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Missing services can require transfers to GMC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or private care, increasing travel and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dependence on tertiary facilities.</a:t>
            </a:r>
          </a:p>
        </p:txBody>
      </p:sp>
      <p:sp>
        <p:nvSpPr>
          <p:cNvPr id="7" name="implication-body">
            <a:extLst xmlns:a="http://schemas.openxmlformats.org/drawingml/2006/main">
              <a:ext uri="{FF2B5EF4-FFF2-40B4-BE49-F238E27FC236}">
                <a16:creationId xmlns:a16="http://schemas.microsoft.com/office/drawing/2014/main" id="{89794D9E-C715-415F-873F-0EA1789BB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71650"/>
            <a:ext cx="51911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INCUMBENT IMPLICATION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Creates a service-access accountability issue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despite investment in buildings.</a:t>
            </a:r>
          </a:p>
        </p:txBody>
      </p:sp>
      <p:sp>
        <p:nvSpPr>
          <p:cNvPr id="8" name="logic-body">
            <a:extLst xmlns:a="http://schemas.openxmlformats.org/drawingml/2006/main">
              <a:ext uri="{FF2B5EF4-FFF2-40B4-BE49-F238E27FC236}">
                <a16:creationId xmlns:a16="http://schemas.microsoft.com/office/drawing/2014/main" id="{28338938-17F9-49D6-92EB-C5F37BCE1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09850"/>
            <a:ext cx="5191125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LOGIC / RATIONALE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A hospital building is useful only when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equipment, staff and clinical services function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together. The state is responsible for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commissioning those capabilities.</a:t>
            </a:r>
          </a:p>
        </p:txBody>
      </p:sp>
      <p:sp>
        <p:nvSpPr>
          <p:cNvPr id="9" name="assumptions-body">
            <a:extLst xmlns:a="http://schemas.openxmlformats.org/drawingml/2006/main">
              <a:ext uri="{FF2B5EF4-FFF2-40B4-BE49-F238E27FC236}">
                <a16:creationId xmlns:a16="http://schemas.microsoft.com/office/drawing/2014/main" id="{01030337-17DA-4B66-A6FC-A725A75C9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62400"/>
            <a:ext cx="5191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ASSUMPTIONS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Unavailable services were not consistently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provided through another accessible public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facility.</a:t>
            </a:r>
          </a:p>
        </p:txBody>
      </p:sp>
      <p:sp>
        <p:nvSpPr>
          <p:cNvPr id="10" name="limit-label">
            <a:extLst xmlns:a="http://schemas.openxmlformats.org/drawingml/2006/main">
              <a:ext uri="{FF2B5EF4-FFF2-40B4-BE49-F238E27FC236}">
                <a16:creationId xmlns:a16="http://schemas.microsoft.com/office/drawing/2014/main" id="{EC13EE71-D00F-40E3-A656-C0D6CC9DB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LIMIT / COUNTER-FINDING</a:t>
            </a:r>
          </a:p>
        </p:txBody>
      </p:sp>
      <p:sp>
        <p:nvSpPr>
          <p:cNvPr id="11" name="case-limit">
            <a:extLst xmlns:a="http://schemas.openxmlformats.org/drawingml/2006/main">
              <a:ext uri="{FF2B5EF4-FFF2-40B4-BE49-F238E27FC236}">
                <a16:creationId xmlns:a16="http://schemas.microsoft.com/office/drawing/2014/main" id="{D2E52233-78F2-4681-B153-47F772D47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53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Do not treat an old audit finding as proof that the same service remains absent in 2026. Referral-related costs are an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inference unless documented for patients.</a:t>
            </a:r>
          </a:p>
        </p:txBody>
      </p:sp>
      <p:sp>
        <p:nvSpPr>
          <p:cNvPr id="12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3A226FAE-BF01-4E1A-9FEA-E4C275FC7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76975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2 readable core records · below four-source threshold · Sources: P01, S165, S166, S168</a:t>
            </a:r>
          </a:p>
        </p:txBody>
      </p:sp>
    </p:spTree>
    <p:extLst>
      <p:ext uri="{BB962C8B-B14F-4D97-AF65-F5344CB8AC3E}">
        <p14:creationId xmlns:p14="http://schemas.microsoft.com/office/powerpoint/2010/main" val="65867473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ABA0A304-3A09-48D8-8293-227F57A49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G05 · HEALTH STATISTICS · NFHS-5 TO NFHS-6, 2019–21 VERSUS 2023–24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20F60FB-1D17-4C19-8163-9733228F8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53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defRPr>
            </a:pPr>
            <a:r>
              <a: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rPr>
              <a:t>Adult overweight, obesity and blood-sugar burden</a:t>
            </a:r>
          </a:p>
        </p:txBody>
      </p:sp>
      <p:sp>
        <p:nvSpPr>
          <p:cNvPr id="3" name="page-footer">
            <a:extLst xmlns:a="http://schemas.openxmlformats.org/drawingml/2006/main">
              <a:ext uri="{FF2B5EF4-FFF2-40B4-BE49-F238E27FC236}">
                <a16:creationId xmlns:a16="http://schemas.microsoft.com/office/drawing/2014/main" id="{5FE7D9DD-EA02-4AF1-B39A-36B9F6CF2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GOA GOVERNANCE  /  14 OCTOBER 2026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C4BFAED-72C0-49AB-B427-3E5398994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514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  <p:sp>
        <p:nvSpPr>
          <p:cNvPr id="5" name="fact-body">
            <a:extLst xmlns:a="http://schemas.openxmlformats.org/drawingml/2006/main">
              <a:ext uri="{FF2B5EF4-FFF2-40B4-BE49-F238E27FC236}">
                <a16:creationId xmlns:a16="http://schemas.microsoft.com/office/drawing/2014/main" id="{796E6C82-2E96-428E-B573-A4B86A126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5191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FACT / G05-C1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NFHS-6 reports overweight or obesity among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women aged 15–49 at 45.1%, versus 36.1% in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NFHS-5; for men, 43.6% versus 32.6%.</a:t>
            </a:r>
          </a:p>
        </p:txBody>
      </p:sp>
      <p:sp>
        <p:nvSpPr>
          <p:cNvPr id="6" name="effect-body">
            <a:extLst xmlns:a="http://schemas.openxmlformats.org/drawingml/2006/main">
              <a:ext uri="{FF2B5EF4-FFF2-40B4-BE49-F238E27FC236}">
                <a16:creationId xmlns:a16="http://schemas.microsoft.com/office/drawing/2014/main" id="{15BDA632-634F-41DE-8B78-29043C211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67025"/>
            <a:ext cx="5191125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EFFECT ON GOA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These indicators signal greater chronic-disease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prevention and care needs. They do not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measure expenditure or deaths attributable to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government policy.</a:t>
            </a:r>
          </a:p>
        </p:txBody>
      </p:sp>
      <p:sp>
        <p:nvSpPr>
          <p:cNvPr id="7" name="implication-body">
            <a:extLst xmlns:a="http://schemas.openxmlformats.org/drawingml/2006/main">
              <a:ext uri="{FF2B5EF4-FFF2-40B4-BE49-F238E27FC236}">
                <a16:creationId xmlns:a16="http://schemas.microsoft.com/office/drawing/2014/main" id="{87477467-2A7F-4BB5-B610-2154892A8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71650"/>
            <a:ext cx="51911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INCUMBENT IMPLICATION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Places prevention, screening and primary-care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effectiveness under scrutiny.</a:t>
            </a:r>
          </a:p>
        </p:txBody>
      </p:sp>
      <p:sp>
        <p:nvSpPr>
          <p:cNvPr id="8" name="logic-body">
            <a:extLst xmlns:a="http://schemas.openxmlformats.org/drawingml/2006/main">
              <a:ext uri="{FF2B5EF4-FFF2-40B4-BE49-F238E27FC236}">
                <a16:creationId xmlns:a16="http://schemas.microsoft.com/office/drawing/2014/main" id="{A6319F59-76CF-49F9-ABC0-78A36CD93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09850"/>
            <a:ext cx="5191125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LOGIC / RATIONALE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A worsening population risk profile increases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the burden on services the state manages; it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tests whether health policy addresses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prevention as well as hospital treatment.</a:t>
            </a:r>
          </a:p>
        </p:txBody>
      </p:sp>
      <p:sp>
        <p:nvSpPr>
          <p:cNvPr id="9" name="assumptions-body">
            <a:extLst xmlns:a="http://schemas.openxmlformats.org/drawingml/2006/main">
              <a:ext uri="{FF2B5EF4-FFF2-40B4-BE49-F238E27FC236}">
                <a16:creationId xmlns:a16="http://schemas.microsoft.com/office/drawing/2014/main" id="{C65A760F-355F-42B0-B2F6-75E08783B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62400"/>
            <a:ext cx="5191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ASSUMPTIONS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The survey populations and BMI definitions are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sufficiently comparable; lifestyle, ageing and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private choices also contribute.</a:t>
            </a:r>
          </a:p>
        </p:txBody>
      </p:sp>
      <p:sp>
        <p:nvSpPr>
          <p:cNvPr id="10" name="limit-label">
            <a:extLst xmlns:a="http://schemas.openxmlformats.org/drawingml/2006/main">
              <a:ext uri="{FF2B5EF4-FFF2-40B4-BE49-F238E27FC236}">
                <a16:creationId xmlns:a16="http://schemas.microsoft.com/office/drawing/2014/main" id="{2C743860-A0E6-48F1-BBD5-082BB869D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LIMIT / COUNTER-FINDING</a:t>
            </a:r>
          </a:p>
        </p:txBody>
      </p:sp>
      <p:sp>
        <p:nvSpPr>
          <p:cNvPr id="11" name="case-limit">
            <a:extLst xmlns:a="http://schemas.openxmlformats.org/drawingml/2006/main">
              <a:ext uri="{FF2B5EF4-FFF2-40B4-BE49-F238E27FC236}">
                <a16:creationId xmlns:a16="http://schemas.microsoft.com/office/drawing/2014/main" id="{198B3F96-F01A-4788-A06D-D1215213B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53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The factsheet warns about small samples. High blood sugar or medication use is a screening indicator, not identical to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clinically diagnosed diabetes prevalence.</a:t>
            </a:r>
          </a:p>
        </p:txBody>
      </p:sp>
      <p:sp>
        <p:nvSpPr>
          <p:cNvPr id="12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E1B4162C-34D2-4207-9353-A31D31B8A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76975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5 readable core records · shared origins disclosed · Sources: P07, S275, S263, S276, S266, S268</a:t>
            </a:r>
          </a:p>
        </p:txBody>
      </p:sp>
    </p:spTree>
    <p:extLst>
      <p:ext uri="{BB962C8B-B14F-4D97-AF65-F5344CB8AC3E}">
        <p14:creationId xmlns:p14="http://schemas.microsoft.com/office/powerpoint/2010/main" val="11348667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A373BF98-B1DA-43FE-944B-797AD41BA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G06 · HEALTH STATISTICS · 2019–21 VERSUS 2023–24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CF9C835-E919-4ABF-8EC5-46D5F37B9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53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defRPr>
            </a:pPr>
            <a:r>
              <a: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rPr>
              <a:t>Water and maternal-care survey warning signs</a:t>
            </a:r>
          </a:p>
        </p:txBody>
      </p:sp>
      <p:sp>
        <p:nvSpPr>
          <p:cNvPr id="3" name="page-footer">
            <a:extLst xmlns:a="http://schemas.openxmlformats.org/drawingml/2006/main">
              <a:ext uri="{FF2B5EF4-FFF2-40B4-BE49-F238E27FC236}">
                <a16:creationId xmlns:a16="http://schemas.microsoft.com/office/drawing/2014/main" id="{8175544F-0D93-45BA-8DA1-3AB269B43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GOA GOVERNANCE  /  14 OCTOBER 2026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772659D-31C9-4C14-98BA-9A0952E08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514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13</a:t>
            </a:r>
          </a:p>
        </p:txBody>
      </p:sp>
      <p:sp>
        <p:nvSpPr>
          <p:cNvPr id="5" name="fact-body">
            <a:extLst xmlns:a="http://schemas.openxmlformats.org/drawingml/2006/main">
              <a:ext uri="{FF2B5EF4-FFF2-40B4-BE49-F238E27FC236}">
                <a16:creationId xmlns:a16="http://schemas.microsoft.com/office/drawing/2014/main" id="{D8F6E639-4E0B-473C-B9AA-58D6E3072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5191125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FACT / G06-C1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The NFHS-6 factsheet shows improved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drinking-water-source coverage at 95.5%,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compared with 98.5% in NFHS-5; four or more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antenatal visits at 88.0%, versus 93.0%.</a:t>
            </a:r>
          </a:p>
        </p:txBody>
      </p:sp>
      <p:sp>
        <p:nvSpPr>
          <p:cNvPr id="6" name="effect-body">
            <a:extLst xmlns:a="http://schemas.openxmlformats.org/drawingml/2006/main">
              <a:ext uri="{FF2B5EF4-FFF2-40B4-BE49-F238E27FC236}">
                <a16:creationId xmlns:a16="http://schemas.microsoft.com/office/drawing/2014/main" id="{9C496860-DF75-4FA6-A53A-A23AA0A3C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5191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EFFECT ON GOA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The reported changes warrant investigation of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access, continuity and uneven coverage,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including rural differences.</a:t>
            </a:r>
          </a:p>
        </p:txBody>
      </p:sp>
      <p:sp>
        <p:nvSpPr>
          <p:cNvPr id="7" name="implication-body">
            <a:extLst xmlns:a="http://schemas.openxmlformats.org/drawingml/2006/main">
              <a:ext uri="{FF2B5EF4-FFF2-40B4-BE49-F238E27FC236}">
                <a16:creationId xmlns:a16="http://schemas.microsoft.com/office/drawing/2014/main" id="{91C211EC-94A5-4357-9370-F4177D1A4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71650"/>
            <a:ext cx="51911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INCUMBENT IMPLICATION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Creates a focused service-delivery question for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the incumbent.</a:t>
            </a:r>
          </a:p>
        </p:txBody>
      </p:sp>
      <p:sp>
        <p:nvSpPr>
          <p:cNvPr id="8" name="logic-body">
            <a:extLst xmlns:a="http://schemas.openxmlformats.org/drawingml/2006/main">
              <a:ext uri="{FF2B5EF4-FFF2-40B4-BE49-F238E27FC236}">
                <a16:creationId xmlns:a16="http://schemas.microsoft.com/office/drawing/2014/main" id="{5A77B0C9-907B-47EF-B3B2-3884CE026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09850"/>
            <a:ext cx="5191125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LOGIC / RATIONALE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Water services and maternal-health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programmes are within public responsibilities.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Adverse survey movement can justify scrutiny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of reach and reliability.</a:t>
            </a:r>
          </a:p>
        </p:txBody>
      </p:sp>
      <p:sp>
        <p:nvSpPr>
          <p:cNvPr id="9" name="assumptions-body">
            <a:extLst xmlns:a="http://schemas.openxmlformats.org/drawingml/2006/main">
              <a:ext uri="{FF2B5EF4-FFF2-40B4-BE49-F238E27FC236}">
                <a16:creationId xmlns:a16="http://schemas.microsoft.com/office/drawing/2014/main" id="{99981057-AA52-4E57-8879-79BF7A79E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62400"/>
            <a:ext cx="5191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ASSUMPTIONS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Sampling variation does not fully explain the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point estimates; definitions and survey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composition remain comparable.</a:t>
            </a:r>
          </a:p>
        </p:txBody>
      </p:sp>
      <p:sp>
        <p:nvSpPr>
          <p:cNvPr id="10" name="limit-label">
            <a:extLst xmlns:a="http://schemas.openxmlformats.org/drawingml/2006/main">
              <a:ext uri="{FF2B5EF4-FFF2-40B4-BE49-F238E27FC236}">
                <a16:creationId xmlns:a16="http://schemas.microsoft.com/office/drawing/2014/main" id="{107A2590-3F76-40EE-85CD-3B932BD1E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LIMIT / COUNTER-FINDING</a:t>
            </a:r>
          </a:p>
        </p:txBody>
      </p:sp>
      <p:sp>
        <p:nvSpPr>
          <p:cNvPr id="11" name="case-limit">
            <a:extLst xmlns:a="http://schemas.openxmlformats.org/drawingml/2006/main">
              <a:ext uri="{FF2B5EF4-FFF2-40B4-BE49-F238E27FC236}">
                <a16:creationId xmlns:a16="http://schemas.microsoft.com/office/drawing/2014/main" id="{67EABA37-3359-449B-A466-FB58D0B7B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53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Improved source does not mean continuous or contamination-free water. Survey changes do not prove negligence or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identify individual excluded households.</a:t>
            </a:r>
          </a:p>
        </p:txBody>
      </p:sp>
      <p:sp>
        <p:nvSpPr>
          <p:cNvPr id="12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370AD57C-BBD4-4CAD-9A29-D26D220CC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76975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3 readable core records · below four-source threshold · Sources: P07, S266, S268, S272</a:t>
            </a:r>
          </a:p>
        </p:txBody>
      </p:sp>
    </p:spTree>
    <p:extLst>
      <p:ext uri="{BB962C8B-B14F-4D97-AF65-F5344CB8AC3E}">
        <p14:creationId xmlns:p14="http://schemas.microsoft.com/office/powerpoint/2010/main" val="120398177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44940169-D88B-4F29-B1B8-AA8C82901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G07 · HEALTH STATISTICS · 2019–21 VERSUS 2023–24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397A9BC-4C3D-4B79-A73E-01B06D838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53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defRPr>
            </a:pPr>
            <a:r>
              <a: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rPr>
              <a:t>Child nutrition and vaccination improvements</a:t>
            </a:r>
          </a:p>
        </p:txBody>
      </p:sp>
      <p:sp>
        <p:nvSpPr>
          <p:cNvPr id="3" name="page-footer">
            <a:extLst xmlns:a="http://schemas.openxmlformats.org/drawingml/2006/main">
              <a:ext uri="{FF2B5EF4-FFF2-40B4-BE49-F238E27FC236}">
                <a16:creationId xmlns:a16="http://schemas.microsoft.com/office/drawing/2014/main" id="{9046A49F-63F8-44C0-B02D-A0F9C27F9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GOA GOVERNANCE  /  14 OCTOBER 2026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7216DBC-877E-4E5F-B17F-F3C43FE25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514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14</a:t>
            </a:r>
          </a:p>
        </p:txBody>
      </p:sp>
      <p:sp>
        <p:nvSpPr>
          <p:cNvPr id="5" name="fact-body">
            <a:extLst xmlns:a="http://schemas.openxmlformats.org/drawingml/2006/main">
              <a:ext uri="{FF2B5EF4-FFF2-40B4-BE49-F238E27FC236}">
                <a16:creationId xmlns:a16="http://schemas.microsoft.com/office/drawing/2014/main" id="{7AF39914-F45D-4118-8DCC-CE8971D49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5191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FACT / G07-C1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NFHS-6 reports stunting at 19.4%, versus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25.8%; wasting at 16.3%, versus 19.1%; full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vaccination at 93.8%, versus 81.9%.</a:t>
            </a:r>
          </a:p>
        </p:txBody>
      </p:sp>
      <p:sp>
        <p:nvSpPr>
          <p:cNvPr id="6" name="effect-body">
            <a:extLst xmlns:a="http://schemas.openxmlformats.org/drawingml/2006/main">
              <a:ext uri="{FF2B5EF4-FFF2-40B4-BE49-F238E27FC236}">
                <a16:creationId xmlns:a16="http://schemas.microsoft.com/office/drawing/2014/main" id="{D233B3CB-1EE6-4A3E-87A9-2462BBFEF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67025"/>
            <a:ext cx="5191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EFFECT ON GOA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The point estimates indicate improved child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outcomes and coverage, although substantial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nutritional needs remain.</a:t>
            </a:r>
          </a:p>
        </p:txBody>
      </p:sp>
      <p:sp>
        <p:nvSpPr>
          <p:cNvPr id="7" name="implication-body">
            <a:extLst xmlns:a="http://schemas.openxmlformats.org/drawingml/2006/main">
              <a:ext uri="{FF2B5EF4-FFF2-40B4-BE49-F238E27FC236}">
                <a16:creationId xmlns:a16="http://schemas.microsoft.com/office/drawing/2014/main" id="{E0C8B293-64CD-48A4-B1B0-A4D8FD780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71650"/>
            <a:ext cx="51911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INCUMBENT IMPLICATION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Provides evidence that limits a blanket claim of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declining public health.</a:t>
            </a:r>
          </a:p>
        </p:txBody>
      </p:sp>
      <p:sp>
        <p:nvSpPr>
          <p:cNvPr id="8" name="logic-body">
            <a:extLst xmlns:a="http://schemas.openxmlformats.org/drawingml/2006/main">
              <a:ext uri="{FF2B5EF4-FFF2-40B4-BE49-F238E27FC236}">
                <a16:creationId xmlns:a16="http://schemas.microsoft.com/office/drawing/2014/main" id="{64CCBED1-8258-47ED-AC7F-B79E80BDE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09850"/>
            <a:ext cx="5191125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LOGIC / RATIONALE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An accountability assessment must recognise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favourable outcomes. Improvements can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strengthen service credibility, without proving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that one government programme caused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them.</a:t>
            </a:r>
          </a:p>
        </p:txBody>
      </p:sp>
      <p:sp>
        <p:nvSpPr>
          <p:cNvPr id="9" name="assumptions-body">
            <a:extLst xmlns:a="http://schemas.openxmlformats.org/drawingml/2006/main">
              <a:ext uri="{FF2B5EF4-FFF2-40B4-BE49-F238E27FC236}">
                <a16:creationId xmlns:a16="http://schemas.microsoft.com/office/drawing/2014/main" id="{9734E396-D3C8-47DF-ADAC-557EE2D32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19575"/>
            <a:ext cx="5191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ASSUMPTIONS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Comparable definitions and adequate survey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precision; improved outcomes may reflect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several public and household factors.</a:t>
            </a:r>
          </a:p>
        </p:txBody>
      </p:sp>
      <p:sp>
        <p:nvSpPr>
          <p:cNvPr id="10" name="limit-label">
            <a:extLst xmlns:a="http://schemas.openxmlformats.org/drawingml/2006/main">
              <a:ext uri="{FF2B5EF4-FFF2-40B4-BE49-F238E27FC236}">
                <a16:creationId xmlns:a16="http://schemas.microsoft.com/office/drawing/2014/main" id="{48F16B84-1861-459A-8126-7DAD6C269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LIMIT / COUNTER-FINDING</a:t>
            </a:r>
          </a:p>
        </p:txBody>
      </p:sp>
      <p:sp>
        <p:nvSpPr>
          <p:cNvPr id="11" name="case-limit">
            <a:extLst xmlns:a="http://schemas.openxmlformats.org/drawingml/2006/main">
              <a:ext uri="{FF2B5EF4-FFF2-40B4-BE49-F238E27FC236}">
                <a16:creationId xmlns:a16="http://schemas.microsoft.com/office/drawing/2014/main" id="{BF375767-A517-4B05-BBBA-0EE94BCDA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53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A journal article gives different Goa anthropometric values; the official factsheet takes precedence. Statistical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significance cannot be inferred from point estimates alone.</a:t>
            </a:r>
          </a:p>
        </p:txBody>
      </p:sp>
      <p:sp>
        <p:nvSpPr>
          <p:cNvPr id="12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4DD86862-01F7-4F5B-B821-829B3B425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76975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4 readable core records · shared origins disclosed · Sources: P07, S266, S268, S269, S007</a:t>
            </a:r>
          </a:p>
        </p:txBody>
      </p:sp>
    </p:spTree>
    <p:extLst>
      <p:ext uri="{BB962C8B-B14F-4D97-AF65-F5344CB8AC3E}">
        <p14:creationId xmlns:p14="http://schemas.microsoft.com/office/powerpoint/2010/main" val="16341800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E4083565-328C-4814-874A-282A4FE3A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G08 · HEALTH STATISTICS · NFHS-4 2015–16 TO NFHS-5 2019–21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EC280B8-D116-46FA-9DF7-31EF05A43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53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defRPr>
            </a:pPr>
            <a:r>
              <a: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rPr>
              <a:t>Historical anaemia deterioration</a:t>
            </a:r>
          </a:p>
        </p:txBody>
      </p:sp>
      <p:sp>
        <p:nvSpPr>
          <p:cNvPr id="3" name="page-footer">
            <a:extLst xmlns:a="http://schemas.openxmlformats.org/drawingml/2006/main">
              <a:ext uri="{FF2B5EF4-FFF2-40B4-BE49-F238E27FC236}">
                <a16:creationId xmlns:a16="http://schemas.microsoft.com/office/drawing/2014/main" id="{5F9C39C5-F312-4136-B613-B8A3DB144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GOA GOVERNANCE  /  14 OCTOBER 2026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7A407DE-0DC3-4E50-B622-DCE97876A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514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15</a:t>
            </a:r>
          </a:p>
        </p:txBody>
      </p:sp>
      <p:sp>
        <p:nvSpPr>
          <p:cNvPr id="5" name="fact-body">
            <a:extLst xmlns:a="http://schemas.openxmlformats.org/drawingml/2006/main">
              <a:ext uri="{FF2B5EF4-FFF2-40B4-BE49-F238E27FC236}">
                <a16:creationId xmlns:a16="http://schemas.microsoft.com/office/drawing/2014/main" id="{C1D42476-A5A8-489A-996E-81DDF75FC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51911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FACT / G08-C1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Official NFHS tables report child anaemia at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53.2%, against 48.3% in the previous round.</a:t>
            </a:r>
          </a:p>
        </p:txBody>
      </p:sp>
      <p:sp>
        <p:nvSpPr>
          <p:cNvPr id="6" name="effect-body">
            <a:extLst xmlns:a="http://schemas.openxmlformats.org/drawingml/2006/main">
              <a:ext uri="{FF2B5EF4-FFF2-40B4-BE49-F238E27FC236}">
                <a16:creationId xmlns:a16="http://schemas.microsoft.com/office/drawing/2014/main" id="{C41AC845-800B-4ACB-BB3F-D079F106D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5191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EFFECT ON GOA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Anaemia is an important nutrition concern, but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the comparison spans substantial time before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the requested period.</a:t>
            </a:r>
          </a:p>
        </p:txBody>
      </p:sp>
      <p:sp>
        <p:nvSpPr>
          <p:cNvPr id="7" name="implication-body">
            <a:extLst xmlns:a="http://schemas.openxmlformats.org/drawingml/2006/main">
              <a:ext uri="{FF2B5EF4-FFF2-40B4-BE49-F238E27FC236}">
                <a16:creationId xmlns:a16="http://schemas.microsoft.com/office/drawing/2014/main" id="{00A7A779-0876-4B95-B5CC-5FA5CADBB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71650"/>
            <a:ext cx="51911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INCUMBENT IMPLICATION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Supports scrutiny of nutrition policy, with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limited attribution to the post-2019 incumbent.</a:t>
            </a:r>
          </a:p>
        </p:txBody>
      </p:sp>
      <p:sp>
        <p:nvSpPr>
          <p:cNvPr id="8" name="logic-body">
            <a:extLst xmlns:a="http://schemas.openxmlformats.org/drawingml/2006/main">
              <a:ext uri="{FF2B5EF4-FFF2-40B4-BE49-F238E27FC236}">
                <a16:creationId xmlns:a16="http://schemas.microsoft.com/office/drawing/2014/main" id="{EDEE9BED-8F34-4987-ABCE-1C2FDD400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09850"/>
            <a:ext cx="5191125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LOGIC / RATIONALE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A higher reported burden increases the need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for programme delivery and monitoring. The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observation does not isolate what changed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after the incumbent took office.</a:t>
            </a:r>
          </a:p>
        </p:txBody>
      </p:sp>
      <p:sp>
        <p:nvSpPr>
          <p:cNvPr id="9" name="assumptions-body">
            <a:extLst xmlns:a="http://schemas.openxmlformats.org/drawingml/2006/main">
              <a:ext uri="{FF2B5EF4-FFF2-40B4-BE49-F238E27FC236}">
                <a16:creationId xmlns:a16="http://schemas.microsoft.com/office/drawing/2014/main" id="{1D4FF041-DCCE-4BD3-865D-E5E65E19F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62400"/>
            <a:ext cx="51911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ASSUMPTIONS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Measurement methods are comparable and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sampling uncertainty is considered.</a:t>
            </a:r>
          </a:p>
        </p:txBody>
      </p:sp>
      <p:sp>
        <p:nvSpPr>
          <p:cNvPr id="10" name="limit-label">
            <a:extLst xmlns:a="http://schemas.openxmlformats.org/drawingml/2006/main">
              <a:ext uri="{FF2B5EF4-FFF2-40B4-BE49-F238E27FC236}">
                <a16:creationId xmlns:a16="http://schemas.microsoft.com/office/drawing/2014/main" id="{FFDB50F0-D14D-489C-96A2-ADBF6E2E1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LIMIT / COUNTER-FINDING</a:t>
            </a:r>
          </a:p>
        </p:txBody>
      </p:sp>
      <p:sp>
        <p:nvSpPr>
          <p:cNvPr id="11" name="case-limit">
            <a:extLst xmlns:a="http://schemas.openxmlformats.org/drawingml/2006/main">
              <a:ext uri="{FF2B5EF4-FFF2-40B4-BE49-F238E27FC236}">
                <a16:creationId xmlns:a16="http://schemas.microsoft.com/office/drawing/2014/main" id="{01F192F8-8657-4063-B942-80E824F41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53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A published analysis reports the Goa difference as not statistically significant. Anaemia is absent from the released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NFHS-6 factsheets; no 2023–24 anaemia estimate is supplied here.</a:t>
            </a:r>
          </a:p>
        </p:txBody>
      </p:sp>
      <p:sp>
        <p:nvSpPr>
          <p:cNvPr id="12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90629D9D-2826-4337-806B-073D94071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76975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2 readable core records · below four-source threshold · Sources: S179, S182, S183, S181, S260, S261</a:t>
            </a:r>
          </a:p>
        </p:txBody>
      </p:sp>
    </p:spTree>
    <p:extLst>
      <p:ext uri="{BB962C8B-B14F-4D97-AF65-F5344CB8AC3E}">
        <p14:creationId xmlns:p14="http://schemas.microsoft.com/office/powerpoint/2010/main" val="166628744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B8F080DA-CC97-4449-8DE0-6BCE0B1ED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G09 · EDUCATION · 2025 OBSERVATIONS; RECRUITMENT UPDATE OCTOBER 2026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A2BB8E4-6BEE-4ED8-B6A3-C92C7679B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53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defRPr>
            </a:pPr>
            <a:r>
              <a: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rPr>
              <a:t>Teacher vacancies and temporary staffing</a:t>
            </a:r>
          </a:p>
        </p:txBody>
      </p:sp>
      <p:sp>
        <p:nvSpPr>
          <p:cNvPr id="3" name="page-footer">
            <a:extLst xmlns:a="http://schemas.openxmlformats.org/drawingml/2006/main">
              <a:ext uri="{FF2B5EF4-FFF2-40B4-BE49-F238E27FC236}">
                <a16:creationId xmlns:a16="http://schemas.microsoft.com/office/drawing/2014/main" id="{9B2803F9-0DD6-495B-8289-38A021CC1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GOA GOVERNANCE  /  14 OCTOBER 2026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47476F2-62AF-4BB2-B62B-FE109C4EB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514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16</a:t>
            </a:r>
          </a:p>
        </p:txBody>
      </p:sp>
      <p:sp>
        <p:nvSpPr>
          <p:cNvPr id="5" name="fact-body">
            <a:extLst xmlns:a="http://schemas.openxmlformats.org/drawingml/2006/main">
              <a:ext uri="{FF2B5EF4-FFF2-40B4-BE49-F238E27FC236}">
                <a16:creationId xmlns:a16="http://schemas.microsoft.com/office/drawing/2014/main" id="{1BDEC080-F396-465D-9660-3255C5384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5191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FACT / G09-C1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Reporting on the Samagra Shiksha review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identified more than 800 vacancies across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school levels in 2025.</a:t>
            </a:r>
          </a:p>
        </p:txBody>
      </p:sp>
      <p:sp>
        <p:nvSpPr>
          <p:cNvPr id="6" name="effect-body">
            <a:extLst xmlns:a="http://schemas.openxmlformats.org/drawingml/2006/main">
              <a:ext uri="{FF2B5EF4-FFF2-40B4-BE49-F238E27FC236}">
                <a16:creationId xmlns:a16="http://schemas.microsoft.com/office/drawing/2014/main" id="{B88A5907-DA20-4032-B863-CC1EED69A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67025"/>
            <a:ext cx="5191125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EFFECT ON GOA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Unfilled permanent posts and temporary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deployment can weaken continuity and subject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coverage; vacancies do not always mean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classrooms had no teacher.</a:t>
            </a:r>
          </a:p>
        </p:txBody>
      </p:sp>
      <p:sp>
        <p:nvSpPr>
          <p:cNvPr id="7" name="implication-body">
            <a:extLst xmlns:a="http://schemas.openxmlformats.org/drawingml/2006/main">
              <a:ext uri="{FF2B5EF4-FFF2-40B4-BE49-F238E27FC236}">
                <a16:creationId xmlns:a16="http://schemas.microsoft.com/office/drawing/2014/main" id="{C1A787B3-4DAB-4AA8-9ECB-E162E37E3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71650"/>
            <a:ext cx="51911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INCUMBENT IMPLICATION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Raises a recruitment and institutional-capacity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challenge for the education administration.</a:t>
            </a:r>
          </a:p>
        </p:txBody>
      </p:sp>
      <p:sp>
        <p:nvSpPr>
          <p:cNvPr id="8" name="logic-body">
            <a:extLst xmlns:a="http://schemas.openxmlformats.org/drawingml/2006/main">
              <a:ext uri="{FF2B5EF4-FFF2-40B4-BE49-F238E27FC236}">
                <a16:creationId xmlns:a16="http://schemas.microsoft.com/office/drawing/2014/main" id="{DA0916D1-BA70-43F1-9A17-C0CDB1389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09850"/>
            <a:ext cx="5191125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LOGIC / RATIONALE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Teacher appointment and deployment are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controllable inputs. A vacancy backlog can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undermine confidence that reform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commitments are supported by staff.</a:t>
            </a:r>
          </a:p>
        </p:txBody>
      </p:sp>
      <p:sp>
        <p:nvSpPr>
          <p:cNvPr id="9" name="assumptions-body">
            <a:extLst xmlns:a="http://schemas.openxmlformats.org/drawingml/2006/main">
              <a:ext uri="{FF2B5EF4-FFF2-40B4-BE49-F238E27FC236}">
                <a16:creationId xmlns:a16="http://schemas.microsoft.com/office/drawing/2014/main" id="{94F3D976-A431-4DFC-BBC8-74E1E3352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62400"/>
            <a:ext cx="5191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ASSUMPTIONS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The vacancies concern necessary sanctioned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posts; contractual substitutes may mitigate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teaching gaps.</a:t>
            </a:r>
          </a:p>
        </p:txBody>
      </p:sp>
      <p:sp>
        <p:nvSpPr>
          <p:cNvPr id="10" name="limit-label">
            <a:extLst xmlns:a="http://schemas.openxmlformats.org/drawingml/2006/main">
              <a:ext uri="{FF2B5EF4-FFF2-40B4-BE49-F238E27FC236}">
                <a16:creationId xmlns:a16="http://schemas.microsoft.com/office/drawing/2014/main" id="{4588E3EB-565E-4EF7-B08F-52226A9CB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LIMIT / COUNTER-FINDING</a:t>
            </a:r>
          </a:p>
        </p:txBody>
      </p:sp>
      <p:sp>
        <p:nvSpPr>
          <p:cNvPr id="11" name="case-limit">
            <a:extLst xmlns:a="http://schemas.openxmlformats.org/drawingml/2006/main">
              <a:ext uri="{FF2B5EF4-FFF2-40B4-BE49-F238E27FC236}">
                <a16:creationId xmlns:a16="http://schemas.microsoft.com/office/drawing/2014/main" id="{B4A2668C-9BA6-40A8-8356-6BC221824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53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The separate 838 figure uses another dated record. Do not add those figures. An October 2026 report says 83% of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advertised primary posts were filled, a narrower measure.</a:t>
            </a:r>
          </a:p>
        </p:txBody>
      </p:sp>
      <p:sp>
        <p:nvSpPr>
          <p:cNvPr id="12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8E090F8E-01A4-4B5B-A85D-3BCACEFCB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76975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2 readable core records · below four-source threshold · Sources: S214, S213, S047, S043, S041, S218</a:t>
            </a:r>
          </a:p>
        </p:txBody>
      </p:sp>
    </p:spTree>
    <p:extLst>
      <p:ext uri="{BB962C8B-B14F-4D97-AF65-F5344CB8AC3E}">
        <p14:creationId xmlns:p14="http://schemas.microsoft.com/office/powerpoint/2010/main" val="29964639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DF2D7291-9EA2-41CE-B604-59FA988AE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G10 · EDUCATION · 2026 REPORTING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BC22BCF-53CF-4D04-A035-004ACC186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53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defRPr>
            </a:pPr>
            <a:r>
              <a: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rPr>
              <a:t>School internet reliability</a:t>
            </a:r>
          </a:p>
        </p:txBody>
      </p:sp>
      <p:sp>
        <p:nvSpPr>
          <p:cNvPr id="3" name="page-footer">
            <a:extLst xmlns:a="http://schemas.openxmlformats.org/drawingml/2006/main">
              <a:ext uri="{FF2B5EF4-FFF2-40B4-BE49-F238E27FC236}">
                <a16:creationId xmlns:a16="http://schemas.microsoft.com/office/drawing/2014/main" id="{DD77FE45-1D61-48CC-93CC-805CE9142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GOA GOVERNANCE  /  14 OCTOBER 2026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A58A3FC-D73A-4963-8AD4-757BF3DB3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514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17</a:t>
            </a:r>
          </a:p>
        </p:txBody>
      </p:sp>
      <p:sp>
        <p:nvSpPr>
          <p:cNvPr id="5" name="fact-body">
            <a:extLst xmlns:a="http://schemas.openxmlformats.org/drawingml/2006/main">
              <a:ext uri="{FF2B5EF4-FFF2-40B4-BE49-F238E27FC236}">
                <a16:creationId xmlns:a16="http://schemas.microsoft.com/office/drawing/2014/main" id="{2B88DF3A-42AA-4CF6-960D-404740EE9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5191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FACT / G10-C1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School reporting describes unreliable internet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that limits the use of smart classrooms despite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administrative connectivity records.</a:t>
            </a:r>
          </a:p>
        </p:txBody>
      </p:sp>
      <p:sp>
        <p:nvSpPr>
          <p:cNvPr id="6" name="effect-body">
            <a:extLst xmlns:a="http://schemas.openxmlformats.org/drawingml/2006/main">
              <a:ext uri="{FF2B5EF4-FFF2-40B4-BE49-F238E27FC236}">
                <a16:creationId xmlns:a16="http://schemas.microsoft.com/office/drawing/2014/main" id="{5968ECEE-F0D8-4BFD-8D69-753C23C38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67025"/>
            <a:ext cx="5191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EFFECT ON GOA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Equipment may be underused; teachers lose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lesson time and cannot consistently use online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resources.</a:t>
            </a:r>
          </a:p>
        </p:txBody>
      </p:sp>
      <p:sp>
        <p:nvSpPr>
          <p:cNvPr id="7" name="implication-body">
            <a:extLst xmlns:a="http://schemas.openxmlformats.org/drawingml/2006/main">
              <a:ext uri="{FF2B5EF4-FFF2-40B4-BE49-F238E27FC236}">
                <a16:creationId xmlns:a16="http://schemas.microsoft.com/office/drawing/2014/main" id="{3DA2272F-84CD-4C03-858A-84B8A7281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71650"/>
            <a:ext cx="51911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INCUMBENT IMPLICATION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Challenges the implementation quality of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digital-education commitments.</a:t>
            </a:r>
          </a:p>
        </p:txBody>
      </p:sp>
      <p:sp>
        <p:nvSpPr>
          <p:cNvPr id="8" name="logic-body">
            <a:extLst xmlns:a="http://schemas.openxmlformats.org/drawingml/2006/main">
              <a:ext uri="{FF2B5EF4-FFF2-40B4-BE49-F238E27FC236}">
                <a16:creationId xmlns:a16="http://schemas.microsoft.com/office/drawing/2014/main" id="{5D08E437-26CC-40E5-8ABA-54A37BBA5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09850"/>
            <a:ext cx="5191125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LOGIC / RATIONALE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A recorded connection is an input; usable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bandwidth, power backup and coverage are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the actual service. The difference can expose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monitoring weaknesses.</a:t>
            </a:r>
          </a:p>
        </p:txBody>
      </p:sp>
      <p:sp>
        <p:nvSpPr>
          <p:cNvPr id="9" name="assumptions-body">
            <a:extLst xmlns:a="http://schemas.openxmlformats.org/drawingml/2006/main">
              <a:ext uri="{FF2B5EF4-FFF2-40B4-BE49-F238E27FC236}">
                <a16:creationId xmlns:a16="http://schemas.microsoft.com/office/drawing/2014/main" id="{94D3BA3B-7AF6-4D83-ACE5-5AD9E3608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62400"/>
            <a:ext cx="5191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ASSUMPTIONS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The described schools are accurately reported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and the issues persisted beyond isolated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outages.</a:t>
            </a:r>
          </a:p>
        </p:txBody>
      </p:sp>
      <p:sp>
        <p:nvSpPr>
          <p:cNvPr id="10" name="limit-label">
            <a:extLst xmlns:a="http://schemas.openxmlformats.org/drawingml/2006/main">
              <a:ext uri="{FF2B5EF4-FFF2-40B4-BE49-F238E27FC236}">
                <a16:creationId xmlns:a16="http://schemas.microsoft.com/office/drawing/2014/main" id="{D3CB62E9-3C5E-490F-A9A5-353FEFD96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LIMIT / COUNTER-FINDING</a:t>
            </a:r>
          </a:p>
        </p:txBody>
      </p:sp>
      <p:sp>
        <p:nvSpPr>
          <p:cNvPr id="11" name="case-limit">
            <a:extLst xmlns:a="http://schemas.openxmlformats.org/drawingml/2006/main">
              <a:ext uri="{FF2B5EF4-FFF2-40B4-BE49-F238E27FC236}">
                <a16:creationId xmlns:a16="http://schemas.microsoft.com/office/drawing/2014/main" id="{7EDC44F1-998D-4884-AA57-A04738A70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53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This is not a representative statewide reliability survey and does not prove that all connected schools lack service.</a:t>
            </a:r>
          </a:p>
        </p:txBody>
      </p:sp>
      <p:sp>
        <p:nvSpPr>
          <p:cNvPr id="12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4AC70F98-2419-48AE-851A-4D9EAE0DB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76975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1 readable core records · below four-source threshold · Sources: S053, P08</a:t>
            </a:r>
          </a:p>
        </p:txBody>
      </p:sp>
    </p:spTree>
    <p:extLst>
      <p:ext uri="{BB962C8B-B14F-4D97-AF65-F5344CB8AC3E}">
        <p14:creationId xmlns:p14="http://schemas.microsoft.com/office/powerpoint/2010/main" val="149600937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EEC5F8BB-6590-47C6-A3BB-06CE04106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G11 · EDUCATION · 2020–21 ONWARD; AUGUST 2025 REPORTING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F289926-D949-4F39-AE57-1868FE2F9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53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defRPr>
            </a:pPr>
            <a:r>
              <a: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rPr>
              <a:t>Government-school closures and mergers</a:t>
            </a:r>
          </a:p>
        </p:txBody>
      </p:sp>
      <p:sp>
        <p:nvSpPr>
          <p:cNvPr id="3" name="page-footer">
            <a:extLst xmlns:a="http://schemas.openxmlformats.org/drawingml/2006/main">
              <a:ext uri="{FF2B5EF4-FFF2-40B4-BE49-F238E27FC236}">
                <a16:creationId xmlns:a16="http://schemas.microsoft.com/office/drawing/2014/main" id="{14F238B2-B4CF-49EA-86E0-1F35E65D5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GOA GOVERNANCE  /  14 OCTOBER 2026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A4BC94B-6886-470E-A590-DFEE07A18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514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18</a:t>
            </a:r>
          </a:p>
        </p:txBody>
      </p:sp>
      <p:sp>
        <p:nvSpPr>
          <p:cNvPr id="5" name="fact-body">
            <a:extLst xmlns:a="http://schemas.openxmlformats.org/drawingml/2006/main">
              <a:ext uri="{FF2B5EF4-FFF2-40B4-BE49-F238E27FC236}">
                <a16:creationId xmlns:a16="http://schemas.microsoft.com/office/drawing/2014/main" id="{F3AFBF59-913F-4333-9C10-BCA35291D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5191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FACT / G11-C1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A report based on education records describes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67 government primary schools closed or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merged over five years.</a:t>
            </a:r>
          </a:p>
        </p:txBody>
      </p:sp>
      <p:sp>
        <p:nvSpPr>
          <p:cNvPr id="6" name="effect-body">
            <a:extLst xmlns:a="http://schemas.openxmlformats.org/drawingml/2006/main">
              <a:ext uri="{FF2B5EF4-FFF2-40B4-BE49-F238E27FC236}">
                <a16:creationId xmlns:a16="http://schemas.microsoft.com/office/drawing/2014/main" id="{BED8E43A-5504-472F-BADB-0F575A82F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67025"/>
            <a:ext cx="5191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EFFECT ON GOA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Changes can alter travel and local access. Low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enrolment, demography and parental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preference complicate the interpretation.</a:t>
            </a:r>
          </a:p>
        </p:txBody>
      </p:sp>
      <p:sp>
        <p:nvSpPr>
          <p:cNvPr id="7" name="implication-body">
            <a:extLst xmlns:a="http://schemas.openxmlformats.org/drawingml/2006/main">
              <a:ext uri="{FF2B5EF4-FFF2-40B4-BE49-F238E27FC236}">
                <a16:creationId xmlns:a16="http://schemas.microsoft.com/office/drawing/2014/main" id="{7542FA49-3F4E-4E99-B4EA-6174FE827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71650"/>
            <a:ext cx="5191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INCUMBENT IMPLICATION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Creates a question about confidence in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government schools and safeguards during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consolidation.</a:t>
            </a:r>
          </a:p>
        </p:txBody>
      </p:sp>
      <p:sp>
        <p:nvSpPr>
          <p:cNvPr id="8" name="logic-body">
            <a:extLst xmlns:a="http://schemas.openxmlformats.org/drawingml/2006/main">
              <a:ext uri="{FF2B5EF4-FFF2-40B4-BE49-F238E27FC236}">
                <a16:creationId xmlns:a16="http://schemas.microsoft.com/office/drawing/2014/main" id="{C13369C5-C7E2-43F8-A50F-1E94A43D5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67025"/>
            <a:ext cx="5191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LOGIC / RATIONALE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Persistent enrolment loss can signal perceived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quality or access issues; consolidation can also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be a reasonable response to small cohorts.</a:t>
            </a:r>
          </a:p>
        </p:txBody>
      </p:sp>
      <p:sp>
        <p:nvSpPr>
          <p:cNvPr id="9" name="assumptions-body">
            <a:extLst xmlns:a="http://schemas.openxmlformats.org/drawingml/2006/main">
              <a:ext uri="{FF2B5EF4-FFF2-40B4-BE49-F238E27FC236}">
                <a16:creationId xmlns:a16="http://schemas.microsoft.com/office/drawing/2014/main" id="{396F7758-F5DD-46AE-8FBE-292BE61BB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62400"/>
            <a:ext cx="5191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ASSUMPTIONS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Affected pupils faced changed access or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services; this requires school-specific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examination.</a:t>
            </a:r>
          </a:p>
        </p:txBody>
      </p:sp>
      <p:sp>
        <p:nvSpPr>
          <p:cNvPr id="10" name="limit-label">
            <a:extLst xmlns:a="http://schemas.openxmlformats.org/drawingml/2006/main">
              <a:ext uri="{FF2B5EF4-FFF2-40B4-BE49-F238E27FC236}">
                <a16:creationId xmlns:a16="http://schemas.microsoft.com/office/drawing/2014/main" id="{A75F7914-7FA0-4001-B961-DA4D4BFBE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LIMIT / COUNTER-FINDING</a:t>
            </a:r>
          </a:p>
        </p:txBody>
      </p:sp>
      <p:sp>
        <p:nvSpPr>
          <p:cNvPr id="11" name="case-limit">
            <a:extLst xmlns:a="http://schemas.openxmlformats.org/drawingml/2006/main">
              <a:ext uri="{FF2B5EF4-FFF2-40B4-BE49-F238E27FC236}">
                <a16:creationId xmlns:a16="http://schemas.microsoft.com/office/drawing/2014/main" id="{AC295CA4-2553-45A9-BF7B-05399E94D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53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The number is not independently checked against four readable sources. It is not proof that 67 communities lost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education altogether.</a:t>
            </a:r>
          </a:p>
        </p:txBody>
      </p:sp>
      <p:sp>
        <p:nvSpPr>
          <p:cNvPr id="12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373CD5C6-7F39-4E23-AD4F-029BAAE0E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76975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1 readable core records · below four-source threshold · Sources: S213, S045</a:t>
            </a:r>
          </a:p>
        </p:txBody>
      </p:sp>
    </p:spTree>
    <p:extLst>
      <p:ext uri="{BB962C8B-B14F-4D97-AF65-F5344CB8AC3E}">
        <p14:creationId xmlns:p14="http://schemas.microsoft.com/office/powerpoint/2010/main" val="173786428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91068B7D-8B07-416A-8663-E03B6897E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G12 · EDUCATION · 2022–23 TO REPORTED 2025–26 ASSESSMENTS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1BD2CEE-BF09-4E64-A6B9-193BD118E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53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defRPr>
            </a:pPr>
            <a:r>
              <a: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rPr>
              <a:t>Education indices improve while learning remains weak</a:t>
            </a:r>
          </a:p>
        </p:txBody>
      </p:sp>
      <p:sp>
        <p:nvSpPr>
          <p:cNvPr id="3" name="page-footer">
            <a:extLst xmlns:a="http://schemas.openxmlformats.org/drawingml/2006/main">
              <a:ext uri="{FF2B5EF4-FFF2-40B4-BE49-F238E27FC236}">
                <a16:creationId xmlns:a16="http://schemas.microsoft.com/office/drawing/2014/main" id="{6D348284-7768-441A-9EA8-FB1D282E7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GOA GOVERNANCE  /  14 OCTOBER 2026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211A628-BBC6-48D9-80AB-BC25E819B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514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19</a:t>
            </a:r>
          </a:p>
        </p:txBody>
      </p:sp>
      <p:sp>
        <p:nvSpPr>
          <p:cNvPr id="5" name="fact-body">
            <a:extLst xmlns:a="http://schemas.openxmlformats.org/drawingml/2006/main">
              <a:ext uri="{FF2B5EF4-FFF2-40B4-BE49-F238E27FC236}">
                <a16:creationId xmlns:a16="http://schemas.microsoft.com/office/drawing/2014/main" id="{C19EBD0B-19D2-46FC-864A-3DE9979DB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5191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FACT / G12-C1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Published reporting records a rise in Goa’s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overall school performance score; learning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outcomes remain a weaker domain.</a:t>
            </a:r>
          </a:p>
        </p:txBody>
      </p:sp>
      <p:sp>
        <p:nvSpPr>
          <p:cNvPr id="6" name="effect-body">
            <a:extLst xmlns:a="http://schemas.openxmlformats.org/drawingml/2006/main">
              <a:ext uri="{FF2B5EF4-FFF2-40B4-BE49-F238E27FC236}">
                <a16:creationId xmlns:a16="http://schemas.microsoft.com/office/drawing/2014/main" id="{5F6DA156-082A-40C5-A9AB-509C6A6D5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67025"/>
            <a:ext cx="51911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EFFECT ON GOA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Better administrative indicators can coexist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with unfinished classroom improvements.</a:t>
            </a:r>
          </a:p>
        </p:txBody>
      </p:sp>
      <p:sp>
        <p:nvSpPr>
          <p:cNvPr id="7" name="implication-body">
            <a:extLst xmlns:a="http://schemas.openxmlformats.org/drawingml/2006/main">
              <a:ext uri="{FF2B5EF4-FFF2-40B4-BE49-F238E27FC236}">
                <a16:creationId xmlns:a16="http://schemas.microsoft.com/office/drawing/2014/main" id="{4B09C0E1-22A5-42B0-BDBC-0C5890D49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71650"/>
            <a:ext cx="5191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INCUMBENT IMPLICATION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Offers the incumbent a favourable overall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trend while preserving an accountability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question about learning.</a:t>
            </a:r>
          </a:p>
        </p:txBody>
      </p:sp>
      <p:sp>
        <p:nvSpPr>
          <p:cNvPr id="8" name="logic-body">
            <a:extLst xmlns:a="http://schemas.openxmlformats.org/drawingml/2006/main">
              <a:ext uri="{FF2B5EF4-FFF2-40B4-BE49-F238E27FC236}">
                <a16:creationId xmlns:a16="http://schemas.microsoft.com/office/drawing/2014/main" id="{2B19C86E-EB61-418E-846E-2A7BAF889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67025"/>
            <a:ext cx="5191125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LOGIC / RATIONALE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An index aggregates different domains. An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improved total does not eliminate low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attainment, and weak attainment does not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establish that the total declined.</a:t>
            </a:r>
          </a:p>
        </p:txBody>
      </p:sp>
      <p:sp>
        <p:nvSpPr>
          <p:cNvPr id="9" name="assumptions-body">
            <a:extLst xmlns:a="http://schemas.openxmlformats.org/drawingml/2006/main">
              <a:ext uri="{FF2B5EF4-FFF2-40B4-BE49-F238E27FC236}">
                <a16:creationId xmlns:a16="http://schemas.microsoft.com/office/drawing/2014/main" id="{B429CA17-0866-4CB9-AE57-968836234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19575"/>
            <a:ext cx="51911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ASSUMPTIONS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Readers distinguish state and district indices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and assessment versions.</a:t>
            </a:r>
          </a:p>
        </p:txBody>
      </p:sp>
      <p:sp>
        <p:nvSpPr>
          <p:cNvPr id="10" name="limit-label">
            <a:extLst xmlns:a="http://schemas.openxmlformats.org/drawingml/2006/main">
              <a:ext uri="{FF2B5EF4-FFF2-40B4-BE49-F238E27FC236}">
                <a16:creationId xmlns:a16="http://schemas.microsoft.com/office/drawing/2014/main" id="{3BAE22A3-CF63-4C98-88FB-854401748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LIMIT / COUNTER-FINDING</a:t>
            </a:r>
          </a:p>
        </p:txBody>
      </p:sp>
      <p:sp>
        <p:nvSpPr>
          <p:cNvPr id="11" name="case-limit">
            <a:extLst xmlns:a="http://schemas.openxmlformats.org/drawingml/2006/main">
              <a:ext uri="{FF2B5EF4-FFF2-40B4-BE49-F238E27FC236}">
                <a16:creationId xmlns:a16="http://schemas.microsoft.com/office/drawing/2014/main" id="{48BAFF5F-3E63-4705-9AA7-179E2E21A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53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One article mixes district scores out of 600 with state scores out of 1,000. Newer primary PDFs could not be fully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retrieved; precise latest totals remain below the verification threshold.</a:t>
            </a:r>
          </a:p>
        </p:txBody>
      </p:sp>
      <p:sp>
        <p:nvSpPr>
          <p:cNvPr id="12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11F852CD-D4D8-4031-A646-7FF83258F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76975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3 readable core records · below four-source threshold · Sources: S008, S188, S198, S202, S280, S283, S285</a:t>
            </a:r>
          </a:p>
        </p:txBody>
      </p:sp>
    </p:spTree>
    <p:extLst>
      <p:ext uri="{BB962C8B-B14F-4D97-AF65-F5344CB8AC3E}">
        <p14:creationId xmlns:p14="http://schemas.microsoft.com/office/powerpoint/2010/main" val="135388437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389E81D5-B425-4603-AE5F-FB6D6841A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G13 · HIGHER EDUCATION AND LAND · 2020–JANUARY 2021; CONTINUING FOLLOWUP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D6907A1-C0D6-48CB-879F-A217604B9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53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defRPr>
            </a:pPr>
            <a:r>
              <a: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rPr>
              <a:t>IIT campus dispute at Melauli</a:t>
            </a:r>
          </a:p>
        </p:txBody>
      </p:sp>
      <p:sp>
        <p:nvSpPr>
          <p:cNvPr id="3" name="page-footer">
            <a:extLst xmlns:a="http://schemas.openxmlformats.org/drawingml/2006/main">
              <a:ext uri="{FF2B5EF4-FFF2-40B4-BE49-F238E27FC236}">
                <a16:creationId xmlns:a16="http://schemas.microsoft.com/office/drawing/2014/main" id="{2C1721E4-5AFA-4C4D-83F4-F736BC11E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GOA GOVERNANCE  /  14 OCTOBER 2026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7D41CFB-2580-43C8-8258-CEA52DF63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514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20</a:t>
            </a:r>
          </a:p>
        </p:txBody>
      </p:sp>
      <p:sp>
        <p:nvSpPr>
          <p:cNvPr id="5" name="fact-body">
            <a:extLst xmlns:a="http://schemas.openxmlformats.org/drawingml/2006/main">
              <a:ext uri="{FF2B5EF4-FFF2-40B4-BE49-F238E27FC236}">
                <a16:creationId xmlns:a16="http://schemas.microsoft.com/office/drawing/2014/main" id="{5A6C38EA-0240-4D5D-B758-E70EE1413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5191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FACT / G13-C1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The government withdrew the proposed IIT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campus location at Melauli after sustained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protests and clashes during land demarcation.</a:t>
            </a:r>
          </a:p>
        </p:txBody>
      </p:sp>
      <p:sp>
        <p:nvSpPr>
          <p:cNvPr id="6" name="effect-body">
            <a:extLst xmlns:a="http://schemas.openxmlformats.org/drawingml/2006/main">
              <a:ext uri="{FF2B5EF4-FFF2-40B4-BE49-F238E27FC236}">
                <a16:creationId xmlns:a16="http://schemas.microsoft.com/office/drawing/2014/main" id="{7085971B-0595-4D94-BDB6-FD1922DB7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67025"/>
            <a:ext cx="5191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EFFECT ON GOA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Villagers faced land-use uncertainty and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policing disputes; withdrawal delayed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identification of a permanent campus location.</a:t>
            </a:r>
          </a:p>
        </p:txBody>
      </p:sp>
      <p:sp>
        <p:nvSpPr>
          <p:cNvPr id="7" name="implication-body">
            <a:extLst xmlns:a="http://schemas.openxmlformats.org/drawingml/2006/main">
              <a:ext uri="{FF2B5EF4-FFF2-40B4-BE49-F238E27FC236}">
                <a16:creationId xmlns:a16="http://schemas.microsoft.com/office/drawing/2014/main" id="{E584F8B7-1904-4AF9-832A-E607051B6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71650"/>
            <a:ext cx="5191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INCUMBENT IMPLICATION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Challenges consultation and site-selection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competence, while the withdrawal shows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responsiveness.</a:t>
            </a:r>
          </a:p>
        </p:txBody>
      </p:sp>
      <p:sp>
        <p:nvSpPr>
          <p:cNvPr id="8" name="logic-body">
            <a:extLst xmlns:a="http://schemas.openxmlformats.org/drawingml/2006/main">
              <a:ext uri="{FF2B5EF4-FFF2-40B4-BE49-F238E27FC236}">
                <a16:creationId xmlns:a16="http://schemas.microsoft.com/office/drawing/2014/main" id="{1DB9DC5F-4712-40A3-82AB-D70DD77AD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67025"/>
            <a:ext cx="5191125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LOGIC / RATIONALE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A project that depends on local land consent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and suitable classification can lose time and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legitimacy if those concerns are not resolved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before implementation.</a:t>
            </a:r>
          </a:p>
        </p:txBody>
      </p:sp>
      <p:sp>
        <p:nvSpPr>
          <p:cNvPr id="9" name="assumptions-body">
            <a:extLst xmlns:a="http://schemas.openxmlformats.org/drawingml/2006/main">
              <a:ext uri="{FF2B5EF4-FFF2-40B4-BE49-F238E27FC236}">
                <a16:creationId xmlns:a16="http://schemas.microsoft.com/office/drawing/2014/main" id="{4EE7592C-BF4D-4933-854E-F7888D43B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19575"/>
            <a:ext cx="5191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ASSUMPTIONS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Earlier consultation could have reduced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conflict; not every objection could necessarily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have been resolved.</a:t>
            </a:r>
          </a:p>
        </p:txBody>
      </p:sp>
      <p:sp>
        <p:nvSpPr>
          <p:cNvPr id="10" name="limit-label">
            <a:extLst xmlns:a="http://schemas.openxmlformats.org/drawingml/2006/main">
              <a:ext uri="{FF2B5EF4-FFF2-40B4-BE49-F238E27FC236}">
                <a16:creationId xmlns:a16="http://schemas.microsoft.com/office/drawing/2014/main" id="{2863D327-1EFD-4C67-BF36-97AC7428B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LIMIT / COUNTER-FINDING</a:t>
            </a:r>
          </a:p>
        </p:txBody>
      </p:sp>
      <p:sp>
        <p:nvSpPr>
          <p:cNvPr id="11" name="case-limit">
            <a:extLst xmlns:a="http://schemas.openxmlformats.org/drawingml/2006/main">
              <a:ext uri="{FF2B5EF4-FFF2-40B4-BE49-F238E27FC236}">
                <a16:creationId xmlns:a16="http://schemas.microsoft.com/office/drawing/2014/main" id="{D71CF8D4-3182-4FBA-A1E8-C249246BC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53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Withdrawal concerned the location, not abolition of IIT Goa. Land-return and criminal-case outcomes need separate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current records.</a:t>
            </a:r>
          </a:p>
        </p:txBody>
      </p:sp>
      <p:sp>
        <p:nvSpPr>
          <p:cNvPr id="12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00BD070F-B48B-4953-ABE9-BCB1A6633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76975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4 readable core records · shared origins disclosed · Sources: S511, S512, S515, S516, S513, S519, S525</a:t>
            </a:r>
          </a:p>
        </p:txBody>
      </p:sp>
    </p:spTree>
    <p:extLst>
      <p:ext uri="{BB962C8B-B14F-4D97-AF65-F5344CB8AC3E}">
        <p14:creationId xmlns:p14="http://schemas.microsoft.com/office/powerpoint/2010/main" val="28229537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2DA7C566-03B3-44F8-8EE9-179EB8848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G14 · ECONOMY · 2019–2024 AND LATER TRANSITION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8FC84EE-BCA4-4FF5-BFA9-963A7F381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53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defRPr>
            </a:pPr>
            <a:r>
              <a: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rPr>
              <a:t>Mining interruption and partial restart</a:t>
            </a:r>
          </a:p>
        </p:txBody>
      </p:sp>
      <p:sp>
        <p:nvSpPr>
          <p:cNvPr id="3" name="page-footer">
            <a:extLst xmlns:a="http://schemas.openxmlformats.org/drawingml/2006/main">
              <a:ext uri="{FF2B5EF4-FFF2-40B4-BE49-F238E27FC236}">
                <a16:creationId xmlns:a16="http://schemas.microsoft.com/office/drawing/2014/main" id="{45E0F549-3008-447E-A7DE-AACA02623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GOA GOVERNANCE  /  14 OCTOBER 2026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D7A244C-CF39-4FA3-827A-C9082E06F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514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21</a:t>
            </a:r>
          </a:p>
        </p:txBody>
      </p:sp>
      <p:sp>
        <p:nvSpPr>
          <p:cNvPr id="5" name="fact-body">
            <a:extLst xmlns:a="http://schemas.openxmlformats.org/drawingml/2006/main">
              <a:ext uri="{FF2B5EF4-FFF2-40B4-BE49-F238E27FC236}">
                <a16:creationId xmlns:a16="http://schemas.microsoft.com/office/drawing/2014/main" id="{E280C362-D685-4E1B-B0C3-4F1D7AFF3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5191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FACT / G14-C1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Fresh extraction resumed at the Bicholim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auctioned block in April 2024 after the 2018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shutdown.</a:t>
            </a:r>
          </a:p>
        </p:txBody>
      </p:sp>
      <p:sp>
        <p:nvSpPr>
          <p:cNvPr id="6" name="effect-body">
            <a:extLst xmlns:a="http://schemas.openxmlformats.org/drawingml/2006/main">
              <a:ext uri="{FF2B5EF4-FFF2-40B4-BE49-F238E27FC236}">
                <a16:creationId xmlns:a16="http://schemas.microsoft.com/office/drawing/2014/main" id="{FFA2CFEF-D966-4733-BC5B-579D37ECE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67025"/>
            <a:ext cx="5191125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EFFECT ON GOA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Mining-dependent workers and transport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businesses experienced prolonged uncertainty;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resumed extraction does not demonstrate full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livelihood restoration.</a:t>
            </a:r>
          </a:p>
        </p:txBody>
      </p:sp>
      <p:sp>
        <p:nvSpPr>
          <p:cNvPr id="7" name="implication-body">
            <a:extLst xmlns:a="http://schemas.openxmlformats.org/drawingml/2006/main">
              <a:ext uri="{FF2B5EF4-FFF2-40B4-BE49-F238E27FC236}">
                <a16:creationId xmlns:a16="http://schemas.microsoft.com/office/drawing/2014/main" id="{83F63125-F5AA-446B-A5C4-0CE5FC887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71650"/>
            <a:ext cx="5191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INCUMBENT IMPLICATION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Combines an accountability question about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transition support with a creditable restart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milestone.</a:t>
            </a:r>
          </a:p>
        </p:txBody>
      </p:sp>
      <p:sp>
        <p:nvSpPr>
          <p:cNvPr id="8" name="logic-body">
            <a:extLst xmlns:a="http://schemas.openxmlformats.org/drawingml/2006/main">
              <a:ext uri="{FF2B5EF4-FFF2-40B4-BE49-F238E27FC236}">
                <a16:creationId xmlns:a16="http://schemas.microsoft.com/office/drawing/2014/main" id="{7A7ED378-3683-4795-AA8C-50C416F2D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67025"/>
            <a:ext cx="5191125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LOGIC / RATIONALE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The government is assessed on lawful restart,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relief and diversification. A court-imposed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legacy shutdown cannot be assigned wholly to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a leader who took office later.</a:t>
            </a:r>
          </a:p>
        </p:txBody>
      </p:sp>
      <p:sp>
        <p:nvSpPr>
          <p:cNvPr id="9" name="assumptions-body">
            <a:extLst xmlns:a="http://schemas.openxmlformats.org/drawingml/2006/main">
              <a:ext uri="{FF2B5EF4-FFF2-40B4-BE49-F238E27FC236}">
                <a16:creationId xmlns:a16="http://schemas.microsoft.com/office/drawing/2014/main" id="{AEDC4F22-282A-45BA-9601-442A5FC03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19575"/>
            <a:ext cx="5191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ASSUMPTIONS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Affected livelihoods remained dependent on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mining and alternative opportunities were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limited.</a:t>
            </a:r>
          </a:p>
        </p:txBody>
      </p:sp>
      <p:sp>
        <p:nvSpPr>
          <p:cNvPr id="10" name="limit-label">
            <a:extLst xmlns:a="http://schemas.openxmlformats.org/drawingml/2006/main">
              <a:ext uri="{FF2B5EF4-FFF2-40B4-BE49-F238E27FC236}">
                <a16:creationId xmlns:a16="http://schemas.microsoft.com/office/drawing/2014/main" id="{15A9279A-6D59-4BFA-B2E3-4D5EEF3F1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LIMIT / COUNTER-FINDING</a:t>
            </a:r>
          </a:p>
        </p:txBody>
      </p:sp>
      <p:sp>
        <p:nvSpPr>
          <p:cNvPr id="11" name="case-limit">
            <a:extLst xmlns:a="http://schemas.openxmlformats.org/drawingml/2006/main">
              <a:ext uri="{FF2B5EF4-FFF2-40B4-BE49-F238E27FC236}">
                <a16:creationId xmlns:a16="http://schemas.microsoft.com/office/drawing/2014/main" id="{30A45FEE-D602-41E3-998A-2BD9DC571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53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Jobs promised, operations commenced and households re-employed are different measures. No aggregate loss or full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employment-recovery estimate is asserted.</a:t>
            </a:r>
          </a:p>
        </p:txBody>
      </p:sp>
      <p:sp>
        <p:nvSpPr>
          <p:cNvPr id="12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46C07C45-D6A0-40D4-9A1C-02C9D6ED9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76975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2 readable core records · below four-source threshold · Sources: P08, S025, S027, S028, S031, S035, S040</a:t>
            </a:r>
          </a:p>
        </p:txBody>
      </p:sp>
    </p:spTree>
    <p:extLst>
      <p:ext uri="{BB962C8B-B14F-4D97-AF65-F5344CB8AC3E}">
        <p14:creationId xmlns:p14="http://schemas.microsoft.com/office/powerpoint/2010/main" val="94248420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36480869-3148-4F23-9956-A372FD8F1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G15 · ECONOMY · PLFS 2019–20 TO 2023–24; LATEST SERIES CAVEAT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4F95142-C505-4C8F-B01A-B954530DA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53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defRPr>
            </a:pPr>
            <a:r>
              <a: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rPr>
              <a:t>Persistent unemployment despite improvement</a:t>
            </a:r>
          </a:p>
        </p:txBody>
      </p:sp>
      <p:sp>
        <p:nvSpPr>
          <p:cNvPr id="3" name="page-footer">
            <a:extLst xmlns:a="http://schemas.openxmlformats.org/drawingml/2006/main">
              <a:ext uri="{FF2B5EF4-FFF2-40B4-BE49-F238E27FC236}">
                <a16:creationId xmlns:a16="http://schemas.microsoft.com/office/drawing/2014/main" id="{2F5D4C23-EA0D-4488-998F-B06CF51F9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GOA GOVERNANCE  /  14 OCTOBER 2026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CF906AC-AA18-4EC2-ABD1-C77B6A9F4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514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22</a:t>
            </a:r>
          </a:p>
        </p:txBody>
      </p:sp>
      <p:sp>
        <p:nvSpPr>
          <p:cNvPr id="5" name="fact-body">
            <a:extLst xmlns:a="http://schemas.openxmlformats.org/drawingml/2006/main">
              <a:ext uri="{FF2B5EF4-FFF2-40B4-BE49-F238E27FC236}">
                <a16:creationId xmlns:a16="http://schemas.microsoft.com/office/drawing/2014/main" id="{92D33DEF-8EBD-4BEF-AAB6-FF1448C7F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5191125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FACT / G15-C1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PLFS-based sources put all-age usual-status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unemployment at 8.5% in 2023–24, below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12.0% in 2021–22 but above the national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figure cited in the same analysis.</a:t>
            </a:r>
          </a:p>
        </p:txBody>
      </p:sp>
      <p:sp>
        <p:nvSpPr>
          <p:cNvPr id="6" name="effect-body">
            <a:extLst xmlns:a="http://schemas.openxmlformats.org/drawingml/2006/main">
              <a:ext uri="{FF2B5EF4-FFF2-40B4-BE49-F238E27FC236}">
                <a16:creationId xmlns:a16="http://schemas.microsoft.com/office/drawing/2014/main" id="{7DD622FA-8658-4A3A-876E-19DCD5C11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51911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EFFECT ON GOA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Job access remains an economic concern even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while the rate falls.</a:t>
            </a:r>
          </a:p>
        </p:txBody>
      </p:sp>
      <p:sp>
        <p:nvSpPr>
          <p:cNvPr id="7" name="implication-body">
            <a:extLst xmlns:a="http://schemas.openxmlformats.org/drawingml/2006/main">
              <a:ext uri="{FF2B5EF4-FFF2-40B4-BE49-F238E27FC236}">
                <a16:creationId xmlns:a16="http://schemas.microsoft.com/office/drawing/2014/main" id="{D2D67533-F730-48C1-8BD0-4B7E8B5C8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71650"/>
            <a:ext cx="5191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INCUMBENT IMPLICATION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Tests the incumbent’s employment record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without supporting a claim of uninterrupted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deterioration.</a:t>
            </a:r>
          </a:p>
        </p:txBody>
      </p:sp>
      <p:sp>
        <p:nvSpPr>
          <p:cNvPr id="8" name="logic-body">
            <a:extLst xmlns:a="http://schemas.openxmlformats.org/drawingml/2006/main">
              <a:ext uri="{FF2B5EF4-FFF2-40B4-BE49-F238E27FC236}">
                <a16:creationId xmlns:a16="http://schemas.microsoft.com/office/drawing/2014/main" id="{17879CF1-DF54-4E24-B62C-C40119D8B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67025"/>
            <a:ext cx="5191125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LOGIC / RATIONALE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An elevated rate can weaken confidence in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economic opportunity; a declining rate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weakens a narrative that conditions worsened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every year.</a:t>
            </a:r>
          </a:p>
        </p:txBody>
      </p:sp>
      <p:sp>
        <p:nvSpPr>
          <p:cNvPr id="9" name="assumptions-body">
            <a:extLst xmlns:a="http://schemas.openxmlformats.org/drawingml/2006/main">
              <a:ext uri="{FF2B5EF4-FFF2-40B4-BE49-F238E27FC236}">
                <a16:creationId xmlns:a16="http://schemas.microsoft.com/office/drawing/2014/main" id="{49481646-0D21-4E69-86B1-15CD92B85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19575"/>
            <a:ext cx="51911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ASSUMPTIONS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Usual-status definitions, denominators and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survey periods are matched.</a:t>
            </a:r>
          </a:p>
        </p:txBody>
      </p:sp>
      <p:sp>
        <p:nvSpPr>
          <p:cNvPr id="10" name="limit-label">
            <a:extLst xmlns:a="http://schemas.openxmlformats.org/drawingml/2006/main">
              <a:ext uri="{FF2B5EF4-FFF2-40B4-BE49-F238E27FC236}">
                <a16:creationId xmlns:a16="http://schemas.microsoft.com/office/drawing/2014/main" id="{2C37B325-F573-4DCD-8DF4-09BB401A2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LIMIT / COUNTER-FINDING</a:t>
            </a:r>
          </a:p>
        </p:txBody>
      </p:sp>
      <p:sp>
        <p:nvSpPr>
          <p:cNvPr id="11" name="case-limit">
            <a:extLst xmlns:a="http://schemas.openxmlformats.org/drawingml/2006/main">
              <a:ext uri="{FF2B5EF4-FFF2-40B4-BE49-F238E27FC236}">
                <a16:creationId xmlns:a16="http://schemas.microsoft.com/office/drawing/2014/main" id="{0A100492-E921-4038-98E2-1E31E671C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53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New calendar-year PLFS data must not be spliced into the old July–June series without checking redesign. Registered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jobseekers are not unemployment counts.</a:t>
            </a:r>
          </a:p>
        </p:txBody>
      </p:sp>
      <p:sp>
        <p:nvSpPr>
          <p:cNvPr id="12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4FCDD29B-FD22-44A3-A6D0-1766B4C91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76975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3 readable core records · below four-source threshold · Sources: P08, S009, S161, S345, S224, S350</a:t>
            </a:r>
          </a:p>
        </p:txBody>
      </p:sp>
    </p:spTree>
    <p:extLst>
      <p:ext uri="{BB962C8B-B14F-4D97-AF65-F5344CB8AC3E}">
        <p14:creationId xmlns:p14="http://schemas.microsoft.com/office/powerpoint/2010/main" val="62340738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633B0D41-C32F-40D1-8B5E-EFEA53F83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G16 · PUBLIC FINANCE · ACCOUNTS FOR 2023–24; REPORT AUGUST 2025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3F6A05D-2208-4190-A5A2-01F875FE4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53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defRPr>
            </a:pPr>
            <a:r>
              <a: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rPr>
              <a:t>Debt exposure and fiscal limits</a:t>
            </a:r>
          </a:p>
        </p:txBody>
      </p:sp>
      <p:sp>
        <p:nvSpPr>
          <p:cNvPr id="3" name="page-footer">
            <a:extLst xmlns:a="http://schemas.openxmlformats.org/drawingml/2006/main">
              <a:ext uri="{FF2B5EF4-FFF2-40B4-BE49-F238E27FC236}">
                <a16:creationId xmlns:a16="http://schemas.microsoft.com/office/drawing/2014/main" id="{A0D67F5C-8C0B-469D-89B8-17BC21EF2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GOA GOVERNANCE  /  14 OCTOBER 2026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309DDAE0-DC1B-4513-9DFA-7ED311123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514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23</a:t>
            </a:r>
          </a:p>
        </p:txBody>
      </p:sp>
      <p:sp>
        <p:nvSpPr>
          <p:cNvPr id="5" name="fact-body">
            <a:extLst xmlns:a="http://schemas.openxmlformats.org/drawingml/2006/main">
              <a:ext uri="{FF2B5EF4-FFF2-40B4-BE49-F238E27FC236}">
                <a16:creationId xmlns:a16="http://schemas.microsoft.com/office/drawing/2014/main" id="{3DD2D413-50CD-4DAD-8F29-7CC411F1C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5191125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FACT / G16-C1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CAG identified approximately Rs 706 crore of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off-budget liabilities and an adjusted debt ratio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of 29.93%, above the stated 25% statutory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ceiling.</a:t>
            </a:r>
          </a:p>
        </p:txBody>
      </p:sp>
      <p:sp>
        <p:nvSpPr>
          <p:cNvPr id="6" name="effect-body">
            <a:extLst xmlns:a="http://schemas.openxmlformats.org/drawingml/2006/main">
              <a:ext uri="{FF2B5EF4-FFF2-40B4-BE49-F238E27FC236}">
                <a16:creationId xmlns:a16="http://schemas.microsoft.com/office/drawing/2014/main" id="{2CB5A7E1-86F1-4654-B762-9A47DB091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5191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EFFECT ON GOA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Debt service can constrain future spending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flexibility. The report does not establish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insolvency.</a:t>
            </a:r>
          </a:p>
        </p:txBody>
      </p:sp>
      <p:sp>
        <p:nvSpPr>
          <p:cNvPr id="7" name="implication-body">
            <a:extLst xmlns:a="http://schemas.openxmlformats.org/drawingml/2006/main">
              <a:ext uri="{FF2B5EF4-FFF2-40B4-BE49-F238E27FC236}">
                <a16:creationId xmlns:a16="http://schemas.microsoft.com/office/drawing/2014/main" id="{16D289CA-20EA-4D03-BF85-2987AFDB1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71650"/>
            <a:ext cx="51911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INCUMBENT IMPLICATION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Creates a fiscal-discipline accountability issue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for the finance administration.</a:t>
            </a:r>
          </a:p>
        </p:txBody>
      </p:sp>
      <p:sp>
        <p:nvSpPr>
          <p:cNvPr id="8" name="logic-body">
            <a:extLst xmlns:a="http://schemas.openxmlformats.org/drawingml/2006/main">
              <a:ext uri="{FF2B5EF4-FFF2-40B4-BE49-F238E27FC236}">
                <a16:creationId xmlns:a16="http://schemas.microsoft.com/office/drawing/2014/main" id="{78A27A21-EE5C-43C2-8E1B-A4A171AC9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09850"/>
            <a:ext cx="5191125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LOGIC / RATIONALE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Borrowing outside headline accounts obscures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obligations; a breached statutory ratio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warrants explanation even if annual deficit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targets are met.</a:t>
            </a:r>
          </a:p>
        </p:txBody>
      </p:sp>
      <p:sp>
        <p:nvSpPr>
          <p:cNvPr id="9" name="assumptions-body">
            <a:extLst xmlns:a="http://schemas.openxmlformats.org/drawingml/2006/main">
              <a:ext uri="{FF2B5EF4-FFF2-40B4-BE49-F238E27FC236}">
                <a16:creationId xmlns:a16="http://schemas.microsoft.com/office/drawing/2014/main" id="{74F362D6-A8A1-4976-976C-41DE60A63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62400"/>
            <a:ext cx="51911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ASSUMPTIONS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The audit classification and applicable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fiscal-law treatment are used consistently.</a:t>
            </a:r>
          </a:p>
        </p:txBody>
      </p:sp>
      <p:sp>
        <p:nvSpPr>
          <p:cNvPr id="10" name="limit-label">
            <a:extLst xmlns:a="http://schemas.openxmlformats.org/drawingml/2006/main">
              <a:ext uri="{FF2B5EF4-FFF2-40B4-BE49-F238E27FC236}">
                <a16:creationId xmlns:a16="http://schemas.microsoft.com/office/drawing/2014/main" id="{98433CE8-CAD8-4E58-BE8D-BB31AD911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LIMIT / COUNTER-FINDING</a:t>
            </a:r>
          </a:p>
        </p:txBody>
      </p:sp>
      <p:sp>
        <p:nvSpPr>
          <p:cNvPr id="11" name="case-limit">
            <a:extLst xmlns:a="http://schemas.openxmlformats.org/drawingml/2006/main">
              <a:ext uri="{FF2B5EF4-FFF2-40B4-BE49-F238E27FC236}">
                <a16:creationId xmlns:a16="http://schemas.microsoft.com/office/drawing/2014/main" id="{F61E1085-57FE-4DF5-966F-23C1B0DB1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53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The debt ratio excludes specified GST-compensation loans. Dividing the headline debt total by GSDP without those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adjustments gives a different ratio.</a:t>
            </a:r>
          </a:p>
        </p:txBody>
      </p:sp>
      <p:sp>
        <p:nvSpPr>
          <p:cNvPr id="12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42C2FA2D-D764-47F2-9666-C081200EA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76975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4 readable core records · shared origins disclosed · Sources: P02, S005, S676, S677, S678, S187, S189</a:t>
            </a:r>
          </a:p>
        </p:txBody>
      </p:sp>
    </p:spTree>
    <p:extLst>
      <p:ext uri="{BB962C8B-B14F-4D97-AF65-F5344CB8AC3E}">
        <p14:creationId xmlns:p14="http://schemas.microsoft.com/office/powerpoint/2010/main" val="173355134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F81D6D20-0F97-4638-B57E-F41B1BBF3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G17 · PUBLIC FINANCE · MARCH 2024 POSITION; HISTORICAL BACKLOG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6BE6D0C-C202-4939-B8EF-08203A0E7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53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defRPr>
            </a:pPr>
            <a:r>
              <a: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rPr>
              <a:t>Budget utilisation and financial reporting</a:t>
            </a:r>
          </a:p>
        </p:txBody>
      </p:sp>
      <p:sp>
        <p:nvSpPr>
          <p:cNvPr id="3" name="page-footer">
            <a:extLst xmlns:a="http://schemas.openxmlformats.org/drawingml/2006/main">
              <a:ext uri="{FF2B5EF4-FFF2-40B4-BE49-F238E27FC236}">
                <a16:creationId xmlns:a16="http://schemas.microsoft.com/office/drawing/2014/main" id="{122AB5B6-80B1-4E0E-9AC8-A47B45C39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GOA GOVERNANCE  /  14 OCTOBER 2026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2FA7C22-0C18-472F-8875-6400517B4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514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24</a:t>
            </a:r>
          </a:p>
        </p:txBody>
      </p:sp>
      <p:sp>
        <p:nvSpPr>
          <p:cNvPr id="5" name="fact-body">
            <a:extLst xmlns:a="http://schemas.openxmlformats.org/drawingml/2006/main">
              <a:ext uri="{FF2B5EF4-FFF2-40B4-BE49-F238E27FC236}">
                <a16:creationId xmlns:a16="http://schemas.microsoft.com/office/drawing/2014/main" id="{E20FE1D4-79D4-4CC2-B285-9C41D147F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5191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FACT / G17-C1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CAG reported pending utilisation certificates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and unregularised excess expenditure from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earlier years.</a:t>
            </a:r>
          </a:p>
        </p:txBody>
      </p:sp>
      <p:sp>
        <p:nvSpPr>
          <p:cNvPr id="6" name="effect-body">
            <a:extLst xmlns:a="http://schemas.openxmlformats.org/drawingml/2006/main">
              <a:ext uri="{FF2B5EF4-FFF2-40B4-BE49-F238E27FC236}">
                <a16:creationId xmlns:a16="http://schemas.microsoft.com/office/drawing/2014/main" id="{64F95723-EDE0-48CD-9504-2FC955AE5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67025"/>
            <a:ext cx="5191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EFFECT ON GOA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Unresolved accounts weaken assurance that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spending achieved its stated purpose and that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legislative control operated effectively.</a:t>
            </a:r>
          </a:p>
        </p:txBody>
      </p:sp>
      <p:sp>
        <p:nvSpPr>
          <p:cNvPr id="7" name="implication-body">
            <a:extLst xmlns:a="http://schemas.openxmlformats.org/drawingml/2006/main">
              <a:ext uri="{FF2B5EF4-FFF2-40B4-BE49-F238E27FC236}">
                <a16:creationId xmlns:a16="http://schemas.microsoft.com/office/drawing/2014/main" id="{A914BA0D-ED7F-4E0D-B0FA-A7DBFC9DC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71650"/>
            <a:ext cx="51911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INCUMBENT IMPLICATION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Raises a transparency and follow-through issue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for the incumbent.</a:t>
            </a:r>
          </a:p>
        </p:txBody>
      </p:sp>
      <p:sp>
        <p:nvSpPr>
          <p:cNvPr id="8" name="logic-body">
            <a:extLst xmlns:a="http://schemas.openxmlformats.org/drawingml/2006/main">
              <a:ext uri="{FF2B5EF4-FFF2-40B4-BE49-F238E27FC236}">
                <a16:creationId xmlns:a16="http://schemas.microsoft.com/office/drawing/2014/main" id="{E222D50D-4189-4ADE-9496-88A14BA0E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09850"/>
            <a:ext cx="5191125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LOGIC / RATIONALE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Current administrations inherit backlogs but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are accountable for resolving them and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preventing additions. An unresolved certificate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indicates missing assurance, not automatic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theft.</a:t>
            </a:r>
          </a:p>
        </p:txBody>
      </p:sp>
      <p:sp>
        <p:nvSpPr>
          <p:cNvPr id="9" name="assumptions-body">
            <a:extLst xmlns:a="http://schemas.openxmlformats.org/drawingml/2006/main">
              <a:ext uri="{FF2B5EF4-FFF2-40B4-BE49-F238E27FC236}">
                <a16:creationId xmlns:a16="http://schemas.microsoft.com/office/drawing/2014/main" id="{086F0C42-43E7-4E10-96AF-E96C4CC12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19575"/>
            <a:ext cx="51911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ASSUMPTIONS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The backlog remained unresolved at the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recorded audit date.</a:t>
            </a:r>
          </a:p>
        </p:txBody>
      </p:sp>
      <p:sp>
        <p:nvSpPr>
          <p:cNvPr id="10" name="limit-label">
            <a:extLst xmlns:a="http://schemas.openxmlformats.org/drawingml/2006/main">
              <a:ext uri="{FF2B5EF4-FFF2-40B4-BE49-F238E27FC236}">
                <a16:creationId xmlns:a16="http://schemas.microsoft.com/office/drawing/2014/main" id="{90BB3BBF-94F8-4AB4-A23F-7128C9690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LIMIT / COUNTER-FINDING</a:t>
            </a:r>
          </a:p>
        </p:txBody>
      </p:sp>
      <p:sp>
        <p:nvSpPr>
          <p:cNvPr id="11" name="case-limit">
            <a:extLst xmlns:a="http://schemas.openxmlformats.org/drawingml/2006/main">
              <a:ext uri="{FF2B5EF4-FFF2-40B4-BE49-F238E27FC236}">
                <a16:creationId xmlns:a16="http://schemas.microsoft.com/office/drawing/2014/main" id="{78999CB6-FACF-4226-8294-2A481820B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53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The excess-expenditure period begins in 2008–09. It cannot all be described as money misused since 2019 or assigned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to the current CM.</a:t>
            </a:r>
          </a:p>
        </p:txBody>
      </p:sp>
      <p:sp>
        <p:nvSpPr>
          <p:cNvPr id="12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5635E247-3E6C-4DD6-BF68-A650BB0EC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76975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2 readable core records · below four-source threshold · Sources: P02, S005, S189</a:t>
            </a:r>
          </a:p>
        </p:txBody>
      </p:sp>
    </p:spTree>
    <p:extLst>
      <p:ext uri="{BB962C8B-B14F-4D97-AF65-F5344CB8AC3E}">
        <p14:creationId xmlns:p14="http://schemas.microsoft.com/office/powerpoint/2010/main" val="69640008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6899079C-E830-4078-88B4-BE19B8836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G18 · SOCIAL PROTECTION · AUDIT OBSERVATIONS THROUGH 2021–22; TABLED 2025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B85798D-B0BD-4AED-95EA-D1720E5C7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53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defRPr>
            </a:pPr>
            <a:r>
              <a: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rPr>
              <a:t>National Social Assistance Programme delivery</a:t>
            </a:r>
          </a:p>
        </p:txBody>
      </p:sp>
      <p:sp>
        <p:nvSpPr>
          <p:cNvPr id="3" name="page-footer">
            <a:extLst xmlns:a="http://schemas.openxmlformats.org/drawingml/2006/main">
              <a:ext uri="{FF2B5EF4-FFF2-40B4-BE49-F238E27FC236}">
                <a16:creationId xmlns:a16="http://schemas.microsoft.com/office/drawing/2014/main" id="{95988722-C192-456D-ADC7-FAC524919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GOA GOVERNANCE  /  14 OCTOBER 2026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369B8FD-B8B9-4690-8736-B35247897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514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25</a:t>
            </a:r>
          </a:p>
        </p:txBody>
      </p:sp>
      <p:sp>
        <p:nvSpPr>
          <p:cNvPr id="5" name="fact-body">
            <a:extLst xmlns:a="http://schemas.openxmlformats.org/drawingml/2006/main">
              <a:ext uri="{FF2B5EF4-FFF2-40B4-BE49-F238E27FC236}">
                <a16:creationId xmlns:a16="http://schemas.microsoft.com/office/drawing/2014/main" id="{570D2A4D-6895-4F8F-878C-748435375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5191125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FACT / G18-C1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CAG’s official summary says further central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NSAP assistance was not received during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2016–17 to 2021–22 because of utilisation and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documentation failures.</a:t>
            </a:r>
          </a:p>
        </p:txBody>
      </p:sp>
      <p:sp>
        <p:nvSpPr>
          <p:cNvPr id="6" name="effect-body">
            <a:extLst xmlns:a="http://schemas.openxmlformats.org/drawingml/2006/main">
              <a:ext uri="{FF2B5EF4-FFF2-40B4-BE49-F238E27FC236}">
                <a16:creationId xmlns:a16="http://schemas.microsoft.com/office/drawing/2014/main" id="{C0767740-0AF5-4AE7-94F5-BEE87E66A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5191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EFFECT ON GOA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Eligible pension beneficiaries faced a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programme-delivery shortfall; other state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pensions must be assessed separately.</a:t>
            </a:r>
          </a:p>
        </p:txBody>
      </p:sp>
      <p:sp>
        <p:nvSpPr>
          <p:cNvPr id="7" name="implication-body">
            <a:extLst xmlns:a="http://schemas.openxmlformats.org/drawingml/2006/main">
              <a:ext uri="{FF2B5EF4-FFF2-40B4-BE49-F238E27FC236}">
                <a16:creationId xmlns:a16="http://schemas.microsoft.com/office/drawing/2014/main" id="{D7DB92F6-296C-47A5-9E33-5C371A3F6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71650"/>
            <a:ext cx="51911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INCUMBENT IMPLICATION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Creates a strong welfare-administration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accountability question.</a:t>
            </a:r>
          </a:p>
        </p:txBody>
      </p:sp>
      <p:sp>
        <p:nvSpPr>
          <p:cNvPr id="8" name="logic-body">
            <a:extLst xmlns:a="http://schemas.openxmlformats.org/drawingml/2006/main">
              <a:ext uri="{FF2B5EF4-FFF2-40B4-BE49-F238E27FC236}">
                <a16:creationId xmlns:a16="http://schemas.microsoft.com/office/drawing/2014/main" id="{0929D4FF-832F-4E6C-A058-2857C6F8D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09850"/>
            <a:ext cx="5191125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LOGIC / RATIONALE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Failure to use funds and submit required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records can interrupt assistance despite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scheme eligibility. This is a documented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implementation mechanism rather than a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generic allegation.</a:t>
            </a:r>
          </a:p>
        </p:txBody>
      </p:sp>
      <p:sp>
        <p:nvSpPr>
          <p:cNvPr id="9" name="assumptions-body">
            <a:extLst xmlns:a="http://schemas.openxmlformats.org/drawingml/2006/main">
              <a:ext uri="{FF2B5EF4-FFF2-40B4-BE49-F238E27FC236}">
                <a16:creationId xmlns:a16="http://schemas.microsoft.com/office/drawing/2014/main" id="{E2E72999-C26D-4DE2-89EE-FC9774ACE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19575"/>
            <a:ext cx="5191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ASSUMPTIONS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The audit correctly identifies administrative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failures as the reason for withheld scheme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funds.</a:t>
            </a:r>
          </a:p>
        </p:txBody>
      </p:sp>
      <p:sp>
        <p:nvSpPr>
          <p:cNvPr id="10" name="limit-label">
            <a:extLst xmlns:a="http://schemas.openxmlformats.org/drawingml/2006/main">
              <a:ext uri="{FF2B5EF4-FFF2-40B4-BE49-F238E27FC236}">
                <a16:creationId xmlns:a16="http://schemas.microsoft.com/office/drawing/2014/main" id="{FDDEE9C8-56D7-4AB3-A0A1-E12819742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LIMIT / COUNTER-FINDING</a:t>
            </a:r>
          </a:p>
        </p:txBody>
      </p:sp>
      <p:sp>
        <p:nvSpPr>
          <p:cNvPr id="11" name="case-limit">
            <a:extLst xmlns:a="http://schemas.openxmlformats.org/drawingml/2006/main">
              <a:ext uri="{FF2B5EF4-FFF2-40B4-BE49-F238E27FC236}">
                <a16:creationId xmlns:a16="http://schemas.microsoft.com/office/drawing/2014/main" id="{D9C570A1-447A-40EE-A123-2CA14651D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53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The observation is specific to NSAP, not proof that all pensions stopped. Its origin predates 2019 and current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beneficiaries require updated records.</a:t>
            </a:r>
          </a:p>
        </p:txBody>
      </p:sp>
      <p:sp>
        <p:nvSpPr>
          <p:cNvPr id="12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D0B7E367-6D90-4DDC-A7BA-6A329AA44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76975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1 readable core records · below four-source threshold · Sources: S005, S204, S205, S209</a:t>
            </a:r>
          </a:p>
        </p:txBody>
      </p:sp>
    </p:spTree>
    <p:extLst>
      <p:ext uri="{BB962C8B-B14F-4D97-AF65-F5344CB8AC3E}">
        <p14:creationId xmlns:p14="http://schemas.microsoft.com/office/powerpoint/2010/main" val="52688118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8B65C5D1-19C3-4EFF-89EC-64CEF9E3D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G19 · LABOUR AND SOCIAL PROTECTION · 2017–22 AUDIT; TABLED AUGUST 2025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A0EDB34-5CE3-4644-9F77-6DF855F76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53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defRPr>
            </a:pPr>
            <a:r>
              <a: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rPr>
              <a:t>Construction-worker welfare failures</a:t>
            </a:r>
          </a:p>
        </p:txBody>
      </p:sp>
      <p:sp>
        <p:nvSpPr>
          <p:cNvPr id="3" name="page-footer">
            <a:extLst xmlns:a="http://schemas.openxmlformats.org/drawingml/2006/main">
              <a:ext uri="{FF2B5EF4-FFF2-40B4-BE49-F238E27FC236}">
                <a16:creationId xmlns:a16="http://schemas.microsoft.com/office/drawing/2014/main" id="{3D5E5326-DA13-4F9E-B14D-1155D62C1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GOA GOVERNANCE  /  14 OCTOBER 2026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E0EC91E-AAE4-44C1-87FC-878CBF3F6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514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26</a:t>
            </a:r>
          </a:p>
        </p:txBody>
      </p:sp>
      <p:sp>
        <p:nvSpPr>
          <p:cNvPr id="5" name="fact-body">
            <a:extLst xmlns:a="http://schemas.openxmlformats.org/drawingml/2006/main">
              <a:ext uri="{FF2B5EF4-FFF2-40B4-BE49-F238E27FC236}">
                <a16:creationId xmlns:a16="http://schemas.microsoft.com/office/drawing/2014/main" id="{6E6E27C0-D1CA-49AD-9F4E-052868BC8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5191125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FACT / G19-C1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CAG found weak establishment registration,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delayed cess processes, inadequate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inspections and missing annual accounts from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2018–19.</a:t>
            </a:r>
          </a:p>
        </p:txBody>
      </p:sp>
      <p:sp>
        <p:nvSpPr>
          <p:cNvPr id="6" name="effect-body">
            <a:extLst xmlns:a="http://schemas.openxmlformats.org/drawingml/2006/main">
              <a:ext uri="{FF2B5EF4-FFF2-40B4-BE49-F238E27FC236}">
                <a16:creationId xmlns:a16="http://schemas.microsoft.com/office/drawing/2014/main" id="{8C4FF99D-F17E-4180-909B-6C614FA80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5191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EFFECT ON GOA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Workers can miss welfare access while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employers operate outside effective safety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oversight.</a:t>
            </a:r>
          </a:p>
        </p:txBody>
      </p:sp>
      <p:sp>
        <p:nvSpPr>
          <p:cNvPr id="7" name="implication-body">
            <a:extLst xmlns:a="http://schemas.openxmlformats.org/drawingml/2006/main">
              <a:ext uri="{FF2B5EF4-FFF2-40B4-BE49-F238E27FC236}">
                <a16:creationId xmlns:a16="http://schemas.microsoft.com/office/drawing/2014/main" id="{D49DD42D-969B-4679-8077-8F1510EA9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71650"/>
            <a:ext cx="51911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INCUMBENT IMPLICATION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Challenges labour protection and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administration of earmarked welfare funds.</a:t>
            </a:r>
          </a:p>
        </p:txBody>
      </p:sp>
      <p:sp>
        <p:nvSpPr>
          <p:cNvPr id="8" name="logic-body">
            <a:extLst xmlns:a="http://schemas.openxmlformats.org/drawingml/2006/main">
              <a:ext uri="{FF2B5EF4-FFF2-40B4-BE49-F238E27FC236}">
                <a16:creationId xmlns:a16="http://schemas.microsoft.com/office/drawing/2014/main" id="{289E62AA-508C-4646-B60C-32AAE3D5E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09850"/>
            <a:ext cx="5191125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LOGIC / RATIONALE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The scheme depends on identifying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establishments, collecting cess and enrolling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workers. Weaknesses at each step reduce the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chance that resources reach eligible people.</a:t>
            </a:r>
          </a:p>
        </p:txBody>
      </p:sp>
      <p:sp>
        <p:nvSpPr>
          <p:cNvPr id="9" name="assumptions-body">
            <a:extLst xmlns:a="http://schemas.openxmlformats.org/drawingml/2006/main">
              <a:ext uri="{FF2B5EF4-FFF2-40B4-BE49-F238E27FC236}">
                <a16:creationId xmlns:a16="http://schemas.microsoft.com/office/drawing/2014/main" id="{BFCD5830-4ECF-4A7E-8DE7-CD61AC805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62400"/>
            <a:ext cx="5191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ASSUMPTIONS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The sampled failures reflect material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implementation problems; individual worker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losses differ.</a:t>
            </a:r>
          </a:p>
        </p:txBody>
      </p:sp>
      <p:sp>
        <p:nvSpPr>
          <p:cNvPr id="10" name="limit-label">
            <a:extLst xmlns:a="http://schemas.openxmlformats.org/drawingml/2006/main">
              <a:ext uri="{FF2B5EF4-FFF2-40B4-BE49-F238E27FC236}">
                <a16:creationId xmlns:a16="http://schemas.microsoft.com/office/drawing/2014/main" id="{265ECE5F-7076-466E-AC04-21631D601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LIMIT / COUNTER-FINDING</a:t>
            </a:r>
          </a:p>
        </p:txBody>
      </p:sp>
      <p:sp>
        <p:nvSpPr>
          <p:cNvPr id="11" name="case-limit">
            <a:extLst xmlns:a="http://schemas.openxmlformats.org/drawingml/2006/main">
              <a:ext uri="{FF2B5EF4-FFF2-40B4-BE49-F238E27FC236}">
                <a16:creationId xmlns:a16="http://schemas.microsoft.com/office/drawing/2014/main" id="{A9959DE5-1C0D-4ABB-A97C-39F3BF6F3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53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Several statutory implementation delays began long before 2019. The audit sample is not a census of every employer.</a:t>
            </a:r>
          </a:p>
        </p:txBody>
      </p:sp>
      <p:sp>
        <p:nvSpPr>
          <p:cNvPr id="12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D6988062-93D6-4F48-BB79-3735F3683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76975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2 readable core records · below four-source threshold · Sources: P04, S005, S691, S536, S544, S556</a:t>
            </a:r>
          </a:p>
        </p:txBody>
      </p:sp>
    </p:spTree>
    <p:extLst>
      <p:ext uri="{BB962C8B-B14F-4D97-AF65-F5344CB8AC3E}">
        <p14:creationId xmlns:p14="http://schemas.microsoft.com/office/powerpoint/2010/main" val="1624262315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824031F1-BD3C-4FAC-B563-9382C3A21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G20 · WASTE AND ENVIRONMENT · 2017–22 AUDIT; TABLED JANUARY 2026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21489D0-B537-413B-8DEA-4164F3CB8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53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defRPr>
            </a:pPr>
            <a:r>
              <a: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rPr>
              <a:t>Solid waste treatment gaps</a:t>
            </a:r>
          </a:p>
        </p:txBody>
      </p:sp>
      <p:sp>
        <p:nvSpPr>
          <p:cNvPr id="3" name="page-footer">
            <a:extLst xmlns:a="http://schemas.openxmlformats.org/drawingml/2006/main">
              <a:ext uri="{FF2B5EF4-FFF2-40B4-BE49-F238E27FC236}">
                <a16:creationId xmlns:a16="http://schemas.microsoft.com/office/drawing/2014/main" id="{CAEB06CA-9C20-4EF2-97DD-A88357C3E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GOA GOVERNANCE  /  14 OCTOBER 2026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DAE635F-CDC7-4DA7-92A9-99F2D6410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514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27</a:t>
            </a:r>
          </a:p>
        </p:txBody>
      </p:sp>
      <p:sp>
        <p:nvSpPr>
          <p:cNvPr id="5" name="fact-body">
            <a:extLst xmlns:a="http://schemas.openxmlformats.org/drawingml/2006/main">
              <a:ext uri="{FF2B5EF4-FFF2-40B4-BE49-F238E27FC236}">
                <a16:creationId xmlns:a16="http://schemas.microsoft.com/office/drawing/2014/main" id="{33501A62-4E68-4C0B-92A4-D31587782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5191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FACT / G20-C1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CAG reported that an average of 78% of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collected waste across the urban bodies was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treated during the audited period.</a:t>
            </a:r>
          </a:p>
        </p:txBody>
      </p:sp>
      <p:sp>
        <p:nvSpPr>
          <p:cNvPr id="6" name="effect-body">
            <a:extLst xmlns:a="http://schemas.openxmlformats.org/drawingml/2006/main">
              <a:ext uri="{FF2B5EF4-FFF2-40B4-BE49-F238E27FC236}">
                <a16:creationId xmlns:a16="http://schemas.microsoft.com/office/drawing/2014/main" id="{37A707AB-C4D3-4229-AC2D-A01E265FC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67025"/>
            <a:ext cx="5191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EFFECT ON GOA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Untreated waste contributes to dumpsites and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raises environmental and public-health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exposure.</a:t>
            </a:r>
          </a:p>
        </p:txBody>
      </p:sp>
      <p:sp>
        <p:nvSpPr>
          <p:cNvPr id="7" name="implication-body">
            <a:extLst xmlns:a="http://schemas.openxmlformats.org/drawingml/2006/main">
              <a:ext uri="{FF2B5EF4-FFF2-40B4-BE49-F238E27FC236}">
                <a16:creationId xmlns:a16="http://schemas.microsoft.com/office/drawing/2014/main" id="{C8EE2F7E-6F0B-4853-A081-0062A3E1A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71650"/>
            <a:ext cx="51911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INCUMBENT IMPLICATION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Creates a municipal-capacity and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state-oversight challenge.</a:t>
            </a:r>
          </a:p>
        </p:txBody>
      </p:sp>
      <p:sp>
        <p:nvSpPr>
          <p:cNvPr id="8" name="logic-body">
            <a:extLst xmlns:a="http://schemas.openxmlformats.org/drawingml/2006/main">
              <a:ext uri="{FF2B5EF4-FFF2-40B4-BE49-F238E27FC236}">
                <a16:creationId xmlns:a16="http://schemas.microsoft.com/office/drawing/2014/main" id="{E9CF6B57-08EF-4B7F-9D15-EC78944A2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09850"/>
            <a:ext cx="5191125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LOGIC / RATIONALE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Collection without processing shifts the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problem to dumps. State policy, municipal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staffing and waste infrastructure must work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together to deliver disposal.</a:t>
            </a:r>
          </a:p>
        </p:txBody>
      </p:sp>
      <p:sp>
        <p:nvSpPr>
          <p:cNvPr id="9" name="assumptions-body">
            <a:extLst xmlns:a="http://schemas.openxmlformats.org/drawingml/2006/main">
              <a:ext uri="{FF2B5EF4-FFF2-40B4-BE49-F238E27FC236}">
                <a16:creationId xmlns:a16="http://schemas.microsoft.com/office/drawing/2014/main" id="{E0A64E12-094B-4D56-890C-0C4D34340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62400"/>
            <a:ext cx="5191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ASSUMPTIONS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The audit’s collection and treatment records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are adequate; uncollected waste is not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included in this denominator.</a:t>
            </a:r>
          </a:p>
        </p:txBody>
      </p:sp>
      <p:sp>
        <p:nvSpPr>
          <p:cNvPr id="10" name="limit-label">
            <a:extLst xmlns:a="http://schemas.openxmlformats.org/drawingml/2006/main">
              <a:ext uri="{FF2B5EF4-FFF2-40B4-BE49-F238E27FC236}">
                <a16:creationId xmlns:a16="http://schemas.microsoft.com/office/drawing/2014/main" id="{39818629-659B-4EC8-BFE1-DDA431477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LIMIT / COUNTER-FINDING</a:t>
            </a:r>
          </a:p>
        </p:txBody>
      </p:sp>
      <p:sp>
        <p:nvSpPr>
          <p:cNvPr id="11" name="case-limit">
            <a:extLst xmlns:a="http://schemas.openxmlformats.org/drawingml/2006/main">
              <a:ext uri="{FF2B5EF4-FFF2-40B4-BE49-F238E27FC236}">
                <a16:creationId xmlns:a16="http://schemas.microsoft.com/office/drawing/2014/main" id="{5F87B537-9228-409D-9A6B-03C95EB3A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53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The figure is not 22% of all waste generated statewide, nor a measurement of 2026 treatment. Sampled planning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findings and statewide reported treatment data have different scope.</a:t>
            </a:r>
          </a:p>
        </p:txBody>
      </p:sp>
      <p:sp>
        <p:nvSpPr>
          <p:cNvPr id="12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3B53C587-BC7A-4E0C-976A-3312BA998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76975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2 readable core records · below four-source threshold · Sources: P03, S006</a:t>
            </a:r>
          </a:p>
        </p:txBody>
      </p:sp>
    </p:spTree>
    <p:extLst>
      <p:ext uri="{BB962C8B-B14F-4D97-AF65-F5344CB8AC3E}">
        <p14:creationId xmlns:p14="http://schemas.microsoft.com/office/powerpoint/2010/main" val="1280716135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93AEB1E1-0027-485F-A57C-1FE1B58ED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G21 · ECONOMY AND PUBLIC ENTERPRISES · 2018–19 TO 2022–23 AUDIT; PUBLISHED 2026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0DD2C4F-263E-4A1F-89EF-DF856CAEC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53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defRPr>
            </a:pPr>
            <a:r>
              <a: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rPr>
              <a:t>EDC loan management weaknesses</a:t>
            </a:r>
          </a:p>
        </p:txBody>
      </p:sp>
      <p:sp>
        <p:nvSpPr>
          <p:cNvPr id="3" name="page-footer">
            <a:extLst xmlns:a="http://schemas.openxmlformats.org/drawingml/2006/main">
              <a:ext uri="{FF2B5EF4-FFF2-40B4-BE49-F238E27FC236}">
                <a16:creationId xmlns:a16="http://schemas.microsoft.com/office/drawing/2014/main" id="{D9398D59-BAC6-471C-BDAB-97FB4F66A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GOA GOVERNANCE  /  14 OCTOBER 2026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FF80A70-75D5-4B73-87F4-96E7529E9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514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28</a:t>
            </a:r>
          </a:p>
        </p:txBody>
      </p:sp>
      <p:sp>
        <p:nvSpPr>
          <p:cNvPr id="5" name="fact-body">
            <a:extLst xmlns:a="http://schemas.openxmlformats.org/drawingml/2006/main">
              <a:ext uri="{FF2B5EF4-FFF2-40B4-BE49-F238E27FC236}">
                <a16:creationId xmlns:a16="http://schemas.microsoft.com/office/drawing/2014/main" id="{DA7A1614-E6E5-46BD-B31D-0A9D30C47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5191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FACT / G21-C1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CAG identified appraisal, security, interest-rate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and recovery weaknesses in EDC loan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management.</a:t>
            </a:r>
          </a:p>
        </p:txBody>
      </p:sp>
      <p:sp>
        <p:nvSpPr>
          <p:cNvPr id="6" name="effect-body">
            <a:extLst xmlns:a="http://schemas.openxmlformats.org/drawingml/2006/main">
              <a:ext uri="{FF2B5EF4-FFF2-40B4-BE49-F238E27FC236}">
                <a16:creationId xmlns:a16="http://schemas.microsoft.com/office/drawing/2014/main" id="{2475AC51-51C1-430A-A21F-0C6FDB9F2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67025"/>
            <a:ext cx="51911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EFFECT ON GOA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Weak lending controls can reduce recoveries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and the effective use of development finance.</a:t>
            </a:r>
          </a:p>
        </p:txBody>
      </p:sp>
      <p:sp>
        <p:nvSpPr>
          <p:cNvPr id="7" name="implication-body">
            <a:extLst xmlns:a="http://schemas.openxmlformats.org/drawingml/2006/main">
              <a:ext uri="{FF2B5EF4-FFF2-40B4-BE49-F238E27FC236}">
                <a16:creationId xmlns:a16="http://schemas.microsoft.com/office/drawing/2014/main" id="{79A4E9A1-C385-49A1-8E0F-626B067EF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71650"/>
            <a:ext cx="51911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INCUMBENT IMPLICATION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Raises stewardship questions concerning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support for businesses and MSMEs.</a:t>
            </a:r>
          </a:p>
        </p:txBody>
      </p:sp>
      <p:sp>
        <p:nvSpPr>
          <p:cNvPr id="8" name="logic-body">
            <a:extLst xmlns:a="http://schemas.openxmlformats.org/drawingml/2006/main">
              <a:ext uri="{FF2B5EF4-FFF2-40B4-BE49-F238E27FC236}">
                <a16:creationId xmlns:a16="http://schemas.microsoft.com/office/drawing/2014/main" id="{0BC8644D-66AD-4120-B985-F0C9DA35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09850"/>
            <a:ext cx="5191125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LOGIC / RATIONALE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Public financial institutions must allocate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capital transparently and recover loans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consistently. Unjustified concessions or weak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recovery can impair available resources.</a:t>
            </a:r>
          </a:p>
        </p:txBody>
      </p:sp>
      <p:sp>
        <p:nvSpPr>
          <p:cNvPr id="9" name="assumptions-body">
            <a:extLst xmlns:a="http://schemas.openxmlformats.org/drawingml/2006/main">
              <a:ext uri="{FF2B5EF4-FFF2-40B4-BE49-F238E27FC236}">
                <a16:creationId xmlns:a16="http://schemas.microsoft.com/office/drawing/2014/main" id="{62BF8957-10E6-4D3E-8315-BDA6CAF54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62400"/>
            <a:ext cx="5191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ASSUMPTIONS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Audit observations remain material after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considering management replies and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recoveries.</a:t>
            </a:r>
          </a:p>
        </p:txBody>
      </p:sp>
      <p:sp>
        <p:nvSpPr>
          <p:cNvPr id="10" name="limit-label">
            <a:extLst xmlns:a="http://schemas.openxmlformats.org/drawingml/2006/main">
              <a:ext uri="{FF2B5EF4-FFF2-40B4-BE49-F238E27FC236}">
                <a16:creationId xmlns:a16="http://schemas.microsoft.com/office/drawing/2014/main" id="{26EBCCBC-5D1B-49C4-9615-0FA42F883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LIMIT / COUNTER-FINDING</a:t>
            </a:r>
          </a:p>
        </p:txBody>
      </p:sp>
      <p:sp>
        <p:nvSpPr>
          <p:cNvPr id="11" name="case-limit">
            <a:extLst xmlns:a="http://schemas.openxmlformats.org/drawingml/2006/main">
              <a:ext uri="{FF2B5EF4-FFF2-40B4-BE49-F238E27FC236}">
                <a16:creationId xmlns:a16="http://schemas.microsoft.com/office/drawing/2014/main" id="{94C347BC-3755-4A1F-AAAD-BA4BC40F7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53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A loan default does not itself prove corruption. Retained profits are not necessarily idle loss; alternative uses require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proper appraisal.</a:t>
            </a:r>
          </a:p>
        </p:txBody>
      </p:sp>
      <p:sp>
        <p:nvSpPr>
          <p:cNvPr id="12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793E060A-72C3-4C46-84CB-BEE3373AA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76975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2 readable core records · below four-source threshold · Sources: P03, S006</a:t>
            </a:r>
          </a:p>
        </p:txBody>
      </p:sp>
    </p:spTree>
    <p:extLst>
      <p:ext uri="{BB962C8B-B14F-4D97-AF65-F5344CB8AC3E}">
        <p14:creationId xmlns:p14="http://schemas.microsoft.com/office/powerpoint/2010/main" val="1143427024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775F369D-1DC9-4A4F-8835-A43444FBB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G22 · PROCUREMENT · TRANSACTIONS AUDITED THROUGH MARCH 2023; REPORT 2026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A9ADF0C-7EA0-4903-9B18-71F74349D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53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defRPr>
            </a:pPr>
            <a:r>
              <a: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rPr>
              <a:t>River Sal desilting procurement</a:t>
            </a:r>
          </a:p>
        </p:txBody>
      </p:sp>
      <p:sp>
        <p:nvSpPr>
          <p:cNvPr id="3" name="page-footer">
            <a:extLst xmlns:a="http://schemas.openxmlformats.org/drawingml/2006/main">
              <a:ext uri="{FF2B5EF4-FFF2-40B4-BE49-F238E27FC236}">
                <a16:creationId xmlns:a16="http://schemas.microsoft.com/office/drawing/2014/main" id="{3A5592CD-2B86-410F-AE8C-2A92EA21C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GOA GOVERNANCE  /  14 OCTOBER 2026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49C218B-5D31-4ACB-876B-08482E440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514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29</a:t>
            </a:r>
          </a:p>
        </p:txBody>
      </p:sp>
      <p:sp>
        <p:nvSpPr>
          <p:cNvPr id="5" name="fact-body">
            <a:extLst xmlns:a="http://schemas.openxmlformats.org/drawingml/2006/main">
              <a:ext uri="{FF2B5EF4-FFF2-40B4-BE49-F238E27FC236}">
                <a16:creationId xmlns:a16="http://schemas.microsoft.com/office/drawing/2014/main" id="{BE1F4248-1C7B-4E16-B982-008E70455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51911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FACT / G22-C1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CAG reported an undue benefit of Rs 3.14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crore in nomination-based desilting contracts.</a:t>
            </a:r>
          </a:p>
        </p:txBody>
      </p:sp>
      <p:sp>
        <p:nvSpPr>
          <p:cNvPr id="6" name="effect-body">
            <a:extLst xmlns:a="http://schemas.openxmlformats.org/drawingml/2006/main">
              <a:ext uri="{FF2B5EF4-FFF2-40B4-BE49-F238E27FC236}">
                <a16:creationId xmlns:a16="http://schemas.microsoft.com/office/drawing/2014/main" id="{8BF35D0D-E915-456A-BBB5-A41491541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51911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EFFECT ON GOA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The finding identifies a specific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value-for-money concern in public works.</a:t>
            </a:r>
          </a:p>
        </p:txBody>
      </p:sp>
      <p:sp>
        <p:nvSpPr>
          <p:cNvPr id="7" name="implication-body">
            <a:extLst xmlns:a="http://schemas.openxmlformats.org/drawingml/2006/main">
              <a:ext uri="{FF2B5EF4-FFF2-40B4-BE49-F238E27FC236}">
                <a16:creationId xmlns:a16="http://schemas.microsoft.com/office/drawing/2014/main" id="{897664A4-B2EA-4A9B-B2FB-DAB3A0C84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71650"/>
            <a:ext cx="51911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INCUMBENT IMPLICATION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Creates a procurement-accountability issue for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responsible departments.</a:t>
            </a:r>
          </a:p>
        </p:txBody>
      </p:sp>
      <p:sp>
        <p:nvSpPr>
          <p:cNvPr id="8" name="logic-body">
            <a:extLst xmlns:a="http://schemas.openxmlformats.org/drawingml/2006/main">
              <a:ext uri="{FF2B5EF4-FFF2-40B4-BE49-F238E27FC236}">
                <a16:creationId xmlns:a16="http://schemas.microsoft.com/office/drawing/2014/main" id="{6D12D8C2-6AF9-4AA3-BF6A-9FC735226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09850"/>
            <a:ext cx="5191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LOGIC / RATIONALE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A quantified audit finding tied to contract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procedure is stronger evidence than an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untested general corruption charge.</a:t>
            </a:r>
          </a:p>
        </p:txBody>
      </p:sp>
      <p:sp>
        <p:nvSpPr>
          <p:cNvPr id="9" name="assumptions-body">
            <a:extLst xmlns:a="http://schemas.openxmlformats.org/drawingml/2006/main">
              <a:ext uri="{FF2B5EF4-FFF2-40B4-BE49-F238E27FC236}">
                <a16:creationId xmlns:a16="http://schemas.microsoft.com/office/drawing/2014/main" id="{65610E00-0BB3-47D2-ADF3-AF0CC83D6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05225"/>
            <a:ext cx="51911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ASSUMPTIONS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The audit’s cost and procedural comparisons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are accepted after departmental response.</a:t>
            </a:r>
          </a:p>
        </p:txBody>
      </p:sp>
      <p:sp>
        <p:nvSpPr>
          <p:cNvPr id="10" name="limit-label">
            <a:extLst xmlns:a="http://schemas.openxmlformats.org/drawingml/2006/main">
              <a:ext uri="{FF2B5EF4-FFF2-40B4-BE49-F238E27FC236}">
                <a16:creationId xmlns:a16="http://schemas.microsoft.com/office/drawing/2014/main" id="{20B3A1DD-E81E-4586-B30A-E49C51A96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LIMIT / COUNTER-FINDING</a:t>
            </a:r>
          </a:p>
        </p:txBody>
      </p:sp>
      <p:sp>
        <p:nvSpPr>
          <p:cNvPr id="11" name="case-limit">
            <a:extLst xmlns:a="http://schemas.openxmlformats.org/drawingml/2006/main">
              <a:ext uri="{FF2B5EF4-FFF2-40B4-BE49-F238E27FC236}">
                <a16:creationId xmlns:a16="http://schemas.microsoft.com/office/drawing/2014/main" id="{6B419FD6-C5E3-4E73-8D45-9BB467886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53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The amount is an audit-assessed undue benefit, not a proven bribe or a criminal conviction. Four independent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corroborating records were not retrieved.</a:t>
            </a:r>
          </a:p>
        </p:txBody>
      </p:sp>
      <p:sp>
        <p:nvSpPr>
          <p:cNvPr id="12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04FC2ED2-2E64-4192-849E-D3491D7AA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76975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2 readable core records · below four-source threshold · Sources: P03, S006</a:t>
            </a:r>
          </a:p>
        </p:txBody>
      </p:sp>
    </p:spTree>
    <p:extLst>
      <p:ext uri="{BB962C8B-B14F-4D97-AF65-F5344CB8AC3E}">
        <p14:creationId xmlns:p14="http://schemas.microsoft.com/office/powerpoint/2010/main" val="762601289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D5FE68DA-662D-44B5-B5C0-239B24E46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G23 · PROCUREMENT AND LAND · AUDIT THROUGH MARCH 2023; TABLED 2026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D3BB7FE-15E6-4873-B3E3-355F0FE75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53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defRPr>
            </a:pPr>
            <a:r>
              <a: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rPr>
              <a:t>Idle expenditure on land acquisition</a:t>
            </a:r>
          </a:p>
        </p:txBody>
      </p:sp>
      <p:sp>
        <p:nvSpPr>
          <p:cNvPr id="3" name="page-footer">
            <a:extLst xmlns:a="http://schemas.openxmlformats.org/drawingml/2006/main">
              <a:ext uri="{FF2B5EF4-FFF2-40B4-BE49-F238E27FC236}">
                <a16:creationId xmlns:a16="http://schemas.microsoft.com/office/drawing/2014/main" id="{C161BB0B-F40A-4755-96EE-194AED1AF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GOA GOVERNANCE  /  14 OCTOBER 2026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C0EADF1-25DE-4E04-96BD-AC2F1CCC8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514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30</a:t>
            </a:r>
          </a:p>
        </p:txBody>
      </p:sp>
      <p:sp>
        <p:nvSpPr>
          <p:cNvPr id="5" name="fact-body">
            <a:extLst xmlns:a="http://schemas.openxmlformats.org/drawingml/2006/main">
              <a:ext uri="{FF2B5EF4-FFF2-40B4-BE49-F238E27FC236}">
                <a16:creationId xmlns:a16="http://schemas.microsoft.com/office/drawing/2014/main" id="{C308FACE-86D0-4CB3-AC16-A2E0F621C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5191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FACT / G23-C1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CAG’s compliance report identified Rs 70.45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crore of idle expenditure on financially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unviable land acquisition.</a:t>
            </a:r>
          </a:p>
        </p:txBody>
      </p:sp>
      <p:sp>
        <p:nvSpPr>
          <p:cNvPr id="6" name="effect-body">
            <a:extLst xmlns:a="http://schemas.openxmlformats.org/drawingml/2006/main">
              <a:ext uri="{FF2B5EF4-FFF2-40B4-BE49-F238E27FC236}">
                <a16:creationId xmlns:a16="http://schemas.microsoft.com/office/drawing/2014/main" id="{A9FC90E2-5A6E-4C3B-8EC1-058FE646C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67025"/>
            <a:ext cx="5191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EFFECT ON GOA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Resources committed to unused land have an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opportunity cost for alternative public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investment.</a:t>
            </a:r>
          </a:p>
        </p:txBody>
      </p:sp>
      <p:sp>
        <p:nvSpPr>
          <p:cNvPr id="7" name="implication-body">
            <a:extLst xmlns:a="http://schemas.openxmlformats.org/drawingml/2006/main">
              <a:ext uri="{FF2B5EF4-FFF2-40B4-BE49-F238E27FC236}">
                <a16:creationId xmlns:a16="http://schemas.microsoft.com/office/drawing/2014/main" id="{67DC9433-BCB1-40CA-8AC3-BA9B01CB6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71650"/>
            <a:ext cx="51911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INCUMBENT IMPLICATION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Raises appraisal and project-planning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questions for the incumbent.</a:t>
            </a:r>
          </a:p>
        </p:txBody>
      </p:sp>
      <p:sp>
        <p:nvSpPr>
          <p:cNvPr id="8" name="logic-body">
            <a:extLst xmlns:a="http://schemas.openxmlformats.org/drawingml/2006/main">
              <a:ext uri="{FF2B5EF4-FFF2-40B4-BE49-F238E27FC236}">
                <a16:creationId xmlns:a16="http://schemas.microsoft.com/office/drawing/2014/main" id="{4D4CCBCA-C6E4-4EFA-8003-C90B5909F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09850"/>
            <a:ext cx="5191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LOGIC / RATIONALE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Acquisition should be supported by feasible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delivery plans. Documented non-utilisation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tests the quality of investment decisions.</a:t>
            </a:r>
          </a:p>
        </p:txBody>
      </p:sp>
      <p:sp>
        <p:nvSpPr>
          <p:cNvPr id="9" name="assumptions-body">
            <a:extLst xmlns:a="http://schemas.openxmlformats.org/drawingml/2006/main">
              <a:ext uri="{FF2B5EF4-FFF2-40B4-BE49-F238E27FC236}">
                <a16:creationId xmlns:a16="http://schemas.microsoft.com/office/drawing/2014/main" id="{F3C5650C-1E03-44F2-8E36-E4F463C5D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05225"/>
            <a:ext cx="5191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ASSUMPTIONS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The land remained unused at the audit’s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assessment date and an alternative use did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not subsequently recover value.</a:t>
            </a:r>
          </a:p>
        </p:txBody>
      </p:sp>
      <p:sp>
        <p:nvSpPr>
          <p:cNvPr id="10" name="limit-label">
            <a:extLst xmlns:a="http://schemas.openxmlformats.org/drawingml/2006/main">
              <a:ext uri="{FF2B5EF4-FFF2-40B4-BE49-F238E27FC236}">
                <a16:creationId xmlns:a16="http://schemas.microsoft.com/office/drawing/2014/main" id="{8A74AD3F-A866-4052-878D-09DB06B9E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LIMIT / COUNTER-FINDING</a:t>
            </a:r>
          </a:p>
        </p:txBody>
      </p:sp>
      <p:sp>
        <p:nvSpPr>
          <p:cNvPr id="11" name="case-limit">
            <a:extLst xmlns:a="http://schemas.openxmlformats.org/drawingml/2006/main">
              <a:ext uri="{FF2B5EF4-FFF2-40B4-BE49-F238E27FC236}">
                <a16:creationId xmlns:a16="http://schemas.microsoft.com/office/drawing/2014/main" id="{C93BA142-F757-49AC-AE18-C9E8F33F2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53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Idle expenditure is not identical to permanent loss: land can retain value. No claim of a Rs 70.45 crore theft is justified.</a:t>
            </a:r>
          </a:p>
        </p:txBody>
      </p:sp>
      <p:sp>
        <p:nvSpPr>
          <p:cNvPr id="12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8F8BABEA-4976-415A-B76A-DE46FCCD5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76975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2 readable core records · below four-source threshold · Sources: P03, S006</a:t>
            </a:r>
          </a:p>
        </p:txBody>
      </p:sp>
    </p:spTree>
    <p:extLst>
      <p:ext uri="{BB962C8B-B14F-4D97-AF65-F5344CB8AC3E}">
        <p14:creationId xmlns:p14="http://schemas.microsoft.com/office/powerpoint/2010/main" val="2116790829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B9BDE9F9-BAFF-4681-95B8-B3E4C9082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G24 · LAND AND PLANNING · MARCH–JULY 2025; LATER STATUS NEEDS CHECKING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BA84853-5CD5-47D4-A66A-60DAF7271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53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defRPr>
            </a:pPr>
            <a:r>
              <a: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rPr>
              <a:t>Section 17(2) planning rules curtailed</a:t>
            </a:r>
          </a:p>
        </p:txBody>
      </p:sp>
      <p:sp>
        <p:nvSpPr>
          <p:cNvPr id="3" name="page-footer">
            <a:extLst xmlns:a="http://schemas.openxmlformats.org/drawingml/2006/main">
              <a:ext uri="{FF2B5EF4-FFF2-40B4-BE49-F238E27FC236}">
                <a16:creationId xmlns:a16="http://schemas.microsoft.com/office/drawing/2014/main" id="{B0947D7E-91A7-4C0B-BB20-499842607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GOA GOVERNANCE  /  14 OCTOBER 2026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3DB06D4-26AC-41B3-AC33-B10107E67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514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31</a:t>
            </a:r>
          </a:p>
        </p:txBody>
      </p:sp>
      <p:sp>
        <p:nvSpPr>
          <p:cNvPr id="5" name="fact-body">
            <a:extLst xmlns:a="http://schemas.openxmlformats.org/drawingml/2006/main">
              <a:ext uri="{FF2B5EF4-FFF2-40B4-BE49-F238E27FC236}">
                <a16:creationId xmlns:a16="http://schemas.microsoft.com/office/drawing/2014/main" id="{A964837D-AA69-41C1-916A-FFC8EC0F7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5191125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FACT / G24-C1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The High Court read down Section 17(2) and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struck down the associated 2023 rules;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reporting records no interim Supreme Court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stay in July 2025.</a:t>
            </a:r>
          </a:p>
        </p:txBody>
      </p:sp>
      <p:sp>
        <p:nvSpPr>
          <p:cNvPr id="6" name="effect-body">
            <a:extLst xmlns:a="http://schemas.openxmlformats.org/drawingml/2006/main">
              <a:ext uri="{FF2B5EF4-FFF2-40B4-BE49-F238E27FC236}">
                <a16:creationId xmlns:a16="http://schemas.microsoft.com/office/drawing/2014/main" id="{4FCA51D8-9974-4A08-A17B-21D6F2527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5191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EFFECT ON GOA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The ruling constrained the challenged zoning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mechanism and generated uncertainty over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individual approvals.</a:t>
            </a:r>
          </a:p>
        </p:txBody>
      </p:sp>
      <p:sp>
        <p:nvSpPr>
          <p:cNvPr id="7" name="implication-body">
            <a:extLst xmlns:a="http://schemas.openxmlformats.org/drawingml/2006/main">
              <a:ext uri="{FF2B5EF4-FFF2-40B4-BE49-F238E27FC236}">
                <a16:creationId xmlns:a16="http://schemas.microsoft.com/office/drawing/2014/main" id="{36AACD35-CCDF-48A9-8D05-4DB34FA2C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71650"/>
            <a:ext cx="51911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INCUMBENT IMPLICATION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Creates a direct legal-design and planning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accountability challenge.</a:t>
            </a:r>
          </a:p>
        </p:txBody>
      </p:sp>
      <p:sp>
        <p:nvSpPr>
          <p:cNvPr id="8" name="logic-body">
            <a:extLst xmlns:a="http://schemas.openxmlformats.org/drawingml/2006/main">
              <a:ext uri="{FF2B5EF4-FFF2-40B4-BE49-F238E27FC236}">
                <a16:creationId xmlns:a16="http://schemas.microsoft.com/office/drawing/2014/main" id="{14139A19-E54B-4E6B-97D4-FD341FA5A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09850"/>
            <a:ext cx="5191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LOGIC / RATIONALE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Judicial rejection of rules on statutory and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constitutional grounds undermines the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administration’s defence of that mechanism.</a:t>
            </a:r>
          </a:p>
        </p:txBody>
      </p:sp>
      <p:sp>
        <p:nvSpPr>
          <p:cNvPr id="9" name="assumptions-body">
            <a:extLst xmlns:a="http://schemas.openxmlformats.org/drawingml/2006/main">
              <a:ext uri="{FF2B5EF4-FFF2-40B4-BE49-F238E27FC236}">
                <a16:creationId xmlns:a16="http://schemas.microsoft.com/office/drawing/2014/main" id="{7A87DEFA-E828-4E32-B0E0-A05883795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05225"/>
            <a:ext cx="51911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ASSUMPTIONS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The operative orders are distinguished from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political descriptions of a land scam.</a:t>
            </a:r>
          </a:p>
        </p:txBody>
      </p:sp>
      <p:sp>
        <p:nvSpPr>
          <p:cNvPr id="10" name="limit-label">
            <a:extLst xmlns:a="http://schemas.openxmlformats.org/drawingml/2006/main">
              <a:ext uri="{FF2B5EF4-FFF2-40B4-BE49-F238E27FC236}">
                <a16:creationId xmlns:a16="http://schemas.microsoft.com/office/drawing/2014/main" id="{E3A45E73-5244-4078-8C46-23D88FFD2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LIMIT / COUNTER-FINDING</a:t>
            </a:r>
          </a:p>
        </p:txBody>
      </p:sp>
      <p:sp>
        <p:nvSpPr>
          <p:cNvPr id="11" name="case-limit">
            <a:extLst xmlns:a="http://schemas.openxmlformats.org/drawingml/2006/main">
              <a:ext uri="{FF2B5EF4-FFF2-40B4-BE49-F238E27FC236}">
                <a16:creationId xmlns:a16="http://schemas.microsoft.com/office/drawing/2014/main" id="{E3B7421A-4E4B-4987-8461-5CC57F2D0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53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The provision was read down, not simply erased. Individual approvals require their own legal assessment; current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appeal status must be checked before acting.</a:t>
            </a:r>
          </a:p>
        </p:txBody>
      </p:sp>
      <p:sp>
        <p:nvSpPr>
          <p:cNvPr id="12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8F6BE949-D9D6-43B1-AE88-29ED5AC7C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76975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5 readable core records · shared origins disclosed · Sources: S114, S119, S109, S110, S106, S116</a:t>
            </a:r>
          </a:p>
        </p:txBody>
      </p:sp>
    </p:spTree>
    <p:extLst>
      <p:ext uri="{BB962C8B-B14F-4D97-AF65-F5344CB8AC3E}">
        <p14:creationId xmlns:p14="http://schemas.microsoft.com/office/powerpoint/2010/main" val="1763789684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47D6B2DB-3381-4AA6-AF6C-673B76F7D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G25 · LAND AND PLANNING · FEBRUARY 2024 ONWARD; MAJOR PROTESTS FEBRUARY 2026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AD05D9B-AF90-4B20-8AC2-357CEDD7C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53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defRPr>
            </a:pPr>
            <a:r>
              <a: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rPr>
              <a:t>Section 39A conversions and protests</a:t>
            </a:r>
          </a:p>
        </p:txBody>
      </p:sp>
      <p:sp>
        <p:nvSpPr>
          <p:cNvPr id="3" name="page-footer">
            <a:extLst xmlns:a="http://schemas.openxmlformats.org/drawingml/2006/main">
              <a:ext uri="{FF2B5EF4-FFF2-40B4-BE49-F238E27FC236}">
                <a16:creationId xmlns:a16="http://schemas.microsoft.com/office/drawing/2014/main" id="{DB26BCAD-381D-48F0-B1B9-AA1ACC0A5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GOA GOVERNANCE  /  14 OCTOBER 2026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D20A8A5-2169-4E2F-944F-C1DA7E385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514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32</a:t>
            </a:r>
          </a:p>
        </p:txBody>
      </p:sp>
      <p:sp>
        <p:nvSpPr>
          <p:cNvPr id="5" name="fact-body">
            <a:extLst xmlns:a="http://schemas.openxmlformats.org/drawingml/2006/main">
              <a:ext uri="{FF2B5EF4-FFF2-40B4-BE49-F238E27FC236}">
                <a16:creationId xmlns:a16="http://schemas.microsoft.com/office/drawing/2014/main" id="{7A6B9D0E-2F3A-4DF8-A405-3DFF71F8E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5191125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FACT / G25-C1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Section 39A introduced a process for changing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land zones; protests in 2026 demanded repeal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and led to suspension of specified St Andre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changes.</a:t>
            </a:r>
          </a:p>
        </p:txBody>
      </p:sp>
      <p:sp>
        <p:nvSpPr>
          <p:cNvPr id="6" name="effect-body">
            <a:extLst xmlns:a="http://schemas.openxmlformats.org/drawingml/2006/main">
              <a:ext uri="{FF2B5EF4-FFF2-40B4-BE49-F238E27FC236}">
                <a16:creationId xmlns:a16="http://schemas.microsoft.com/office/drawing/2014/main" id="{06C004F3-A751-488D-9297-721CFF439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5191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EFFECT ON GOA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Parcel-level changes raise questions about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ecological safeguards, consultation and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infrastructure demand.</a:t>
            </a:r>
          </a:p>
        </p:txBody>
      </p:sp>
      <p:sp>
        <p:nvSpPr>
          <p:cNvPr id="7" name="implication-body">
            <a:extLst xmlns:a="http://schemas.openxmlformats.org/drawingml/2006/main">
              <a:ext uri="{FF2B5EF4-FFF2-40B4-BE49-F238E27FC236}">
                <a16:creationId xmlns:a16="http://schemas.microsoft.com/office/drawing/2014/main" id="{8C2F5DF7-ED61-47CE-89AF-A28BCF117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71650"/>
            <a:ext cx="51911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INCUMBENT IMPLICATION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Creates a land-governance legitimacy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challenge for the incumbent.</a:t>
            </a:r>
          </a:p>
        </p:txBody>
      </p:sp>
      <p:sp>
        <p:nvSpPr>
          <p:cNvPr id="8" name="logic-body">
            <a:extLst xmlns:a="http://schemas.openxmlformats.org/drawingml/2006/main">
              <a:ext uri="{FF2B5EF4-FFF2-40B4-BE49-F238E27FC236}">
                <a16:creationId xmlns:a16="http://schemas.microsoft.com/office/drawing/2014/main" id="{9E9CC04A-079E-492D-88F4-AAC6AA2DC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09850"/>
            <a:ext cx="5191125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LOGIC / RATIONALE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Discretionary conversions can be perceived as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favouring private development when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objections and cumulative effects are not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explained convincingly.</a:t>
            </a:r>
          </a:p>
        </p:txBody>
      </p:sp>
      <p:sp>
        <p:nvSpPr>
          <p:cNvPr id="9" name="assumptions-body">
            <a:extLst xmlns:a="http://schemas.openxmlformats.org/drawingml/2006/main">
              <a:ext uri="{FF2B5EF4-FFF2-40B4-BE49-F238E27FC236}">
                <a16:creationId xmlns:a16="http://schemas.microsoft.com/office/drawing/2014/main" id="{FE711CE1-F183-4B1A-A34C-D48603F53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62400"/>
            <a:ext cx="5191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ASSUMPTIONS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Residents understand and care about the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approval process; specific environmental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damage requires separate evidence.</a:t>
            </a:r>
          </a:p>
        </p:txBody>
      </p:sp>
      <p:sp>
        <p:nvSpPr>
          <p:cNvPr id="10" name="limit-label">
            <a:extLst xmlns:a="http://schemas.openxmlformats.org/drawingml/2006/main">
              <a:ext uri="{FF2B5EF4-FFF2-40B4-BE49-F238E27FC236}">
                <a16:creationId xmlns:a16="http://schemas.microsoft.com/office/drawing/2014/main" id="{F4A6A391-A210-4B3C-9A01-BADDEF0E7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LIMIT / COUNTER-FINDING</a:t>
            </a:r>
          </a:p>
        </p:txBody>
      </p:sp>
      <p:sp>
        <p:nvSpPr>
          <p:cNvPr id="11" name="case-limit">
            <a:extLst xmlns:a="http://schemas.openxmlformats.org/drawingml/2006/main">
              <a:ext uri="{FF2B5EF4-FFF2-40B4-BE49-F238E27FC236}">
                <a16:creationId xmlns:a16="http://schemas.microsoft.com/office/drawing/2014/main" id="{A2D83948-C517-4895-AD16-F2BF207A8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53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Controversy does not prove every conversion illegal. A reported converted-area total is not a measured loss of forest or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completed construction.</a:t>
            </a:r>
          </a:p>
        </p:txBody>
      </p:sp>
      <p:sp>
        <p:nvSpPr>
          <p:cNvPr id="12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88A81F61-C948-4FB8-870A-0134806B0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76975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4 readable core records · shared origins disclosed · Sources: S129, S127, S128, S134, S137, S135, S139</a:t>
            </a:r>
          </a:p>
        </p:txBody>
      </p:sp>
    </p:spTree>
    <p:extLst>
      <p:ext uri="{BB962C8B-B14F-4D97-AF65-F5344CB8AC3E}">
        <p14:creationId xmlns:p14="http://schemas.microsoft.com/office/powerpoint/2010/main" val="1064807248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C5DD0B3C-175B-4D98-AF48-9A5EC6C60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G26 · PROPERTY RIGHTS · SIT FORMED JUNE 2022; CASES AND FOLLOWUP THROUGH 2026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9138CAE-3F38-4B48-A793-30A01A391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53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defRPr>
            </a:pPr>
            <a:r>
              <a: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rPr>
              <a:t>Forged property transfers and land-grab cases</a:t>
            </a:r>
          </a:p>
        </p:txBody>
      </p:sp>
      <p:sp>
        <p:nvSpPr>
          <p:cNvPr id="3" name="page-footer">
            <a:extLst xmlns:a="http://schemas.openxmlformats.org/drawingml/2006/main">
              <a:ext uri="{FF2B5EF4-FFF2-40B4-BE49-F238E27FC236}">
                <a16:creationId xmlns:a16="http://schemas.microsoft.com/office/drawing/2014/main" id="{ED62D92D-41F1-41F2-B2F7-7EEAC1AED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GOA GOVERNANCE  /  14 OCTOBER 2026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159D2F9-A964-456E-AB66-6D17C8559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514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33</a:t>
            </a:r>
          </a:p>
        </p:txBody>
      </p:sp>
      <p:sp>
        <p:nvSpPr>
          <p:cNvPr id="5" name="fact-body">
            <a:extLst xmlns:a="http://schemas.openxmlformats.org/drawingml/2006/main">
              <a:ext uri="{FF2B5EF4-FFF2-40B4-BE49-F238E27FC236}">
                <a16:creationId xmlns:a16="http://schemas.microsoft.com/office/drawing/2014/main" id="{C53A5E28-2039-4AF1-99B2-4A5496598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5191125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FACT / G26-C1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The state constituted a land-grab SIT after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complaints about transfers using forged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records; later reporting describes continuing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investigations and special courts.</a:t>
            </a:r>
          </a:p>
        </p:txBody>
      </p:sp>
      <p:sp>
        <p:nvSpPr>
          <p:cNvPr id="6" name="effect-body">
            <a:extLst xmlns:a="http://schemas.openxmlformats.org/drawingml/2006/main">
              <a:ext uri="{FF2B5EF4-FFF2-40B4-BE49-F238E27FC236}">
                <a16:creationId xmlns:a16="http://schemas.microsoft.com/office/drawing/2014/main" id="{7B278682-25E7-4FA5-89E5-E87DAED6B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51911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EFFECT ON GOA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Owners and buyers faced insecure title,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litigation and delayed remedies.</a:t>
            </a:r>
          </a:p>
        </p:txBody>
      </p:sp>
      <p:sp>
        <p:nvSpPr>
          <p:cNvPr id="7" name="implication-body">
            <a:extLst xmlns:a="http://schemas.openxmlformats.org/drawingml/2006/main">
              <a:ext uri="{FF2B5EF4-FFF2-40B4-BE49-F238E27FC236}">
                <a16:creationId xmlns:a16="http://schemas.microsoft.com/office/drawing/2014/main" id="{6F5DDC87-CEF5-4C73-8FA9-F2B074ADF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71650"/>
            <a:ext cx="51911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INCUMBENT IMPLICATION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Challenges record integrity while allowing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credit for investigations and specialist courts.</a:t>
            </a:r>
          </a:p>
        </p:txBody>
      </p:sp>
      <p:sp>
        <p:nvSpPr>
          <p:cNvPr id="8" name="logic-body">
            <a:extLst xmlns:a="http://schemas.openxmlformats.org/drawingml/2006/main">
              <a:ext uri="{FF2B5EF4-FFF2-40B4-BE49-F238E27FC236}">
                <a16:creationId xmlns:a16="http://schemas.microsoft.com/office/drawing/2014/main" id="{F0309F08-9D2B-4375-93FE-73E2FA85E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09850"/>
            <a:ext cx="5191125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LOGIC / RATIONALE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Fraudulent transfers expose safeguards in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registration, mutation and archives. Remedial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enforcement is relevant but does not erase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earlier vulnerabilities.</a:t>
            </a:r>
          </a:p>
        </p:txBody>
      </p:sp>
      <p:sp>
        <p:nvSpPr>
          <p:cNvPr id="9" name="assumptions-body">
            <a:extLst xmlns:a="http://schemas.openxmlformats.org/drawingml/2006/main">
              <a:ext uri="{FF2B5EF4-FFF2-40B4-BE49-F238E27FC236}">
                <a16:creationId xmlns:a16="http://schemas.microsoft.com/office/drawing/2014/main" id="{BACC83BB-59F0-4BC4-A0B4-B1388E58C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62400"/>
            <a:ext cx="5191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ASSUMPTIONS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Public processes were used or bypassed in the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described transfers; not all complaints involve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an organised racket.</a:t>
            </a:r>
          </a:p>
        </p:txBody>
      </p:sp>
      <p:sp>
        <p:nvSpPr>
          <p:cNvPr id="10" name="limit-label">
            <a:extLst xmlns:a="http://schemas.openxmlformats.org/drawingml/2006/main">
              <a:ext uri="{FF2B5EF4-FFF2-40B4-BE49-F238E27FC236}">
                <a16:creationId xmlns:a16="http://schemas.microsoft.com/office/drawing/2014/main" id="{5DA97515-0DC3-49C7-A73E-525183B35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LIMIT / COUNTER-FINDING</a:t>
            </a:r>
          </a:p>
        </p:txBody>
      </p:sp>
      <p:sp>
        <p:nvSpPr>
          <p:cNvPr id="11" name="case-limit">
            <a:extLst xmlns:a="http://schemas.openxmlformats.org/drawingml/2006/main">
              <a:ext uri="{FF2B5EF4-FFF2-40B4-BE49-F238E27FC236}">
                <a16:creationId xmlns:a16="http://schemas.microsoft.com/office/drawing/2014/main" id="{500776B1-FA73-4B11-9764-82E8E8D53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53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Complaints, FIRs, chargesheets and convictions are different counts. ED attachment is provisional and not restitution to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an owner.</a:t>
            </a:r>
          </a:p>
        </p:txBody>
      </p:sp>
      <p:sp>
        <p:nvSpPr>
          <p:cNvPr id="12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29D5690C-F718-4A69-AD74-DB9066EC2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76975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3 readable core records · below four-source threshold · Sources: S325, S327, S329, S333, S316, S328, S320</a:t>
            </a:r>
          </a:p>
        </p:txBody>
      </p:sp>
    </p:spTree>
    <p:extLst>
      <p:ext uri="{BB962C8B-B14F-4D97-AF65-F5344CB8AC3E}">
        <p14:creationId xmlns:p14="http://schemas.microsoft.com/office/powerpoint/2010/main" val="1848305776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C12C006E-CFFA-438B-ABFA-A859CE123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G27 · PROPERTY RIGHTS AND POLICING · JUNE 2024; SUBSEQUENT PROCEEDINGS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7F487CC-599F-4EAA-BDE6-311B08AF6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53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defRPr>
            </a:pPr>
            <a:r>
              <a: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rPr>
              <a:t>Assagao demolition and police conduct</a:t>
            </a:r>
          </a:p>
        </p:txBody>
      </p:sp>
      <p:sp>
        <p:nvSpPr>
          <p:cNvPr id="3" name="page-footer">
            <a:extLst xmlns:a="http://schemas.openxmlformats.org/drawingml/2006/main">
              <a:ext uri="{FF2B5EF4-FFF2-40B4-BE49-F238E27FC236}">
                <a16:creationId xmlns:a16="http://schemas.microsoft.com/office/drawing/2014/main" id="{F06A2857-B0CB-4FAF-96D5-25231EC3A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GOA GOVERNANCE  /  14 OCTOBER 2026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A75660A-99BE-451D-8D85-6A113151E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514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34</a:t>
            </a:r>
          </a:p>
        </p:txBody>
      </p:sp>
      <p:sp>
        <p:nvSpPr>
          <p:cNvPr id="5" name="fact-body">
            <a:extLst xmlns:a="http://schemas.openxmlformats.org/drawingml/2006/main">
              <a:ext uri="{FF2B5EF4-FFF2-40B4-BE49-F238E27FC236}">
                <a16:creationId xmlns:a16="http://schemas.microsoft.com/office/drawing/2014/main" id="{4B745EC2-0CD0-4A49-A4F3-528F9305F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5191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FACT / G27-C1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Partial demolition of an occupied house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prompted a government inquiry; a police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report alleged pressure from the DGP.</a:t>
            </a:r>
          </a:p>
        </p:txBody>
      </p:sp>
      <p:sp>
        <p:nvSpPr>
          <p:cNvPr id="6" name="effect-body">
            <a:extLst xmlns:a="http://schemas.openxmlformats.org/drawingml/2006/main">
              <a:ext uri="{FF2B5EF4-FFF2-40B4-BE49-F238E27FC236}">
                <a16:creationId xmlns:a16="http://schemas.microsoft.com/office/drawing/2014/main" id="{53CDAF4E-209E-4CF1-A2FC-45A8E771C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67025"/>
            <a:ext cx="5191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EFFECT ON GOA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The family experienced property harm and a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dispute over police protection; the incident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affected trust in impartial enforcement.</a:t>
            </a:r>
          </a:p>
        </p:txBody>
      </p:sp>
      <p:sp>
        <p:nvSpPr>
          <p:cNvPr id="7" name="implication-body">
            <a:extLst xmlns:a="http://schemas.openxmlformats.org/drawingml/2006/main">
              <a:ext uri="{FF2B5EF4-FFF2-40B4-BE49-F238E27FC236}">
                <a16:creationId xmlns:a16="http://schemas.microsoft.com/office/drawing/2014/main" id="{64782916-E999-4596-A9D4-C0A5D1970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71650"/>
            <a:ext cx="51911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INCUMBENT IMPLICATION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Creates a policing-accountability and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property-protection challenge.</a:t>
            </a:r>
          </a:p>
        </p:txBody>
      </p:sp>
      <p:sp>
        <p:nvSpPr>
          <p:cNvPr id="8" name="logic-body">
            <a:extLst xmlns:a="http://schemas.openxmlformats.org/drawingml/2006/main">
              <a:ext uri="{FF2B5EF4-FFF2-40B4-BE49-F238E27FC236}">
                <a16:creationId xmlns:a16="http://schemas.microsoft.com/office/drawing/2014/main" id="{D7A390F1-1EB1-4200-8F02-32BA5EE02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09850"/>
            <a:ext cx="5191125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LOGIC / RATIONALE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If officers failed to protect occupants or faced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improper instructions, a private dispute would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reveal institutional vulnerability. The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allegations must be tested.</a:t>
            </a:r>
          </a:p>
        </p:txBody>
      </p:sp>
      <p:sp>
        <p:nvSpPr>
          <p:cNvPr id="9" name="assumptions-body">
            <a:extLst xmlns:a="http://schemas.openxmlformats.org/drawingml/2006/main">
              <a:ext uri="{FF2B5EF4-FFF2-40B4-BE49-F238E27FC236}">
                <a16:creationId xmlns:a16="http://schemas.microsoft.com/office/drawing/2014/main" id="{BB4B4B92-ED46-4A79-91F3-A7D586EC7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62400"/>
            <a:ext cx="5191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ASSUMPTIONS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The reported account is accurate; title and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possession issues do not by themselves justify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unlawful force.</a:t>
            </a:r>
          </a:p>
        </p:txBody>
      </p:sp>
      <p:sp>
        <p:nvSpPr>
          <p:cNvPr id="10" name="limit-label">
            <a:extLst xmlns:a="http://schemas.openxmlformats.org/drawingml/2006/main">
              <a:ext uri="{FF2B5EF4-FFF2-40B4-BE49-F238E27FC236}">
                <a16:creationId xmlns:a16="http://schemas.microsoft.com/office/drawing/2014/main" id="{B123E173-3346-4BE1-BC50-4F8BA4B9E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LIMIT / COUNTER-FINDING</a:t>
            </a:r>
          </a:p>
        </p:txBody>
      </p:sp>
      <p:sp>
        <p:nvSpPr>
          <p:cNvPr id="11" name="case-limit">
            <a:extLst xmlns:a="http://schemas.openxmlformats.org/drawingml/2006/main">
              <a:ext uri="{FF2B5EF4-FFF2-40B4-BE49-F238E27FC236}">
                <a16:creationId xmlns:a16="http://schemas.microsoft.com/office/drawing/2014/main" id="{A382405C-536E-46EA-BFBE-4F09B40D3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53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The alleged pressure is not a judicial finding of guilt. Transfer and suspension are administrative actions; reinstatement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is not necessarily exoneration.</a:t>
            </a:r>
          </a:p>
        </p:txBody>
      </p:sp>
      <p:sp>
        <p:nvSpPr>
          <p:cNvPr id="12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49A7DF3D-7E9C-43A9-8362-284FF3F50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76975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4 readable core records · shared origins disclosed · Sources: S089, S093, S096, S097, S095, S091, S098</a:t>
            </a:r>
          </a:p>
        </p:txBody>
      </p:sp>
    </p:spTree>
    <p:extLst>
      <p:ext uri="{BB962C8B-B14F-4D97-AF65-F5344CB8AC3E}">
        <p14:creationId xmlns:p14="http://schemas.microsoft.com/office/powerpoint/2010/main" val="1237094705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3911D05D-0BEF-487C-8D3C-6AD5CBBB0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G28 · ENVIRONMENT AND TRANSPORT · 2020–MAY 2022; REC FOLLOWUP MARCH 2026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9BCB4DD-12D0-470E-83F8-95FF0601F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53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defRPr>
            </a:pPr>
            <a:r>
              <a: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rPr>
              <a:t>Mollem railway wildlife clearance</a:t>
            </a:r>
          </a:p>
        </p:txBody>
      </p:sp>
      <p:sp>
        <p:nvSpPr>
          <p:cNvPr id="3" name="page-footer">
            <a:extLst xmlns:a="http://schemas.openxmlformats.org/drawingml/2006/main">
              <a:ext uri="{FF2B5EF4-FFF2-40B4-BE49-F238E27FC236}">
                <a16:creationId xmlns:a16="http://schemas.microsoft.com/office/drawing/2014/main" id="{C133D551-6DDC-4200-80E5-ABB9E7A64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GOA GOVERNANCE  /  14 OCTOBER 2026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0D66477-1C7C-47C8-85F1-08B98B762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514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35</a:t>
            </a:r>
          </a:p>
        </p:txBody>
      </p:sp>
      <p:sp>
        <p:nvSpPr>
          <p:cNvPr id="5" name="fact-body">
            <a:extLst xmlns:a="http://schemas.openxmlformats.org/drawingml/2006/main">
              <a:ext uri="{FF2B5EF4-FFF2-40B4-BE49-F238E27FC236}">
                <a16:creationId xmlns:a16="http://schemas.microsoft.com/office/drawing/2014/main" id="{5BDEBA10-F05E-42C3-828C-8C51F9F8C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5191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FACT / G28-C1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The Supreme Court set aside the challenged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wildlife clearance for railway doubling in May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2022.</a:t>
            </a:r>
          </a:p>
        </p:txBody>
      </p:sp>
      <p:sp>
        <p:nvSpPr>
          <p:cNvPr id="6" name="effect-body">
            <a:extLst xmlns:a="http://schemas.openxmlformats.org/drawingml/2006/main">
              <a:ext uri="{FF2B5EF4-FFF2-40B4-BE49-F238E27FC236}">
                <a16:creationId xmlns:a16="http://schemas.microsoft.com/office/drawing/2014/main" id="{FE05B1E9-8A27-4C2D-8530-2BD9B3B0E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67025"/>
            <a:ext cx="5191125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EFFECT ON GOA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The ruling protected the affected landscape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from that approval while requiring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reconsideration of claimed transport benefits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and ecological safeguards.</a:t>
            </a:r>
          </a:p>
        </p:txBody>
      </p:sp>
      <p:sp>
        <p:nvSpPr>
          <p:cNvPr id="7" name="implication-body">
            <a:extLst xmlns:a="http://schemas.openxmlformats.org/drawingml/2006/main">
              <a:ext uri="{FF2B5EF4-FFF2-40B4-BE49-F238E27FC236}">
                <a16:creationId xmlns:a16="http://schemas.microsoft.com/office/drawing/2014/main" id="{6B2CDCA3-200E-4BDE-AA52-33E4B3394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71650"/>
            <a:ext cx="5191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INCUMBENT IMPLICATION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Challenges the credibility of the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government-backed justification and approval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process.</a:t>
            </a:r>
          </a:p>
        </p:txBody>
      </p:sp>
      <p:sp>
        <p:nvSpPr>
          <p:cNvPr id="8" name="logic-body">
            <a:extLst xmlns:a="http://schemas.openxmlformats.org/drawingml/2006/main">
              <a:ext uri="{FF2B5EF4-FFF2-40B4-BE49-F238E27FC236}">
                <a16:creationId xmlns:a16="http://schemas.microsoft.com/office/drawing/2014/main" id="{9A1B1055-D0AE-4E32-9722-CBD2F24A7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67025"/>
            <a:ext cx="5191125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LOGIC / RATIONALE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A court rejecting supporting evidence and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clearance reasoning is a concrete governance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setback; state backing and central approvals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involve shared responsibility.</a:t>
            </a:r>
          </a:p>
        </p:txBody>
      </p:sp>
      <p:sp>
        <p:nvSpPr>
          <p:cNvPr id="9" name="assumptions-body">
            <a:extLst xmlns:a="http://schemas.openxmlformats.org/drawingml/2006/main">
              <a:ext uri="{FF2B5EF4-FFF2-40B4-BE49-F238E27FC236}">
                <a16:creationId xmlns:a16="http://schemas.microsoft.com/office/drawing/2014/main" id="{7DEDC0C0-D3EF-4948-BBE1-E45FDE7A9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19575"/>
            <a:ext cx="51911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ASSUMPTIONS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The order’s segment and type of clearance are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accurately identified.</a:t>
            </a:r>
          </a:p>
        </p:txBody>
      </p:sp>
      <p:sp>
        <p:nvSpPr>
          <p:cNvPr id="10" name="limit-label">
            <a:extLst xmlns:a="http://schemas.openxmlformats.org/drawingml/2006/main">
              <a:ext uri="{FF2B5EF4-FFF2-40B4-BE49-F238E27FC236}">
                <a16:creationId xmlns:a16="http://schemas.microsoft.com/office/drawing/2014/main" id="{11378E98-5457-489E-B1D4-1DC424801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LIMIT / COUNTER-FINDING</a:t>
            </a:r>
          </a:p>
        </p:txBody>
      </p:sp>
      <p:sp>
        <p:nvSpPr>
          <p:cNvPr id="11" name="case-limit">
            <a:extLst xmlns:a="http://schemas.openxmlformats.org/drawingml/2006/main">
              <a:ext uri="{FF2B5EF4-FFF2-40B4-BE49-F238E27FC236}">
                <a16:creationId xmlns:a16="http://schemas.microsoft.com/office/drawing/2014/main" id="{E07A6A7C-00CC-458B-9DA0-4E503C639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53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The ruling did not cancel every railway work in Goa or all three Mollem projects. Later clearance proposals require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separate status checks.</a:t>
            </a:r>
          </a:p>
        </p:txBody>
      </p:sp>
      <p:sp>
        <p:nvSpPr>
          <p:cNvPr id="12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EEF68939-6C9F-4943-8709-6C00C02AF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76975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4 readable core records · shared origins disclosed · Sources: P10, S338, S344, S324, S490</a:t>
            </a:r>
          </a:p>
        </p:txBody>
      </p:sp>
    </p:spTree>
    <p:extLst>
      <p:ext uri="{BB962C8B-B14F-4D97-AF65-F5344CB8AC3E}">
        <p14:creationId xmlns:p14="http://schemas.microsoft.com/office/powerpoint/2010/main" val="517810034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42F2F06B-B69F-407C-A676-F16EAC1A6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G29 · ENVIRONMENT AND INFRASTRUCTURE · 2020 ONWARD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25F2E99-1D0B-426E-92DC-1241CBF6C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53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defRPr>
            </a:pPr>
            <a:r>
              <a: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rPr>
              <a:t>Other Mollem linear projects</a:t>
            </a:r>
          </a:p>
        </p:txBody>
      </p:sp>
      <p:sp>
        <p:nvSpPr>
          <p:cNvPr id="3" name="page-footer">
            <a:extLst xmlns:a="http://schemas.openxmlformats.org/drawingml/2006/main">
              <a:ext uri="{FF2B5EF4-FFF2-40B4-BE49-F238E27FC236}">
                <a16:creationId xmlns:a16="http://schemas.microsoft.com/office/drawing/2014/main" id="{4FD1E575-FD78-4A6D-AE45-AE72047B8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GOA GOVERNANCE  /  14 OCTOBER 2026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E58F60C-85E5-47BA-B0A4-BCB3ADDD9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514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36</a:t>
            </a:r>
          </a:p>
        </p:txBody>
      </p:sp>
      <p:sp>
        <p:nvSpPr>
          <p:cNvPr id="5" name="fact-body">
            <a:extLst xmlns:a="http://schemas.openxmlformats.org/drawingml/2006/main">
              <a:ext uri="{FF2B5EF4-FFF2-40B4-BE49-F238E27FC236}">
                <a16:creationId xmlns:a16="http://schemas.microsoft.com/office/drawing/2014/main" id="{426F023A-455B-4B24-B4CC-45B98AC5A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5191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FACT / G29-C1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Highway expansion and a transmission line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were separately contested alongside railway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doubling.</a:t>
            </a:r>
          </a:p>
        </p:txBody>
      </p:sp>
      <p:sp>
        <p:nvSpPr>
          <p:cNvPr id="6" name="effect-body">
            <a:extLst xmlns:a="http://schemas.openxmlformats.org/drawingml/2006/main">
              <a:ext uri="{FF2B5EF4-FFF2-40B4-BE49-F238E27FC236}">
                <a16:creationId xmlns:a16="http://schemas.microsoft.com/office/drawing/2014/main" id="{41031973-2517-4003-B91C-40F30F6BE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67025"/>
            <a:ext cx="5191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EFFECT ON GOA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The proposals raised habitat, land-use and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consultation concerns while seeking road and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electricity benefits.</a:t>
            </a:r>
          </a:p>
        </p:txBody>
      </p:sp>
      <p:sp>
        <p:nvSpPr>
          <p:cNvPr id="7" name="implication-body">
            <a:extLst xmlns:a="http://schemas.openxmlformats.org/drawingml/2006/main">
              <a:ext uri="{FF2B5EF4-FFF2-40B4-BE49-F238E27FC236}">
                <a16:creationId xmlns:a16="http://schemas.microsoft.com/office/drawing/2014/main" id="{A55C270F-FFEF-4110-9855-0B3766D7F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71650"/>
            <a:ext cx="51911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INCUMBENT IMPLICATION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Creates a scrutiny issue over cumulative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planning and alternatives.</a:t>
            </a:r>
          </a:p>
        </p:txBody>
      </p:sp>
      <p:sp>
        <p:nvSpPr>
          <p:cNvPr id="8" name="logic-body">
            <a:extLst xmlns:a="http://schemas.openxmlformats.org/drawingml/2006/main">
              <a:ext uri="{FF2B5EF4-FFF2-40B4-BE49-F238E27FC236}">
                <a16:creationId xmlns:a16="http://schemas.microsoft.com/office/drawing/2014/main" id="{155996A9-FE4C-4F76-94C6-BB943B84D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09850"/>
            <a:ext cx="5191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LOGIC / RATIONALE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Several projects affecting one landscape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should be assessed cumulatively; examining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them separately can miss combined exposure.</a:t>
            </a:r>
          </a:p>
        </p:txBody>
      </p:sp>
      <p:sp>
        <p:nvSpPr>
          <p:cNvPr id="9" name="assumptions-body">
            <a:extLst xmlns:a="http://schemas.openxmlformats.org/drawingml/2006/main">
              <a:ext uri="{FF2B5EF4-FFF2-40B4-BE49-F238E27FC236}">
                <a16:creationId xmlns:a16="http://schemas.microsoft.com/office/drawing/2014/main" id="{FC1C2FC5-7334-4EED-8EAB-CC546629D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05225"/>
            <a:ext cx="5191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ASSUMPTIONS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The projects’ impacts overlap geographically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and alternative routes were practicable enough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to examine.</a:t>
            </a:r>
          </a:p>
        </p:txBody>
      </p:sp>
      <p:sp>
        <p:nvSpPr>
          <p:cNvPr id="10" name="limit-label">
            <a:extLst xmlns:a="http://schemas.openxmlformats.org/drawingml/2006/main">
              <a:ext uri="{FF2B5EF4-FFF2-40B4-BE49-F238E27FC236}">
                <a16:creationId xmlns:a16="http://schemas.microsoft.com/office/drawing/2014/main" id="{358628C9-61AB-443E-B541-53002F318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LIMIT / COUNTER-FINDING</a:t>
            </a:r>
          </a:p>
        </p:txBody>
      </p:sp>
      <p:sp>
        <p:nvSpPr>
          <p:cNvPr id="11" name="case-limit">
            <a:extLst xmlns:a="http://schemas.openxmlformats.org/drawingml/2006/main">
              <a:ext uri="{FF2B5EF4-FFF2-40B4-BE49-F238E27FC236}">
                <a16:creationId xmlns:a16="http://schemas.microsoft.com/office/drawing/2014/main" id="{E5FEDF04-7232-41D1-8F1B-B9090BCDA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53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The railway judgment cannot establish illegality or actual damage for the highway or transmission line. Their current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operative clearances were not fully verified here.</a:t>
            </a:r>
          </a:p>
        </p:txBody>
      </p:sp>
      <p:sp>
        <p:nvSpPr>
          <p:cNvPr id="12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57D03E62-F504-4B32-83F3-970CF98AE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76975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2 readable core records · below four-source threshold · Sources: P10, S338, S490, S474</a:t>
            </a:r>
          </a:p>
        </p:txBody>
      </p:sp>
    </p:spTree>
    <p:extLst>
      <p:ext uri="{BB962C8B-B14F-4D97-AF65-F5344CB8AC3E}">
        <p14:creationId xmlns:p14="http://schemas.microsoft.com/office/powerpoint/2010/main" val="2025960286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6EF7962A-3EC9-4432-94EB-12A07113A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G30 · WATER SECURITY · 2022–OCTOBER 2026 DEVELOPMENTS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BB009B2-993D-4F2D-9A87-4647068F5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53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defRPr>
            </a:pPr>
            <a:r>
              <a: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rPr>
              <a:t>Mhadei interstate water dispute</a:t>
            </a:r>
          </a:p>
        </p:txBody>
      </p:sp>
      <p:sp>
        <p:nvSpPr>
          <p:cNvPr id="3" name="page-footer">
            <a:extLst xmlns:a="http://schemas.openxmlformats.org/drawingml/2006/main">
              <a:ext uri="{FF2B5EF4-FFF2-40B4-BE49-F238E27FC236}">
                <a16:creationId xmlns:a16="http://schemas.microsoft.com/office/drawing/2014/main" id="{BA0D13AF-307E-4357-9E23-13CE21A95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GOA GOVERNANCE  /  14 OCTOBER 2026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D4C08CB-36C7-4085-9C8F-A4D430519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514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37</a:t>
            </a:r>
          </a:p>
        </p:txBody>
      </p:sp>
      <p:sp>
        <p:nvSpPr>
          <p:cNvPr id="5" name="fact-body">
            <a:extLst xmlns:a="http://schemas.openxmlformats.org/drawingml/2006/main">
              <a:ext uri="{FF2B5EF4-FFF2-40B4-BE49-F238E27FC236}">
                <a16:creationId xmlns:a16="http://schemas.microsoft.com/office/drawing/2014/main" id="{27EC0044-B581-4714-B553-9A126ADD5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5191125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FACT / G30-C1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CWC appraisal of Karnataka’s diversion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proposals generated objections; Goa pursued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litigation and requested inspection, while a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2026 report describes withheld wildlife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clearance.</a:t>
            </a:r>
          </a:p>
        </p:txBody>
      </p:sp>
      <p:sp>
        <p:nvSpPr>
          <p:cNvPr id="6" name="effect-body">
            <a:extLst xmlns:a="http://schemas.openxmlformats.org/drawingml/2006/main">
              <a:ext uri="{FF2B5EF4-FFF2-40B4-BE49-F238E27FC236}">
                <a16:creationId xmlns:a16="http://schemas.microsoft.com/office/drawing/2014/main" id="{11B67E27-40A0-4BFD-979D-0493C5057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5191125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EFFECT ON GOA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The dispute concerns potential downstream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water and ecological effects; measured loss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attributable to an operational diversion is not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established here.</a:t>
            </a:r>
          </a:p>
        </p:txBody>
      </p:sp>
      <p:sp>
        <p:nvSpPr>
          <p:cNvPr id="7" name="implication-body">
            <a:extLst xmlns:a="http://schemas.openxmlformats.org/drawingml/2006/main">
              <a:ext uri="{FF2B5EF4-FFF2-40B4-BE49-F238E27FC236}">
                <a16:creationId xmlns:a16="http://schemas.microsoft.com/office/drawing/2014/main" id="{06AEF13B-6876-4C20-8F6F-283BB37E8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71650"/>
            <a:ext cx="51911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INCUMBENT IMPLICATION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Tests the incumbent’s ability to defend water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interests and communicate progress.</a:t>
            </a:r>
          </a:p>
        </p:txBody>
      </p:sp>
      <p:sp>
        <p:nvSpPr>
          <p:cNvPr id="8" name="logic-body">
            <a:extLst xmlns:a="http://schemas.openxmlformats.org/drawingml/2006/main">
              <a:ext uri="{FF2B5EF4-FFF2-40B4-BE49-F238E27FC236}">
                <a16:creationId xmlns:a16="http://schemas.microsoft.com/office/drawing/2014/main" id="{9F765573-8410-442E-BAC8-1D461B688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09850"/>
            <a:ext cx="5191125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LOGIC / RATIONALE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Residents may judge legal preparation and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monitoring as protection of a critical resource.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Responsibilities also belong to Karnataka and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Union authorities.</a:t>
            </a:r>
          </a:p>
        </p:txBody>
      </p:sp>
      <p:sp>
        <p:nvSpPr>
          <p:cNvPr id="9" name="assumptions-body">
            <a:extLst xmlns:a="http://schemas.openxmlformats.org/drawingml/2006/main">
              <a:ext uri="{FF2B5EF4-FFF2-40B4-BE49-F238E27FC236}">
                <a16:creationId xmlns:a16="http://schemas.microsoft.com/office/drawing/2014/main" id="{170EF8C8-C611-4A8C-BA51-7645183FD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62400"/>
            <a:ext cx="5191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ASSUMPTIONS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The proposed or alleged diversions would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materially affect downstream conditions;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hydrological evidence is required.</a:t>
            </a:r>
          </a:p>
        </p:txBody>
      </p:sp>
      <p:sp>
        <p:nvSpPr>
          <p:cNvPr id="10" name="limit-label">
            <a:extLst xmlns:a="http://schemas.openxmlformats.org/drawingml/2006/main">
              <a:ext uri="{FF2B5EF4-FFF2-40B4-BE49-F238E27FC236}">
                <a16:creationId xmlns:a16="http://schemas.microsoft.com/office/drawing/2014/main" id="{CECA0654-7227-4378-9191-A99F9924A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LIMIT / COUNTER-FINDING</a:t>
            </a:r>
          </a:p>
        </p:txBody>
      </p:sp>
      <p:sp>
        <p:nvSpPr>
          <p:cNvPr id="11" name="case-limit">
            <a:extLst xmlns:a="http://schemas.openxmlformats.org/drawingml/2006/main">
              <a:ext uri="{FF2B5EF4-FFF2-40B4-BE49-F238E27FC236}">
                <a16:creationId xmlns:a16="http://schemas.microsoft.com/office/drawing/2014/main" id="{9356C87C-095B-4DE5-A2C2-6F74C0212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53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DPR appraisal is not all statutory clearance. Goa’s allegations of diversion are not independent flow measurements, and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the reported hold is not permanent settlement.</a:t>
            </a:r>
          </a:p>
        </p:txBody>
      </p:sp>
      <p:sp>
        <p:nvSpPr>
          <p:cNvPr id="12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1C4E20F8-1E72-40B4-AF4F-02D2C2760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76975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5 readable core records · shared origins disclosed · Sources: S317, S334, S330, S332, S335, S337, S341</a:t>
            </a:r>
          </a:p>
        </p:txBody>
      </p:sp>
    </p:spTree>
    <p:extLst>
      <p:ext uri="{BB962C8B-B14F-4D97-AF65-F5344CB8AC3E}">
        <p14:creationId xmlns:p14="http://schemas.microsoft.com/office/powerpoint/2010/main" val="1532583289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25035140-E287-498F-BDA9-726211B1D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G31 · AIRPORT AND ENVIRONMENT · MARCH 2019–JANUARY 2020; AIRPORT LATER OPERATIONAL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94E7612-0FDB-4F1F-957A-98BE94A5A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53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defRPr>
            </a:pPr>
            <a:r>
              <a: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rPr>
              <a:t>Mopa environmental appraisal setback</a:t>
            </a:r>
          </a:p>
        </p:txBody>
      </p:sp>
      <p:sp>
        <p:nvSpPr>
          <p:cNvPr id="3" name="page-footer">
            <a:extLst xmlns:a="http://schemas.openxmlformats.org/drawingml/2006/main">
              <a:ext uri="{FF2B5EF4-FFF2-40B4-BE49-F238E27FC236}">
                <a16:creationId xmlns:a16="http://schemas.microsoft.com/office/drawing/2014/main" id="{5B900246-90EE-425F-9D88-094CF48B9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GOA GOVERNANCE  /  14 OCTOBER 2026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E05C1B2-ABF8-471E-9E5D-280D21966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514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38</a:t>
            </a:r>
          </a:p>
        </p:txBody>
      </p:sp>
      <p:sp>
        <p:nvSpPr>
          <p:cNvPr id="5" name="fact-body">
            <a:extLst xmlns:a="http://schemas.openxmlformats.org/drawingml/2006/main">
              <a:ext uri="{FF2B5EF4-FFF2-40B4-BE49-F238E27FC236}">
                <a16:creationId xmlns:a16="http://schemas.microsoft.com/office/drawing/2014/main" id="{F703D638-F562-4481-8397-338457225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5191125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FACT / G31-C1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The Supreme Court suspended Mopa’s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environmental clearance in March 2019; the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suspension was lifted after reconsideration in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January 2020.</a:t>
            </a:r>
          </a:p>
        </p:txBody>
      </p:sp>
      <p:sp>
        <p:nvSpPr>
          <p:cNvPr id="6" name="effect-body">
            <a:extLst xmlns:a="http://schemas.openxmlformats.org/drawingml/2006/main">
              <a:ext uri="{FF2B5EF4-FFF2-40B4-BE49-F238E27FC236}">
                <a16:creationId xmlns:a16="http://schemas.microsoft.com/office/drawing/2014/main" id="{665874A0-6684-4864-8283-CC17EA286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5191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EFFECT ON GOA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The process imposed additional scrutiny and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delayed project progress; later operation is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relevant to the outcome.</a:t>
            </a:r>
          </a:p>
        </p:txBody>
      </p:sp>
      <p:sp>
        <p:nvSpPr>
          <p:cNvPr id="7" name="implication-body">
            <a:extLst xmlns:a="http://schemas.openxmlformats.org/drawingml/2006/main">
              <a:ext uri="{FF2B5EF4-FFF2-40B4-BE49-F238E27FC236}">
                <a16:creationId xmlns:a16="http://schemas.microsoft.com/office/drawing/2014/main" id="{40E8FFBA-0CF5-404E-A092-140F824C7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71650"/>
            <a:ext cx="51911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INCUMBENT IMPLICATION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Challenges initial appraisal quality but also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records corrective progress.</a:t>
            </a:r>
          </a:p>
        </p:txBody>
      </p:sp>
      <p:sp>
        <p:nvSpPr>
          <p:cNvPr id="8" name="logic-body">
            <a:extLst xmlns:a="http://schemas.openxmlformats.org/drawingml/2006/main">
              <a:ext uri="{FF2B5EF4-FFF2-40B4-BE49-F238E27FC236}">
                <a16:creationId xmlns:a16="http://schemas.microsoft.com/office/drawing/2014/main" id="{DD92E18A-E785-455A-A746-3A0D18E8B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09850"/>
            <a:ext cx="5191125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LOGIC / RATIONALE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Material omissions in an environmental process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are a governance concern. Reappraisal and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eventual clearance cannot be omitted from the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assessment.</a:t>
            </a:r>
          </a:p>
        </p:txBody>
      </p:sp>
      <p:sp>
        <p:nvSpPr>
          <p:cNvPr id="9" name="assumptions-body">
            <a:extLst xmlns:a="http://schemas.openxmlformats.org/drawingml/2006/main">
              <a:ext uri="{FF2B5EF4-FFF2-40B4-BE49-F238E27FC236}">
                <a16:creationId xmlns:a16="http://schemas.microsoft.com/office/drawing/2014/main" id="{CF01E190-BEC6-4649-86D4-93B348CF8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62400"/>
            <a:ext cx="51911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ASSUMPTIONS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A more complete original assessment could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have avoided some delay.</a:t>
            </a:r>
          </a:p>
        </p:txBody>
      </p:sp>
      <p:sp>
        <p:nvSpPr>
          <p:cNvPr id="10" name="limit-label">
            <a:extLst xmlns:a="http://schemas.openxmlformats.org/drawingml/2006/main">
              <a:ext uri="{FF2B5EF4-FFF2-40B4-BE49-F238E27FC236}">
                <a16:creationId xmlns:a16="http://schemas.microsoft.com/office/drawing/2014/main" id="{14CBE35E-7D93-4F7F-BFF4-C721ED6D5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LIMIT / COUNTER-FINDING</a:t>
            </a:r>
          </a:p>
        </p:txBody>
      </p:sp>
      <p:sp>
        <p:nvSpPr>
          <p:cNvPr id="11" name="case-limit">
            <a:extLst xmlns:a="http://schemas.openxmlformats.org/drawingml/2006/main">
              <a:ext uri="{FF2B5EF4-FFF2-40B4-BE49-F238E27FC236}">
                <a16:creationId xmlns:a16="http://schemas.microsoft.com/office/drawing/2014/main" id="{C833ED06-414E-44B2-AB20-2C517E3AD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53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This is not proof the airport permanently lacked clearance or that it produced a net economic loss. Earlier planning and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Union appraisal spread responsibility.</a:t>
            </a:r>
          </a:p>
        </p:txBody>
      </p:sp>
      <p:sp>
        <p:nvSpPr>
          <p:cNvPr id="12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8F3EAF53-2939-48BF-80D9-6319F258C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76975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2 readable core records · below four-source threshold · Sources: P11, P12, S039, S479</a:t>
            </a:r>
          </a:p>
        </p:txBody>
      </p:sp>
    </p:spTree>
    <p:extLst>
      <p:ext uri="{BB962C8B-B14F-4D97-AF65-F5344CB8AC3E}">
        <p14:creationId xmlns:p14="http://schemas.microsoft.com/office/powerpoint/2010/main" val="300441444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553EA23E-6DA4-43D0-81DB-2C7FA50BA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G32 · ENVIRONMENT AND LIVELIHOODS · 2019 ONWARD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143A8BC-20D0-41EB-AE01-60AC802AF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53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defRPr>
            </a:pPr>
            <a:r>
              <a: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rPr>
              <a:t>Coal handling and freight pollution concerns</a:t>
            </a:r>
          </a:p>
        </p:txBody>
      </p:sp>
      <p:sp>
        <p:nvSpPr>
          <p:cNvPr id="3" name="page-footer">
            <a:extLst xmlns:a="http://schemas.openxmlformats.org/drawingml/2006/main">
              <a:ext uri="{FF2B5EF4-FFF2-40B4-BE49-F238E27FC236}">
                <a16:creationId xmlns:a16="http://schemas.microsoft.com/office/drawing/2014/main" id="{19F684C5-45F0-4840-A09E-E8FFB0C11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GOA GOVERNANCE  /  14 OCTOBER 2026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041A4AC-C376-4E37-B7A7-2C098B861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514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39</a:t>
            </a:r>
          </a:p>
        </p:txBody>
      </p:sp>
      <p:sp>
        <p:nvSpPr>
          <p:cNvPr id="5" name="fact-body">
            <a:extLst xmlns:a="http://schemas.openxmlformats.org/drawingml/2006/main">
              <a:ext uri="{FF2B5EF4-FFF2-40B4-BE49-F238E27FC236}">
                <a16:creationId xmlns:a16="http://schemas.microsoft.com/office/drawing/2014/main" id="{1C8B9957-101C-43CF-A7B0-373342011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5191125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FACT / G32-C1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Residents contested coal handling and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transport; pollution-control records and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litigation document regulatory oversight of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port activities.</a:t>
            </a:r>
          </a:p>
        </p:txBody>
      </p:sp>
      <p:sp>
        <p:nvSpPr>
          <p:cNvPr id="6" name="effect-body">
            <a:extLst xmlns:a="http://schemas.openxmlformats.org/drawingml/2006/main">
              <a:ext uri="{FF2B5EF4-FFF2-40B4-BE49-F238E27FC236}">
                <a16:creationId xmlns:a16="http://schemas.microsoft.com/office/drawing/2014/main" id="{B55C2972-5804-4C27-8A85-7E46A77C0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5191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EFFECT ON GOA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Dust, traffic and noise concerns affect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residential amenity and livelihoods, subject to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measured exposure evidence.</a:t>
            </a:r>
          </a:p>
        </p:txBody>
      </p:sp>
      <p:sp>
        <p:nvSpPr>
          <p:cNvPr id="7" name="implication-body">
            <a:extLst xmlns:a="http://schemas.openxmlformats.org/drawingml/2006/main">
              <a:ext uri="{FF2B5EF4-FFF2-40B4-BE49-F238E27FC236}">
                <a16:creationId xmlns:a16="http://schemas.microsoft.com/office/drawing/2014/main" id="{2BAA7573-9927-4E88-B358-C472FCE77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71650"/>
            <a:ext cx="5191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INCUMBENT IMPLICATION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Creates a balancing and enforcement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challenge for state regulators and port-linked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policy.</a:t>
            </a:r>
          </a:p>
        </p:txBody>
      </p:sp>
      <p:sp>
        <p:nvSpPr>
          <p:cNvPr id="8" name="logic-body">
            <a:extLst xmlns:a="http://schemas.openxmlformats.org/drawingml/2006/main">
              <a:ext uri="{FF2B5EF4-FFF2-40B4-BE49-F238E27FC236}">
                <a16:creationId xmlns:a16="http://schemas.microsoft.com/office/drawing/2014/main" id="{D82EFDD8-F70B-4526-BF44-DE5FFCD0F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67025"/>
            <a:ext cx="5191125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LOGIC / RATIONALE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Economic freight benefits do not remove duties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to control pollution. Failure to enforce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conditions can weaken confidence in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environmental protection.</a:t>
            </a:r>
          </a:p>
        </p:txBody>
      </p:sp>
      <p:sp>
        <p:nvSpPr>
          <p:cNvPr id="9" name="assumptions-body">
            <a:extLst xmlns:a="http://schemas.openxmlformats.org/drawingml/2006/main">
              <a:ext uri="{FF2B5EF4-FFF2-40B4-BE49-F238E27FC236}">
                <a16:creationId xmlns:a16="http://schemas.microsoft.com/office/drawing/2014/main" id="{60E27204-4865-4363-8412-AE3A1D06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19575"/>
            <a:ext cx="51911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ASSUMPTIONS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Pollution complained of is attributable to the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relevant operations and not other sources.</a:t>
            </a:r>
          </a:p>
        </p:txBody>
      </p:sp>
      <p:sp>
        <p:nvSpPr>
          <p:cNvPr id="10" name="limit-label">
            <a:extLst xmlns:a="http://schemas.openxmlformats.org/drawingml/2006/main">
              <a:ext uri="{FF2B5EF4-FFF2-40B4-BE49-F238E27FC236}">
                <a16:creationId xmlns:a16="http://schemas.microsoft.com/office/drawing/2014/main" id="{48E2B7C1-9CCD-4208-8480-39EEFF511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LIMIT / COUNTER-FINDING</a:t>
            </a:r>
          </a:p>
        </p:txBody>
      </p:sp>
      <p:sp>
        <p:nvSpPr>
          <p:cNvPr id="11" name="case-limit">
            <a:extLst xmlns:a="http://schemas.openxmlformats.org/drawingml/2006/main">
              <a:ext uri="{FF2B5EF4-FFF2-40B4-BE49-F238E27FC236}">
                <a16:creationId xmlns:a16="http://schemas.microsoft.com/office/drawing/2014/main" id="{A5DB28AD-3FFD-4A7C-80E6-AF1A33C08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53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Mormugao Port is not solely controlled by the state. General complaints do not establish individual disease causation or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prove all port activity unlawful.</a:t>
            </a:r>
          </a:p>
        </p:txBody>
      </p:sp>
      <p:sp>
        <p:nvSpPr>
          <p:cNvPr id="12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55C23520-812C-4614-BC87-C4A96E05A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76975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4 readable core records · shared origins disclosed · Sources: S474, S473, S482, S490, S493, S478</a:t>
            </a:r>
          </a:p>
        </p:txBody>
      </p:sp>
    </p:spTree>
    <p:extLst>
      <p:ext uri="{BB962C8B-B14F-4D97-AF65-F5344CB8AC3E}">
        <p14:creationId xmlns:p14="http://schemas.microsoft.com/office/powerpoint/2010/main" val="595592914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CAFD19E7-628F-4C78-B63F-8E20BC480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G33 · INFRASTRUCTURE · JANUARY 2024 AND LATER WORKS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98DAFBE-2E88-4C59-9757-4DCCA14E2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53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defRPr>
            </a:pPr>
            <a:r>
              <a: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rPr>
              <a:t>Panaji Smart City construction safety</a:t>
            </a:r>
          </a:p>
        </p:txBody>
      </p:sp>
      <p:sp>
        <p:nvSpPr>
          <p:cNvPr id="3" name="page-footer">
            <a:extLst xmlns:a="http://schemas.openxmlformats.org/drawingml/2006/main">
              <a:ext uri="{FF2B5EF4-FFF2-40B4-BE49-F238E27FC236}">
                <a16:creationId xmlns:a16="http://schemas.microsoft.com/office/drawing/2014/main" id="{BF36D3D3-EFA8-4E84-BBAA-8A915FA8D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GOA GOVERNANCE  /  14 OCTOBER 2026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E6163B0-1C32-46E4-8762-EDD659E75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514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40</a:t>
            </a:r>
          </a:p>
        </p:txBody>
      </p:sp>
      <p:sp>
        <p:nvSpPr>
          <p:cNvPr id="5" name="fact-body">
            <a:extLst xmlns:a="http://schemas.openxmlformats.org/drawingml/2006/main">
              <a:ext uri="{FF2B5EF4-FFF2-40B4-BE49-F238E27FC236}">
                <a16:creationId xmlns:a16="http://schemas.microsoft.com/office/drawing/2014/main" id="{74B49D00-329C-43E1-B7DE-77DEDADFB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5191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FACT / G33-C1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Ayush Halarnkar died after his motorcycle fell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into a sewerage-work trench on New Year’s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Day 2024.</a:t>
            </a:r>
          </a:p>
        </p:txBody>
      </p:sp>
      <p:sp>
        <p:nvSpPr>
          <p:cNvPr id="6" name="effect-body">
            <a:extLst xmlns:a="http://schemas.openxmlformats.org/drawingml/2006/main">
              <a:ext uri="{FF2B5EF4-FFF2-40B4-BE49-F238E27FC236}">
                <a16:creationId xmlns:a16="http://schemas.microsoft.com/office/drawing/2014/main" id="{0C49CFBC-C8D6-415C-82D3-0627891D4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67025"/>
            <a:ext cx="5191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EFFECT ON GOA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The death and surrounding complaints made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worksite safety and construction coordination a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major public concern.</a:t>
            </a:r>
          </a:p>
        </p:txBody>
      </p:sp>
      <p:sp>
        <p:nvSpPr>
          <p:cNvPr id="7" name="implication-body">
            <a:extLst xmlns:a="http://schemas.openxmlformats.org/drawingml/2006/main">
              <a:ext uri="{FF2B5EF4-FFF2-40B4-BE49-F238E27FC236}">
                <a16:creationId xmlns:a16="http://schemas.microsoft.com/office/drawing/2014/main" id="{3AD9055C-8708-4BA4-B439-899169011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71650"/>
            <a:ext cx="51911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INCUMBENT IMPLICATION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Challenges the credibility of urban-project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supervision.</a:t>
            </a:r>
          </a:p>
        </p:txBody>
      </p:sp>
      <p:sp>
        <p:nvSpPr>
          <p:cNvPr id="8" name="logic-body">
            <a:extLst xmlns:a="http://schemas.openxmlformats.org/drawingml/2006/main">
              <a:ext uri="{FF2B5EF4-FFF2-40B4-BE49-F238E27FC236}">
                <a16:creationId xmlns:a16="http://schemas.microsoft.com/office/drawing/2014/main" id="{9ED0FCB9-4F6B-4D9C-A5D0-714518709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09850"/>
            <a:ext cx="5191125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LOGIC / RATIONALE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Government project agencies must supervise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safe construction. A fatal worksite incident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warrants scrutiny even where the immediate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cause is disputed.</a:t>
            </a:r>
          </a:p>
        </p:txBody>
      </p:sp>
      <p:sp>
        <p:nvSpPr>
          <p:cNvPr id="9" name="assumptions-body">
            <a:extLst xmlns:a="http://schemas.openxmlformats.org/drawingml/2006/main">
              <a:ext uri="{FF2B5EF4-FFF2-40B4-BE49-F238E27FC236}">
                <a16:creationId xmlns:a16="http://schemas.microsoft.com/office/drawing/2014/main" id="{378DB97D-0F93-4866-A86A-1C2C07B3D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62400"/>
            <a:ext cx="5191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ASSUMPTIONS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The worksite condition contributed materially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and appropriate safeguards were reasonably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available.</a:t>
            </a:r>
          </a:p>
        </p:txBody>
      </p:sp>
      <p:sp>
        <p:nvSpPr>
          <p:cNvPr id="10" name="limit-label">
            <a:extLst xmlns:a="http://schemas.openxmlformats.org/drawingml/2006/main">
              <a:ext uri="{FF2B5EF4-FFF2-40B4-BE49-F238E27FC236}">
                <a16:creationId xmlns:a16="http://schemas.microsoft.com/office/drawing/2014/main" id="{CFBD337D-44D7-438C-AB88-B7F4526DD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LIMIT / COUNTER-FINDING</a:t>
            </a:r>
          </a:p>
        </p:txBody>
      </p:sp>
      <p:sp>
        <p:nvSpPr>
          <p:cNvPr id="11" name="case-limit">
            <a:extLst xmlns:a="http://schemas.openxmlformats.org/drawingml/2006/main">
              <a:ext uri="{FF2B5EF4-FFF2-40B4-BE49-F238E27FC236}">
                <a16:creationId xmlns:a16="http://schemas.microsoft.com/office/drawing/2014/main" id="{522139CF-A0C3-44DF-B35C-D517FF1C9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53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Relatives alleged inadequate barricading; an official claimed double barricades and high-speed entry. Final negligence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findings are not established by those competing statements.</a:t>
            </a:r>
          </a:p>
        </p:txBody>
      </p:sp>
      <p:sp>
        <p:nvSpPr>
          <p:cNvPr id="12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2912F754-0784-4B78-8F99-9A8EDF289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76975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5 readable core records · shared origins disclosed · Sources: S400, S418, S663, S666, S664, S670, S669</a:t>
            </a:r>
          </a:p>
        </p:txBody>
      </p:sp>
    </p:spTree>
    <p:extLst>
      <p:ext uri="{BB962C8B-B14F-4D97-AF65-F5344CB8AC3E}">
        <p14:creationId xmlns:p14="http://schemas.microsoft.com/office/powerpoint/2010/main" val="1471546315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C0730D3F-E1E5-41E3-9784-A9771ABE0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G34 · CULTURE AND PROCUREMENT · 2023 COLLAPSE; 2026 INSPECTION REPORTING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DB72185-48EF-43CD-984E-1D976B2A2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53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defRPr>
            </a:pPr>
            <a:r>
              <a: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rPr>
              <a:t>Kala Academy renovation and repeated defects</a:t>
            </a:r>
          </a:p>
        </p:txBody>
      </p:sp>
      <p:sp>
        <p:nvSpPr>
          <p:cNvPr id="3" name="page-footer">
            <a:extLst xmlns:a="http://schemas.openxmlformats.org/drawingml/2006/main">
              <a:ext uri="{FF2B5EF4-FFF2-40B4-BE49-F238E27FC236}">
                <a16:creationId xmlns:a16="http://schemas.microsoft.com/office/drawing/2014/main" id="{89945902-47C2-46DD-A1AA-798309B3B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GOA GOVERNANCE  /  14 OCTOBER 2026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8B1EACA-DD08-47C0-AAA5-FFA744BFC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514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41</a:t>
            </a:r>
          </a:p>
        </p:txBody>
      </p:sp>
      <p:sp>
        <p:nvSpPr>
          <p:cNvPr id="5" name="fact-body">
            <a:extLst xmlns:a="http://schemas.openxmlformats.org/drawingml/2006/main">
              <a:ext uri="{FF2B5EF4-FFF2-40B4-BE49-F238E27FC236}">
                <a16:creationId xmlns:a16="http://schemas.microsoft.com/office/drawing/2014/main" id="{5322ABCE-C008-494D-B988-6DB9D7BB1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5191125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FACT / G34-C1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After the 2023 roof collapse, 2026 reporting on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an IIT Madras inspection described structural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and waterproofing deficiencies at Kala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Academy.</a:t>
            </a:r>
          </a:p>
        </p:txBody>
      </p:sp>
      <p:sp>
        <p:nvSpPr>
          <p:cNvPr id="6" name="effect-body">
            <a:extLst xmlns:a="http://schemas.openxmlformats.org/drawingml/2006/main">
              <a:ext uri="{FF2B5EF4-FFF2-40B4-BE49-F238E27FC236}">
                <a16:creationId xmlns:a16="http://schemas.microsoft.com/office/drawing/2014/main" id="{B7E6CE11-8620-41D7-B2C4-DFB59AD5E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5191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EFFECT ON GOA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Repairs and proposed closures disrupt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performances, teaching and use of a major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cultural facility.</a:t>
            </a:r>
          </a:p>
        </p:txBody>
      </p:sp>
      <p:sp>
        <p:nvSpPr>
          <p:cNvPr id="7" name="implication-body">
            <a:extLst xmlns:a="http://schemas.openxmlformats.org/drawingml/2006/main">
              <a:ext uri="{FF2B5EF4-FFF2-40B4-BE49-F238E27FC236}">
                <a16:creationId xmlns:a16="http://schemas.microsoft.com/office/drawing/2014/main" id="{5D869964-9ABC-4B64-9A0F-B181FE430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71650"/>
            <a:ext cx="51911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INCUMBENT IMPLICATION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Creates a substantial workmanship and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public-investment accountability issue.</a:t>
            </a:r>
          </a:p>
        </p:txBody>
      </p:sp>
      <p:sp>
        <p:nvSpPr>
          <p:cNvPr id="8" name="logic-body">
            <a:extLst xmlns:a="http://schemas.openxmlformats.org/drawingml/2006/main">
              <a:ext uri="{FF2B5EF4-FFF2-40B4-BE49-F238E27FC236}">
                <a16:creationId xmlns:a16="http://schemas.microsoft.com/office/drawing/2014/main" id="{BD3992F2-ED49-4C3E-A9C5-5C38BEF6F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09850"/>
            <a:ext cx="5191125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LOGIC / RATIONALE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Repeated defects after renovation question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whether spending produced a reliable asset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and whether technical supervision was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adequate.</a:t>
            </a:r>
          </a:p>
        </p:txBody>
      </p:sp>
      <p:sp>
        <p:nvSpPr>
          <p:cNvPr id="9" name="assumptions-body">
            <a:extLst xmlns:a="http://schemas.openxmlformats.org/drawingml/2006/main">
              <a:ext uri="{FF2B5EF4-FFF2-40B4-BE49-F238E27FC236}">
                <a16:creationId xmlns:a16="http://schemas.microsoft.com/office/drawing/2014/main" id="{7E1FC05F-209C-4A38-9872-4E5220B9A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62400"/>
            <a:ext cx="5191125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ASSUMPTIONS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The inspected defects reflect relevant work or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maintenance failures; technical causation must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distinguish renovation from old structural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deterioration.</a:t>
            </a:r>
          </a:p>
        </p:txBody>
      </p:sp>
      <p:sp>
        <p:nvSpPr>
          <p:cNvPr id="10" name="limit-label">
            <a:extLst xmlns:a="http://schemas.openxmlformats.org/drawingml/2006/main">
              <a:ext uri="{FF2B5EF4-FFF2-40B4-BE49-F238E27FC236}">
                <a16:creationId xmlns:a16="http://schemas.microsoft.com/office/drawing/2014/main" id="{38A83004-7B7C-48EF-9EE2-77BBB0EA5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LIMIT / COUNTER-FINDING</a:t>
            </a:r>
          </a:p>
        </p:txBody>
      </p:sp>
      <p:sp>
        <p:nvSpPr>
          <p:cNvPr id="11" name="case-limit">
            <a:extLst xmlns:a="http://schemas.openxmlformats.org/drawingml/2006/main">
              <a:ext uri="{FF2B5EF4-FFF2-40B4-BE49-F238E27FC236}">
                <a16:creationId xmlns:a16="http://schemas.microsoft.com/office/drawing/2014/main" id="{9E67BD86-401F-4AA2-9318-BD5F151CF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53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Do not combine varying announced renovation costs into an invented loss. The cause of the earlier collapse and defects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in later works are related but distinct questions.</a:t>
            </a:r>
          </a:p>
        </p:txBody>
      </p:sp>
      <p:sp>
        <p:nvSpPr>
          <p:cNvPr id="12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D8B5761E-D462-4655-A6EA-DAE91DE54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76975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3 readable core records · below four-source threshold · Sources: S014, S622, S623, S624, S629, S632, S621</a:t>
            </a:r>
          </a:p>
        </p:txBody>
      </p:sp>
    </p:spTree>
    <p:extLst>
      <p:ext uri="{BB962C8B-B14F-4D97-AF65-F5344CB8AC3E}">
        <p14:creationId xmlns:p14="http://schemas.microsoft.com/office/powerpoint/2010/main" val="1309481075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8C72BE26-06BA-46F7-BD2E-C486AC247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G35 · HERITAGE AND LAND · 2020–2026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F512BAD-A59B-4A7D-A5F5-27BF07668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53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defRPr>
            </a:pPr>
            <a:r>
              <a: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rPr>
              <a:t>Old Goa heritage bungalow dispute</a:t>
            </a:r>
          </a:p>
        </p:txBody>
      </p:sp>
      <p:sp>
        <p:nvSpPr>
          <p:cNvPr id="3" name="page-footer">
            <a:extLst xmlns:a="http://schemas.openxmlformats.org/drawingml/2006/main">
              <a:ext uri="{FF2B5EF4-FFF2-40B4-BE49-F238E27FC236}">
                <a16:creationId xmlns:a16="http://schemas.microsoft.com/office/drawing/2014/main" id="{83E4A8E6-6A14-4FB4-91E1-191D6D516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GOA GOVERNANCE  /  14 OCTOBER 2026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4F92979-1984-496B-85C6-87EDDFF78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514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42</a:t>
            </a:r>
          </a:p>
        </p:txBody>
      </p:sp>
      <p:sp>
        <p:nvSpPr>
          <p:cNvPr id="5" name="fact-body">
            <a:extLst xmlns:a="http://schemas.openxmlformats.org/drawingml/2006/main">
              <a:ext uri="{FF2B5EF4-FFF2-40B4-BE49-F238E27FC236}">
                <a16:creationId xmlns:a16="http://schemas.microsoft.com/office/drawing/2014/main" id="{ED5EE38B-4F07-4290-BF86-F07DE3296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5191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FACT / G35-C1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An official February 2026 statement says the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ASI removal order was challenged and the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matter remained before the Supreme Court.</a:t>
            </a:r>
          </a:p>
        </p:txBody>
      </p:sp>
      <p:sp>
        <p:nvSpPr>
          <p:cNvPr id="6" name="effect-body">
            <a:extLst xmlns:a="http://schemas.openxmlformats.org/drawingml/2006/main">
              <a:ext uri="{FF2B5EF4-FFF2-40B4-BE49-F238E27FC236}">
                <a16:creationId xmlns:a16="http://schemas.microsoft.com/office/drawing/2014/main" id="{52CCFAB3-3018-4280-BFB9-F48A457E9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67025"/>
            <a:ext cx="5191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EFFECT ON GOA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The dispute concerns construction within a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protected heritage setting and the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effectiveness of oversight.</a:t>
            </a:r>
          </a:p>
        </p:txBody>
      </p:sp>
      <p:sp>
        <p:nvSpPr>
          <p:cNvPr id="7" name="implication-body">
            <a:extLst xmlns:a="http://schemas.openxmlformats.org/drawingml/2006/main">
              <a:ext uri="{FF2B5EF4-FFF2-40B4-BE49-F238E27FC236}">
                <a16:creationId xmlns:a16="http://schemas.microsoft.com/office/drawing/2014/main" id="{2E379447-361E-473E-8CA5-49ED17FFF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71650"/>
            <a:ext cx="51911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INCUMBENT IMPLICATION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Raises a heritage-protection and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permission-accountability question.</a:t>
            </a:r>
          </a:p>
        </p:txBody>
      </p:sp>
      <p:sp>
        <p:nvSpPr>
          <p:cNvPr id="8" name="logic-body">
            <a:extLst xmlns:a="http://schemas.openxmlformats.org/drawingml/2006/main">
              <a:ext uri="{FF2B5EF4-FFF2-40B4-BE49-F238E27FC236}">
                <a16:creationId xmlns:a16="http://schemas.microsoft.com/office/drawing/2014/main" id="{CF5A5FD4-008C-4BA4-8518-B6E73C3B4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09850"/>
            <a:ext cx="5191125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LOGIC / RATIONALE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Public trust depends on consistent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enforcement around protected monuments;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procedural failures can delay enforcement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even when an authority seeks demolition.</a:t>
            </a:r>
          </a:p>
        </p:txBody>
      </p:sp>
      <p:sp>
        <p:nvSpPr>
          <p:cNvPr id="9" name="assumptions-body">
            <a:extLst xmlns:a="http://schemas.openxmlformats.org/drawingml/2006/main">
              <a:ext uri="{FF2B5EF4-FFF2-40B4-BE49-F238E27FC236}">
                <a16:creationId xmlns:a16="http://schemas.microsoft.com/office/drawing/2014/main" id="{2496215B-0EA9-4097-8FDA-C519C4910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62400"/>
            <a:ext cx="5191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ASSUMPTIONS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The disputed work exceeded valid permissions;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the inspection and final judicial findings must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be distinguished.</a:t>
            </a:r>
          </a:p>
        </p:txBody>
      </p:sp>
      <p:sp>
        <p:nvSpPr>
          <p:cNvPr id="10" name="limit-label">
            <a:extLst xmlns:a="http://schemas.openxmlformats.org/drawingml/2006/main">
              <a:ext uri="{FF2B5EF4-FFF2-40B4-BE49-F238E27FC236}">
                <a16:creationId xmlns:a16="http://schemas.microsoft.com/office/drawing/2014/main" id="{8DFDADD8-DA53-41B0-9224-730C8AD2B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LIMIT / COUNTER-FINDING</a:t>
            </a:r>
          </a:p>
        </p:txBody>
      </p:sp>
      <p:sp>
        <p:nvSpPr>
          <p:cNvPr id="11" name="case-limit">
            <a:extLst xmlns:a="http://schemas.openxmlformats.org/drawingml/2006/main">
              <a:ext uri="{FF2B5EF4-FFF2-40B4-BE49-F238E27FC236}">
                <a16:creationId xmlns:a16="http://schemas.microsoft.com/office/drawing/2014/main" id="{89217279-3E38-4476-B1FB-649256AC0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53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The High Court quashed the ASI order in 2023; litigation prevents treating demolition as a legally settled obligation.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Alleged new construction is not identical to a final judgment.</a:t>
            </a:r>
          </a:p>
        </p:txBody>
      </p:sp>
      <p:sp>
        <p:nvSpPr>
          <p:cNvPr id="12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11C651D9-A7C6-4AD7-B0A2-1B8C6CC95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76975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5 readable core records · shared origins disclosed · Sources: P13, S635, S637, S638, S640, S642, S645</a:t>
            </a:r>
          </a:p>
        </p:txBody>
      </p:sp>
    </p:spTree>
    <p:extLst>
      <p:ext uri="{BB962C8B-B14F-4D97-AF65-F5344CB8AC3E}">
        <p14:creationId xmlns:p14="http://schemas.microsoft.com/office/powerpoint/2010/main" val="252251181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DE101C9B-AA1D-4062-BF4B-B2AC632EF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G36 · PUBLIC SAFETY · 6 DECEMBER 2025; PROCEEDINGS THROUGH OCTOBER 2026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E2074D8-5DD5-404F-99E3-E28737AC7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53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defRPr>
            </a:pPr>
            <a:r>
              <a: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rPr>
              <a:t>Birch by Romeo Lane fire</a:t>
            </a:r>
          </a:p>
        </p:txBody>
      </p:sp>
      <p:sp>
        <p:nvSpPr>
          <p:cNvPr id="3" name="page-footer">
            <a:extLst xmlns:a="http://schemas.openxmlformats.org/drawingml/2006/main">
              <a:ext uri="{FF2B5EF4-FFF2-40B4-BE49-F238E27FC236}">
                <a16:creationId xmlns:a16="http://schemas.microsoft.com/office/drawing/2014/main" id="{BE2E2FFF-2D28-4660-BEF7-2F58FDE8E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GOA GOVERNANCE  /  14 OCTOBER 2026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ABCBC66-DECE-4B76-B8C6-50576C6A7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514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43</a:t>
            </a:r>
          </a:p>
        </p:txBody>
      </p:sp>
      <p:sp>
        <p:nvSpPr>
          <p:cNvPr id="5" name="fact-body">
            <a:extLst xmlns:a="http://schemas.openxmlformats.org/drawingml/2006/main">
              <a:ext uri="{FF2B5EF4-FFF2-40B4-BE49-F238E27FC236}">
                <a16:creationId xmlns:a16="http://schemas.microsoft.com/office/drawing/2014/main" id="{B0BAB311-5684-4829-AE44-CAEF86E51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5191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FACT / G36-C1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The Arpora nightclub fire killed 25 people;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reporting on the magisterial inquiry identifies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failures in licensing and enforcement.</a:t>
            </a:r>
          </a:p>
        </p:txBody>
      </p:sp>
      <p:sp>
        <p:nvSpPr>
          <p:cNvPr id="6" name="effect-body">
            <a:extLst xmlns:a="http://schemas.openxmlformats.org/drawingml/2006/main">
              <a:ext uri="{FF2B5EF4-FFF2-40B4-BE49-F238E27FC236}">
                <a16:creationId xmlns:a16="http://schemas.microsoft.com/office/drawing/2014/main" id="{B22BB582-02EE-4CD7-A753-794D87BD7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67025"/>
            <a:ext cx="5191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EFFECT ON GOA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Deaths devastated families and workers and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exposed hazards in tourism-linked commercial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premises.</a:t>
            </a:r>
          </a:p>
        </p:txBody>
      </p:sp>
      <p:sp>
        <p:nvSpPr>
          <p:cNvPr id="7" name="implication-body">
            <a:extLst xmlns:a="http://schemas.openxmlformats.org/drawingml/2006/main">
              <a:ext uri="{FF2B5EF4-FFF2-40B4-BE49-F238E27FC236}">
                <a16:creationId xmlns:a16="http://schemas.microsoft.com/office/drawing/2014/main" id="{230DC591-0A17-4E59-955B-7FF388763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71650"/>
            <a:ext cx="5191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INCUMBENT IMPLICATION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Creates a severe safety and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regulatory-accountability challenge for the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incumbent.</a:t>
            </a:r>
          </a:p>
        </p:txBody>
      </p:sp>
      <p:sp>
        <p:nvSpPr>
          <p:cNvPr id="8" name="logic-body">
            <a:extLst xmlns:a="http://schemas.openxmlformats.org/drawingml/2006/main">
              <a:ext uri="{FF2B5EF4-FFF2-40B4-BE49-F238E27FC236}">
                <a16:creationId xmlns:a16="http://schemas.microsoft.com/office/drawing/2014/main" id="{9DB90047-270F-40F7-8D51-F4627DCFC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67025"/>
            <a:ext cx="5191125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LOGIC / RATIONALE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Documented missed licensing and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enforcement safeguards make the case more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directly connected to governance than a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private fire without prior regulatory failures.</a:t>
            </a:r>
          </a:p>
        </p:txBody>
      </p:sp>
      <p:sp>
        <p:nvSpPr>
          <p:cNvPr id="9" name="assumptions-body">
            <a:extLst xmlns:a="http://schemas.openxmlformats.org/drawingml/2006/main">
              <a:ext uri="{FF2B5EF4-FFF2-40B4-BE49-F238E27FC236}">
                <a16:creationId xmlns:a16="http://schemas.microsoft.com/office/drawing/2014/main" id="{7B85A96E-481B-407F-A238-83F48D982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19575"/>
            <a:ext cx="5191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ASSUMPTIONS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Enforcement of documented duties could have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materially reduced exposure; criminal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causation remains for adjudication.</a:t>
            </a:r>
          </a:p>
        </p:txBody>
      </p:sp>
      <p:sp>
        <p:nvSpPr>
          <p:cNvPr id="10" name="limit-label">
            <a:extLst xmlns:a="http://schemas.openxmlformats.org/drawingml/2006/main">
              <a:ext uri="{FF2B5EF4-FFF2-40B4-BE49-F238E27FC236}">
                <a16:creationId xmlns:a16="http://schemas.microsoft.com/office/drawing/2014/main" id="{D4D40CDE-D4A6-4205-A270-7DCE049CB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LIMIT / COUNTER-FINDING</a:t>
            </a:r>
          </a:p>
        </p:txBody>
      </p:sp>
      <p:sp>
        <p:nvSpPr>
          <p:cNvPr id="11" name="case-limit">
            <a:extLst xmlns:a="http://schemas.openxmlformats.org/drawingml/2006/main">
              <a:ext uri="{FF2B5EF4-FFF2-40B4-BE49-F238E27FC236}">
                <a16:creationId xmlns:a16="http://schemas.microsoft.com/office/drawing/2014/main" id="{6270BA1E-931E-4231-8863-4313200C9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53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Early reports suggested a gas explosion; later investigation focused on indoor pyrotechnics. Bail developments changed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repeatedly and do not decide guilt.</a:t>
            </a:r>
          </a:p>
        </p:txBody>
      </p:sp>
      <p:sp>
        <p:nvSpPr>
          <p:cNvPr id="12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B5120590-B292-4579-80BA-03E15A349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76975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4 readable core records · shared origins disclosed · Sources: S017, S018, S370, S378, S384, S387, S016, S388, S011, S147, S383</a:t>
            </a:r>
          </a:p>
        </p:txBody>
      </p:sp>
    </p:spTree>
    <p:extLst>
      <p:ext uri="{BB962C8B-B14F-4D97-AF65-F5344CB8AC3E}">
        <p14:creationId xmlns:p14="http://schemas.microsoft.com/office/powerpoint/2010/main" val="1761869647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A2B1EA4D-5698-4735-9DB3-36530DF30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G37 · PUBLIC SAFETY · 3 MAY 2025; INQUIRY MAY 2025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81794FE-1D0B-40A0-926C-2EE38A3A1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53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defRPr>
            </a:pPr>
            <a:r>
              <a: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rPr>
              <a:t>Shirgao festival stampede</a:t>
            </a:r>
          </a:p>
        </p:txBody>
      </p:sp>
      <p:sp>
        <p:nvSpPr>
          <p:cNvPr id="3" name="page-footer">
            <a:extLst xmlns:a="http://schemas.openxmlformats.org/drawingml/2006/main">
              <a:ext uri="{FF2B5EF4-FFF2-40B4-BE49-F238E27FC236}">
                <a16:creationId xmlns:a16="http://schemas.microsoft.com/office/drawing/2014/main" id="{18CE9CD7-61AB-4173-B784-1FBD76945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GOA GOVERNANCE  /  14 OCTOBER 2026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458AEBD-9846-4CD6-9BF6-243A0C04E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514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44</a:t>
            </a:r>
          </a:p>
        </p:txBody>
      </p:sp>
      <p:sp>
        <p:nvSpPr>
          <p:cNvPr id="5" name="fact-body">
            <a:extLst xmlns:a="http://schemas.openxmlformats.org/drawingml/2006/main">
              <a:ext uri="{FF2B5EF4-FFF2-40B4-BE49-F238E27FC236}">
                <a16:creationId xmlns:a16="http://schemas.microsoft.com/office/drawing/2014/main" id="{A79CEEA6-5211-4464-89C9-338085314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5191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FACT / G37-C1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Six people died in the Lairai festival stampede;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the inquiry described preventable coordination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and crowd-management lapses.</a:t>
            </a:r>
          </a:p>
        </p:txBody>
      </p:sp>
      <p:sp>
        <p:nvSpPr>
          <p:cNvPr id="6" name="effect-body">
            <a:extLst xmlns:a="http://schemas.openxmlformats.org/drawingml/2006/main">
              <a:ext uri="{FF2B5EF4-FFF2-40B4-BE49-F238E27FC236}">
                <a16:creationId xmlns:a16="http://schemas.microsoft.com/office/drawing/2014/main" id="{E4F23848-9EE0-42B0-9D14-0B66A0F05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67025"/>
            <a:ext cx="5191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EFFECT ON GOA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Families lost lives and many devotees were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injured; the incident put large-event safety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under scrutiny.</a:t>
            </a:r>
          </a:p>
        </p:txBody>
      </p:sp>
      <p:sp>
        <p:nvSpPr>
          <p:cNvPr id="7" name="implication-body">
            <a:extLst xmlns:a="http://schemas.openxmlformats.org/drawingml/2006/main">
              <a:ext uri="{FF2B5EF4-FFF2-40B4-BE49-F238E27FC236}">
                <a16:creationId xmlns:a16="http://schemas.microsoft.com/office/drawing/2014/main" id="{0A4ABE25-F2F7-4F8C-99CA-404754FFE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71650"/>
            <a:ext cx="51911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INCUMBENT IMPLICATION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Creates a substantial district-administration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and policing accountability issue.</a:t>
            </a:r>
          </a:p>
        </p:txBody>
      </p:sp>
      <p:sp>
        <p:nvSpPr>
          <p:cNvPr id="8" name="logic-body">
            <a:extLst xmlns:a="http://schemas.openxmlformats.org/drawingml/2006/main">
              <a:ext uri="{FF2B5EF4-FFF2-40B4-BE49-F238E27FC236}">
                <a16:creationId xmlns:a16="http://schemas.microsoft.com/office/drawing/2014/main" id="{32D78AAF-0FEB-4CFA-82B3-FCA7B0C07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09850"/>
            <a:ext cx="5191125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LOGIC / RATIONALE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An inquiry linking a tragedy to avoidable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management failures supports scrutiny of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preparedness rather than treating the incident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only as misfortune.</a:t>
            </a:r>
          </a:p>
        </p:txBody>
      </p:sp>
      <p:sp>
        <p:nvSpPr>
          <p:cNvPr id="9" name="assumptions-body">
            <a:extLst xmlns:a="http://schemas.openxmlformats.org/drawingml/2006/main">
              <a:ext uri="{FF2B5EF4-FFF2-40B4-BE49-F238E27FC236}">
                <a16:creationId xmlns:a16="http://schemas.microsoft.com/office/drawing/2014/main" id="{B39285B7-83B3-4F98-B679-88AA1CAAF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62400"/>
            <a:ext cx="51911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ASSUMPTIONS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The inquiry’s findings are reliable and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appropriate crowd arrangements were feasible.</a:t>
            </a:r>
          </a:p>
        </p:txBody>
      </p:sp>
      <p:sp>
        <p:nvSpPr>
          <p:cNvPr id="10" name="limit-label">
            <a:extLst xmlns:a="http://schemas.openxmlformats.org/drawingml/2006/main">
              <a:ext uri="{FF2B5EF4-FFF2-40B4-BE49-F238E27FC236}">
                <a16:creationId xmlns:a16="http://schemas.microsoft.com/office/drawing/2014/main" id="{448BF6BF-67EF-44E8-AA65-A4C93B5B3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LIMIT / COUNTER-FINDING</a:t>
            </a:r>
          </a:p>
        </p:txBody>
      </p:sp>
      <p:sp>
        <p:nvSpPr>
          <p:cNvPr id="11" name="case-limit">
            <a:extLst xmlns:a="http://schemas.openxmlformats.org/drawingml/2006/main">
              <a:ext uri="{FF2B5EF4-FFF2-40B4-BE49-F238E27FC236}">
                <a16:creationId xmlns:a16="http://schemas.microsoft.com/office/drawing/2014/main" id="{79D02D4B-6DA2-4BB3-BE9A-E2DA8F197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53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Injury totals evolved from early reports; one early headline said seven deaths. The temple committee disputed parts of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the inquiry, which must be included.</a:t>
            </a:r>
          </a:p>
        </p:txBody>
      </p:sp>
      <p:sp>
        <p:nvSpPr>
          <p:cNvPr id="12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569C60DF-F2E5-4FEB-AE4C-BEFA72A84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76975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5 readable core records · shared origins disclosed · Sources: S560, S563, S565, S569, S655, S656, S658, S571</a:t>
            </a:r>
          </a:p>
        </p:txBody>
      </p:sp>
    </p:spTree>
    <p:extLst>
      <p:ext uri="{BB962C8B-B14F-4D97-AF65-F5344CB8AC3E}">
        <p14:creationId xmlns:p14="http://schemas.microsoft.com/office/powerpoint/2010/main" val="24352718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CC55F8BD-A9F3-42D5-8601-5DD306DEC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G38 · TRANSPORT · 2023–2025; 2026 PARTIAL FOLLOWUP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292B369-E7E1-4266-AA7A-9A7FA0140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53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defRPr>
            </a:pPr>
            <a:r>
              <a: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rPr>
              <a:t>Road fatalities and safety enforcement</a:t>
            </a:r>
          </a:p>
        </p:txBody>
      </p:sp>
      <p:sp>
        <p:nvSpPr>
          <p:cNvPr id="3" name="page-footer">
            <a:extLst xmlns:a="http://schemas.openxmlformats.org/drawingml/2006/main">
              <a:ext uri="{FF2B5EF4-FFF2-40B4-BE49-F238E27FC236}">
                <a16:creationId xmlns:a16="http://schemas.microsoft.com/office/drawing/2014/main" id="{77634981-1610-4831-BD49-75F3B77B5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GOA GOVERNANCE  /  14 OCTOBER 2026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EC6F4C5-015A-4911-95CC-38611306C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514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45</a:t>
            </a:r>
          </a:p>
        </p:txBody>
      </p:sp>
      <p:sp>
        <p:nvSpPr>
          <p:cNvPr id="5" name="fact-body">
            <a:extLst xmlns:a="http://schemas.openxmlformats.org/drawingml/2006/main">
              <a:ext uri="{FF2B5EF4-FFF2-40B4-BE49-F238E27FC236}">
                <a16:creationId xmlns:a16="http://schemas.microsoft.com/office/drawing/2014/main" id="{6371A28B-A2B3-46E5-9CBA-F3D76A34D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51911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FACT / G38-C1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Traffic reporting records 290 road deaths in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2023, about 286–287 in 2024 and 269 in 2025.</a:t>
            </a:r>
          </a:p>
        </p:txBody>
      </p:sp>
      <p:sp>
        <p:nvSpPr>
          <p:cNvPr id="6" name="effect-body">
            <a:extLst xmlns:a="http://schemas.openxmlformats.org/drawingml/2006/main">
              <a:ext uri="{FF2B5EF4-FFF2-40B4-BE49-F238E27FC236}">
                <a16:creationId xmlns:a16="http://schemas.microsoft.com/office/drawing/2014/main" id="{4D676391-10CA-4E9F-894F-3FAEC90B5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5191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EFFECT ON GOA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The continuing death toll imposes household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loss, injury burdens and emergency-service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demand despite a recent reduction.</a:t>
            </a:r>
          </a:p>
        </p:txBody>
      </p:sp>
      <p:sp>
        <p:nvSpPr>
          <p:cNvPr id="7" name="implication-body">
            <a:extLst xmlns:a="http://schemas.openxmlformats.org/drawingml/2006/main">
              <a:ext uri="{FF2B5EF4-FFF2-40B4-BE49-F238E27FC236}">
                <a16:creationId xmlns:a16="http://schemas.microsoft.com/office/drawing/2014/main" id="{B937A498-734D-45FE-A4AB-A7542ED13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71650"/>
            <a:ext cx="5191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INCUMBENT IMPLICATION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Keeps road safety an accountability issue but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does not support a continuously rising death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trend.</a:t>
            </a:r>
          </a:p>
        </p:txBody>
      </p:sp>
      <p:sp>
        <p:nvSpPr>
          <p:cNvPr id="8" name="logic-body">
            <a:extLst xmlns:a="http://schemas.openxmlformats.org/drawingml/2006/main">
              <a:ext uri="{FF2B5EF4-FFF2-40B4-BE49-F238E27FC236}">
                <a16:creationId xmlns:a16="http://schemas.microsoft.com/office/drawing/2014/main" id="{CA37C6E8-6E76-4DD8-BCC3-C59A06531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67025"/>
            <a:ext cx="5191125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LOGIC / RATIONALE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Authorities influence engineering, enforcement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and response; driver behaviour and exposure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also matter. A missed reduction target is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different from an increase in deaths.</a:t>
            </a:r>
          </a:p>
        </p:txBody>
      </p:sp>
      <p:sp>
        <p:nvSpPr>
          <p:cNvPr id="9" name="assumptions-body">
            <a:extLst xmlns:a="http://schemas.openxmlformats.org/drawingml/2006/main">
              <a:ext uri="{FF2B5EF4-FFF2-40B4-BE49-F238E27FC236}">
                <a16:creationId xmlns:a16="http://schemas.microsoft.com/office/drawing/2014/main" id="{8B79B3D8-A7EF-4429-A878-8DF2D2DDC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19575"/>
            <a:ext cx="51911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ASSUMPTIONS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Police recording and reference periods are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comparable.</a:t>
            </a:r>
          </a:p>
        </p:txBody>
      </p:sp>
      <p:sp>
        <p:nvSpPr>
          <p:cNvPr id="10" name="limit-label">
            <a:extLst xmlns:a="http://schemas.openxmlformats.org/drawingml/2006/main">
              <a:ext uri="{FF2B5EF4-FFF2-40B4-BE49-F238E27FC236}">
                <a16:creationId xmlns:a16="http://schemas.microsoft.com/office/drawing/2014/main" id="{2173DFB0-4D1B-40C4-87F7-564B68570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LIMIT / COUNTER-FINDING</a:t>
            </a:r>
          </a:p>
        </p:txBody>
      </p:sp>
      <p:sp>
        <p:nvSpPr>
          <p:cNvPr id="11" name="case-limit">
            <a:extLst xmlns:a="http://schemas.openxmlformats.org/drawingml/2006/main">
              <a:ext uri="{FF2B5EF4-FFF2-40B4-BE49-F238E27FC236}">
                <a16:creationId xmlns:a16="http://schemas.microsoft.com/office/drawing/2014/main" id="{5A488577-F420-46EE-A0DC-37BB8A555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53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Sources disagree by one on the 2024 total. Fatal crashes and persons killed are distinct; a reported percentage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reduction in one article is arithmetically inconsistent.</a:t>
            </a:r>
          </a:p>
        </p:txBody>
      </p:sp>
      <p:sp>
        <p:nvSpPr>
          <p:cNvPr id="12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C1ABA66F-923A-42DC-8021-E7B985A4A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76975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4 readable core records · shared origins disclosed · Sources: S401, S404, S420, S424, S426, S419, S421</a:t>
            </a:r>
          </a:p>
        </p:txBody>
      </p:sp>
    </p:spTree>
    <p:extLst>
      <p:ext uri="{BB962C8B-B14F-4D97-AF65-F5344CB8AC3E}">
        <p14:creationId xmlns:p14="http://schemas.microsoft.com/office/powerpoint/2010/main" val="68647896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C3D246A8-2226-4639-96C2-0B23ED240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G39 · BASIC SERVICES · AUGUST 2019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84A41A8-912C-4E35-BE05-540E34FEE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53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defRPr>
            </a:pPr>
            <a:r>
              <a: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rPr>
              <a:t>Khandepar pipeline failure</a:t>
            </a:r>
          </a:p>
        </p:txBody>
      </p:sp>
      <p:sp>
        <p:nvSpPr>
          <p:cNvPr id="3" name="page-footer">
            <a:extLst xmlns:a="http://schemas.openxmlformats.org/drawingml/2006/main">
              <a:ext uri="{FF2B5EF4-FFF2-40B4-BE49-F238E27FC236}">
                <a16:creationId xmlns:a16="http://schemas.microsoft.com/office/drawing/2014/main" id="{4517DB6C-BAC7-442A-9B99-7E1B8AEEA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GOA GOVERNANCE  /  14 OCTOBER 2026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CDDFC84-491E-4836-AAE8-58AD1F2B0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514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46</a:t>
            </a:r>
          </a:p>
        </p:txBody>
      </p:sp>
      <p:sp>
        <p:nvSpPr>
          <p:cNvPr id="5" name="fact-body">
            <a:extLst xmlns:a="http://schemas.openxmlformats.org/drawingml/2006/main">
              <a:ext uri="{FF2B5EF4-FFF2-40B4-BE49-F238E27FC236}">
                <a16:creationId xmlns:a16="http://schemas.microsoft.com/office/drawing/2014/main" id="{9D9411A4-ECE1-4E96-9803-338E76883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5191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FACT / G39-C1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A landslide damaged major water pipelines at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Curti-Khandepar and interrupted supply for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several days.</a:t>
            </a:r>
          </a:p>
        </p:txBody>
      </p:sp>
      <p:sp>
        <p:nvSpPr>
          <p:cNvPr id="6" name="effect-body">
            <a:extLst xmlns:a="http://schemas.openxmlformats.org/drawingml/2006/main">
              <a:ext uri="{FF2B5EF4-FFF2-40B4-BE49-F238E27FC236}">
                <a16:creationId xmlns:a16="http://schemas.microsoft.com/office/drawing/2014/main" id="{9D18FE51-AE7D-4911-81D0-5FE0ABA0E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67025"/>
            <a:ext cx="51911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EFFECT ON GOA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Households and institutions faced shortages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and dependence on emergency arrangements.</a:t>
            </a:r>
          </a:p>
        </p:txBody>
      </p:sp>
      <p:sp>
        <p:nvSpPr>
          <p:cNvPr id="7" name="implication-body">
            <a:extLst xmlns:a="http://schemas.openxmlformats.org/drawingml/2006/main">
              <a:ext uri="{FF2B5EF4-FFF2-40B4-BE49-F238E27FC236}">
                <a16:creationId xmlns:a16="http://schemas.microsoft.com/office/drawing/2014/main" id="{F61BEDFA-76DD-48CC-A036-B04CF22E8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71650"/>
            <a:ext cx="51911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INCUMBENT IMPLICATION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Raises resilience and backup-supply questions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for the incumbent.</a:t>
            </a:r>
          </a:p>
        </p:txBody>
      </p:sp>
      <p:sp>
        <p:nvSpPr>
          <p:cNvPr id="8" name="logic-body">
            <a:extLst xmlns:a="http://schemas.openxmlformats.org/drawingml/2006/main">
              <a:ext uri="{FF2B5EF4-FFF2-40B4-BE49-F238E27FC236}">
                <a16:creationId xmlns:a16="http://schemas.microsoft.com/office/drawing/2014/main" id="{ABEBE794-84D4-4E02-8982-01DCDD83C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09850"/>
            <a:ext cx="5191125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LOGIC / RATIONALE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Extreme rain is an external trigger, but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network redundancy and restoration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arrangements are public-service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responsibilities.</a:t>
            </a:r>
          </a:p>
        </p:txBody>
      </p:sp>
      <p:sp>
        <p:nvSpPr>
          <p:cNvPr id="9" name="assumptions-body">
            <a:extLst xmlns:a="http://schemas.openxmlformats.org/drawingml/2006/main">
              <a:ext uri="{FF2B5EF4-FFF2-40B4-BE49-F238E27FC236}">
                <a16:creationId xmlns:a16="http://schemas.microsoft.com/office/drawing/2014/main" id="{0AED7E7D-1DAA-494C-8078-75F0FB6A4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62400"/>
            <a:ext cx="51911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ASSUMPTIONS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Alternative supply capacity could have reduced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the disruption at reasonable cost.</a:t>
            </a:r>
          </a:p>
        </p:txBody>
      </p:sp>
      <p:sp>
        <p:nvSpPr>
          <p:cNvPr id="10" name="limit-label">
            <a:extLst xmlns:a="http://schemas.openxmlformats.org/drawingml/2006/main">
              <a:ext uri="{FF2B5EF4-FFF2-40B4-BE49-F238E27FC236}">
                <a16:creationId xmlns:a16="http://schemas.microsoft.com/office/drawing/2014/main" id="{B273C623-7B89-4EE6-A950-B22FC4354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LIMIT / COUNTER-FINDING</a:t>
            </a:r>
          </a:p>
        </p:txBody>
      </p:sp>
      <p:sp>
        <p:nvSpPr>
          <p:cNvPr id="11" name="case-limit">
            <a:extLst xmlns:a="http://schemas.openxmlformats.org/drawingml/2006/main">
              <a:ext uri="{FF2B5EF4-FFF2-40B4-BE49-F238E27FC236}">
                <a16:creationId xmlns:a16="http://schemas.microsoft.com/office/drawing/2014/main" id="{9BDBFA62-8361-4E92-B409-BB4DB38A8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53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The initial four-day repair forecast was not the realised interruption everywhere. Separate reports cover different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localities and restoration stages.</a:t>
            </a:r>
          </a:p>
        </p:txBody>
      </p:sp>
      <p:sp>
        <p:nvSpPr>
          <p:cNvPr id="12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284B29A2-3932-4AFB-B4DF-B8D3AE5AD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76975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4 readable core records · shared origins disclosed · Sources: S434, S439, S442, S453, S451, S454</a:t>
            </a:r>
          </a:p>
        </p:txBody>
      </p:sp>
    </p:spTree>
    <p:extLst>
      <p:ext uri="{BB962C8B-B14F-4D97-AF65-F5344CB8AC3E}">
        <p14:creationId xmlns:p14="http://schemas.microsoft.com/office/powerpoint/2010/main" val="721328222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1C7C421A-CCB9-4196-9CD7-2C1B62F71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G40 · BASIC SERVICES · APRIL 2024–MARCH 2026 REPORTING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2E9825F-7418-46DE-B138-477E29691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53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defRPr>
            </a:pPr>
            <a:r>
              <a: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rPr>
              <a:t>Electricity reliability concerns</a:t>
            </a:r>
          </a:p>
        </p:txBody>
      </p:sp>
      <p:sp>
        <p:nvSpPr>
          <p:cNvPr id="3" name="page-footer">
            <a:extLst xmlns:a="http://schemas.openxmlformats.org/drawingml/2006/main">
              <a:ext uri="{FF2B5EF4-FFF2-40B4-BE49-F238E27FC236}">
                <a16:creationId xmlns:a16="http://schemas.microsoft.com/office/drawing/2014/main" id="{DCF6761A-EDF9-42B2-8185-51E3679F7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GOA GOVERNANCE  /  14 OCTOBER 2026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68AE306-67E4-4A48-B078-57C83228A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514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47</a:t>
            </a:r>
          </a:p>
        </p:txBody>
      </p:sp>
      <p:sp>
        <p:nvSpPr>
          <p:cNvPr id="5" name="fact-body">
            <a:extLst xmlns:a="http://schemas.openxmlformats.org/drawingml/2006/main">
              <a:ext uri="{FF2B5EF4-FFF2-40B4-BE49-F238E27FC236}">
                <a16:creationId xmlns:a16="http://schemas.microsoft.com/office/drawing/2014/main" id="{9CACE87C-8557-48F2-8774-FC19059D5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5191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FACT / G40-C1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A report based on power-sector data describes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repeated planned and unplanned interruptions,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with high counts in Curchorem and Ponda.</a:t>
            </a:r>
          </a:p>
        </p:txBody>
      </p:sp>
      <p:sp>
        <p:nvSpPr>
          <p:cNvPr id="6" name="effect-body">
            <a:extLst xmlns:a="http://schemas.openxmlformats.org/drawingml/2006/main">
              <a:ext uri="{FF2B5EF4-FFF2-40B4-BE49-F238E27FC236}">
                <a16:creationId xmlns:a16="http://schemas.microsoft.com/office/drawing/2014/main" id="{F1FEC6FD-86B6-4256-A5DE-7669042FE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67025"/>
            <a:ext cx="5191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EFFECT ON GOA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Interruptions can affect household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convenience, businesses, students and public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facilities.</a:t>
            </a:r>
          </a:p>
        </p:txBody>
      </p:sp>
      <p:sp>
        <p:nvSpPr>
          <p:cNvPr id="7" name="implication-body">
            <a:extLst xmlns:a="http://schemas.openxmlformats.org/drawingml/2006/main">
              <a:ext uri="{FF2B5EF4-FFF2-40B4-BE49-F238E27FC236}">
                <a16:creationId xmlns:a16="http://schemas.microsoft.com/office/drawing/2014/main" id="{E6379DC5-6A59-40B5-B015-7C394F515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71650"/>
            <a:ext cx="51911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INCUMBENT IMPLICATION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Tests the incumbent’s reliability commitments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and distribution-network management.</a:t>
            </a:r>
          </a:p>
        </p:txBody>
      </p:sp>
      <p:sp>
        <p:nvSpPr>
          <p:cNvPr id="8" name="logic-body">
            <a:extLst xmlns:a="http://schemas.openxmlformats.org/drawingml/2006/main">
              <a:ext uri="{FF2B5EF4-FFF2-40B4-BE49-F238E27FC236}">
                <a16:creationId xmlns:a16="http://schemas.microsoft.com/office/drawing/2014/main" id="{57BD324B-8C9E-45F5-836F-32C5F74CC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09850"/>
            <a:ext cx="5191125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LOGIC / RATIONALE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Service reliability depends on maintenance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and adequate capacity. Monitoring outages is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necessary to judge whether investments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improve actual supply.</a:t>
            </a:r>
          </a:p>
        </p:txBody>
      </p:sp>
      <p:sp>
        <p:nvSpPr>
          <p:cNvPr id="9" name="assumptions-body">
            <a:extLst xmlns:a="http://schemas.openxmlformats.org/drawingml/2006/main">
              <a:ext uri="{FF2B5EF4-FFF2-40B4-BE49-F238E27FC236}">
                <a16:creationId xmlns:a16="http://schemas.microsoft.com/office/drawing/2014/main" id="{7E007375-330C-4CA2-8DA8-AB291BA48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62400"/>
            <a:ext cx="5191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ASSUMPTIONS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Unplanned interruptions were material;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planned maintenance may improve later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reliability.</a:t>
            </a:r>
          </a:p>
        </p:txBody>
      </p:sp>
      <p:sp>
        <p:nvSpPr>
          <p:cNvPr id="10" name="limit-label">
            <a:extLst xmlns:a="http://schemas.openxmlformats.org/drawingml/2006/main">
              <a:ext uri="{FF2B5EF4-FFF2-40B4-BE49-F238E27FC236}">
                <a16:creationId xmlns:a16="http://schemas.microsoft.com/office/drawing/2014/main" id="{F84F401A-7B3E-4F7E-BF4E-C9EBE0D54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LIMIT / COUNTER-FINDING</a:t>
            </a:r>
          </a:p>
        </p:txBody>
      </p:sp>
      <p:sp>
        <p:nvSpPr>
          <p:cNvPr id="11" name="case-limit">
            <a:extLst xmlns:a="http://schemas.openxmlformats.org/drawingml/2006/main">
              <a:ext uri="{FF2B5EF4-FFF2-40B4-BE49-F238E27FC236}">
                <a16:creationId xmlns:a16="http://schemas.microsoft.com/office/drawing/2014/main" id="{6A9D5EDE-202D-435C-8445-EAF77A7AF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53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Division outage totals cannot be treated as statewide simultaneous blackouts. Consumer-event counts may include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repeat consumers; hours cannot simply be added as household downtime.</a:t>
            </a:r>
          </a:p>
        </p:txBody>
      </p:sp>
      <p:sp>
        <p:nvSpPr>
          <p:cNvPr id="12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E799905F-9006-4387-8550-B37A3AB3F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76975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3 readable core records · below four-source threshold · Sources: S448, S431, S458, S462</a:t>
            </a:r>
          </a:p>
        </p:txBody>
      </p:sp>
    </p:spTree>
    <p:extLst>
      <p:ext uri="{BB962C8B-B14F-4D97-AF65-F5344CB8AC3E}">
        <p14:creationId xmlns:p14="http://schemas.microsoft.com/office/powerpoint/2010/main" val="574064665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250CB96B-9DF2-4A4F-AC30-F31EC832F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G41 · DISASTER MANAGEMENT · MAY 2021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7943409-2C55-47BC-9FC5-6E9FD3D1C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53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defRPr>
            </a:pPr>
            <a:r>
              <a: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rPr>
              <a:t>Cyclone Tauktae damage and relief</a:t>
            </a:r>
          </a:p>
        </p:txBody>
      </p:sp>
      <p:sp>
        <p:nvSpPr>
          <p:cNvPr id="3" name="page-footer">
            <a:extLst xmlns:a="http://schemas.openxmlformats.org/drawingml/2006/main">
              <a:ext uri="{FF2B5EF4-FFF2-40B4-BE49-F238E27FC236}">
                <a16:creationId xmlns:a16="http://schemas.microsoft.com/office/drawing/2014/main" id="{25D18E6F-E4F2-4A01-962E-76C8ECE2C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GOA GOVERNANCE  /  14 OCTOBER 2026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3B856A1-D85A-4C34-806F-E860C084F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514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48</a:t>
            </a:r>
          </a:p>
        </p:txBody>
      </p:sp>
      <p:sp>
        <p:nvSpPr>
          <p:cNvPr id="5" name="fact-body">
            <a:extLst xmlns:a="http://schemas.openxmlformats.org/drawingml/2006/main">
              <a:ext uri="{FF2B5EF4-FFF2-40B4-BE49-F238E27FC236}">
                <a16:creationId xmlns:a16="http://schemas.microsoft.com/office/drawing/2014/main" id="{8B76A1CE-2D8F-4B4E-A16B-224ED12F6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5191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FACT / G41-C1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Official records document deaths, house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damage and agricultural losses from Cyclone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Tauktae in Goa.</a:t>
            </a:r>
          </a:p>
        </p:txBody>
      </p:sp>
      <p:sp>
        <p:nvSpPr>
          <p:cNvPr id="6" name="effect-body">
            <a:extLst xmlns:a="http://schemas.openxmlformats.org/drawingml/2006/main">
              <a:ext uri="{FF2B5EF4-FFF2-40B4-BE49-F238E27FC236}">
                <a16:creationId xmlns:a16="http://schemas.microsoft.com/office/drawing/2014/main" id="{924F465C-D945-4D14-A418-705175C4C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67025"/>
            <a:ext cx="5191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EFFECT ON GOA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Power infrastructure, homes and livelihoods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were disrupted; compensation needs varied by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locality and damage category.</a:t>
            </a:r>
          </a:p>
        </p:txBody>
      </p:sp>
      <p:sp>
        <p:nvSpPr>
          <p:cNvPr id="7" name="implication-body">
            <a:extLst xmlns:a="http://schemas.openxmlformats.org/drawingml/2006/main">
              <a:ext uri="{FF2B5EF4-FFF2-40B4-BE49-F238E27FC236}">
                <a16:creationId xmlns:a16="http://schemas.microsoft.com/office/drawing/2014/main" id="{A47959D7-9EE4-4068-85B8-A612A78E1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71650"/>
            <a:ext cx="5191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INCUMBENT IMPLICATION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Tests preparedness, restoration and relief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delivery, without making the storm itself proof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of bad governance.</a:t>
            </a:r>
          </a:p>
        </p:txBody>
      </p:sp>
      <p:sp>
        <p:nvSpPr>
          <p:cNvPr id="8" name="logic-body">
            <a:extLst xmlns:a="http://schemas.openxmlformats.org/drawingml/2006/main">
              <a:ext uri="{FF2B5EF4-FFF2-40B4-BE49-F238E27FC236}">
                <a16:creationId xmlns:a16="http://schemas.microsoft.com/office/drawing/2014/main" id="{0165850D-1C0D-4701-974A-7F7EA8157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67025"/>
            <a:ext cx="5191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LOGIC / RATIONALE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Governments cannot prevent a cyclone but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can reduce vulnerability and deliver timely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recovery support.</a:t>
            </a:r>
          </a:p>
        </p:txBody>
      </p:sp>
      <p:sp>
        <p:nvSpPr>
          <p:cNvPr id="9" name="assumptions-body">
            <a:extLst xmlns:a="http://schemas.openxmlformats.org/drawingml/2006/main">
              <a:ext uri="{FF2B5EF4-FFF2-40B4-BE49-F238E27FC236}">
                <a16:creationId xmlns:a16="http://schemas.microsoft.com/office/drawing/2014/main" id="{7638CF63-7EE4-43F7-9D11-3948D1499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62400"/>
            <a:ext cx="51911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ASSUMPTIONS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Some losses were mitigable and relief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processes affected recovery.</a:t>
            </a:r>
          </a:p>
        </p:txBody>
      </p:sp>
      <p:sp>
        <p:nvSpPr>
          <p:cNvPr id="10" name="limit-label">
            <a:extLst xmlns:a="http://schemas.openxmlformats.org/drawingml/2006/main">
              <a:ext uri="{FF2B5EF4-FFF2-40B4-BE49-F238E27FC236}">
                <a16:creationId xmlns:a16="http://schemas.microsoft.com/office/drawing/2014/main" id="{BB173A4B-A1C0-468A-8033-C44EA5193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LIMIT / COUNTER-FINDING</a:t>
            </a:r>
          </a:p>
        </p:txBody>
      </p:sp>
      <p:sp>
        <p:nvSpPr>
          <p:cNvPr id="11" name="case-limit">
            <a:extLst xmlns:a="http://schemas.openxmlformats.org/drawingml/2006/main">
              <a:ext uri="{FF2B5EF4-FFF2-40B4-BE49-F238E27FC236}">
                <a16:creationId xmlns:a16="http://schemas.microsoft.com/office/drawing/2014/main" id="{8123DED2-94AC-4F57-B760-3D2DB9F9B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53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Reported monetary losses changed as assessments expanded. Rs 40 crore, Rs 146 crore and later higher estimates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cannot be treated as the same final figure.</a:t>
            </a:r>
          </a:p>
        </p:txBody>
      </p:sp>
      <p:sp>
        <p:nvSpPr>
          <p:cNvPr id="12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4E43E189-1C68-4566-84F2-D8ED2B60D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76975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4 readable core records · shared origins disclosed · Sources: S429, S433, S435, S445, S447, S449, S437</a:t>
            </a:r>
          </a:p>
        </p:txBody>
      </p:sp>
    </p:spTree>
    <p:extLst>
      <p:ext uri="{BB962C8B-B14F-4D97-AF65-F5344CB8AC3E}">
        <p14:creationId xmlns:p14="http://schemas.microsoft.com/office/powerpoint/2010/main" val="1087751567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55CD862F-546D-410F-98A5-DD30208FA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G42 · DISASTER MANAGEMENT · 23 JULY 2021 ONWARD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064C8D5-D43B-44E9-8067-641496DAD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53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defRPr>
            </a:pPr>
            <a:r>
              <a: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rPr>
              <a:t>July 2021 floods</a:t>
            </a:r>
          </a:p>
        </p:txBody>
      </p:sp>
      <p:sp>
        <p:nvSpPr>
          <p:cNvPr id="3" name="page-footer">
            <a:extLst xmlns:a="http://schemas.openxmlformats.org/drawingml/2006/main">
              <a:ext uri="{FF2B5EF4-FFF2-40B4-BE49-F238E27FC236}">
                <a16:creationId xmlns:a16="http://schemas.microsoft.com/office/drawing/2014/main" id="{DF9F7302-AC51-43FE-ADD6-B2D8E6872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GOA GOVERNANCE  /  14 OCTOBER 2026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1F628D7-4858-4446-BA2C-79C1A20F7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514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49</a:t>
            </a:r>
          </a:p>
        </p:txBody>
      </p:sp>
      <p:sp>
        <p:nvSpPr>
          <p:cNvPr id="5" name="fact-body">
            <a:extLst xmlns:a="http://schemas.openxmlformats.org/drawingml/2006/main">
              <a:ext uri="{FF2B5EF4-FFF2-40B4-BE49-F238E27FC236}">
                <a16:creationId xmlns:a16="http://schemas.microsoft.com/office/drawing/2014/main" id="{6F7F2361-7144-4689-B272-827879373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5191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FACT / G42-C1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Severe flooding damaged homes and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infrastructure and required evacuations in July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2021.</a:t>
            </a:r>
          </a:p>
        </p:txBody>
      </p:sp>
      <p:sp>
        <p:nvSpPr>
          <p:cNvPr id="6" name="effect-body">
            <a:extLst xmlns:a="http://schemas.openxmlformats.org/drawingml/2006/main">
              <a:ext uri="{FF2B5EF4-FFF2-40B4-BE49-F238E27FC236}">
                <a16:creationId xmlns:a16="http://schemas.microsoft.com/office/drawing/2014/main" id="{F7450A72-D7D7-4B34-8A36-23C15BAB2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67025"/>
            <a:ext cx="5191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EFFECT ON GOA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Residents experienced displacement,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interrupted access and damage to household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and farm assets.</a:t>
            </a:r>
          </a:p>
        </p:txBody>
      </p:sp>
      <p:sp>
        <p:nvSpPr>
          <p:cNvPr id="7" name="implication-body">
            <a:extLst xmlns:a="http://schemas.openxmlformats.org/drawingml/2006/main">
              <a:ext uri="{FF2B5EF4-FFF2-40B4-BE49-F238E27FC236}">
                <a16:creationId xmlns:a16="http://schemas.microsoft.com/office/drawing/2014/main" id="{2F7FBCC3-DB75-451E-AB89-26737A3D1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71650"/>
            <a:ext cx="51911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INCUMBENT IMPLICATION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Creates a resilience and recovery-delivery test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for the incumbent.</a:t>
            </a:r>
          </a:p>
        </p:txBody>
      </p:sp>
      <p:sp>
        <p:nvSpPr>
          <p:cNvPr id="8" name="logic-body">
            <a:extLst xmlns:a="http://schemas.openxmlformats.org/drawingml/2006/main">
              <a:ext uri="{FF2B5EF4-FFF2-40B4-BE49-F238E27FC236}">
                <a16:creationId xmlns:a16="http://schemas.microsoft.com/office/drawing/2014/main" id="{5A7110B3-FF8D-42B1-8FCA-DC842AB3E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09850"/>
            <a:ext cx="5191125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LOGIC / RATIONALE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Exceptional rainfall explains the hazard;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preparedness, drainage, land-use control and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assistance determine part of the eventual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damage and recovery.</a:t>
            </a:r>
          </a:p>
        </p:txBody>
      </p:sp>
      <p:sp>
        <p:nvSpPr>
          <p:cNvPr id="9" name="assumptions-body">
            <a:extLst xmlns:a="http://schemas.openxmlformats.org/drawingml/2006/main">
              <a:ext uri="{FF2B5EF4-FFF2-40B4-BE49-F238E27FC236}">
                <a16:creationId xmlns:a16="http://schemas.microsoft.com/office/drawing/2014/main" id="{2DB244AF-BAD0-4CDF-A5B5-63614A557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62400"/>
            <a:ext cx="51911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ASSUMPTIONS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Public measures could reduce exposure in at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least some affected locations.</a:t>
            </a:r>
          </a:p>
        </p:txBody>
      </p:sp>
      <p:sp>
        <p:nvSpPr>
          <p:cNvPr id="10" name="limit-label">
            <a:extLst xmlns:a="http://schemas.openxmlformats.org/drawingml/2006/main">
              <a:ext uri="{FF2B5EF4-FFF2-40B4-BE49-F238E27FC236}">
                <a16:creationId xmlns:a16="http://schemas.microsoft.com/office/drawing/2014/main" id="{250C4CC0-2514-4E0F-8BB6-F47B62334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LIMIT / COUNTER-FINDING</a:t>
            </a:r>
          </a:p>
        </p:txBody>
      </p:sp>
      <p:sp>
        <p:nvSpPr>
          <p:cNvPr id="11" name="case-limit">
            <a:extLst xmlns:a="http://schemas.openxmlformats.org/drawingml/2006/main">
              <a:ext uri="{FF2B5EF4-FFF2-40B4-BE49-F238E27FC236}">
                <a16:creationId xmlns:a16="http://schemas.microsoft.com/office/drawing/2014/main" id="{1634EE2F-16B7-4410-BAA0-32A159FF0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53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Early reports recorded no deaths; later reports recorded one. The phrase worst in 40 years is a reported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characterisation, not a independently reconstructed hydrological ranking.</a:t>
            </a:r>
          </a:p>
        </p:txBody>
      </p:sp>
      <p:sp>
        <p:nvSpPr>
          <p:cNvPr id="12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95169525-BD01-4EB0-A848-B4487C45B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76975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4 readable core records · shared origins disclosed · Sources: S609, S610, S613, S612, S615</a:t>
            </a:r>
          </a:p>
        </p:txBody>
      </p:sp>
    </p:spTree>
    <p:extLst>
      <p:ext uri="{BB962C8B-B14F-4D97-AF65-F5344CB8AC3E}">
        <p14:creationId xmlns:p14="http://schemas.microsoft.com/office/powerpoint/2010/main" val="1933038370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E70B0181-8169-4D42-9B30-5DD782D92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G43 · ENVIRONMENT AND DISASTER MANAGEMENT · MARCH 2023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2D815F3-E2A4-4BC8-AB3A-9A71392BB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53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defRPr>
            </a:pPr>
            <a:r>
              <a: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rPr>
              <a:t>March 2023 forest fires</a:t>
            </a:r>
          </a:p>
        </p:txBody>
      </p:sp>
      <p:sp>
        <p:nvSpPr>
          <p:cNvPr id="3" name="page-footer">
            <a:extLst xmlns:a="http://schemas.openxmlformats.org/drawingml/2006/main">
              <a:ext uri="{FF2B5EF4-FFF2-40B4-BE49-F238E27FC236}">
                <a16:creationId xmlns:a16="http://schemas.microsoft.com/office/drawing/2014/main" id="{CAD9EF3E-9BEC-4067-892E-9CD6D784B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GOA GOVERNANCE  /  14 OCTOBER 2026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3F76173D-F038-4159-8D0C-D91B4D932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514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50</a:t>
            </a:r>
          </a:p>
        </p:txBody>
      </p:sp>
      <p:sp>
        <p:nvSpPr>
          <p:cNvPr id="5" name="fact-body">
            <a:extLst xmlns:a="http://schemas.openxmlformats.org/drawingml/2006/main">
              <a:ext uri="{FF2B5EF4-FFF2-40B4-BE49-F238E27FC236}">
                <a16:creationId xmlns:a16="http://schemas.microsoft.com/office/drawing/2014/main" id="{CEF1481A-E6B6-4471-AFBE-7B28D478E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51911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FACT / G43-C1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The Forest Department produced a report on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fires affecting multiple locations in March 2023.</a:t>
            </a:r>
          </a:p>
        </p:txBody>
      </p:sp>
      <p:sp>
        <p:nvSpPr>
          <p:cNvPr id="6" name="effect-body">
            <a:extLst xmlns:a="http://schemas.openxmlformats.org/drawingml/2006/main">
              <a:ext uri="{FF2B5EF4-FFF2-40B4-BE49-F238E27FC236}">
                <a16:creationId xmlns:a16="http://schemas.microsoft.com/office/drawing/2014/main" id="{2E206EBB-3556-4175-B5E9-277C19352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51911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EFFECT ON GOA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Fires created ecological exposure and required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substantial response coordination.</a:t>
            </a:r>
          </a:p>
        </p:txBody>
      </p:sp>
      <p:sp>
        <p:nvSpPr>
          <p:cNvPr id="7" name="implication-body">
            <a:extLst xmlns:a="http://schemas.openxmlformats.org/drawingml/2006/main">
              <a:ext uri="{FF2B5EF4-FFF2-40B4-BE49-F238E27FC236}">
                <a16:creationId xmlns:a16="http://schemas.microsoft.com/office/drawing/2014/main" id="{022291A5-E783-4A2A-9596-247ADA99B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71650"/>
            <a:ext cx="51911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INCUMBENT IMPLICATION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Raises questions about surveillance,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prevention and firefighting capacity.</a:t>
            </a:r>
          </a:p>
        </p:txBody>
      </p:sp>
      <p:sp>
        <p:nvSpPr>
          <p:cNvPr id="8" name="logic-body">
            <a:extLst xmlns:a="http://schemas.openxmlformats.org/drawingml/2006/main">
              <a:ext uri="{FF2B5EF4-FFF2-40B4-BE49-F238E27FC236}">
                <a16:creationId xmlns:a16="http://schemas.microsoft.com/office/drawing/2014/main" id="{0ADE6E9D-7870-4046-9541-9330051AC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09850"/>
            <a:ext cx="5191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LOGIC / RATIONALE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Known fire risk and protected-area duties make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preparedness relevant; documented response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should be assessed alongside the occurrence.</a:t>
            </a:r>
          </a:p>
        </p:txBody>
      </p:sp>
      <p:sp>
        <p:nvSpPr>
          <p:cNvPr id="9" name="assumptions-body">
            <a:extLst xmlns:a="http://schemas.openxmlformats.org/drawingml/2006/main">
              <a:ext uri="{FF2B5EF4-FFF2-40B4-BE49-F238E27FC236}">
                <a16:creationId xmlns:a16="http://schemas.microsoft.com/office/drawing/2014/main" id="{002CF840-3687-4943-B50A-F2C6066AA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05225"/>
            <a:ext cx="51911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ASSUMPTIONS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Earlier detection or mitigation could reduce at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least some damage.</a:t>
            </a:r>
          </a:p>
        </p:txBody>
      </p:sp>
      <p:sp>
        <p:nvSpPr>
          <p:cNvPr id="10" name="limit-label">
            <a:extLst xmlns:a="http://schemas.openxmlformats.org/drawingml/2006/main">
              <a:ext uri="{FF2B5EF4-FFF2-40B4-BE49-F238E27FC236}">
                <a16:creationId xmlns:a16="http://schemas.microsoft.com/office/drawing/2014/main" id="{0FDC2792-2FAA-4515-A0ED-9610211B0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LIMIT / COUNTER-FINDING</a:t>
            </a:r>
          </a:p>
        </p:txBody>
      </p:sp>
      <p:sp>
        <p:nvSpPr>
          <p:cNvPr id="11" name="case-limit">
            <a:extLst xmlns:a="http://schemas.openxmlformats.org/drawingml/2006/main">
              <a:ext uri="{FF2B5EF4-FFF2-40B4-BE49-F238E27FC236}">
                <a16:creationId xmlns:a16="http://schemas.microsoft.com/office/drawing/2014/main" id="{143FAEDD-084F-4507-A4B6-019AB8D41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53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Do not assume intentional arson or assign all affected forest as permanently destroyed. Area, vegetation loss and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recovery require separate measures.</a:t>
            </a:r>
          </a:p>
        </p:txBody>
      </p:sp>
      <p:sp>
        <p:nvSpPr>
          <p:cNvPr id="12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B6F3132F-BB79-41EF-B222-ED2A08FCB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76975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2 readable core records · below four-source threshold · Sources: S436, S441, S450, S461</a:t>
            </a:r>
          </a:p>
        </p:txBody>
      </p:sp>
    </p:spTree>
    <p:extLst>
      <p:ext uri="{BB962C8B-B14F-4D97-AF65-F5344CB8AC3E}">
        <p14:creationId xmlns:p14="http://schemas.microsoft.com/office/powerpoint/2010/main" val="1563016412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BFB8169A-4396-4FF8-9C82-B52C2DA2B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G44 · ENVIRONMENT · JANUARY 2020 DISCOVERIES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452B92A-4AA8-4237-A470-A3CA5135E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53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defRPr>
            </a:pPr>
            <a:r>
              <a: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rPr>
              <a:t>Tiger poisoning and wildlife conflict</a:t>
            </a:r>
          </a:p>
        </p:txBody>
      </p:sp>
      <p:sp>
        <p:nvSpPr>
          <p:cNvPr id="3" name="page-footer">
            <a:extLst xmlns:a="http://schemas.openxmlformats.org/drawingml/2006/main">
              <a:ext uri="{FF2B5EF4-FFF2-40B4-BE49-F238E27FC236}">
                <a16:creationId xmlns:a16="http://schemas.microsoft.com/office/drawing/2014/main" id="{2BBDF176-5E69-4102-B0CB-4F4CBB534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GOA GOVERNANCE  /  14 OCTOBER 2026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20A1065-EA39-4B10-B2E1-A009CB9EA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514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51</a:t>
            </a:r>
          </a:p>
        </p:txBody>
      </p:sp>
      <p:sp>
        <p:nvSpPr>
          <p:cNvPr id="5" name="fact-body">
            <a:extLst xmlns:a="http://schemas.openxmlformats.org/drawingml/2006/main">
              <a:ext uri="{FF2B5EF4-FFF2-40B4-BE49-F238E27FC236}">
                <a16:creationId xmlns:a16="http://schemas.microsoft.com/office/drawing/2014/main" id="{06E03536-726F-4861-9C3A-2440E55FA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5191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FACT / G44-C1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Four tiger carcasses were discovered in the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Mhadei landscape; forest officials reported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poisoning and arrests.</a:t>
            </a:r>
          </a:p>
        </p:txBody>
      </p:sp>
      <p:sp>
        <p:nvSpPr>
          <p:cNvPr id="6" name="effect-body">
            <a:extLst xmlns:a="http://schemas.openxmlformats.org/drawingml/2006/main">
              <a:ext uri="{FF2B5EF4-FFF2-40B4-BE49-F238E27FC236}">
                <a16:creationId xmlns:a16="http://schemas.microsoft.com/office/drawing/2014/main" id="{C8D699AB-1001-45B7-B220-D299317A0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67025"/>
            <a:ext cx="5191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EFFECT ON GOA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The deaths exposed conflict between wildlife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conservation and livestock-dependent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households.</a:t>
            </a:r>
          </a:p>
        </p:txBody>
      </p:sp>
      <p:sp>
        <p:nvSpPr>
          <p:cNvPr id="7" name="implication-body">
            <a:extLst xmlns:a="http://schemas.openxmlformats.org/drawingml/2006/main">
              <a:ext uri="{FF2B5EF4-FFF2-40B4-BE49-F238E27FC236}">
                <a16:creationId xmlns:a16="http://schemas.microsoft.com/office/drawing/2014/main" id="{E890BF87-4CA1-4BA6-AB80-DDFC8DE16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71650"/>
            <a:ext cx="51911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INCUMBENT IMPLICATION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Challenges preventive conservation and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conflict-response systems.</a:t>
            </a:r>
          </a:p>
        </p:txBody>
      </p:sp>
      <p:sp>
        <p:nvSpPr>
          <p:cNvPr id="8" name="logic-body">
            <a:extLst xmlns:a="http://schemas.openxmlformats.org/drawingml/2006/main">
              <a:ext uri="{FF2B5EF4-FFF2-40B4-BE49-F238E27FC236}">
                <a16:creationId xmlns:a16="http://schemas.microsoft.com/office/drawing/2014/main" id="{1A219E52-21AA-4D41-BC05-1C47BD4F6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09850"/>
            <a:ext cx="5191125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LOGIC / RATIONALE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Timely compensation, outreach and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enforcement may reduce retaliatory risks;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private offences remain distinct from public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negligence.</a:t>
            </a:r>
          </a:p>
        </p:txBody>
      </p:sp>
      <p:sp>
        <p:nvSpPr>
          <p:cNvPr id="9" name="assumptions-body">
            <a:extLst xmlns:a="http://schemas.openxmlformats.org/drawingml/2006/main">
              <a:ext uri="{FF2B5EF4-FFF2-40B4-BE49-F238E27FC236}">
                <a16:creationId xmlns:a16="http://schemas.microsoft.com/office/drawing/2014/main" id="{B9C170A4-F2E9-466A-B41A-1C7EB3070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62400"/>
            <a:ext cx="5191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ASSUMPTIONS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Unresolved livestock losses or response gaps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contributed to the incident; that mechanism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needs case evidence.</a:t>
            </a:r>
          </a:p>
        </p:txBody>
      </p:sp>
      <p:sp>
        <p:nvSpPr>
          <p:cNvPr id="10" name="limit-label">
            <a:extLst xmlns:a="http://schemas.openxmlformats.org/drawingml/2006/main">
              <a:ext uri="{FF2B5EF4-FFF2-40B4-BE49-F238E27FC236}">
                <a16:creationId xmlns:a16="http://schemas.microsoft.com/office/drawing/2014/main" id="{31D302DC-8A1D-4101-981C-61E58F8FF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LIMIT / COUNTER-FINDING</a:t>
            </a:r>
          </a:p>
        </p:txBody>
      </p:sp>
      <p:sp>
        <p:nvSpPr>
          <p:cNvPr id="11" name="case-limit">
            <a:extLst xmlns:a="http://schemas.openxmlformats.org/drawingml/2006/main">
              <a:ext uri="{FF2B5EF4-FFF2-40B4-BE49-F238E27FC236}">
                <a16:creationId xmlns:a16="http://schemas.microsoft.com/office/drawing/2014/main" id="{CFC79986-9675-4588-9718-191971920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53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Reports differ on age and sex descriptions of the animals. Use the verified count and avoid unconfirmed family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descriptions or claiming all Goa tigers were lost.</a:t>
            </a:r>
          </a:p>
        </p:txBody>
      </p:sp>
      <p:sp>
        <p:nvSpPr>
          <p:cNvPr id="12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A6B4500C-88F8-4505-9E59-9FCC2D0CA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76975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1 readable core records · below four-source threshold · Sources: S428, S432, S438, S444, S456</a:t>
            </a:r>
          </a:p>
        </p:txBody>
      </p:sp>
    </p:spTree>
    <p:extLst>
      <p:ext uri="{BB962C8B-B14F-4D97-AF65-F5344CB8AC3E}">
        <p14:creationId xmlns:p14="http://schemas.microsoft.com/office/powerpoint/2010/main" val="2111040166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D9D42794-29EB-4B79-A3FB-6EC7D160C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G45 · ECONOMY · 2023–2025 DATA AND REPORTING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D085AF3-16F1-4DAB-9721-D855EAD40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53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defRPr>
            </a:pPr>
            <a:r>
              <a: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rPr>
              <a:t>Tourism recovery and foreign-segment weakness</a:t>
            </a:r>
          </a:p>
        </p:txBody>
      </p:sp>
      <p:sp>
        <p:nvSpPr>
          <p:cNvPr id="3" name="page-footer">
            <a:extLst xmlns:a="http://schemas.openxmlformats.org/drawingml/2006/main">
              <a:ext uri="{FF2B5EF4-FFF2-40B4-BE49-F238E27FC236}">
                <a16:creationId xmlns:a16="http://schemas.microsoft.com/office/drawing/2014/main" id="{234B0FB0-C3EC-4310-872E-1EDCE11ED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GOA GOVERNANCE  /  14 OCTOBER 2026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6893F72-8034-4124-9CE1-4AAE20194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514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52</a:t>
            </a:r>
          </a:p>
        </p:txBody>
      </p:sp>
      <p:sp>
        <p:nvSpPr>
          <p:cNvPr id="5" name="fact-body">
            <a:extLst xmlns:a="http://schemas.openxmlformats.org/drawingml/2006/main">
              <a:ext uri="{FF2B5EF4-FFF2-40B4-BE49-F238E27FC236}">
                <a16:creationId xmlns:a16="http://schemas.microsoft.com/office/drawing/2014/main" id="{BE2ABE28-DC55-4E8A-A5C1-E774FAD77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5191125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FACT / G45-C1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Official tourism data report higher total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arrivals, while reporting identifies weaker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charter and foreign segments relative to earlier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peaks.</a:t>
            </a:r>
          </a:p>
        </p:txBody>
      </p:sp>
      <p:sp>
        <p:nvSpPr>
          <p:cNvPr id="6" name="effect-body">
            <a:extLst xmlns:a="http://schemas.openxmlformats.org/drawingml/2006/main">
              <a:ext uri="{FF2B5EF4-FFF2-40B4-BE49-F238E27FC236}">
                <a16:creationId xmlns:a16="http://schemas.microsoft.com/office/drawing/2014/main" id="{415E9107-9A06-4D72-979B-FC3B9DCFB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5191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EFFECT ON GOA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Growth in total visitors can coexist with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pressure on businesses serving different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markets.</a:t>
            </a:r>
          </a:p>
        </p:txBody>
      </p:sp>
      <p:sp>
        <p:nvSpPr>
          <p:cNvPr id="7" name="implication-body">
            <a:extLst xmlns:a="http://schemas.openxmlformats.org/drawingml/2006/main">
              <a:ext uri="{FF2B5EF4-FFF2-40B4-BE49-F238E27FC236}">
                <a16:creationId xmlns:a16="http://schemas.microsoft.com/office/drawing/2014/main" id="{A04BB821-81C6-4895-8C0C-9E45211E8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71650"/>
            <a:ext cx="51911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INCUMBENT IMPLICATION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Limits a blanket tourism-collapse claim while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testing diversification and data transparency.</a:t>
            </a:r>
          </a:p>
        </p:txBody>
      </p:sp>
      <p:sp>
        <p:nvSpPr>
          <p:cNvPr id="8" name="logic-body">
            <a:extLst xmlns:a="http://schemas.openxmlformats.org/drawingml/2006/main">
              <a:ext uri="{FF2B5EF4-FFF2-40B4-BE49-F238E27FC236}">
                <a16:creationId xmlns:a16="http://schemas.microsoft.com/office/drawing/2014/main" id="{DF743E10-25E2-4EE0-9181-F84C88B56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09850"/>
            <a:ext cx="5191125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LOGIC / RATIONALE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Segment composition, spending and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seasonality matter as much as headline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arrivals. Higher volume does not prove every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business prospered.</a:t>
            </a:r>
          </a:p>
        </p:txBody>
      </p:sp>
      <p:sp>
        <p:nvSpPr>
          <p:cNvPr id="9" name="assumptions-body">
            <a:extLst xmlns:a="http://schemas.openxmlformats.org/drawingml/2006/main">
              <a:ext uri="{FF2B5EF4-FFF2-40B4-BE49-F238E27FC236}">
                <a16:creationId xmlns:a16="http://schemas.microsoft.com/office/drawing/2014/main" id="{09508EA4-A4FF-4331-9AC0-5C2D76F58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62400"/>
            <a:ext cx="5191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ASSUMPTIONS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Counting methods are consistent enough for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comparison; expenditure differences across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segments are substantiated.</a:t>
            </a:r>
          </a:p>
        </p:txBody>
      </p:sp>
      <p:sp>
        <p:nvSpPr>
          <p:cNvPr id="10" name="limit-label">
            <a:extLst xmlns:a="http://schemas.openxmlformats.org/drawingml/2006/main">
              <a:ext uri="{FF2B5EF4-FFF2-40B4-BE49-F238E27FC236}">
                <a16:creationId xmlns:a16="http://schemas.microsoft.com/office/drawing/2014/main" id="{8B3D4BD2-E92B-436F-BA76-BA58EB3E4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LIMIT / COUNTER-FINDING</a:t>
            </a:r>
          </a:p>
        </p:txBody>
      </p:sp>
      <p:sp>
        <p:nvSpPr>
          <p:cNvPr id="11" name="case-limit">
            <a:extLst xmlns:a="http://schemas.openxmlformats.org/drawingml/2006/main">
              <a:ext uri="{FF2B5EF4-FFF2-40B4-BE49-F238E27FC236}">
                <a16:creationId xmlns:a16="http://schemas.microsoft.com/office/drawing/2014/main" id="{AE8D64CB-98CF-4ED3-8845-32BA00BBA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53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Transport passengers and tourist arrivals must not be conflated. Published figures and methodology have been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challenged; no statewide lost-revenue total is verified.</a:t>
            </a:r>
          </a:p>
        </p:txBody>
      </p:sp>
      <p:sp>
        <p:nvSpPr>
          <p:cNvPr id="12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61E0E243-2CBF-49EE-83AC-69A948473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76975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5 readable core records · shared origins disclosed · Sources: S464, S472, S480, S486, S469, S470, S471</a:t>
            </a:r>
          </a:p>
        </p:txBody>
      </p:sp>
    </p:spTree>
    <p:extLst>
      <p:ext uri="{BB962C8B-B14F-4D97-AF65-F5344CB8AC3E}">
        <p14:creationId xmlns:p14="http://schemas.microsoft.com/office/powerpoint/2010/main" val="1826094231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8DDE1CEC-BAED-45B5-9102-2F298E8C3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G46 · TRANSPORT AND TOURISM · 2023–2025 AND CONTINUING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B7DE734-942B-46B6-A809-957CDA9A3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53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defRPr>
            </a:pPr>
            <a:r>
              <a: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rPr>
              <a:t>Taxi disputes and visitor mobility</a:t>
            </a:r>
          </a:p>
        </p:txBody>
      </p:sp>
      <p:sp>
        <p:nvSpPr>
          <p:cNvPr id="3" name="page-footer">
            <a:extLst xmlns:a="http://schemas.openxmlformats.org/drawingml/2006/main">
              <a:ext uri="{FF2B5EF4-FFF2-40B4-BE49-F238E27FC236}">
                <a16:creationId xmlns:a16="http://schemas.microsoft.com/office/drawing/2014/main" id="{BE9CB4C4-971A-4FE0-9F36-C73D402D0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GOA GOVERNANCE  /  14 OCTOBER 2026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55D64FB-08C4-479F-907B-463140FBB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514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53</a:t>
            </a:r>
          </a:p>
        </p:txBody>
      </p:sp>
      <p:sp>
        <p:nvSpPr>
          <p:cNvPr id="5" name="fact-body">
            <a:extLst xmlns:a="http://schemas.openxmlformats.org/drawingml/2006/main">
              <a:ext uri="{FF2B5EF4-FFF2-40B4-BE49-F238E27FC236}">
                <a16:creationId xmlns:a16="http://schemas.microsoft.com/office/drawing/2014/main" id="{CB94C43F-3982-46B7-A19B-154534F94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5191125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FACT / G46-C1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Taxi operators protested app-based services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and airport arrangements; reporting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documents continuing conflicts over visitor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transport.</a:t>
            </a:r>
          </a:p>
        </p:txBody>
      </p:sp>
      <p:sp>
        <p:nvSpPr>
          <p:cNvPr id="6" name="effect-body">
            <a:extLst xmlns:a="http://schemas.openxmlformats.org/drawingml/2006/main">
              <a:ext uri="{FF2B5EF4-FFF2-40B4-BE49-F238E27FC236}">
                <a16:creationId xmlns:a16="http://schemas.microsoft.com/office/drawing/2014/main" id="{F7752D72-1B3D-415D-902D-477816AF3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5191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EFFECT ON GOA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Disputes can restrict choice, create travel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uncertainty and threaten operator income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during transition.</a:t>
            </a:r>
          </a:p>
        </p:txBody>
      </p:sp>
      <p:sp>
        <p:nvSpPr>
          <p:cNvPr id="7" name="implication-body">
            <a:extLst xmlns:a="http://schemas.openxmlformats.org/drawingml/2006/main">
              <a:ext uri="{FF2B5EF4-FFF2-40B4-BE49-F238E27FC236}">
                <a16:creationId xmlns:a16="http://schemas.microsoft.com/office/drawing/2014/main" id="{5E47B56E-B36C-4944-BF2A-08F14B57C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71650"/>
            <a:ext cx="51911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INCUMBENT IMPLICATION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Tests the incumbent’s ability to reconcile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consumer access with livelihoods.</a:t>
            </a:r>
          </a:p>
        </p:txBody>
      </p:sp>
      <p:sp>
        <p:nvSpPr>
          <p:cNvPr id="8" name="logic-body">
            <a:extLst xmlns:a="http://schemas.openxmlformats.org/drawingml/2006/main">
              <a:ext uri="{FF2B5EF4-FFF2-40B4-BE49-F238E27FC236}">
                <a16:creationId xmlns:a16="http://schemas.microsoft.com/office/drawing/2014/main" id="{6184B19B-C3D3-4E3A-A91B-7B3580AC7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09850"/>
            <a:ext cx="5191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LOGIC / RATIONALE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A functioning transport policy must provide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predictable rules and enforce them. Recurrent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conflict suggests unresolved implementation.</a:t>
            </a:r>
          </a:p>
        </p:txBody>
      </p:sp>
      <p:sp>
        <p:nvSpPr>
          <p:cNvPr id="9" name="assumptions-body">
            <a:extLst xmlns:a="http://schemas.openxmlformats.org/drawingml/2006/main">
              <a:ext uri="{FF2B5EF4-FFF2-40B4-BE49-F238E27FC236}">
                <a16:creationId xmlns:a16="http://schemas.microsoft.com/office/drawing/2014/main" id="{27AFCF53-4B4C-40C4-BB45-99684DDA7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05225"/>
            <a:ext cx="5191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ASSUMPTIONS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The reported disputes affected a meaningful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number of trips; statewide economic loss is not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measured.</a:t>
            </a:r>
          </a:p>
        </p:txBody>
      </p:sp>
      <p:sp>
        <p:nvSpPr>
          <p:cNvPr id="10" name="limit-label">
            <a:extLst xmlns:a="http://schemas.openxmlformats.org/drawingml/2006/main">
              <a:ext uri="{FF2B5EF4-FFF2-40B4-BE49-F238E27FC236}">
                <a16:creationId xmlns:a16="http://schemas.microsoft.com/office/drawing/2014/main" id="{9F269E31-3282-4B6F-9B39-031D8749F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LIMIT / COUNTER-FINDING</a:t>
            </a:r>
          </a:p>
        </p:txBody>
      </p:sp>
      <p:sp>
        <p:nvSpPr>
          <p:cNvPr id="11" name="case-limit">
            <a:extLst xmlns:a="http://schemas.openxmlformats.org/drawingml/2006/main">
              <a:ext uri="{FF2B5EF4-FFF2-40B4-BE49-F238E27FC236}">
                <a16:creationId xmlns:a16="http://schemas.microsoft.com/office/drawing/2014/main" id="{2B787EE0-E21B-4FDA-A566-435E328E8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53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Do not describe all taxi operators as a criminal monopoly. Individual harassment allegations require verification; fares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depend on distance and service.</a:t>
            </a:r>
          </a:p>
        </p:txBody>
      </p:sp>
      <p:sp>
        <p:nvSpPr>
          <p:cNvPr id="12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2EF0B65E-9406-4BF9-B7D4-983D2BAF7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76975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5 readable core records · shared origins disclosed · Sources: S476, S477, S479, S489, S491, S488</a:t>
            </a:r>
          </a:p>
        </p:txBody>
      </p:sp>
    </p:spTree>
    <p:extLst>
      <p:ext uri="{BB962C8B-B14F-4D97-AF65-F5344CB8AC3E}">
        <p14:creationId xmlns:p14="http://schemas.microsoft.com/office/powerpoint/2010/main" val="877363274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64E8682D-6C9B-4C79-8A0C-5760739BD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G47 · COMMUNITY HARMONY · OCTOBER 2024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BA78FB3-5BD2-43B3-AF5F-1CE86AE82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53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defRPr>
            </a:pPr>
            <a:r>
              <a: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rPr>
              <a:t>Velingkar remarks and public protests</a:t>
            </a:r>
          </a:p>
        </p:txBody>
      </p:sp>
      <p:sp>
        <p:nvSpPr>
          <p:cNvPr id="3" name="page-footer">
            <a:extLst xmlns:a="http://schemas.openxmlformats.org/drawingml/2006/main">
              <a:ext uri="{FF2B5EF4-FFF2-40B4-BE49-F238E27FC236}">
                <a16:creationId xmlns:a16="http://schemas.microsoft.com/office/drawing/2014/main" id="{6FD074ED-A241-44AD-AB26-5E4DA1FCE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GOA GOVERNANCE  /  14 OCTOBER 2026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353136F6-353F-4962-8EA4-04628DDC9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514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54</a:t>
            </a:r>
          </a:p>
        </p:txBody>
      </p:sp>
      <p:sp>
        <p:nvSpPr>
          <p:cNvPr id="5" name="fact-body">
            <a:extLst xmlns:a="http://schemas.openxmlformats.org/drawingml/2006/main">
              <a:ext uri="{FF2B5EF4-FFF2-40B4-BE49-F238E27FC236}">
                <a16:creationId xmlns:a16="http://schemas.microsoft.com/office/drawing/2014/main" id="{98DB2868-6C5D-4895-BF53-8CCD084FC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5191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FACT / G47-C1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Remarks about Saint Francis Xavier prompted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complaints, an FIR and protests; Church bodies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appealed for restraint.</a:t>
            </a:r>
          </a:p>
        </p:txBody>
      </p:sp>
      <p:sp>
        <p:nvSpPr>
          <p:cNvPr id="6" name="effect-body">
            <a:extLst xmlns:a="http://schemas.openxmlformats.org/drawingml/2006/main">
              <a:ext uri="{FF2B5EF4-FFF2-40B4-BE49-F238E27FC236}">
                <a16:creationId xmlns:a16="http://schemas.microsoft.com/office/drawing/2014/main" id="{268061BC-1CAE-4E74-AF7D-19857F9DD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67025"/>
            <a:ext cx="51911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EFFECT ON GOA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The dispute strained public trust and briefly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disrupted public activity in affected locations.</a:t>
            </a:r>
          </a:p>
        </p:txBody>
      </p:sp>
      <p:sp>
        <p:nvSpPr>
          <p:cNvPr id="7" name="implication-body">
            <a:extLst xmlns:a="http://schemas.openxmlformats.org/drawingml/2006/main">
              <a:ext uri="{FF2B5EF4-FFF2-40B4-BE49-F238E27FC236}">
                <a16:creationId xmlns:a16="http://schemas.microsoft.com/office/drawing/2014/main" id="{6FD11601-8E0F-42E9-A2E9-9C268C6D9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71650"/>
            <a:ext cx="51911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INCUMBENT IMPLICATION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Tests impartial policing and the incumbent’s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credibility in protecting community harmony.</a:t>
            </a:r>
          </a:p>
        </p:txBody>
      </p:sp>
      <p:sp>
        <p:nvSpPr>
          <p:cNvPr id="8" name="logic-body">
            <a:extLst xmlns:a="http://schemas.openxmlformats.org/drawingml/2006/main">
              <a:ext uri="{FF2B5EF4-FFF2-40B4-BE49-F238E27FC236}">
                <a16:creationId xmlns:a16="http://schemas.microsoft.com/office/drawing/2014/main" id="{1685E02A-39EB-4EF6-82E7-7ED591C52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09850"/>
            <a:ext cx="5191125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LOGIC / RATIONALE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The government is accountable for fair, timely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enforcement and de-escalation, not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automatically for every private speaker’s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words.</a:t>
            </a:r>
          </a:p>
        </p:txBody>
      </p:sp>
      <p:sp>
        <p:nvSpPr>
          <p:cNvPr id="9" name="assumptions-body">
            <a:extLst xmlns:a="http://schemas.openxmlformats.org/drawingml/2006/main">
              <a:ext uri="{FF2B5EF4-FFF2-40B4-BE49-F238E27FC236}">
                <a16:creationId xmlns:a16="http://schemas.microsoft.com/office/drawing/2014/main" id="{F24DD586-83D4-4672-AEE0-F80118315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62400"/>
            <a:ext cx="51911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ASSUMPTIONS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Affected communities assess state responses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as indicators of equal protection.</a:t>
            </a:r>
          </a:p>
        </p:txBody>
      </p:sp>
      <p:sp>
        <p:nvSpPr>
          <p:cNvPr id="10" name="limit-label">
            <a:extLst xmlns:a="http://schemas.openxmlformats.org/drawingml/2006/main">
              <a:ext uri="{FF2B5EF4-FFF2-40B4-BE49-F238E27FC236}">
                <a16:creationId xmlns:a16="http://schemas.microsoft.com/office/drawing/2014/main" id="{52BDE7B3-0FB0-45A9-847A-E17075A6E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LIMIT / COUNTER-FINDING</a:t>
            </a:r>
          </a:p>
        </p:txBody>
      </p:sp>
      <p:sp>
        <p:nvSpPr>
          <p:cNvPr id="11" name="case-limit">
            <a:extLst xmlns:a="http://schemas.openxmlformats.org/drawingml/2006/main">
              <a:ext uri="{FF2B5EF4-FFF2-40B4-BE49-F238E27FC236}">
                <a16:creationId xmlns:a16="http://schemas.microsoft.com/office/drawing/2014/main" id="{288EB5EA-6694-4BF5-A411-0A13C5058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53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An FIR is an allegation, not a conviction. Former organisational affiliation does not prove the incumbent directed or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endorsed the remarks.</a:t>
            </a:r>
          </a:p>
        </p:txBody>
      </p:sp>
      <p:sp>
        <p:nvSpPr>
          <p:cNvPr id="12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5BCDE3B7-71E6-4494-9A09-8FCDBF87D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76975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4 readable core records · shared origins disclosed · Sources: S497, S500, S504, S507, S505, S496</a:t>
            </a:r>
          </a:p>
        </p:txBody>
      </p:sp>
    </p:spTree>
    <p:extLst>
      <p:ext uri="{BB962C8B-B14F-4D97-AF65-F5344CB8AC3E}">
        <p14:creationId xmlns:p14="http://schemas.microsoft.com/office/powerpoint/2010/main" val="488915083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BAF6A1C8-8A3B-4F30-A56C-E3692A497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G48 · COMMUNITY HARMONY · AUGUST 2023 AND RELATED DEVELOPMENTS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C0F6D37-B298-41D2-AAE4-0E20C8FFF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53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defRPr>
            </a:pPr>
            <a:r>
              <a: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rPr>
              <a:t>Shivaji-related religious controversies</a:t>
            </a:r>
          </a:p>
        </p:txBody>
      </p:sp>
      <p:sp>
        <p:nvSpPr>
          <p:cNvPr id="3" name="page-footer">
            <a:extLst xmlns:a="http://schemas.openxmlformats.org/drawingml/2006/main">
              <a:ext uri="{FF2B5EF4-FFF2-40B4-BE49-F238E27FC236}">
                <a16:creationId xmlns:a16="http://schemas.microsoft.com/office/drawing/2014/main" id="{4B601E04-A51D-46C2-8421-CAF4CEBF9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GOA GOVERNANCE  /  14 OCTOBER 2026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2DE4CC6-1D6F-4595-9A00-E5EAABB0F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514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55</a:t>
            </a:r>
          </a:p>
        </p:txBody>
      </p:sp>
      <p:sp>
        <p:nvSpPr>
          <p:cNvPr id="5" name="fact-body">
            <a:extLst xmlns:a="http://schemas.openxmlformats.org/drawingml/2006/main">
              <a:ext uri="{FF2B5EF4-FFF2-40B4-BE49-F238E27FC236}">
                <a16:creationId xmlns:a16="http://schemas.microsoft.com/office/drawing/2014/main" id="{D0048547-DE3B-49D5-A64B-9621C1473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5191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FACT / G48-C1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A priest’s remarks led to an FIR and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demonstrations; separate statue-related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disputes generated further police action.</a:t>
            </a:r>
          </a:p>
        </p:txBody>
      </p:sp>
      <p:sp>
        <p:nvSpPr>
          <p:cNvPr id="6" name="effect-body">
            <a:extLst xmlns:a="http://schemas.openxmlformats.org/drawingml/2006/main">
              <a:ext uri="{FF2B5EF4-FFF2-40B4-BE49-F238E27FC236}">
                <a16:creationId xmlns:a16="http://schemas.microsoft.com/office/drawing/2014/main" id="{3A7F1DAC-6A10-48DC-97E5-D0049A38F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67025"/>
            <a:ext cx="5191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EFFECT ON GOA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Residents faced apprehension and disruption;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different incidents must not be merged into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one assumed communal riot.</a:t>
            </a:r>
          </a:p>
        </p:txBody>
      </p:sp>
      <p:sp>
        <p:nvSpPr>
          <p:cNvPr id="7" name="implication-body">
            <a:extLst xmlns:a="http://schemas.openxmlformats.org/drawingml/2006/main">
              <a:ext uri="{FF2B5EF4-FFF2-40B4-BE49-F238E27FC236}">
                <a16:creationId xmlns:a16="http://schemas.microsoft.com/office/drawing/2014/main" id="{BF5593D9-5C91-49E7-A108-B1D0E4D9F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71650"/>
            <a:ext cx="51911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INCUMBENT IMPLICATION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Creates an equal-enforcement and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de-escalation test for government.</a:t>
            </a:r>
          </a:p>
        </p:txBody>
      </p:sp>
      <p:sp>
        <p:nvSpPr>
          <p:cNvPr id="8" name="logic-body">
            <a:extLst xmlns:a="http://schemas.openxmlformats.org/drawingml/2006/main">
              <a:ext uri="{FF2B5EF4-FFF2-40B4-BE49-F238E27FC236}">
                <a16:creationId xmlns:a16="http://schemas.microsoft.com/office/drawing/2014/main" id="{4E70647E-23FB-4221-918E-C3FD8B316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09850"/>
            <a:ext cx="5191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LOGIC / RATIONALE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Public authorities need consistent standards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for speech complaints, protection and lawful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assembly across communities.</a:t>
            </a:r>
          </a:p>
        </p:txBody>
      </p:sp>
      <p:sp>
        <p:nvSpPr>
          <p:cNvPr id="9" name="assumptions-body">
            <a:extLst xmlns:a="http://schemas.openxmlformats.org/drawingml/2006/main">
              <a:ext uri="{FF2B5EF4-FFF2-40B4-BE49-F238E27FC236}">
                <a16:creationId xmlns:a16="http://schemas.microsoft.com/office/drawing/2014/main" id="{2B547938-22E8-40FE-8958-C552957D0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05225"/>
            <a:ext cx="5191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ASSUMPTIONS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The disputes threatened relations beyond the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immediate complainants; wider effects require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evidence.</a:t>
            </a:r>
          </a:p>
        </p:txBody>
      </p:sp>
      <p:sp>
        <p:nvSpPr>
          <p:cNvPr id="10" name="limit-label">
            <a:extLst xmlns:a="http://schemas.openxmlformats.org/drawingml/2006/main">
              <a:ext uri="{FF2B5EF4-FFF2-40B4-BE49-F238E27FC236}">
                <a16:creationId xmlns:a16="http://schemas.microsoft.com/office/drawing/2014/main" id="{9EBB2045-0679-4416-B8F3-8D00BB9B1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LIMIT / COUNTER-FINDING</a:t>
            </a:r>
          </a:p>
        </p:txBody>
      </p:sp>
      <p:sp>
        <p:nvSpPr>
          <p:cNvPr id="11" name="case-limit">
            <a:extLst xmlns:a="http://schemas.openxmlformats.org/drawingml/2006/main">
              <a:ext uri="{FF2B5EF4-FFF2-40B4-BE49-F238E27FC236}">
                <a16:creationId xmlns:a16="http://schemas.microsoft.com/office/drawing/2014/main" id="{C795CECD-0C4D-482E-A6F3-BF518A3F6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53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Do not infer who vandalised a statue from the prior sermon controversy. The accused’s clarification and the difference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between criticism and a legal offence matter.</a:t>
            </a:r>
          </a:p>
        </p:txBody>
      </p:sp>
      <p:sp>
        <p:nvSpPr>
          <p:cNvPr id="12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82538927-3166-4FC4-8CFA-8BACF074C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76975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4 readable core records · shared origins disclosed · Sources: S236, S238, S239, S241, S237, S246</a:t>
            </a:r>
          </a:p>
        </p:txBody>
      </p:sp>
    </p:spTree>
    <p:extLst>
      <p:ext uri="{BB962C8B-B14F-4D97-AF65-F5344CB8AC3E}">
        <p14:creationId xmlns:p14="http://schemas.microsoft.com/office/powerpoint/2010/main" val="1267592901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639BF445-9191-4DB2-900E-A0020620D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G49 · COMMUNITY HARMONY AND LEGISLATION · AUGUST–SEPTEMBER 2026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2FD6876-6350-4B83-B180-D08AC6614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53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defRPr>
            </a:pPr>
            <a:r>
              <a: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rPr>
              <a:t>Proposed anti-conversion bill halted</a:t>
            </a:r>
          </a:p>
        </p:txBody>
      </p:sp>
      <p:sp>
        <p:nvSpPr>
          <p:cNvPr id="3" name="page-footer">
            <a:extLst xmlns:a="http://schemas.openxmlformats.org/drawingml/2006/main">
              <a:ext uri="{FF2B5EF4-FFF2-40B4-BE49-F238E27FC236}">
                <a16:creationId xmlns:a16="http://schemas.microsoft.com/office/drawing/2014/main" id="{83E2D9E0-A4B0-4343-A809-AD4116312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GOA GOVERNANCE  /  14 OCTOBER 2026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EEE77BD-3FA8-4259-B050-AF6CB28E1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514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56</a:t>
            </a:r>
          </a:p>
        </p:txBody>
      </p:sp>
      <p:sp>
        <p:nvSpPr>
          <p:cNvPr id="5" name="fact-body">
            <a:extLst xmlns:a="http://schemas.openxmlformats.org/drawingml/2006/main">
              <a:ext uri="{FF2B5EF4-FFF2-40B4-BE49-F238E27FC236}">
                <a16:creationId xmlns:a16="http://schemas.microsoft.com/office/drawing/2014/main" id="{97F4CDBC-2B47-462B-BA39-388D8BA80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5191125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FACT / G49-C1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After cabinet approval, the government did not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introduce the proposed anti-conversion bill in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the relevant monsoon session following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objections.</a:t>
            </a:r>
          </a:p>
        </p:txBody>
      </p:sp>
      <p:sp>
        <p:nvSpPr>
          <p:cNvPr id="6" name="effect-body">
            <a:extLst xmlns:a="http://schemas.openxmlformats.org/drawingml/2006/main">
              <a:ext uri="{FF2B5EF4-FFF2-40B4-BE49-F238E27FC236}">
                <a16:creationId xmlns:a16="http://schemas.microsoft.com/office/drawing/2014/main" id="{5EDB55F6-DA49-4E8D-AACC-C85ABCF1F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5191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EFFECT ON GOA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The proposal prompted concern about freedom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and harmony; feared enforcement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consequences were prospective.</a:t>
            </a:r>
          </a:p>
        </p:txBody>
      </p:sp>
      <p:sp>
        <p:nvSpPr>
          <p:cNvPr id="7" name="implication-body">
            <a:extLst xmlns:a="http://schemas.openxmlformats.org/drawingml/2006/main">
              <a:ext uri="{FF2B5EF4-FFF2-40B4-BE49-F238E27FC236}">
                <a16:creationId xmlns:a16="http://schemas.microsoft.com/office/drawing/2014/main" id="{0F56564A-2AB4-4F1F-80E7-887B4A354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71650"/>
            <a:ext cx="5191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INCUMBENT IMPLICATION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Creates a consultation and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coalition-coordination challenge, while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withdrawal can be read as responsiveness.</a:t>
            </a:r>
          </a:p>
        </p:txBody>
      </p:sp>
      <p:sp>
        <p:nvSpPr>
          <p:cNvPr id="8" name="logic-body">
            <a:extLst xmlns:a="http://schemas.openxmlformats.org/drawingml/2006/main">
              <a:ext uri="{FF2B5EF4-FFF2-40B4-BE49-F238E27FC236}">
                <a16:creationId xmlns:a16="http://schemas.microsoft.com/office/drawing/2014/main" id="{7FB882F4-68F9-4381-9910-CC82B5F78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67025"/>
            <a:ext cx="5191125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LOGIC / RATIONALE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Objections from supporting legislators and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community organisations question the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policy-development process. Deferral avoids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assuming the feared harms already occurred.</a:t>
            </a:r>
          </a:p>
        </p:txBody>
      </p:sp>
      <p:sp>
        <p:nvSpPr>
          <p:cNvPr id="9" name="assumptions-body">
            <a:extLst xmlns:a="http://schemas.openxmlformats.org/drawingml/2006/main">
              <a:ext uri="{FF2B5EF4-FFF2-40B4-BE49-F238E27FC236}">
                <a16:creationId xmlns:a16="http://schemas.microsoft.com/office/drawing/2014/main" id="{3DC8E0BA-88E2-4EE3-BE3C-3E935D7B4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19575"/>
            <a:ext cx="5191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ASSUMPTIONS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The objections were substantive and public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consultation could have improved the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proposal.</a:t>
            </a:r>
          </a:p>
        </p:txBody>
      </p:sp>
      <p:sp>
        <p:nvSpPr>
          <p:cNvPr id="10" name="limit-label">
            <a:extLst xmlns:a="http://schemas.openxmlformats.org/drawingml/2006/main">
              <a:ext uri="{FF2B5EF4-FFF2-40B4-BE49-F238E27FC236}">
                <a16:creationId xmlns:a16="http://schemas.microsoft.com/office/drawing/2014/main" id="{3F66699A-D4E4-48B0-B643-AA49A8D23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LIMIT / COUNTER-FINDING</a:t>
            </a:r>
          </a:p>
        </p:txBody>
      </p:sp>
      <p:sp>
        <p:nvSpPr>
          <p:cNvPr id="11" name="case-limit">
            <a:extLst xmlns:a="http://schemas.openxmlformats.org/drawingml/2006/main">
              <a:ext uri="{FF2B5EF4-FFF2-40B4-BE49-F238E27FC236}">
                <a16:creationId xmlns:a16="http://schemas.microsoft.com/office/drawing/2014/main" id="{B1D3917F-0CF8-4E8A-A9C9-0C65B47B3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53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The proposal is not an enacted or operative law in the evidence cited. Criticisms of potential misuse are predictions, not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measured outcomes.</a:t>
            </a:r>
          </a:p>
        </p:txBody>
      </p:sp>
      <p:sp>
        <p:nvSpPr>
          <p:cNvPr id="12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E6DDAA63-2358-40D0-A5EF-8F25788BC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76975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3 readable core records · below four-source threshold · Sources: S136, S405, S399, S423, S425, S407</a:t>
            </a:r>
          </a:p>
        </p:txBody>
      </p:sp>
    </p:spTree>
    <p:extLst>
      <p:ext uri="{BB962C8B-B14F-4D97-AF65-F5344CB8AC3E}">
        <p14:creationId xmlns:p14="http://schemas.microsoft.com/office/powerpoint/2010/main" val="2064191578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FA9C00CE-F5AF-4356-B5B8-EB056CCA8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G50 · POLITICAL INSTITUTIONS · JULY 2019; SEPTEMBER 2022; LITIGATION THROUGH 2026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2F303B3-ED6B-471F-817D-E475BBAB0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53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defRPr>
            </a:pPr>
            <a:r>
              <a: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rPr>
              <a:t>Defections and democratic accountability</a:t>
            </a:r>
          </a:p>
        </p:txBody>
      </p:sp>
      <p:sp>
        <p:nvSpPr>
          <p:cNvPr id="3" name="page-footer">
            <a:extLst xmlns:a="http://schemas.openxmlformats.org/drawingml/2006/main">
              <a:ext uri="{FF2B5EF4-FFF2-40B4-BE49-F238E27FC236}">
                <a16:creationId xmlns:a16="http://schemas.microsoft.com/office/drawing/2014/main" id="{0E0DAEF4-3BE1-43BA-87A9-0EB5A3089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GOA GOVERNANCE  /  14 OCTOBER 2026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D5B10AC-A3EF-4187-91EE-E668EA6F7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514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57</a:t>
            </a:r>
          </a:p>
        </p:txBody>
      </p:sp>
      <p:sp>
        <p:nvSpPr>
          <p:cNvPr id="5" name="fact-body">
            <a:extLst xmlns:a="http://schemas.openxmlformats.org/drawingml/2006/main">
              <a:ext uri="{FF2B5EF4-FFF2-40B4-BE49-F238E27FC236}">
                <a16:creationId xmlns:a16="http://schemas.microsoft.com/office/drawing/2014/main" id="{6DBEF8D2-1105-436C-B08A-E93DAFCC7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5191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FACT / G50-C1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Large groups of Congress legislators joined the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BJP in 2019 and 2022; the episodes generated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disqualification litigation.</a:t>
            </a:r>
          </a:p>
        </p:txBody>
      </p:sp>
      <p:sp>
        <p:nvSpPr>
          <p:cNvPr id="6" name="effect-body">
            <a:extLst xmlns:a="http://schemas.openxmlformats.org/drawingml/2006/main">
              <a:ext uri="{FF2B5EF4-FFF2-40B4-BE49-F238E27FC236}">
                <a16:creationId xmlns:a16="http://schemas.microsoft.com/office/drawing/2014/main" id="{626FDC25-E86D-4CFB-B756-CA8D20E56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67025"/>
            <a:ext cx="5191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EFFECT ON GOA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The changes altered legislative representation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and opposition strength; a service-delivery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effect is not established.</a:t>
            </a:r>
          </a:p>
        </p:txBody>
      </p:sp>
      <p:sp>
        <p:nvSpPr>
          <p:cNvPr id="7" name="implication-body">
            <a:extLst xmlns:a="http://schemas.openxmlformats.org/drawingml/2006/main">
              <a:ext uri="{FF2B5EF4-FFF2-40B4-BE49-F238E27FC236}">
                <a16:creationId xmlns:a16="http://schemas.microsoft.com/office/drawing/2014/main" id="{5D939579-0224-416E-AF50-EA46004B1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71650"/>
            <a:ext cx="5191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INCUMBENT IMPLICATION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Strengthened the governing party numerically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while creating a mandate and trust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controversy.</a:t>
            </a:r>
          </a:p>
        </p:txBody>
      </p:sp>
      <p:sp>
        <p:nvSpPr>
          <p:cNvPr id="8" name="logic-body">
            <a:extLst xmlns:a="http://schemas.openxmlformats.org/drawingml/2006/main">
              <a:ext uri="{FF2B5EF4-FFF2-40B4-BE49-F238E27FC236}">
                <a16:creationId xmlns:a16="http://schemas.microsoft.com/office/drawing/2014/main" id="{18F7095E-BC32-4EDE-A805-10C680B77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67025"/>
            <a:ext cx="5191125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LOGIC / RATIONALE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Legislative consolidation can improve voting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stability, but voters may view party switching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as weakening electoral accountability. These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effects can run in opposite directions.</a:t>
            </a:r>
          </a:p>
        </p:txBody>
      </p:sp>
      <p:sp>
        <p:nvSpPr>
          <p:cNvPr id="9" name="assumptions-body">
            <a:extLst xmlns:a="http://schemas.openxmlformats.org/drawingml/2006/main">
              <a:ext uri="{FF2B5EF4-FFF2-40B4-BE49-F238E27FC236}">
                <a16:creationId xmlns:a16="http://schemas.microsoft.com/office/drawing/2014/main" id="{5E7C4370-A787-4202-B506-09CC00CB5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19575"/>
            <a:ext cx="5191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ASSUMPTIONS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Voters attach importance to party mandate;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actual opinion requires polling rather than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inference.</a:t>
            </a:r>
          </a:p>
        </p:txBody>
      </p:sp>
      <p:sp>
        <p:nvSpPr>
          <p:cNvPr id="10" name="limit-label">
            <a:extLst xmlns:a="http://schemas.openxmlformats.org/drawingml/2006/main">
              <a:ext uri="{FF2B5EF4-FFF2-40B4-BE49-F238E27FC236}">
                <a16:creationId xmlns:a16="http://schemas.microsoft.com/office/drawing/2014/main" id="{074BD916-F40F-4627-B832-D4F46D64D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LIMIT / COUNTER-FINDING</a:t>
            </a:r>
          </a:p>
        </p:txBody>
      </p:sp>
      <p:sp>
        <p:nvSpPr>
          <p:cNvPr id="11" name="case-limit">
            <a:extLst xmlns:a="http://schemas.openxmlformats.org/drawingml/2006/main">
              <a:ext uri="{FF2B5EF4-FFF2-40B4-BE49-F238E27FC236}">
                <a16:creationId xmlns:a16="http://schemas.microsoft.com/office/drawing/2014/main" id="{47B1EA3C-4D1B-4153-9D62-4EF8A8C3A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53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The High Court rejected 2019 disqualification pleas; a later report says the Supreme Court disposed of that petition as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infructuous. That does not settle every question about 2022.</a:t>
            </a:r>
          </a:p>
        </p:txBody>
      </p:sp>
      <p:sp>
        <p:nvSpPr>
          <p:cNvPr id="12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8D257994-A371-471D-942D-CD66E2077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76975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4 readable core records · shared origins disclosed · Sources: S398, S415, S403, S413, S406, P14</a:t>
            </a:r>
          </a:p>
        </p:txBody>
      </p:sp>
    </p:spTree>
    <p:extLst>
      <p:ext uri="{BB962C8B-B14F-4D97-AF65-F5344CB8AC3E}">
        <p14:creationId xmlns:p14="http://schemas.microsoft.com/office/powerpoint/2010/main" val="1628175266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009B0D8A-2D72-46A2-8129-B8172C32A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G51 · PUBLIC SAFETY AND TOURISM · DECEMBER 2019; DISTINCT DECEMBER 2024 CASE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7F69C50-CA7B-41CC-B6A5-1871694EC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53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defRPr>
            </a:pPr>
            <a:r>
              <a: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rPr>
              <a:t>Sunburn-associated deaths and event safety</a:t>
            </a:r>
          </a:p>
        </p:txBody>
      </p:sp>
      <p:sp>
        <p:nvSpPr>
          <p:cNvPr id="3" name="page-footer">
            <a:extLst xmlns:a="http://schemas.openxmlformats.org/drawingml/2006/main">
              <a:ext uri="{FF2B5EF4-FFF2-40B4-BE49-F238E27FC236}">
                <a16:creationId xmlns:a16="http://schemas.microsoft.com/office/drawing/2014/main" id="{8A0629BA-FCCD-4FBE-8F22-DCBF398D6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GOA GOVERNANCE  /  14 OCTOBER 2026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660E41F-E7AD-49F1-906E-748633C83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514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58</a:t>
            </a:r>
          </a:p>
        </p:txBody>
      </p:sp>
      <p:sp>
        <p:nvSpPr>
          <p:cNvPr id="5" name="fact-body">
            <a:extLst xmlns:a="http://schemas.openxmlformats.org/drawingml/2006/main">
              <a:ext uri="{FF2B5EF4-FFF2-40B4-BE49-F238E27FC236}">
                <a16:creationId xmlns:a16="http://schemas.microsoft.com/office/drawing/2014/main" id="{A70C094D-4D2D-4B7C-BD13-2842FB053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5191125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FACT / G51-C1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Deaths in and around the 2019 festival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prompted investigation and debate; early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medical causes were reserved pending forensic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results.</a:t>
            </a:r>
          </a:p>
        </p:txBody>
      </p:sp>
      <p:sp>
        <p:nvSpPr>
          <p:cNvPr id="6" name="effect-body">
            <a:extLst xmlns:a="http://schemas.openxmlformats.org/drawingml/2006/main">
              <a:ext uri="{FF2B5EF4-FFF2-40B4-BE49-F238E27FC236}">
                <a16:creationId xmlns:a16="http://schemas.microsoft.com/office/drawing/2014/main" id="{13E9F08D-3302-4B87-991F-633803A1C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51911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EFFECT ON GOA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The incidents raised concerns about event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health preparedness and drug enforcement.</a:t>
            </a:r>
          </a:p>
        </p:txBody>
      </p:sp>
      <p:sp>
        <p:nvSpPr>
          <p:cNvPr id="7" name="implication-body">
            <a:extLst xmlns:a="http://schemas.openxmlformats.org/drawingml/2006/main">
              <a:ext uri="{FF2B5EF4-FFF2-40B4-BE49-F238E27FC236}">
                <a16:creationId xmlns:a16="http://schemas.microsoft.com/office/drawing/2014/main" id="{68CAD060-86E2-4988-86BA-7D06B7E84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71650"/>
            <a:ext cx="51911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INCUMBENT IMPLICATION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Creates an oversight question for permissions,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emergency care and investigation.</a:t>
            </a:r>
          </a:p>
        </p:txBody>
      </p:sp>
      <p:sp>
        <p:nvSpPr>
          <p:cNvPr id="8" name="logic-body">
            <a:extLst xmlns:a="http://schemas.openxmlformats.org/drawingml/2006/main">
              <a:ext uri="{FF2B5EF4-FFF2-40B4-BE49-F238E27FC236}">
                <a16:creationId xmlns:a16="http://schemas.microsoft.com/office/drawing/2014/main" id="{6C84C12E-E7BB-4D00-9559-615B3D155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09850"/>
            <a:ext cx="5191125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LOGIC / RATIONALE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Repeated event-related emergencies warrant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scrutiny of prevention and response, while the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organisers’ and individuals’ conduct must be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assessed separately.</a:t>
            </a:r>
          </a:p>
        </p:txBody>
      </p:sp>
      <p:sp>
        <p:nvSpPr>
          <p:cNvPr id="9" name="assumptions-body">
            <a:extLst xmlns:a="http://schemas.openxmlformats.org/drawingml/2006/main">
              <a:ext uri="{FF2B5EF4-FFF2-40B4-BE49-F238E27FC236}">
                <a16:creationId xmlns:a16="http://schemas.microsoft.com/office/drawing/2014/main" id="{F8005FA2-8286-4ABF-880F-8DDB1D902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62400"/>
            <a:ext cx="5191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ASSUMPTIONS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The events were sufficiently connected to the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venue or its services to justify oversight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review.</a:t>
            </a:r>
          </a:p>
        </p:txBody>
      </p:sp>
      <p:sp>
        <p:nvSpPr>
          <p:cNvPr id="10" name="limit-label">
            <a:extLst xmlns:a="http://schemas.openxmlformats.org/drawingml/2006/main">
              <a:ext uri="{FF2B5EF4-FFF2-40B4-BE49-F238E27FC236}">
                <a16:creationId xmlns:a16="http://schemas.microsoft.com/office/drawing/2014/main" id="{66ADABD6-4B55-4472-98FB-142197B94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LIMIT / COUNTER-FINDING</a:t>
            </a:r>
          </a:p>
        </p:txBody>
      </p:sp>
      <p:sp>
        <p:nvSpPr>
          <p:cNvPr id="11" name="case-limit">
            <a:extLst xmlns:a="http://schemas.openxmlformats.org/drawingml/2006/main">
              <a:ext uri="{FF2B5EF4-FFF2-40B4-BE49-F238E27FC236}">
                <a16:creationId xmlns:a16="http://schemas.microsoft.com/office/drawing/2014/main" id="{CBB2DF68-AB6A-440F-8EA0-A8088C527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53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Do not label every 2019 death a confirmed overdose. A 2024 death and later forensic reporting concern a different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individual and must not be added to the 2019 toll.</a:t>
            </a:r>
          </a:p>
        </p:txBody>
      </p:sp>
      <p:sp>
        <p:nvSpPr>
          <p:cNvPr id="12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D411104F-7BE9-43E1-BB3A-B9DCD63D4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76975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3 readable core records · below four-source threshold · Sources: S058, S059, S063, S065, S070, S061, S064</a:t>
            </a:r>
          </a:p>
        </p:txBody>
      </p:sp>
    </p:spTree>
    <p:extLst>
      <p:ext uri="{BB962C8B-B14F-4D97-AF65-F5344CB8AC3E}">
        <p14:creationId xmlns:p14="http://schemas.microsoft.com/office/powerpoint/2010/main" val="1680402939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8DD5AA4F-86BE-49F2-ABB6-872C337D0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G52 · TOURISM AND REGULATION · 2019–2026; MAJOR DISPUTE IN 2026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B88180C-CC42-432B-A07A-06D301BA1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53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defRPr>
            </a:pPr>
            <a:r>
              <a: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rPr>
              <a:t>Offshore casinos and relocation commitments</a:t>
            </a:r>
          </a:p>
        </p:txBody>
      </p:sp>
      <p:sp>
        <p:nvSpPr>
          <p:cNvPr id="3" name="page-footer">
            <a:extLst xmlns:a="http://schemas.openxmlformats.org/drawingml/2006/main">
              <a:ext uri="{FF2B5EF4-FFF2-40B4-BE49-F238E27FC236}">
                <a16:creationId xmlns:a16="http://schemas.microsoft.com/office/drawing/2014/main" id="{719ECAD8-62EC-42E8-A427-B6A6AC5EA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GOA GOVERNANCE  /  14 OCTOBER 2026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A3A7E76-9675-453C-8DC4-BD20DBEAF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514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59</a:t>
            </a:r>
          </a:p>
        </p:txBody>
      </p:sp>
      <p:sp>
        <p:nvSpPr>
          <p:cNvPr id="5" name="fact-body">
            <a:extLst xmlns:a="http://schemas.openxmlformats.org/drawingml/2006/main">
              <a:ext uri="{FF2B5EF4-FFF2-40B4-BE49-F238E27FC236}">
                <a16:creationId xmlns:a16="http://schemas.microsoft.com/office/drawing/2014/main" id="{61D9CE88-E0E9-4EF5-A792-425B9B914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5191125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FACT / G52-C1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Assembly records acknowledge repeated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extensions for offshore operations; residents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challenged a proposed larger casino vessel in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2026.</a:t>
            </a:r>
          </a:p>
        </p:txBody>
      </p:sp>
      <p:sp>
        <p:nvSpPr>
          <p:cNvPr id="6" name="effect-body">
            <a:extLst xmlns:a="http://schemas.openxmlformats.org/drawingml/2006/main">
              <a:ext uri="{FF2B5EF4-FFF2-40B4-BE49-F238E27FC236}">
                <a16:creationId xmlns:a16="http://schemas.microsoft.com/office/drawing/2014/main" id="{CA111B4F-59E3-4339-8E6C-C879EFD53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5191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EFFECT ON GOA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The controversy concerns river use,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congestion, ecological risks and tourism’s local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costs and benefits.</a:t>
            </a:r>
          </a:p>
        </p:txBody>
      </p:sp>
      <p:sp>
        <p:nvSpPr>
          <p:cNvPr id="7" name="implication-body">
            <a:extLst xmlns:a="http://schemas.openxmlformats.org/drawingml/2006/main">
              <a:ext uri="{FF2B5EF4-FFF2-40B4-BE49-F238E27FC236}">
                <a16:creationId xmlns:a16="http://schemas.microsoft.com/office/drawing/2014/main" id="{94836A2A-D128-40F9-90A1-268E7BC0F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71650"/>
            <a:ext cx="51911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INCUMBENT IMPLICATION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Tests consistency between relocation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commitments and operating permissions.</a:t>
            </a:r>
          </a:p>
        </p:txBody>
      </p:sp>
      <p:sp>
        <p:nvSpPr>
          <p:cNvPr id="8" name="logic-body">
            <a:extLst xmlns:a="http://schemas.openxmlformats.org/drawingml/2006/main">
              <a:ext uri="{FF2B5EF4-FFF2-40B4-BE49-F238E27FC236}">
                <a16:creationId xmlns:a16="http://schemas.microsoft.com/office/drawing/2014/main" id="{BA6CB076-0DC4-4A8B-A97E-AB07D45A5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09850"/>
            <a:ext cx="5191125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LOGIC / RATIONALE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Repeated extensions can weaken credibility of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timelines; fees and employment benefits are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relevant counter-considerations, not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substitutes for lawful regulation.</a:t>
            </a:r>
          </a:p>
        </p:txBody>
      </p:sp>
      <p:sp>
        <p:nvSpPr>
          <p:cNvPr id="9" name="assumptions-body">
            <a:extLst xmlns:a="http://schemas.openxmlformats.org/drawingml/2006/main">
              <a:ext uri="{FF2B5EF4-FFF2-40B4-BE49-F238E27FC236}">
                <a16:creationId xmlns:a16="http://schemas.microsoft.com/office/drawing/2014/main" id="{EFE46BAB-98EE-4F20-83D5-BC132B319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62400"/>
            <a:ext cx="51911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ASSUMPTIONS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Relocation promises were specific enough to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evaluate and feasible alternatives existed.</a:t>
            </a:r>
          </a:p>
        </p:txBody>
      </p:sp>
      <p:sp>
        <p:nvSpPr>
          <p:cNvPr id="10" name="limit-label">
            <a:extLst xmlns:a="http://schemas.openxmlformats.org/drawingml/2006/main">
              <a:ext uri="{FF2B5EF4-FFF2-40B4-BE49-F238E27FC236}">
                <a16:creationId xmlns:a16="http://schemas.microsoft.com/office/drawing/2014/main" id="{C015F89E-082F-4FF5-B353-910D08772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LIMIT / COUNTER-FINDING</a:t>
            </a:r>
          </a:p>
        </p:txBody>
      </p:sp>
      <p:sp>
        <p:nvSpPr>
          <p:cNvPr id="11" name="case-limit">
            <a:extLst xmlns:a="http://schemas.openxmlformats.org/drawingml/2006/main">
              <a:ext uri="{FF2B5EF4-FFF2-40B4-BE49-F238E27FC236}">
                <a16:creationId xmlns:a16="http://schemas.microsoft.com/office/drawing/2014/main" id="{727619A2-CA27-4D14-A2FD-DFEA84A4D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53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Concerns about gambling or ecology are not proof of measured harm to all households or the river. Court restrictions on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a new vessel are not a ban on every casino.</a:t>
            </a:r>
          </a:p>
        </p:txBody>
      </p:sp>
      <p:sp>
        <p:nvSpPr>
          <p:cNvPr id="12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28AF0D71-561B-4248-B795-1E7BE82DB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76975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5 readable core records · shared origins disclosed · Sources: S072, S073, S078, S080, S085, S084, S082</a:t>
            </a:r>
          </a:p>
        </p:txBody>
      </p:sp>
    </p:spTree>
    <p:extLst>
      <p:ext uri="{BB962C8B-B14F-4D97-AF65-F5344CB8AC3E}">
        <p14:creationId xmlns:p14="http://schemas.microsoft.com/office/powerpoint/2010/main" val="906275429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879F51D9-1202-418E-AA71-E140CDD32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G53 · POLICING · 2021 ONWARD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11C6FBE-4E9B-4AB0-83AC-A7F1E2FAC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53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defRPr>
            </a:pPr>
            <a:r>
              <a: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rPr>
              <a:t>Siddhi Naik investigation controversy</a:t>
            </a:r>
          </a:p>
        </p:txBody>
      </p:sp>
      <p:sp>
        <p:nvSpPr>
          <p:cNvPr id="3" name="page-footer">
            <a:extLst xmlns:a="http://schemas.openxmlformats.org/drawingml/2006/main">
              <a:ext uri="{FF2B5EF4-FFF2-40B4-BE49-F238E27FC236}">
                <a16:creationId xmlns:a16="http://schemas.microsoft.com/office/drawing/2014/main" id="{2CF00EC4-2ACF-4DB1-9CE3-B4882F509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GOA GOVERNANCE  /  14 OCTOBER 2026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93AC251-7790-48DD-B73D-384EFF3CA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514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60</a:t>
            </a:r>
          </a:p>
        </p:txBody>
      </p:sp>
      <p:sp>
        <p:nvSpPr>
          <p:cNvPr id="5" name="fact-body">
            <a:extLst xmlns:a="http://schemas.openxmlformats.org/drawingml/2006/main">
              <a:ext uri="{FF2B5EF4-FFF2-40B4-BE49-F238E27FC236}">
                <a16:creationId xmlns:a16="http://schemas.microsoft.com/office/drawing/2014/main" id="{96C025A9-B759-453A-A448-BAE325055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5191125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FACT / G53-C1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Police found no evidence supporting murder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and a closure report was reported; family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concerns and later accounts of investigative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status continued.</a:t>
            </a:r>
          </a:p>
        </p:txBody>
      </p:sp>
      <p:sp>
        <p:nvSpPr>
          <p:cNvPr id="6" name="effect-body">
            <a:extLst xmlns:a="http://schemas.openxmlformats.org/drawingml/2006/main">
              <a:ext uri="{FF2B5EF4-FFF2-40B4-BE49-F238E27FC236}">
                <a16:creationId xmlns:a16="http://schemas.microsoft.com/office/drawing/2014/main" id="{968CF843-3BC4-49E7-BE68-A19A8972B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51911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EFFECT ON GOA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The unresolved public dispute affected trust in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investigation and communication.</a:t>
            </a:r>
          </a:p>
        </p:txBody>
      </p:sp>
      <p:sp>
        <p:nvSpPr>
          <p:cNvPr id="7" name="implication-body">
            <a:extLst xmlns:a="http://schemas.openxmlformats.org/drawingml/2006/main">
              <a:ext uri="{FF2B5EF4-FFF2-40B4-BE49-F238E27FC236}">
                <a16:creationId xmlns:a16="http://schemas.microsoft.com/office/drawing/2014/main" id="{123C4C88-4CF0-4746-AB46-EC4B2119A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71650"/>
            <a:ext cx="51911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INCUMBENT IMPLICATION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Creates an investigative-transparency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question, not proof of a government cover-up.</a:t>
            </a:r>
          </a:p>
        </p:txBody>
      </p:sp>
      <p:sp>
        <p:nvSpPr>
          <p:cNvPr id="8" name="logic-body">
            <a:extLst xmlns:a="http://schemas.openxmlformats.org/drawingml/2006/main">
              <a:ext uri="{FF2B5EF4-FFF2-40B4-BE49-F238E27FC236}">
                <a16:creationId xmlns:a16="http://schemas.microsoft.com/office/drawing/2014/main" id="{12109516-83FA-4FB9-A23F-7001F6593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09850"/>
            <a:ext cx="5191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LOGIC / RATIONALE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Clear forensic reasoning and consistent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disclosure can sustain confidence even when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evidence does not support prosecution.</a:t>
            </a:r>
          </a:p>
        </p:txBody>
      </p:sp>
      <p:sp>
        <p:nvSpPr>
          <p:cNvPr id="9" name="assumptions-body">
            <a:extLst xmlns:a="http://schemas.openxmlformats.org/drawingml/2006/main">
              <a:ext uri="{FF2B5EF4-FFF2-40B4-BE49-F238E27FC236}">
                <a16:creationId xmlns:a16="http://schemas.microsoft.com/office/drawing/2014/main" id="{9532E6B8-0DD9-49DD-88F3-4C8DD41AE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05225"/>
            <a:ext cx="5191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ASSUMPTIONS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Communication or investigation gaps were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material; family dissatisfaction alone does not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establish misconduct.</a:t>
            </a:r>
          </a:p>
        </p:txBody>
      </p:sp>
      <p:sp>
        <p:nvSpPr>
          <p:cNvPr id="10" name="limit-label">
            <a:extLst xmlns:a="http://schemas.openxmlformats.org/drawingml/2006/main">
              <a:ext uri="{FF2B5EF4-FFF2-40B4-BE49-F238E27FC236}">
                <a16:creationId xmlns:a16="http://schemas.microsoft.com/office/drawing/2014/main" id="{D92459C5-1897-46F4-BBED-C923C041D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LIMIT / COUNTER-FINDING</a:t>
            </a:r>
          </a:p>
        </p:txBody>
      </p:sp>
      <p:sp>
        <p:nvSpPr>
          <p:cNvPr id="11" name="case-limit">
            <a:extLst xmlns:a="http://schemas.openxmlformats.org/drawingml/2006/main">
              <a:ext uri="{FF2B5EF4-FFF2-40B4-BE49-F238E27FC236}">
                <a16:creationId xmlns:a16="http://schemas.microsoft.com/office/drawing/2014/main" id="{CA28042B-2432-4E93-BB32-CF033AFB6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53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Conflicting closure and continuing-investigation accounts require the court file. No murder, sexual assault or culpable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official conduct is established here.</a:t>
            </a:r>
          </a:p>
        </p:txBody>
      </p:sp>
      <p:sp>
        <p:nvSpPr>
          <p:cNvPr id="12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B0C07DC5-A5DE-4DEF-8415-1AEABDB0D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76975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4 readable core records · shared origins disclosed · Sources: S143, S145, S151, S154, S156, S152</a:t>
            </a:r>
          </a:p>
        </p:txBody>
      </p:sp>
    </p:spTree>
    <p:extLst>
      <p:ext uri="{BB962C8B-B14F-4D97-AF65-F5344CB8AC3E}">
        <p14:creationId xmlns:p14="http://schemas.microsoft.com/office/powerpoint/2010/main" val="1461840393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919E092B-EFB1-45FB-A350-529F0DB7E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G54 · POLICING AND TOURIST SAFETY · AUGUST 2022; CHARGESHEET 2022; COURT UPDATE 2026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2D95183-7FE9-4E79-92C0-7A3002D9B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53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defRPr>
            </a:pPr>
            <a:r>
              <a: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rPr>
              <a:t>Sonali Phogat death and prosecution</a:t>
            </a:r>
          </a:p>
        </p:txBody>
      </p:sp>
      <p:sp>
        <p:nvSpPr>
          <p:cNvPr id="3" name="page-footer">
            <a:extLst xmlns:a="http://schemas.openxmlformats.org/drawingml/2006/main">
              <a:ext uri="{FF2B5EF4-FFF2-40B4-BE49-F238E27FC236}">
                <a16:creationId xmlns:a16="http://schemas.microsoft.com/office/drawing/2014/main" id="{1886F6D8-D9C3-4E84-BCCA-A5223353E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GOA GOVERNANCE  /  14 OCTOBER 2026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35A3940-B0AD-40F1-BD7D-8545F0CB7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514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61</a:t>
            </a:r>
          </a:p>
        </p:txBody>
      </p:sp>
      <p:sp>
        <p:nvSpPr>
          <p:cNvPr id="5" name="fact-body">
            <a:extLst xmlns:a="http://schemas.openxmlformats.org/drawingml/2006/main">
              <a:ext uri="{FF2B5EF4-FFF2-40B4-BE49-F238E27FC236}">
                <a16:creationId xmlns:a16="http://schemas.microsoft.com/office/drawing/2014/main" id="{0A574149-5B38-4E1A-8AEF-E9F0452E2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51911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FACT / G54-C1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CBI filed a chargesheet against two associates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following Sonali Phogat’s death in Goa.</a:t>
            </a:r>
          </a:p>
        </p:txBody>
      </p:sp>
      <p:sp>
        <p:nvSpPr>
          <p:cNvPr id="6" name="effect-body">
            <a:extLst xmlns:a="http://schemas.openxmlformats.org/drawingml/2006/main">
              <a:ext uri="{FF2B5EF4-FFF2-40B4-BE49-F238E27FC236}">
                <a16:creationId xmlns:a16="http://schemas.microsoft.com/office/drawing/2014/main" id="{DADEFEB3-F32E-4CD2-930E-DD25D18B5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5191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EFFECT ON GOA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The case raised concerns about tourist safety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and narcotics oversight, without establishing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state complicity.</a:t>
            </a:r>
          </a:p>
        </p:txBody>
      </p:sp>
      <p:sp>
        <p:nvSpPr>
          <p:cNvPr id="7" name="implication-body">
            <a:extLst xmlns:a="http://schemas.openxmlformats.org/drawingml/2006/main">
              <a:ext uri="{FF2B5EF4-FFF2-40B4-BE49-F238E27FC236}">
                <a16:creationId xmlns:a16="http://schemas.microsoft.com/office/drawing/2014/main" id="{7362C2A4-876B-43B9-ACB0-DE01EB112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71650"/>
            <a:ext cx="51911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INCUMBENT IMPLICATION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Creates a safety and enforcement scrutiny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issue of shared responsibility.</a:t>
            </a:r>
          </a:p>
        </p:txBody>
      </p:sp>
      <p:sp>
        <p:nvSpPr>
          <p:cNvPr id="8" name="logic-body">
            <a:extLst xmlns:a="http://schemas.openxmlformats.org/drawingml/2006/main">
              <a:ext uri="{FF2B5EF4-FFF2-40B4-BE49-F238E27FC236}">
                <a16:creationId xmlns:a16="http://schemas.microsoft.com/office/drawing/2014/main" id="{6B640E30-BB12-4837-B3B1-6FA4D4710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09850"/>
            <a:ext cx="5191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LOGIC / RATIONALE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Private alleged offending can expose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regulatory or policing gaps only where prior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knowledge, duty and omission are established.</a:t>
            </a:r>
          </a:p>
        </p:txBody>
      </p:sp>
      <p:sp>
        <p:nvSpPr>
          <p:cNvPr id="9" name="assumptions-body">
            <a:extLst xmlns:a="http://schemas.openxmlformats.org/drawingml/2006/main">
              <a:ext uri="{FF2B5EF4-FFF2-40B4-BE49-F238E27FC236}">
                <a16:creationId xmlns:a16="http://schemas.microsoft.com/office/drawing/2014/main" id="{A11266DD-DA4A-43DA-8248-945F4C373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05225"/>
            <a:ext cx="5191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ASSUMPTIONS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Relevant enforcement could reasonably have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prevented part of the exposure; this is not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proved by the death alone.</a:t>
            </a:r>
          </a:p>
        </p:txBody>
      </p:sp>
      <p:sp>
        <p:nvSpPr>
          <p:cNvPr id="10" name="limit-label">
            <a:extLst xmlns:a="http://schemas.openxmlformats.org/drawingml/2006/main">
              <a:ext uri="{FF2B5EF4-FFF2-40B4-BE49-F238E27FC236}">
                <a16:creationId xmlns:a16="http://schemas.microsoft.com/office/drawing/2014/main" id="{61705418-E874-4675-991F-F276F9DE1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LIMIT / COUNTER-FINDING</a:t>
            </a:r>
          </a:p>
        </p:txBody>
      </p:sp>
      <p:sp>
        <p:nvSpPr>
          <p:cNvPr id="11" name="case-limit">
            <a:extLst xmlns:a="http://schemas.openxmlformats.org/drawingml/2006/main">
              <a:ext uri="{FF2B5EF4-FFF2-40B4-BE49-F238E27FC236}">
                <a16:creationId xmlns:a16="http://schemas.microsoft.com/office/drawing/2014/main" id="{59BFED37-3999-4887-9ED7-941EDF4E1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53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Charges are not convictions. Reports differ on chargesheet page totals and filing dates; those details are not needed for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the core finding.</a:t>
            </a:r>
          </a:p>
        </p:txBody>
      </p:sp>
      <p:sp>
        <p:nvSpPr>
          <p:cNvPr id="12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55580D85-B75B-470C-AC6A-1B8606736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76975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3 readable core records · below four-source threshold · Sources: S227, S228, S226, S232, S229, S230</a:t>
            </a:r>
          </a:p>
        </p:txBody>
      </p:sp>
    </p:spTree>
    <p:extLst>
      <p:ext uri="{BB962C8B-B14F-4D97-AF65-F5344CB8AC3E}">
        <p14:creationId xmlns:p14="http://schemas.microsoft.com/office/powerpoint/2010/main" val="1300237656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A57AA415-7606-4B5B-BAA7-0CA5BDC78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G55 · LABOUR AND PUBLIC SAFETY · 2019–2026 REPORTING WINDOWS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4D808F6-D94D-429E-8F5C-C720BD6B2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53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defRPr>
            </a:pPr>
            <a:r>
              <a: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rPr>
              <a:t>Industrial accidents and prosecution gaps</a:t>
            </a:r>
          </a:p>
        </p:txBody>
      </p:sp>
      <p:sp>
        <p:nvSpPr>
          <p:cNvPr id="3" name="page-footer">
            <a:extLst xmlns:a="http://schemas.openxmlformats.org/drawingml/2006/main">
              <a:ext uri="{FF2B5EF4-FFF2-40B4-BE49-F238E27FC236}">
                <a16:creationId xmlns:a16="http://schemas.microsoft.com/office/drawing/2014/main" id="{E38AEE8A-E3A8-4982-9D16-31FC051B2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GOA GOVERNANCE  /  14 OCTOBER 2026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9894534-8E9F-4E01-B832-A7F9E4E5D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514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62</a:t>
            </a:r>
          </a:p>
        </p:txBody>
      </p:sp>
      <p:sp>
        <p:nvSpPr>
          <p:cNvPr id="5" name="fact-body">
            <a:extLst xmlns:a="http://schemas.openxmlformats.org/drawingml/2006/main">
              <a:ext uri="{FF2B5EF4-FFF2-40B4-BE49-F238E27FC236}">
                <a16:creationId xmlns:a16="http://schemas.microsoft.com/office/drawing/2014/main" id="{47047B42-382B-459F-85A9-D7F03659D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5191125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FACT / G55-C1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Reporting on official data describes repeated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factory accidents and limited prosecutions,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including explosions and fires during the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period.</a:t>
            </a:r>
          </a:p>
        </p:txBody>
      </p:sp>
      <p:sp>
        <p:nvSpPr>
          <p:cNvPr id="6" name="effect-body">
            <a:extLst xmlns:a="http://schemas.openxmlformats.org/drawingml/2006/main">
              <a:ext uri="{FF2B5EF4-FFF2-40B4-BE49-F238E27FC236}">
                <a16:creationId xmlns:a16="http://schemas.microsoft.com/office/drawing/2014/main" id="{6E884C9A-B816-47AB-BD8E-F03AE4748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51911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EFFECT ON GOA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Workers suffered death or injury and nearby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communities faced industrial hazards.</a:t>
            </a:r>
          </a:p>
        </p:txBody>
      </p:sp>
      <p:sp>
        <p:nvSpPr>
          <p:cNvPr id="7" name="implication-body">
            <a:extLst xmlns:a="http://schemas.openxmlformats.org/drawingml/2006/main">
              <a:ext uri="{FF2B5EF4-FFF2-40B4-BE49-F238E27FC236}">
                <a16:creationId xmlns:a16="http://schemas.microsoft.com/office/drawing/2014/main" id="{B0111B95-0388-4968-A2D7-2F7CA9EE2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71650"/>
            <a:ext cx="51911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INCUMBENT IMPLICATION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Challenges inspection coverage and consistent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enforcement.</a:t>
            </a:r>
          </a:p>
        </p:txBody>
      </p:sp>
      <p:sp>
        <p:nvSpPr>
          <p:cNvPr id="8" name="logic-body">
            <a:extLst xmlns:a="http://schemas.openxmlformats.org/drawingml/2006/main">
              <a:ext uri="{FF2B5EF4-FFF2-40B4-BE49-F238E27FC236}">
                <a16:creationId xmlns:a16="http://schemas.microsoft.com/office/drawing/2014/main" id="{2634E8AB-6B29-4BB5-99B9-AFB8564E2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09850"/>
            <a:ext cx="5191125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LOGIC / RATIONALE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Employers hold immediate safety duties;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public inspection and prosecution systems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should detect and address preventable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violations.</a:t>
            </a:r>
          </a:p>
        </p:txBody>
      </p:sp>
      <p:sp>
        <p:nvSpPr>
          <p:cNvPr id="9" name="assumptions-body">
            <a:extLst xmlns:a="http://schemas.openxmlformats.org/drawingml/2006/main">
              <a:ext uri="{FF2B5EF4-FFF2-40B4-BE49-F238E27FC236}">
                <a16:creationId xmlns:a16="http://schemas.microsoft.com/office/drawing/2014/main" id="{CC97F765-E6C2-4A4A-A09B-64C6B4F3D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62400"/>
            <a:ext cx="5191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ASSUMPTIONS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Reported cases fall under the same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enforcement framework and prosecution totals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use appropriate denominators.</a:t>
            </a:r>
          </a:p>
        </p:txBody>
      </p:sp>
      <p:sp>
        <p:nvSpPr>
          <p:cNvPr id="10" name="limit-label">
            <a:extLst xmlns:a="http://schemas.openxmlformats.org/drawingml/2006/main">
              <a:ext uri="{FF2B5EF4-FFF2-40B4-BE49-F238E27FC236}">
                <a16:creationId xmlns:a16="http://schemas.microsoft.com/office/drawing/2014/main" id="{64526BB7-772F-4768-80EF-4E5ED4FDA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LIMIT / COUNTER-FINDING</a:t>
            </a:r>
          </a:p>
        </p:txBody>
      </p:sp>
      <p:sp>
        <p:nvSpPr>
          <p:cNvPr id="11" name="case-limit">
            <a:extLst xmlns:a="http://schemas.openxmlformats.org/drawingml/2006/main">
              <a:ext uri="{FF2B5EF4-FFF2-40B4-BE49-F238E27FC236}">
                <a16:creationId xmlns:a16="http://schemas.microsoft.com/office/drawing/2014/main" id="{926C0E15-475E-4C70-BC3B-00E3D8D87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53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Totals of 163, 175 and 138 cover different periods; do not combine them. Older industrial disasters in retrospective lists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fall outside the requested window.</a:t>
            </a:r>
          </a:p>
        </p:txBody>
      </p:sp>
      <p:sp>
        <p:nvSpPr>
          <p:cNvPr id="12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BC100D66-C0EE-41C6-9F36-DC407FFF7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76975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5 readable core records · shared origins disclosed · Sources: S594, S596, S599, S601, S603, S604, S600</a:t>
            </a:r>
          </a:p>
        </p:txBody>
      </p:sp>
    </p:spTree>
    <p:extLst>
      <p:ext uri="{BB962C8B-B14F-4D97-AF65-F5344CB8AC3E}">
        <p14:creationId xmlns:p14="http://schemas.microsoft.com/office/powerpoint/2010/main" val="1126453938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28DE6625-82B6-4871-9F69-B984C7D36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G56 · AGRICULTURE AND LIVELIHOODS · 2024–2026 SOURCES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931BC42-6C8C-4656-B388-7DFBC1030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53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defRPr>
            </a:pPr>
            <a:r>
              <a: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rPr>
              <a:t>Khazan livelihoods and crop losses</a:t>
            </a:r>
          </a:p>
        </p:txBody>
      </p:sp>
      <p:sp>
        <p:nvSpPr>
          <p:cNvPr id="3" name="page-footer">
            <a:extLst xmlns:a="http://schemas.openxmlformats.org/drawingml/2006/main">
              <a:ext uri="{FF2B5EF4-FFF2-40B4-BE49-F238E27FC236}">
                <a16:creationId xmlns:a16="http://schemas.microsoft.com/office/drawing/2014/main" id="{DF8A54E3-E9D7-4EA1-89F1-13558E423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GOA GOVERNANCE  /  14 OCTOBER 2026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8B4C233-67AE-4E89-831C-B3A41BC8B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514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63</a:t>
            </a:r>
          </a:p>
        </p:txBody>
      </p:sp>
      <p:sp>
        <p:nvSpPr>
          <p:cNvPr id="5" name="fact-body">
            <a:extLst xmlns:a="http://schemas.openxmlformats.org/drawingml/2006/main">
              <a:ext uri="{FF2B5EF4-FFF2-40B4-BE49-F238E27FC236}">
                <a16:creationId xmlns:a16="http://schemas.microsoft.com/office/drawing/2014/main" id="{EF0D62B4-B9A6-48D6-B5A1-D1F47CA60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5191125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FACT / G56-C1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Official research identifies salinity and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productivity challenges in khazan systems;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crop-damage reporting records losses and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compensation.</a:t>
            </a:r>
          </a:p>
        </p:txBody>
      </p:sp>
      <p:sp>
        <p:nvSpPr>
          <p:cNvPr id="6" name="effect-body">
            <a:extLst xmlns:a="http://schemas.openxmlformats.org/drawingml/2006/main">
              <a:ext uri="{FF2B5EF4-FFF2-40B4-BE49-F238E27FC236}">
                <a16:creationId xmlns:a16="http://schemas.microsoft.com/office/drawing/2014/main" id="{38F6A1F8-2EF9-4CB6-9074-E03869E02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5191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EFFECT ON GOA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Farmers face production risk, reduced income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and dependence on restoration or adaptive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measures.</a:t>
            </a:r>
          </a:p>
        </p:txBody>
      </p:sp>
      <p:sp>
        <p:nvSpPr>
          <p:cNvPr id="7" name="implication-body">
            <a:extLst xmlns:a="http://schemas.openxmlformats.org/drawingml/2006/main">
              <a:ext uri="{FF2B5EF4-FFF2-40B4-BE49-F238E27FC236}">
                <a16:creationId xmlns:a16="http://schemas.microsoft.com/office/drawing/2014/main" id="{89C33F29-906A-486F-849A-56FE87ECC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71650"/>
            <a:ext cx="51911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INCUMBENT IMPLICATION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Tests agricultural support, land protection and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timely relief.</a:t>
            </a:r>
          </a:p>
        </p:txBody>
      </p:sp>
      <p:sp>
        <p:nvSpPr>
          <p:cNvPr id="8" name="logic-body">
            <a:extLst xmlns:a="http://schemas.openxmlformats.org/drawingml/2006/main">
              <a:ext uri="{FF2B5EF4-FFF2-40B4-BE49-F238E27FC236}">
                <a16:creationId xmlns:a16="http://schemas.microsoft.com/office/drawing/2014/main" id="{345C91FC-0FEB-428E-AB3E-57CDF17A0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09850"/>
            <a:ext cx="5191125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LOGIC / RATIONALE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Public agencies influence drainage, bund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maintenance, seed support and compensation,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while weather and long-term land-use change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also matter.</a:t>
            </a:r>
          </a:p>
        </p:txBody>
      </p:sp>
      <p:sp>
        <p:nvSpPr>
          <p:cNvPr id="9" name="assumptions-body">
            <a:extLst xmlns:a="http://schemas.openxmlformats.org/drawingml/2006/main">
              <a:ext uri="{FF2B5EF4-FFF2-40B4-BE49-F238E27FC236}">
                <a16:creationId xmlns:a16="http://schemas.microsoft.com/office/drawing/2014/main" id="{044D55A0-B89F-44C7-962B-791903980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62400"/>
            <a:ext cx="5191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ASSUMPTIONS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Identified public interventions address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important constraints and reach affected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farmers.</a:t>
            </a:r>
          </a:p>
        </p:txBody>
      </p:sp>
      <p:sp>
        <p:nvSpPr>
          <p:cNvPr id="10" name="limit-label">
            <a:extLst xmlns:a="http://schemas.openxmlformats.org/drawingml/2006/main">
              <a:ext uri="{FF2B5EF4-FFF2-40B4-BE49-F238E27FC236}">
                <a16:creationId xmlns:a16="http://schemas.microsoft.com/office/drawing/2014/main" id="{1BE26C64-2DE9-4850-886F-AD458F5DC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LIMIT / COUNTER-FINDING</a:t>
            </a:r>
          </a:p>
        </p:txBody>
      </p:sp>
      <p:sp>
        <p:nvSpPr>
          <p:cNvPr id="11" name="case-limit">
            <a:extLst xmlns:a="http://schemas.openxmlformats.org/drawingml/2006/main">
              <a:ext uri="{FF2B5EF4-FFF2-40B4-BE49-F238E27FC236}">
                <a16:creationId xmlns:a16="http://schemas.microsoft.com/office/drawing/2014/main" id="{C2250FD1-1C29-42AC-B48C-2B3E7083B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53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The evidence does not establish that all khazan decline began after 2019 or was caused by this government.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Compensation announcements need payment verification.</a:t>
            </a:r>
          </a:p>
        </p:txBody>
      </p:sp>
      <p:sp>
        <p:nvSpPr>
          <p:cNvPr id="12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4E44C876-B1F8-41A5-A2A6-4DE1D7000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76975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2 readable core records · below four-source threshold · Sources: S539, S532, S533, S547, S530, S552</a:t>
            </a:r>
          </a:p>
        </p:txBody>
      </p:sp>
    </p:spTree>
    <p:extLst>
      <p:ext uri="{BB962C8B-B14F-4D97-AF65-F5344CB8AC3E}">
        <p14:creationId xmlns:p14="http://schemas.microsoft.com/office/powerpoint/2010/main" val="1838112197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4F9307BE-7829-4E8D-B820-8329040D7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G57 · LOCAL DEMOCRACY · 2016–21 AUDIT; REPORTS TABLED 2024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8D7A122-DCEA-416A-AE8B-AB32AFBF6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53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defRPr>
            </a:pPr>
            <a:r>
              <a: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rPr>
              <a:t>Local government devolution gaps</a:t>
            </a:r>
          </a:p>
        </p:txBody>
      </p:sp>
      <p:sp>
        <p:nvSpPr>
          <p:cNvPr id="3" name="page-footer">
            <a:extLst xmlns:a="http://schemas.openxmlformats.org/drawingml/2006/main">
              <a:ext uri="{FF2B5EF4-FFF2-40B4-BE49-F238E27FC236}">
                <a16:creationId xmlns:a16="http://schemas.microsoft.com/office/drawing/2014/main" id="{73032202-B83C-410D-8409-1DFF78F66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GOA GOVERNANCE  /  14 OCTOBER 2026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65947F8-538E-44B2-BDC6-228F53334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514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64</a:t>
            </a:r>
          </a:p>
        </p:txBody>
      </p:sp>
      <p:sp>
        <p:nvSpPr>
          <p:cNvPr id="5" name="fact-body">
            <a:extLst xmlns:a="http://schemas.openxmlformats.org/drawingml/2006/main">
              <a:ext uri="{FF2B5EF4-FFF2-40B4-BE49-F238E27FC236}">
                <a16:creationId xmlns:a16="http://schemas.microsoft.com/office/drawing/2014/main" id="{88243B09-D277-4573-8CD3-5FB7B1380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5191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FACT / G57-C1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CAG found that formal devolution did not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translate into complete practical transfer of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functions, funds and personnel.</a:t>
            </a:r>
          </a:p>
        </p:txBody>
      </p:sp>
      <p:sp>
        <p:nvSpPr>
          <p:cNvPr id="6" name="effect-body">
            <a:extLst xmlns:a="http://schemas.openxmlformats.org/drawingml/2006/main">
              <a:ext uri="{FF2B5EF4-FFF2-40B4-BE49-F238E27FC236}">
                <a16:creationId xmlns:a16="http://schemas.microsoft.com/office/drawing/2014/main" id="{110DF2CC-BDCC-4E4D-8BB2-ED1130945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67025"/>
            <a:ext cx="51911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EFFECT ON GOA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Weak autonomy and capacity can delay local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decisions and obscure service responsibility.</a:t>
            </a:r>
          </a:p>
        </p:txBody>
      </p:sp>
      <p:sp>
        <p:nvSpPr>
          <p:cNvPr id="7" name="implication-body">
            <a:extLst xmlns:a="http://schemas.openxmlformats.org/drawingml/2006/main">
              <a:ext uri="{FF2B5EF4-FFF2-40B4-BE49-F238E27FC236}">
                <a16:creationId xmlns:a16="http://schemas.microsoft.com/office/drawing/2014/main" id="{47BEADEF-86A1-4E16-A05A-A83B00158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71650"/>
            <a:ext cx="51911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INCUMBENT IMPLICATION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Creates a state-level decentralisation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accountability issue.</a:t>
            </a:r>
          </a:p>
        </p:txBody>
      </p:sp>
      <p:sp>
        <p:nvSpPr>
          <p:cNvPr id="8" name="logic-body">
            <a:extLst xmlns:a="http://schemas.openxmlformats.org/drawingml/2006/main">
              <a:ext uri="{FF2B5EF4-FFF2-40B4-BE49-F238E27FC236}">
                <a16:creationId xmlns:a16="http://schemas.microsoft.com/office/drawing/2014/main" id="{2355C9D1-A3F8-4E06-B8C2-64DEE64F9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09850"/>
            <a:ext cx="5191125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LOGIC / RATIONALE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The state determines much of the institutional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framework. Assigning functions without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adequate powers or staff can leave local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bodies unable to deliver.</a:t>
            </a:r>
          </a:p>
        </p:txBody>
      </p:sp>
      <p:sp>
        <p:nvSpPr>
          <p:cNvPr id="9" name="assumptions-body">
            <a:extLst xmlns:a="http://schemas.openxmlformats.org/drawingml/2006/main">
              <a:ext uri="{FF2B5EF4-FFF2-40B4-BE49-F238E27FC236}">
                <a16:creationId xmlns:a16="http://schemas.microsoft.com/office/drawing/2014/main" id="{EF13B619-CCF9-485E-BC89-C9E72D616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62400"/>
            <a:ext cx="5191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ASSUMPTIONS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Greater effective devolution would improve at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least some decisions; local administrative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quality remains relevant.</a:t>
            </a:r>
          </a:p>
        </p:txBody>
      </p:sp>
      <p:sp>
        <p:nvSpPr>
          <p:cNvPr id="10" name="limit-label">
            <a:extLst xmlns:a="http://schemas.openxmlformats.org/drawingml/2006/main">
              <a:ext uri="{FF2B5EF4-FFF2-40B4-BE49-F238E27FC236}">
                <a16:creationId xmlns:a16="http://schemas.microsoft.com/office/drawing/2014/main" id="{84E5A4F6-C173-42BA-9CA5-9DF9E5460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LIMIT / COUNTER-FINDING</a:t>
            </a:r>
          </a:p>
        </p:txBody>
      </p:sp>
      <p:sp>
        <p:nvSpPr>
          <p:cNvPr id="11" name="case-limit">
            <a:extLst xmlns:a="http://schemas.openxmlformats.org/drawingml/2006/main">
              <a:ext uri="{FF2B5EF4-FFF2-40B4-BE49-F238E27FC236}">
                <a16:creationId xmlns:a16="http://schemas.microsoft.com/office/drawing/2014/main" id="{2F2379E4-3094-4A9F-801A-F8C3096B3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53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The audits include pre-2019 years and sampled bodies. Legal compliance in some provisions and later reforms must be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recognised.</a:t>
            </a:r>
          </a:p>
        </p:txBody>
      </p:sp>
      <p:sp>
        <p:nvSpPr>
          <p:cNvPr id="12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3F25E7B2-FA25-46DE-8BBA-80E3D54C5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76975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2 readable core records · below four-source threshold · Sources: P05, P06, S526, S527, S531, S210</a:t>
            </a:r>
          </a:p>
        </p:txBody>
      </p:sp>
    </p:spTree>
    <p:extLst>
      <p:ext uri="{BB962C8B-B14F-4D97-AF65-F5344CB8AC3E}">
        <p14:creationId xmlns:p14="http://schemas.microsoft.com/office/powerpoint/2010/main" val="2145362081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E0F64C66-94E9-479F-9B96-D2A70BE3A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G58 · CIVIL LIBERTIES · 11–13 OCTOBER 2026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CCF7DFD-DFA1-4DB7-A7C5-2B4B088CA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53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defRPr>
            </a:pPr>
            <a:r>
              <a: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rPr>
              <a:t>October 2026 protest permissions and detention</a:t>
            </a:r>
          </a:p>
        </p:txBody>
      </p:sp>
      <p:sp>
        <p:nvSpPr>
          <p:cNvPr id="3" name="page-footer">
            <a:extLst xmlns:a="http://schemas.openxmlformats.org/drawingml/2006/main">
              <a:ext uri="{FF2B5EF4-FFF2-40B4-BE49-F238E27FC236}">
                <a16:creationId xmlns:a16="http://schemas.microsoft.com/office/drawing/2014/main" id="{98F1D34B-59FA-4E6C-A9E0-878DBFD96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GOA GOVERNANCE  /  14 OCTOBER 2026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949CCD4-9CC9-49C9-A421-E12C47C5B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514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65</a:t>
            </a:r>
          </a:p>
        </p:txBody>
      </p:sp>
      <p:sp>
        <p:nvSpPr>
          <p:cNvPr id="5" name="fact-body">
            <a:extLst xmlns:a="http://schemas.openxmlformats.org/drawingml/2006/main">
              <a:ext uri="{FF2B5EF4-FFF2-40B4-BE49-F238E27FC236}">
                <a16:creationId xmlns:a16="http://schemas.microsoft.com/office/drawing/2014/main" id="{8E6C3161-2EFF-492A-B0D3-7ED3ED5BB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5191125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FACT / G58-C1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Police blocked a planned CJP demonstration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and detained protesters; later reporting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describes judicial release and police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explanations.</a:t>
            </a:r>
          </a:p>
        </p:txBody>
      </p:sp>
      <p:sp>
        <p:nvSpPr>
          <p:cNvPr id="6" name="effect-body">
            <a:extLst xmlns:a="http://schemas.openxmlformats.org/drawingml/2006/main">
              <a:ext uri="{FF2B5EF4-FFF2-40B4-BE49-F238E27FC236}">
                <a16:creationId xmlns:a16="http://schemas.microsoft.com/office/drawing/2014/main" id="{6C3A1AC8-FEB5-4C66-AE7B-7E080764B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51911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EFFECT ON GOA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The incident raises access-to-protest and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procedural-fairness questions.</a:t>
            </a:r>
          </a:p>
        </p:txBody>
      </p:sp>
      <p:sp>
        <p:nvSpPr>
          <p:cNvPr id="7" name="implication-body">
            <a:extLst xmlns:a="http://schemas.openxmlformats.org/drawingml/2006/main">
              <a:ext uri="{FF2B5EF4-FFF2-40B4-BE49-F238E27FC236}">
                <a16:creationId xmlns:a16="http://schemas.microsoft.com/office/drawing/2014/main" id="{0ACCCB4E-0C7D-49C7-BD1D-5FDF59B28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71650"/>
            <a:ext cx="51911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INCUMBENT IMPLICATION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Creates a current civil-liberties accountability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question for the Home administration.</a:t>
            </a:r>
          </a:p>
        </p:txBody>
      </p:sp>
      <p:sp>
        <p:nvSpPr>
          <p:cNvPr id="8" name="logic-body">
            <a:extLst xmlns:a="http://schemas.openxmlformats.org/drawingml/2006/main">
              <a:ext uri="{FF2B5EF4-FFF2-40B4-BE49-F238E27FC236}">
                <a16:creationId xmlns:a16="http://schemas.microsoft.com/office/drawing/2014/main" id="{87DDDEF2-1D1F-4EC2-B3FD-A3F1C051B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09850"/>
            <a:ext cx="5191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LOGIC / RATIONALE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Restrictions should be grounded in lawful,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proportionate reasons. Judicial intervention can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prompt scrutiny of those reasons.</a:t>
            </a:r>
          </a:p>
        </p:txBody>
      </p:sp>
      <p:sp>
        <p:nvSpPr>
          <p:cNvPr id="9" name="assumptions-body">
            <a:extLst xmlns:a="http://schemas.openxmlformats.org/drawingml/2006/main">
              <a:ext uri="{FF2B5EF4-FFF2-40B4-BE49-F238E27FC236}">
                <a16:creationId xmlns:a16="http://schemas.microsoft.com/office/drawing/2014/main" id="{DBE64D78-4323-48E1-81DE-1B19D0EDA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05225"/>
            <a:ext cx="51911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ASSUMPTIONS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The reported restrictions and release orders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are accurately described.</a:t>
            </a:r>
          </a:p>
        </p:txBody>
      </p:sp>
      <p:sp>
        <p:nvSpPr>
          <p:cNvPr id="10" name="limit-label">
            <a:extLst xmlns:a="http://schemas.openxmlformats.org/drawingml/2006/main">
              <a:ext uri="{FF2B5EF4-FFF2-40B4-BE49-F238E27FC236}">
                <a16:creationId xmlns:a16="http://schemas.microsoft.com/office/drawing/2014/main" id="{DADC1C8A-354C-45F6-A63B-EDDD7915C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LIMIT / COUNTER-FINDING</a:t>
            </a:r>
          </a:p>
        </p:txBody>
      </p:sp>
      <p:sp>
        <p:nvSpPr>
          <p:cNvPr id="11" name="case-limit">
            <a:extLst xmlns:a="http://schemas.openxmlformats.org/drawingml/2006/main">
              <a:ext uri="{FF2B5EF4-FFF2-40B4-BE49-F238E27FC236}">
                <a16:creationId xmlns:a16="http://schemas.microsoft.com/office/drawing/2014/main" id="{20F8189E-3D8C-4425-9492-0F971D5C0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53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Only a short time separates the incident from cutoff. Full orders and detention records were not obtained; do not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announce a final illegality finding.</a:t>
            </a:r>
          </a:p>
        </p:txBody>
      </p:sp>
      <p:sp>
        <p:nvSpPr>
          <p:cNvPr id="12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52D8E151-25F9-4E72-A72C-231079FB4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76975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3 readable core records · below four-source threshold · Sources: S295, S297, S303, S311</a:t>
            </a:r>
          </a:p>
        </p:txBody>
      </p:sp>
    </p:spTree>
    <p:extLst>
      <p:ext uri="{BB962C8B-B14F-4D97-AF65-F5344CB8AC3E}">
        <p14:creationId xmlns:p14="http://schemas.microsoft.com/office/powerpoint/2010/main" val="744810876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A749E13C-6C84-464D-B1CF-177732915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G59 · CRIME AND GOVERNANCE · REPORTING AT 14 OCTOBER 2026 CUTOFF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6D27E4E-3B0F-47B2-B164-120E57CBA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53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defRPr>
            </a:pPr>
            <a:r>
              <a: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rPr>
              <a:t>Goa villa cybercrime investigation</a:t>
            </a:r>
          </a:p>
        </p:txBody>
      </p:sp>
      <p:sp>
        <p:nvSpPr>
          <p:cNvPr id="3" name="page-footer">
            <a:extLst xmlns:a="http://schemas.openxmlformats.org/drawingml/2006/main">
              <a:ext uri="{FF2B5EF4-FFF2-40B4-BE49-F238E27FC236}">
                <a16:creationId xmlns:a16="http://schemas.microsoft.com/office/drawing/2014/main" id="{37BC6A91-91B5-4F1D-BB82-B37FE6049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GOA GOVERNANCE  /  14 OCTOBER 2026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D934F49-768B-4F55-B619-1089E6585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514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66</a:t>
            </a:r>
          </a:p>
        </p:txBody>
      </p:sp>
      <p:sp>
        <p:nvSpPr>
          <p:cNvPr id="5" name="fact-body">
            <a:extLst xmlns:a="http://schemas.openxmlformats.org/drawingml/2006/main">
              <a:ext uri="{FF2B5EF4-FFF2-40B4-BE49-F238E27FC236}">
                <a16:creationId xmlns:a16="http://schemas.microsoft.com/office/drawing/2014/main" id="{EDFF2E28-022F-4CED-B8A1-EF712A4A0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5191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FACT / G59-C1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A contemporaneous report describes a Mumbai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Police investigation into a cybercrime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operation run from a Goa villa.</a:t>
            </a:r>
          </a:p>
        </p:txBody>
      </p:sp>
      <p:sp>
        <p:nvSpPr>
          <p:cNvPr id="6" name="effect-body">
            <a:extLst xmlns:a="http://schemas.openxmlformats.org/drawingml/2006/main">
              <a:ext uri="{FF2B5EF4-FFF2-40B4-BE49-F238E27FC236}">
                <a16:creationId xmlns:a16="http://schemas.microsoft.com/office/drawing/2014/main" id="{7B4421C5-6239-4C7F-B3D1-3C72042DD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67025"/>
            <a:ext cx="5191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EFFECT ON GOA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The alleged operation harmed victims beyond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Goa and raised questions about detection of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criminal businesses.</a:t>
            </a:r>
          </a:p>
        </p:txBody>
      </p:sp>
      <p:sp>
        <p:nvSpPr>
          <p:cNvPr id="7" name="implication-body">
            <a:extLst xmlns:a="http://schemas.openxmlformats.org/drawingml/2006/main">
              <a:ext uri="{FF2B5EF4-FFF2-40B4-BE49-F238E27FC236}">
                <a16:creationId xmlns:a16="http://schemas.microsoft.com/office/drawing/2014/main" id="{47CD4795-9675-478A-948B-655E98F15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71650"/>
            <a:ext cx="51911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INCUMBENT IMPLICATION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Creates a potential coordination question, with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no established incumbent culpability.</a:t>
            </a:r>
          </a:p>
        </p:txBody>
      </p:sp>
      <p:sp>
        <p:nvSpPr>
          <p:cNvPr id="8" name="logic-body">
            <a:extLst xmlns:a="http://schemas.openxmlformats.org/drawingml/2006/main">
              <a:ext uri="{FF2B5EF4-FFF2-40B4-BE49-F238E27FC236}">
                <a16:creationId xmlns:a16="http://schemas.microsoft.com/office/drawing/2014/main" id="{EFB9A0B8-5408-4B47-A240-51EC8668B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09850"/>
            <a:ext cx="5191125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LOGIC / RATIONALE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A crime occurring in Goa does not itself prove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state negligence. Accountability requires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evidence of warnings, knowledge or an omitted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enforcement duty.</a:t>
            </a:r>
          </a:p>
        </p:txBody>
      </p:sp>
      <p:sp>
        <p:nvSpPr>
          <p:cNvPr id="9" name="assumptions-body">
            <a:extLst xmlns:a="http://schemas.openxmlformats.org/drawingml/2006/main">
              <a:ext uri="{FF2B5EF4-FFF2-40B4-BE49-F238E27FC236}">
                <a16:creationId xmlns:a16="http://schemas.microsoft.com/office/drawing/2014/main" id="{C25C0289-BB3B-473B-B906-99035A95C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62400"/>
            <a:ext cx="51911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ASSUMPTIONS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A relevant local enforcement opportunity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existed; that has not yet been established.</a:t>
            </a:r>
          </a:p>
        </p:txBody>
      </p:sp>
      <p:sp>
        <p:nvSpPr>
          <p:cNvPr id="10" name="limit-label">
            <a:extLst xmlns:a="http://schemas.openxmlformats.org/drawingml/2006/main">
              <a:ext uri="{FF2B5EF4-FFF2-40B4-BE49-F238E27FC236}">
                <a16:creationId xmlns:a16="http://schemas.microsoft.com/office/drawing/2014/main" id="{1BFB6627-37B7-496D-A492-4D6C93A2E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LIMIT / COUNTER-FINDING</a:t>
            </a:r>
          </a:p>
        </p:txBody>
      </p:sp>
      <p:sp>
        <p:nvSpPr>
          <p:cNvPr id="11" name="case-limit">
            <a:extLst xmlns:a="http://schemas.openxmlformats.org/drawingml/2006/main">
              <a:ext uri="{FF2B5EF4-FFF2-40B4-BE49-F238E27FC236}">
                <a16:creationId xmlns:a16="http://schemas.microsoft.com/office/drawing/2014/main" id="{D873AD91-C40E-4081-8510-7DF8458FB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53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The headline financial scale is an allegation and cannot be treated as verified loss to Goa. This breaking lead is not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supported by four independent sources.</a:t>
            </a:r>
          </a:p>
        </p:txBody>
      </p:sp>
      <p:sp>
        <p:nvSpPr>
          <p:cNvPr id="12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45E1E8BA-6BED-47FB-9E8C-2481E86AB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76975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0 readable core records · below four-source threshold · Sources: S010</a:t>
            </a:r>
          </a:p>
        </p:txBody>
      </p:sp>
    </p:spTree>
    <p:extLst>
      <p:ext uri="{BB962C8B-B14F-4D97-AF65-F5344CB8AC3E}">
        <p14:creationId xmlns:p14="http://schemas.microsoft.com/office/powerpoint/2010/main" val="510122651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174F5A7F-41B5-4ABF-8338-6BFCAF805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G60 · ENVIRONMENT AND BASIC SERVICES · 2023–2024 REGULATORY RECORDS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AECE7D2-18E7-44FE-AA8A-A0F414712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53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defRPr>
            </a:pPr>
            <a:r>
              <a: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rPr>
              <a:t>Sewage and pollution monitoring</a:t>
            </a:r>
          </a:p>
        </p:txBody>
      </p:sp>
      <p:sp>
        <p:nvSpPr>
          <p:cNvPr id="3" name="page-footer">
            <a:extLst xmlns:a="http://schemas.openxmlformats.org/drawingml/2006/main">
              <a:ext uri="{FF2B5EF4-FFF2-40B4-BE49-F238E27FC236}">
                <a16:creationId xmlns:a16="http://schemas.microsoft.com/office/drawing/2014/main" id="{70F0AAD7-DBC4-4FBA-8EA2-B21531404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GOA GOVERNANCE  /  14 OCTOBER 2026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EDD22AC-A4CB-4A0D-840B-F774D1EDE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514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67</a:t>
            </a:r>
          </a:p>
        </p:txBody>
      </p:sp>
      <p:sp>
        <p:nvSpPr>
          <p:cNvPr id="5" name="fact-body">
            <a:extLst xmlns:a="http://schemas.openxmlformats.org/drawingml/2006/main">
              <a:ext uri="{FF2B5EF4-FFF2-40B4-BE49-F238E27FC236}">
                <a16:creationId xmlns:a16="http://schemas.microsoft.com/office/drawing/2014/main" id="{5060B54C-0ED3-4BDB-944B-FC769ABD8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5191125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FACT / G60-C1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Pollution-control records document monitoring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and consent conditions; sewage and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wastewater compliance require site-level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assessment.</a:t>
            </a:r>
          </a:p>
        </p:txBody>
      </p:sp>
      <p:sp>
        <p:nvSpPr>
          <p:cNvPr id="6" name="effect-body">
            <a:extLst xmlns:a="http://schemas.openxmlformats.org/drawingml/2006/main">
              <a:ext uri="{FF2B5EF4-FFF2-40B4-BE49-F238E27FC236}">
                <a16:creationId xmlns:a16="http://schemas.microsoft.com/office/drawing/2014/main" id="{3412C43C-84D6-48F8-AA65-96FB1C5AB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5191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EFFECT ON GOA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Untreated discharge presents ecological and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health risks, but exposure and injury must be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measured rather than assumed.</a:t>
            </a:r>
          </a:p>
        </p:txBody>
      </p:sp>
      <p:sp>
        <p:nvSpPr>
          <p:cNvPr id="7" name="implication-body">
            <a:extLst xmlns:a="http://schemas.openxmlformats.org/drawingml/2006/main">
              <a:ext uri="{FF2B5EF4-FFF2-40B4-BE49-F238E27FC236}">
                <a16:creationId xmlns:a16="http://schemas.microsoft.com/office/drawing/2014/main" id="{3E0D2064-E28B-410D-813F-280E618AC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71650"/>
            <a:ext cx="51911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INCUMBENT IMPLICATION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Creates an oversight question where specific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breaches are substantiated.</a:t>
            </a:r>
          </a:p>
        </p:txBody>
      </p:sp>
      <p:sp>
        <p:nvSpPr>
          <p:cNvPr id="8" name="logic-body">
            <a:extLst xmlns:a="http://schemas.openxmlformats.org/drawingml/2006/main">
              <a:ext uri="{FF2B5EF4-FFF2-40B4-BE49-F238E27FC236}">
                <a16:creationId xmlns:a16="http://schemas.microsoft.com/office/drawing/2014/main" id="{5F95A3CE-68D1-4D1E-9AF2-E1669D4CF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09850"/>
            <a:ext cx="5191125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LOGIC / RATIONALE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Authorities are accountable for monitoring and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enforcing discharge standards. The existence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of a monitoring programme alone proves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neither failure nor success.</a:t>
            </a:r>
          </a:p>
        </p:txBody>
      </p:sp>
      <p:sp>
        <p:nvSpPr>
          <p:cNvPr id="9" name="assumptions-body">
            <a:extLst xmlns:a="http://schemas.openxmlformats.org/drawingml/2006/main">
              <a:ext uri="{FF2B5EF4-FFF2-40B4-BE49-F238E27FC236}">
                <a16:creationId xmlns:a16="http://schemas.microsoft.com/office/drawing/2014/main" id="{B59923A9-CF85-4403-B534-6B36DE77F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62400"/>
            <a:ext cx="51911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ASSUMPTIONS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Identified exceedances correspond to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meaningful exposure and a controllable source.</a:t>
            </a:r>
          </a:p>
        </p:txBody>
      </p:sp>
      <p:sp>
        <p:nvSpPr>
          <p:cNvPr id="10" name="limit-label">
            <a:extLst xmlns:a="http://schemas.openxmlformats.org/drawingml/2006/main">
              <a:ext uri="{FF2B5EF4-FFF2-40B4-BE49-F238E27FC236}">
                <a16:creationId xmlns:a16="http://schemas.microsoft.com/office/drawing/2014/main" id="{D45FE56B-4063-4BFC-AA82-08EBCC657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LIMIT / COUNTER-FINDING</a:t>
            </a:r>
          </a:p>
        </p:txBody>
      </p:sp>
      <p:sp>
        <p:nvSpPr>
          <p:cNvPr id="11" name="case-limit">
            <a:extLst xmlns:a="http://schemas.openxmlformats.org/drawingml/2006/main">
              <a:ext uri="{FF2B5EF4-FFF2-40B4-BE49-F238E27FC236}">
                <a16:creationId xmlns:a16="http://schemas.microsoft.com/office/drawing/2014/main" id="{44BCF45A-2159-49FB-BA07-53A21CB45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53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A comprehensive four-source inventory of wastewater violations was not established. No statewide disease burden is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attributed to sewage here.</a:t>
            </a:r>
          </a:p>
        </p:txBody>
      </p:sp>
      <p:sp>
        <p:nvSpPr>
          <p:cNvPr id="12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9C65AB00-12EC-4A9D-B16B-ED2F5D151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76975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1 readable core records · below four-source threshold · Sources: S474, P03, P08</a:t>
            </a:r>
          </a:p>
        </p:txBody>
      </p:sp>
    </p:spTree>
    <p:extLst>
      <p:ext uri="{BB962C8B-B14F-4D97-AF65-F5344CB8AC3E}">
        <p14:creationId xmlns:p14="http://schemas.microsoft.com/office/powerpoint/2010/main" val="243969656"/>
      </p:ext>
    </p:extLst>
  </p:cSld>
</p:sld>
</file>

<file path=ppt/slides/slide6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E87F2B06-316E-44B8-824E-EE04AF0B1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G61 · RECRUITMENT AND CORRUPTION · OCTOBER 2024–OCTOBER 2026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FDE0EB5-E7F1-4EE5-B6F1-53C110BC4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53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defRPr>
            </a:pPr>
            <a:r>
              <a: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rPr>
              <a:t>Cash-for-jobs fraud and disputed official links</a:t>
            </a:r>
          </a:p>
        </p:txBody>
      </p:sp>
      <p:sp>
        <p:nvSpPr>
          <p:cNvPr id="3" name="page-footer">
            <a:extLst xmlns:a="http://schemas.openxmlformats.org/drawingml/2006/main">
              <a:ext uri="{FF2B5EF4-FFF2-40B4-BE49-F238E27FC236}">
                <a16:creationId xmlns:a16="http://schemas.microsoft.com/office/drawing/2014/main" id="{3B054B30-CCBB-418E-A105-A6B2F4162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GOA GOVERNANCE  /  14 OCTOBER 2026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9AD1DF1-B5D7-474F-B89B-34C55FCD9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514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68</a:t>
            </a:r>
          </a:p>
        </p:txBody>
      </p:sp>
      <p:sp>
        <p:nvSpPr>
          <p:cNvPr id="5" name="fact-body">
            <a:extLst xmlns:a="http://schemas.openxmlformats.org/drawingml/2006/main">
              <a:ext uri="{FF2B5EF4-FFF2-40B4-BE49-F238E27FC236}">
                <a16:creationId xmlns:a16="http://schemas.microsoft.com/office/drawing/2014/main" id="{E4AB3C4F-A983-4807-808A-B29CB2FE5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5191125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FACT / G61-C1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Police registered cases concerning payments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for promised government jobs; later police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inquiry rejected one accused person’s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allegations against named officials.</a:t>
            </a:r>
          </a:p>
        </p:txBody>
      </p:sp>
      <p:sp>
        <p:nvSpPr>
          <p:cNvPr id="6" name="effect-body">
            <a:extLst xmlns:a="http://schemas.openxmlformats.org/drawingml/2006/main">
              <a:ext uri="{FF2B5EF4-FFF2-40B4-BE49-F238E27FC236}">
                <a16:creationId xmlns:a16="http://schemas.microsoft.com/office/drawing/2014/main" id="{19959592-6FC7-43E1-90C2-5DF19A17F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51911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EFFECT ON GOA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Jobseekers faced alleged financial loss and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uncertainty about recruitment integrity.</a:t>
            </a:r>
          </a:p>
        </p:txBody>
      </p:sp>
      <p:sp>
        <p:nvSpPr>
          <p:cNvPr id="7" name="implication-body">
            <a:extLst xmlns:a="http://schemas.openxmlformats.org/drawingml/2006/main">
              <a:ext uri="{FF2B5EF4-FFF2-40B4-BE49-F238E27FC236}">
                <a16:creationId xmlns:a16="http://schemas.microsoft.com/office/drawing/2014/main" id="{404103FA-058E-43E4-8CBF-E2E76C27A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71650"/>
            <a:ext cx="51911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INCUMBENT IMPLICATION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Creates a substantial recruitment-trust issue,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but does not establish that ministers sold jobs.</a:t>
            </a:r>
          </a:p>
        </p:txBody>
      </p:sp>
      <p:sp>
        <p:nvSpPr>
          <p:cNvPr id="8" name="logic-body">
            <a:extLst xmlns:a="http://schemas.openxmlformats.org/drawingml/2006/main">
              <a:ext uri="{FF2B5EF4-FFF2-40B4-BE49-F238E27FC236}">
                <a16:creationId xmlns:a16="http://schemas.microsoft.com/office/drawing/2014/main" id="{8144CE86-CEA2-470C-8D3E-97840CF82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09850"/>
            <a:ext cx="5191125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LOGIC / RATIONALE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Repeated fraud exploiting the promise of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public employment tests transparent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recruitment and enforcement. Proving private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deception and proving official collusion are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separate tasks.</a:t>
            </a:r>
          </a:p>
        </p:txBody>
      </p:sp>
      <p:sp>
        <p:nvSpPr>
          <p:cNvPr id="9" name="assumptions-body">
            <a:extLst xmlns:a="http://schemas.openxmlformats.org/drawingml/2006/main">
              <a:ext uri="{FF2B5EF4-FFF2-40B4-BE49-F238E27FC236}">
                <a16:creationId xmlns:a16="http://schemas.microsoft.com/office/drawing/2014/main" id="{37B00F4D-A80E-4690-9FD8-85697464B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19575"/>
            <a:ext cx="5191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ASSUMPTIONS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Public confidence is affected by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recruitment-related fraud and the perceived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independence of investigation.</a:t>
            </a:r>
          </a:p>
        </p:txBody>
      </p:sp>
      <p:sp>
        <p:nvSpPr>
          <p:cNvPr id="10" name="limit-label">
            <a:extLst xmlns:a="http://schemas.openxmlformats.org/drawingml/2006/main">
              <a:ext uri="{FF2B5EF4-FFF2-40B4-BE49-F238E27FC236}">
                <a16:creationId xmlns:a16="http://schemas.microsoft.com/office/drawing/2014/main" id="{38BA4D64-744E-4DFB-BAFC-2919B3035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LIMIT / COUNTER-FINDING</a:t>
            </a:r>
          </a:p>
        </p:txBody>
      </p:sp>
      <p:sp>
        <p:nvSpPr>
          <p:cNvPr id="11" name="case-limit">
            <a:extLst xmlns:a="http://schemas.openxmlformats.org/drawingml/2006/main">
              <a:ext uri="{FF2B5EF4-FFF2-40B4-BE49-F238E27FC236}">
                <a16:creationId xmlns:a16="http://schemas.microsoft.com/office/drawing/2014/main" id="{E7B489DC-AA26-4BC3-B5E1-432A3C4C3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53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The accused’s asserted money and applicant totals are allegations. Police findings of no supporting evidence must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accompany political accusations; neither arrests nor allegations prove guilt.</a:t>
            </a:r>
          </a:p>
        </p:txBody>
      </p:sp>
      <p:sp>
        <p:nvSpPr>
          <p:cNvPr id="12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991200D4-4B43-455E-9F3D-24CC70978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76975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6 readable core records · shared origins disclosed · Sources: S308, S367, S369, S305, S306, S301, S314, S298, S360</a:t>
            </a:r>
          </a:p>
        </p:txBody>
      </p:sp>
    </p:spTree>
    <p:extLst>
      <p:ext uri="{BB962C8B-B14F-4D97-AF65-F5344CB8AC3E}">
        <p14:creationId xmlns:p14="http://schemas.microsoft.com/office/powerpoint/2010/main" val="1339781821"/>
      </p:ext>
    </p:extLst>
  </p:cSld>
</p:sld>
</file>

<file path=ppt/slides/slide6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943AE5F3-D483-4E1A-9FE2-481EC52D0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G62 · MARITIME SAFETY · OCTOBER–DECEMBER 2019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57AF125-18DB-4325-8A21-151727732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53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defRPr>
            </a:pPr>
            <a:r>
              <a: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rPr>
              <a:t>Nu Shi Nalini tanker grounding</a:t>
            </a:r>
          </a:p>
        </p:txBody>
      </p:sp>
      <p:sp>
        <p:nvSpPr>
          <p:cNvPr id="3" name="page-footer">
            <a:extLst xmlns:a="http://schemas.openxmlformats.org/drawingml/2006/main">
              <a:ext uri="{FF2B5EF4-FFF2-40B4-BE49-F238E27FC236}">
                <a16:creationId xmlns:a16="http://schemas.microsoft.com/office/drawing/2014/main" id="{5C58FA06-CB4E-4DA4-97D8-7E86FE5FE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GOA GOVERNANCE  /  14 OCTOBER 2026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64B8B55-4883-438C-B3DD-2B81F82F3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514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69</a:t>
            </a:r>
          </a:p>
        </p:txBody>
      </p:sp>
      <p:sp>
        <p:nvSpPr>
          <p:cNvPr id="5" name="fact-body">
            <a:extLst xmlns:a="http://schemas.openxmlformats.org/drawingml/2006/main">
              <a:ext uri="{FF2B5EF4-FFF2-40B4-BE49-F238E27FC236}">
                <a16:creationId xmlns:a16="http://schemas.microsoft.com/office/drawing/2014/main" id="{46319086-2EAB-4121-A1F6-5DD00444C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5191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FACT / G62-C1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The naphtha-carrying tanker Nu Shi Nalini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grounded off Goa in October 2019 and required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specialist salvage.</a:t>
            </a:r>
          </a:p>
        </p:txBody>
      </p:sp>
      <p:sp>
        <p:nvSpPr>
          <p:cNvPr id="6" name="effect-body">
            <a:extLst xmlns:a="http://schemas.openxmlformats.org/drawingml/2006/main">
              <a:ext uri="{FF2B5EF4-FFF2-40B4-BE49-F238E27FC236}">
                <a16:creationId xmlns:a16="http://schemas.microsoft.com/office/drawing/2014/main" id="{7E95F031-070B-4163-865A-9ECF0778C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67025"/>
            <a:ext cx="5191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EFFECT ON GOA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The incident created a serious coastal safety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risk and concern for communities and the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visitor economy.</a:t>
            </a:r>
          </a:p>
        </p:txBody>
      </p:sp>
      <p:sp>
        <p:nvSpPr>
          <p:cNvPr id="7" name="implication-body">
            <a:extLst xmlns:a="http://schemas.openxmlformats.org/drawingml/2006/main">
              <a:ext uri="{FF2B5EF4-FFF2-40B4-BE49-F238E27FC236}">
                <a16:creationId xmlns:a16="http://schemas.microsoft.com/office/drawing/2014/main" id="{6CA1DD51-58F4-4C18-B918-E77E027AA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71650"/>
            <a:ext cx="51911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INCUMBENT IMPLICATION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Tests maritime coordination and contingency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readiness, with shared authority.</a:t>
            </a:r>
          </a:p>
        </p:txBody>
      </p:sp>
      <p:sp>
        <p:nvSpPr>
          <p:cNvPr id="8" name="logic-body">
            <a:extLst xmlns:a="http://schemas.openxmlformats.org/drawingml/2006/main">
              <a:ext uri="{FF2B5EF4-FFF2-40B4-BE49-F238E27FC236}">
                <a16:creationId xmlns:a16="http://schemas.microsoft.com/office/drawing/2014/main" id="{E5DCDFA3-921A-4EF9-87DB-3EEE4650C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09850"/>
            <a:ext cx="5191125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LOGIC / RATIONALE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The state has response responsibilities, while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port and shipping authorities control other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safety decisions. Accountability depends on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the anchorage decision, warnings and salvage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preparedness.</a:t>
            </a:r>
          </a:p>
        </p:txBody>
      </p:sp>
      <p:sp>
        <p:nvSpPr>
          <p:cNvPr id="9" name="assumptions-body">
            <a:extLst xmlns:a="http://schemas.openxmlformats.org/drawingml/2006/main">
              <a:ext uri="{FF2B5EF4-FFF2-40B4-BE49-F238E27FC236}">
                <a16:creationId xmlns:a16="http://schemas.microsoft.com/office/drawing/2014/main" id="{9CB4A36D-41E2-476E-918E-9AD88A16F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19575"/>
            <a:ext cx="5191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ASSUMPTIONS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A relevant public duty or preventable omission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can be documented; grounding alone does not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establish state negligence.</a:t>
            </a:r>
          </a:p>
        </p:txBody>
      </p:sp>
      <p:sp>
        <p:nvSpPr>
          <p:cNvPr id="10" name="limit-label">
            <a:extLst xmlns:a="http://schemas.openxmlformats.org/drawingml/2006/main">
              <a:ext uri="{FF2B5EF4-FFF2-40B4-BE49-F238E27FC236}">
                <a16:creationId xmlns:a16="http://schemas.microsoft.com/office/drawing/2014/main" id="{49FE2D6A-3313-4C5A-836E-C0D2E016E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LIMIT / COUNTER-FINDING</a:t>
            </a:r>
          </a:p>
        </p:txBody>
      </p:sp>
      <p:sp>
        <p:nvSpPr>
          <p:cNvPr id="11" name="case-limit">
            <a:extLst xmlns:a="http://schemas.openxmlformats.org/drawingml/2006/main">
              <a:ext uri="{FF2B5EF4-FFF2-40B4-BE49-F238E27FC236}">
                <a16:creationId xmlns:a16="http://schemas.microsoft.com/office/drawing/2014/main" id="{AA74E951-E038-4BA9-96E0-06DF9B795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53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Cargo figures differ between early official and media accounts. Risk of a spill is not proof that the whole cargo entered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the sea or caused a measured economic loss.</a:t>
            </a:r>
          </a:p>
        </p:txBody>
      </p:sp>
      <p:sp>
        <p:nvSpPr>
          <p:cNvPr id="12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56970833-1115-4A67-B794-3805E5E32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76975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6 readable core records · shared origins disclosed · Sources: P15, S578, S579, S582, S584, S585, S587, S588</a:t>
            </a:r>
          </a:p>
        </p:txBody>
      </p:sp>
    </p:spTree>
    <p:extLst>
      <p:ext uri="{BB962C8B-B14F-4D97-AF65-F5344CB8AC3E}">
        <p14:creationId xmlns:p14="http://schemas.microsoft.com/office/powerpoint/2010/main" val="49809287"/>
      </p:ext>
    </p:extLst>
  </p:cSld>
</p:sld>
</file>

<file path=ppt/slides/slide70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C34CA846-DD56-4F3D-B253-FCC554B68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G63 · PROCUREMENT AND TOURISM · PROJECTS AUDITED THROUGH 2021–22; REPORT 2025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3F829F0-78DE-4BB4-99E7-C7614B256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53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defRPr>
            </a:pPr>
            <a:r>
              <a: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rPr>
              <a:t>Tourism assets and Swadesh Darshan planning</a:t>
            </a:r>
          </a:p>
        </p:txBody>
      </p:sp>
      <p:sp>
        <p:nvSpPr>
          <p:cNvPr id="3" name="page-footer">
            <a:extLst xmlns:a="http://schemas.openxmlformats.org/drawingml/2006/main">
              <a:ext uri="{FF2B5EF4-FFF2-40B4-BE49-F238E27FC236}">
                <a16:creationId xmlns:a16="http://schemas.microsoft.com/office/drawing/2014/main" id="{F5ED7811-F942-4C9E-82EC-DC9EFC85A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GOA GOVERNANCE  /  14 OCTOBER 2026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646DC3C-68FD-410F-9AE9-02A236544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514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70</a:t>
            </a:r>
          </a:p>
        </p:txBody>
      </p:sp>
      <p:sp>
        <p:nvSpPr>
          <p:cNvPr id="5" name="fact-body">
            <a:extLst xmlns:a="http://schemas.openxmlformats.org/drawingml/2006/main">
              <a:ext uri="{FF2B5EF4-FFF2-40B4-BE49-F238E27FC236}">
                <a16:creationId xmlns:a16="http://schemas.microsoft.com/office/drawing/2014/main" id="{E498917B-63DA-4D4E-94BD-0F4DD471C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5191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FACT / G63-C1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The official audit summary identifies planning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and utilisation problems in coastal tourism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assets, including parking and helipad sites.</a:t>
            </a:r>
          </a:p>
        </p:txBody>
      </p:sp>
      <p:sp>
        <p:nvSpPr>
          <p:cNvPr id="6" name="effect-body">
            <a:extLst xmlns:a="http://schemas.openxmlformats.org/drawingml/2006/main">
              <a:ext uri="{FF2B5EF4-FFF2-40B4-BE49-F238E27FC236}">
                <a16:creationId xmlns:a16="http://schemas.microsoft.com/office/drawing/2014/main" id="{2AC6951C-AE67-41B0-A0E6-F6A6810F0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67025"/>
            <a:ext cx="5191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EFFECT ON GOA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Unused or abandoned assets can tie up public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resources without delivering promised access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or tourism services.</a:t>
            </a:r>
          </a:p>
        </p:txBody>
      </p:sp>
      <p:sp>
        <p:nvSpPr>
          <p:cNvPr id="7" name="implication-body">
            <a:extLst xmlns:a="http://schemas.openxmlformats.org/drawingml/2006/main">
              <a:ext uri="{FF2B5EF4-FFF2-40B4-BE49-F238E27FC236}">
                <a16:creationId xmlns:a16="http://schemas.microsoft.com/office/drawing/2014/main" id="{84298B30-601B-4384-BDF5-DC2A8FCBA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71650"/>
            <a:ext cx="51911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INCUMBENT IMPLICATION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Creates a project-appraisal and coordination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accountability issue.</a:t>
            </a:r>
          </a:p>
        </p:txBody>
      </p:sp>
      <p:sp>
        <p:nvSpPr>
          <p:cNvPr id="8" name="logic-body">
            <a:extLst xmlns:a="http://schemas.openxmlformats.org/drawingml/2006/main">
              <a:ext uri="{FF2B5EF4-FFF2-40B4-BE49-F238E27FC236}">
                <a16:creationId xmlns:a16="http://schemas.microsoft.com/office/drawing/2014/main" id="{29CC1E09-68B7-43C9-9A6A-586D9B047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09850"/>
            <a:ext cx="5191125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LOGIC / RATIONALE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Investment must be judged by functional use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rather than expenditure alone. Missing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coordination with local bodies can obstruct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promised benefits.</a:t>
            </a:r>
          </a:p>
        </p:txBody>
      </p:sp>
      <p:sp>
        <p:nvSpPr>
          <p:cNvPr id="9" name="assumptions-body">
            <a:extLst xmlns:a="http://schemas.openxmlformats.org/drawingml/2006/main">
              <a:ext uri="{FF2B5EF4-FFF2-40B4-BE49-F238E27FC236}">
                <a16:creationId xmlns:a16="http://schemas.microsoft.com/office/drawing/2014/main" id="{1880549B-198F-4DDA-8794-2A8CDA9BC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62400"/>
            <a:ext cx="5191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ASSUMPTIONS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The identified assets remained unusable at the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audit date and have not since been repurposed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successfully.</a:t>
            </a:r>
          </a:p>
        </p:txBody>
      </p:sp>
      <p:sp>
        <p:nvSpPr>
          <p:cNvPr id="10" name="limit-label">
            <a:extLst xmlns:a="http://schemas.openxmlformats.org/drawingml/2006/main">
              <a:ext uri="{FF2B5EF4-FFF2-40B4-BE49-F238E27FC236}">
                <a16:creationId xmlns:a16="http://schemas.microsoft.com/office/drawing/2014/main" id="{73B40594-1124-48D2-A5D1-A9307046F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LIMIT / COUNTER-FINDING</a:t>
            </a:r>
          </a:p>
        </p:txBody>
      </p:sp>
      <p:sp>
        <p:nvSpPr>
          <p:cNvPr id="11" name="case-limit">
            <a:extLst xmlns:a="http://schemas.openxmlformats.org/drawingml/2006/main">
              <a:ext uri="{FF2B5EF4-FFF2-40B4-BE49-F238E27FC236}">
                <a16:creationId xmlns:a16="http://schemas.microsoft.com/office/drawing/2014/main" id="{AAC82121-ED1B-4A20-B9CF-04F04530D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53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Do not describe all tourism investment as waste or add asset costs without checking overlap. This finding rests mainly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on one audit origin.</a:t>
            </a:r>
          </a:p>
        </p:txBody>
      </p:sp>
      <p:sp>
        <p:nvSpPr>
          <p:cNvPr id="12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CA6688D9-8F00-4C59-B294-583E3584F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76975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1 readable core records · below four-source threshold · Sources: S005, S204, P08</a:t>
            </a:r>
          </a:p>
        </p:txBody>
      </p:sp>
    </p:spTree>
    <p:extLst>
      <p:ext uri="{BB962C8B-B14F-4D97-AF65-F5344CB8AC3E}">
        <p14:creationId xmlns:p14="http://schemas.microsoft.com/office/powerpoint/2010/main" val="221965440"/>
      </p:ext>
    </p:extLst>
  </p:cSld>
</p:sld>
</file>

<file path=ppt/slides/slide7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609E8732-484D-4CB9-99E7-C80E8FEB9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G64 · PUBLIC FINANCE · 2018–2021 TRANSACTIONS AND LATER AUDIT PUBLICATION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584A21D-9AFF-4A08-9170-646F9C52A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53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defRPr>
            </a:pPr>
            <a:r>
              <a: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rPr>
              <a:t>GST and revenue oversight weaknesses</a:t>
            </a:r>
          </a:p>
        </p:txBody>
      </p:sp>
      <p:sp>
        <p:nvSpPr>
          <p:cNvPr id="3" name="page-footer">
            <a:extLst xmlns:a="http://schemas.openxmlformats.org/drawingml/2006/main">
              <a:ext uri="{FF2B5EF4-FFF2-40B4-BE49-F238E27FC236}">
                <a16:creationId xmlns:a16="http://schemas.microsoft.com/office/drawing/2014/main" id="{4403FC97-1C17-4116-8D14-097F59459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GOA GOVERNANCE  /  14 OCTOBER 2026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8A081C4-1920-4074-97DA-51C782DFB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514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71</a:t>
            </a:r>
          </a:p>
        </p:txBody>
      </p:sp>
      <p:sp>
        <p:nvSpPr>
          <p:cNvPr id="5" name="fact-body">
            <a:extLst xmlns:a="http://schemas.openxmlformats.org/drawingml/2006/main">
              <a:ext uri="{FF2B5EF4-FFF2-40B4-BE49-F238E27FC236}">
                <a16:creationId xmlns:a16="http://schemas.microsoft.com/office/drawing/2014/main" id="{9CE4479E-0B35-41C1-8E8F-0E29057E7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5191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FACT / G64-C1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CAG summaries identify weak followup of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non-filers, return mismatches and other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revenue-control shortcomings.</a:t>
            </a:r>
          </a:p>
        </p:txBody>
      </p:sp>
      <p:sp>
        <p:nvSpPr>
          <p:cNvPr id="6" name="effect-body">
            <a:extLst xmlns:a="http://schemas.openxmlformats.org/drawingml/2006/main">
              <a:ext uri="{FF2B5EF4-FFF2-40B4-BE49-F238E27FC236}">
                <a16:creationId xmlns:a16="http://schemas.microsoft.com/office/drawing/2014/main" id="{3CBCB673-4BCC-459C-9E13-B087F3DA1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67025"/>
            <a:ext cx="5191125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EFFECT ON GOA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Unresolved tax compliance and short levies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can reduce revenue assurance; assessed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amounts are not automatically permanent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losses.</a:t>
            </a:r>
          </a:p>
        </p:txBody>
      </p:sp>
      <p:sp>
        <p:nvSpPr>
          <p:cNvPr id="7" name="implication-body">
            <a:extLst xmlns:a="http://schemas.openxmlformats.org/drawingml/2006/main">
              <a:ext uri="{FF2B5EF4-FFF2-40B4-BE49-F238E27FC236}">
                <a16:creationId xmlns:a16="http://schemas.microsoft.com/office/drawing/2014/main" id="{F8D4E485-DDA9-45DB-9D4C-B4DA58271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71650"/>
            <a:ext cx="51911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INCUMBENT IMPLICATION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Creates a revenue-administration and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financial-control challenge.</a:t>
            </a:r>
          </a:p>
        </p:txBody>
      </p:sp>
      <p:sp>
        <p:nvSpPr>
          <p:cNvPr id="8" name="logic-body">
            <a:extLst xmlns:a="http://schemas.openxmlformats.org/drawingml/2006/main">
              <a:ext uri="{FF2B5EF4-FFF2-40B4-BE49-F238E27FC236}">
                <a16:creationId xmlns:a16="http://schemas.microsoft.com/office/drawing/2014/main" id="{AB75EC9A-8F86-47D9-803C-4CE08CA0D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09850"/>
            <a:ext cx="5191125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LOGIC / RATIONALE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Monitoring, reconciliation and consistent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recovery protect resources for public services.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Weak controls warrant scrutiny regardless of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whether overall revenue rises.</a:t>
            </a:r>
          </a:p>
        </p:txBody>
      </p:sp>
      <p:sp>
        <p:nvSpPr>
          <p:cNvPr id="9" name="assumptions-body">
            <a:extLst xmlns:a="http://schemas.openxmlformats.org/drawingml/2006/main">
              <a:ext uri="{FF2B5EF4-FFF2-40B4-BE49-F238E27FC236}">
                <a16:creationId xmlns:a16="http://schemas.microsoft.com/office/drawing/2014/main" id="{28FEFDE3-9F55-48AE-806B-9A9187E7B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62400"/>
            <a:ext cx="5191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ASSUMPTIONS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The discrepancies are material and not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resolved by subsequent reconciliation or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recovery.</a:t>
            </a:r>
          </a:p>
        </p:txBody>
      </p:sp>
      <p:sp>
        <p:nvSpPr>
          <p:cNvPr id="10" name="limit-label">
            <a:extLst xmlns:a="http://schemas.openxmlformats.org/drawingml/2006/main">
              <a:ext uri="{FF2B5EF4-FFF2-40B4-BE49-F238E27FC236}">
                <a16:creationId xmlns:a16="http://schemas.microsoft.com/office/drawing/2014/main" id="{8FCB2775-1D0B-4CFA-BE34-E79A5DAA9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LIMIT / COUNTER-FINDING</a:t>
            </a:r>
          </a:p>
        </p:txBody>
      </p:sp>
      <p:sp>
        <p:nvSpPr>
          <p:cNvPr id="11" name="case-limit">
            <a:extLst xmlns:a="http://schemas.openxmlformats.org/drawingml/2006/main">
              <a:ext uri="{FF2B5EF4-FFF2-40B4-BE49-F238E27FC236}">
                <a16:creationId xmlns:a16="http://schemas.microsoft.com/office/drawing/2014/main" id="{FBCF10FE-8C62-4182-B469-F13994358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53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A mismatch may be explainable; it is not automatically evasion or fraud. Do not combine different audit samples into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one unverified loss total.</a:t>
            </a:r>
          </a:p>
        </p:txBody>
      </p:sp>
      <p:sp>
        <p:nvSpPr>
          <p:cNvPr id="12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A12AC914-E608-421A-B2D1-FCEED7D59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76975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3 readable core records · below four-source threshold · Sources: P03, S006, S005</a:t>
            </a:r>
          </a:p>
        </p:txBody>
      </p:sp>
    </p:spTree>
    <p:extLst>
      <p:ext uri="{BB962C8B-B14F-4D97-AF65-F5344CB8AC3E}">
        <p14:creationId xmlns:p14="http://schemas.microsoft.com/office/powerpoint/2010/main" val="2012892399"/>
      </p:ext>
    </p:extLst>
  </p:cSld>
</p:sld>
</file>

<file path=ppt/slides/slide7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334C0FC3-8B8C-4546-9527-719397D9B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FULL REGISTER IN THE PDF AND SOURCE-LINKED WEBSITE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8F19F31-A19E-4C18-A76C-7F375793F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53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defRPr>
            </a:pPr>
            <a:r>
              <a: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rPr>
              <a:t>Discrepancies change the permissible claim</a:t>
            </a:r>
          </a:p>
        </p:txBody>
      </p:sp>
      <p:sp>
        <p:nvSpPr>
          <p:cNvPr id="3" name="page-footer">
            <a:extLst xmlns:a="http://schemas.openxmlformats.org/drawingml/2006/main">
              <a:ext uri="{FF2B5EF4-FFF2-40B4-BE49-F238E27FC236}">
                <a16:creationId xmlns:a16="http://schemas.microsoft.com/office/drawing/2014/main" id="{D365A499-84E1-4325-9C50-E9CDD5D05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GOA GOVERNANCE  /  14 OCTOBER 2026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38E542CE-B51E-4260-8486-8A42E2C29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514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72</a:t>
            </a:r>
          </a:p>
        </p:txBody>
      </p:sp>
      <p:sp>
        <p:nvSpPr>
          <p:cNvPr id="5" name="Deaths and causes-label">
            <a:extLst xmlns:a="http://schemas.openxmlformats.org/drawingml/2006/main">
              <a:ext uri="{FF2B5EF4-FFF2-40B4-BE49-F238E27FC236}">
                <a16:creationId xmlns:a16="http://schemas.microsoft.com/office/drawing/2014/main" id="{1FB806C6-1FFE-478B-A103-E7A9D1767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DEATHS AND CAUSES</a:t>
            </a:r>
          </a:p>
        </p:txBody>
      </p:sp>
      <p:sp>
        <p:nvSpPr>
          <p:cNvPr id="6" name="Deaths and causes-text">
            <a:extLst xmlns:a="http://schemas.openxmlformats.org/drawingml/2006/main">
              <a:ext uri="{FF2B5EF4-FFF2-40B4-BE49-F238E27FC236}">
                <a16:creationId xmlns:a16="http://schemas.microsoft.com/office/drawing/2014/main" id="{E56A0B51-51BD-4A87-A327-0B713CA10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66925"/>
            <a:ext cx="5143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875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Oxygen-pressure causation was not established. Stampede injury counts evolved. Fire charges and bail are not final guilt findings.</a:t>
            </a:r>
          </a:p>
        </p:txBody>
      </p:sp>
      <p:sp>
        <p:nvSpPr>
          <p:cNvPr id="7" name="Different denominators-label">
            <a:extLst xmlns:a="http://schemas.openxmlformats.org/drawingml/2006/main">
              <a:ext uri="{FF2B5EF4-FFF2-40B4-BE49-F238E27FC236}">
                <a16:creationId xmlns:a16="http://schemas.microsoft.com/office/drawing/2014/main" id="{5F899EFB-E1C4-48C5-95BA-965785246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62125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DIFFERENT DENOMINATORS</a:t>
            </a:r>
          </a:p>
        </p:txBody>
      </p:sp>
      <p:sp>
        <p:nvSpPr>
          <p:cNvPr id="8" name="Different denominators-text">
            <a:extLst xmlns:a="http://schemas.openxmlformats.org/drawingml/2006/main">
              <a:ext uri="{FF2B5EF4-FFF2-40B4-BE49-F238E27FC236}">
                <a16:creationId xmlns:a16="http://schemas.microsoft.com/office/drawing/2014/main" id="{18060167-4628-4C0A-A0B0-CA0C9E924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66925"/>
            <a:ext cx="5143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875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Adjusted debt, construction registrations, fatal crashes, road deaths and charter passengers require their own units.</a:t>
            </a:r>
          </a:p>
        </p:txBody>
      </p:sp>
      <p:sp>
        <p:nvSpPr>
          <p:cNvPr id="9" name="Survey and index differences-label">
            <a:extLst xmlns:a="http://schemas.openxmlformats.org/drawingml/2006/main">
              <a:ext uri="{FF2B5EF4-FFF2-40B4-BE49-F238E27FC236}">
                <a16:creationId xmlns:a16="http://schemas.microsoft.com/office/drawing/2014/main" id="{CC1692A0-39E1-4AB0-9359-63AEEEF91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SURVEY AND INDEX DIFFERENCES</a:t>
            </a:r>
          </a:p>
        </p:txBody>
      </p:sp>
      <p:sp>
        <p:nvSpPr>
          <p:cNvPr id="10" name="Survey and index differences-text">
            <a:extLst xmlns:a="http://schemas.openxmlformats.org/drawingml/2006/main">
              <a:ext uri="{FF2B5EF4-FFF2-40B4-BE49-F238E27FC236}">
                <a16:creationId xmlns:a16="http://schemas.microsoft.com/office/drawing/2014/main" id="{66BA0653-EDC1-45F1-BF7C-D0C7387A8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5143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875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Use official nutrition rows. Do not splice state PGI and district PGI-D or invent the latest anaemia estimate.</a:t>
            </a:r>
          </a:p>
        </p:txBody>
      </p:sp>
      <p:sp>
        <p:nvSpPr>
          <p:cNvPr id="11" name="Allegations and responses-label">
            <a:extLst xmlns:a="http://schemas.openxmlformats.org/drawingml/2006/main">
              <a:ext uri="{FF2B5EF4-FFF2-40B4-BE49-F238E27FC236}">
                <a16:creationId xmlns:a16="http://schemas.microsoft.com/office/drawing/2014/main" id="{903C078D-CFCE-4627-90C2-773E1D51B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0525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ALLEGATIONS AND RESPONSES</a:t>
            </a:r>
          </a:p>
        </p:txBody>
      </p:sp>
      <p:sp>
        <p:nvSpPr>
          <p:cNvPr id="12" name="Allegations and responses-text">
            <a:extLst xmlns:a="http://schemas.openxmlformats.org/drawingml/2006/main">
              <a:ext uri="{FF2B5EF4-FFF2-40B4-BE49-F238E27FC236}">
                <a16:creationId xmlns:a16="http://schemas.microsoft.com/office/drawing/2014/main" id="{D5D44D2D-C8B0-4125-868F-1CF5D6C2E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10050"/>
            <a:ext cx="5143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875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Cash-for-jobs allegations about officials must be paired with the later police finding of no supporting material evidence.</a:t>
            </a:r>
          </a:p>
        </p:txBody>
      </p:sp>
    </p:spTree>
    <p:extLst>
      <p:ext uri="{BB962C8B-B14F-4D97-AF65-F5344CB8AC3E}">
        <p14:creationId xmlns:p14="http://schemas.microsoft.com/office/powerpoint/2010/main" val="333629650"/>
      </p:ext>
    </p:extLst>
  </p:cSld>
</p:sld>
</file>

<file path=ppt/slides/slide7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8C7C5617-E3CA-4DF7-A035-E95856FF0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ALL 49 MASTER-PROMPT MODULES MAPPED IN THE PDF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D1EA36C-9CDA-4E76-8813-6C7E98660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53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defRPr>
            </a:pPr>
            <a:r>
              <a: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rPr>
              <a:t>Coverage is broad; an exhaustive census remains open</a:t>
            </a:r>
          </a:p>
        </p:txBody>
      </p:sp>
      <p:sp>
        <p:nvSpPr>
          <p:cNvPr id="3" name="page-footer">
            <a:extLst xmlns:a="http://schemas.openxmlformats.org/drawingml/2006/main">
              <a:ext uri="{FF2B5EF4-FFF2-40B4-BE49-F238E27FC236}">
                <a16:creationId xmlns:a16="http://schemas.microsoft.com/office/drawing/2014/main" id="{2A931303-6866-4703-BEFC-8BA55CE24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GOA GOVERNANCE  /  14 OCTOBER 2026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D618FF0-48D1-4CD5-8C75-3D1FE8B55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514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73</a:t>
            </a:r>
          </a:p>
        </p:txBody>
      </p:sp>
      <p:sp>
        <p:nvSpPr>
          <p:cNvPr id="5" name="coverage-main">
            <a:extLst xmlns:a="http://schemas.openxmlformats.org/drawingml/2006/main">
              <a:ext uri="{FF2B5EF4-FFF2-40B4-BE49-F238E27FC236}">
                <a16:creationId xmlns:a16="http://schemas.microsoft.com/office/drawing/2014/main" id="{DA5E03E5-24B3-4DA6-B968-ABF9D99F0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10953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2175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The package covers major selected events and recurring service gaps, with a visible record for each dossier. It does not establish that every occurrence since 2019 has been found.</a:t>
            </a:r>
          </a:p>
        </p:txBody>
      </p:sp>
      <p:sp>
        <p:nvSpPr>
          <p:cNvPr id="6" name="coverage-tasks">
            <a:extLst xmlns:a="http://schemas.openxmlformats.org/drawingml/2006/main">
              <a:ext uri="{FF2B5EF4-FFF2-40B4-BE49-F238E27FC236}">
                <a16:creationId xmlns:a16="http://schemas.microsoft.com/office/drawing/2014/main" id="{E0B5F3D4-E6F0-4325-8101-64DE3EB12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05175"/>
            <a:ext cx="109537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725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• Obtain readable current primary records for education indices, staffing, school closures and connectivity.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725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• Obtain full magisterial fire inquiry, stampede action-taken orders, oxygen committee report and final legal dispositions.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725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• Reconcile all case-specific numbers against four genuinely independent origins, not shared press-release lineage.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725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• Search all 12 talukas, monthly local-news archives, Assembly questions, CAG action-taken reports and published RTI responses.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725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• Complete agriculture/fisheries, housing, household-cost, sewage, bridge/road-delay and local-budget inventories.</a:t>
            </a:r>
          </a:p>
        </p:txBody>
      </p:sp>
    </p:spTree>
    <p:extLst>
      <p:ext uri="{BB962C8B-B14F-4D97-AF65-F5344CB8AC3E}">
        <p14:creationId xmlns:p14="http://schemas.microsoft.com/office/powerpoint/2010/main" val="1274122335"/>
      </p:ext>
    </p:extLst>
  </p:cSld>
</p:sld>
</file>

<file path=ppt/slides/slide7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C90E9A69-DE71-4862-93B2-493C9CB02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ASSESSMENT AND NEXT STEPS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B4084F1-F584-4BEB-9975-85C05DCAB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53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defRPr>
            </a:pPr>
            <a:r>
              <a:rPr sz="3150" b="0">
                <a:solidFill>
                  <a:srgbClr val="182F38"/>
                </a:solidFill>
                <a:latin typeface="DejaVu Serif"/>
                <a:ea typeface="DejaVu Serif"/>
                <a:cs typeface="DejaVu Serif"/>
              </a:rPr>
              <a:t>Accountability should remain proportional to evidence</a:t>
            </a:r>
          </a:p>
        </p:txBody>
      </p:sp>
      <p:sp>
        <p:nvSpPr>
          <p:cNvPr id="3" name="page-footer">
            <a:extLst xmlns:a="http://schemas.openxmlformats.org/drawingml/2006/main">
              <a:ext uri="{FF2B5EF4-FFF2-40B4-BE49-F238E27FC236}">
                <a16:creationId xmlns:a16="http://schemas.microsoft.com/office/drawing/2014/main" id="{70CCFA88-1F3D-4564-9FCD-E24E30A35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GOA GOVERNANCE  /  14 OCTOBER 2026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E722D9D-2041-420A-A39C-2A1FD162A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514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56B"/>
                </a:solidFill>
                <a:latin typeface="DejaVu Sans"/>
                <a:ea typeface="DejaVu Sans"/>
                <a:cs typeface="DejaVu Sans"/>
              </a:rPr>
              <a:t>74</a:t>
            </a:r>
          </a:p>
        </p:txBody>
      </p:sp>
      <p:sp>
        <p:nvSpPr>
          <p:cNvPr id="5" name="Government implication-label">
            <a:extLst xmlns:a="http://schemas.openxmlformats.org/drawingml/2006/main">
              <a:ext uri="{FF2B5EF4-FFF2-40B4-BE49-F238E27FC236}">
                <a16:creationId xmlns:a16="http://schemas.microsoft.com/office/drawing/2014/main" id="{51B075C4-1A01-4F3C-A932-3271A893F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GOVERNMENT IMPLICATION</a:t>
            </a:r>
          </a:p>
        </p:txBody>
      </p:sp>
      <p:sp>
        <p:nvSpPr>
          <p:cNvPr id="6" name="Government implication-text">
            <a:extLst xmlns:a="http://schemas.openxmlformats.org/drawingml/2006/main">
              <a:ext uri="{FF2B5EF4-FFF2-40B4-BE49-F238E27FC236}">
                <a16:creationId xmlns:a16="http://schemas.microsoft.com/office/drawing/2014/main" id="{976CA3EA-67A8-448C-BE78-17CCB0059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5143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2025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Documented duties and failures create an obligation to explain, correct and report progress. Responsibility is case-specific.</a:t>
            </a:r>
          </a:p>
        </p:txBody>
      </p:sp>
      <p:sp>
        <p:nvSpPr>
          <p:cNvPr id="7" name="Assumptions remain visible-label">
            <a:extLst xmlns:a="http://schemas.openxmlformats.org/drawingml/2006/main">
              <a:ext uri="{FF2B5EF4-FFF2-40B4-BE49-F238E27FC236}">
                <a16:creationId xmlns:a16="http://schemas.microsoft.com/office/drawing/2014/main" id="{6EB1C8DF-8A83-4BFE-B140-6055187C1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0975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ASSUMPTIONS REMAIN VISIBLE</a:t>
            </a:r>
          </a:p>
        </p:txBody>
      </p:sp>
      <p:sp>
        <p:nvSpPr>
          <p:cNvPr id="8" name="Assumptions remain visible-text">
            <a:extLst xmlns:a="http://schemas.openxmlformats.org/drawingml/2006/main">
              <a:ext uri="{FF2B5EF4-FFF2-40B4-BE49-F238E27FC236}">
                <a16:creationId xmlns:a16="http://schemas.microsoft.com/office/drawing/2014/main" id="{C244B726-7C58-4EE0-93A6-7520BBA1A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14550"/>
            <a:ext cx="5143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2025" b="0">
                <a:solidFill>
                  <a:srgbClr val="182F3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82F38"/>
                </a:solidFill>
                <a:latin typeface="DejaVu Sans"/>
                <a:ea typeface="DejaVu Sans"/>
                <a:cs typeface="DejaVu Sans"/>
              </a:rPr>
              <a:t>Political exposure depends on attribution and response. No seat forecast, quantified trust loss or universal decline is inferred.</a:t>
            </a:r>
          </a:p>
        </p:txBody>
      </p:sp>
      <p:sp>
        <p:nvSpPr>
          <p:cNvPr id="9" name="closing-status">
            <a:extLst xmlns:a="http://schemas.openxmlformats.org/drawingml/2006/main">
              <a:ext uri="{FF2B5EF4-FFF2-40B4-BE49-F238E27FC236}">
                <a16:creationId xmlns:a16="http://schemas.microsoft.com/office/drawing/2014/main" id="{C1AC3817-34E5-4DE8-A210-BCD21732C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10953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2175" b="0">
                <a:solidFill>
                  <a:srgbClr val="8C4C27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8C4C27"/>
                </a:solidFill>
                <a:latin typeface="DejaVu Sans"/>
                <a:ea typeface="DejaVu Sans"/>
                <a:cs typeface="DejaVu Sans"/>
              </a:rPr>
              <a:t>Use the detailed PDF, source register and slide notes together. Below-threshold cases need further corroboration before being treated as established failures.</a:t>
            </a:r>
          </a:p>
        </p:txBody>
      </p:sp>
    </p:spTree>
    <p:extLst>
      <p:ext uri="{BB962C8B-B14F-4D97-AF65-F5344CB8AC3E}">
        <p14:creationId xmlns:p14="http://schemas.microsoft.com/office/powerpoint/2010/main" val="4345324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2026-10-14T08:45:34.4730000Z</dcterms:created>
  <dcterms:modified xsi:type="dcterms:W3CDTF">2026-10-14T08:45:34.4730000Z</dcterms:modified>
</coreProperties>
</file>