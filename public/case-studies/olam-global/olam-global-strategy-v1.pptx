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2.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slides/charts/chart3.xml" ContentType="application/vnd.openxmlformats-officedocument.drawingml.chart+xml"/>
  <Override PartName="/ppt/notesSlides/notesSlide97.xml" ContentType="application/vnd.openxmlformats-officedocument.presentationml.notesSlide+xml"/>
  <Override PartName="/ppt/slides/slide98.xml" ContentType="application/vnd.openxmlformats-officedocument.presentationml.slide+xml"/>
  <Override PartName="/ppt/slides/charts/chart4.xml" ContentType="application/vnd.openxmlformats-officedocument.drawingml.chart+xml"/>
  <Override PartName="/ppt/notesSlides/notesSlide9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85347f063994160" /><Relationship Type="http://schemas.openxmlformats.org/officeDocument/2006/relationships/extended-properties" Target="/docProps/app.xml" Id="R75ff64f3f05647de" /><Relationship Type="http://schemas.openxmlformats.org/officeDocument/2006/relationships/officeDocument" Target="/ppt/presentation.xml" Id="Rd6d4de1388bf48a8" /></Relationships>
</file>

<file path=ppt/presentation.xml><?xml version="1.0" encoding="utf-8"?>
<p:presentation xmlns:p="http://schemas.openxmlformats.org/presentationml/2006/main">
  <p:sldMasterIdLst>
    <p:sldMasterId xmlns:r="http://schemas.openxmlformats.org/officeDocument/2006/relationships" id="2147483648" r:id="R53bbd8cbdde644af"/>
  </p:sldMasterIdLst>
  <p:notesMasterIdLst>
    <p:notesMasterId xmlns:r="http://schemas.openxmlformats.org/officeDocument/2006/relationships" r:id="R360aa91ee417468c"/>
  </p:notesMasterIdLst>
  <p:sldIdLst>
    <p:sldId xmlns:r="http://schemas.openxmlformats.org/officeDocument/2006/relationships" id="256" r:id="R40b3a09435b14cdd"/>
    <p:sldId xmlns:r="http://schemas.openxmlformats.org/officeDocument/2006/relationships" id="257" r:id="Rf7696339875945cd"/>
    <p:sldId xmlns:r="http://schemas.openxmlformats.org/officeDocument/2006/relationships" id="258" r:id="R3369431f59624669"/>
    <p:sldId xmlns:r="http://schemas.openxmlformats.org/officeDocument/2006/relationships" id="259" r:id="Rcdd23a5db2b4491c"/>
    <p:sldId xmlns:r="http://schemas.openxmlformats.org/officeDocument/2006/relationships" id="260" r:id="Rdb590d5313df40c7"/>
    <p:sldId xmlns:r="http://schemas.openxmlformats.org/officeDocument/2006/relationships" id="261" r:id="R2411f497314642ad"/>
    <p:sldId xmlns:r="http://schemas.openxmlformats.org/officeDocument/2006/relationships" id="262" r:id="Ra0c1295fcbbb400e"/>
    <p:sldId xmlns:r="http://schemas.openxmlformats.org/officeDocument/2006/relationships" id="263" r:id="R0f5fefa950fa4e95"/>
    <p:sldId xmlns:r="http://schemas.openxmlformats.org/officeDocument/2006/relationships" id="264" r:id="Rf9a65f562b714b26"/>
    <p:sldId xmlns:r="http://schemas.openxmlformats.org/officeDocument/2006/relationships" id="265" r:id="R3eb9fc8e491947cc"/>
    <p:sldId xmlns:r="http://schemas.openxmlformats.org/officeDocument/2006/relationships" id="266" r:id="R8a8f5c91b317411d"/>
    <p:sldId xmlns:r="http://schemas.openxmlformats.org/officeDocument/2006/relationships" id="267" r:id="R4b22e344bc9a4bbc"/>
    <p:sldId xmlns:r="http://schemas.openxmlformats.org/officeDocument/2006/relationships" id="268" r:id="R699f2c982f0141e6"/>
    <p:sldId xmlns:r="http://schemas.openxmlformats.org/officeDocument/2006/relationships" id="269" r:id="Rc3ce2cc542544c7e"/>
    <p:sldId xmlns:r="http://schemas.openxmlformats.org/officeDocument/2006/relationships" id="270" r:id="R88adc20c1e674f4a"/>
    <p:sldId xmlns:r="http://schemas.openxmlformats.org/officeDocument/2006/relationships" id="271" r:id="R8ab31ee9ac694287"/>
    <p:sldId xmlns:r="http://schemas.openxmlformats.org/officeDocument/2006/relationships" id="272" r:id="Rb51130e849104152"/>
    <p:sldId xmlns:r="http://schemas.openxmlformats.org/officeDocument/2006/relationships" id="273" r:id="Ree48c2ef1c8843ca"/>
    <p:sldId xmlns:r="http://schemas.openxmlformats.org/officeDocument/2006/relationships" id="274" r:id="R4256b38a680542b6"/>
    <p:sldId xmlns:r="http://schemas.openxmlformats.org/officeDocument/2006/relationships" id="275" r:id="R8d3c33603e374d6e"/>
    <p:sldId xmlns:r="http://schemas.openxmlformats.org/officeDocument/2006/relationships" id="276" r:id="Re91269d905d14b77"/>
    <p:sldId xmlns:r="http://schemas.openxmlformats.org/officeDocument/2006/relationships" id="277" r:id="Ra47891731d1a41d5"/>
    <p:sldId xmlns:r="http://schemas.openxmlformats.org/officeDocument/2006/relationships" id="278" r:id="Rd9b6e2aea40a46bd"/>
    <p:sldId xmlns:r="http://schemas.openxmlformats.org/officeDocument/2006/relationships" id="279" r:id="Rb343cb6f84254b43"/>
    <p:sldId xmlns:r="http://schemas.openxmlformats.org/officeDocument/2006/relationships" id="280" r:id="R7f23c6abfd664ac3"/>
    <p:sldId xmlns:r="http://schemas.openxmlformats.org/officeDocument/2006/relationships" id="281" r:id="Rf9883b82bbe74180"/>
    <p:sldId xmlns:r="http://schemas.openxmlformats.org/officeDocument/2006/relationships" id="282" r:id="Rf3453fd4778c4d83"/>
    <p:sldId xmlns:r="http://schemas.openxmlformats.org/officeDocument/2006/relationships" id="283" r:id="Re1d87d352e0d4f1f"/>
    <p:sldId xmlns:r="http://schemas.openxmlformats.org/officeDocument/2006/relationships" id="284" r:id="R30877e1cca0d4d99"/>
    <p:sldId xmlns:r="http://schemas.openxmlformats.org/officeDocument/2006/relationships" id="285" r:id="Rab467c8b57fa4025"/>
    <p:sldId xmlns:r="http://schemas.openxmlformats.org/officeDocument/2006/relationships" id="286" r:id="R372dad0ef6414eaa"/>
    <p:sldId xmlns:r="http://schemas.openxmlformats.org/officeDocument/2006/relationships" id="287" r:id="Ra24fb753b635464c"/>
    <p:sldId xmlns:r="http://schemas.openxmlformats.org/officeDocument/2006/relationships" id="288" r:id="R1a737dd68b1a43ca"/>
    <p:sldId xmlns:r="http://schemas.openxmlformats.org/officeDocument/2006/relationships" id="289" r:id="R966da295895a4b72"/>
    <p:sldId xmlns:r="http://schemas.openxmlformats.org/officeDocument/2006/relationships" id="290" r:id="R95bfec6a09e14897"/>
    <p:sldId xmlns:r="http://schemas.openxmlformats.org/officeDocument/2006/relationships" id="291" r:id="R2426d13b89e44057"/>
    <p:sldId xmlns:r="http://schemas.openxmlformats.org/officeDocument/2006/relationships" id="292" r:id="Rd937ddaf6ba149af"/>
    <p:sldId xmlns:r="http://schemas.openxmlformats.org/officeDocument/2006/relationships" id="293" r:id="R5b93a5d4409f4586"/>
    <p:sldId xmlns:r="http://schemas.openxmlformats.org/officeDocument/2006/relationships" id="294" r:id="R4fbbfc20873540c5"/>
    <p:sldId xmlns:r="http://schemas.openxmlformats.org/officeDocument/2006/relationships" id="295" r:id="R79ec9bd84ae34a1f"/>
    <p:sldId xmlns:r="http://schemas.openxmlformats.org/officeDocument/2006/relationships" id="296" r:id="R901350c576bc4919"/>
    <p:sldId xmlns:r="http://schemas.openxmlformats.org/officeDocument/2006/relationships" id="297" r:id="R7137562ecd7747cd"/>
    <p:sldId xmlns:r="http://schemas.openxmlformats.org/officeDocument/2006/relationships" id="298" r:id="Rf30a6078a4d34050"/>
    <p:sldId xmlns:r="http://schemas.openxmlformats.org/officeDocument/2006/relationships" id="299" r:id="R08552ce1144448be"/>
    <p:sldId xmlns:r="http://schemas.openxmlformats.org/officeDocument/2006/relationships" id="300" r:id="Re1e44f0a901c41c2"/>
    <p:sldId xmlns:r="http://schemas.openxmlformats.org/officeDocument/2006/relationships" id="301" r:id="R9b1d7873493a48ec"/>
    <p:sldId xmlns:r="http://schemas.openxmlformats.org/officeDocument/2006/relationships" id="302" r:id="R450dc9fb910c4c4c"/>
    <p:sldId xmlns:r="http://schemas.openxmlformats.org/officeDocument/2006/relationships" id="303" r:id="R1a6a1ac2262d40ee"/>
    <p:sldId xmlns:r="http://schemas.openxmlformats.org/officeDocument/2006/relationships" id="304" r:id="R67437ea7365e49bb"/>
    <p:sldId xmlns:r="http://schemas.openxmlformats.org/officeDocument/2006/relationships" id="305" r:id="R0f6436d869d44a47"/>
    <p:sldId xmlns:r="http://schemas.openxmlformats.org/officeDocument/2006/relationships" id="306" r:id="R9e610e2997514dfc"/>
    <p:sldId xmlns:r="http://schemas.openxmlformats.org/officeDocument/2006/relationships" id="307" r:id="R06e764dc12cb4457"/>
    <p:sldId xmlns:r="http://schemas.openxmlformats.org/officeDocument/2006/relationships" id="308" r:id="R586f55e2a13a4e46"/>
    <p:sldId xmlns:r="http://schemas.openxmlformats.org/officeDocument/2006/relationships" id="309" r:id="Ra3d59776307a4e76"/>
    <p:sldId xmlns:r="http://schemas.openxmlformats.org/officeDocument/2006/relationships" id="310" r:id="Re702efd6530542e6"/>
    <p:sldId xmlns:r="http://schemas.openxmlformats.org/officeDocument/2006/relationships" id="311" r:id="R4e9329997fcb4e9c"/>
    <p:sldId xmlns:r="http://schemas.openxmlformats.org/officeDocument/2006/relationships" id="312" r:id="R87b39c8c6d904840"/>
    <p:sldId xmlns:r="http://schemas.openxmlformats.org/officeDocument/2006/relationships" id="313" r:id="R5aeae4680d8840a5"/>
    <p:sldId xmlns:r="http://schemas.openxmlformats.org/officeDocument/2006/relationships" id="314" r:id="Re04356f38b254fb3"/>
    <p:sldId xmlns:r="http://schemas.openxmlformats.org/officeDocument/2006/relationships" id="315" r:id="R4a713ff8217d4309"/>
    <p:sldId xmlns:r="http://schemas.openxmlformats.org/officeDocument/2006/relationships" id="316" r:id="R74a82d31de354506"/>
    <p:sldId xmlns:r="http://schemas.openxmlformats.org/officeDocument/2006/relationships" id="317" r:id="R48a0defdd34c46d3"/>
    <p:sldId xmlns:r="http://schemas.openxmlformats.org/officeDocument/2006/relationships" id="318" r:id="R58bba8b9db1b4fe7"/>
    <p:sldId xmlns:r="http://schemas.openxmlformats.org/officeDocument/2006/relationships" id="319" r:id="Rc1f1866ec9d0433a"/>
    <p:sldId xmlns:r="http://schemas.openxmlformats.org/officeDocument/2006/relationships" id="320" r:id="R0356412fb7624a12"/>
    <p:sldId xmlns:r="http://schemas.openxmlformats.org/officeDocument/2006/relationships" id="321" r:id="Rec061845700c4f38"/>
    <p:sldId xmlns:r="http://schemas.openxmlformats.org/officeDocument/2006/relationships" id="322" r:id="Rfc90666aeb234309"/>
    <p:sldId xmlns:r="http://schemas.openxmlformats.org/officeDocument/2006/relationships" id="323" r:id="Ra8f9cf9cfca04b1f"/>
    <p:sldId xmlns:r="http://schemas.openxmlformats.org/officeDocument/2006/relationships" id="324" r:id="Rd8dbcc3a4a374eb6"/>
    <p:sldId xmlns:r="http://schemas.openxmlformats.org/officeDocument/2006/relationships" id="325" r:id="R9f12e4b921904552"/>
    <p:sldId xmlns:r="http://schemas.openxmlformats.org/officeDocument/2006/relationships" id="326" r:id="R67319f3b4c4f4a89"/>
    <p:sldId xmlns:r="http://schemas.openxmlformats.org/officeDocument/2006/relationships" id="327" r:id="R18476e80c28e4675"/>
    <p:sldId xmlns:r="http://schemas.openxmlformats.org/officeDocument/2006/relationships" id="328" r:id="R8c98b55aa9fd4cff"/>
    <p:sldId xmlns:r="http://schemas.openxmlformats.org/officeDocument/2006/relationships" id="329" r:id="R295ee50e35ab44a2"/>
    <p:sldId xmlns:r="http://schemas.openxmlformats.org/officeDocument/2006/relationships" id="330" r:id="R9d438a7106c24204"/>
    <p:sldId xmlns:r="http://schemas.openxmlformats.org/officeDocument/2006/relationships" id="331" r:id="Rb4c70b9cfb4441c4"/>
    <p:sldId xmlns:r="http://schemas.openxmlformats.org/officeDocument/2006/relationships" id="332" r:id="Radd717202ed94c75"/>
    <p:sldId xmlns:r="http://schemas.openxmlformats.org/officeDocument/2006/relationships" id="333" r:id="Rf26cd4a8c27941e0"/>
    <p:sldId xmlns:r="http://schemas.openxmlformats.org/officeDocument/2006/relationships" id="334" r:id="R07d0ab480abe4552"/>
    <p:sldId xmlns:r="http://schemas.openxmlformats.org/officeDocument/2006/relationships" id="335" r:id="Rfc3969dd166e49ad"/>
    <p:sldId xmlns:r="http://schemas.openxmlformats.org/officeDocument/2006/relationships" id="336" r:id="Rdca7426cf92f4635"/>
    <p:sldId xmlns:r="http://schemas.openxmlformats.org/officeDocument/2006/relationships" id="337" r:id="R2a620184342940d0"/>
    <p:sldId xmlns:r="http://schemas.openxmlformats.org/officeDocument/2006/relationships" id="338" r:id="Rc973086a90d2463c"/>
    <p:sldId xmlns:r="http://schemas.openxmlformats.org/officeDocument/2006/relationships" id="339" r:id="R911b5a5589184046"/>
    <p:sldId xmlns:r="http://schemas.openxmlformats.org/officeDocument/2006/relationships" id="340" r:id="R5e53641336dc47f1"/>
    <p:sldId xmlns:r="http://schemas.openxmlformats.org/officeDocument/2006/relationships" id="341" r:id="Rca642ea25c6946ed"/>
    <p:sldId xmlns:r="http://schemas.openxmlformats.org/officeDocument/2006/relationships" id="342" r:id="R435f0285e5fb4acf"/>
    <p:sldId xmlns:r="http://schemas.openxmlformats.org/officeDocument/2006/relationships" id="343" r:id="R2be65f596806458e"/>
    <p:sldId xmlns:r="http://schemas.openxmlformats.org/officeDocument/2006/relationships" id="344" r:id="R9ff5a5988c2a4002"/>
    <p:sldId xmlns:r="http://schemas.openxmlformats.org/officeDocument/2006/relationships" id="345" r:id="R2cc7cfd4d23d4d5e"/>
    <p:sldId xmlns:r="http://schemas.openxmlformats.org/officeDocument/2006/relationships" id="346" r:id="R4800f4793bef4177"/>
    <p:sldId xmlns:r="http://schemas.openxmlformats.org/officeDocument/2006/relationships" id="347" r:id="R8171c279fb9042af"/>
    <p:sldId xmlns:r="http://schemas.openxmlformats.org/officeDocument/2006/relationships" id="348" r:id="Red475dfc704d4dfa"/>
    <p:sldId xmlns:r="http://schemas.openxmlformats.org/officeDocument/2006/relationships" id="349" r:id="Rfd40bbf06eba4019"/>
    <p:sldId xmlns:r="http://schemas.openxmlformats.org/officeDocument/2006/relationships" id="350" r:id="Rb8b579b4d3644ee0"/>
    <p:sldId xmlns:r="http://schemas.openxmlformats.org/officeDocument/2006/relationships" id="351" r:id="R2815363ff15f423b"/>
    <p:sldId xmlns:r="http://schemas.openxmlformats.org/officeDocument/2006/relationships" id="352" r:id="R3747a762e9a044d4"/>
    <p:sldId xmlns:r="http://schemas.openxmlformats.org/officeDocument/2006/relationships" id="353" r:id="R69b069398aed474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efa435a7d814465" /><Relationship Type="http://schemas.openxmlformats.org/officeDocument/2006/relationships/slideMaster" Target="/ppt/slideMasters/slideMaster1.xml" Id="R53bbd8cbdde644af" /><Relationship Type="http://schemas.openxmlformats.org/officeDocument/2006/relationships/notesMaster" Target="/ppt/notesMasters/notesMaster1.xml" Id="R360aa91ee417468c" /><Relationship Type="http://schemas.openxmlformats.org/officeDocument/2006/relationships/presProps" Target="/ppt/presProps.xml" Id="R2cc7b6bd997342c4" /><Relationship Type="http://schemas.openxmlformats.org/officeDocument/2006/relationships/tableStyles" Target="/ppt/tableStyles.xml" Id="Rf3cad135a2694393" /><Relationship Type="http://schemas.openxmlformats.org/officeDocument/2006/relationships/slide" Target="/ppt/slides/slide1.xml" Id="R40b3a09435b14cdd" /><Relationship Type="http://schemas.openxmlformats.org/officeDocument/2006/relationships/slide" Target="/ppt/slides/slide2.xml" Id="Rf7696339875945cd" /><Relationship Type="http://schemas.openxmlformats.org/officeDocument/2006/relationships/slide" Target="/ppt/slides/slide3.xml" Id="R3369431f59624669" /><Relationship Type="http://schemas.openxmlformats.org/officeDocument/2006/relationships/slide" Target="/ppt/slides/slide4.xml" Id="Rcdd23a5db2b4491c" /><Relationship Type="http://schemas.openxmlformats.org/officeDocument/2006/relationships/slide" Target="/ppt/slides/slide5.xml" Id="Rdb590d5313df40c7" /><Relationship Type="http://schemas.openxmlformats.org/officeDocument/2006/relationships/slide" Target="/ppt/slides/slide6.xml" Id="R2411f497314642ad" /><Relationship Type="http://schemas.openxmlformats.org/officeDocument/2006/relationships/slide" Target="/ppt/slides/slide7.xml" Id="Ra0c1295fcbbb400e" /><Relationship Type="http://schemas.openxmlformats.org/officeDocument/2006/relationships/slide" Target="/ppt/slides/slide8.xml" Id="R0f5fefa950fa4e95" /><Relationship Type="http://schemas.openxmlformats.org/officeDocument/2006/relationships/slide" Target="/ppt/slides/slide9.xml" Id="Rf9a65f562b714b26" /><Relationship Type="http://schemas.openxmlformats.org/officeDocument/2006/relationships/slide" Target="/ppt/slides/slide10.xml" Id="R3eb9fc8e491947cc" /><Relationship Type="http://schemas.openxmlformats.org/officeDocument/2006/relationships/slide" Target="/ppt/slides/slide11.xml" Id="R8a8f5c91b317411d" /><Relationship Type="http://schemas.openxmlformats.org/officeDocument/2006/relationships/slide" Target="/ppt/slides/slide12.xml" Id="R4b22e344bc9a4bbc" /><Relationship Type="http://schemas.openxmlformats.org/officeDocument/2006/relationships/slide" Target="/ppt/slides/slide13.xml" Id="R699f2c982f0141e6" /><Relationship Type="http://schemas.openxmlformats.org/officeDocument/2006/relationships/slide" Target="/ppt/slides/slide14.xml" Id="Rc3ce2cc542544c7e" /><Relationship Type="http://schemas.openxmlformats.org/officeDocument/2006/relationships/slide" Target="/ppt/slides/slide15.xml" Id="R88adc20c1e674f4a" /><Relationship Type="http://schemas.openxmlformats.org/officeDocument/2006/relationships/slide" Target="/ppt/slides/slide16.xml" Id="R8ab31ee9ac694287" /><Relationship Type="http://schemas.openxmlformats.org/officeDocument/2006/relationships/slide" Target="/ppt/slides/slide17.xml" Id="Rb51130e849104152" /><Relationship Type="http://schemas.openxmlformats.org/officeDocument/2006/relationships/slide" Target="/ppt/slides/slide18.xml" Id="Ree48c2ef1c8843ca" /><Relationship Type="http://schemas.openxmlformats.org/officeDocument/2006/relationships/slide" Target="/ppt/slides/slide19.xml" Id="R4256b38a680542b6" /><Relationship Type="http://schemas.openxmlformats.org/officeDocument/2006/relationships/slide" Target="/ppt/slides/slide20.xml" Id="R8d3c33603e374d6e" /><Relationship Type="http://schemas.openxmlformats.org/officeDocument/2006/relationships/slide" Target="/ppt/slides/slide21.xml" Id="Re91269d905d14b77" /><Relationship Type="http://schemas.openxmlformats.org/officeDocument/2006/relationships/slide" Target="/ppt/slides/slide22.xml" Id="Ra47891731d1a41d5" /><Relationship Type="http://schemas.openxmlformats.org/officeDocument/2006/relationships/slide" Target="/ppt/slides/slide23.xml" Id="Rd9b6e2aea40a46bd" /><Relationship Type="http://schemas.openxmlformats.org/officeDocument/2006/relationships/slide" Target="/ppt/slides/slide24.xml" Id="Rb343cb6f84254b43" /><Relationship Type="http://schemas.openxmlformats.org/officeDocument/2006/relationships/slide" Target="/ppt/slides/slide25.xml" Id="R7f23c6abfd664ac3" /><Relationship Type="http://schemas.openxmlformats.org/officeDocument/2006/relationships/slide" Target="/ppt/slides/slide26.xml" Id="Rf9883b82bbe74180" /><Relationship Type="http://schemas.openxmlformats.org/officeDocument/2006/relationships/slide" Target="/ppt/slides/slide27.xml" Id="Rf3453fd4778c4d83" /><Relationship Type="http://schemas.openxmlformats.org/officeDocument/2006/relationships/slide" Target="/ppt/slides/slide28.xml" Id="Re1d87d352e0d4f1f" /><Relationship Type="http://schemas.openxmlformats.org/officeDocument/2006/relationships/slide" Target="/ppt/slides/slide29.xml" Id="R30877e1cca0d4d99" /><Relationship Type="http://schemas.openxmlformats.org/officeDocument/2006/relationships/slide" Target="/ppt/slides/slide30.xml" Id="Rab467c8b57fa4025" /><Relationship Type="http://schemas.openxmlformats.org/officeDocument/2006/relationships/slide" Target="/ppt/slides/slide31.xml" Id="R372dad0ef6414eaa" /><Relationship Type="http://schemas.openxmlformats.org/officeDocument/2006/relationships/slide" Target="/ppt/slides/slide32.xml" Id="Ra24fb753b635464c" /><Relationship Type="http://schemas.openxmlformats.org/officeDocument/2006/relationships/slide" Target="/ppt/slides/slide33.xml" Id="R1a737dd68b1a43ca" /><Relationship Type="http://schemas.openxmlformats.org/officeDocument/2006/relationships/slide" Target="/ppt/slides/slide34.xml" Id="R966da295895a4b72" /><Relationship Type="http://schemas.openxmlformats.org/officeDocument/2006/relationships/slide" Target="/ppt/slides/slide35.xml" Id="R95bfec6a09e14897" /><Relationship Type="http://schemas.openxmlformats.org/officeDocument/2006/relationships/slide" Target="/ppt/slides/slide36.xml" Id="R2426d13b89e44057" /><Relationship Type="http://schemas.openxmlformats.org/officeDocument/2006/relationships/slide" Target="/ppt/slides/slide37.xml" Id="Rd937ddaf6ba149af" /><Relationship Type="http://schemas.openxmlformats.org/officeDocument/2006/relationships/slide" Target="/ppt/slides/slide38.xml" Id="R5b93a5d4409f4586" /><Relationship Type="http://schemas.openxmlformats.org/officeDocument/2006/relationships/slide" Target="/ppt/slides/slide39.xml" Id="R4fbbfc20873540c5" /><Relationship Type="http://schemas.openxmlformats.org/officeDocument/2006/relationships/slide" Target="/ppt/slides/slide40.xml" Id="R79ec9bd84ae34a1f" /><Relationship Type="http://schemas.openxmlformats.org/officeDocument/2006/relationships/slide" Target="/ppt/slides/slide41.xml" Id="R901350c576bc4919" /><Relationship Type="http://schemas.openxmlformats.org/officeDocument/2006/relationships/slide" Target="/ppt/slides/slide42.xml" Id="R7137562ecd7747cd" /><Relationship Type="http://schemas.openxmlformats.org/officeDocument/2006/relationships/slide" Target="/ppt/slides/slide43.xml" Id="Rf30a6078a4d34050" /><Relationship Type="http://schemas.openxmlformats.org/officeDocument/2006/relationships/slide" Target="/ppt/slides/slide44.xml" Id="R08552ce1144448be" /><Relationship Type="http://schemas.openxmlformats.org/officeDocument/2006/relationships/slide" Target="/ppt/slides/slide45.xml" Id="Re1e44f0a901c41c2" /><Relationship Type="http://schemas.openxmlformats.org/officeDocument/2006/relationships/slide" Target="/ppt/slides/slide46.xml" Id="R9b1d7873493a48ec" /><Relationship Type="http://schemas.openxmlformats.org/officeDocument/2006/relationships/slide" Target="/ppt/slides/slide47.xml" Id="R450dc9fb910c4c4c" /><Relationship Type="http://schemas.openxmlformats.org/officeDocument/2006/relationships/slide" Target="/ppt/slides/slide48.xml" Id="R1a6a1ac2262d40ee" /><Relationship Type="http://schemas.openxmlformats.org/officeDocument/2006/relationships/slide" Target="/ppt/slides/slide49.xml" Id="R67437ea7365e49bb" /><Relationship Type="http://schemas.openxmlformats.org/officeDocument/2006/relationships/slide" Target="/ppt/slides/slide50.xml" Id="R0f6436d869d44a47" /><Relationship Type="http://schemas.openxmlformats.org/officeDocument/2006/relationships/slide" Target="/ppt/slides/slide51.xml" Id="R9e610e2997514dfc" /><Relationship Type="http://schemas.openxmlformats.org/officeDocument/2006/relationships/slide" Target="/ppt/slides/slide52.xml" Id="R06e764dc12cb4457" /><Relationship Type="http://schemas.openxmlformats.org/officeDocument/2006/relationships/slide" Target="/ppt/slides/slide53.xml" Id="R586f55e2a13a4e46" /><Relationship Type="http://schemas.openxmlformats.org/officeDocument/2006/relationships/slide" Target="/ppt/slides/slide54.xml" Id="Ra3d59776307a4e76" /><Relationship Type="http://schemas.openxmlformats.org/officeDocument/2006/relationships/slide" Target="/ppt/slides/slide55.xml" Id="Re702efd6530542e6" /><Relationship Type="http://schemas.openxmlformats.org/officeDocument/2006/relationships/slide" Target="/ppt/slides/slide56.xml" Id="R4e9329997fcb4e9c" /><Relationship Type="http://schemas.openxmlformats.org/officeDocument/2006/relationships/slide" Target="/ppt/slides/slide57.xml" Id="R87b39c8c6d904840" /><Relationship Type="http://schemas.openxmlformats.org/officeDocument/2006/relationships/slide" Target="/ppt/slides/slide58.xml" Id="R5aeae4680d8840a5" /><Relationship Type="http://schemas.openxmlformats.org/officeDocument/2006/relationships/slide" Target="/ppt/slides/slide59.xml" Id="Re04356f38b254fb3" /><Relationship Type="http://schemas.openxmlformats.org/officeDocument/2006/relationships/slide" Target="/ppt/slides/slide60.xml" Id="R4a713ff8217d4309" /><Relationship Type="http://schemas.openxmlformats.org/officeDocument/2006/relationships/slide" Target="/ppt/slides/slide61.xml" Id="R74a82d31de354506" /><Relationship Type="http://schemas.openxmlformats.org/officeDocument/2006/relationships/slide" Target="/ppt/slides/slide62.xml" Id="R48a0defdd34c46d3" /><Relationship Type="http://schemas.openxmlformats.org/officeDocument/2006/relationships/slide" Target="/ppt/slides/slide63.xml" Id="R58bba8b9db1b4fe7" /><Relationship Type="http://schemas.openxmlformats.org/officeDocument/2006/relationships/slide" Target="/ppt/slides/slide64.xml" Id="Rc1f1866ec9d0433a" /><Relationship Type="http://schemas.openxmlformats.org/officeDocument/2006/relationships/slide" Target="/ppt/slides/slide65.xml" Id="R0356412fb7624a12" /><Relationship Type="http://schemas.openxmlformats.org/officeDocument/2006/relationships/slide" Target="/ppt/slides/slide66.xml" Id="Rec061845700c4f38" /><Relationship Type="http://schemas.openxmlformats.org/officeDocument/2006/relationships/slide" Target="/ppt/slides/slide67.xml" Id="Rfc90666aeb234309" /><Relationship Type="http://schemas.openxmlformats.org/officeDocument/2006/relationships/slide" Target="/ppt/slides/slide68.xml" Id="Ra8f9cf9cfca04b1f" /><Relationship Type="http://schemas.openxmlformats.org/officeDocument/2006/relationships/slide" Target="/ppt/slides/slide69.xml" Id="Rd8dbcc3a4a374eb6" /><Relationship Type="http://schemas.openxmlformats.org/officeDocument/2006/relationships/slide" Target="/ppt/slides/slide70.xml" Id="R9f12e4b921904552" /><Relationship Type="http://schemas.openxmlformats.org/officeDocument/2006/relationships/slide" Target="/ppt/slides/slide71.xml" Id="R67319f3b4c4f4a89" /><Relationship Type="http://schemas.openxmlformats.org/officeDocument/2006/relationships/slide" Target="/ppt/slides/slide72.xml" Id="R18476e80c28e4675" /><Relationship Type="http://schemas.openxmlformats.org/officeDocument/2006/relationships/slide" Target="/ppt/slides/slide73.xml" Id="R8c98b55aa9fd4cff" /><Relationship Type="http://schemas.openxmlformats.org/officeDocument/2006/relationships/slide" Target="/ppt/slides/slide74.xml" Id="R295ee50e35ab44a2" /><Relationship Type="http://schemas.openxmlformats.org/officeDocument/2006/relationships/slide" Target="/ppt/slides/slide75.xml" Id="R9d438a7106c24204" /><Relationship Type="http://schemas.openxmlformats.org/officeDocument/2006/relationships/slide" Target="/ppt/slides/slide76.xml" Id="Rb4c70b9cfb4441c4" /><Relationship Type="http://schemas.openxmlformats.org/officeDocument/2006/relationships/slide" Target="/ppt/slides/slide77.xml" Id="Radd717202ed94c75" /><Relationship Type="http://schemas.openxmlformats.org/officeDocument/2006/relationships/slide" Target="/ppt/slides/slide78.xml" Id="Rf26cd4a8c27941e0" /><Relationship Type="http://schemas.openxmlformats.org/officeDocument/2006/relationships/slide" Target="/ppt/slides/slide79.xml" Id="R07d0ab480abe4552" /><Relationship Type="http://schemas.openxmlformats.org/officeDocument/2006/relationships/slide" Target="/ppt/slides/slide80.xml" Id="Rfc3969dd166e49ad" /><Relationship Type="http://schemas.openxmlformats.org/officeDocument/2006/relationships/slide" Target="/ppt/slides/slide81.xml" Id="Rdca7426cf92f4635" /><Relationship Type="http://schemas.openxmlformats.org/officeDocument/2006/relationships/slide" Target="/ppt/slides/slide82.xml" Id="R2a620184342940d0" /><Relationship Type="http://schemas.openxmlformats.org/officeDocument/2006/relationships/slide" Target="/ppt/slides/slide83.xml" Id="Rc973086a90d2463c" /><Relationship Type="http://schemas.openxmlformats.org/officeDocument/2006/relationships/slide" Target="/ppt/slides/slide84.xml" Id="R911b5a5589184046" /><Relationship Type="http://schemas.openxmlformats.org/officeDocument/2006/relationships/slide" Target="/ppt/slides/slide85.xml" Id="R5e53641336dc47f1" /><Relationship Type="http://schemas.openxmlformats.org/officeDocument/2006/relationships/slide" Target="/ppt/slides/slide86.xml" Id="Rca642ea25c6946ed" /><Relationship Type="http://schemas.openxmlformats.org/officeDocument/2006/relationships/slide" Target="/ppt/slides/slide87.xml" Id="R435f0285e5fb4acf" /><Relationship Type="http://schemas.openxmlformats.org/officeDocument/2006/relationships/slide" Target="/ppt/slides/slide88.xml" Id="R2be65f596806458e" /><Relationship Type="http://schemas.openxmlformats.org/officeDocument/2006/relationships/slide" Target="/ppt/slides/slide89.xml" Id="R9ff5a5988c2a4002" /><Relationship Type="http://schemas.openxmlformats.org/officeDocument/2006/relationships/slide" Target="/ppt/slides/slide90.xml" Id="R2cc7cfd4d23d4d5e" /><Relationship Type="http://schemas.openxmlformats.org/officeDocument/2006/relationships/slide" Target="/ppt/slides/slide91.xml" Id="R4800f4793bef4177" /><Relationship Type="http://schemas.openxmlformats.org/officeDocument/2006/relationships/slide" Target="/ppt/slides/slide92.xml" Id="R8171c279fb9042af" /><Relationship Type="http://schemas.openxmlformats.org/officeDocument/2006/relationships/slide" Target="/ppt/slides/slide93.xml" Id="Red475dfc704d4dfa" /><Relationship Type="http://schemas.openxmlformats.org/officeDocument/2006/relationships/slide" Target="/ppt/slides/slide94.xml" Id="Rfd40bbf06eba4019" /><Relationship Type="http://schemas.openxmlformats.org/officeDocument/2006/relationships/slide" Target="/ppt/slides/slide95.xml" Id="Rb8b579b4d3644ee0" /><Relationship Type="http://schemas.openxmlformats.org/officeDocument/2006/relationships/slide" Target="/ppt/slides/slide96.xml" Id="R2815363ff15f423b" /><Relationship Type="http://schemas.openxmlformats.org/officeDocument/2006/relationships/slide" Target="/ppt/slides/slide97.xml" Id="R3747a762e9a044d4" /><Relationship Type="http://schemas.openxmlformats.org/officeDocument/2006/relationships/slide" Target="/ppt/slides/slide98.xml" Id="R69b069398aed474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64f3337b7c644c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3ff8695a62442c5" /><Relationship Type="http://schemas.openxmlformats.org/officeDocument/2006/relationships/notesMaster" Target="/ppt/notesMasters/notesMaster1.xml" Id="R7aec06f02bb24903" /></Relationships>
</file>

<file path=ppt/notesSlides/_rels/notesSlide2.xml.rels>&#65279;<?xml version="1.0" encoding="utf-8"?><Relationships xmlns="http://schemas.openxmlformats.org/package/2006/relationships"><Relationship Type="http://schemas.openxmlformats.org/officeDocument/2006/relationships/slide" Target="/ppt/slides/slide2.xml" Id="Re1ca193948b744fa" /><Relationship Type="http://schemas.openxmlformats.org/officeDocument/2006/relationships/notesMaster" Target="/ppt/notesMasters/notesMaster1.xml" Id="Raa7f4629ba954785" /></Relationships>
</file>

<file path=ppt/notesSlides/_rels/notesSlide3.xml.rels>&#65279;<?xml version="1.0" encoding="utf-8"?><Relationships xmlns="http://schemas.openxmlformats.org/package/2006/relationships"><Relationship Type="http://schemas.openxmlformats.org/officeDocument/2006/relationships/slide" Target="/ppt/slides/slide3.xml" Id="R78799c390cd84304" /><Relationship Type="http://schemas.openxmlformats.org/officeDocument/2006/relationships/notesMaster" Target="/ppt/notesMasters/notesMaster1.xml" Id="Rd8d3e39828254e90" /></Relationships>
</file>

<file path=ppt/notesSlides/_rels/notesSlide4.xml.rels>&#65279;<?xml version="1.0" encoding="utf-8"?><Relationships xmlns="http://schemas.openxmlformats.org/package/2006/relationships"><Relationship Type="http://schemas.openxmlformats.org/officeDocument/2006/relationships/slide" Target="/ppt/slides/slide4.xml" Id="R14ea5cdeaf9a46ed" /><Relationship Type="http://schemas.openxmlformats.org/officeDocument/2006/relationships/notesMaster" Target="/ppt/notesMasters/notesMaster1.xml" Id="R72a51ea30e0049fe" /></Relationships>
</file>

<file path=ppt/notesSlides/_rels/notesSlide5.xml.rels>&#65279;<?xml version="1.0" encoding="utf-8"?><Relationships xmlns="http://schemas.openxmlformats.org/package/2006/relationships"><Relationship Type="http://schemas.openxmlformats.org/officeDocument/2006/relationships/slide" Target="/ppt/slides/slide5.xml" Id="Rca964e2f48284d0f" /><Relationship Type="http://schemas.openxmlformats.org/officeDocument/2006/relationships/notesMaster" Target="/ppt/notesMasters/notesMaster1.xml" Id="R5615ebac098d4f7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bdfa308f4bc44b1" /><Relationship Type="http://schemas.openxmlformats.org/officeDocument/2006/relationships/notesMaster" Target="/ppt/notesMasters/notesMaster1.xml" Id="R41418a500ba84dc4" /></Relationships>
</file>

<file path=ppt/notesSlides/_rels/notesSlide7.xml.rels>&#65279;<?xml version="1.0" encoding="utf-8"?><Relationships xmlns="http://schemas.openxmlformats.org/package/2006/relationships"><Relationship Type="http://schemas.openxmlformats.org/officeDocument/2006/relationships/slide" Target="/ppt/slides/slide7.xml" Id="R823f429616cc482d" /><Relationship Type="http://schemas.openxmlformats.org/officeDocument/2006/relationships/notesMaster" Target="/ppt/notesMasters/notesMaster1.xml" Id="R99ff0830fb0c457e" /></Relationships>
</file>

<file path=ppt/notesSlides/_rels/notesSlide8.xml.rels>&#65279;<?xml version="1.0" encoding="utf-8"?><Relationships xmlns="http://schemas.openxmlformats.org/package/2006/relationships"><Relationship Type="http://schemas.openxmlformats.org/officeDocument/2006/relationships/slide" Target="/ppt/slides/slide8.xml" Id="R15ab9dd27e1343a9" /><Relationship Type="http://schemas.openxmlformats.org/officeDocument/2006/relationships/notesMaster" Target="/ppt/notesMasters/notesMaster1.xml" Id="R6e44a8a1d0cd4d24" /></Relationships>
</file>

<file path=ppt/notesSlides/_rels/notesSlide9.xml.rels>&#65279;<?xml version="1.0" encoding="utf-8"?><Relationships xmlns="http://schemas.openxmlformats.org/package/2006/relationships"><Relationship Type="http://schemas.openxmlformats.org/officeDocument/2006/relationships/slide" Target="/ppt/slides/slide9.xml" Id="Rd0ed5aeb78304e9e" /><Relationship Type="http://schemas.openxmlformats.org/officeDocument/2006/relationships/notesMaster" Target="/ppt/notesMasters/notesMaster1.xml" Id="Rf85338a745394e2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e6ca9823e1f44aa" /><Relationship Type="http://schemas.openxmlformats.org/officeDocument/2006/relationships/notesMaster" Target="/ppt/notesMasters/notesMaster1.xml" Id="Rd8ba3c6c278846a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09401839c44ef8" /><Relationship Type="http://schemas.openxmlformats.org/officeDocument/2006/relationships/notesMaster" Target="/ppt/notesMasters/notesMaster1.xml" Id="R706d2f73668a45a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777c5f0a5bf4d24" /><Relationship Type="http://schemas.openxmlformats.org/officeDocument/2006/relationships/notesMaster" Target="/ppt/notesMasters/notesMaster1.xml" Id="R7f241e7df54d455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f2b304979d249c8" /><Relationship Type="http://schemas.openxmlformats.org/officeDocument/2006/relationships/notesMaster" Target="/ppt/notesMasters/notesMaster1.xml" Id="Rcf867615b0e043a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14d32f19d0b4139" /><Relationship Type="http://schemas.openxmlformats.org/officeDocument/2006/relationships/notesMaster" Target="/ppt/notesMasters/notesMaster1.xml" Id="R3c531f220d7b406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efb9180a1d041ab" /><Relationship Type="http://schemas.openxmlformats.org/officeDocument/2006/relationships/notesMaster" Target="/ppt/notesMasters/notesMaster1.xml" Id="Ra4484f195047440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345d7a002ee4d59" /><Relationship Type="http://schemas.openxmlformats.org/officeDocument/2006/relationships/notesMaster" Target="/ppt/notesMasters/notesMaster1.xml" Id="R13c2efff68f74e0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135311cc6594cb4" /><Relationship Type="http://schemas.openxmlformats.org/officeDocument/2006/relationships/notesMaster" Target="/ppt/notesMasters/notesMaster1.xml" Id="R85d0b93f4a794b3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c44cc4bd59c439e" /><Relationship Type="http://schemas.openxmlformats.org/officeDocument/2006/relationships/notesMaster" Target="/ppt/notesMasters/notesMaster1.xml" Id="R31871905e36142f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f3cb60f2ffd433f" /><Relationship Type="http://schemas.openxmlformats.org/officeDocument/2006/relationships/notesMaster" Target="/ppt/notesMasters/notesMaster1.xml" Id="R531d85761f42441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be6b81490324550" /><Relationship Type="http://schemas.openxmlformats.org/officeDocument/2006/relationships/notesMaster" Target="/ppt/notesMasters/notesMaster1.xml" Id="R8ba142c4fb6842c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d2de3e489184f63" /><Relationship Type="http://schemas.openxmlformats.org/officeDocument/2006/relationships/notesMaster" Target="/ppt/notesMasters/notesMaster1.xml" Id="Rb62a4dd8db4f4e0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ba9faa842364799" /><Relationship Type="http://schemas.openxmlformats.org/officeDocument/2006/relationships/notesMaster" Target="/ppt/notesMasters/notesMaster1.xml" Id="R1782c6c3c10b4ae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54879be8d4d4510" /><Relationship Type="http://schemas.openxmlformats.org/officeDocument/2006/relationships/notesMaster" Target="/ppt/notesMasters/notesMaster1.xml" Id="R7e9948890a78416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0bd5df0f37246df" /><Relationship Type="http://schemas.openxmlformats.org/officeDocument/2006/relationships/notesMaster" Target="/ppt/notesMasters/notesMaster1.xml" Id="Rfdc163342c01451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083b6cd71dc44b7" /><Relationship Type="http://schemas.openxmlformats.org/officeDocument/2006/relationships/notesMaster" Target="/ppt/notesMasters/notesMaster1.xml" Id="Rb26eec258e1943c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abdc894933b4fca" /><Relationship Type="http://schemas.openxmlformats.org/officeDocument/2006/relationships/notesMaster" Target="/ppt/notesMasters/notesMaster1.xml" Id="Rd12b307847ea4aa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c05ded784644448" /><Relationship Type="http://schemas.openxmlformats.org/officeDocument/2006/relationships/notesMaster" Target="/ppt/notesMasters/notesMaster1.xml" Id="R25b6e413b3e345e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cdb7eabb34d4756" /><Relationship Type="http://schemas.openxmlformats.org/officeDocument/2006/relationships/notesMaster" Target="/ppt/notesMasters/notesMaster1.xml" Id="R7b82754240e34c1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160153d9ea1411f" /><Relationship Type="http://schemas.openxmlformats.org/officeDocument/2006/relationships/notesMaster" Target="/ppt/notesMasters/notesMaster1.xml" Id="Rad2282f96174408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1464fe8fe6144a6" /><Relationship Type="http://schemas.openxmlformats.org/officeDocument/2006/relationships/notesMaster" Target="/ppt/notesMasters/notesMaster1.xml" Id="R74e1973a24c64b6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6616e0704634f09" /><Relationship Type="http://schemas.openxmlformats.org/officeDocument/2006/relationships/notesMaster" Target="/ppt/notesMasters/notesMaster1.xml" Id="Rab478c7ef7eb4fa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dc962b79a024108" /><Relationship Type="http://schemas.openxmlformats.org/officeDocument/2006/relationships/notesMaster" Target="/ppt/notesMasters/notesMaster1.xml" Id="Rab878b68a9dc49a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8b141b4fbbe4b59" /><Relationship Type="http://schemas.openxmlformats.org/officeDocument/2006/relationships/notesMaster" Target="/ppt/notesMasters/notesMaster1.xml" Id="R3a8002eaf3ff4b9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1f6e21d09374db0" /><Relationship Type="http://schemas.openxmlformats.org/officeDocument/2006/relationships/notesMaster" Target="/ppt/notesMasters/notesMaster1.xml" Id="Rfe528684832e448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3e1426b29e24d76" /><Relationship Type="http://schemas.openxmlformats.org/officeDocument/2006/relationships/notesMaster" Target="/ppt/notesMasters/notesMaster1.xml" Id="R4b807c93f014427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d8d013a4c734d64" /><Relationship Type="http://schemas.openxmlformats.org/officeDocument/2006/relationships/notesMaster" Target="/ppt/notesMasters/notesMaster1.xml" Id="R2dfccbc121894a4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3c9c6282ac046cd" /><Relationship Type="http://schemas.openxmlformats.org/officeDocument/2006/relationships/notesMaster" Target="/ppt/notesMasters/notesMaster1.xml" Id="R1032486eabba420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7ab88a59e6749ee" /><Relationship Type="http://schemas.openxmlformats.org/officeDocument/2006/relationships/notesMaster" Target="/ppt/notesMasters/notesMaster1.xml" Id="R817adc1aeb134ab5"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296f220460e449fc" /><Relationship Type="http://schemas.openxmlformats.org/officeDocument/2006/relationships/notesMaster" Target="/ppt/notesMasters/notesMaster1.xml" Id="R33ebbd0352a9407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43ba531f0dd84e0d" /><Relationship Type="http://schemas.openxmlformats.org/officeDocument/2006/relationships/notesMaster" Target="/ppt/notesMasters/notesMaster1.xml" Id="R337199fcc754410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8c8ac1817de44f77" /><Relationship Type="http://schemas.openxmlformats.org/officeDocument/2006/relationships/notesMaster" Target="/ppt/notesMasters/notesMaster1.xml" Id="R07a66b8599d74d6c"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c4dfe326e91445e6" /><Relationship Type="http://schemas.openxmlformats.org/officeDocument/2006/relationships/notesMaster" Target="/ppt/notesMasters/notesMaster1.xml" Id="R2e65e15a97cc4723"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ff4d8ca817094c99" /><Relationship Type="http://schemas.openxmlformats.org/officeDocument/2006/relationships/notesMaster" Target="/ppt/notesMasters/notesMaster1.xml" Id="Rd717619daee649d7"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2dc3a70ed4334b56" /><Relationship Type="http://schemas.openxmlformats.org/officeDocument/2006/relationships/notesMaster" Target="/ppt/notesMasters/notesMaster1.xml" Id="R5f0ebf8dbf004b9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5e2ca635f4fe47ee" /><Relationship Type="http://schemas.openxmlformats.org/officeDocument/2006/relationships/notesMaster" Target="/ppt/notesMasters/notesMaster1.xml" Id="Rf0b72ceb45954e6a"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47d213bb947040c2" /><Relationship Type="http://schemas.openxmlformats.org/officeDocument/2006/relationships/notesMaster" Target="/ppt/notesMasters/notesMaster1.xml" Id="R5f5133ebf54f43d1"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621c1aa361e74b9d" /><Relationship Type="http://schemas.openxmlformats.org/officeDocument/2006/relationships/notesMaster" Target="/ppt/notesMasters/notesMaster1.xml" Id="R52b2b75cf6364c4d"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c9256b1f35304caf" /><Relationship Type="http://schemas.openxmlformats.org/officeDocument/2006/relationships/notesMaster" Target="/ppt/notesMasters/notesMaster1.xml" Id="R8ab08565ad12492c"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e0b4b1704124a7d" /><Relationship Type="http://schemas.openxmlformats.org/officeDocument/2006/relationships/notesMaster" Target="/ppt/notesMasters/notesMaster1.xml" Id="R3227a68bb9e94d39"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0c5ee38b914a4e67" /><Relationship Type="http://schemas.openxmlformats.org/officeDocument/2006/relationships/notesMaster" Target="/ppt/notesMasters/notesMaster1.xml" Id="R02f27f60cedd4231"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6660bf7b49b040eb" /><Relationship Type="http://schemas.openxmlformats.org/officeDocument/2006/relationships/notesMaster" Target="/ppt/notesMasters/notesMaster1.xml" Id="R6fd0ac383097491e"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64e5e8ec04d54658" /><Relationship Type="http://schemas.openxmlformats.org/officeDocument/2006/relationships/notesMaster" Target="/ppt/notesMasters/notesMaster1.xml" Id="R7ce7cea949a1409f"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3d5a4fe2e4c04f04" /><Relationship Type="http://schemas.openxmlformats.org/officeDocument/2006/relationships/notesMaster" Target="/ppt/notesMasters/notesMaster1.xml" Id="R3835324021074a7a"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0873ae0696d4343" /><Relationship Type="http://schemas.openxmlformats.org/officeDocument/2006/relationships/notesMaster" Target="/ppt/notesMasters/notesMaster1.xml" Id="Reb4b38c35ec84612"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3edc40ee706b4f57" /><Relationship Type="http://schemas.openxmlformats.org/officeDocument/2006/relationships/notesMaster" Target="/ppt/notesMasters/notesMaster1.xml" Id="Rf3dde01963524bea"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47a8aee2d37940f3" /><Relationship Type="http://schemas.openxmlformats.org/officeDocument/2006/relationships/notesMaster" Target="/ppt/notesMasters/notesMaster1.xml" Id="Re8b979b49c8f4f86"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2b0ee40f51b2489b" /><Relationship Type="http://schemas.openxmlformats.org/officeDocument/2006/relationships/notesMaster" Target="/ppt/notesMasters/notesMaster1.xml" Id="Rd184b785cc8f4daa"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e63f0470b77040dc" /><Relationship Type="http://schemas.openxmlformats.org/officeDocument/2006/relationships/notesMaster" Target="/ppt/notesMasters/notesMaster1.xml" Id="Rb4c2389a0d544744"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45dc7b09885645b8" /><Relationship Type="http://schemas.openxmlformats.org/officeDocument/2006/relationships/notesMaster" Target="/ppt/notesMasters/notesMaster1.xml" Id="R07dfd8f393ee4a66"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323c04e89f904d3c" /><Relationship Type="http://schemas.openxmlformats.org/officeDocument/2006/relationships/notesMaster" Target="/ppt/notesMasters/notesMaster1.xml" Id="R8e0498fb10074f76"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189ab4cd795b4da4" /><Relationship Type="http://schemas.openxmlformats.org/officeDocument/2006/relationships/notesMaster" Target="/ppt/notesMasters/notesMaster1.xml" Id="R851a8334a7064df9"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3b4887b3c3ee4f00" /><Relationship Type="http://schemas.openxmlformats.org/officeDocument/2006/relationships/notesMaster" Target="/ppt/notesMasters/notesMaster1.xml" Id="Ra8bea33843ff479d"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ce819957e5b64a52" /><Relationship Type="http://schemas.openxmlformats.org/officeDocument/2006/relationships/notesMaster" Target="/ppt/notesMasters/notesMaster1.xml" Id="Rf91364495df74ade"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0fbfb67b58674a57" /><Relationship Type="http://schemas.openxmlformats.org/officeDocument/2006/relationships/notesMaster" Target="/ppt/notesMasters/notesMaster1.xml" Id="Rb8aa3c1bbdda437c"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e2386d9133be42e5" /><Relationship Type="http://schemas.openxmlformats.org/officeDocument/2006/relationships/notesMaster" Target="/ppt/notesMasters/notesMaster1.xml" Id="Rda58321b3ebb4ba4"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7cbb358b821f4554" /><Relationship Type="http://schemas.openxmlformats.org/officeDocument/2006/relationships/notesMaster" Target="/ppt/notesMasters/notesMaster1.xml" Id="Rb3cd1a06941c4690"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d766f68cde6e45fc" /><Relationship Type="http://schemas.openxmlformats.org/officeDocument/2006/relationships/notesMaster" Target="/ppt/notesMasters/notesMaster1.xml" Id="R300ceefb18eb441d"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6d34cb024bb443f7" /><Relationship Type="http://schemas.openxmlformats.org/officeDocument/2006/relationships/notesMaster" Target="/ppt/notesMasters/notesMaster1.xml" Id="R45168e61de1b4559"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c6f85a3f190a47d2" /><Relationship Type="http://schemas.openxmlformats.org/officeDocument/2006/relationships/notesMaster" Target="/ppt/notesMasters/notesMaster1.xml" Id="Rca37cda443fc4a49"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453a2da022c64f1d" /><Relationship Type="http://schemas.openxmlformats.org/officeDocument/2006/relationships/notesMaster" Target="/ppt/notesMasters/notesMaster1.xml" Id="R845584be7d684518"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1222453650ee4cb3" /><Relationship Type="http://schemas.openxmlformats.org/officeDocument/2006/relationships/notesMaster" Target="/ppt/notesMasters/notesMaster1.xml" Id="Rc2aa08191a1a405f"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b2fc1798d2d64233" /><Relationship Type="http://schemas.openxmlformats.org/officeDocument/2006/relationships/notesMaster" Target="/ppt/notesMasters/notesMaster1.xml" Id="Rebeab37358554bce"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20bd2419f0a64572" /><Relationship Type="http://schemas.openxmlformats.org/officeDocument/2006/relationships/notesMaster" Target="/ppt/notesMasters/notesMaster1.xml" Id="R1f7466ea8f3543be"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e6ea5be63af54290" /><Relationship Type="http://schemas.openxmlformats.org/officeDocument/2006/relationships/notesMaster" Target="/ppt/notesMasters/notesMaster1.xml" Id="R5871c22c9e9442d3"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a5e1d48b57e0484b" /><Relationship Type="http://schemas.openxmlformats.org/officeDocument/2006/relationships/notesMaster" Target="/ppt/notesMasters/notesMaster1.xml" Id="R28615be647a2417f"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53cf94abd02d43f9" /><Relationship Type="http://schemas.openxmlformats.org/officeDocument/2006/relationships/notesMaster" Target="/ppt/notesMasters/notesMaster1.xml" Id="R5ede7fa5073b4a8f"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d478b70a6ddd4021" /><Relationship Type="http://schemas.openxmlformats.org/officeDocument/2006/relationships/notesMaster" Target="/ppt/notesMasters/notesMaster1.xml" Id="R9ec515b04fa14f18"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ec326ae6d5744b6d" /><Relationship Type="http://schemas.openxmlformats.org/officeDocument/2006/relationships/notesMaster" Target="/ppt/notesMasters/notesMaster1.xml" Id="R584849651a3a4933"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c370fc3f514a4bfe" /><Relationship Type="http://schemas.openxmlformats.org/officeDocument/2006/relationships/notesMaster" Target="/ppt/notesMasters/notesMaster1.xml" Id="Rf97ebcc26ee54806"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282ed5d58e0242fe" /><Relationship Type="http://schemas.openxmlformats.org/officeDocument/2006/relationships/notesMaster" Target="/ppt/notesMasters/notesMaster1.xml" Id="R08fc4553bc114861"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86c72df99948469f" /><Relationship Type="http://schemas.openxmlformats.org/officeDocument/2006/relationships/notesMaster" Target="/ppt/notesMasters/notesMaster1.xml" Id="R8f6b75e1a48341a0"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e16b2825bbfd44d9" /><Relationship Type="http://schemas.openxmlformats.org/officeDocument/2006/relationships/notesMaster" Target="/ppt/notesMasters/notesMaster1.xml" Id="R158c6078e1454f3c"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af1770c3f6de4c98" /><Relationship Type="http://schemas.openxmlformats.org/officeDocument/2006/relationships/notesMaster" Target="/ppt/notesMasters/notesMaster1.xml" Id="Rd024c2ae46c84dd0"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841e240e8e5b46cb" /><Relationship Type="http://schemas.openxmlformats.org/officeDocument/2006/relationships/notesMaster" Target="/ppt/notesMasters/notesMaster1.xml" Id="R94aacf97975040fb"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2c6bb5f60bf8457b" /><Relationship Type="http://schemas.openxmlformats.org/officeDocument/2006/relationships/notesMaster" Target="/ppt/notesMasters/notesMaster1.xml" Id="Rbd6e6963dd05410c"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ed6dfb853c694570" /><Relationship Type="http://schemas.openxmlformats.org/officeDocument/2006/relationships/notesMaster" Target="/ppt/notesMasters/notesMaster1.xml" Id="R6ee4edf20a8044bb"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a0f4f39461204889" /><Relationship Type="http://schemas.openxmlformats.org/officeDocument/2006/relationships/notesMaster" Target="/ppt/notesMasters/notesMaster1.xml" Id="R2b403d791caf40c3"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1c9335e8a7694c7f" /><Relationship Type="http://schemas.openxmlformats.org/officeDocument/2006/relationships/notesMaster" Target="/ppt/notesMasters/notesMaster1.xml" Id="R430de4c703074dc4"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6000e68ee3d04a2c" /><Relationship Type="http://schemas.openxmlformats.org/officeDocument/2006/relationships/notesMaster" Target="/ppt/notesMasters/notesMaster1.xml" Id="Rc5195ab9a289439e"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20d84d8ef7124d04" /><Relationship Type="http://schemas.openxmlformats.org/officeDocument/2006/relationships/notesMaster" Target="/ppt/notesMasters/notesMaster1.xml" Id="R3710fcc4da794d03"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3f01760e6d954933" /><Relationship Type="http://schemas.openxmlformats.org/officeDocument/2006/relationships/notesMaster" Target="/ppt/notesMasters/notesMaster1.xml" Id="R7c287b99d61743b8"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b3d3d88c26c94ea3" /><Relationship Type="http://schemas.openxmlformats.org/officeDocument/2006/relationships/notesMaster" Target="/ppt/notesMasters/notesMaster1.xml" Id="Rf674695c41844ed9"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5bad2be35c0044a1" /><Relationship Type="http://schemas.openxmlformats.org/officeDocument/2006/relationships/notesMaster" Target="/ppt/notesMasters/notesMaster1.xml" Id="R12f3d37953874eb8"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4965971a034944e4" /><Relationship Type="http://schemas.openxmlformats.org/officeDocument/2006/relationships/notesMaster" Target="/ppt/notesMasters/notesMaster1.xml" Id="R1ea434fc5928459d"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616abc6d94eb4e3e" /><Relationship Type="http://schemas.openxmlformats.org/officeDocument/2006/relationships/notesMaster" Target="/ppt/notesMasters/notesMaster1.xml" Id="R81cbdc3c75344163"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6ccfd349ceba4329" /><Relationship Type="http://schemas.openxmlformats.org/officeDocument/2006/relationships/notesMaster" Target="/ppt/notesMasters/notesMaster1.xml" Id="R06a7b387f0014633"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adc5ea3c8bcf4c9c" /><Relationship Type="http://schemas.openxmlformats.org/officeDocument/2006/relationships/notesMaster" Target="/ppt/notesMasters/notesMaster1.xml" Id="R66d3e041113543e4"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3b3514d3b6904e83" /><Relationship Type="http://schemas.openxmlformats.org/officeDocument/2006/relationships/notesMaster" Target="/ppt/notesMasters/notesMaster1.xml" Id="R86d9ee7fc5774af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Commit first to customer proof, route cash and adaptable capacity.</a:t>
            </a:r>
          </a:p>
          <a:p xmlns:a="http://schemas.openxmlformats.org/drawingml/2006/main">
            <a:r>
              <a:t/>
            </a:r>
          </a:p>
          <a:p xmlns:a="http://schemas.openxmlformats.org/drawingml/2006/main">
            <a:r>
              <a:t>Evidence: CO_FACT, BASELINE. </a:t>
            </a:r>
          </a:p>
          <a:p xmlns:a="http://schemas.openxmlformats.org/drawingml/2006/main">
            <a:r>
              <a:t>Source lineage: CO_FACT, BASELINE</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CO_FACT, BASELINE; ; source-book, calculation-appendix, CEO-question register, priority-commercial-plans and requirements-audit. Public package /case-studies/olam-global/.</a:t>
            </a:r>
          </a:p>
          <a:p xmlns:a="http://schemas.openxmlformats.org/drawingml/2006/main">
            <a:r>
              <a:t/>
            </a:r>
          </a:p>
          <a:p xmlns:a="http://schemas.openxmlformats.org/drawingml/2006/main">
            <a:r>
              <a:t>CO_FACT | Olam Agri factsheet, June 2026</a:t>
            </a:r>
          </a:p>
          <a:p xmlns:a="http://schemas.openxmlformats.org/drawingml/2006/main">
            <a:r>
              <a:t>https://www.olamagri.com/content/dam/olam-agri/assets/webp/au/au-pdfs/factsheet/olamagri-corporate-factsheet-2026.pdf</a:t>
            </a:r>
          </a:p>
          <a:p xmlns:a="http://schemas.openxmlformats.org/drawingml/2006/main">
            <a:r>
              <a:t>pp. 1–2; footprint, products, ownership</a:t>
            </a:r>
          </a:p>
          <a:p xmlns:a="http://schemas.openxmlformats.org/drawingml/2006/main">
            <a:r>
              <a:t>2025 operating facts; country locations do not prove assets or complete trade presence.</a:t>
            </a:r>
          </a:p>
          <a:p xmlns:a="http://schemas.openxmlformats.org/drawingml/2006/main">
            <a:r>
              <a:t/>
            </a:r>
          </a:p>
          <a:p xmlns:a="http://schemas.openxmlformats.org/drawingml/2006/main">
            <a:r>
              <a:t>BASELINE | Portfolio baseline and résumé</a:t>
            </a:r>
          </a:p>
          <a:p xmlns:a="http://schemas.openxmlformats.org/drawingml/2006/main">
            <a:r>
              <a:t>https://github.com/ManashProtimDeori/Manash-Protim-Deori/tree/13f7393a1c69350c3cfa89bea1baa49cf08d042c</a:t>
            </a:r>
          </a:p>
          <a:p xmlns:a="http://schemas.openxmlformats.org/drawingml/2006/main">
            <a:r>
              <a:t>src/data/olamAfricaStrategy.ts; src/lib/olamNigeriaDecisionModel.ts; src/data/resume.ts</a:t>
            </a:r>
          </a:p>
          <a:p xmlns:a="http://schemas.openxmlformats.org/drawingml/2006/main">
            <a:r>
              <a:t>Self-described candidate achievements are not audited Olam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Authorize a scoped 90-day proof programme; defer an unconditional asset cheque.</a:t>
            </a:r>
          </a:p>
          <a:p xmlns:a="http://schemas.openxmlformats.org/drawingml/2006/main">
            <a:r>
              <a:t/>
            </a:r>
          </a:p>
          <a:p xmlns:a="http://schemas.openxmlformats.org/drawingml/2006/main">
            <a:r>
              <a:t>Evidence: Chosen assumptions only; no reported calibration. </a:t>
            </a:r>
          </a:p>
          <a:p xmlns:a="http://schemas.openxmlformats.org/drawingml/2006/main">
            <a:r>
              <a:t>Source lineage: </a:t>
            </a:r>
          </a:p>
          <a:p xmlns:a="http://schemas.openxmlformats.org/drawingml/2006/main">
            <a:r>
              <a:t>Assumptions: A_PILOT</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The negative legacy case remains visible; additional detail cannot manufacture approval.</a:t>
            </a:r>
          </a:p>
          <a:p xmlns:a="http://schemas.openxmlformats.org/drawingml/2006/main">
            <a:r>
              <a:t/>
            </a:r>
          </a:p>
          <a:p xmlns:a="http://schemas.openxmlformats.org/drawingml/2006/main">
            <a:r>
              <a:t>Evidence: BASELINE. </a:t>
            </a:r>
          </a:p>
          <a:p xmlns:a="http://schemas.openxmlformats.org/drawingml/2006/main">
            <a:r>
              <a:t>Source lineage: BASELINE</a:t>
            </a:r>
          </a:p>
          <a:p xmlns:a="http://schemas.openxmlformats.org/drawingml/2006/main">
            <a:r>
              <a:t>Assumptions: </a:t>
            </a:r>
          </a:p>
          <a:p xmlns:a="http://schemas.openxmlformats.org/drawingml/2006/main">
            <a:r>
              <a:t>Calculations: C-LEGACY</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BASELINE; C-LEGACY; source-book, calculation-appendix, CEO-question register, priority-commercial-plans and requirements-audit. Public package /case-studies/olam-global/.</a:t>
            </a:r>
          </a:p>
          <a:p xmlns:a="http://schemas.openxmlformats.org/drawingml/2006/main">
            <a:r>
              <a:t/>
            </a:r>
          </a:p>
          <a:p xmlns:a="http://schemas.openxmlformats.org/drawingml/2006/main">
            <a:r>
              <a:t>BASELINE | Portfolio baseline and résumé</a:t>
            </a:r>
          </a:p>
          <a:p xmlns:a="http://schemas.openxmlformats.org/drawingml/2006/main">
            <a:r>
              <a:t>https://github.com/ManashProtimDeori/Manash-Protim-Deori/tree/13f7393a1c69350c3cfa89bea1baa49cf08d042c</a:t>
            </a:r>
          </a:p>
          <a:p xmlns:a="http://schemas.openxmlformats.org/drawingml/2006/main">
            <a:r>
              <a:t>src/data/olamAfricaStrategy.ts; src/lib/olamNigeriaDecisionModel.ts; src/data/resume.ts</a:t>
            </a:r>
          </a:p>
          <a:p xmlns:a="http://schemas.openxmlformats.org/drawingml/2006/main">
            <a:r>
              <a:t>Self-described candidate achievements are not audited Olam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FY2025 Olam Agri: revenue +15.4%, sales volume +19.1%, EBIT −8.0%.</a:t>
            </a:r>
          </a:p>
          <a:p xmlns:a="http://schemas.openxmlformats.org/drawingml/2006/main">
            <a:r>
              <a:t/>
            </a:r>
          </a:p>
          <a:p xmlns:a="http://schemas.openxmlformats.org/drawingml/2006/main">
            <a:r>
              <a:t>Evidence: CO_AR. Annual report printed pp.10–11. FY2025 handled tonnage 49.474m differs from 53.740m sales volume; do not mix. Olam Group SGD figures and H1 2026 continuing operations have different perimeter.</a:t>
            </a:r>
          </a:p>
          <a:p xmlns:a="http://schemas.openxmlformats.org/drawingml/2006/main">
            <a:r>
              <a:t>Source lineage: CO_AR</a:t>
            </a:r>
          </a:p>
          <a:p xmlns:a="http://schemas.openxmlformats.org/drawingml/2006/main">
            <a:r>
              <a:t>Assumptions: </a:t>
            </a:r>
          </a:p>
          <a:p xmlns:a="http://schemas.openxmlformats.org/drawingml/2006/main">
            <a:r>
              <a:t>Calculations: C-E01</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CO_AR; C-E01; source-book, calculation-appendix, CEO-question register, priority-commercial-plans and requirements-audit. Public package /case-studies/olam-global/.</a:t>
            </a:r>
          </a:p>
          <a:p xmlns:a="http://schemas.openxmlformats.org/drawingml/2006/main">
            <a:r>
              <a:t/>
            </a:r>
          </a:p>
          <a:p xmlns:a="http://schemas.openxmlformats.org/drawingml/2006/main">
            <a:r>
              <a:t>CO_AR | Olam Agri Annual Report 2025</a:t>
            </a:r>
          </a:p>
          <a:p xmlns:a="http://schemas.openxmlformats.org/drawingml/2006/main">
            <a:r>
              <a:t>https://www.olamagri.com/content/dam/olam-agri/assets/webp/au/ar/annual-report-pdf/2025/annual-report-2025.pdf</a:t>
            </a:r>
          </a:p>
          <a:p xmlns:a="http://schemas.openxmlformats.org/drawingml/2006/main">
            <a:r>
              <a:t>Printed pp. 3, 10–11; CFO overview and performance charts</a:t>
            </a:r>
          </a:p>
          <a:p xmlns:a="http://schemas.openxmlformats.org/drawingml/2006/main">
            <a:r>
              <a:t>USD Agri figures. Handled and sales tonnage have different definitions.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Population creates context; sold tonnes require accessible demand, capture and delivery.</a:t>
            </a:r>
          </a:p>
          <a:p xmlns:a="http://schemas.openxmlformats.org/drawingml/2006/main">
            <a:r>
              <a:t/>
            </a:r>
          </a:p>
          <a:p xmlns:a="http://schemas.openxmlformats.org/drawingml/2006/main">
            <a:r>
              <a:t>Evidence: Chosen assumptions only; no reported calibration. </a:t>
            </a:r>
          </a:p>
          <a:p xmlns:a="http://schemas.openxmlformats.org/drawingml/2006/main">
            <a:r>
              <a:t>Source lineage: </a:t>
            </a:r>
          </a:p>
          <a:p xmlns:a="http://schemas.openxmlformats.org/drawingml/2006/main">
            <a:r>
              <a:t>Assumptions: A_TEMPLATE</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Separate the official 2035 outlook from our conditional 2036–2051 extension.</a:t>
            </a:r>
          </a:p>
          <a:p xmlns:a="http://schemas.openxmlformats.org/drawingml/2006/main">
            <a:r>
              <a:t/>
            </a:r>
          </a:p>
          <a:p xmlns:a="http://schemas.openxmlformats.org/drawingml/2006/main">
            <a:r>
              <a:t>Evidence: OECD, UN_WPP. </a:t>
            </a:r>
          </a:p>
          <a:p xmlns:a="http://schemas.openxmlformats.org/drawingml/2006/main">
            <a:r>
              <a:t>Source lineage: OECD, UN_WPP</a:t>
            </a:r>
          </a:p>
          <a:p xmlns:a="http://schemas.openxmlformats.org/drawingml/2006/main">
            <a:r>
              <a:t>Assumptions: A_OUTER, A_CAPEX</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OECD, UN_WPP; ; source-book, calculation-appendix, CEO-question register, priority-commercial-plans and requirements-audit. Public package /case-studies/olam-global/.</a:t>
            </a:r>
          </a:p>
          <a:p xmlns:a="http://schemas.openxmlformats.org/drawingml/2006/main">
            <a:r>
              <a:t/>
            </a:r>
          </a:p>
          <a:p xmlns:a="http://schemas.openxmlformats.org/drawingml/2006/main">
            <a:r>
              <a:t>OECD | OECD–FAO Agricultural Outlook 2026–2035</a:t>
            </a:r>
          </a:p>
          <a:p xmlns:a="http://schemas.openxmlformats.org/drawingml/2006/main">
            <a:r>
              <a:t>https://www.oecd.org/en/publications/oecd-fao-agricultural-outlook-2026-2035_47874669-en.html</a:t>
            </a:r>
          </a:p>
          <a:p xmlns:a="http://schemas.openxmlformats.org/drawingml/2006/main">
            <a:r>
              <a:t>Publication 29 June 2026; executive summary, methodology; DOI 10.1787/47874669-en</a:t>
            </a:r>
          </a:p>
          <a:p xmlns:a="http://schemas.openxmlformats.org/drawingml/2006/main">
            <a:r>
              <a:t>Official horizon ends 2035; no Olam capture forecast.</a:t>
            </a:r>
          </a:p>
          <a:p xmlns:a="http://schemas.openxmlformats.org/drawingml/2006/main">
            <a:r>
              <a:t/>
            </a:r>
          </a:p>
          <a:p xmlns:a="http://schemas.openxmlformats.org/drawingml/2006/main">
            <a:r>
              <a:t>UN_WPP | UN World Population Prospects 2024</a:t>
            </a:r>
          </a:p>
          <a:p xmlns:a="http://schemas.openxmlformats.org/drawingml/2006/main">
            <a:r>
              <a:t>https://population.un.org/wpp/assets/Excel%20Files/1_Indicator%20(Standard)/EXCEL_FILES/1_General/WPP2024_GEN_F01_DEMOGRAPHIC_INDICATORS_COMPACT.xlsx</a:t>
            </a:r>
          </a:p>
          <a:p xmlns:a="http://schemas.openxmlformats.org/drawingml/2006/main">
            <a:r>
              <a:t>Medium variant sheet; country rows at 2026, 2030, 2035, 2040, 2045, 2050, 2051</a:t>
            </a:r>
          </a:p>
          <a:p xmlns:a="http://schemas.openxmlformats.org/drawingml/2006/main">
            <a:r>
              <a:t>Population in thousands converted to persons. Medium variant is not a sales forecast.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UN medium population projections do not imply equal per-person purchases.</a:t>
            </a:r>
          </a:p>
          <a:p xmlns:a="http://schemas.openxmlformats.org/drawingml/2006/main">
            <a:r>
              <a:t/>
            </a:r>
          </a:p>
          <a:p xmlns:a="http://schemas.openxmlformats.org/drawingml/2006/main">
            <a:r>
              <a:t>Evidence: UN_WPP, WB_income_ppp, WB_urban. Income PPP and urban shares are dated observations in the atlas, not future estimates. Diet, household size, purchasing power and channel evidence must identify category demand.</a:t>
            </a:r>
          </a:p>
          <a:p xmlns:a="http://schemas.openxmlformats.org/drawingml/2006/main">
            <a:r>
              <a:t>Source lineage: UN_WPP, WB_income_ppp, WB_urban</a:t>
            </a:r>
          </a:p>
          <a:p xmlns:a="http://schemas.openxmlformats.org/drawingml/2006/main">
            <a:r>
              <a:t>Assumptions: </a:t>
            </a:r>
          </a:p>
          <a:p xmlns:a="http://schemas.openxmlformats.org/drawingml/2006/main">
            <a:r>
              <a:t>Calculations: C-POP-NGA, C-POP-IND, C-POP-CHN, C-POP-JPN</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UN_WPP, WB_income_ppp, WB_urban; C-POP-NGA, C-POP-IND, C-POP-CHN, C-POP-JPN; source-book, calculation-appendix, CEO-question register, priority-commercial-plans and requirements-audit. Public package /case-studies/olam-global/.</a:t>
            </a:r>
          </a:p>
          <a:p xmlns:a="http://schemas.openxmlformats.org/drawingml/2006/main">
            <a:r>
              <a:t/>
            </a:r>
          </a:p>
          <a:p xmlns:a="http://schemas.openxmlformats.org/drawingml/2006/main">
            <a:r>
              <a:t>UN_WPP | UN World Population Prospects 2024</a:t>
            </a:r>
          </a:p>
          <a:p xmlns:a="http://schemas.openxmlformats.org/drawingml/2006/main">
            <a:r>
              <a:t>https://population.un.org/wpp/assets/Excel%20Files/1_Indicator%20(Standard)/EXCEL_FILES/1_General/WPP2024_GEN_F01_DEMOGRAPHIC_INDICATORS_COMPACT.xlsx</a:t>
            </a:r>
          </a:p>
          <a:p xmlns:a="http://schemas.openxmlformats.org/drawingml/2006/main">
            <a:r>
              <a:t>Medium variant sheet; country rows at 2026, 2030, 2035, 2040, 2045, 2050, 2051</a:t>
            </a:r>
          </a:p>
          <a:p xmlns:a="http://schemas.openxmlformats.org/drawingml/2006/main">
            <a:r>
              <a:t>Population in thousands converted to persons. Medium variant is not a sales forecast.</a:t>
            </a:r>
          </a:p>
          <a:p xmlns:a="http://schemas.openxmlformats.org/drawingml/2006/main">
            <a:r>
              <a:t/>
            </a:r>
          </a:p>
          <a:p xmlns:a="http://schemas.openxmlformats.org/drawingml/2006/main">
            <a:r>
              <a:t>WB_income_ppp | World Bank WDI: GDP per capita, PPP (constant 2021 international $)</a:t>
            </a:r>
          </a:p>
          <a:p xmlns:a="http://schemas.openxmlformats.org/drawingml/2006/main">
            <a:r>
              <a:t>https://api.worldbank.org/v2/country/all/indicator/NY.GDP.PCAP.PP.KD?date=2000:2025&amp;format=json&amp;per_page=20000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a:p xmlns:a="http://schemas.openxmlformats.org/drawingml/2006/main">
            <a:r>
              <a:t/>
            </a:r>
          </a:p>
          <a:p xmlns:a="http://schemas.openxmlformats.org/drawingml/2006/main">
            <a:r>
              <a:t>WB_urban | World Bank WDI: Urban population (% of total population)</a:t>
            </a:r>
          </a:p>
          <a:p xmlns:a="http://schemas.openxmlformats.org/drawingml/2006/main">
            <a:r>
              <a:t>https://api.worldbank.org/v2/country/all/indicator/SP.URB.TOTL.IN.ZS?date=2000:2025&amp;format=json&amp;per_page=20000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Health and convenience are hypotheses until customers sustain paid repeat.</a:t>
            </a:r>
          </a:p>
          <a:p xmlns:a="http://schemas.openxmlformats.org/drawingml/2006/main">
            <a:r>
              <a:t/>
            </a:r>
          </a:p>
          <a:p xmlns:a="http://schemas.openxmlformats.org/drawingml/2006/main">
            <a:r>
              <a:t>Evidence: Chosen assumptions only; no reported calibration. </a:t>
            </a:r>
          </a:p>
          <a:p xmlns:a="http://schemas.openxmlformats.org/drawingml/2006/main">
            <a:r>
              <a:t>Source lineage: </a:t>
            </a:r>
          </a:p>
          <a:p xmlns:a="http://schemas.openxmlformats.org/drawingml/2006/main">
            <a:r>
              <a:t>Assumptions: A_PILOT, A_EXAMPLE</a:t>
            </a:r>
          </a:p>
          <a:p xmlns:a="http://schemas.openxmlformats.org/drawingml/2006/main">
            <a:r>
              <a:t>Calculations: C-E05, C-E06</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C-E05, C-E06;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Map crop, basin, route and facility hazards before estimating damage or adaptation returns.</a:t>
            </a:r>
          </a:p>
          <a:p xmlns:a="http://schemas.openxmlformats.org/drawingml/2006/main">
            <a:r>
              <a:t/>
            </a:r>
          </a:p>
          <a:p xmlns:a="http://schemas.openxmlformats.org/drawingml/2006/main">
            <a:r>
              <a:t>Evidence: IPCC, WMO, WB_water_stress. </a:t>
            </a:r>
          </a:p>
          <a:p xmlns:a="http://schemas.openxmlformats.org/drawingml/2006/main">
            <a:r>
              <a:t>Source lineage: IPCC, WMO, WB_water_stress</a:t>
            </a:r>
          </a:p>
          <a:p xmlns:a="http://schemas.openxmlformats.org/drawingml/2006/main">
            <a:r>
              <a:t>Assumptions: A_SCENARIO</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IPCC, WMO, WB_water_stress; ; source-book, calculation-appendix, CEO-question register, priority-commercial-plans and requirements-audit. Public package /case-studies/olam-global/.</a:t>
            </a:r>
          </a:p>
          <a:p xmlns:a="http://schemas.openxmlformats.org/drawingml/2006/main">
            <a:r>
              <a:t/>
            </a:r>
          </a:p>
          <a:p xmlns:a="http://schemas.openxmlformats.org/drawingml/2006/main">
            <a:r>
              <a:t>IPCC | IPCC AR6 WGII Chapter 5: Food</a:t>
            </a:r>
          </a:p>
          <a:p xmlns:a="http://schemas.openxmlformats.org/drawingml/2006/main">
            <a:r>
              <a:t>https://www.ipcc.ch/report/ar6/wg2/chapter/chapter-5/</a:t>
            </a:r>
          </a:p>
          <a:p xmlns:a="http://schemas.openxmlformats.org/drawingml/2006/main">
            <a:r>
              <a:t>Chapter 5; food system risks, adaptation and regional limits</a:t>
            </a:r>
          </a:p>
          <a:p xmlns:a="http://schemas.openxmlformats.org/drawingml/2006/main">
            <a:r>
              <a:t>No country/crop coefficient transplanted to Olam assets.</a:t>
            </a:r>
          </a:p>
          <a:p xmlns:a="http://schemas.openxmlformats.org/drawingml/2006/main">
            <a:r>
              <a:t/>
            </a:r>
          </a:p>
          <a:p xmlns:a="http://schemas.openxmlformats.org/drawingml/2006/main">
            <a:r>
              <a:t>WMO | WMO State of the Global Climate 2025</a:t>
            </a:r>
          </a:p>
          <a:p xmlns:a="http://schemas.openxmlformats.org/drawingml/2006/main">
            <a:r>
              <a:t>https://wmo.int/publication-series/state-of-global-climate/state-of-global-climate-2025</a:t>
            </a:r>
          </a:p>
          <a:p xmlns:a="http://schemas.openxmlformats.org/drawingml/2006/main">
            <a:r>
              <a:t>23 March 2026 release; global temperature and climate indicators</a:t>
            </a:r>
          </a:p>
          <a:p xmlns:a="http://schemas.openxmlformats.org/drawingml/2006/main">
            <a:r>
              <a:t>Global annual anomaly is not local crop damage.</a:t>
            </a:r>
          </a:p>
          <a:p xmlns:a="http://schemas.openxmlformats.org/drawingml/2006/main">
            <a:r>
              <a:t/>
            </a:r>
          </a:p>
          <a:p xmlns:a="http://schemas.openxmlformats.org/drawingml/2006/main">
            <a:r>
              <a:t>WB_water_stress | World Bank WDI: Level of water stress: freshwater withdrawal as a proportion of available freshwater resources</a:t>
            </a:r>
          </a:p>
          <a:p xmlns:a="http://schemas.openxmlformats.org/drawingml/2006/main">
            <a:r>
              <a:t>https://api.worldbank.org/v2/country/all/indicator/ER.H2O.FWST.ZS?date=2000:2025&amp;format=json&amp;per_page=20000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Routes require product-level permissions, quality, landed spreads and counterparties.</a:t>
            </a:r>
          </a:p>
          <a:p xmlns:a="http://schemas.openxmlformats.org/drawingml/2006/main">
            <a:r>
              <a:t/>
            </a:r>
          </a:p>
          <a:p xmlns:a="http://schemas.openxmlformats.org/drawingml/2006/main">
            <a:r>
              <a:t>Evidence: COMTRADE, EUDR, USDA_NGA, USDA_OIL. No fitted gravity model: bilateral/product quantity, tariff and non-tariff treatment data are incomplete. Macro food import proxy uses same-year share × merchandise imports and is explicitly broad SITC food.</a:t>
            </a:r>
          </a:p>
          <a:p xmlns:a="http://schemas.openxmlformats.org/drawingml/2006/main">
            <a:r>
              <a:t>Source lineage: COMTRADE, EUDR, USDA_NGA, USDA_OIL</a:t>
            </a:r>
          </a:p>
          <a:p xmlns:a="http://schemas.openxmlformats.org/drawingml/2006/main">
            <a:r>
              <a:t>Assumptions: </a:t>
            </a:r>
          </a:p>
          <a:p xmlns:a="http://schemas.openxmlformats.org/drawingml/2006/main">
            <a:r>
              <a:t>Calculations: C-TRADE-NGA</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COMTRADE, EUDR, USDA_NGA, USDA_OIL; C-TRADE-NGA; source-book, calculation-appendix, CEO-question register, priority-commercial-plans and requirements-audit. Public package /case-studies/olam-global/.</a:t>
            </a:r>
          </a:p>
          <a:p xmlns:a="http://schemas.openxmlformats.org/drawingml/2006/main">
            <a:r>
              <a:t/>
            </a:r>
          </a:p>
          <a:p xmlns:a="http://schemas.openxmlformats.org/drawingml/2006/main">
            <a:r>
              <a:t>COMTRADE | UN Comtrade Nigeria wheat import preview</a:t>
            </a:r>
          </a:p>
          <a:p xmlns:a="http://schemas.openxmlformats.org/drawingml/2006/main">
            <a:r>
              <a:t>https://comtradeapi.un.org/public/v1/preview/C/A/HS?period=2024&amp;reporterCode=566&amp;cmdCode=1001&amp;flowCode=M&amp;partnerCode=0&amp;partner2Code=0&amp;customsCode=C00&amp;motCode=0&amp;maxRecords=500</a:t>
            </a:r>
          </a:p>
          <a:p xmlns:a="http://schemas.openxmlformats.org/drawingml/2006/main">
            <a:r>
              <a:t>2024, reporter 566, HS 1001, flow M, partner 0</a:t>
            </a:r>
          </a:p>
          <a:p xmlns:a="http://schemas.openxmlformats.org/drawingml/2006/main">
            <a:r>
              <a:t>CIF USD1.0475bn; net weight null, reported flag false. Never interpret quantity 0 with unit -1 as zero imports.</a:t>
            </a:r>
          </a:p>
          <a:p xmlns:a="http://schemas.openxmlformats.org/drawingml/2006/main">
            <a:r>
              <a:t/>
            </a:r>
          </a:p>
          <a:p xmlns:a="http://schemas.openxmlformats.org/drawingml/2006/main">
            <a:r>
              <a:t>EUDR | EU Regulation 2023/1115</a:t>
            </a:r>
          </a:p>
          <a:p xmlns:a="http://schemas.openxmlformats.org/drawingml/2006/main">
            <a:r>
              <a:t>https://eur-lex.europa.eu/eli/reg/2023/1115/oj/eng</a:t>
            </a:r>
          </a:p>
          <a:p xmlns:a="http://schemas.openxmlformats.org/drawingml/2006/main">
            <a:r>
              <a:t>Articles 3–4 and commodity/product annex</a:t>
            </a:r>
          </a:p>
          <a:p xmlns:a="http://schemas.openxmlformats.org/drawingml/2006/main">
            <a:r>
              <a:t>Product, amendments, implementation dates and jurisdiction require current counsel review; no legal clearance.</a:t>
            </a:r>
          </a:p>
          <a:p xmlns:a="http://schemas.openxmlformats.org/drawingml/2006/main">
            <a:r>
              <a:t/>
            </a:r>
          </a:p>
          <a:p xmlns:a="http://schemas.openxmlformats.org/drawingml/2006/main">
            <a:r>
              <a:t>USDA_NGA | USDA Nigeria Grain and Feed Annual 2026</a:t>
            </a:r>
          </a:p>
          <a:p xmlns:a="http://schemas.openxmlformats.org/drawingml/2006/main">
            <a:r>
              <a:t>https://apps.fas.usda.gov/newgainapi/api/Report/DownloadReportByFileName?fileName=Grain+and+Feed+Annual_Lagos_Nigeria_NI2026-0003.pdf</a:t>
            </a:r>
          </a:p>
          <a:p xmlns:a="http://schemas.openxmlformats.org/drawingml/2006/main">
            <a:r>
              <a:t>Wheat supply/trade and flour-demand narrative</a:t>
            </a:r>
          </a:p>
          <a:p xmlns:a="http://schemas.openxmlformats.org/drawingml/2006/main">
            <a:r>
              <a:t>Marketing-year trade estimates are not Olam orders.</a:t>
            </a:r>
          </a:p>
          <a:p xmlns:a="http://schemas.openxmlformats.org/drawingml/2006/main">
            <a:r>
              <a:t/>
            </a:r>
          </a:p>
          <a:p xmlns:a="http://schemas.openxmlformats.org/drawingml/2006/main">
            <a:r>
              <a:t>USDA_OIL | USDA Nigeria fiscal and trade policy changes 2026</a:t>
            </a:r>
          </a:p>
          <a:p xmlns:a="http://schemas.openxmlformats.org/drawingml/2006/main">
            <a:r>
              <a:t>https://apps.fas.usda.gov/newgainapi/api/Report/DownloadReportByFileName?fileName=Nigeria+Announces+2026+Fiscal+and+Trade+Policy+Changes_Lagos_Nigeria_NI2026-0010.pdf</a:t>
            </a:r>
          </a:p>
          <a:p xmlns:a="http://schemas.openxmlformats.org/drawingml/2006/main">
            <a:r>
              <a:t>Oilseeds/products and crude/refined policy discussion</a:t>
            </a:r>
          </a:p>
          <a:p xmlns:a="http://schemas.openxmlformats.org/drawingml/2006/main">
            <a:r>
              <a:t>Verify current HS subheading and Nigeria Customs rules before contracting.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June-2026 disclosed scope includes food, feed and non-food agricultural products.</a:t>
            </a:r>
          </a:p>
          <a:p xmlns:a="http://schemas.openxmlformats.org/drawingml/2006/main">
            <a:r>
              <a:t/>
            </a:r>
          </a:p>
          <a:p xmlns:a="http://schemas.openxmlformats.org/drawingml/2006/main">
            <a:r>
              <a:t>Evidence: CO_FACT, CO_ABOUT. Do not import cocoa/coffee/ofi economics or OGH assets into Olam Agri. About page omission does not override explicit current factsheet inclusion; diligence sugar/biofuel before allocation.</a:t>
            </a:r>
          </a:p>
          <a:p xmlns:a="http://schemas.openxmlformats.org/drawingml/2006/main">
            <a:r>
              <a:t>Source lineage: CO_FACT, CO_ABOUT</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CO_FACT, CO_ABOUT; ; source-book, calculation-appendix, CEO-question register, priority-commercial-plans and requirements-audit. Public package /case-studies/olam-global/.</a:t>
            </a:r>
          </a:p>
          <a:p xmlns:a="http://schemas.openxmlformats.org/drawingml/2006/main">
            <a:r>
              <a:t/>
            </a:r>
          </a:p>
          <a:p xmlns:a="http://schemas.openxmlformats.org/drawingml/2006/main">
            <a:r>
              <a:t>CO_FACT | Olam Agri factsheet, June 2026</a:t>
            </a:r>
          </a:p>
          <a:p xmlns:a="http://schemas.openxmlformats.org/drawingml/2006/main">
            <a:r>
              <a:t>https://www.olamagri.com/content/dam/olam-agri/assets/webp/au/au-pdfs/factsheet/olamagri-corporate-factsheet-2026.pdf</a:t>
            </a:r>
          </a:p>
          <a:p xmlns:a="http://schemas.openxmlformats.org/drawingml/2006/main">
            <a:r>
              <a:t>pp. 1–2; footprint, products, ownership</a:t>
            </a:r>
          </a:p>
          <a:p xmlns:a="http://schemas.openxmlformats.org/drawingml/2006/main">
            <a:r>
              <a:t>2025 operating facts; country locations do not prove assets or complete trade presence.</a:t>
            </a:r>
          </a:p>
          <a:p xmlns:a="http://schemas.openxmlformats.org/drawingml/2006/main">
            <a:r>
              <a:t/>
            </a:r>
          </a:p>
          <a:p xmlns:a="http://schemas.openxmlformats.org/drawingml/2006/main">
            <a:r>
              <a:t>CO_ABOUT | Olam Agri About Us</a:t>
            </a:r>
          </a:p>
          <a:p xmlns:a="http://schemas.openxmlformats.org/drawingml/2006/main">
            <a:r>
              <a:t>https://www.olamagri.com/about-us</a:t>
            </a:r>
          </a:p>
          <a:p xmlns:a="http://schemas.openxmlformats.org/drawingml/2006/main">
            <a:r>
              <a:t>At a glance, products and ownership blocks</a:t>
            </a:r>
          </a:p>
          <a:p xmlns:a="http://schemas.openxmlformats.org/drawingml/2006/main">
            <a:r>
              <a:t>Conflicting lower ownership text retained as a source conflict.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195 dispositions; 34 national drivers; zero investment-grade country cases.</a:t>
            </a:r>
          </a:p>
          <a:p xmlns:a="http://schemas.openxmlformats.org/drawingml/2006/main">
            <a:r>
              <a:t/>
            </a:r>
          </a:p>
          <a:p xmlns:a="http://schemas.openxmlformats.org/drawingml/2006/main">
            <a:r>
              <a:t>Evidence: UN_M49, UN_WPP. 34 national drivers are dated observations, not all observed in every country/year. Coverage CSV exposes each missing field; all195 country economics remain threshold-only.</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UN_M49, UN_WPP; C-COVERAGE; source-book, calculation-appendix, CEO-question register, priority-commercial-plans and requirements-audit. Public package /case-studies/olam-global/.</a:t>
            </a:r>
          </a:p>
          <a:p xmlns:a="http://schemas.openxmlformats.org/drawingml/2006/main">
            <a:r>
              <a:t/>
            </a:r>
          </a:p>
          <a:p xmlns:a="http://schemas.openxmlformats.org/drawingml/2006/main">
            <a:r>
              <a:t>UN_M49 | UN Statistics Division M49</a:t>
            </a:r>
          </a:p>
          <a:p xmlns:a="http://schemas.openxmlformats.org/drawingml/2006/main">
            <a:r>
              <a:t>https://unstats.un.org/unsd/methodology/m49/overview/</a:t>
            </a:r>
          </a:p>
          <a:p xmlns:a="http://schemas.openxmlformats.org/drawingml/2006/main">
            <a:r>
              <a:t>Country/area codes and region/subregion table</a:t>
            </a:r>
          </a:p>
          <a:p xmlns:a="http://schemas.openxmlformats.org/drawingml/2006/main">
            <a:r>
              <a:t>Membership independently cross-checked to UN library current-member and observer guides; territories separate. Region classification follows UN M49.</a:t>
            </a:r>
          </a:p>
          <a:p xmlns:a="http://schemas.openxmlformats.org/drawingml/2006/main">
            <a:r>
              <a:t/>
            </a:r>
          </a:p>
          <a:p xmlns:a="http://schemas.openxmlformats.org/drawingml/2006/main">
            <a:r>
              <a:t>UN_WPP | UN World Population Prospects 2024</a:t>
            </a:r>
          </a:p>
          <a:p xmlns:a="http://schemas.openxmlformats.org/drawingml/2006/main">
            <a:r>
              <a:t>https://population.un.org/wpp/assets/Excel%20Files/1_Indicator%20(Standard)/EXCEL_FILES/1_General/WPP2024_GEN_F01_DEMOGRAPHIC_INDICATORS_COMPACT.xlsx</a:t>
            </a:r>
          </a:p>
          <a:p xmlns:a="http://schemas.openxmlformats.org/drawingml/2006/main">
            <a:r>
              <a:t>Medium variant sheet; country rows at 2026, 2030, 2035, 2040, 2045, 2050, 2051</a:t>
            </a:r>
          </a:p>
          <a:p xmlns:a="http://schemas.openxmlformats.org/drawingml/2006/main">
            <a:r>
              <a:t>Population in thousands converted to persons. Medium variant is not a sales forecast.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These are evidence priorities, not a numerical attractiveness ranking.</a:t>
            </a:r>
          </a:p>
          <a:p xmlns:a="http://schemas.openxmlformats.org/drawingml/2006/main">
            <a:r>
              <a:t/>
            </a:r>
          </a:p>
          <a:p xmlns:a="http://schemas.openxmlformats.org/drawingml/2006/main">
            <a:r>
              <a:t>Evidence: CO_NGA, CO_GHA, CO_SEN, CO_CMR, CO_MOZ, CO_ZAF, CO_IND, CO_VNM, CO_BRA, CO_FACT. </a:t>
            </a:r>
          </a:p>
          <a:p xmlns:a="http://schemas.openxmlformats.org/drawingml/2006/main">
            <a:r>
              <a:t>Source lineage: CO_NGA, CO_GHA, CO_SEN, CO_CMR, CO_MOZ, CO_ZAF, CO_IND, CO_VNM, CO_BRA, CO_FACT</a:t>
            </a:r>
          </a:p>
          <a:p xmlns:a="http://schemas.openxmlformats.org/drawingml/2006/main">
            <a:r>
              <a:t>Assumptions: A_TEMPLATE</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CO_NGA, CO_GHA, CO_SEN, CO_CMR, CO_MOZ, CO_ZAF, CO_IND, CO_VNM, CO_BRA, CO_FACT; ; source-book, calculation-appendix, CEO-question register, priority-commercial-plans and requirements-audit. Public package /case-studies/olam-global/.</a:t>
            </a:r>
          </a:p>
          <a:p xmlns:a="http://schemas.openxmlformats.org/drawingml/2006/main">
            <a:r>
              <a:t/>
            </a:r>
          </a:p>
          <a:p xmlns:a="http://schemas.openxmlformats.org/drawingml/2006/main">
            <a:r>
              <a:t>CO_NGA | Olam Agri Nigeria</a:t>
            </a:r>
          </a:p>
          <a:p xmlns:a="http://schemas.openxmlformats.org/drawingml/2006/main">
            <a:r>
              <a:t>https://www.olamagri.com/locations/nigeria</a:t>
            </a:r>
          </a:p>
          <a:p xmlns:a="http://schemas.openxmlformats.org/drawingml/2006/main">
            <a:r>
              <a:t>Country capability/product sections</a:t>
            </a:r>
          </a:p>
          <a:p xmlns:a="http://schemas.openxmlformats.org/drawingml/2006/main">
            <a:r>
              <a:t>Capability evidence does not disclose incremental project returns.</a:t>
            </a:r>
          </a:p>
          <a:p xmlns:a="http://schemas.openxmlformats.org/drawingml/2006/main">
            <a:r>
              <a:t/>
            </a:r>
          </a:p>
          <a:p xmlns:a="http://schemas.openxmlformats.org/drawingml/2006/main">
            <a:r>
              <a:t>CO_GHA | Olam Agri Ghana</a:t>
            </a:r>
          </a:p>
          <a:p xmlns:a="http://schemas.openxmlformats.org/drawingml/2006/main">
            <a:r>
              <a:t>https://www.olamagri.com/locations/ghana</a:t>
            </a:r>
          </a:p>
          <a:p xmlns:a="http://schemas.openxmlformats.org/drawingml/2006/main">
            <a:r>
              <a:t>Country capability/product sections</a:t>
            </a:r>
          </a:p>
          <a:p xmlns:a="http://schemas.openxmlformats.org/drawingml/2006/main">
            <a:r>
              <a:t>Capability evidence does not disclose incremental project returns.</a:t>
            </a:r>
          </a:p>
          <a:p xmlns:a="http://schemas.openxmlformats.org/drawingml/2006/main">
            <a:r>
              <a:t/>
            </a:r>
          </a:p>
          <a:p xmlns:a="http://schemas.openxmlformats.org/drawingml/2006/main">
            <a:r>
              <a:t>CO_SEN | Olam Agri Senegal</a:t>
            </a:r>
          </a:p>
          <a:p xmlns:a="http://schemas.openxmlformats.org/drawingml/2006/main">
            <a:r>
              <a:t>https://www.olamagri.com/locations/senegal</a:t>
            </a:r>
          </a:p>
          <a:p xmlns:a="http://schemas.openxmlformats.org/drawingml/2006/main">
            <a:r>
              <a:t>Country capability/product sections</a:t>
            </a:r>
          </a:p>
          <a:p xmlns:a="http://schemas.openxmlformats.org/drawingml/2006/main">
            <a:r>
              <a:t>Capability evidence does not disclose incremental project returns.</a:t>
            </a:r>
          </a:p>
          <a:p xmlns:a="http://schemas.openxmlformats.org/drawingml/2006/main">
            <a:r>
              <a:t/>
            </a:r>
          </a:p>
          <a:p xmlns:a="http://schemas.openxmlformats.org/drawingml/2006/main">
            <a:r>
              <a:t>CO_CMR | Olam Agri Cameroon</a:t>
            </a:r>
          </a:p>
          <a:p xmlns:a="http://schemas.openxmlformats.org/drawingml/2006/main">
            <a:r>
              <a:t>https://www.olamagri.com/locations/cameroon</a:t>
            </a:r>
          </a:p>
          <a:p xmlns:a="http://schemas.openxmlformats.org/drawingml/2006/main">
            <a:r>
              <a:t>Country capability/product sections</a:t>
            </a:r>
          </a:p>
          <a:p xmlns:a="http://schemas.openxmlformats.org/drawingml/2006/main">
            <a:r>
              <a:t>Capability evidence does not disclose incremental project returns.</a:t>
            </a:r>
          </a:p>
          <a:p xmlns:a="http://schemas.openxmlformats.org/drawingml/2006/main">
            <a:r>
              <a:t/>
            </a:r>
          </a:p>
          <a:p xmlns:a="http://schemas.openxmlformats.org/drawingml/2006/main">
            <a:r>
              <a:t>CO_MOZ | Olam Agri Mozambique</a:t>
            </a:r>
          </a:p>
          <a:p xmlns:a="http://schemas.openxmlformats.org/drawingml/2006/main">
            <a:r>
              <a:t>https://www.olamagri.com/locations/mozambique</a:t>
            </a:r>
          </a:p>
          <a:p xmlns:a="http://schemas.openxmlformats.org/drawingml/2006/main">
            <a:r>
              <a:t>Country capability/product sections</a:t>
            </a:r>
          </a:p>
          <a:p xmlns:a="http://schemas.openxmlformats.org/drawingml/2006/main">
            <a:r>
              <a:t>Capability evidence does not disclose incremental project returns.</a:t>
            </a:r>
          </a:p>
          <a:p xmlns:a="http://schemas.openxmlformats.org/drawingml/2006/main">
            <a:r>
              <a:t/>
            </a:r>
          </a:p>
          <a:p xmlns:a="http://schemas.openxmlformats.org/drawingml/2006/main">
            <a:r>
              <a:t>CO_ZAF | Olam Agri South-Africa</a:t>
            </a:r>
          </a:p>
          <a:p xmlns:a="http://schemas.openxmlformats.org/drawingml/2006/main">
            <a:r>
              <a:t>https://www.olamagri.com/locations/south-africa</a:t>
            </a:r>
          </a:p>
          <a:p xmlns:a="http://schemas.openxmlformats.org/drawingml/2006/main">
            <a:r>
              <a:t>Country capability/product sections</a:t>
            </a:r>
          </a:p>
          <a:p xmlns:a="http://schemas.openxmlformats.org/drawingml/2006/main">
            <a:r>
              <a:t>Capability evidence does not disclose incremental project returns.</a:t>
            </a:r>
          </a:p>
          <a:p xmlns:a="http://schemas.openxmlformats.org/drawingml/2006/main">
            <a:r>
              <a:t/>
            </a:r>
          </a:p>
          <a:p xmlns:a="http://schemas.openxmlformats.org/drawingml/2006/main">
            <a:r>
              <a:t>CO_IND | Olam Agri India</a:t>
            </a:r>
          </a:p>
          <a:p xmlns:a="http://schemas.openxmlformats.org/drawingml/2006/main">
            <a:r>
              <a:t>https://www.olamagri.com/locations/india</a:t>
            </a:r>
          </a:p>
          <a:p xmlns:a="http://schemas.openxmlformats.org/drawingml/2006/main">
            <a:r>
              <a:t>Country capability/product sections</a:t>
            </a:r>
          </a:p>
          <a:p xmlns:a="http://schemas.openxmlformats.org/drawingml/2006/main">
            <a:r>
              <a:t>Capability evidence does not disclose incremental project returns.</a:t>
            </a:r>
          </a:p>
          <a:p xmlns:a="http://schemas.openxmlformats.org/drawingml/2006/main">
            <a:r>
              <a:t/>
            </a:r>
          </a:p>
          <a:p xmlns:a="http://schemas.openxmlformats.org/drawingml/2006/main">
            <a:r>
              <a:t>CO_VNM | Olam Agri Vietnam</a:t>
            </a:r>
          </a:p>
          <a:p xmlns:a="http://schemas.openxmlformats.org/drawingml/2006/main">
            <a:r>
              <a:t>https://www.olamagri.com/locations/vietnam</a:t>
            </a:r>
          </a:p>
          <a:p xmlns:a="http://schemas.openxmlformats.org/drawingml/2006/main">
            <a:r>
              <a:t>Country capability/product sections</a:t>
            </a:r>
          </a:p>
          <a:p xmlns:a="http://schemas.openxmlformats.org/drawingml/2006/main">
            <a:r>
              <a:t>Capability evidence does not disclose incremental project returns.</a:t>
            </a:r>
          </a:p>
          <a:p xmlns:a="http://schemas.openxmlformats.org/drawingml/2006/main">
            <a:r>
              <a:t/>
            </a:r>
          </a:p>
          <a:p xmlns:a="http://schemas.openxmlformats.org/drawingml/2006/main">
            <a:r>
              <a:t>CO_BRA | Olam Agri Brazil</a:t>
            </a:r>
          </a:p>
          <a:p xmlns:a="http://schemas.openxmlformats.org/drawingml/2006/main">
            <a:r>
              <a:t>https://www.olamagri.com/locations/brazil</a:t>
            </a:r>
          </a:p>
          <a:p xmlns:a="http://schemas.openxmlformats.org/drawingml/2006/main">
            <a:r>
              <a:t>Country capability/product sections</a:t>
            </a:r>
          </a:p>
          <a:p xmlns:a="http://schemas.openxmlformats.org/drawingml/2006/main">
            <a:r>
              <a:t>Capability evidence does not disclose incremental project returns.</a:t>
            </a:r>
          </a:p>
          <a:p xmlns:a="http://schemas.openxmlformats.org/drawingml/2006/main">
            <a:r>
              <a:t/>
            </a:r>
          </a:p>
          <a:p xmlns:a="http://schemas.openxmlformats.org/drawingml/2006/main">
            <a:r>
              <a:t>CO_FACT | Olam Agri factsheet, June 2026</a:t>
            </a:r>
          </a:p>
          <a:p xmlns:a="http://schemas.openxmlformats.org/drawingml/2006/main">
            <a:r>
              <a:t>https://www.olamagri.com/content/dam/olam-agri/assets/webp/au/au-pdfs/factsheet/olamagri-corporate-factsheet-2026.pdf</a:t>
            </a:r>
          </a:p>
          <a:p xmlns:a="http://schemas.openxmlformats.org/drawingml/2006/main">
            <a:r>
              <a:t>pp. 1–2; footprint, products, ownership</a:t>
            </a:r>
          </a:p>
          <a:p xmlns:a="http://schemas.openxmlformats.org/drawingml/2006/main">
            <a:r>
              <a:t>2025 operating facts; country locations do not prove assets or complete trade presence.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Customer orders, capacity, stocks and taxes drive a finite real-USD example.</a:t>
            </a:r>
          </a:p>
          <a:p xmlns:a="http://schemas.openxmlformats.org/drawingml/2006/main">
            <a:r>
              <a:t/>
            </a:r>
          </a:p>
          <a:p xmlns:a="http://schemas.openxmlformats.org/drawingml/2006/main">
            <a:r>
              <a:t>Evidence: Chosen assumptions only; no reported calibration. </a:t>
            </a:r>
          </a:p>
          <a:p xmlns:a="http://schemas.openxmlformats.org/drawingml/2006/main">
            <a:r>
              <a:t>Source lineage: </a:t>
            </a:r>
          </a:p>
          <a:p xmlns:a="http://schemas.openxmlformats.org/drawingml/2006/main">
            <a:r>
              <a:t>Assumptions: A_TEMPLATE, A_RATE, A_TAX, A_OUTER, A_CAPEX</a:t>
            </a:r>
          </a:p>
          <a:p xmlns:a="http://schemas.openxmlformats.org/drawingml/2006/main">
            <a:r>
              <a:t>Calculations: C-DCF-plant-managed</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C-DCF-plant-managed;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No calibrated probability is assigned to any complete 25-year path.</a:t>
            </a:r>
          </a:p>
          <a:p xmlns:a="http://schemas.openxmlformats.org/drawingml/2006/main">
            <a:r>
              <a:t/>
            </a:r>
          </a:p>
          <a:p xmlns:a="http://schemas.openxmlformats.org/drawingml/2006/main">
            <a:r>
              <a:t>Evidence: Chosen assumptions only; no reported calibration. </a:t>
            </a:r>
          </a:p>
          <a:p xmlns:a="http://schemas.openxmlformats.org/drawingml/2006/main">
            <a:r>
              <a:t>Source lineage: </a:t>
            </a:r>
          </a:p>
          <a:p xmlns:a="http://schemas.openxmlformats.org/drawingml/2006/main">
            <a:r>
              <a:t>Assumptions: A_SCENARIO, A_RATE</a:t>
            </a:r>
          </a:p>
          <a:p xmlns:a="http://schemas.openxmlformats.org/drawingml/2006/main">
            <a:r>
              <a:t>Calculations: C-SCENARIOS</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C-SCENARIOS;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The financial model deliberately continues fixed commitments to expose failure.</a:t>
            </a:r>
          </a:p>
          <a:p xmlns:a="http://schemas.openxmlformats.org/drawingml/2006/main">
            <a:r>
              <a:t/>
            </a:r>
          </a:p>
          <a:p xmlns:a="http://schemas.openxmlformats.org/drawingml/2006/main">
            <a:r>
              <a:t>Evidence: Chosen assumptions only; no reported calibration. These are matched normalized templates, not countries or fitted investments. A contracted trade template can lose money in adverse worlds if unhedged spread and stocks remain committed; actual contracts need reset/stop rules. Partner has different capex/cost/capacity, so result is conditional on those chosen inputs.</a:t>
            </a:r>
          </a:p>
          <a:p xmlns:a="http://schemas.openxmlformats.org/drawingml/2006/main">
            <a:r>
              <a:t>Source lineage: </a:t>
            </a:r>
          </a:p>
          <a:p xmlns:a="http://schemas.openxmlformats.org/drawingml/2006/main">
            <a:r>
              <a:t>Assumptions: A_TEMPLATE, A_SCENARIO, A_RATE, A_CAPEX</a:t>
            </a:r>
          </a:p>
          <a:p xmlns:a="http://schemas.openxmlformats.org/drawingml/2006/main">
            <a:r>
              <a:t>Calculations: C-DCF</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C-DCF;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Test order thresholds and liquidity limits before expanding physical commitments.</a:t>
            </a:r>
          </a:p>
          <a:p xmlns:a="http://schemas.openxmlformats.org/drawingml/2006/main">
            <a:r>
              <a:t/>
            </a:r>
          </a:p>
          <a:p xmlns:a="http://schemas.openxmlformats.org/drawingml/2006/main">
            <a:r>
              <a:t>Evidence: Chosen assumptions only; no reported calibration. Threshold solved by Brent root search on full 25-year NPV. Committed orders above physical capacity do not increase deliveries. Null threshold means capped deliveries never achieve zero NPV under that template. No legal or demand feasibility implied.</a:t>
            </a:r>
          </a:p>
          <a:p xmlns:a="http://schemas.openxmlformats.org/drawingml/2006/main">
            <a:r>
              <a:t>Source lineage: </a:t>
            </a:r>
          </a:p>
          <a:p xmlns:a="http://schemas.openxmlformats.org/drawingml/2006/main">
            <a:r>
              <a:t>Assumptions: A_TEMPLATE, A_RATE</a:t>
            </a:r>
          </a:p>
          <a:p xmlns:a="http://schemas.openxmlformats.org/drawingml/2006/main">
            <a:r>
              <a:t>Calculations: C-THRESHOLD</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C-THRESHOLD;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Company financing disclosure supports a corridor, not its incremental returns.</a:t>
            </a:r>
          </a:p>
          <a:p xmlns:a="http://schemas.openxmlformats.org/drawingml/2006/main">
            <a:r>
              <a:t/>
            </a:r>
          </a:p>
          <a:p xmlns:a="http://schemas.openxmlformats.org/drawingml/2006/main">
            <a:r>
              <a:t>Evidence: CO_AR, CO_IND, CO_VNM. Annual report printed CFO pp.10–11. Financing amount/tenor is disclosed, not allocated as model capex or guaranteed funding for this proposal.</a:t>
            </a:r>
          </a:p>
          <a:p xmlns:a="http://schemas.openxmlformats.org/drawingml/2006/main">
            <a:r>
              <a:t>Source lineage: CO_AR, CO_IND, CO_VNM</a:t>
            </a:r>
          </a:p>
          <a:p xmlns:a="http://schemas.openxmlformats.org/drawingml/2006/main">
            <a:r>
              <a:t>Assumptions: A_PILOT</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CO_AR, CO_IND, CO_VNM; ; source-book, calculation-appendix, CEO-question register, priority-commercial-plans and requirements-audit. Public package /case-studies/olam-global/.</a:t>
            </a:r>
          </a:p>
          <a:p xmlns:a="http://schemas.openxmlformats.org/drawingml/2006/main">
            <a:r>
              <a:t/>
            </a:r>
          </a:p>
          <a:p xmlns:a="http://schemas.openxmlformats.org/drawingml/2006/main">
            <a:r>
              <a:t>CO_AR | Olam Agri Annual Report 2025</a:t>
            </a:r>
          </a:p>
          <a:p xmlns:a="http://schemas.openxmlformats.org/drawingml/2006/main">
            <a:r>
              <a:t>https://www.olamagri.com/content/dam/olam-agri/assets/webp/au/ar/annual-report-pdf/2025/annual-report-2025.pdf</a:t>
            </a:r>
          </a:p>
          <a:p xmlns:a="http://schemas.openxmlformats.org/drawingml/2006/main">
            <a:r>
              <a:t>Printed pp. 3, 10–11; CFO overview and performance charts</a:t>
            </a:r>
          </a:p>
          <a:p xmlns:a="http://schemas.openxmlformats.org/drawingml/2006/main">
            <a:r>
              <a:t>USD Agri figures. Handled and sales tonnage have different definitions.</a:t>
            </a:r>
          </a:p>
          <a:p xmlns:a="http://schemas.openxmlformats.org/drawingml/2006/main">
            <a:r>
              <a:t/>
            </a:r>
          </a:p>
          <a:p xmlns:a="http://schemas.openxmlformats.org/drawingml/2006/main">
            <a:r>
              <a:t>CO_IND | Olam Agri India</a:t>
            </a:r>
          </a:p>
          <a:p xmlns:a="http://schemas.openxmlformats.org/drawingml/2006/main">
            <a:r>
              <a:t>https://www.olamagri.com/locations/india</a:t>
            </a:r>
          </a:p>
          <a:p xmlns:a="http://schemas.openxmlformats.org/drawingml/2006/main">
            <a:r>
              <a:t>Country capability/product sections</a:t>
            </a:r>
          </a:p>
          <a:p xmlns:a="http://schemas.openxmlformats.org/drawingml/2006/main">
            <a:r>
              <a:t>Capability evidence does not disclose incremental project returns.</a:t>
            </a:r>
          </a:p>
          <a:p xmlns:a="http://schemas.openxmlformats.org/drawingml/2006/main">
            <a:r>
              <a:t/>
            </a:r>
          </a:p>
          <a:p xmlns:a="http://schemas.openxmlformats.org/drawingml/2006/main">
            <a:r>
              <a:t>CO_VNM | Olam Agri Vietnam</a:t>
            </a:r>
          </a:p>
          <a:p xmlns:a="http://schemas.openxmlformats.org/drawingml/2006/main">
            <a:r>
              <a:t>https://www.olamagri.com/locations/vietnam</a:t>
            </a:r>
          </a:p>
          <a:p xmlns:a="http://schemas.openxmlformats.org/drawingml/2006/main">
            <a:r>
              <a:t>Country capability/product sections</a:t>
            </a:r>
          </a:p>
          <a:p xmlns:a="http://schemas.openxmlformats.org/drawingml/2006/main">
            <a:r>
              <a:t>Capability evidence does not disclose incremental project returns.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SALIC control offers strategic alignment; it does not create guaranteed sales.</a:t>
            </a:r>
          </a:p>
          <a:p xmlns:a="http://schemas.openxmlformats.org/drawingml/2006/main">
            <a:r>
              <a:t/>
            </a:r>
          </a:p>
          <a:p xmlns:a="http://schemas.openxmlformats.org/drawingml/2006/main">
            <a:r>
              <a:t>Evidence: CO_FACT, CO_OWN, CO_ABOUT, CO_BRA. </a:t>
            </a:r>
          </a:p>
          <a:p xmlns:a="http://schemas.openxmlformats.org/drawingml/2006/main">
            <a:r>
              <a:t>Source lineage: CO_FACT, CO_OWN, CO_ABOUT, CO_BRA</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CO_FACT, CO_OWN, CO_ABOUT, CO_BRA; ; source-book, calculation-appendix, CEO-question register, priority-commercial-plans and requirements-audit. Public package /case-studies/olam-global/.</a:t>
            </a:r>
          </a:p>
          <a:p xmlns:a="http://schemas.openxmlformats.org/drawingml/2006/main">
            <a:r>
              <a:t/>
            </a:r>
          </a:p>
          <a:p xmlns:a="http://schemas.openxmlformats.org/drawingml/2006/main">
            <a:r>
              <a:t>CO_FACT | Olam Agri factsheet, June 2026</a:t>
            </a:r>
          </a:p>
          <a:p xmlns:a="http://schemas.openxmlformats.org/drawingml/2006/main">
            <a:r>
              <a:t>https://www.olamagri.com/content/dam/olam-agri/assets/webp/au/au-pdfs/factsheet/olamagri-corporate-factsheet-2026.pdf</a:t>
            </a:r>
          </a:p>
          <a:p xmlns:a="http://schemas.openxmlformats.org/drawingml/2006/main">
            <a:r>
              <a:t>pp. 1–2; footprint, products, ownership</a:t>
            </a:r>
          </a:p>
          <a:p xmlns:a="http://schemas.openxmlformats.org/drawingml/2006/main">
            <a:r>
              <a:t>2025 operating facts; country locations do not prove assets or complete trade presence.</a:t>
            </a:r>
          </a:p>
          <a:p xmlns:a="http://schemas.openxmlformats.org/drawingml/2006/main">
            <a:r>
              <a:t/>
            </a:r>
          </a:p>
          <a:p xmlns:a="http://schemas.openxmlformats.org/drawingml/2006/main">
            <a:r>
              <a:t>CO_OWN | Olam Group reorganisation / Olam Agri</a:t>
            </a:r>
          </a:p>
          <a:p xmlns:a="http://schemas.openxmlformats.org/drawingml/2006/main">
            <a:r>
              <a:t>https://www.olamgroup.com/investors/our-re-organisation.html</a:t>
            </a:r>
          </a:p>
          <a:p xmlns:a="http://schemas.openxmlformats.org/drawingml/2006/main">
            <a:r>
              <a:t>Olam Agri section: 27 April 2026 sale and 30 June CFG share issuance</a:t>
            </a:r>
          </a:p>
          <a:p xmlns:a="http://schemas.openxmlformats.org/drawingml/2006/main">
            <a:r>
              <a:t>About page lower text still says 81.11%; resolved to dated transaction 81.81%.</a:t>
            </a:r>
          </a:p>
          <a:p xmlns:a="http://schemas.openxmlformats.org/drawingml/2006/main">
            <a:r>
              <a:t/>
            </a:r>
          </a:p>
          <a:p xmlns:a="http://schemas.openxmlformats.org/drawingml/2006/main">
            <a:r>
              <a:t>CO_ABOUT | Olam Agri About Us</a:t>
            </a:r>
          </a:p>
          <a:p xmlns:a="http://schemas.openxmlformats.org/drawingml/2006/main">
            <a:r>
              <a:t>https://www.olamagri.com/about-us</a:t>
            </a:r>
          </a:p>
          <a:p xmlns:a="http://schemas.openxmlformats.org/drawingml/2006/main">
            <a:r>
              <a:t>At a glance, products and ownership blocks</a:t>
            </a:r>
          </a:p>
          <a:p xmlns:a="http://schemas.openxmlformats.org/drawingml/2006/main">
            <a:r>
              <a:t>Conflicting lower ownership text retained as a source conflict.</a:t>
            </a:r>
          </a:p>
          <a:p xmlns:a="http://schemas.openxmlformats.org/drawingml/2006/main">
            <a:r>
              <a:t/>
            </a:r>
          </a:p>
          <a:p xmlns:a="http://schemas.openxmlformats.org/drawingml/2006/main">
            <a:r>
              <a:t>CO_BRA | Olam Agri Brazil</a:t>
            </a:r>
          </a:p>
          <a:p xmlns:a="http://schemas.openxmlformats.org/drawingml/2006/main">
            <a:r>
              <a:t>https://www.olamagri.com/locations/brazil</a:t>
            </a:r>
          </a:p>
          <a:p xmlns:a="http://schemas.openxmlformats.org/drawingml/2006/main">
            <a:r>
              <a:t>Country capability/product sections</a:t>
            </a:r>
          </a:p>
          <a:p xmlns:a="http://schemas.openxmlformats.org/drawingml/2006/main">
            <a:r>
              <a:t>Capability evidence does not disclose incremental project returns.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NGN0.47bn annual uplift does not fund NGN4.2bn initial capital at the chosen hurdle.</a:t>
            </a:r>
          </a:p>
          <a:p xmlns:a="http://schemas.openxmlformats.org/drawingml/2006/main">
            <a:r>
              <a:t/>
            </a:r>
          </a:p>
          <a:p xmlns:a="http://schemas.openxmlformats.org/drawingml/2006/main">
            <a:r>
              <a:t>Evidence: BASELINE, CO_NGA, USDA_OIL. Preserved as historical screen: additive 2% availability+2% repeat; 1% mix ×70%; route0.6−service0.4; FX0.45+commodity0.30bn penalties; ramp50/80/100. 28%=historical policy anchor23%+5pp, not WACC. Repair at actual procurement, credit/cost basis, taxes, capex and currency; do not compare directly with real USD template.</a:t>
            </a:r>
          </a:p>
          <a:p xmlns:a="http://schemas.openxmlformats.org/drawingml/2006/main">
            <a:r>
              <a:t>Source lineage: BASELINE, CO_NGA, USDA_OIL</a:t>
            </a:r>
          </a:p>
          <a:p xmlns:a="http://schemas.openxmlformats.org/drawingml/2006/main">
            <a:r>
              <a:t>Assumptions: A_LEGACY</a:t>
            </a:r>
          </a:p>
          <a:p xmlns:a="http://schemas.openxmlformats.org/drawingml/2006/main">
            <a:r>
              <a:t>Calculations: C-LEGACY, C-E10</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BASELINE, CO_NGA, USDA_OIL; C-LEGACY, C-E10; source-book, calculation-appendix, CEO-question register, priority-commercial-plans and requirements-audit. Public package /case-studies/olam-global/.</a:t>
            </a:r>
          </a:p>
          <a:p xmlns:a="http://schemas.openxmlformats.org/drawingml/2006/main">
            <a:r>
              <a:t/>
            </a:r>
          </a:p>
          <a:p xmlns:a="http://schemas.openxmlformats.org/drawingml/2006/main">
            <a:r>
              <a:t>BASELINE | Portfolio baseline and résumé</a:t>
            </a:r>
          </a:p>
          <a:p xmlns:a="http://schemas.openxmlformats.org/drawingml/2006/main">
            <a:r>
              <a:t>https://github.com/ManashProtimDeori/Manash-Protim-Deori/tree/13f7393a1c69350c3cfa89bea1baa49cf08d042c</a:t>
            </a:r>
          </a:p>
          <a:p xmlns:a="http://schemas.openxmlformats.org/drawingml/2006/main">
            <a:r>
              <a:t>src/data/olamAfricaStrategy.ts; src/lib/olamNigeriaDecisionModel.ts; src/data/resume.ts</a:t>
            </a:r>
          </a:p>
          <a:p xmlns:a="http://schemas.openxmlformats.org/drawingml/2006/main">
            <a:r>
              <a:t>Self-described candidate achievements are not audited Olam outcomes.</a:t>
            </a:r>
          </a:p>
          <a:p xmlns:a="http://schemas.openxmlformats.org/drawingml/2006/main">
            <a:r>
              <a:t/>
            </a:r>
          </a:p>
          <a:p xmlns:a="http://schemas.openxmlformats.org/drawingml/2006/main">
            <a:r>
              <a:t>CO_NGA | Olam Agri Nigeria</a:t>
            </a:r>
          </a:p>
          <a:p xmlns:a="http://schemas.openxmlformats.org/drawingml/2006/main">
            <a:r>
              <a:t>https://www.olamagri.com/locations/nigeria</a:t>
            </a:r>
          </a:p>
          <a:p xmlns:a="http://schemas.openxmlformats.org/drawingml/2006/main">
            <a:r>
              <a:t>Country capability/product sections</a:t>
            </a:r>
          </a:p>
          <a:p xmlns:a="http://schemas.openxmlformats.org/drawingml/2006/main">
            <a:r>
              <a:t>Capability evidence does not disclose incremental project returns.</a:t>
            </a:r>
          </a:p>
          <a:p xmlns:a="http://schemas.openxmlformats.org/drawingml/2006/main">
            <a:r>
              <a:t/>
            </a:r>
          </a:p>
          <a:p xmlns:a="http://schemas.openxmlformats.org/drawingml/2006/main">
            <a:r>
              <a:t>USDA_OIL | USDA Nigeria fiscal and trade policy changes 2026</a:t>
            </a:r>
          </a:p>
          <a:p xmlns:a="http://schemas.openxmlformats.org/drawingml/2006/main">
            <a:r>
              <a:t>https://apps.fas.usda.gov/newgainapi/api/Report/DownloadReportByFileName?fileName=Nigeria+Announces+2026+Fiscal+and+Trade+Policy+Changes_Lagos_Nigeria_NI2026-0010.pdf</a:t>
            </a:r>
          </a:p>
          <a:p xmlns:a="http://schemas.openxmlformats.org/drawingml/2006/main">
            <a:r>
              <a:t>Oilseeds/products and crude/refined policy discussion</a:t>
            </a:r>
          </a:p>
          <a:p xmlns:a="http://schemas.openxmlformats.org/drawingml/2006/main">
            <a:r>
              <a:t>Verify current HS subheading and Nigeria Customs rules before contracting.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A lower cost per usable output can justify price only if cash and trust permit adoption.</a:t>
            </a:r>
          </a:p>
          <a:p xmlns:a="http://schemas.openxmlformats.org/drawingml/2006/main">
            <a:r>
              <a:t/>
            </a:r>
          </a:p>
          <a:p xmlns:a="http://schemas.openxmlformats.org/drawingml/2006/main">
            <a:r>
              <a:t>Evidence: Chosen assumptions only; no reported calibration. Teaching inputs only; usable output includes measured rejects. Need repeated paid orders, customer variance, cannibalisation and full Olam service costs. No Olam product performance claim.</a:t>
            </a:r>
          </a:p>
          <a:p xmlns:a="http://schemas.openxmlformats.org/drawingml/2006/main">
            <a:r>
              <a:t>Source lineage: </a:t>
            </a:r>
          </a:p>
          <a:p xmlns:a="http://schemas.openxmlformats.org/drawingml/2006/main">
            <a:r>
              <a:t>Assumptions: A_EXAMPLE, A_PILOT</a:t>
            </a:r>
          </a:p>
          <a:p xmlns:a="http://schemas.openxmlformats.org/drawingml/2006/main">
            <a:r>
              <a:t>Calculations: C-E05</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C-E05;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Test price, usable yield, availability and channel economics as separate mechanisms.</a:t>
            </a:r>
          </a:p>
          <a:p xmlns:a="http://schemas.openxmlformats.org/drawingml/2006/main">
            <a:r>
              <a:t/>
            </a:r>
          </a:p>
          <a:p xmlns:a="http://schemas.openxmlformats.org/drawingml/2006/main">
            <a:r>
              <a:t>Evidence: Chosen assumptions only; no reported calibration. </a:t>
            </a:r>
          </a:p>
          <a:p xmlns:a="http://schemas.openxmlformats.org/drawingml/2006/main">
            <a:r>
              <a:t>Source lineage: </a:t>
            </a:r>
          </a:p>
          <a:p xmlns:a="http://schemas.openxmlformats.org/drawingml/2006/main">
            <a:r>
              <a:t>Assumptions: A_PILOT, A_EXAMPLE</a:t>
            </a:r>
          </a:p>
          <a:p xmlns:a="http://schemas.openxmlformats.org/drawingml/2006/main">
            <a:r>
              <a:t>Calculations: C-E06, C-E11</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C-E06, C-E11;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The lowest physical or commercial constraint determines revenue.</a:t>
            </a:r>
          </a:p>
          <a:p xmlns:a="http://schemas.openxmlformats.org/drawingml/2006/main">
            <a:r>
              <a:t/>
            </a:r>
          </a:p>
          <a:p xmlns:a="http://schemas.openxmlformats.org/drawingml/2006/main">
            <a:r>
              <a:t>Evidence: Chosen assumptions only; no reported calibration. Population actual/context; all example inputs here chosen. Raw capacity needs yield/by-product reconciliation. Orders beyond capacity are unmet demand, not revenue. Commercial readiness never relaxes physical conservation.</a:t>
            </a:r>
          </a:p>
          <a:p xmlns:a="http://schemas.openxmlformats.org/drawingml/2006/main">
            <a:r>
              <a:t>Source lineage: </a:t>
            </a:r>
          </a:p>
          <a:p xmlns:a="http://schemas.openxmlformats.org/drawingml/2006/main">
            <a:r>
              <a:t>Assumptions: A_EXAMPLE</a:t>
            </a:r>
          </a:p>
          <a:p xmlns:a="http://schemas.openxmlformats.org/drawingml/2006/main">
            <a:r>
              <a:t>Calculations: C-E02</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C-E02;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Inventory and purchases use cost; receivables use credit sales.</a:t>
            </a:r>
          </a:p>
          <a:p xmlns:a="http://schemas.openxmlformats.org/drawingml/2006/main">
            <a:r>
              <a:t/>
            </a:r>
          </a:p>
          <a:p xmlns:a="http://schemas.openxmlformats.org/drawingml/2006/main">
            <a:r>
              <a:t>Evidence: Chosen assumptions only; no reported calibration. Example uses100% credit sales unlike80% convention in project template. Improvement is a transition release, not recurring earnings. Later changes depend on balances. Production model needs seasonal monthly peaks and eligible purchases. Managed plant funding peak22.564m in annual model is not proof of intra-year solvency.</a:t>
            </a:r>
          </a:p>
          <a:p xmlns:a="http://schemas.openxmlformats.org/drawingml/2006/main">
            <a:r>
              <a:t>Source lineage: </a:t>
            </a:r>
          </a:p>
          <a:p xmlns:a="http://schemas.openxmlformats.org/drawingml/2006/main">
            <a:r>
              <a:t>Assumptions: A_EXAMPLE, A_NWC</a:t>
            </a:r>
          </a:p>
          <a:p xmlns:a="http://schemas.openxmlformats.org/drawingml/2006/main">
            <a:r>
              <a:t>Calculations: C-E09</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C-E09;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Managed owned-processing template: NPV −USD1.80m; peak annual funding USD22.56m.</a:t>
            </a:r>
          </a:p>
          <a:p xmlns:a="http://schemas.openxmlformats.org/drawingml/2006/main">
            <a:r>
              <a:t/>
            </a:r>
          </a:p>
          <a:p xmlns:a="http://schemas.openxmlformats.org/drawingml/2006/main">
            <a:r>
              <a:t>Evidence: Chosen assumptions only; no reported calibration. ROIC requires committed tax/asset treatment and Olam invested-capital definitions; absent company project data, no company ROIC forecast is published. Native workbook contains annual cash and NPV, funding peak and capacity checks.</a:t>
            </a:r>
          </a:p>
          <a:p xmlns:a="http://schemas.openxmlformats.org/drawingml/2006/main">
            <a:r>
              <a:t>Source lineage: </a:t>
            </a:r>
          </a:p>
          <a:p xmlns:a="http://schemas.openxmlformats.org/drawingml/2006/main">
            <a:r>
              <a:t>Assumptions: A_TEMPLATE, A_TAX, A_RATE, A_CAPEX, A_NWC</a:t>
            </a:r>
          </a:p>
          <a:p xmlns:a="http://schemas.openxmlformats.org/drawingml/2006/main">
            <a:r>
              <a:t>Calculations: C-DCF-plant-managed</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C-DCF-plant-managed;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Chosen stress distribution illustrates failure; it does not estimate the probability of loss.</a:t>
            </a:r>
          </a:p>
          <a:p xmlns:a="http://schemas.openxmlformats.org/drawingml/2006/main">
            <a:r>
              <a:t/>
            </a:r>
          </a:p>
          <a:p xmlns:a="http://schemas.openxmlformats.org/drawingml/2006/main">
            <a:r>
              <a:t>Evidence: Chosen assumptions only; no reported calibration. Latent common z reduces volume and raises unit cost, stock days and hurdle; independent residual terms remain. Constructed PSD dependence, not estimated covariance. 2,500/5,000/10,000 run summaries in workbook and analysis JSON.</a:t>
            </a:r>
          </a:p>
          <a:p xmlns:a="http://schemas.openxmlformats.org/drawingml/2006/main">
            <a:r>
              <a:t>Source lineage: </a:t>
            </a:r>
          </a:p>
          <a:p xmlns:a="http://schemas.openxmlformats.org/drawingml/2006/main">
            <a:r>
              <a:t>Assumptions: A_STRESS, A_TEMPLATE</a:t>
            </a:r>
          </a:p>
          <a:p xmlns:a="http://schemas.openxmlformats.org/drawingml/2006/main">
            <a:r>
              <a:t>Calculations: C-STRESS, C-THRESHOLD</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C-STRESS, C-THRESHOLD;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Allocate only among legally feasible, funded and physically deliverable choices.</a:t>
            </a:r>
          </a:p>
          <a:p xmlns:a="http://schemas.openxmlformats.org/drawingml/2006/main">
            <a:r>
              <a:t/>
            </a:r>
          </a:p>
          <a:p xmlns:a="http://schemas.openxmlformats.org/drawingml/2006/main">
            <a:r>
              <a:t>Evidence: Chosen assumptions only; no reported calibration. </a:t>
            </a:r>
          </a:p>
          <a:p xmlns:a="http://schemas.openxmlformats.org/drawingml/2006/main">
            <a:r>
              <a:t>Source lineage: </a:t>
            </a:r>
          </a:p>
          <a:p xmlns:a="http://schemas.openxmlformats.org/drawingml/2006/main">
            <a:r>
              <a:t>Assumptions: A_PRIOR, A_STRESS</a:t>
            </a:r>
          </a:p>
          <a:p xmlns:a="http://schemas.openxmlformats.org/drawingml/2006/main">
            <a:r>
              <a:t>Calculations: C-E17, C-REGRET</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C-E17, C-REGRET;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The proposed model combines established methods into an executable decision workflow.</a:t>
            </a:r>
          </a:p>
          <a:p xmlns:a="http://schemas.openxmlformats.org/drawingml/2006/main">
            <a:r>
              <a:t/>
            </a:r>
          </a:p>
          <a:p xmlns:a="http://schemas.openxmlformats.org/drawingml/2006/main">
            <a:r>
              <a:t>Evidence: Chosen assumptions only; no reported calibration. Objective: min_a max_s [max_b V(b,s)−V(a,s)] for common feasible set; then compare value of optional information under explicitly chosen priors. Dynamic policy must avoid counting pilot benefit twice. Full-country optimization remains a proposed module.</a:t>
            </a:r>
          </a:p>
          <a:p xmlns:a="http://schemas.openxmlformats.org/drawingml/2006/main">
            <a:r>
              <a:t>Source lineage: </a:t>
            </a:r>
          </a:p>
          <a:p xmlns:a="http://schemas.openxmlformats.org/drawingml/2006/main">
            <a:r>
              <a:t>Assumptions: A_PRIOR</a:t>
            </a:r>
          </a:p>
          <a:p xmlns:a="http://schemas.openxmlformats.org/drawingml/2006/main">
            <a:r>
              <a:t>Calculations: C-REGRET, C-E20</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C-REGRET, C-E20;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A transparent teaching case changes the decision under the same USD20m maximum envelope.</a:t>
            </a:r>
          </a:p>
          <a:p xmlns:a="http://schemas.openxmlformats.org/drawingml/2006/main">
            <a:r>
              <a:t/>
            </a:r>
          </a:p>
          <a:p xmlns:a="http://schemas.openxmlformats.org/drawingml/2006/main">
            <a:r>
              <a:t>Evidence: Chosen assumptions only; no reported calibration. All6world payoffs: wait0; owned[9,14,−2,−8,−4,3]; partner[6,10,2,−1,1,5]; trade[4,7,1,0,2,4]. Owned wins central9 vs6 but maxregret8 vs4 partner. Same maximum capital, timing horizon and information. Payoffs chosen independently of full templates. No country recommendation proven by this example.</a:t>
            </a:r>
          </a:p>
          <a:p xmlns:a="http://schemas.openxmlformats.org/drawingml/2006/main">
            <a:r>
              <a:t>Source lineage: </a:t>
            </a:r>
          </a:p>
          <a:p xmlns:a="http://schemas.openxmlformats.org/drawingml/2006/main">
            <a:r>
              <a:t>Assumptions: A_PRIOR, A_EXAMPLE</a:t>
            </a:r>
          </a:p>
          <a:p xmlns:a="http://schemas.openxmlformats.org/drawingml/2006/main">
            <a:r>
              <a:t>Calculations: C-REGRET</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C-REGRET;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A small error gain does not turn aggregate food production into product demand.</a:t>
            </a:r>
          </a:p>
          <a:p xmlns:a="http://schemas.openxmlformats.org/drawingml/2006/main">
            <a:r>
              <a:t/>
            </a:r>
          </a:p>
          <a:p xmlns:a="http://schemas.openxmlformats.org/drawingml/2006/main">
            <a:r>
              <a:t>Evidence: WB_food_index, WB_income_ppp, WB_urban, WB_cereal_yield. Country-clustered CR1 intervals. Retrospective latest-vintage temporal test and leave-region-out errors; no causal coefficient, country elasticity, calibrated probability or 2051 projection. Distinctive hypotheses: customer-economics learning may transfer better than demographics; seasonal cash may reverse volume ranking. Both remain unvalidated.</a:t>
            </a:r>
          </a:p>
          <a:p xmlns:a="http://schemas.openxmlformats.org/drawingml/2006/main">
            <a:r>
              <a:t>Source lineage: WB_food_index, WB_income_ppp, WB_urban, WB_cereal_yield</a:t>
            </a:r>
          </a:p>
          <a:p xmlns:a="http://schemas.openxmlformats.org/drawingml/2006/main">
            <a:r>
              <a:t>Assumptions: </a:t>
            </a:r>
          </a:p>
          <a:p xmlns:a="http://schemas.openxmlformats.org/drawingml/2006/main">
            <a:r>
              <a:t>Calculations: C-OLS</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WB_food_index, WB_income_ppp, WB_urban, WB_cereal_yield; C-OLS; source-book, calculation-appendix, CEO-question register, priority-commercial-plans and requirements-audit. Public package /case-studies/olam-global/.</a:t>
            </a:r>
          </a:p>
          <a:p xmlns:a="http://schemas.openxmlformats.org/drawingml/2006/main">
            <a:r>
              <a:t/>
            </a:r>
          </a:p>
          <a:p xmlns:a="http://schemas.openxmlformats.org/drawingml/2006/main">
            <a:r>
              <a:t>WB_food_index | World Bank WDI: Food production index (2014-2016 = 100)</a:t>
            </a:r>
          </a:p>
          <a:p xmlns:a="http://schemas.openxmlformats.org/drawingml/2006/main">
            <a:r>
              <a:t>https://api.worldbank.org/v2/country/all/indicator/AG.PRD.FOOD.XD?date=2000:2025&amp;format=json&amp;per_page=20000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a:p xmlns:a="http://schemas.openxmlformats.org/drawingml/2006/main">
            <a:r>
              <a:t/>
            </a:r>
          </a:p>
          <a:p xmlns:a="http://schemas.openxmlformats.org/drawingml/2006/main">
            <a:r>
              <a:t>WB_income_ppp | World Bank WDI: GDP per capita, PPP (constant 2021 international $)</a:t>
            </a:r>
          </a:p>
          <a:p xmlns:a="http://schemas.openxmlformats.org/drawingml/2006/main">
            <a:r>
              <a:t>https://api.worldbank.org/v2/country/all/indicator/NY.GDP.PCAP.PP.KD?date=2000:2025&amp;format=json&amp;per_page=20000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a:p xmlns:a="http://schemas.openxmlformats.org/drawingml/2006/main">
            <a:r>
              <a:t/>
            </a:r>
          </a:p>
          <a:p xmlns:a="http://schemas.openxmlformats.org/drawingml/2006/main">
            <a:r>
              <a:t>WB_urban | World Bank WDI: Urban population (% of total population)</a:t>
            </a:r>
          </a:p>
          <a:p xmlns:a="http://schemas.openxmlformats.org/drawingml/2006/main">
            <a:r>
              <a:t>https://api.worldbank.org/v2/country/all/indicator/SP.URB.TOTL.IN.ZS?date=2000:2025&amp;format=json&amp;per_page=20000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a:p xmlns:a="http://schemas.openxmlformats.org/drawingml/2006/main">
            <a:r>
              <a:t/>
            </a:r>
          </a:p>
          <a:p xmlns:a="http://schemas.openxmlformats.org/drawingml/2006/main">
            <a:r>
              <a:t>WB_cereal_yield | World Bank WDI: Cereal yield (kg per hectare)</a:t>
            </a:r>
          </a:p>
          <a:p xmlns:a="http://schemas.openxmlformats.org/drawingml/2006/main">
            <a:r>
              <a:t>https://api.worldbank.org/v2/country/all/indicator/AG.YLD.CREL.KG?date=2000:2025&amp;format=json&amp;per_page=20000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Use randomised route clusters when feasible; otherwise defend the counterfactual.</a:t>
            </a:r>
          </a:p>
          <a:p xmlns:a="http://schemas.openxmlformats.org/drawingml/2006/main">
            <a:r>
              <a:t/>
            </a:r>
          </a:p>
          <a:p xmlns:a="http://schemas.openxmlformats.org/drawingml/2006/main">
            <a:r>
              <a:t>Evidence: DID, NOBEL_2021. </a:t>
            </a:r>
          </a:p>
          <a:p xmlns:a="http://schemas.openxmlformats.org/drawingml/2006/main">
            <a:r>
              <a:t>Source lineage: DID, NOBEL_2021</a:t>
            </a:r>
          </a:p>
          <a:p xmlns:a="http://schemas.openxmlformats.org/drawingml/2006/main">
            <a:r>
              <a:t>Assumptions: A_PILOT</a:t>
            </a:r>
          </a:p>
          <a:p xmlns:a="http://schemas.openxmlformats.org/drawingml/2006/main">
            <a:r>
              <a:t>Calculations: C-E18, C-E19</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DID, NOBEL_2021; C-E18, C-E19; source-book, calculation-appendix, CEO-question register, priority-commercial-plans and requirements-audit. Public package /case-studies/olam-global/.</a:t>
            </a:r>
          </a:p>
          <a:p xmlns:a="http://schemas.openxmlformats.org/drawingml/2006/main">
            <a:r>
              <a:t/>
            </a:r>
          </a:p>
          <a:p xmlns:a="http://schemas.openxmlformats.org/drawingml/2006/main">
            <a:r>
              <a:t>DID | Callaway &amp; Sant’Anna: Difference-in-differences</a:t>
            </a:r>
          </a:p>
          <a:p xmlns:a="http://schemas.openxmlformats.org/drawingml/2006/main">
            <a:r>
              <a:t>https://arxiv.org/abs/1803.09015</a:t>
            </a:r>
          </a:p>
          <a:p xmlns:a="http://schemas.openxmlformats.org/drawingml/2006/main">
            <a:r>
              <a:t>arXiv 1803.09015; identification with multiple time periods</a:t>
            </a:r>
          </a:p>
          <a:p xmlns:a="http://schemas.openxmlformats.org/drawingml/2006/main">
            <a:r>
              <a:t>No Olam treatment effect estimated; pilot design only.</a:t>
            </a:r>
          </a:p>
          <a:p xmlns:a="http://schemas.openxmlformats.org/drawingml/2006/main">
            <a:r>
              <a:t/>
            </a:r>
          </a:p>
          <a:p xmlns:a="http://schemas.openxmlformats.org/drawingml/2006/main">
            <a:r>
              <a:t>NOBEL_2021 | Economic Sciences prize 2021</a:t>
            </a:r>
          </a:p>
          <a:p xmlns:a="http://schemas.openxmlformats.org/drawingml/2006/main">
            <a:r>
              <a:t>https://www.nobelprize.org/prizes/economic-sciences/2021/summary/</a:t>
            </a:r>
          </a:p>
          <a:p xmlns:a="http://schemas.openxmlformats.org/drawingml/2006/main">
            <a:r>
              <a:t>Prize motivation and research contribution</a:t>
            </a:r>
          </a:p>
          <a:p xmlns:a="http://schemas.openxmlformats.org/drawingml/2006/main">
            <a:r>
              <a:t>Engle/Granger (time series), Romer/Nordhaus (growth/climate), Card/Angrist/Imbens (causality) guide module choice, not parameter imports.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Milestones through 2051 are review windows, not promises of expansion.</a:t>
            </a:r>
          </a:p>
          <a:p xmlns:a="http://schemas.openxmlformats.org/drawingml/2006/main">
            <a:r>
              <a:t/>
            </a:r>
          </a:p>
          <a:p xmlns:a="http://schemas.openxmlformats.org/drawingml/2006/main">
            <a:r>
              <a:t>Evidence: OECD, UN_WPP. </a:t>
            </a:r>
          </a:p>
          <a:p xmlns:a="http://schemas.openxmlformats.org/drawingml/2006/main">
            <a:r>
              <a:t>Source lineage: OECD, UN_WPP</a:t>
            </a:r>
          </a:p>
          <a:p xmlns:a="http://schemas.openxmlformats.org/drawingml/2006/main">
            <a:r>
              <a:t>Assumptions: A_OUTER</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OECD, UN_WPP; ; source-book, calculation-appendix, CEO-question register, priority-commercial-plans and requirements-audit. Public package /case-studies/olam-global/.</a:t>
            </a:r>
          </a:p>
          <a:p xmlns:a="http://schemas.openxmlformats.org/drawingml/2006/main">
            <a:r>
              <a:t/>
            </a:r>
          </a:p>
          <a:p xmlns:a="http://schemas.openxmlformats.org/drawingml/2006/main">
            <a:r>
              <a:t>OECD | OECD–FAO Agricultural Outlook 2026–2035</a:t>
            </a:r>
          </a:p>
          <a:p xmlns:a="http://schemas.openxmlformats.org/drawingml/2006/main">
            <a:r>
              <a:t>https://www.oecd.org/en/publications/oecd-fao-agricultural-outlook-2026-2035_47874669-en.html</a:t>
            </a:r>
          </a:p>
          <a:p xmlns:a="http://schemas.openxmlformats.org/drawingml/2006/main">
            <a:r>
              <a:t>Publication 29 June 2026; executive summary, methodology; DOI 10.1787/47874669-en</a:t>
            </a:r>
          </a:p>
          <a:p xmlns:a="http://schemas.openxmlformats.org/drawingml/2006/main">
            <a:r>
              <a:t>Official horizon ends 2035; no Olam capture forecast.</a:t>
            </a:r>
          </a:p>
          <a:p xmlns:a="http://schemas.openxmlformats.org/drawingml/2006/main">
            <a:r>
              <a:t/>
            </a:r>
          </a:p>
          <a:p xmlns:a="http://schemas.openxmlformats.org/drawingml/2006/main">
            <a:r>
              <a:t>UN_WPP | UN World Population Prospects 2024</a:t>
            </a:r>
          </a:p>
          <a:p xmlns:a="http://schemas.openxmlformats.org/drawingml/2006/main">
            <a:r>
              <a:t>https://population.un.org/wpp/assets/Excel%20Files/1_Indicator%20(Standard)/EXCEL_FILES/1_General/WPP2024_GEN_F01_DEMOGRAPHIC_INDICATORS_COMPACT.xlsx</a:t>
            </a:r>
          </a:p>
          <a:p xmlns:a="http://schemas.openxmlformats.org/drawingml/2006/main">
            <a:r>
              <a:t>Medium variant sheet; country rows at 2026, 2030, 2035, 2040, 2045, 2050, 2051</a:t>
            </a:r>
          </a:p>
          <a:p xmlns:a="http://schemas.openxmlformats.org/drawingml/2006/main">
            <a:r>
              <a:t>Population in thousands converted to persons. Medium variant is not a sales forecast.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Legal and liquidity failures override an attractive demand story.</a:t>
            </a:r>
          </a:p>
          <a:p xmlns:a="http://schemas.openxmlformats.org/drawingml/2006/main">
            <a:r>
              <a:t/>
            </a:r>
          </a:p>
          <a:p xmlns:a="http://schemas.openxmlformats.org/drawingml/2006/main">
            <a:r>
              <a:t>Evidence: Chosen assumptions only; no reported calibration. Every dossier has a next evidence gate. Triggers: if contribution interval fails minimum economic requirement, pause; if limit breached, stop shipments/commitments per agreed contract; if replication fails, localise before rolling out. Required floors/limits are set by Finance before pilot, not invented here.</a:t>
            </a:r>
          </a:p>
          <a:p xmlns:a="http://schemas.openxmlformats.org/drawingml/2006/main">
            <a:r>
              <a:t>Source lineage: </a:t>
            </a:r>
          </a:p>
          <a:p xmlns:a="http://schemas.openxmlformats.org/drawingml/2006/main">
            <a:r>
              <a:t>Assumptions: A_PILOT</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My offer is an operating measurement system with Finance-controlled economics.</a:t>
            </a:r>
          </a:p>
          <a:p xmlns:a="http://schemas.openxmlformats.org/drawingml/2006/main">
            <a:r>
              <a:t/>
            </a:r>
          </a:p>
          <a:p xmlns:a="http://schemas.openxmlformats.org/drawingml/2006/main">
            <a:r>
              <a:t>Evidence: BASELINE. Resume evidence is self-described portfolio background. Olam scale recommendation depends on business data and team authority; no guarantee of implementation results.</a:t>
            </a:r>
          </a:p>
          <a:p xmlns:a="http://schemas.openxmlformats.org/drawingml/2006/main">
            <a:r>
              <a:t>Source lineage: BASELINE</a:t>
            </a:r>
          </a:p>
          <a:p xmlns:a="http://schemas.openxmlformats.org/drawingml/2006/main">
            <a:r>
              <a:t>Assumptions: </a:t>
            </a:r>
          </a:p>
          <a:p xmlns:a="http://schemas.openxmlformats.org/drawingml/2006/main">
            <a:r>
              <a:t>Calculations: C-CPM</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Candidate portfolio outcomes do not predict Olam performance; validate through the proposed pilot.</a:t>
            </a:r>
          </a:p>
          <a:p xmlns:a="http://schemas.openxmlformats.org/drawingml/2006/main">
            <a:r>
              <a:t/>
            </a:r>
          </a:p>
          <a:p xmlns:a="http://schemas.openxmlformats.org/drawingml/2006/main">
            <a:r>
              <a:t>Likely CEO/CFO challenge: Is this sufficient to approve capital? Answer: This is the candidate offer and self-reported experience, not an Olam realized result.</a:t>
            </a:r>
          </a:p>
          <a:p xmlns:a="http://schemas.openxmlformats.org/drawingml/2006/main">
            <a:r>
              <a:t/>
            </a:r>
          </a:p>
          <a:p xmlns:a="http://schemas.openxmlformats.org/drawingml/2006/main">
            <a:r>
              <a:t>Source and appendix references: BASELINE; C-CPM; source-book, calculation-appendix, CEO-question register, priority-commercial-plans and requirements-audit. Public package /case-studies/olam-global/.</a:t>
            </a:r>
          </a:p>
          <a:p xmlns:a="http://schemas.openxmlformats.org/drawingml/2006/main">
            <a:r>
              <a:t/>
            </a:r>
          </a:p>
          <a:p xmlns:a="http://schemas.openxmlformats.org/drawingml/2006/main">
            <a:r>
              <a:t>BASELINE | Portfolio baseline and résumé</a:t>
            </a:r>
          </a:p>
          <a:p xmlns:a="http://schemas.openxmlformats.org/drawingml/2006/main">
            <a:r>
              <a:t>https://github.com/ManashProtimDeori/Manash-Protim-Deori/tree/13f7393a1c69350c3cfa89bea1baa49cf08d042c</a:t>
            </a:r>
          </a:p>
          <a:p xmlns:a="http://schemas.openxmlformats.org/drawingml/2006/main">
            <a:r>
              <a:t>src/data/olamAfricaStrategy.ts; src/lib/olamNigeriaDecisionModel.ts; src/data/resume.ts</a:t>
            </a:r>
          </a:p>
          <a:p xmlns:a="http://schemas.openxmlformats.org/drawingml/2006/main">
            <a:r>
              <a:t>Self-described candidate achievements are not audited Olam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Cost and size the pilot only after inspecting baseline variance and available routes.</a:t>
            </a:r>
          </a:p>
          <a:p xmlns:a="http://schemas.openxmlformats.org/drawingml/2006/main">
            <a:r>
              <a:t/>
            </a:r>
          </a:p>
          <a:p xmlns:a="http://schemas.openxmlformats.org/drawingml/2006/main">
            <a:r>
              <a:t>Evidence: Chosen assumptions only; no reported calibration. </a:t>
            </a:r>
          </a:p>
          <a:p xmlns:a="http://schemas.openxmlformats.org/drawingml/2006/main">
            <a:r>
              <a:t>Source lineage: </a:t>
            </a:r>
          </a:p>
          <a:p xmlns:a="http://schemas.openxmlformats.org/drawingml/2006/main">
            <a:r>
              <a:t>Assumptions: A_PILOT</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No country asset approval is supported by the present public-data package.</a:t>
            </a:r>
          </a:p>
          <a:p xmlns:a="http://schemas.openxmlformats.org/drawingml/2006/main">
            <a:r>
              <a:t/>
            </a:r>
          </a:p>
          <a:p xmlns:a="http://schemas.openxmlformats.org/drawingml/2006/main">
            <a:r>
              <a:t>Evidence: Chosen assumptions only; no reported calibration. </a:t>
            </a:r>
          </a:p>
          <a:p xmlns:a="http://schemas.openxmlformats.org/drawingml/2006/main">
            <a:r>
              <a:t>Source lineage: </a:t>
            </a:r>
          </a:p>
          <a:p xmlns:a="http://schemas.openxmlformats.org/drawingml/2006/main">
            <a:r>
              <a:t>Assumptions: A_PILOT</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Questions about the assumptions are the next evidence commitment.</a:t>
            </a:r>
          </a:p>
          <a:p xmlns:a="http://schemas.openxmlformats.org/drawingml/2006/main">
            <a:r>
              <a:t/>
            </a:r>
          </a:p>
          <a:p xmlns:a="http://schemas.openxmlformats.org/drawingml/2006/main">
            <a:r>
              <a:t>Evidence: Chosen assumptions only; no reported calibration. </a:t>
            </a:r>
          </a:p>
          <a:p xmlns:a="http://schemas.openxmlformats.org/drawingml/2006/main">
            <a:r>
              <a:t>Source lineage: </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Candidate portfolio outcomes do not predict Olam performance; validate through the proposed pilot.</a:t>
            </a:r>
          </a:p>
          <a:p xmlns:a="http://schemas.openxmlformats.org/drawingml/2006/main">
            <a:r>
              <a:t/>
            </a:r>
          </a:p>
          <a:p xmlns:a="http://schemas.openxmlformats.org/drawingml/2006/main">
            <a:r>
              <a:t>Likely CEO/CFO challenge: Is this sufficient to approve capital? Answer: This is the candidate offer and self-reported experience, not an Olam realized result.</a:t>
            </a:r>
          </a:p>
          <a:p xmlns:a="http://schemas.openxmlformats.org/drawingml/2006/main">
            <a:r>
              <a:t/>
            </a:r>
          </a:p>
          <a:p xmlns:a="http://schemas.openxmlformats.org/drawingml/2006/main">
            <a:r>
              <a:t>Source and appendix references: Chosen assumptions only; no reported calibration; ;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Source IDs, assumption IDs and calculation IDs travel with every decision.</a:t>
            </a:r>
          </a:p>
          <a:p xmlns:a="http://schemas.openxmlformats.org/drawingml/2006/main">
            <a:r>
              <a:t/>
            </a:r>
          </a:p>
          <a:p xmlns:a="http://schemas.openxmlformats.org/drawingml/2006/main">
            <a:r>
              <a:t>Evidence: Chosen assumptions only; no reported calibration. Currency: explicit USDm real2026 project template; legacy NGNbn separate. Year0=2026;25annualoperatingyears2027–2051. Cash-tax simplifyingassumptions. Confidence intervals concern estimation; chosenstressquantiles arenotforecastpredictionintervals.</a:t>
            </a:r>
          </a:p>
          <a:p xmlns:a="http://schemas.openxmlformats.org/drawingml/2006/main">
            <a:r>
              <a:t>Source lineage: </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2.45% derived EBIT margin</a:t>
            </a:r>
          </a:p>
          <a:p xmlns:a="http://schemas.openxmlformats.org/drawingml/2006/main">
            <a:r>
              <a:t/>
            </a:r>
          </a:p>
          <a:p xmlns:a="http://schemas.openxmlformats.org/drawingml/2006/main">
            <a:r>
              <a:t>Evidence: CO_AR. Business question: Reported margin</a:t>
            </a:r>
          </a:p>
          <a:p xmlns:a="http://schemas.openxmlformats.org/drawingml/2006/main">
            <a:r>
              <a:t>Intuition: EBIT / revenue × 100</a:t>
            </a:r>
          </a:p>
          <a:p xmlns:a="http://schemas.openxmlformats.org/drawingml/2006/main">
            <a:r>
              <a:t>Formula and variable units: 703.7 / 28,666 × 100 = 2.4548%</a:t>
            </a:r>
          </a:p>
          <a:p xmlns:a="http://schemas.openxmlformats.org/drawingml/2006/main">
            <a:r>
              <a:t>Inputs: Reported/derived evidence; input register I-E01</a:t>
            </a:r>
          </a:p>
          <a:p xmlns:a="http://schemas.openxmlformats.org/drawingml/2006/main">
            <a:r>
              <a:t>Substitution/result: 2.45% derived EBIT margin</a:t>
            </a:r>
          </a:p>
          <a:p xmlns:a="http://schemas.openxmlformats.org/drawingml/2006/main">
            <a:r>
              <a:t>Interpretation and failure: Using rounded revenue of USD28.7bn gives 2.4519%; keep the same entity, period and currency.</a:t>
            </a:r>
          </a:p>
          <a:p xmlns:a="http://schemas.openxmlformats.org/drawingml/2006/main">
            <a:r>
              <a:t>Sensitivity: Revenue can grow while margin falls.</a:t>
            </a:r>
          </a:p>
          <a:p xmlns:a="http://schemas.openxmlformats.org/drawingml/2006/main">
            <a:r>
              <a:t>Lineage: C-E01; Calculation_Audit; scripts/olam-package.py examples.</a:t>
            </a:r>
          </a:p>
          <a:p xmlns:a="http://schemas.openxmlformats.org/drawingml/2006/main">
            <a:r>
              <a:t>Source lineage: CO_AR</a:t>
            </a:r>
          </a:p>
          <a:p xmlns:a="http://schemas.openxmlformats.org/drawingml/2006/main">
            <a:r>
              <a:t>Assumptions: </a:t>
            </a:r>
          </a:p>
          <a:p xmlns:a="http://schemas.openxmlformats.org/drawingml/2006/main">
            <a:r>
              <a:t>Calculations: C-E01</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CO_AR; C-E01; source-book, calculation-appendix, CEO-question register, priority-commercial-plans and requirements-audit. Public package /case-studies/olam-global/.</a:t>
            </a:r>
          </a:p>
          <a:p xmlns:a="http://schemas.openxmlformats.org/drawingml/2006/main">
            <a:r>
              <a:t/>
            </a:r>
          </a:p>
          <a:p xmlns:a="http://schemas.openxmlformats.org/drawingml/2006/main">
            <a:r>
              <a:t>CO_AR | Olam Agri Annual Report 2025</a:t>
            </a:r>
          </a:p>
          <a:p xmlns:a="http://schemas.openxmlformats.org/drawingml/2006/main">
            <a:r>
              <a:t>https://www.olamagri.com/content/dam/olam-agri/assets/webp/au/ar/annual-report-pdf/2025/annual-report-2025.pdf</a:t>
            </a:r>
          </a:p>
          <a:p xmlns:a="http://schemas.openxmlformats.org/drawingml/2006/main">
            <a:r>
              <a:t>Printed pp. 3, 10–11; CFO overview and performance charts</a:t>
            </a:r>
          </a:p>
          <a:p xmlns:a="http://schemas.openxmlformats.org/drawingml/2006/main">
            <a:r>
              <a:t>USD Agri figures. Handled and sales tonnage have different definitions.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7,000 delivered tonnes</a:t>
            </a:r>
          </a:p>
          <a:p xmlns:a="http://schemas.openxmlformats.org/drawingml/2006/main">
            <a:r>
              <a:t/>
            </a:r>
          </a:p>
          <a:p xmlns:a="http://schemas.openxmlformats.org/drawingml/2006/main">
            <a:r>
              <a:t>Evidence: Chosen assumptions only; no reported calibration. Business question: Demand to delivered sales</a:t>
            </a:r>
          </a:p>
          <a:p xmlns:a="http://schemas.openxmlformats.org/drawingml/2006/main">
            <a:r>
              <a:t>Intuition: Population × demand per person × access × capture, capped by delivery</a:t>
            </a:r>
          </a:p>
          <a:p xmlns:a="http://schemas.openxmlformats.org/drawingml/2006/main">
            <a:r>
              <a:t>Formula and variable units: 1m people × 0.1t × 50% access × 20% capture = 10,000t orders; min(10,000, 8,000, 7,000) = 7,000t.</a:t>
            </a:r>
          </a:p>
          <a:p xmlns:a="http://schemas.openxmlformats.org/drawingml/2006/main">
            <a:r>
              <a:t>Inputs: Illustrative example—not Olam data; input register I-E02</a:t>
            </a:r>
          </a:p>
          <a:p xmlns:a="http://schemas.openxmlformats.org/drawingml/2006/main">
            <a:r>
              <a:t>Substitution/result: 7,000 delivered tonnes</a:t>
            </a:r>
          </a:p>
          <a:p xmlns:a="http://schemas.openxmlformats.org/drawingml/2006/main">
            <a:r>
              <a:t>Interpretation and failure: Demand, access and capture are chosen inputs. Unmet orders cannot count as revenue.</a:t>
            </a:r>
          </a:p>
          <a:p xmlns:a="http://schemas.openxmlformats.org/drawingml/2006/main">
            <a:r>
              <a:t>Sensitivity: If route capacity reaches 9,000t, plant capacity still caps delivery at 8,000t.</a:t>
            </a:r>
          </a:p>
          <a:p xmlns:a="http://schemas.openxmlformats.org/drawingml/2006/main">
            <a:r>
              <a:t>Lineage: C-E02; Calculation_Audit; scripts/olam-package.py examples.</a:t>
            </a:r>
          </a:p>
          <a:p xmlns:a="http://schemas.openxmlformats.org/drawingml/2006/main">
            <a:r>
              <a:t>Source lineage: </a:t>
            </a:r>
          </a:p>
          <a:p xmlns:a="http://schemas.openxmlformats.org/drawingml/2006/main">
            <a:r>
              <a:t>Assumptions: A_EXAMPLE</a:t>
            </a:r>
          </a:p>
          <a:p xmlns:a="http://schemas.openxmlformats.org/drawingml/2006/main">
            <a:r>
              <a:t>Calculations: C-E02</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C-E02;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USD4m EBITDA</a:t>
            </a:r>
          </a:p>
          <a:p xmlns:a="http://schemas.openxmlformats.org/drawingml/2006/main">
            <a:r>
              <a:t/>
            </a:r>
          </a:p>
          <a:p xmlns:a="http://schemas.openxmlformats.org/drawingml/2006/main">
            <a:r>
              <a:t>Evidence: Chosen assumptions only; no reported calibration. Business question: Volume, revenue and EBITDA</a:t>
            </a:r>
          </a:p>
          <a:p xmlns:a="http://schemas.openxmlformats.org/drawingml/2006/main">
            <a:r>
              <a:t>Intuition: Volume × net price; volume × unit cost; contribution less fixed cash cost</a:t>
            </a:r>
          </a:p>
          <a:p xmlns:a="http://schemas.openxmlformats.org/drawingml/2006/main">
            <a:r>
              <a:t>Formula and variable units: 100,000t × USD400/t = USD40m revenue; costs = USD34m; contribution = USD6m; less USD2m fixed cost = USD4m EBITDA.</a:t>
            </a:r>
          </a:p>
          <a:p xmlns:a="http://schemas.openxmlformats.org/drawingml/2006/main">
            <a:r>
              <a:t>Inputs: Illustrative example—not Olam data; input register I-E03</a:t>
            </a:r>
          </a:p>
          <a:p xmlns:a="http://schemas.openxmlformats.org/drawingml/2006/main">
            <a:r>
              <a:t>Substitution/result: USD4m EBITDA</a:t>
            </a:r>
          </a:p>
          <a:p xmlns:a="http://schemas.openxmlformats.org/drawingml/2006/main">
            <a:r>
              <a:t>Interpretation and failure: EBITDA omits cash tax, capital spending and working cash. These are chosen saleable-volume and net-price inputs.</a:t>
            </a:r>
          </a:p>
          <a:p xmlns:a="http://schemas.openxmlformats.org/drawingml/2006/main">
            <a:r>
              <a:t>Sensitivity: A USD10/t price change at unchanged volume changes EBITDA by USD1m.</a:t>
            </a:r>
          </a:p>
          <a:p xmlns:a="http://schemas.openxmlformats.org/drawingml/2006/main">
            <a:r>
              <a:t>Lineage: C-E03; Calculation_Audit; scripts/olam-package.py examples.</a:t>
            </a:r>
          </a:p>
          <a:p xmlns:a="http://schemas.openxmlformats.org/drawingml/2006/main">
            <a:r>
              <a:t>Source lineage: </a:t>
            </a:r>
          </a:p>
          <a:p xmlns:a="http://schemas.openxmlformats.org/drawingml/2006/main">
            <a:r>
              <a:t>Assumptions: A_EXAMPLE</a:t>
            </a:r>
          </a:p>
          <a:p xmlns:a="http://schemas.openxmlformats.org/drawingml/2006/main">
            <a:r>
              <a:t>Calculations: C-E03</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C-E03;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111,111 tonnes of input</a:t>
            </a:r>
          </a:p>
          <a:p xmlns:a="http://schemas.openxmlformats.org/drawingml/2006/main">
            <a:r>
              <a:t/>
            </a:r>
          </a:p>
          <a:p xmlns:a="http://schemas.openxmlformats.org/drawingml/2006/main">
            <a:r>
              <a:t>Evidence: Chosen assumptions only; no reported calibration. Business question: Yield and by-products</a:t>
            </a:r>
          </a:p>
          <a:p xmlns:a="http://schemas.openxmlformats.org/drawingml/2006/main">
            <a:r>
              <a:t>Intuition: Input = main output / yield; output, by-product and loss sum to input</a:t>
            </a:r>
          </a:p>
          <a:p xmlns:a="http://schemas.openxmlformats.org/drawingml/2006/main">
            <a:r>
              <a:t>Formula and variable units: 100,000t output / 90% yield = 111,111t input; 6% by-product = 6,667t; 4% loss = 4,444t.</a:t>
            </a:r>
          </a:p>
          <a:p xmlns:a="http://schemas.openxmlformats.org/drawingml/2006/main">
            <a:r>
              <a:t>Inputs: Illustrative example—not Olam data; input register I-E04</a:t>
            </a:r>
          </a:p>
          <a:p xmlns:a="http://schemas.openxmlformats.org/drawingml/2006/main">
            <a:r>
              <a:t>Substitution/result: 111,111 tonnes of input</a:t>
            </a:r>
          </a:p>
          <a:p xmlns:a="http://schemas.openxmlformats.org/drawingml/2006/main">
            <a:r>
              <a:t>Interpretation and failure: By-products may earn revenue. Their quality, price and conversion cost need evidence.</a:t>
            </a:r>
          </a:p>
          <a:p xmlns:a="http://schemas.openxmlformats.org/drawingml/2006/main">
            <a:r>
              <a:t>Sensitivity: At 95% main yield, input is 105,263t. Reconcile the remaining mass separately.</a:t>
            </a:r>
          </a:p>
          <a:p xmlns:a="http://schemas.openxmlformats.org/drawingml/2006/main">
            <a:r>
              <a:t>Lineage: C-E04; Calculation_Audit; scripts/olam-package.py examples.</a:t>
            </a:r>
          </a:p>
          <a:p xmlns:a="http://schemas.openxmlformats.org/drawingml/2006/main">
            <a:r>
              <a:t>Source lineage: </a:t>
            </a:r>
          </a:p>
          <a:p xmlns:a="http://schemas.openxmlformats.org/drawingml/2006/main">
            <a:r>
              <a:t>Assumptions: A_EXAMPLE</a:t>
            </a:r>
          </a:p>
          <a:p xmlns:a="http://schemas.openxmlformats.org/drawingml/2006/main">
            <a:r>
              <a:t>Calculations: C-E04</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C-E04;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B costs 3.57% less per usable kg</a:t>
            </a:r>
          </a:p>
          <a:p xmlns:a="http://schemas.openxmlformats.org/drawingml/2006/main">
            <a:r>
              <a:t/>
            </a:r>
          </a:p>
          <a:p xmlns:a="http://schemas.openxmlformats.org/drawingml/2006/main">
            <a:r>
              <a:t>Evidence: Chosen assumptions only; no reported calibration. Business question: Customer cost per usable output</a:t>
            </a:r>
          </a:p>
          <a:p xmlns:a="http://schemas.openxmlformats.org/drawingml/2006/main">
            <a:r>
              <a:t>Intuition: Purchase and preparation cost / usable output</a:t>
            </a:r>
          </a:p>
          <a:p xmlns:a="http://schemas.openxmlformats.org/drawingml/2006/main">
            <a:r>
              <a:t>Formula and variable units: Offer A: (USD30 + USD5) / 45kg = USD0.7778/kg. Offer B: (USD32 + USD4) / 48kg = USD0.7500/kg.</a:t>
            </a:r>
          </a:p>
          <a:p xmlns:a="http://schemas.openxmlformats.org/drawingml/2006/main">
            <a:r>
              <a:t>Inputs: Illustrative example—not Olam data; input register I-E05</a:t>
            </a:r>
          </a:p>
          <a:p xmlns:a="http://schemas.openxmlformats.org/drawingml/2006/main">
            <a:r>
              <a:t>Substitution/result: B costs 3.57% less per usable kg</a:t>
            </a:r>
          </a:p>
          <a:p xmlns:a="http://schemas.openxmlformats.org/drawingml/2006/main">
            <a:r>
              <a:t>Interpretation and failure: Chosen flour-like inputs. Paid adoption also depends on cash, trust and availability.</a:t>
            </a:r>
          </a:p>
          <a:p xmlns:a="http://schemas.openxmlformats.org/drawingml/2006/main">
            <a:r>
              <a:t>Sensitivity: If B produces only 45kg, cost rises to USD0.80/kg and reverses the advantage.</a:t>
            </a:r>
          </a:p>
          <a:p xmlns:a="http://schemas.openxmlformats.org/drawingml/2006/main">
            <a:r>
              <a:t>Lineage: C-E05; Calculation_Audit; scripts/olam-package.py examples.</a:t>
            </a:r>
          </a:p>
          <a:p xmlns:a="http://schemas.openxmlformats.org/drawingml/2006/main">
            <a:r>
              <a:t>Source lineage: </a:t>
            </a:r>
          </a:p>
          <a:p xmlns:a="http://schemas.openxmlformats.org/drawingml/2006/main">
            <a:r>
              <a:t>Assumptions: A_EXAMPLE</a:t>
            </a:r>
          </a:p>
          <a:p xmlns:a="http://schemas.openxmlformats.org/drawingml/2006/main">
            <a:r>
              <a:t>Calculations: C-E05</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C-E05;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Small cash ticket ₦600; large pack 14.29% cheaper per meal</a:t>
            </a:r>
          </a:p>
          <a:p xmlns:a="http://schemas.openxmlformats.org/drawingml/2006/main">
            <a:r>
              <a:t/>
            </a:r>
          </a:p>
          <a:p xmlns:a="http://schemas.openxmlformats.org/drawingml/2006/main">
            <a:r>
              <a:t>Evidence: Chosen assumptions only; no reported calibration. Business question: Pack cash and cost per meal</a:t>
            </a:r>
          </a:p>
          <a:p xmlns:a="http://schemas.openxmlformats.org/drawingml/2006/main">
            <a:r>
              <a:t>Intuition: Cash ticket differs from cost per use; assume 100g dry input per meal</a:t>
            </a:r>
          </a:p>
          <a:p xmlns:a="http://schemas.openxmlformats.org/drawingml/2006/main">
            <a:r>
              <a:t>Formula and variable units: Small: (₦600 + ₦100 prep) / 5 meals = ₦140/meal. Large: (₦2,000 + ₦400 prep) / 20 meals = ₦120/meal.</a:t>
            </a:r>
          </a:p>
          <a:p xmlns:a="http://schemas.openxmlformats.org/drawingml/2006/main">
            <a:r>
              <a:t>Inputs: Illustrative example—not Olam data; input register I-E06</a:t>
            </a:r>
          </a:p>
          <a:p xmlns:a="http://schemas.openxmlformats.org/drawingml/2006/main">
            <a:r>
              <a:t>Substitution/result: Small cash ticket ₦600; large pack 14.29% cheaper per meal</a:t>
            </a:r>
          </a:p>
          <a:p xmlns:a="http://schemas.openxmlformats.org/drawingml/2006/main">
            <a:r>
              <a:t>Interpretation and failure: Chosen Nigerian cash units and serving size. The large pack needs more upfront cash.</a:t>
            </a:r>
          </a:p>
          <a:p xmlns:a="http://schemas.openxmlformats.org/drawingml/2006/main">
            <a:r>
              <a:t>Sensitivity: Large purchase cash is 3.33 times the small pack, despite lower cost per meal.</a:t>
            </a:r>
          </a:p>
          <a:p xmlns:a="http://schemas.openxmlformats.org/drawingml/2006/main">
            <a:r>
              <a:t>Lineage: C-E06; Calculation_Audit; scripts/olam-package.py examples.</a:t>
            </a:r>
          </a:p>
          <a:p xmlns:a="http://schemas.openxmlformats.org/drawingml/2006/main">
            <a:r>
              <a:t>Source lineage: </a:t>
            </a:r>
          </a:p>
          <a:p xmlns:a="http://schemas.openxmlformats.org/drawingml/2006/main">
            <a:r>
              <a:t>Assumptions: A_EXAMPLE</a:t>
            </a:r>
          </a:p>
          <a:p xmlns:a="http://schemas.openxmlformats.org/drawingml/2006/main">
            <a:r>
              <a:t>Calculations: C-E06</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C-E06;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2 percentage points; 25% relative increase</a:t>
            </a:r>
          </a:p>
          <a:p xmlns:a="http://schemas.openxmlformats.org/drawingml/2006/main">
            <a:r>
              <a:t/>
            </a:r>
          </a:p>
          <a:p xmlns:a="http://schemas.openxmlformats.org/drawingml/2006/main">
            <a:r>
              <a:t>Evidence: Chosen assumptions only; no reported calibration. Business question: Percent versus percentage points</a:t>
            </a:r>
          </a:p>
          <a:p xmlns:a="http://schemas.openxmlformats.org/drawingml/2006/main">
            <a:r>
              <a:t>Intuition: Distinguish absolute percentage-point change from relative percentage change</a:t>
            </a:r>
          </a:p>
          <a:p xmlns:a="http://schemas.openxmlformats.org/drawingml/2006/main">
            <a:r>
              <a:t>Formula and variable units: 10% − 8% = 2 percentage points. Relative increase = (10 − 8) / 8 = 25%.</a:t>
            </a:r>
          </a:p>
          <a:p xmlns:a="http://schemas.openxmlformats.org/drawingml/2006/main">
            <a:r>
              <a:t>Inputs: Illustrative example—not Olam data; input register I-E07</a:t>
            </a:r>
          </a:p>
          <a:p xmlns:a="http://schemas.openxmlformats.org/drawingml/2006/main">
            <a:r>
              <a:t>Substitution/result: 2 percentage points; 25% relative increase</a:t>
            </a:r>
          </a:p>
          <a:p xmlns:a="http://schemas.openxmlformats.org/drawingml/2006/main">
            <a:r>
              <a:t>Interpretation and failure: A margin change is not the same measure as revenue growth.</a:t>
            </a:r>
          </a:p>
          <a:p xmlns:a="http://schemas.openxmlformats.org/drawingml/2006/main">
            <a:r>
              <a:t>Sensitivity: On USD100 revenue, profit rises from USD8 to USD10.</a:t>
            </a:r>
          </a:p>
          <a:p xmlns:a="http://schemas.openxmlformats.org/drawingml/2006/main">
            <a:r>
              <a:t>Lineage: C-E07; Calculation_Audit; scripts/olam-package.py examples.</a:t>
            </a:r>
          </a:p>
          <a:p xmlns:a="http://schemas.openxmlformats.org/drawingml/2006/main">
            <a:r>
              <a:t>Source lineage: </a:t>
            </a:r>
          </a:p>
          <a:p xmlns:a="http://schemas.openxmlformats.org/drawingml/2006/main">
            <a:r>
              <a:t>Assumptions: A_EXAMPLE</a:t>
            </a:r>
          </a:p>
          <a:p xmlns:a="http://schemas.openxmlformats.org/drawingml/2006/main">
            <a:r>
              <a:t>Calculations: C-E07</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C-E07;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USD1.25m free cash flow</a:t>
            </a:r>
          </a:p>
          <a:p xmlns:a="http://schemas.openxmlformats.org/drawingml/2006/main">
            <a:r>
              <a:t/>
            </a:r>
          </a:p>
          <a:p xmlns:a="http://schemas.openxmlformats.org/drawingml/2006/main">
            <a:r>
              <a:t>Evidence: Chosen assumptions only; no reported calibration. Business question: Profit to free cash</a:t>
            </a:r>
          </a:p>
          <a:p xmlns:a="http://schemas.openxmlformats.org/drawingml/2006/main">
            <a:r>
              <a:t>Intuition: EBIT less tax, plus D&amp;A, less maintenance/growth capex and change in NWC</a:t>
            </a:r>
          </a:p>
          <a:p xmlns:a="http://schemas.openxmlformats.org/drawingml/2006/main">
            <a:r>
              <a:t>Formula and variable units: EBITDA 4 − D&amp;A 1 = EBIT 3; tax = 0.75. FCFF = 3 − 0.75 + 1 − 0.6 − 0.4 − 1 = 1.25 (USDm).</a:t>
            </a:r>
          </a:p>
          <a:p xmlns:a="http://schemas.openxmlformats.org/drawingml/2006/main">
            <a:r>
              <a:t>Inputs: Illustrative example—not Olam data; input register I-E08</a:t>
            </a:r>
          </a:p>
          <a:p xmlns:a="http://schemas.openxmlformats.org/drawingml/2006/main">
            <a:r>
              <a:t>Substitution/result: USD1.25m free cash flow</a:t>
            </a:r>
          </a:p>
          <a:p xmlns:a="http://schemas.openxmlformats.org/drawingml/2006/main">
            <a:r>
              <a:t>Interpretation and failure: Assume no prior tax losses, 25% tax, USD0.6m maintenance and USD0.4m growth capex.</a:t>
            </a:r>
          </a:p>
          <a:p xmlns:a="http://schemas.openxmlformats.org/drawingml/2006/main">
            <a:r>
              <a:t>Sensitivity: If NWC does not increase, this period’s cash rises by USD1m.</a:t>
            </a:r>
          </a:p>
          <a:p xmlns:a="http://schemas.openxmlformats.org/drawingml/2006/main">
            <a:r>
              <a:t>Lineage: C-E08; Calculation_Audit; scripts/olam-package.py examples.</a:t>
            </a:r>
          </a:p>
          <a:p xmlns:a="http://schemas.openxmlformats.org/drawingml/2006/main">
            <a:r>
              <a:t>Source lineage: </a:t>
            </a:r>
          </a:p>
          <a:p xmlns:a="http://schemas.openxmlformats.org/drawingml/2006/main">
            <a:r>
              <a:t>Assumptions: A_EXAMPLE</a:t>
            </a:r>
          </a:p>
          <a:p xmlns:a="http://schemas.openxmlformats.org/drawingml/2006/main">
            <a:r>
              <a:t>Calculations: C-E08</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C-E08;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USD1.20m once-only cash release</a:t>
            </a:r>
          </a:p>
          <a:p xmlns:a="http://schemas.openxmlformats.org/drawingml/2006/main">
            <a:r>
              <a:t/>
            </a:r>
          </a:p>
          <a:p xmlns:a="http://schemas.openxmlformats.org/drawingml/2006/main">
            <a:r>
              <a:t>Evidence: Chosen assumptions only; no reported calibration. Business question: Working-capital release</a:t>
            </a:r>
          </a:p>
          <a:p xmlns:a="http://schemas.openxmlformats.org/drawingml/2006/main">
            <a:r>
              <a:t>Intuition: Revenue basis for receivables; cost basis for inventory; DPO unchanged</a:t>
            </a:r>
          </a:p>
          <a:p xmlns:a="http://schemas.openxmlformats.org/drawingml/2006/main">
            <a:r>
              <a:t>Formula and variable units: AR: USD40m × 5 / 365 = USD0.547945m. Inventory: USD34m × 7 / 365 = USD0.652055m. Total = USD1.20m.</a:t>
            </a:r>
          </a:p>
          <a:p xmlns:a="http://schemas.openxmlformats.org/drawingml/2006/main">
            <a:r>
              <a:t>Inputs: Illustrative example—not Olam data; input register I-E09</a:t>
            </a:r>
          </a:p>
          <a:p xmlns:a="http://schemas.openxmlformats.org/drawingml/2006/main">
            <a:r>
              <a:t>Substitution/result: USD1.20m once-only cash release</a:t>
            </a:r>
          </a:p>
          <a:p xmlns:a="http://schemas.openxmlformats.org/drawingml/2006/main">
            <a:r>
              <a:t>Interpretation and failure: All sales are credit in this example. The transition release is not recurring annual profit.</a:t>
            </a:r>
          </a:p>
          <a:p xmlns:a="http://schemas.openxmlformats.org/drawingml/2006/main">
            <a:r>
              <a:t>Sensitivity: One further DSO day releases USD0.109589m at this sales base.</a:t>
            </a:r>
          </a:p>
          <a:p xmlns:a="http://schemas.openxmlformats.org/drawingml/2006/main">
            <a:r>
              <a:t>Lineage: C-E09; Calculation_Audit; scripts/olam-package.py examples.</a:t>
            </a:r>
          </a:p>
          <a:p xmlns:a="http://schemas.openxmlformats.org/drawingml/2006/main">
            <a:r>
              <a:t>Source lineage: </a:t>
            </a:r>
          </a:p>
          <a:p xmlns:a="http://schemas.openxmlformats.org/drawingml/2006/main">
            <a:r>
              <a:t>Assumptions: A_EXAMPLE</a:t>
            </a:r>
          </a:p>
          <a:p xmlns:a="http://schemas.openxmlformats.org/drawingml/2006/main">
            <a:r>
              <a:t>Calculations: C-E09</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C-E09;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NPV −NGN2.0645bn; zero-NPV uplift NGN1.9928bn/year</a:t>
            </a:r>
          </a:p>
          <a:p xmlns:a="http://schemas.openxmlformats.org/drawingml/2006/main">
            <a:r>
              <a:t/>
            </a:r>
          </a:p>
          <a:p xmlns:a="http://schemas.openxmlformats.org/drawingml/2006/main">
            <a:r>
              <a:t>Evidence: BASELINE. Business question: Inherited Nigeria screen</a:t>
            </a:r>
          </a:p>
          <a:p xmlns:a="http://schemas.openxmlformats.org/drawingml/2006/main">
            <a:r>
              <a:t>Intuition: Inherited additive uplift and sales-day proxy; ramped three-year DCF</a:t>
            </a:r>
          </a:p>
          <a:p xmlns:a="http://schemas.openxmlformats.org/drawingml/2006/main">
            <a:r>
              <a:t>Formula and variable units: 100 × (2% + 2%) × 8% + 0.7 + 0.6 − 0.4 − 0.45 − 0.30 = 0.47; 100 × 7 / 365 = 1.9178 (NGNbn).</a:t>
            </a:r>
          </a:p>
          <a:p xmlns:a="http://schemas.openxmlformats.org/drawingml/2006/main">
            <a:r>
              <a:t>Inputs: Illustrative example—not Olam data; input register I-E10</a:t>
            </a:r>
          </a:p>
          <a:p xmlns:a="http://schemas.openxmlformats.org/drawingml/2006/main">
            <a:r>
              <a:t>Substitution/result: NPV −NGN2.0645bn; zero-NPV uplift NGN1.9928bn/year</a:t>
            </a:r>
          </a:p>
          <a:p xmlns:a="http://schemas.openxmlformats.org/drawingml/2006/main">
            <a:r>
              <a:t>Interpretation and failure: NGN4.2bn initial capital; 28% hurdle; 50/80/100% benefit ramp. Tax, replacement and actual cash bases are absent.</a:t>
            </a:r>
          </a:p>
          <a:p xmlns:a="http://schemas.openxmlformats.org/drawingml/2006/main">
            <a:r>
              <a:t>Sensitivity: Repair procurement FX overlap, AR/inventory/AP, capex, tax and currency before a production decision.</a:t>
            </a:r>
          </a:p>
          <a:p xmlns:a="http://schemas.openxmlformats.org/drawingml/2006/main">
            <a:r>
              <a:t>Lineage: C-E10; Calculation_Audit; scripts/olam-package.py examples.</a:t>
            </a:r>
          </a:p>
          <a:p xmlns:a="http://schemas.openxmlformats.org/drawingml/2006/main">
            <a:r>
              <a:t>Source lineage: BASELINE</a:t>
            </a:r>
          </a:p>
          <a:p xmlns:a="http://schemas.openxmlformats.org/drawingml/2006/main">
            <a:r>
              <a:t>Assumptions: A_EXAMPLE</a:t>
            </a:r>
          </a:p>
          <a:p xmlns:a="http://schemas.openxmlformats.org/drawingml/2006/main">
            <a:r>
              <a:t>Calculations: C-E10</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BASELINE; C-E10; source-book, calculation-appendix, CEO-question register, priority-commercial-plans and requirements-audit. Public package /case-studies/olam-global/.</a:t>
            </a:r>
          </a:p>
          <a:p xmlns:a="http://schemas.openxmlformats.org/drawingml/2006/main">
            <a:r>
              <a:t/>
            </a:r>
          </a:p>
          <a:p xmlns:a="http://schemas.openxmlformats.org/drawingml/2006/main">
            <a:r>
              <a:t>BASELINE | Portfolio baseline and résumé</a:t>
            </a:r>
          </a:p>
          <a:p xmlns:a="http://schemas.openxmlformats.org/drawingml/2006/main">
            <a:r>
              <a:t>https://github.com/ManashProtimDeori/Manash-Protim-Deori/tree/13f7393a1c69350c3cfa89bea1baa49cf08d042c</a:t>
            </a:r>
          </a:p>
          <a:p xmlns:a="http://schemas.openxmlformats.org/drawingml/2006/main">
            <a:r>
              <a:t>src/data/olamAfricaStrategy.ts; src/lib/olamNigeriaDecisionModel.ts; src/data/resume.ts</a:t>
            </a:r>
          </a:p>
          <a:p xmlns:a="http://schemas.openxmlformats.org/drawingml/2006/main">
            <a:r>
              <a:t>Self-described candidate achievements are not audited Olam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21% combined input-cost increase</a:t>
            </a:r>
          </a:p>
          <a:p xmlns:a="http://schemas.openxmlformats.org/drawingml/2006/main">
            <a:r>
              <a:t/>
            </a:r>
          </a:p>
          <a:p xmlns:a="http://schemas.openxmlformats.org/drawingml/2006/main">
            <a:r>
              <a:t>Evidence: Chosen assumptions only; no reported calibration. Business question: FX and commodity interaction</a:t>
            </a:r>
          </a:p>
          <a:p xmlns:a="http://schemas.openxmlformats.org/drawingml/2006/main">
            <a:r>
              <a:t>Intuition: Local imported cost = USD commodity price × local currency per USD</a:t>
            </a:r>
          </a:p>
          <a:p xmlns:a="http://schemas.openxmlformats.org/drawingml/2006/main">
            <a:r>
              <a:t>Formula and variable units: USD100 × ₦1,000/USD = ₦100,000. With both factors +10%: USD110 × ₦1,100 = ₦121,000, or +21%.</a:t>
            </a:r>
          </a:p>
          <a:p xmlns:a="http://schemas.openxmlformats.org/drawingml/2006/main">
            <a:r>
              <a:t>Inputs: Illustrative example—not Olam data; input register I-E11</a:t>
            </a:r>
          </a:p>
          <a:p xmlns:a="http://schemas.openxmlformats.org/drawingml/2006/main">
            <a:r>
              <a:t>Substitution/result: 21% combined input-cost increase</a:t>
            </a:r>
          </a:p>
          <a:p xmlns:a="http://schemas.openxmlformats.org/drawingml/2006/main">
            <a:r>
              <a:t>Interpretation and failure: Both shocks hit the same procurement base. Hedge effects need documented contracts.</a:t>
            </a:r>
          </a:p>
          <a:p xmlns:a="http://schemas.openxmlformats.org/drawingml/2006/main">
            <a:r>
              <a:t>Sensitivity: Chosen 70% cost pass-through recovers 14.7% initially; weaker customer volume may reduce retained margin.</a:t>
            </a:r>
          </a:p>
          <a:p xmlns:a="http://schemas.openxmlformats.org/drawingml/2006/main">
            <a:r>
              <a:t>Lineage: C-E11; Calculation_Audit; scripts/olam-package.py examples.</a:t>
            </a:r>
          </a:p>
          <a:p xmlns:a="http://schemas.openxmlformats.org/drawingml/2006/main">
            <a:r>
              <a:t>Source lineage: </a:t>
            </a:r>
          </a:p>
          <a:p xmlns:a="http://schemas.openxmlformats.org/drawingml/2006/main">
            <a:r>
              <a:t>Assumptions: A_EXAMPLE</a:t>
            </a:r>
          </a:p>
          <a:p xmlns:a="http://schemas.openxmlformats.org/drawingml/2006/main">
            <a:r>
              <a:t>Calculations: C-E11</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C-E11;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NPV −USD0.0263m</a:t>
            </a:r>
          </a:p>
          <a:p xmlns:a="http://schemas.openxmlformats.org/drawingml/2006/main">
            <a:r>
              <a:t/>
            </a:r>
          </a:p>
          <a:p xmlns:a="http://schemas.openxmlformats.org/drawingml/2006/main">
            <a:r>
              <a:t>Evidence: Chosen assumptions only; no reported calibration. Business question: Finite NPV and commissioning</a:t>
            </a:r>
          </a:p>
          <a:p xmlns:a="http://schemas.openxmlformats.org/drawingml/2006/main">
            <a:r>
              <a:t>Intuition: Discount each dated free cash flow; do not compare only undiscounted totals</a:t>
            </a:r>
          </a:p>
          <a:p xmlns:a="http://schemas.openxmlformats.org/drawingml/2006/main">
            <a:r>
              <a:t>Formula and variable units: NPV = −5 + 2/1.10 + 2/1.10² + 2/1.10³ = −0.0263 (USDm).</a:t>
            </a:r>
          </a:p>
          <a:p xmlns:a="http://schemas.openxmlformats.org/drawingml/2006/main">
            <a:r>
              <a:t>Inputs: Illustrative example—not Olam data; input register I-E12</a:t>
            </a:r>
          </a:p>
          <a:p xmlns:a="http://schemas.openxmlformats.org/drawingml/2006/main">
            <a:r>
              <a:t>Substitution/result: NPV −USD0.0263m</a:t>
            </a:r>
          </a:p>
          <a:p xmlns:a="http://schemas.openxmlformats.org/drawingml/2006/main">
            <a:r>
              <a:t>Interpretation and failure: No terminal value. Staging USD3m now and USD2m in year 1, with cash in years 2–4, gives −USD0.2966m.</a:t>
            </a:r>
          </a:p>
          <a:p xmlns:a="http://schemas.openxmlformats.org/drawingml/2006/main">
            <a:r>
              <a:t>Sensitivity: Paying USD5m now with a one-year cash delay gives −USD0.4784m.</a:t>
            </a:r>
          </a:p>
          <a:p xmlns:a="http://schemas.openxmlformats.org/drawingml/2006/main">
            <a:r>
              <a:t>Lineage: C-E12; Calculation_Audit; scripts/olam-package.py examples.</a:t>
            </a:r>
          </a:p>
          <a:p xmlns:a="http://schemas.openxmlformats.org/drawingml/2006/main">
            <a:r>
              <a:t>Source lineage: </a:t>
            </a:r>
          </a:p>
          <a:p xmlns:a="http://schemas.openxmlformats.org/drawingml/2006/main">
            <a:r>
              <a:t>Assumptions: A_EXAMPLE</a:t>
            </a:r>
          </a:p>
          <a:p xmlns:a="http://schemas.openxmlformats.org/drawingml/2006/main">
            <a:r>
              <a:t>Calculations: C-E12</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C-E12;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Real and nominal three-year NPVs both −USD0.0263m</a:t>
            </a:r>
          </a:p>
          <a:p xmlns:a="http://schemas.openxmlformats.org/drawingml/2006/main">
            <a:r>
              <a:t/>
            </a:r>
          </a:p>
          <a:p xmlns:a="http://schemas.openxmlformats.org/drawingml/2006/main">
            <a:r>
              <a:t>Evidence: Chosen assumptions only; no reported calibration. Business question: Real and nominal consistency</a:t>
            </a:r>
          </a:p>
          <a:p xmlns:a="http://schemas.openxmlformats.org/drawingml/2006/main">
            <a:r>
              <a:t>Intuition: Consistent inflation of both cash and discount rate preserves NPV</a:t>
            </a:r>
          </a:p>
          <a:p xmlns:a="http://schemas.openxmlformats.org/drawingml/2006/main">
            <a:r>
              <a:t>Formula and variable units: (1.10 × 1.05) − 1 = 15.5% nominal hurdle. Year 1: 2.10 / 1.155 = 2.00 / 1.10.</a:t>
            </a:r>
          </a:p>
          <a:p xmlns:a="http://schemas.openxmlformats.org/drawingml/2006/main">
            <a:r>
              <a:t>Inputs: Illustrative example—not Olam data; input register I-E13</a:t>
            </a:r>
          </a:p>
          <a:p xmlns:a="http://schemas.openxmlformats.org/drawingml/2006/main">
            <a:r>
              <a:t>Substitution/result: Real and nominal three-year NPVs both −USD0.0263m</a:t>
            </a:r>
          </a:p>
          <a:p xmlns:a="http://schemas.openxmlformats.org/drawingml/2006/main">
            <a:r>
              <a:t>Interpretation and failure: Nominal cash grows by 5% inflation and is discounted at 15.5%. Project and currency risk require separate care.</a:t>
            </a:r>
          </a:p>
          <a:p xmlns:a="http://schemas.openxmlformats.org/drawingml/2006/main">
            <a:r>
              <a:t>Sensitivity: Mixing nominal cash with a real hurdle overstates value.</a:t>
            </a:r>
          </a:p>
          <a:p xmlns:a="http://schemas.openxmlformats.org/drawingml/2006/main">
            <a:r>
              <a:t>Lineage: C-E13; Calculation_Audit; scripts/olam-package.py examples.</a:t>
            </a:r>
          </a:p>
          <a:p xmlns:a="http://schemas.openxmlformats.org/drawingml/2006/main">
            <a:r>
              <a:t>Source lineage: </a:t>
            </a:r>
          </a:p>
          <a:p xmlns:a="http://schemas.openxmlformats.org/drawingml/2006/main">
            <a:r>
              <a:t>Assumptions: A_EXAMPLE</a:t>
            </a:r>
          </a:p>
          <a:p xmlns:a="http://schemas.openxmlformats.org/drawingml/2006/main">
            <a:r>
              <a:t>Calculations: C-E13</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C-E13;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Operating 33,333t; investment boundary 104,862 initial order tonnes</a:t>
            </a:r>
          </a:p>
          <a:p xmlns:a="http://schemas.openxmlformats.org/drawingml/2006/main">
            <a:r>
              <a:t/>
            </a:r>
          </a:p>
          <a:p xmlns:a="http://schemas.openxmlformats.org/drawingml/2006/main">
            <a:r>
              <a:t>Evidence: Chosen assumptions only; no reported calibration. Business question: Operating versus investment break-even</a:t>
            </a:r>
          </a:p>
          <a:p xmlns:a="http://schemas.openxmlformats.org/drawingml/2006/main">
            <a:r>
              <a:t>Intuition: Operating break-even pays fixed cash cost; investment break-even also pays capital</a:t>
            </a:r>
          </a:p>
          <a:p xmlns:a="http://schemas.openxmlformats.org/drawingml/2006/main">
            <a:r>
              <a:t>Formula and variable units: USD2m / (USD400 − USD340 per tonne) = 33,333t; / 150,000t capacity = 22.22% utilization.</a:t>
            </a:r>
          </a:p>
          <a:p xmlns:a="http://schemas.openxmlformats.org/drawingml/2006/main">
            <a:r>
              <a:t>Inputs: Illustrative example—not Olam data; input register I-E14</a:t>
            </a:r>
          </a:p>
          <a:p xmlns:a="http://schemas.openxmlformats.org/drawingml/2006/main">
            <a:r>
              <a:t>Substitution/result: Operating 33,333t; investment boundary 104,862 initial order tonnes</a:t>
            </a:r>
          </a:p>
          <a:p xmlns:a="http://schemas.openxmlformats.org/drawingml/2006/main">
            <a:r>
              <a:t>Interpretation and failure: Full NPV includes ramp, tax, replacement, working cash and the finite horizon.</a:t>
            </a:r>
          </a:p>
          <a:p xmlns:a="http://schemas.openxmlformats.org/drawingml/2006/main">
            <a:r>
              <a:t>Sensitivity: Operating above 22.22% utilization can still give negative investment NPV.</a:t>
            </a:r>
          </a:p>
          <a:p xmlns:a="http://schemas.openxmlformats.org/drawingml/2006/main">
            <a:r>
              <a:t>Lineage: C-E14; Calculation_Audit; scripts/olam-package.py examples.</a:t>
            </a:r>
          </a:p>
          <a:p xmlns:a="http://schemas.openxmlformats.org/drawingml/2006/main">
            <a:r>
              <a:t>Source lineage: </a:t>
            </a:r>
          </a:p>
          <a:p xmlns:a="http://schemas.openxmlformats.org/drawingml/2006/main">
            <a:r>
              <a:t>Assumptions: A_EXAMPLE</a:t>
            </a:r>
          </a:p>
          <a:p xmlns:a="http://schemas.openxmlformats.org/drawingml/2006/main">
            <a:r>
              <a:t>Calculations: C-E14</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C-E14;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USD3m judgement-weighted mean</a:t>
            </a:r>
          </a:p>
          <a:p xmlns:a="http://schemas.openxmlformats.org/drawingml/2006/main">
            <a:r>
              <a:t/>
            </a:r>
          </a:p>
          <a:p xmlns:a="http://schemas.openxmlformats.org/drawingml/2006/main">
            <a:r>
              <a:t>Evidence: Chosen assumptions only; no reported calibration. Business question: Scenario weights are not likelihood</a:t>
            </a:r>
          </a:p>
          <a:p xmlns:a="http://schemas.openxmlformats.org/drawingml/2006/main">
            <a:r>
              <a:t>Intuition: Weighted average = sum of chosen weight × conditional NPV</a:t>
            </a:r>
          </a:p>
          <a:p xmlns:a="http://schemas.openxmlformats.org/drawingml/2006/main">
            <a:r>
              <a:t>Formula and variable units: Chosen NPVs [10, −8, 2] and weights [0.5, 0.3, 0.2]: 5 − 2.4 + 0.4 = USD3m.</a:t>
            </a:r>
          </a:p>
          <a:p xmlns:a="http://schemas.openxmlformats.org/drawingml/2006/main">
            <a:r>
              <a:t>Inputs: Illustrative example—not Olam data; input register I-E15</a:t>
            </a:r>
          </a:p>
          <a:p xmlns:a="http://schemas.openxmlformats.org/drawingml/2006/main">
            <a:r>
              <a:t>Substitution/result: USD3m judgement-weighted mean</a:t>
            </a:r>
          </a:p>
          <a:p xmlns:a="http://schemas.openxmlformats.org/drawingml/2006/main">
            <a:r>
              <a:t>Interpretation and failure: The central USD10m case is not a calibrated most-likely future. The adverse loss can breach funding.</a:t>
            </a:r>
          </a:p>
          <a:p xmlns:a="http://schemas.openxmlformats.org/drawingml/2006/main">
            <a:r>
              <a:t>Sensitivity: If adverse weight is 0.5 and central weight 0.3, the mean becomes −USD0.6m.</a:t>
            </a:r>
          </a:p>
          <a:p xmlns:a="http://schemas.openxmlformats.org/drawingml/2006/main">
            <a:r>
              <a:t>Lineage: C-E15; Calculation_Audit; scripts/olam-package.py examples.</a:t>
            </a:r>
          </a:p>
          <a:p xmlns:a="http://schemas.openxmlformats.org/drawingml/2006/main">
            <a:r>
              <a:t>Source lineage: </a:t>
            </a:r>
          </a:p>
          <a:p xmlns:a="http://schemas.openxmlformats.org/drawingml/2006/main">
            <a:r>
              <a:t>Assumptions: A_EXAMPLE</a:t>
            </a:r>
          </a:p>
          <a:p xmlns:a="http://schemas.openxmlformats.org/drawingml/2006/main">
            <a:r>
              <a:t>Calculations: C-E15</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C-E15;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Loss VaR80 USD4m; tail CVaR80 USD8m</a:t>
            </a:r>
          </a:p>
          <a:p xmlns:a="http://schemas.openxmlformats.org/drawingml/2006/main">
            <a:r>
              <a:t/>
            </a:r>
          </a:p>
          <a:p xmlns:a="http://schemas.openxmlformats.org/drawingml/2006/main">
            <a:r>
              <a:t>Evidence: CVAR. Business question: Loss-tail VaR and CVaR</a:t>
            </a:r>
          </a:p>
          <a:p xmlns:a="http://schemas.openxmlformats.org/drawingml/2006/main">
            <a:r>
              <a:t>Intuition: Loss = max(0, −NPV); a quantile differs from the mean of a chosen tail</a:t>
            </a:r>
          </a:p>
          <a:p xmlns:a="http://schemas.openxmlformats.org/drawingml/2006/main">
            <a:r>
              <a:t>Formula and variable units: NPVs [−8, −4, 0, 2, 6] imply losses [0, 0, 0, 4, 8]. Nearest-rank VaR80 = 4; worst-20% CVaR80 = 8 (USDm).</a:t>
            </a:r>
          </a:p>
          <a:p xmlns:a="http://schemas.openxmlformats.org/drawingml/2006/main">
            <a:r>
              <a:t>Inputs: Illustrative example—not Olam data; input register I-E16</a:t>
            </a:r>
          </a:p>
          <a:p xmlns:a="http://schemas.openxmlformats.org/drawingml/2006/main">
            <a:r>
              <a:t>Substitution/result: Loss VaR80 USD4m; tail CVaR80 USD8m</a:t>
            </a:r>
          </a:p>
          <a:p xmlns:a="http://schemas.openxmlformats.org/drawingml/2006/main">
            <a:r>
              <a:t>Interpretation and failure: Declare discrete tie treatment: mean(loss ≥ VaR) would be USD6m here, a different convention.</a:t>
            </a:r>
          </a:p>
          <a:p xmlns:a="http://schemas.openxmlformats.org/drawingml/2006/main">
            <a:r>
              <a:t>Sensitivity: Stress code uses mean(loss ≥ 95% quantile). Its chosen continuous generator has negligible ties.</a:t>
            </a:r>
          </a:p>
          <a:p xmlns:a="http://schemas.openxmlformats.org/drawingml/2006/main">
            <a:r>
              <a:t>Lineage: C-E16; Calculation_Audit; scripts/olam-package.py examples.</a:t>
            </a:r>
          </a:p>
          <a:p xmlns:a="http://schemas.openxmlformats.org/drawingml/2006/main">
            <a:r>
              <a:t>Source lineage: CVAR</a:t>
            </a:r>
          </a:p>
          <a:p xmlns:a="http://schemas.openxmlformats.org/drawingml/2006/main">
            <a:r>
              <a:t>Assumptions: A_EXAMPLE</a:t>
            </a:r>
          </a:p>
          <a:p xmlns:a="http://schemas.openxmlformats.org/drawingml/2006/main">
            <a:r>
              <a:t>Calculations: C-E16</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CVAR; C-E16; source-book, calculation-appendix, CEO-question register, priority-commercial-plans and requirements-audit. Public package /case-studies/olam-global/.</a:t>
            </a:r>
          </a:p>
          <a:p xmlns:a="http://schemas.openxmlformats.org/drawingml/2006/main">
            <a:r>
              <a:t/>
            </a:r>
          </a:p>
          <a:p xmlns:a="http://schemas.openxmlformats.org/drawingml/2006/main">
            <a:r>
              <a:t>CVAR | Rockafellar &amp; Uryasev: Optimization of CVaR</a:t>
            </a:r>
          </a:p>
          <a:p xmlns:a="http://schemas.openxmlformats.org/drawingml/2006/main">
            <a:r>
              <a:t>https://sites.math.washington.edu/~rtr/papers/rtr179-CVaR1.pdf</a:t>
            </a:r>
          </a:p>
          <a:p xmlns:a="http://schemas.openxmlformats.org/drawingml/2006/main">
            <a:r>
              <a:t>Loss definition and CVaR optimisation formulation</a:t>
            </a:r>
          </a:p>
          <a:p xmlns:a="http://schemas.openxmlformats.org/drawingml/2006/main">
            <a:r>
              <a:t>Implemented loss-tail example and stress summaries, not proprietary theorem.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Expected total loss USD4m in both; joint tail differs</a:t>
            </a:r>
          </a:p>
          <a:p xmlns:a="http://schemas.openxmlformats.org/drawingml/2006/main">
            <a:r>
              <a:t/>
            </a:r>
          </a:p>
          <a:p xmlns:a="http://schemas.openxmlformats.org/drawingml/2006/main">
            <a:r>
              <a:t>Evidence: Chosen assumptions only; no reported calibration. Business question: Common-exposure diversification</a:t>
            </a:r>
          </a:p>
          <a:p xmlns:a="http://schemas.openxmlformats.org/drawingml/2006/main">
            <a:r>
              <a:t>Intuition: Equal individual average losses can conceal different joint tail exposures</a:t>
            </a:r>
          </a:p>
          <a:p xmlns:a="http://schemas.openxmlformats.org/drawingml/2006/main">
            <a:r>
              <a:t>Formula and variable units: Each source loses USD10m with chosen probability 0.2. A shared port produces joint loss USD20m with probability 0.2; independent joint probability is 0.04.</a:t>
            </a:r>
          </a:p>
          <a:p xmlns:a="http://schemas.openxmlformats.org/drawingml/2006/main">
            <a:r>
              <a:t>Inputs: Illustrative example—not Olam data; input register I-E17</a:t>
            </a:r>
          </a:p>
          <a:p xmlns:a="http://schemas.openxmlformats.org/drawingml/2006/main">
            <a:r>
              <a:t>Substitution/result: Expected total loss USD4m in both; joint tail differs</a:t>
            </a:r>
          </a:p>
          <a:p xmlns:a="http://schemas.openxmlformats.org/drawingml/2006/main">
            <a:r>
              <a:t>Interpretation and failure: Chosen probabilities illustrate dependence. Country flags do not remove a shared crop season or port.</a:t>
            </a:r>
          </a:p>
          <a:p xmlns:a="http://schemas.openxmlformats.org/drawingml/2006/main">
            <a:r>
              <a:t>Sensitivity: A different basin without a different port can leave route exposure unchanged.</a:t>
            </a:r>
          </a:p>
          <a:p xmlns:a="http://schemas.openxmlformats.org/drawingml/2006/main">
            <a:r>
              <a:t>Lineage: C-E17; Calculation_Audit; scripts/olam-package.py examples.</a:t>
            </a:r>
          </a:p>
          <a:p xmlns:a="http://schemas.openxmlformats.org/drawingml/2006/main">
            <a:r>
              <a:t>Source lineage: </a:t>
            </a:r>
          </a:p>
          <a:p xmlns:a="http://schemas.openxmlformats.org/drawingml/2006/main">
            <a:r>
              <a:t>Assumptions: A_EXAMPLE</a:t>
            </a:r>
          </a:p>
          <a:p xmlns:a="http://schemas.openxmlformats.org/drawingml/2006/main">
            <a:r>
              <a:t>Calculations: C-E17</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C-E17;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20 illustrative incremental eligible sales units</a:t>
            </a:r>
          </a:p>
          <a:p xmlns:a="http://schemas.openxmlformats.org/drawingml/2006/main">
            <a:r>
              <a:t/>
            </a:r>
          </a:p>
          <a:p xmlns:a="http://schemas.openxmlformats.org/drawingml/2006/main">
            <a:r>
              <a:t>Evidence: DID. Business question: Difference in differences</a:t>
            </a:r>
          </a:p>
          <a:p xmlns:a="http://schemas.openxmlformats.org/drawingml/2006/main">
            <a:r>
              <a:t>Intuition: Subtract the counterfactual change from the treated change</a:t>
            </a:r>
          </a:p>
          <a:p xmlns:a="http://schemas.openxmlformats.org/drawingml/2006/main">
            <a:r>
              <a:t>Formula and variable units: Treated sales: 100 → 130. Control: 100 → 110. DiD = (130 − 100) − (110 − 100) = 20.</a:t>
            </a:r>
          </a:p>
          <a:p xmlns:a="http://schemas.openxmlformats.org/drawingml/2006/main">
            <a:r>
              <a:t>Inputs: Illustrative example—not Olam data; input register I-E18</a:t>
            </a:r>
          </a:p>
          <a:p xmlns:a="http://schemas.openxmlformats.org/drawingml/2006/main">
            <a:r>
              <a:t>Substitution/result: 20 illustrative incremental eligible sales units</a:t>
            </a:r>
          </a:p>
          <a:p xmlns:a="http://schemas.openxmlformats.org/drawingml/2006/main">
            <a:r>
              <a:t>Interpretation and failure: Parallel trends and no material spillovers are required. Four chosen means cannot support an estimated interval.</a:t>
            </a:r>
          </a:p>
          <a:p xmlns:a="http://schemas.openxmlformats.org/drawingml/2006/main">
            <a:r>
              <a:t>Sensitivity: At USD2 contribution/unit, gross incremental contribution is USD40 before service and pilot cost.</a:t>
            </a:r>
          </a:p>
          <a:p xmlns:a="http://schemas.openxmlformats.org/drawingml/2006/main">
            <a:r>
              <a:t>Lineage: C-E18; Calculation_Audit; scripts/olam-package.py examples.</a:t>
            </a:r>
          </a:p>
          <a:p xmlns:a="http://schemas.openxmlformats.org/drawingml/2006/main">
            <a:r>
              <a:t>Source lineage: DID</a:t>
            </a:r>
          </a:p>
          <a:p xmlns:a="http://schemas.openxmlformats.org/drawingml/2006/main">
            <a:r>
              <a:t>Assumptions: A_EXAMPLE</a:t>
            </a:r>
          </a:p>
          <a:p xmlns:a="http://schemas.openxmlformats.org/drawingml/2006/main">
            <a:r>
              <a:t>Calculations: C-E18</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DID; C-E18; source-book, calculation-appendix, CEO-question register, priority-commercial-plans and requirements-audit. Public package /case-studies/olam-global/.</a:t>
            </a:r>
          </a:p>
          <a:p xmlns:a="http://schemas.openxmlformats.org/drawingml/2006/main">
            <a:r>
              <a:t/>
            </a:r>
          </a:p>
          <a:p xmlns:a="http://schemas.openxmlformats.org/drawingml/2006/main">
            <a:r>
              <a:t>DID | Callaway &amp; Sant’Anna: Difference-in-differences</a:t>
            </a:r>
          </a:p>
          <a:p xmlns:a="http://schemas.openxmlformats.org/drawingml/2006/main">
            <a:r>
              <a:t>https://arxiv.org/abs/1803.09015</a:t>
            </a:r>
          </a:p>
          <a:p xmlns:a="http://schemas.openxmlformats.org/drawingml/2006/main">
            <a:r>
              <a:t>arXiv 1803.09015; identification with multiple time periods</a:t>
            </a:r>
          </a:p>
          <a:p xmlns:a="http://schemas.openxmlformats.org/drawingml/2006/main">
            <a:r>
              <a:t>No Olam treatment effect estimated; pilot design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100% net ROMI; contribution/spend is 2.0 times</a:t>
            </a:r>
          </a:p>
          <a:p xmlns:a="http://schemas.openxmlformats.org/drawingml/2006/main">
            <a:r>
              <a:t/>
            </a:r>
          </a:p>
          <a:p xmlns:a="http://schemas.openxmlformats.org/drawingml/2006/main">
            <a:r>
              <a:t>Evidence: Chosen assumptions only; no reported calibration. Business question: Incremental ROMI</a:t>
            </a:r>
          </a:p>
          <a:p xmlns:a="http://schemas.openxmlformats.org/drawingml/2006/main">
            <a:r>
              <a:t>Intuition: Net incremental contribution after marketing / marketing spend</a:t>
            </a:r>
          </a:p>
          <a:p xmlns:a="http://schemas.openxmlformats.org/drawingml/2006/main">
            <a:r>
              <a:t>Formula and variable units: Incremental contribution 120 − service 20 − trade 10 − cannibalisation 10 = 80. Marketing spend 40. Net ROMI = (80 − 40)/40 = 100%.</a:t>
            </a:r>
          </a:p>
          <a:p xmlns:a="http://schemas.openxmlformats.org/drawingml/2006/main">
            <a:r>
              <a:t>Inputs: Illustrative example—not Olam data; input register I-E19</a:t>
            </a:r>
          </a:p>
          <a:p xmlns:a="http://schemas.openxmlformats.org/drawingml/2006/main">
            <a:r>
              <a:t>Substitution/result: 100% net ROMI; contribution/spend is 2.0 times</a:t>
            </a:r>
          </a:p>
          <a:p xmlns:a="http://schemas.openxmlformats.org/drawingml/2006/main">
            <a:r>
              <a:t>Interpretation and failure: All inputs are chosen currency-thousands. Use a paid-sales counterfactual and full incremental costs.</a:t>
            </a:r>
          </a:p>
          <a:p xmlns:a="http://schemas.openxmlformats.org/drawingml/2006/main">
            <a:r>
              <a:t>Sensitivity: If contribution after other costs is only 40, net ROMI is zero. Multi-year proposals need NPV.</a:t>
            </a:r>
          </a:p>
          <a:p xmlns:a="http://schemas.openxmlformats.org/drawingml/2006/main">
            <a:r>
              <a:t>Lineage: C-E19; Calculation_Audit; scripts/olam-package.py examples.</a:t>
            </a:r>
          </a:p>
          <a:p xmlns:a="http://schemas.openxmlformats.org/drawingml/2006/main">
            <a:r>
              <a:t>Source lineage: </a:t>
            </a:r>
          </a:p>
          <a:p xmlns:a="http://schemas.openxmlformats.org/drawingml/2006/main">
            <a:r>
              <a:t>Assumptions: A_EXAMPLE</a:t>
            </a:r>
          </a:p>
          <a:p xmlns:a="http://schemas.openxmlformats.org/drawingml/2006/main">
            <a:r>
              <a:t>Calculations: C-E19</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C-E19;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USD2.5m net perfect-information ceiling</a:t>
            </a:r>
          </a:p>
          <a:p xmlns:a="http://schemas.openxmlformats.org/drawingml/2006/main">
            <a:r>
              <a:t/>
            </a:r>
          </a:p>
          <a:p xmlns:a="http://schemas.openxmlformats.org/drawingml/2006/main">
            <a:r>
              <a:t>Evidence: Chosen assumptions only; no reported calibration. Business question: Decision value of information</a:t>
            </a:r>
          </a:p>
          <a:p xmlns:a="http://schemas.openxmlformats.org/drawingml/2006/main">
            <a:r>
              <a:t>Intuition: Optimal decision value after information less before information, study and delay costs</a:t>
            </a:r>
          </a:p>
          <a:p xmlns:a="http://schemas.openxmlformats.org/drawingml/2006/main">
            <a:r>
              <a:t>Formula and variable units: Good state p=0.5: investment NPV 10; bad state p=0.5: −8; wait 0. Best prior EV=1; perfect-information EV=5; less study 1 and delay 0.5 gives net gain 2.5.</a:t>
            </a:r>
          </a:p>
          <a:p xmlns:a="http://schemas.openxmlformats.org/drawingml/2006/main">
            <a:r>
              <a:t>Inputs: Illustrative example—not Olam data; input register I-E20</a:t>
            </a:r>
          </a:p>
          <a:p xmlns:a="http://schemas.openxmlformats.org/drawingml/2006/main">
            <a:r>
              <a:t>Substitution/result: USD2.5m net perfect-information ceiling</a:t>
            </a:r>
          </a:p>
          <a:p xmlns:a="http://schemas.openxmlformats.org/drawingml/2006/main">
            <a:r>
              <a:t>Interpretation and failure: A perfect study is an upper bound. Do not add its benefit again to a policy that already includes learning.</a:t>
            </a:r>
          </a:p>
          <a:p xmlns:a="http://schemas.openxmlformats.org/drawingml/2006/main">
            <a:r>
              <a:t>Sensitivity: An imperfect pilot may be worth less than its cost; keep the wait option.</a:t>
            </a:r>
          </a:p>
          <a:p xmlns:a="http://schemas.openxmlformats.org/drawingml/2006/main">
            <a:r>
              <a:t>Lineage: C-E20; Calculation_Audit; scripts/olam-package.py examples.</a:t>
            </a:r>
          </a:p>
          <a:p xmlns:a="http://schemas.openxmlformats.org/drawingml/2006/main">
            <a:r>
              <a:t>Source lineage: </a:t>
            </a:r>
          </a:p>
          <a:p xmlns:a="http://schemas.openxmlformats.org/drawingml/2006/main">
            <a:r>
              <a:t>Assumptions: A_EXAMPLE</a:t>
            </a:r>
          </a:p>
          <a:p xmlns:a="http://schemas.openxmlformats.org/drawingml/2006/main">
            <a:r>
              <a:t>Calculations: C-E20</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C-E20;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About 4.86% more initial orders needed</a:t>
            </a:r>
          </a:p>
          <a:p xmlns:a="http://schemas.openxmlformats.org/drawingml/2006/main">
            <a:r>
              <a:t/>
            </a:r>
          </a:p>
          <a:p xmlns:a="http://schemas.openxmlformats.org/drawingml/2006/main">
            <a:r>
              <a:t>Evidence: Chosen assumptions only; no reported calibration. Business question: Reverse stress</a:t>
            </a:r>
          </a:p>
          <a:p xmlns:a="http://schemas.openxmlformats.org/drawingml/2006/main">
            <a:r>
              <a:t>Intuition: Solve the full NPV root and monitor the mechanism that moves it</a:t>
            </a:r>
          </a:p>
          <a:p xmlns:a="http://schemas.openxmlformats.org/drawingml/2006/main">
            <a:r>
              <a:t>Formula and variable units: The managed owned template reaches zero NPV at 104,862 initial annual order tonnes. The current 100,000t base needs 4.86% more initial orders.</a:t>
            </a:r>
          </a:p>
          <a:p xmlns:a="http://schemas.openxmlformats.org/drawingml/2006/main">
            <a:r>
              <a:t>Inputs: Illustrative example—not Olam data; input register I-E21</a:t>
            </a:r>
          </a:p>
          <a:p xmlns:a="http://schemas.openxmlformats.org/drawingml/2006/main">
            <a:r>
              <a:t>Substitution/result: About 4.86% more initial orders needed</a:t>
            </a:r>
          </a:p>
          <a:p xmlns:a="http://schemas.openxmlformats.org/drawingml/2006/main">
            <a:r>
              <a:t>Interpretation and failure: The threshold depends on cost, hurdle, tax and capacity; volume cannot repair a negative unit contribution.</a:t>
            </a:r>
          </a:p>
          <a:p xmlns:a="http://schemas.openxmlformats.org/drawingml/2006/main">
            <a:r>
              <a:t>Sensitivity: Cost, FX or commissioning shocks shift the boundary. Monitor orders together with cash.</a:t>
            </a:r>
          </a:p>
          <a:p xmlns:a="http://schemas.openxmlformats.org/drawingml/2006/main">
            <a:r>
              <a:t>Lineage: C-E21; Calculation_Audit; scripts/olam-package.py examples.</a:t>
            </a:r>
          </a:p>
          <a:p xmlns:a="http://schemas.openxmlformats.org/drawingml/2006/main">
            <a:r>
              <a:t>Source lineage: </a:t>
            </a:r>
          </a:p>
          <a:p xmlns:a="http://schemas.openxmlformats.org/drawingml/2006/main">
            <a:r>
              <a:t>Assumptions: A_EXAMPLE</a:t>
            </a:r>
          </a:p>
          <a:p xmlns:a="http://schemas.openxmlformats.org/drawingml/2006/main">
            <a:r>
              <a:t>Calculations: C-E21</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C-E21;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B has 3 times EBITDA despite half the category size</a:t>
            </a:r>
          </a:p>
          <a:p xmlns:a="http://schemas.openxmlformats.org/drawingml/2006/main">
            <a:r>
              <a:t/>
            </a:r>
          </a:p>
          <a:p xmlns:a="http://schemas.openxmlformats.org/drawingml/2006/main">
            <a:r>
              <a:t>Evidence: Chosen assumptions only; no reported calibration. Business question: Size ranking can reverse</a:t>
            </a:r>
          </a:p>
          <a:p xmlns:a="http://schemas.openxmlformats.org/drawingml/2006/main">
            <a:r>
              <a:t>Intuition: Delivered units × unit contribution less fixed cost, then full cash-flow valuation</a:t>
            </a:r>
          </a:p>
          <a:p xmlns:a="http://schemas.openxmlformats.org/drawingml/2006/main">
            <a:r>
              <a:t>Formula and variable units: Country A: demand 200kt, capture 50kt, unit contribution USD20, fixed USD0.7m → EBITDA USD0.3m. B: demand 100kt, capture 40kt, contribution USD40 → USD0.9m.</a:t>
            </a:r>
          </a:p>
          <a:p xmlns:a="http://schemas.openxmlformats.org/drawingml/2006/main">
            <a:r>
              <a:t>Inputs: Illustrative example—not Olam data; input register I-E22</a:t>
            </a:r>
          </a:p>
          <a:p xmlns:a="http://schemas.openxmlformats.org/drawingml/2006/main">
            <a:r>
              <a:t>Substitution/result: B has 3 times EBITDA despite half the category size</a:t>
            </a:r>
          </a:p>
          <a:p xmlns:a="http://schemas.openxmlformats.org/drawingml/2006/main">
            <a:r>
              <a:t>Interpretation and failure: A and B are fictional teaching cases. Chosen capex USD5m vs USD2m and NWC USD2m vs USD0.5m further favour testing B.</a:t>
            </a:r>
          </a:p>
          <a:p xmlns:a="http://schemas.openxmlformats.org/drawingml/2006/main">
            <a:r>
              <a:t>Sensitivity: Before capital differences, A overtakes B above 80kt captured at USD20/t while B stays at 40kt.</a:t>
            </a:r>
          </a:p>
          <a:p xmlns:a="http://schemas.openxmlformats.org/drawingml/2006/main">
            <a:r>
              <a:t>Lineage: C-E22; Calculation_Audit; scripts/olam-package.py examples.</a:t>
            </a:r>
          </a:p>
          <a:p xmlns:a="http://schemas.openxmlformats.org/drawingml/2006/main">
            <a:r>
              <a:t>Source lineage: </a:t>
            </a:r>
          </a:p>
          <a:p xmlns:a="http://schemas.openxmlformats.org/drawingml/2006/main">
            <a:r>
              <a:t>Assumptions: A_EXAMPLE</a:t>
            </a:r>
          </a:p>
          <a:p xmlns:a="http://schemas.openxmlformats.org/drawingml/2006/main">
            <a:r>
              <a:t>Calculations: C-E22</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C-E22;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Missing observations remain unknown; identifiers and vintages are retained.</a:t>
            </a:r>
          </a:p>
          <a:p xmlns:a="http://schemas.openxmlformats.org/drawingml/2006/main">
            <a:r>
              <a:t/>
            </a:r>
          </a:p>
          <a:p xmlns:a="http://schemas.openxmlformats.org/drawingml/2006/main">
            <a:r>
              <a:t>Evidence: UN_M49, UN_WPP. </a:t>
            </a:r>
          </a:p>
          <a:p xmlns:a="http://schemas.openxmlformats.org/drawingml/2006/main">
            <a:r>
              <a:t>Source lineage: UN_M49, UN_WPP</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UN_M49, UN_WPP; ; source-book, calculation-appendix, CEO-question register, priority-commercial-plans and requirements-audit. Public package /case-studies/olam-global/.</a:t>
            </a:r>
          </a:p>
          <a:p xmlns:a="http://schemas.openxmlformats.org/drawingml/2006/main">
            <a:r>
              <a:t/>
            </a:r>
          </a:p>
          <a:p xmlns:a="http://schemas.openxmlformats.org/drawingml/2006/main">
            <a:r>
              <a:t>UN_M49 | UN Statistics Division M49</a:t>
            </a:r>
          </a:p>
          <a:p xmlns:a="http://schemas.openxmlformats.org/drawingml/2006/main">
            <a:r>
              <a:t>https://unstats.un.org/unsd/methodology/m49/overview/</a:t>
            </a:r>
          </a:p>
          <a:p xmlns:a="http://schemas.openxmlformats.org/drawingml/2006/main">
            <a:r>
              <a:t>Country/area codes and region/subregion table</a:t>
            </a:r>
          </a:p>
          <a:p xmlns:a="http://schemas.openxmlformats.org/drawingml/2006/main">
            <a:r>
              <a:t>Membership independently cross-checked to UN library current-member and observer guides; territories separate. Region classification follows UN M49.</a:t>
            </a:r>
          </a:p>
          <a:p xmlns:a="http://schemas.openxmlformats.org/drawingml/2006/main">
            <a:r>
              <a:t/>
            </a:r>
          </a:p>
          <a:p xmlns:a="http://schemas.openxmlformats.org/drawingml/2006/main">
            <a:r>
              <a:t>UN_WPP | UN World Population Prospects 2024</a:t>
            </a:r>
          </a:p>
          <a:p xmlns:a="http://schemas.openxmlformats.org/drawingml/2006/main">
            <a:r>
              <a:t>https://population.un.org/wpp/assets/Excel%20Files/1_Indicator%20(Standard)/EXCEL_FILES/1_General/WPP2024_GEN_F01_DEMOGRAPHIC_INDICATORS_COMPACT.xlsx</a:t>
            </a:r>
          </a:p>
          <a:p xmlns:a="http://schemas.openxmlformats.org/drawingml/2006/main">
            <a:r>
              <a:t>Medium variant sheet; country rows at 2026, 2030, 2035, 2040, 2045, 2050, 2051</a:t>
            </a:r>
          </a:p>
          <a:p xmlns:a="http://schemas.openxmlformats.org/drawingml/2006/main">
            <a:r>
              <a:t>Population in thousands converted to persons. Medium variant is not a sales forecast.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Implemented descriptive supply benchmark; product demand and trade models await data.</a:t>
            </a:r>
          </a:p>
          <a:p xmlns:a="http://schemas.openxmlformats.org/drawingml/2006/main">
            <a:r>
              <a:t/>
            </a:r>
          </a:p>
          <a:p xmlns:a="http://schemas.openxmlformats.org/drawingml/2006/main">
            <a:r>
              <a:t>Evidence: OECD_METHOD. </a:t>
            </a:r>
          </a:p>
          <a:p xmlns:a="http://schemas.openxmlformats.org/drawingml/2006/main">
            <a:r>
              <a:t>Source lineage: OECD_METHOD</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OECD_METHOD; ; source-book, calculation-appendix, CEO-question register, priority-commercial-plans and requirements-audit. Public package /case-studies/olam-global/.</a:t>
            </a:r>
          </a:p>
          <a:p xmlns:a="http://schemas.openxmlformats.org/drawingml/2006/main">
            <a:r>
              <a:t/>
            </a:r>
          </a:p>
          <a:p xmlns:a="http://schemas.openxmlformats.org/drawingml/2006/main">
            <a:r>
              <a:t>OECD_METHOD | Aglink-Cosimo methodology</a:t>
            </a:r>
          </a:p>
          <a:p xmlns:a="http://schemas.openxmlformats.org/drawingml/2006/main">
            <a:r>
              <a:t>https://www.oecd.org/en/publications/oecd-fao-agricultural-outlook-2026-2035_47874669-en/full-report/methodology_4c323de7.html</a:t>
            </a:r>
          </a:p>
          <a:p xmlns:a="http://schemas.openxmlformats.org/drawingml/2006/main">
            <a:r>
              <a:t>Model overview and projection assumptions</a:t>
            </a:r>
          </a:p>
          <a:p xmlns:a="http://schemas.openxmlformats.org/drawingml/2006/main">
            <a:r>
              <a:t>Recursive dynamic partial-equilibrium benchmark; not estimated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Do not turn a global warming number into a plant or crop loss coefficient.</a:t>
            </a:r>
          </a:p>
          <a:p xmlns:a="http://schemas.openxmlformats.org/drawingml/2006/main">
            <a:r>
              <a:t/>
            </a:r>
          </a:p>
          <a:p xmlns:a="http://schemas.openxmlformats.org/drawingml/2006/main">
            <a:r>
              <a:t>Evidence: IPCC, WMO. </a:t>
            </a:r>
          </a:p>
          <a:p xmlns:a="http://schemas.openxmlformats.org/drawingml/2006/main">
            <a:r>
              <a:t>Source lineage: IPCC, WMO</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IPCC, WMO; ; source-book, calculation-appendix, CEO-question register, priority-commercial-plans and requirements-audit. Public package /case-studies/olam-global/.</a:t>
            </a:r>
          </a:p>
          <a:p xmlns:a="http://schemas.openxmlformats.org/drawingml/2006/main">
            <a:r>
              <a:t/>
            </a:r>
          </a:p>
          <a:p xmlns:a="http://schemas.openxmlformats.org/drawingml/2006/main">
            <a:r>
              <a:t>IPCC | IPCC AR6 WGII Chapter 5: Food</a:t>
            </a:r>
          </a:p>
          <a:p xmlns:a="http://schemas.openxmlformats.org/drawingml/2006/main">
            <a:r>
              <a:t>https://www.ipcc.ch/report/ar6/wg2/chapter/chapter-5/</a:t>
            </a:r>
          </a:p>
          <a:p xmlns:a="http://schemas.openxmlformats.org/drawingml/2006/main">
            <a:r>
              <a:t>Chapter 5; food system risks, adaptation and regional limits</a:t>
            </a:r>
          </a:p>
          <a:p xmlns:a="http://schemas.openxmlformats.org/drawingml/2006/main">
            <a:r>
              <a:t>No country/crop coefficient transplanted to Olam assets.</a:t>
            </a:r>
          </a:p>
          <a:p xmlns:a="http://schemas.openxmlformats.org/drawingml/2006/main">
            <a:r>
              <a:t/>
            </a:r>
          </a:p>
          <a:p xmlns:a="http://schemas.openxmlformats.org/drawingml/2006/main">
            <a:r>
              <a:t>WMO | WMO State of the Global Climate 2025</a:t>
            </a:r>
          </a:p>
          <a:p xmlns:a="http://schemas.openxmlformats.org/drawingml/2006/main">
            <a:r>
              <a:t>https://wmo.int/publication-series/state-of-global-climate/state-of-global-climate-2025</a:t>
            </a:r>
          </a:p>
          <a:p xmlns:a="http://schemas.openxmlformats.org/drawingml/2006/main">
            <a:r>
              <a:t>23 March 2026 release; global temperature and climate indicators</a:t>
            </a:r>
          </a:p>
          <a:p xmlns:a="http://schemas.openxmlformats.org/drawingml/2006/main">
            <a:r>
              <a:t>Global annual anomaly is not local crop damage.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Reconcile quantities and cash before computing returns.</a:t>
            </a:r>
          </a:p>
          <a:p xmlns:a="http://schemas.openxmlformats.org/drawingml/2006/main">
            <a:r>
              <a:t/>
            </a:r>
          </a:p>
          <a:p xmlns:a="http://schemas.openxmlformats.org/drawingml/2006/main">
            <a:r>
              <a:t>Evidence: Chosen assumptions only; no reported calibration. </a:t>
            </a:r>
          </a:p>
          <a:p xmlns:a="http://schemas.openxmlformats.org/drawingml/2006/main">
            <a:r>
              <a:t>Source lineage: </a:t>
            </a:r>
          </a:p>
          <a:p xmlns:a="http://schemas.openxmlformats.org/drawingml/2006/main">
            <a:r>
              <a:t>Assumptions: A_TEMPLATE</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Use the smallest method that answers the question and validates on relevant data.</a:t>
            </a:r>
          </a:p>
          <a:p xmlns:a="http://schemas.openxmlformats.org/drawingml/2006/main">
            <a:r>
              <a:t/>
            </a:r>
          </a:p>
          <a:p xmlns:a="http://schemas.openxmlformats.org/drawingml/2006/main">
            <a:r>
              <a:t>Evidence: CVAR. </a:t>
            </a:r>
          </a:p>
          <a:p xmlns:a="http://schemas.openxmlformats.org/drawingml/2006/main">
            <a:r>
              <a:t>Source lineage: CVAR</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CVAR; ; source-book, calculation-appendix, CEO-question register, priority-commercial-plans and requirements-audit. Public package /case-studies/olam-global/.</a:t>
            </a:r>
          </a:p>
          <a:p xmlns:a="http://schemas.openxmlformats.org/drawingml/2006/main">
            <a:r>
              <a:t/>
            </a:r>
          </a:p>
          <a:p xmlns:a="http://schemas.openxmlformats.org/drawingml/2006/main">
            <a:r>
              <a:t>CVAR | Rockafellar &amp; Uryasev: Optimization of CVaR</a:t>
            </a:r>
          </a:p>
          <a:p xmlns:a="http://schemas.openxmlformats.org/drawingml/2006/main">
            <a:r>
              <a:t>https://sites.math.washington.edu/~rtr/papers/rtr179-CVaR1.pdf</a:t>
            </a:r>
          </a:p>
          <a:p xmlns:a="http://schemas.openxmlformats.org/drawingml/2006/main">
            <a:r>
              <a:t>Loss definition and CVaR optimisation formulation</a:t>
            </a:r>
          </a:p>
          <a:p xmlns:a="http://schemas.openxmlformats.org/drawingml/2006/main">
            <a:r>
              <a:t>Implemented loss-tail example and stress summaries, not proprietary theorem.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No coefficient here is a country demand elasticity.</a:t>
            </a:r>
          </a:p>
          <a:p xmlns:a="http://schemas.openxmlformats.org/drawingml/2006/main">
            <a:r>
              <a:t/>
            </a:r>
          </a:p>
          <a:p xmlns:a="http://schemas.openxmlformats.org/drawingml/2006/main">
            <a:r>
              <a:t>Evidence: WB_food_index, WB_income_ppp, WB_urban, WB_cereal_yield. </a:t>
            </a:r>
          </a:p>
          <a:p xmlns:a="http://schemas.openxmlformats.org/drawingml/2006/main">
            <a:r>
              <a:t>Source lineage: WB_food_index, WB_income_ppp, WB_urban, WB_cereal_yield</a:t>
            </a:r>
          </a:p>
          <a:p xmlns:a="http://schemas.openxmlformats.org/drawingml/2006/main">
            <a:r>
              <a:t>Assumptions: </a:t>
            </a:r>
          </a:p>
          <a:p xmlns:a="http://schemas.openxmlformats.org/drawingml/2006/main">
            <a:r>
              <a:t>Calculations: C-OLS</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WB_food_index, WB_income_ppp, WB_urban, WB_cereal_yield; C-OLS; source-book, calculation-appendix, CEO-question register, priority-commercial-plans and requirements-audit. Public package /case-studies/olam-global/.</a:t>
            </a:r>
          </a:p>
          <a:p xmlns:a="http://schemas.openxmlformats.org/drawingml/2006/main">
            <a:r>
              <a:t/>
            </a:r>
          </a:p>
          <a:p xmlns:a="http://schemas.openxmlformats.org/drawingml/2006/main">
            <a:r>
              <a:t>WB_food_index | World Bank WDI: Food production index (2014-2016 = 100)</a:t>
            </a:r>
          </a:p>
          <a:p xmlns:a="http://schemas.openxmlformats.org/drawingml/2006/main">
            <a:r>
              <a:t>https://api.worldbank.org/v2/country/all/indicator/AG.PRD.FOOD.XD?date=2000:2025&amp;format=json&amp;per_page=20000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a:p xmlns:a="http://schemas.openxmlformats.org/drawingml/2006/main">
            <a:r>
              <a:t/>
            </a:r>
          </a:p>
          <a:p xmlns:a="http://schemas.openxmlformats.org/drawingml/2006/main">
            <a:r>
              <a:t>WB_income_ppp | World Bank WDI: GDP per capita, PPP (constant 2021 international $)</a:t>
            </a:r>
          </a:p>
          <a:p xmlns:a="http://schemas.openxmlformats.org/drawingml/2006/main">
            <a:r>
              <a:t>https://api.worldbank.org/v2/country/all/indicator/NY.GDP.PCAP.PP.KD?date=2000:2025&amp;format=json&amp;per_page=20000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a:p xmlns:a="http://schemas.openxmlformats.org/drawingml/2006/main">
            <a:r>
              <a:t/>
            </a:r>
          </a:p>
          <a:p xmlns:a="http://schemas.openxmlformats.org/drawingml/2006/main">
            <a:r>
              <a:t>WB_urban | World Bank WDI: Urban population (% of total population)</a:t>
            </a:r>
          </a:p>
          <a:p xmlns:a="http://schemas.openxmlformats.org/drawingml/2006/main">
            <a:r>
              <a:t>https://api.worldbank.org/v2/country/all/indicator/SP.URB.TOTL.IN.ZS?date=2000:2025&amp;format=json&amp;per_page=20000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a:p xmlns:a="http://schemas.openxmlformats.org/drawingml/2006/main">
            <a:r>
              <a:t/>
            </a:r>
          </a:p>
          <a:p xmlns:a="http://schemas.openxmlformats.org/drawingml/2006/main">
            <a:r>
              <a:t>WB_cereal_yield | World Bank WDI: Cereal yield (kg per hectare)</a:t>
            </a:r>
          </a:p>
          <a:p xmlns:a="http://schemas.openxmlformats.org/drawingml/2006/main">
            <a:r>
              <a:t>https://api.worldbank.org/v2/country/all/indicator/AG.YLD.CREL.KG?date=2000:2025&amp;format=json&amp;per_page=20000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Temporal improvement is small; geographic transfer is uneven.</a:t>
            </a:r>
          </a:p>
          <a:p xmlns:a="http://schemas.openxmlformats.org/drawingml/2006/main">
            <a:r>
              <a:t/>
            </a:r>
          </a:p>
          <a:p xmlns:a="http://schemas.openxmlformats.org/drawingml/2006/main">
            <a:r>
              <a:t>Evidence: WB_food_index. </a:t>
            </a:r>
          </a:p>
          <a:p xmlns:a="http://schemas.openxmlformats.org/drawingml/2006/main">
            <a:r>
              <a:t>Source lineage: WB_food_index</a:t>
            </a:r>
          </a:p>
          <a:p xmlns:a="http://schemas.openxmlformats.org/drawingml/2006/main">
            <a:r>
              <a:t>Assumptions: </a:t>
            </a:r>
          </a:p>
          <a:p xmlns:a="http://schemas.openxmlformats.org/drawingml/2006/main">
            <a:r>
              <a:t>Calculations: C-OLS</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WB_food_index; C-OLS; source-book, calculation-appendix, CEO-question register, priority-commercial-plans and requirements-audit. Public package /case-studies/olam-global/.</a:t>
            </a:r>
          </a:p>
          <a:p xmlns:a="http://schemas.openxmlformats.org/drawingml/2006/main">
            <a:r>
              <a:t/>
            </a:r>
          </a:p>
          <a:p xmlns:a="http://schemas.openxmlformats.org/drawingml/2006/main">
            <a:r>
              <a:t>WB_food_index | World Bank WDI: Food production index (2014-2016 = 100)</a:t>
            </a:r>
          </a:p>
          <a:p xmlns:a="http://schemas.openxmlformats.org/drawingml/2006/main">
            <a:r>
              <a:t>https://api.worldbank.org/v2/country/all/indicator/AG.PRD.FOOD.XD?date=2000:2025&amp;format=json&amp;per_page=20000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Simulation quantiles describe the chosen generator only.</a:t>
            </a:r>
          </a:p>
          <a:p xmlns:a="http://schemas.openxmlformats.org/drawingml/2006/main">
            <a:r>
              <a:t/>
            </a:r>
          </a:p>
          <a:p xmlns:a="http://schemas.openxmlformats.org/drawingml/2006/main">
            <a:r>
              <a:t>Evidence: Chosen assumptions only; no reported calibration. </a:t>
            </a:r>
          </a:p>
          <a:p xmlns:a="http://schemas.openxmlformats.org/drawingml/2006/main">
            <a:r>
              <a:t>Source lineage: </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Integration is the proposal; mathematical novelty is not asserted.</a:t>
            </a:r>
          </a:p>
          <a:p xmlns:a="http://schemas.openxmlformats.org/drawingml/2006/main">
            <a:r>
              <a:t/>
            </a:r>
          </a:p>
          <a:p xmlns:a="http://schemas.openxmlformats.org/drawingml/2006/main">
            <a:r>
              <a:t>Evidence: CVAR, DID, NOBEL_2003, NOBEL_2018, NOBEL_2021. </a:t>
            </a:r>
          </a:p>
          <a:p xmlns:a="http://schemas.openxmlformats.org/drawingml/2006/main">
            <a:r>
              <a:t>Source lineage: CVAR, DID, NOBEL_2003, NOBEL_2018, NOBEL_2021</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CVAR, DID, NOBEL_2003, NOBEL_2018, NOBEL_2021; ; source-book, calculation-appendix, CEO-question register, priority-commercial-plans and requirements-audit. Public package /case-studies/olam-global/.</a:t>
            </a:r>
          </a:p>
          <a:p xmlns:a="http://schemas.openxmlformats.org/drawingml/2006/main">
            <a:r>
              <a:t/>
            </a:r>
          </a:p>
          <a:p xmlns:a="http://schemas.openxmlformats.org/drawingml/2006/main">
            <a:r>
              <a:t>CVAR | Rockafellar &amp; Uryasev: Optimization of CVaR</a:t>
            </a:r>
          </a:p>
          <a:p xmlns:a="http://schemas.openxmlformats.org/drawingml/2006/main">
            <a:r>
              <a:t>https://sites.math.washington.edu/~rtr/papers/rtr179-CVaR1.pdf</a:t>
            </a:r>
          </a:p>
          <a:p xmlns:a="http://schemas.openxmlformats.org/drawingml/2006/main">
            <a:r>
              <a:t>Loss definition and CVaR optimisation formulation</a:t>
            </a:r>
          </a:p>
          <a:p xmlns:a="http://schemas.openxmlformats.org/drawingml/2006/main">
            <a:r>
              <a:t>Implemented loss-tail example and stress summaries, not proprietary theorem.</a:t>
            </a:r>
          </a:p>
          <a:p xmlns:a="http://schemas.openxmlformats.org/drawingml/2006/main">
            <a:r>
              <a:t/>
            </a:r>
          </a:p>
          <a:p xmlns:a="http://schemas.openxmlformats.org/drawingml/2006/main">
            <a:r>
              <a:t>DID | Callaway &amp; Sant’Anna: Difference-in-differences</a:t>
            </a:r>
          </a:p>
          <a:p xmlns:a="http://schemas.openxmlformats.org/drawingml/2006/main">
            <a:r>
              <a:t>https://arxiv.org/abs/1803.09015</a:t>
            </a:r>
          </a:p>
          <a:p xmlns:a="http://schemas.openxmlformats.org/drawingml/2006/main">
            <a:r>
              <a:t>arXiv 1803.09015; identification with multiple time periods</a:t>
            </a:r>
          </a:p>
          <a:p xmlns:a="http://schemas.openxmlformats.org/drawingml/2006/main">
            <a:r>
              <a:t>No Olam treatment effect estimated; pilot design only.</a:t>
            </a:r>
          </a:p>
          <a:p xmlns:a="http://schemas.openxmlformats.org/drawingml/2006/main">
            <a:r>
              <a:t/>
            </a:r>
          </a:p>
          <a:p xmlns:a="http://schemas.openxmlformats.org/drawingml/2006/main">
            <a:r>
              <a:t>NOBEL_2003 | Economic Sciences prize 2003</a:t>
            </a:r>
          </a:p>
          <a:p xmlns:a="http://schemas.openxmlformats.org/drawingml/2006/main">
            <a:r>
              <a:t>https://www.nobelprize.org/prizes/economic-sciences/2003/summary/</a:t>
            </a:r>
          </a:p>
          <a:p xmlns:a="http://schemas.openxmlformats.org/drawingml/2006/main">
            <a:r>
              <a:t>Prize motivation and research contribution</a:t>
            </a:r>
          </a:p>
          <a:p xmlns:a="http://schemas.openxmlformats.org/drawingml/2006/main">
            <a:r>
              <a:t>Engle/Granger (time series), Romer/Nordhaus (growth/climate), Card/Angrist/Imbens (causality) guide module choice, not parameter imports.</a:t>
            </a:r>
          </a:p>
          <a:p xmlns:a="http://schemas.openxmlformats.org/drawingml/2006/main">
            <a:r>
              <a:t/>
            </a:r>
          </a:p>
          <a:p xmlns:a="http://schemas.openxmlformats.org/drawingml/2006/main">
            <a:r>
              <a:t>NOBEL_2018 | Economic Sciences prize 2018</a:t>
            </a:r>
          </a:p>
          <a:p xmlns:a="http://schemas.openxmlformats.org/drawingml/2006/main">
            <a:r>
              <a:t>https://www.nobelprize.org/prizes/economic-sciences/2018/summary/</a:t>
            </a:r>
          </a:p>
          <a:p xmlns:a="http://schemas.openxmlformats.org/drawingml/2006/main">
            <a:r>
              <a:t>Prize motivation and research contribution</a:t>
            </a:r>
          </a:p>
          <a:p xmlns:a="http://schemas.openxmlformats.org/drawingml/2006/main">
            <a:r>
              <a:t>Engle/Granger (time series), Romer/Nordhaus (growth/climate), Card/Angrist/Imbens (causality) guide module choice, not parameter imports.</a:t>
            </a:r>
          </a:p>
          <a:p xmlns:a="http://schemas.openxmlformats.org/drawingml/2006/main">
            <a:r>
              <a:t/>
            </a:r>
          </a:p>
          <a:p xmlns:a="http://schemas.openxmlformats.org/drawingml/2006/main">
            <a:r>
              <a:t>NOBEL_2021 | Economic Sciences prize 2021</a:t>
            </a:r>
          </a:p>
          <a:p xmlns:a="http://schemas.openxmlformats.org/drawingml/2006/main">
            <a:r>
              <a:t>https://www.nobelprize.org/prizes/economic-sciences/2021/summary/</a:t>
            </a:r>
          </a:p>
          <a:p xmlns:a="http://schemas.openxmlformats.org/drawingml/2006/main">
            <a:r>
              <a:t>Prize motivation and research contribution</a:t>
            </a:r>
          </a:p>
          <a:p xmlns:a="http://schemas.openxmlformats.org/drawingml/2006/main">
            <a:r>
              <a:t>Engle/Granger (time series), Romer/Nordhaus (growth/climate), Card/Angrist/Imbens (causality) guide module choice, not parameter imports.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A convenient sample is not proof of an economically meaningful effect.</a:t>
            </a:r>
          </a:p>
          <a:p xmlns:a="http://schemas.openxmlformats.org/drawingml/2006/main">
            <a:r>
              <a:t/>
            </a:r>
          </a:p>
          <a:p xmlns:a="http://schemas.openxmlformats.org/drawingml/2006/main">
            <a:r>
              <a:t>Evidence: DID. </a:t>
            </a:r>
          </a:p>
          <a:p xmlns:a="http://schemas.openxmlformats.org/drawingml/2006/main">
            <a:r>
              <a:t>Source lineage: DID</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DID; ; source-book, calculation-appendix, CEO-question register, priority-commercial-plans and requirements-audit. Public package /case-studies/olam-global/.</a:t>
            </a:r>
          </a:p>
          <a:p xmlns:a="http://schemas.openxmlformats.org/drawingml/2006/main">
            <a:r>
              <a:t/>
            </a:r>
          </a:p>
          <a:p xmlns:a="http://schemas.openxmlformats.org/drawingml/2006/main">
            <a:r>
              <a:t>DID | Callaway &amp; Sant’Anna: Difference-in-differences</a:t>
            </a:r>
          </a:p>
          <a:p xmlns:a="http://schemas.openxmlformats.org/drawingml/2006/main">
            <a:r>
              <a:t>https://arxiv.org/abs/1803.09015</a:t>
            </a:r>
          </a:p>
          <a:p xmlns:a="http://schemas.openxmlformats.org/drawingml/2006/main">
            <a:r>
              <a:t>arXiv 1803.09015; identification with multiple time periods</a:t>
            </a:r>
          </a:p>
          <a:p xmlns:a="http://schemas.openxmlformats.org/drawingml/2006/main">
            <a:r>
              <a:t>No Olam treatment effect estimated; pilot design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8,526 matrix rows preserve unknown finance rather than fabricate forecasts.</a:t>
            </a:r>
          </a:p>
          <a:p xmlns:a="http://schemas.openxmlformats.org/drawingml/2006/main">
            <a:r>
              <a:t/>
            </a:r>
          </a:p>
          <a:p xmlns:a="http://schemas.openxmlformats.org/drawingml/2006/main">
            <a:r>
              <a:t>Evidence: UN_M49, UN_WPP. </a:t>
            </a:r>
          </a:p>
          <a:p xmlns:a="http://schemas.openxmlformats.org/drawingml/2006/main">
            <a:r>
              <a:t>Source lineage: UN_M49, UN_WPP</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UN_M49, UN_WPP; ; source-book, calculation-appendix, CEO-question register, priority-commercial-plans and requirements-audit. Public package /case-studies/olam-global/.</a:t>
            </a:r>
          </a:p>
          <a:p xmlns:a="http://schemas.openxmlformats.org/drawingml/2006/main">
            <a:r>
              <a:t/>
            </a:r>
          </a:p>
          <a:p xmlns:a="http://schemas.openxmlformats.org/drawingml/2006/main">
            <a:r>
              <a:t>UN_M49 | UN Statistics Division M49</a:t>
            </a:r>
          </a:p>
          <a:p xmlns:a="http://schemas.openxmlformats.org/drawingml/2006/main">
            <a:r>
              <a:t>https://unstats.un.org/unsd/methodology/m49/overview/</a:t>
            </a:r>
          </a:p>
          <a:p xmlns:a="http://schemas.openxmlformats.org/drawingml/2006/main">
            <a:r>
              <a:t>Country/area codes and region/subregion table</a:t>
            </a:r>
          </a:p>
          <a:p xmlns:a="http://schemas.openxmlformats.org/drawingml/2006/main">
            <a:r>
              <a:t>Membership independently cross-checked to UN library current-member and observer guides; territories separate. Region classification follows UN M49.</a:t>
            </a:r>
          </a:p>
          <a:p xmlns:a="http://schemas.openxmlformats.org/drawingml/2006/main">
            <a:r>
              <a:t/>
            </a:r>
          </a:p>
          <a:p xmlns:a="http://schemas.openxmlformats.org/drawingml/2006/main">
            <a:r>
              <a:t>UN_WPP | UN World Population Prospects 2024</a:t>
            </a:r>
          </a:p>
          <a:p xmlns:a="http://schemas.openxmlformats.org/drawingml/2006/main">
            <a:r>
              <a:t>https://population.un.org/wpp/assets/Excel%20Files/1_Indicator%20(Standard)/EXCEL_FILES/1_General/WPP2024_GEN_F01_DEMOGRAPHIC_INDICATORS_COMPACT.xlsx</a:t>
            </a:r>
          </a:p>
          <a:p xmlns:a="http://schemas.openxmlformats.org/drawingml/2006/main">
            <a:r>
              <a:t>Medium variant sheet; country rows at 2026, 2030, 2035, 2040, 2045, 2050, 2051</a:t>
            </a:r>
          </a:p>
          <a:p xmlns:a="http://schemas.openxmlformats.org/drawingml/2006/main">
            <a:r>
              <a:t>Population in thousands converted to persons. Medium variant is not a sales forecast.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The package is a complete public-data decision scaffold; internal investment cases remain open.</a:t>
            </a:r>
          </a:p>
          <a:p xmlns:a="http://schemas.openxmlformats.org/drawingml/2006/main">
            <a:r>
              <a:t/>
            </a:r>
          </a:p>
          <a:p xmlns:a="http://schemas.openxmlformats.org/drawingml/2006/main">
            <a:r>
              <a:t>Evidence: Chosen assumptions only; no reported calibration. </a:t>
            </a:r>
          </a:p>
          <a:p xmlns:a="http://schemas.openxmlformats.org/drawingml/2006/main">
            <a:r>
              <a:t>Source lineage: </a:t>
            </a:r>
          </a:p>
          <a:p xmlns:a="http://schemas.openxmlformats.org/drawingml/2006/main">
            <a:r>
              <a:t>Assumptions: A_TEMPLATE</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Keep a dated reproducible version; do not silently revise the investment case.</a:t>
            </a:r>
          </a:p>
          <a:p xmlns:a="http://schemas.openxmlformats.org/drawingml/2006/main">
            <a:r>
              <a:t/>
            </a:r>
          </a:p>
          <a:p xmlns:a="http://schemas.openxmlformats.org/drawingml/2006/main">
            <a:r>
              <a:t>Evidence: Chosen assumptions only; no reported calibration. </a:t>
            </a:r>
          </a:p>
          <a:p xmlns:a="http://schemas.openxmlformats.org/drawingml/2006/main">
            <a:r>
              <a:t>Source lineage: </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Detailed44-row audit retains arithmetic and replaces unsupported certainty.</a:t>
            </a:r>
          </a:p>
          <a:p xmlns:a="http://schemas.openxmlformats.org/drawingml/2006/main">
            <a:r>
              <a:t/>
            </a:r>
          </a:p>
          <a:p xmlns:a="http://schemas.openxmlformats.org/drawingml/2006/main">
            <a:r>
              <a:t>Evidence: BASELINE. </a:t>
            </a:r>
          </a:p>
          <a:p xmlns:a="http://schemas.openxmlformats.org/drawingml/2006/main">
            <a:r>
              <a:t>Source lineage: BASELINE</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BASELINE; ; source-book, calculation-appendix, CEO-question register, priority-commercial-plans and requirements-audit. Public package /case-studies/olam-global/.</a:t>
            </a:r>
          </a:p>
          <a:p xmlns:a="http://schemas.openxmlformats.org/drawingml/2006/main">
            <a:r>
              <a:t/>
            </a:r>
          </a:p>
          <a:p xmlns:a="http://schemas.openxmlformats.org/drawingml/2006/main">
            <a:r>
              <a:t>BASELINE | Portfolio baseline and résumé</a:t>
            </a:r>
          </a:p>
          <a:p xmlns:a="http://schemas.openxmlformats.org/drawingml/2006/main">
            <a:r>
              <a:t>https://github.com/ManashProtimDeori/Manash-Protim-Deori/tree/13f7393a1c69350c3cfa89bea1baa49cf08d042c</a:t>
            </a:r>
          </a:p>
          <a:p xmlns:a="http://schemas.openxmlformats.org/drawingml/2006/main">
            <a:r>
              <a:t>src/data/olamAfricaStrategy.ts; src/lib/olamNigeriaDecisionModel.ts; src/data/resume.ts</a:t>
            </a:r>
          </a:p>
          <a:p xmlns:a="http://schemas.openxmlformats.org/drawingml/2006/main">
            <a:r>
              <a:t>Self-described candidate achievements are not audited Olam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Exact URLs and limitations are in the linked source book.</a:t>
            </a:r>
          </a:p>
          <a:p xmlns:a="http://schemas.openxmlformats.org/drawingml/2006/main">
            <a:r>
              <a:t/>
            </a:r>
          </a:p>
          <a:p xmlns:a="http://schemas.openxmlformats.org/drawingml/2006/main">
            <a:r>
              <a:t>Evidence: CO_AR, CO_FACT, CO_OWN, CO_ABOUT, OECD, OECD_METHOD. CO_AR | https://www.olamagri.com/content/dam/olam-agri/assets/webp/au/ar/annual-report-pdf/2025/annual-report-2025.pdf | Printed pp. 3, 10–11; CFO overview and performance charts | USD Agri figures. Handled and sales tonnage have different definitions.</a:t>
            </a:r>
          </a:p>
          <a:p xmlns:a="http://schemas.openxmlformats.org/drawingml/2006/main">
            <a:r>
              <a:t/>
            </a:r>
          </a:p>
          <a:p xmlns:a="http://schemas.openxmlformats.org/drawingml/2006/main">
            <a:r>
              <a:t>CO_FACT | https://www.olamagri.com/content/dam/olam-agri/assets/webp/au/au-pdfs/factsheet/olamagri-corporate-factsheet-2026.pdf | pp. 1–2; footprint, products, ownership | 2025 operating facts; country locations do not prove assets or complete trade presence.</a:t>
            </a:r>
          </a:p>
          <a:p xmlns:a="http://schemas.openxmlformats.org/drawingml/2006/main">
            <a:r>
              <a:t/>
            </a:r>
          </a:p>
          <a:p xmlns:a="http://schemas.openxmlformats.org/drawingml/2006/main">
            <a:r>
              <a:t>CO_OWN | https://www.olamgroup.com/investors/our-re-organisation.html | Olam Agri section: 27 April 2026 sale and 30 June CFG share issuance | About page lower text still says 81.11%; resolved to dated transaction 81.81%.</a:t>
            </a:r>
          </a:p>
          <a:p xmlns:a="http://schemas.openxmlformats.org/drawingml/2006/main">
            <a:r>
              <a:t/>
            </a:r>
          </a:p>
          <a:p xmlns:a="http://schemas.openxmlformats.org/drawingml/2006/main">
            <a:r>
              <a:t>CO_ABOUT | https://www.olamagri.com/about-us | At a glance, products and ownership blocks | Conflicting lower ownership text retained as a source conflict.</a:t>
            </a:r>
          </a:p>
          <a:p xmlns:a="http://schemas.openxmlformats.org/drawingml/2006/main">
            <a:r>
              <a:t/>
            </a:r>
          </a:p>
          <a:p xmlns:a="http://schemas.openxmlformats.org/drawingml/2006/main">
            <a:r>
              <a:t>OECD | https://www.oecd.org/en/publications/oecd-fao-agricultural-outlook-2026-2035_47874669-en.html | Publication 29 June 2026; executive summary, methodology; DOI 10.1787/47874669-en | Official horizon ends 2035; no Olam capture forecast.</a:t>
            </a:r>
          </a:p>
          <a:p xmlns:a="http://schemas.openxmlformats.org/drawingml/2006/main">
            <a:r>
              <a:t/>
            </a:r>
          </a:p>
          <a:p xmlns:a="http://schemas.openxmlformats.org/drawingml/2006/main">
            <a:r>
              <a:t>OECD_METHOD | https://www.oecd.org/en/publications/oecd-fao-agricultural-outlook-2026-2035_47874669-en/full-report/methodology_4c323de7.html | Model overview and projection assumptions | Recursive dynamic partial-equilibrium benchmark; not estimated here.</a:t>
            </a:r>
          </a:p>
          <a:p xmlns:a="http://schemas.openxmlformats.org/drawingml/2006/main">
            <a:r>
              <a:t>Source lineage: CO_AR, CO_FACT, CO_OWN, CO_ABOUT, OECD, OECD_METHOD</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CO_AR, CO_FACT, CO_OWN, CO_ABOUT, OECD, OECD_METHOD; ; source-book, calculation-appendix, CEO-question register, priority-commercial-plans and requirements-audit. Public package /case-studies/olam-global/.</a:t>
            </a:r>
          </a:p>
          <a:p xmlns:a="http://schemas.openxmlformats.org/drawingml/2006/main">
            <a:r>
              <a:t/>
            </a:r>
          </a:p>
          <a:p xmlns:a="http://schemas.openxmlformats.org/drawingml/2006/main">
            <a:r>
              <a:t>CO_AR | Olam Agri Annual Report 2025</a:t>
            </a:r>
          </a:p>
          <a:p xmlns:a="http://schemas.openxmlformats.org/drawingml/2006/main">
            <a:r>
              <a:t>https://www.olamagri.com/content/dam/olam-agri/assets/webp/au/ar/annual-report-pdf/2025/annual-report-2025.pdf</a:t>
            </a:r>
          </a:p>
          <a:p xmlns:a="http://schemas.openxmlformats.org/drawingml/2006/main">
            <a:r>
              <a:t>Printed pp. 3, 10–11; CFO overview and performance charts</a:t>
            </a:r>
          </a:p>
          <a:p xmlns:a="http://schemas.openxmlformats.org/drawingml/2006/main">
            <a:r>
              <a:t>USD Agri figures. Handled and sales tonnage have different definitions.</a:t>
            </a:r>
          </a:p>
          <a:p xmlns:a="http://schemas.openxmlformats.org/drawingml/2006/main">
            <a:r>
              <a:t/>
            </a:r>
          </a:p>
          <a:p xmlns:a="http://schemas.openxmlformats.org/drawingml/2006/main">
            <a:r>
              <a:t>CO_FACT | Olam Agri factsheet, June 2026</a:t>
            </a:r>
          </a:p>
          <a:p xmlns:a="http://schemas.openxmlformats.org/drawingml/2006/main">
            <a:r>
              <a:t>https://www.olamagri.com/content/dam/olam-agri/assets/webp/au/au-pdfs/factsheet/olamagri-corporate-factsheet-2026.pdf</a:t>
            </a:r>
          </a:p>
          <a:p xmlns:a="http://schemas.openxmlformats.org/drawingml/2006/main">
            <a:r>
              <a:t>pp. 1–2; footprint, products, ownership</a:t>
            </a:r>
          </a:p>
          <a:p xmlns:a="http://schemas.openxmlformats.org/drawingml/2006/main">
            <a:r>
              <a:t>2025 operating facts; country locations do not prove assets or complete trade presence.</a:t>
            </a:r>
          </a:p>
          <a:p xmlns:a="http://schemas.openxmlformats.org/drawingml/2006/main">
            <a:r>
              <a:t/>
            </a:r>
          </a:p>
          <a:p xmlns:a="http://schemas.openxmlformats.org/drawingml/2006/main">
            <a:r>
              <a:t>CO_OWN | Olam Group reorganisation / Olam Agri</a:t>
            </a:r>
          </a:p>
          <a:p xmlns:a="http://schemas.openxmlformats.org/drawingml/2006/main">
            <a:r>
              <a:t>https://www.olamgroup.com/investors/our-re-organisation.html</a:t>
            </a:r>
          </a:p>
          <a:p xmlns:a="http://schemas.openxmlformats.org/drawingml/2006/main">
            <a:r>
              <a:t>Olam Agri section: 27 April 2026 sale and 30 June CFG share issuance</a:t>
            </a:r>
          </a:p>
          <a:p xmlns:a="http://schemas.openxmlformats.org/drawingml/2006/main">
            <a:r>
              <a:t>About page lower text still says 81.11%; resolved to dated transaction 81.81%.</a:t>
            </a:r>
          </a:p>
          <a:p xmlns:a="http://schemas.openxmlformats.org/drawingml/2006/main">
            <a:r>
              <a:t/>
            </a:r>
          </a:p>
          <a:p xmlns:a="http://schemas.openxmlformats.org/drawingml/2006/main">
            <a:r>
              <a:t>CO_ABOUT | Olam Agri About Us</a:t>
            </a:r>
          </a:p>
          <a:p xmlns:a="http://schemas.openxmlformats.org/drawingml/2006/main">
            <a:r>
              <a:t>https://www.olamagri.com/about-us</a:t>
            </a:r>
          </a:p>
          <a:p xmlns:a="http://schemas.openxmlformats.org/drawingml/2006/main">
            <a:r>
              <a:t>At a glance, products and ownership blocks</a:t>
            </a:r>
          </a:p>
          <a:p xmlns:a="http://schemas.openxmlformats.org/drawingml/2006/main">
            <a:r>
              <a:t>Conflicting lower ownership text retained as a source conflict.</a:t>
            </a:r>
          </a:p>
          <a:p xmlns:a="http://schemas.openxmlformats.org/drawingml/2006/main">
            <a:r>
              <a:t/>
            </a:r>
          </a:p>
          <a:p xmlns:a="http://schemas.openxmlformats.org/drawingml/2006/main">
            <a:r>
              <a:t>OECD | OECD–FAO Agricultural Outlook 2026–2035</a:t>
            </a:r>
          </a:p>
          <a:p xmlns:a="http://schemas.openxmlformats.org/drawingml/2006/main">
            <a:r>
              <a:t>https://www.oecd.org/en/publications/oecd-fao-agricultural-outlook-2026-2035_47874669-en.html</a:t>
            </a:r>
          </a:p>
          <a:p xmlns:a="http://schemas.openxmlformats.org/drawingml/2006/main">
            <a:r>
              <a:t>Publication 29 June 2026; executive summary, methodology; DOI 10.1787/47874669-en</a:t>
            </a:r>
          </a:p>
          <a:p xmlns:a="http://schemas.openxmlformats.org/drawingml/2006/main">
            <a:r>
              <a:t>Official horizon ends 2035; no Olam capture forecast.</a:t>
            </a:r>
          </a:p>
          <a:p xmlns:a="http://schemas.openxmlformats.org/drawingml/2006/main">
            <a:r>
              <a:t/>
            </a:r>
          </a:p>
          <a:p xmlns:a="http://schemas.openxmlformats.org/drawingml/2006/main">
            <a:r>
              <a:t>OECD_METHOD | Aglink-Cosimo methodology</a:t>
            </a:r>
          </a:p>
          <a:p xmlns:a="http://schemas.openxmlformats.org/drawingml/2006/main">
            <a:r>
              <a:t>https://www.oecd.org/en/publications/oecd-fao-agricultural-outlook-2026-2035_47874669-en/full-report/methodology_4c323de7.html</a:t>
            </a:r>
          </a:p>
          <a:p xmlns:a="http://schemas.openxmlformats.org/drawingml/2006/main">
            <a:r>
              <a:t>Model overview and projection assumptions</a:t>
            </a:r>
          </a:p>
          <a:p xmlns:a="http://schemas.openxmlformats.org/drawingml/2006/main">
            <a:r>
              <a:t>Recursive dynamic partial-equilibrium benchmark; not estimated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Exact URLs and limitations are in the linked source book.</a:t>
            </a:r>
          </a:p>
          <a:p xmlns:a="http://schemas.openxmlformats.org/drawingml/2006/main">
            <a:r>
              <a:t/>
            </a:r>
          </a:p>
          <a:p xmlns:a="http://schemas.openxmlformats.org/drawingml/2006/main">
            <a:r>
              <a:t>Evidence: UN_M49, UN_MEMBERS, UN_OBSERVERS, UN_WPP, WB_population, WB_income_ppp. UN_M49 | https://unstats.un.org/unsd/methodology/m49/overview/ | Country/area codes and region/subregion table | Membership independently cross-checked to UN library current-member and observer guides; territories separate. Region classification follows UN M49.</a:t>
            </a:r>
          </a:p>
          <a:p xmlns:a="http://schemas.openxmlformats.org/drawingml/2006/main">
            <a:r>
              <a:t/>
            </a:r>
          </a:p>
          <a:p xmlns:a="http://schemas.openxmlformats.org/drawingml/2006/main">
            <a:r>
              <a:t>UN_MEMBERS | https://research.un.org/en/unmembers/currentmembers | All 193 country sections, crosswalked to UN M49 ISO3 | All 193 names matched; four presentational aliases recorded in membership-verification.csv.</a:t>
            </a:r>
          </a:p>
          <a:p xmlns:a="http://schemas.openxmlformats.org/drawingml/2006/main">
            <a:r>
              <a:t/>
            </a:r>
          </a:p>
          <a:p xmlns:a="http://schemas.openxmlformats.org/drawingml/2006/main">
            <a:r>
              <a:t>UN_OBSERVERS | https://research.un.org/en/unmembers/observers | Holy See and State of Palestine sections | VAT and PSE are the two observer states; territories remain separate.</a:t>
            </a:r>
          </a:p>
          <a:p xmlns:a="http://schemas.openxmlformats.org/drawingml/2006/main">
            <a:r>
              <a:t/>
            </a:r>
          </a:p>
          <a:p xmlns:a="http://schemas.openxmlformats.org/drawingml/2006/main">
            <a:r>
              <a:t>UN_WPP | https://population.un.org/wpp/assets/Excel%20Files/1_Indicator%20(Standard)/EXCEL_FILES/1_General/WPP2024_GEN_F01_DEMOGRAPHIC_INDICATORS_COMPACT.xlsx | Medium variant sheet; country rows at 2026, 2030, 2035, 2040, 2045, 2050, 2051 | Population in thousands converted to persons. Medium variant is not a sales forecast.</a:t>
            </a:r>
          </a:p>
          <a:p xmlns:a="http://schemas.openxmlformats.org/drawingml/2006/main">
            <a:r>
              <a:t/>
            </a:r>
          </a:p>
          <a:p xmlns:a="http://schemas.openxmlformats.org/drawingml/2006/main">
            <a:r>
              <a:t>WB_population | https://api.worldbank.org/v2/country/all/indicator/SP.POP.TOTL?date=2000:2025&amp;format=json&amp;per_page=20000 | Source 2; series and country/year records, update 2026-07-13 | Latest available year differs by country/series. No missing value imputed.</a:t>
            </a:r>
          </a:p>
          <a:p xmlns:a="http://schemas.openxmlformats.org/drawingml/2006/main">
            <a:r>
              <a:t/>
            </a:r>
          </a:p>
          <a:p xmlns:a="http://schemas.openxmlformats.org/drawingml/2006/main">
            <a:r>
              <a:t>WB_income_ppp | https://api.worldbank.org/v2/country/all/indicator/NY.GDP.PCAP.PP.KD?date=2000:2025&amp;format=json&amp;per_page=20000 | Source 2; series and country/year records, update 2026-07-13 | Latest available year differs by country/series. No missing value imputed.</a:t>
            </a:r>
          </a:p>
          <a:p xmlns:a="http://schemas.openxmlformats.org/drawingml/2006/main">
            <a:r>
              <a:t>Source lineage: UN_M49, UN_MEMBERS, UN_OBSERVERS, UN_WPP, WB_population, WB_income_ppp</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UN_M49, UN_MEMBERS, UN_OBSERVERS, UN_WPP, WB_population, WB_income_ppp; ; source-book, calculation-appendix, CEO-question register, priority-commercial-plans and requirements-audit. Public package /case-studies/olam-global/.</a:t>
            </a:r>
          </a:p>
          <a:p xmlns:a="http://schemas.openxmlformats.org/drawingml/2006/main">
            <a:r>
              <a:t/>
            </a:r>
          </a:p>
          <a:p xmlns:a="http://schemas.openxmlformats.org/drawingml/2006/main">
            <a:r>
              <a:t>UN_M49 | UN Statistics Division M49</a:t>
            </a:r>
          </a:p>
          <a:p xmlns:a="http://schemas.openxmlformats.org/drawingml/2006/main">
            <a:r>
              <a:t>https://unstats.un.org/unsd/methodology/m49/overview/</a:t>
            </a:r>
          </a:p>
          <a:p xmlns:a="http://schemas.openxmlformats.org/drawingml/2006/main">
            <a:r>
              <a:t>Country/area codes and region/subregion table</a:t>
            </a:r>
          </a:p>
          <a:p xmlns:a="http://schemas.openxmlformats.org/drawingml/2006/main">
            <a:r>
              <a:t>Membership independently cross-checked to UN library current-member and observer guides; territories separate. Region classification follows UN M49.</a:t>
            </a:r>
          </a:p>
          <a:p xmlns:a="http://schemas.openxmlformats.org/drawingml/2006/main">
            <a:r>
              <a:t/>
            </a:r>
          </a:p>
          <a:p xmlns:a="http://schemas.openxmlformats.org/drawingml/2006/main">
            <a:r>
              <a:t>UN_MEMBERS | UN Dag Hammarskjöld Library: current member states</a:t>
            </a:r>
          </a:p>
          <a:p xmlns:a="http://schemas.openxmlformats.org/drawingml/2006/main">
            <a:r>
              <a:t>https://research.un.org/en/unmembers/currentmembers</a:t>
            </a:r>
          </a:p>
          <a:p xmlns:a="http://schemas.openxmlformats.org/drawingml/2006/main">
            <a:r>
              <a:t>All 193 country sections, crosswalked to UN M49 ISO3</a:t>
            </a:r>
          </a:p>
          <a:p xmlns:a="http://schemas.openxmlformats.org/drawingml/2006/main">
            <a:r>
              <a:t>All 193 names matched; four presentational aliases recorded in membership-verification.csv.</a:t>
            </a:r>
          </a:p>
          <a:p xmlns:a="http://schemas.openxmlformats.org/drawingml/2006/main">
            <a:r>
              <a:t/>
            </a:r>
          </a:p>
          <a:p xmlns:a="http://schemas.openxmlformats.org/drawingml/2006/main">
            <a:r>
              <a:t>UN_OBSERVERS | UN Dag Hammarskjöld Library: non-member observers</a:t>
            </a:r>
          </a:p>
          <a:p xmlns:a="http://schemas.openxmlformats.org/drawingml/2006/main">
            <a:r>
              <a:t>https://research.un.org/en/unmembers/observers</a:t>
            </a:r>
          </a:p>
          <a:p xmlns:a="http://schemas.openxmlformats.org/drawingml/2006/main">
            <a:r>
              <a:t>Holy See and State of Palestine sections</a:t>
            </a:r>
          </a:p>
          <a:p xmlns:a="http://schemas.openxmlformats.org/drawingml/2006/main">
            <a:r>
              <a:t>VAT and PSE are the two observer states; territories remain separate.</a:t>
            </a:r>
          </a:p>
          <a:p xmlns:a="http://schemas.openxmlformats.org/drawingml/2006/main">
            <a:r>
              <a:t/>
            </a:r>
          </a:p>
          <a:p xmlns:a="http://schemas.openxmlformats.org/drawingml/2006/main">
            <a:r>
              <a:t>UN_WPP | UN World Population Prospects 2024</a:t>
            </a:r>
          </a:p>
          <a:p xmlns:a="http://schemas.openxmlformats.org/drawingml/2006/main">
            <a:r>
              <a:t>https://population.un.org/wpp/assets/Excel%20Files/1_Indicator%20(Standard)/EXCEL_FILES/1_General/WPP2024_GEN_F01_DEMOGRAPHIC_INDICATORS_COMPACT.xlsx</a:t>
            </a:r>
          </a:p>
          <a:p xmlns:a="http://schemas.openxmlformats.org/drawingml/2006/main">
            <a:r>
              <a:t>Medium variant sheet; country rows at 2026, 2030, 2035, 2040, 2045, 2050, 2051</a:t>
            </a:r>
          </a:p>
          <a:p xmlns:a="http://schemas.openxmlformats.org/drawingml/2006/main">
            <a:r>
              <a:t>Population in thousands converted to persons. Medium variant is not a sales forecast.</a:t>
            </a:r>
          </a:p>
          <a:p xmlns:a="http://schemas.openxmlformats.org/drawingml/2006/main">
            <a:r>
              <a:t/>
            </a:r>
          </a:p>
          <a:p xmlns:a="http://schemas.openxmlformats.org/drawingml/2006/main">
            <a:r>
              <a:t>WB_population | World Bank WDI: Population, total</a:t>
            </a:r>
          </a:p>
          <a:p xmlns:a="http://schemas.openxmlformats.org/drawingml/2006/main">
            <a:r>
              <a:t>https://api.worldbank.org/v2/country/all/indicator/SP.POP.TOTL?date=2000:2025&amp;format=json&amp;per_page=20000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a:p xmlns:a="http://schemas.openxmlformats.org/drawingml/2006/main">
            <a:r>
              <a:t/>
            </a:r>
          </a:p>
          <a:p xmlns:a="http://schemas.openxmlformats.org/drawingml/2006/main">
            <a:r>
              <a:t>WB_income_ppp | World Bank WDI: GDP per capita, PPP (constant 2021 international $)</a:t>
            </a:r>
          </a:p>
          <a:p xmlns:a="http://schemas.openxmlformats.org/drawingml/2006/main">
            <a:r>
              <a:t>https://api.worldbank.org/v2/country/all/indicator/NY.GDP.PCAP.PP.KD?date=2000:2025&amp;format=json&amp;per_page=20000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Exact URLs and limitations are in the linked source book.</a:t>
            </a:r>
          </a:p>
          <a:p xmlns:a="http://schemas.openxmlformats.org/drawingml/2006/main">
            <a:r>
              <a:t/>
            </a:r>
          </a:p>
          <a:p xmlns:a="http://schemas.openxmlformats.org/drawingml/2006/main">
            <a:r>
              <a:t>Evidence: WB_urban, WB_inflation, WB_food_index, WB_food_import_share, WB_food_export_share, WB_imports_usd. WB_urban | https://api.worldbank.org/v2/country/all/indicator/SP.URB.TOTL.IN.ZS?date=2000:2025&amp;format=json&amp;per_page=20000 | Source 2; series and country/year records, update 2026-07-13 | Latest available year differs by country/series. No missing value imputed.</a:t>
            </a:r>
          </a:p>
          <a:p xmlns:a="http://schemas.openxmlformats.org/drawingml/2006/main">
            <a:r>
              <a:t/>
            </a:r>
          </a:p>
          <a:p xmlns:a="http://schemas.openxmlformats.org/drawingml/2006/main">
            <a:r>
              <a:t>WB_inflation | https://api.worldbank.org/v2/country/all/indicator/FP.CPI.TOTL.ZG?date=2000:2025&amp;format=json&amp;per_page=20000 | Source 2; series and country/year records, update 2026-07-13 | Latest available year differs by country/series. No missing value imputed.</a:t>
            </a:r>
          </a:p>
          <a:p xmlns:a="http://schemas.openxmlformats.org/drawingml/2006/main">
            <a:r>
              <a:t/>
            </a:r>
          </a:p>
          <a:p xmlns:a="http://schemas.openxmlformats.org/drawingml/2006/main">
            <a:r>
              <a:t>WB_food_index | https://api.worldbank.org/v2/country/all/indicator/AG.PRD.FOOD.XD?date=2000:2025&amp;format=json&amp;per_page=20000 | Source 2; series and country/year records, update 2026-07-13 | Latest available year differs by country/series. No missing value imputed.</a:t>
            </a:r>
          </a:p>
          <a:p xmlns:a="http://schemas.openxmlformats.org/drawingml/2006/main">
            <a:r>
              <a:t/>
            </a:r>
          </a:p>
          <a:p xmlns:a="http://schemas.openxmlformats.org/drawingml/2006/main">
            <a:r>
              <a:t>WB_food_import_share | https://api.worldbank.org/v2/country/all/indicator/TM.VAL.FOOD.ZS.UN?date=2000:2025&amp;format=json&amp;per_page=20000 | Source 2; series and country/year records, update 2026-07-13 | Latest available year differs by country/series. No missing value imputed.</a:t>
            </a:r>
          </a:p>
          <a:p xmlns:a="http://schemas.openxmlformats.org/drawingml/2006/main">
            <a:r>
              <a:t/>
            </a:r>
          </a:p>
          <a:p xmlns:a="http://schemas.openxmlformats.org/drawingml/2006/main">
            <a:r>
              <a:t>WB_food_export_share | https://api.worldbank.org/v2/country/all/indicator/TX.VAL.FOOD.ZS.UN?date=2000:2025&amp;format=json&amp;per_page=20000 | Source 2; series and country/year records, update 2026-07-13 | Latest available year differs by country/series. No missing value imputed.</a:t>
            </a:r>
          </a:p>
          <a:p xmlns:a="http://schemas.openxmlformats.org/drawingml/2006/main">
            <a:r>
              <a:t/>
            </a:r>
          </a:p>
          <a:p xmlns:a="http://schemas.openxmlformats.org/drawingml/2006/main">
            <a:r>
              <a:t>WB_imports_usd | https://api.worldbank.org/v2/country/all/indicator/TM.VAL.MRCH.CD.WT?date=2000:2025&amp;format=json&amp;per_page=20000 | Source 2; series and country/year records, update 2026-07-13 | Latest available year differs by country/series. No missing value imputed.</a:t>
            </a:r>
          </a:p>
          <a:p xmlns:a="http://schemas.openxmlformats.org/drawingml/2006/main">
            <a:r>
              <a:t>Source lineage: WB_urban, WB_inflation, WB_food_index, WB_food_import_share, WB_food_export_share, WB_imports_usd</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WB_urban, WB_inflation, WB_food_index, WB_food_import_share, WB_food_export_share, WB_imports_usd; ; source-book, calculation-appendix, CEO-question register, priority-commercial-plans and requirements-audit. Public package /case-studies/olam-global/.</a:t>
            </a:r>
          </a:p>
          <a:p xmlns:a="http://schemas.openxmlformats.org/drawingml/2006/main">
            <a:r>
              <a:t/>
            </a:r>
          </a:p>
          <a:p xmlns:a="http://schemas.openxmlformats.org/drawingml/2006/main">
            <a:r>
              <a:t>WB_urban | World Bank WDI: Urban population (% of total population)</a:t>
            </a:r>
          </a:p>
          <a:p xmlns:a="http://schemas.openxmlformats.org/drawingml/2006/main">
            <a:r>
              <a:t>https://api.worldbank.org/v2/country/all/indicator/SP.URB.TOTL.IN.ZS?date=2000:2025&amp;format=json&amp;per_page=20000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a:p xmlns:a="http://schemas.openxmlformats.org/drawingml/2006/main">
            <a:r>
              <a:t/>
            </a:r>
          </a:p>
          <a:p xmlns:a="http://schemas.openxmlformats.org/drawingml/2006/main">
            <a:r>
              <a:t>WB_inflation | World Bank WDI: Inflation, consumer prices (annual %)</a:t>
            </a:r>
          </a:p>
          <a:p xmlns:a="http://schemas.openxmlformats.org/drawingml/2006/main">
            <a:r>
              <a:t>https://api.worldbank.org/v2/country/all/indicator/FP.CPI.TOTL.ZG?date=2000:2025&amp;format=json&amp;per_page=20000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a:p xmlns:a="http://schemas.openxmlformats.org/drawingml/2006/main">
            <a:r>
              <a:t/>
            </a:r>
          </a:p>
          <a:p xmlns:a="http://schemas.openxmlformats.org/drawingml/2006/main">
            <a:r>
              <a:t>WB_food_index | World Bank WDI: Food production index (2014-2016 = 100)</a:t>
            </a:r>
          </a:p>
          <a:p xmlns:a="http://schemas.openxmlformats.org/drawingml/2006/main">
            <a:r>
              <a:t>https://api.worldbank.org/v2/country/all/indicator/AG.PRD.FOOD.XD?date=2000:2025&amp;format=json&amp;per_page=20000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a:p xmlns:a="http://schemas.openxmlformats.org/drawingml/2006/main">
            <a:r>
              <a:t/>
            </a:r>
          </a:p>
          <a:p xmlns:a="http://schemas.openxmlformats.org/drawingml/2006/main">
            <a:r>
              <a:t>WB_food_import_share | World Bank WDI: Food imports (% of merchandise imports)</a:t>
            </a:r>
          </a:p>
          <a:p xmlns:a="http://schemas.openxmlformats.org/drawingml/2006/main">
            <a:r>
              <a:t>https://api.worldbank.org/v2/country/all/indicator/TM.VAL.FOOD.ZS.UN?date=2000:2025&amp;format=json&amp;per_page=20000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a:p xmlns:a="http://schemas.openxmlformats.org/drawingml/2006/main">
            <a:r>
              <a:t/>
            </a:r>
          </a:p>
          <a:p xmlns:a="http://schemas.openxmlformats.org/drawingml/2006/main">
            <a:r>
              <a:t>WB_food_export_share | World Bank WDI: Food exports (% of merchandise exports)</a:t>
            </a:r>
          </a:p>
          <a:p xmlns:a="http://schemas.openxmlformats.org/drawingml/2006/main">
            <a:r>
              <a:t>https://api.worldbank.org/v2/country/all/indicator/TX.VAL.FOOD.ZS.UN?date=2000:2025&amp;format=json&amp;per_page=20000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a:p xmlns:a="http://schemas.openxmlformats.org/drawingml/2006/main">
            <a:r>
              <a:t/>
            </a:r>
          </a:p>
          <a:p xmlns:a="http://schemas.openxmlformats.org/drawingml/2006/main">
            <a:r>
              <a:t>WB_imports_usd | World Bank WDI: Merchandise imports (current US$)</a:t>
            </a:r>
          </a:p>
          <a:p xmlns:a="http://schemas.openxmlformats.org/drawingml/2006/main">
            <a:r>
              <a:t>https://api.worldbank.org/v2/country/all/indicator/TM.VAL.MRCH.CD.WT?date=2000:2025&amp;format=json&amp;per_page=20000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Exact URLs and limitations are in the linked source book.</a:t>
            </a:r>
          </a:p>
          <a:p xmlns:a="http://schemas.openxmlformats.org/drawingml/2006/main">
            <a:r>
              <a:t/>
            </a:r>
          </a:p>
          <a:p xmlns:a="http://schemas.openxmlformats.org/drawingml/2006/main">
            <a:r>
              <a:t>Evidence: WB_exports_usd, WB_cereal_yield, WB_water_stress, CO_NGA, CO_GHA, CO_SEN. WB_exports_usd | https://api.worldbank.org/v2/country/all/indicator/TX.VAL.MRCH.CD.WT?date=2000:2025&amp;format=json&amp;per_page=20000 | Source 2; series and country/year records, update 2026-07-13 | Latest available year differs by country/series. No missing value imputed.</a:t>
            </a:r>
          </a:p>
          <a:p xmlns:a="http://schemas.openxmlformats.org/drawingml/2006/main">
            <a:r>
              <a:t/>
            </a:r>
          </a:p>
          <a:p xmlns:a="http://schemas.openxmlformats.org/drawingml/2006/main">
            <a:r>
              <a:t>WB_cereal_yield | https://api.worldbank.org/v2/country/all/indicator/AG.YLD.CREL.KG?date=2000:2025&amp;format=json&amp;per_page=20000 | Source 2; series and country/year records, update 2026-07-13 | Latest available year differs by country/series. No missing value imputed.</a:t>
            </a:r>
          </a:p>
          <a:p xmlns:a="http://schemas.openxmlformats.org/drawingml/2006/main">
            <a:r>
              <a:t/>
            </a:r>
          </a:p>
          <a:p xmlns:a="http://schemas.openxmlformats.org/drawingml/2006/main">
            <a:r>
              <a:t>WB_water_stress | https://api.worldbank.org/v2/country/all/indicator/ER.H2O.FWST.ZS?date=2000:2025&amp;format=json&amp;per_page=20000 | Source 2; series and country/year records, update 2026-07-13 | Latest available year differs by country/series. No missing value imputed.</a:t>
            </a:r>
          </a:p>
          <a:p xmlns:a="http://schemas.openxmlformats.org/drawingml/2006/main">
            <a:r>
              <a:t/>
            </a:r>
          </a:p>
          <a:p xmlns:a="http://schemas.openxmlformats.org/drawingml/2006/main">
            <a:r>
              <a:t>CO_NGA | https://www.olamagri.com/locations/nigeria | Country capability/product sections | Capability evidence does not disclose incremental project returns.</a:t>
            </a:r>
          </a:p>
          <a:p xmlns:a="http://schemas.openxmlformats.org/drawingml/2006/main">
            <a:r>
              <a:t/>
            </a:r>
          </a:p>
          <a:p xmlns:a="http://schemas.openxmlformats.org/drawingml/2006/main">
            <a:r>
              <a:t>CO_GHA | https://www.olamagri.com/locations/ghana | Country capability/product sections | Capability evidence does not disclose incremental project returns.</a:t>
            </a:r>
          </a:p>
          <a:p xmlns:a="http://schemas.openxmlformats.org/drawingml/2006/main">
            <a:r>
              <a:t/>
            </a:r>
          </a:p>
          <a:p xmlns:a="http://schemas.openxmlformats.org/drawingml/2006/main">
            <a:r>
              <a:t>CO_SEN | https://www.olamagri.com/locations/senegal | Country capability/product sections | Capability evidence does not disclose incremental project returns.</a:t>
            </a:r>
          </a:p>
          <a:p xmlns:a="http://schemas.openxmlformats.org/drawingml/2006/main">
            <a:r>
              <a:t>Source lineage: WB_exports_usd, WB_cereal_yield, WB_water_stress, CO_NGA, CO_GHA, CO_SEN</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WB_exports_usd, WB_cereal_yield, WB_water_stress, CO_NGA, CO_GHA, CO_SEN; ; source-book, calculation-appendix, CEO-question register, priority-commercial-plans and requirements-audit. Public package /case-studies/olam-global/.</a:t>
            </a:r>
          </a:p>
          <a:p xmlns:a="http://schemas.openxmlformats.org/drawingml/2006/main">
            <a:r>
              <a:t/>
            </a:r>
          </a:p>
          <a:p xmlns:a="http://schemas.openxmlformats.org/drawingml/2006/main">
            <a:r>
              <a:t>WB_exports_usd | World Bank WDI: Merchandise exports (current US$)</a:t>
            </a:r>
          </a:p>
          <a:p xmlns:a="http://schemas.openxmlformats.org/drawingml/2006/main">
            <a:r>
              <a:t>https://api.worldbank.org/v2/country/all/indicator/TX.VAL.MRCH.CD.WT?date=2000:2025&amp;format=json&amp;per_page=20000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a:p xmlns:a="http://schemas.openxmlformats.org/drawingml/2006/main">
            <a:r>
              <a:t/>
            </a:r>
          </a:p>
          <a:p xmlns:a="http://schemas.openxmlformats.org/drawingml/2006/main">
            <a:r>
              <a:t>WB_cereal_yield | World Bank WDI: Cereal yield (kg per hectare)</a:t>
            </a:r>
          </a:p>
          <a:p xmlns:a="http://schemas.openxmlformats.org/drawingml/2006/main">
            <a:r>
              <a:t>https://api.worldbank.org/v2/country/all/indicator/AG.YLD.CREL.KG?date=2000:2025&amp;format=json&amp;per_page=20000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a:p xmlns:a="http://schemas.openxmlformats.org/drawingml/2006/main">
            <a:r>
              <a:t/>
            </a:r>
          </a:p>
          <a:p xmlns:a="http://schemas.openxmlformats.org/drawingml/2006/main">
            <a:r>
              <a:t>WB_water_stress | World Bank WDI: Level of water stress: freshwater withdrawal as a proportion of available freshwater resources</a:t>
            </a:r>
          </a:p>
          <a:p xmlns:a="http://schemas.openxmlformats.org/drawingml/2006/main">
            <a:r>
              <a:t>https://api.worldbank.org/v2/country/all/indicator/ER.H2O.FWST.ZS?date=2000:2025&amp;format=json&amp;per_page=20000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a:p xmlns:a="http://schemas.openxmlformats.org/drawingml/2006/main">
            <a:r>
              <a:t/>
            </a:r>
          </a:p>
          <a:p xmlns:a="http://schemas.openxmlformats.org/drawingml/2006/main">
            <a:r>
              <a:t>CO_NGA | Olam Agri Nigeria</a:t>
            </a:r>
          </a:p>
          <a:p xmlns:a="http://schemas.openxmlformats.org/drawingml/2006/main">
            <a:r>
              <a:t>https://www.olamagri.com/locations/nigeria</a:t>
            </a:r>
          </a:p>
          <a:p xmlns:a="http://schemas.openxmlformats.org/drawingml/2006/main">
            <a:r>
              <a:t>Country capability/product sections</a:t>
            </a:r>
          </a:p>
          <a:p xmlns:a="http://schemas.openxmlformats.org/drawingml/2006/main">
            <a:r>
              <a:t>Capability evidence does not disclose incremental project returns.</a:t>
            </a:r>
          </a:p>
          <a:p xmlns:a="http://schemas.openxmlformats.org/drawingml/2006/main">
            <a:r>
              <a:t/>
            </a:r>
          </a:p>
          <a:p xmlns:a="http://schemas.openxmlformats.org/drawingml/2006/main">
            <a:r>
              <a:t>CO_GHA | Olam Agri Ghana</a:t>
            </a:r>
          </a:p>
          <a:p xmlns:a="http://schemas.openxmlformats.org/drawingml/2006/main">
            <a:r>
              <a:t>https://www.olamagri.com/locations/ghana</a:t>
            </a:r>
          </a:p>
          <a:p xmlns:a="http://schemas.openxmlformats.org/drawingml/2006/main">
            <a:r>
              <a:t>Country capability/product sections</a:t>
            </a:r>
          </a:p>
          <a:p xmlns:a="http://schemas.openxmlformats.org/drawingml/2006/main">
            <a:r>
              <a:t>Capability evidence does not disclose incremental project returns.</a:t>
            </a:r>
          </a:p>
          <a:p xmlns:a="http://schemas.openxmlformats.org/drawingml/2006/main">
            <a:r>
              <a:t/>
            </a:r>
          </a:p>
          <a:p xmlns:a="http://schemas.openxmlformats.org/drawingml/2006/main">
            <a:r>
              <a:t>CO_SEN | Olam Agri Senegal</a:t>
            </a:r>
          </a:p>
          <a:p xmlns:a="http://schemas.openxmlformats.org/drawingml/2006/main">
            <a:r>
              <a:t>https://www.olamagri.com/locations/senegal</a:t>
            </a:r>
          </a:p>
          <a:p xmlns:a="http://schemas.openxmlformats.org/drawingml/2006/main">
            <a:r>
              <a:t>Country capability/product sections</a:t>
            </a:r>
          </a:p>
          <a:p xmlns:a="http://schemas.openxmlformats.org/drawingml/2006/main">
            <a:r>
              <a:t>Capability evidence does not disclose incremental project returns.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Exact URLs and limitations are in the linked source book.</a:t>
            </a:r>
          </a:p>
          <a:p xmlns:a="http://schemas.openxmlformats.org/drawingml/2006/main">
            <a:r>
              <a:t/>
            </a:r>
          </a:p>
          <a:p xmlns:a="http://schemas.openxmlformats.org/drawingml/2006/main">
            <a:r>
              <a:t>Evidence: CO_CMR, CO_MOZ, CO_ZAF, CO_IND, CO_VNM, CO_BRA. CO_CMR | https://www.olamagri.com/locations/cameroon | Country capability/product sections | Capability evidence does not disclose incremental project returns.</a:t>
            </a:r>
          </a:p>
          <a:p xmlns:a="http://schemas.openxmlformats.org/drawingml/2006/main">
            <a:r>
              <a:t/>
            </a:r>
          </a:p>
          <a:p xmlns:a="http://schemas.openxmlformats.org/drawingml/2006/main">
            <a:r>
              <a:t>CO_MOZ | https://www.olamagri.com/locations/mozambique | Country capability/product sections | Capability evidence does not disclose incremental project returns.</a:t>
            </a:r>
          </a:p>
          <a:p xmlns:a="http://schemas.openxmlformats.org/drawingml/2006/main">
            <a:r>
              <a:t/>
            </a:r>
          </a:p>
          <a:p xmlns:a="http://schemas.openxmlformats.org/drawingml/2006/main">
            <a:r>
              <a:t>CO_ZAF | https://www.olamagri.com/locations/south-africa | Country capability/product sections | Capability evidence does not disclose incremental project returns.</a:t>
            </a:r>
          </a:p>
          <a:p xmlns:a="http://schemas.openxmlformats.org/drawingml/2006/main">
            <a:r>
              <a:t/>
            </a:r>
          </a:p>
          <a:p xmlns:a="http://schemas.openxmlformats.org/drawingml/2006/main">
            <a:r>
              <a:t>CO_IND | https://www.olamagri.com/locations/india | Country capability/product sections | Capability evidence does not disclose incremental project returns.</a:t>
            </a:r>
          </a:p>
          <a:p xmlns:a="http://schemas.openxmlformats.org/drawingml/2006/main">
            <a:r>
              <a:t/>
            </a:r>
          </a:p>
          <a:p xmlns:a="http://schemas.openxmlformats.org/drawingml/2006/main">
            <a:r>
              <a:t>CO_VNM | https://www.olamagri.com/locations/vietnam | Country capability/product sections | Capability evidence does not disclose incremental project returns.</a:t>
            </a:r>
          </a:p>
          <a:p xmlns:a="http://schemas.openxmlformats.org/drawingml/2006/main">
            <a:r>
              <a:t/>
            </a:r>
          </a:p>
          <a:p xmlns:a="http://schemas.openxmlformats.org/drawingml/2006/main">
            <a:r>
              <a:t>CO_BRA | https://www.olamagri.com/locations/brazil | Country capability/product sections | Capability evidence does not disclose incremental project returns.</a:t>
            </a:r>
          </a:p>
          <a:p xmlns:a="http://schemas.openxmlformats.org/drawingml/2006/main">
            <a:r>
              <a:t>Source lineage: CO_CMR, CO_MOZ, CO_ZAF, CO_IND, CO_VNM, CO_BRA</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CO_CMR, CO_MOZ, CO_ZAF, CO_IND, CO_VNM, CO_BRA; ; source-book, calculation-appendix, CEO-question register, priority-commercial-plans and requirements-audit. Public package /case-studies/olam-global/.</a:t>
            </a:r>
          </a:p>
          <a:p xmlns:a="http://schemas.openxmlformats.org/drawingml/2006/main">
            <a:r>
              <a:t/>
            </a:r>
          </a:p>
          <a:p xmlns:a="http://schemas.openxmlformats.org/drawingml/2006/main">
            <a:r>
              <a:t>CO_CMR | Olam Agri Cameroon</a:t>
            </a:r>
          </a:p>
          <a:p xmlns:a="http://schemas.openxmlformats.org/drawingml/2006/main">
            <a:r>
              <a:t>https://www.olamagri.com/locations/cameroon</a:t>
            </a:r>
          </a:p>
          <a:p xmlns:a="http://schemas.openxmlformats.org/drawingml/2006/main">
            <a:r>
              <a:t>Country capability/product sections</a:t>
            </a:r>
          </a:p>
          <a:p xmlns:a="http://schemas.openxmlformats.org/drawingml/2006/main">
            <a:r>
              <a:t>Capability evidence does not disclose incremental project returns.</a:t>
            </a:r>
          </a:p>
          <a:p xmlns:a="http://schemas.openxmlformats.org/drawingml/2006/main">
            <a:r>
              <a:t/>
            </a:r>
          </a:p>
          <a:p xmlns:a="http://schemas.openxmlformats.org/drawingml/2006/main">
            <a:r>
              <a:t>CO_MOZ | Olam Agri Mozambique</a:t>
            </a:r>
          </a:p>
          <a:p xmlns:a="http://schemas.openxmlformats.org/drawingml/2006/main">
            <a:r>
              <a:t>https://www.olamagri.com/locations/mozambique</a:t>
            </a:r>
          </a:p>
          <a:p xmlns:a="http://schemas.openxmlformats.org/drawingml/2006/main">
            <a:r>
              <a:t>Country capability/product sections</a:t>
            </a:r>
          </a:p>
          <a:p xmlns:a="http://schemas.openxmlformats.org/drawingml/2006/main">
            <a:r>
              <a:t>Capability evidence does not disclose incremental project returns.</a:t>
            </a:r>
          </a:p>
          <a:p xmlns:a="http://schemas.openxmlformats.org/drawingml/2006/main">
            <a:r>
              <a:t/>
            </a:r>
          </a:p>
          <a:p xmlns:a="http://schemas.openxmlformats.org/drawingml/2006/main">
            <a:r>
              <a:t>CO_ZAF | Olam Agri South-Africa</a:t>
            </a:r>
          </a:p>
          <a:p xmlns:a="http://schemas.openxmlformats.org/drawingml/2006/main">
            <a:r>
              <a:t>https://www.olamagri.com/locations/south-africa</a:t>
            </a:r>
          </a:p>
          <a:p xmlns:a="http://schemas.openxmlformats.org/drawingml/2006/main">
            <a:r>
              <a:t>Country capability/product sections</a:t>
            </a:r>
          </a:p>
          <a:p xmlns:a="http://schemas.openxmlformats.org/drawingml/2006/main">
            <a:r>
              <a:t>Capability evidence does not disclose incremental project returns.</a:t>
            </a:r>
          </a:p>
          <a:p xmlns:a="http://schemas.openxmlformats.org/drawingml/2006/main">
            <a:r>
              <a:t/>
            </a:r>
          </a:p>
          <a:p xmlns:a="http://schemas.openxmlformats.org/drawingml/2006/main">
            <a:r>
              <a:t>CO_IND | Olam Agri India</a:t>
            </a:r>
          </a:p>
          <a:p xmlns:a="http://schemas.openxmlformats.org/drawingml/2006/main">
            <a:r>
              <a:t>https://www.olamagri.com/locations/india</a:t>
            </a:r>
          </a:p>
          <a:p xmlns:a="http://schemas.openxmlformats.org/drawingml/2006/main">
            <a:r>
              <a:t>Country capability/product sections</a:t>
            </a:r>
          </a:p>
          <a:p xmlns:a="http://schemas.openxmlformats.org/drawingml/2006/main">
            <a:r>
              <a:t>Capability evidence does not disclose incremental project returns.</a:t>
            </a:r>
          </a:p>
          <a:p xmlns:a="http://schemas.openxmlformats.org/drawingml/2006/main">
            <a:r>
              <a:t/>
            </a:r>
          </a:p>
          <a:p xmlns:a="http://schemas.openxmlformats.org/drawingml/2006/main">
            <a:r>
              <a:t>CO_VNM | Olam Agri Vietnam</a:t>
            </a:r>
          </a:p>
          <a:p xmlns:a="http://schemas.openxmlformats.org/drawingml/2006/main">
            <a:r>
              <a:t>https://www.olamagri.com/locations/vietnam</a:t>
            </a:r>
          </a:p>
          <a:p xmlns:a="http://schemas.openxmlformats.org/drawingml/2006/main">
            <a:r>
              <a:t>Country capability/product sections</a:t>
            </a:r>
          </a:p>
          <a:p xmlns:a="http://schemas.openxmlformats.org/drawingml/2006/main">
            <a:r>
              <a:t>Capability evidence does not disclose incremental project returns.</a:t>
            </a:r>
          </a:p>
          <a:p xmlns:a="http://schemas.openxmlformats.org/drawingml/2006/main">
            <a:r>
              <a:t/>
            </a:r>
          </a:p>
          <a:p xmlns:a="http://schemas.openxmlformats.org/drawingml/2006/main">
            <a:r>
              <a:t>CO_BRA | Olam Agri Brazil</a:t>
            </a:r>
          </a:p>
          <a:p xmlns:a="http://schemas.openxmlformats.org/drawingml/2006/main">
            <a:r>
              <a:t>https://www.olamagri.com/locations/brazil</a:t>
            </a:r>
          </a:p>
          <a:p xmlns:a="http://schemas.openxmlformats.org/drawingml/2006/main">
            <a:r>
              <a:t>Country capability/product sections</a:t>
            </a:r>
          </a:p>
          <a:p xmlns:a="http://schemas.openxmlformats.org/drawingml/2006/main">
            <a:r>
              <a:t>Capability evidence does not disclose incremental project returns.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Exact URLs and limitations are in the linked source book.</a:t>
            </a:r>
          </a:p>
          <a:p xmlns:a="http://schemas.openxmlformats.org/drawingml/2006/main">
            <a:r>
              <a:t/>
            </a:r>
          </a:p>
          <a:p xmlns:a="http://schemas.openxmlformats.org/drawingml/2006/main">
            <a:r>
              <a:t>Evidence: IPCC, WMO, EUDR, USDA_NGA, USDA_OIL, COMTRADE. IPCC | https://www.ipcc.ch/report/ar6/wg2/chapter/chapter-5/ | Chapter 5; food system risks, adaptation and regional limits | No country/crop coefficient transplanted to Olam assets.</a:t>
            </a:r>
          </a:p>
          <a:p xmlns:a="http://schemas.openxmlformats.org/drawingml/2006/main">
            <a:r>
              <a:t/>
            </a:r>
          </a:p>
          <a:p xmlns:a="http://schemas.openxmlformats.org/drawingml/2006/main">
            <a:r>
              <a:t>WMO | https://wmo.int/publication-series/state-of-global-climate/state-of-global-climate-2025 | 23 March 2026 release; global temperature and climate indicators | Global annual anomaly is not local crop damage.</a:t>
            </a:r>
          </a:p>
          <a:p xmlns:a="http://schemas.openxmlformats.org/drawingml/2006/main">
            <a:r>
              <a:t/>
            </a:r>
          </a:p>
          <a:p xmlns:a="http://schemas.openxmlformats.org/drawingml/2006/main">
            <a:r>
              <a:t>EUDR | https://eur-lex.europa.eu/eli/reg/2023/1115/oj/eng | Articles 3–4 and commodity/product annex | Product, amendments, implementation dates and jurisdiction require current counsel review; no legal clearance.</a:t>
            </a:r>
          </a:p>
          <a:p xmlns:a="http://schemas.openxmlformats.org/drawingml/2006/main">
            <a:r>
              <a:t/>
            </a:r>
          </a:p>
          <a:p xmlns:a="http://schemas.openxmlformats.org/drawingml/2006/main">
            <a:r>
              <a:t>USDA_NGA | https://apps.fas.usda.gov/newgainapi/api/Report/DownloadReportByFileName?fileName=Grain+and+Feed+Annual_Lagos_Nigeria_NI2026-0003.pdf | Wheat supply/trade and flour-demand narrative | Marketing-year trade estimates are not Olam orders.</a:t>
            </a:r>
          </a:p>
          <a:p xmlns:a="http://schemas.openxmlformats.org/drawingml/2006/main">
            <a:r>
              <a:t/>
            </a:r>
          </a:p>
          <a:p xmlns:a="http://schemas.openxmlformats.org/drawingml/2006/main">
            <a:r>
              <a:t>USDA_OIL | https://apps.fas.usda.gov/newgainapi/api/Report/DownloadReportByFileName?fileName=Nigeria+Announces+2026+Fiscal+and+Trade+Policy+Changes_Lagos_Nigeria_NI2026-0010.pdf | Oilseeds/products and crude/refined policy discussion | Verify current HS subheading and Nigeria Customs rules before contracting.</a:t>
            </a:r>
          </a:p>
          <a:p xmlns:a="http://schemas.openxmlformats.org/drawingml/2006/main">
            <a:r>
              <a:t/>
            </a:r>
          </a:p>
          <a:p xmlns:a="http://schemas.openxmlformats.org/drawingml/2006/main">
            <a:r>
              <a:t>COMTRADE | https://comtradeapi.un.org/public/v1/preview/C/A/HS?period=2024&amp;reporterCode=566&amp;cmdCode=1001&amp;flowCode=M&amp;partnerCode=0&amp;partner2Code=0&amp;customsCode=C00&amp;motCode=0&amp;maxRecords=500 | 2024, reporter 566, HS 1001, flow M, partner 0 | CIF USD1.0475bn; net weight null, reported flag false. Never interpret quantity 0 with unit -1 as zero imports.</a:t>
            </a:r>
          </a:p>
          <a:p xmlns:a="http://schemas.openxmlformats.org/drawingml/2006/main">
            <a:r>
              <a:t>Source lineage: IPCC, WMO, EUDR, USDA_NGA, USDA_OIL, COMTRADE</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IPCC, WMO, EUDR, USDA_NGA, USDA_OIL, COMTRADE; ; source-book, calculation-appendix, CEO-question register, priority-commercial-plans and requirements-audit. Public package /case-studies/olam-global/.</a:t>
            </a:r>
          </a:p>
          <a:p xmlns:a="http://schemas.openxmlformats.org/drawingml/2006/main">
            <a:r>
              <a:t/>
            </a:r>
          </a:p>
          <a:p xmlns:a="http://schemas.openxmlformats.org/drawingml/2006/main">
            <a:r>
              <a:t>IPCC | IPCC AR6 WGII Chapter 5: Food</a:t>
            </a:r>
          </a:p>
          <a:p xmlns:a="http://schemas.openxmlformats.org/drawingml/2006/main">
            <a:r>
              <a:t>https://www.ipcc.ch/report/ar6/wg2/chapter/chapter-5/</a:t>
            </a:r>
          </a:p>
          <a:p xmlns:a="http://schemas.openxmlformats.org/drawingml/2006/main">
            <a:r>
              <a:t>Chapter 5; food system risks, adaptation and regional limits</a:t>
            </a:r>
          </a:p>
          <a:p xmlns:a="http://schemas.openxmlformats.org/drawingml/2006/main">
            <a:r>
              <a:t>No country/crop coefficient transplanted to Olam assets.</a:t>
            </a:r>
          </a:p>
          <a:p xmlns:a="http://schemas.openxmlformats.org/drawingml/2006/main">
            <a:r>
              <a:t/>
            </a:r>
          </a:p>
          <a:p xmlns:a="http://schemas.openxmlformats.org/drawingml/2006/main">
            <a:r>
              <a:t>WMO | WMO State of the Global Climate 2025</a:t>
            </a:r>
          </a:p>
          <a:p xmlns:a="http://schemas.openxmlformats.org/drawingml/2006/main">
            <a:r>
              <a:t>https://wmo.int/publication-series/state-of-global-climate/state-of-global-climate-2025</a:t>
            </a:r>
          </a:p>
          <a:p xmlns:a="http://schemas.openxmlformats.org/drawingml/2006/main">
            <a:r>
              <a:t>23 March 2026 release; global temperature and climate indicators</a:t>
            </a:r>
          </a:p>
          <a:p xmlns:a="http://schemas.openxmlformats.org/drawingml/2006/main">
            <a:r>
              <a:t>Global annual anomaly is not local crop damage.</a:t>
            </a:r>
          </a:p>
          <a:p xmlns:a="http://schemas.openxmlformats.org/drawingml/2006/main">
            <a:r>
              <a:t/>
            </a:r>
          </a:p>
          <a:p xmlns:a="http://schemas.openxmlformats.org/drawingml/2006/main">
            <a:r>
              <a:t>EUDR | EU Regulation 2023/1115</a:t>
            </a:r>
          </a:p>
          <a:p xmlns:a="http://schemas.openxmlformats.org/drawingml/2006/main">
            <a:r>
              <a:t>https://eur-lex.europa.eu/eli/reg/2023/1115/oj/eng</a:t>
            </a:r>
          </a:p>
          <a:p xmlns:a="http://schemas.openxmlformats.org/drawingml/2006/main">
            <a:r>
              <a:t>Articles 3–4 and commodity/product annex</a:t>
            </a:r>
          </a:p>
          <a:p xmlns:a="http://schemas.openxmlformats.org/drawingml/2006/main">
            <a:r>
              <a:t>Product, amendments, implementation dates and jurisdiction require current counsel review; no legal clearance.</a:t>
            </a:r>
          </a:p>
          <a:p xmlns:a="http://schemas.openxmlformats.org/drawingml/2006/main">
            <a:r>
              <a:t/>
            </a:r>
          </a:p>
          <a:p xmlns:a="http://schemas.openxmlformats.org/drawingml/2006/main">
            <a:r>
              <a:t>USDA_NGA | USDA Nigeria Grain and Feed Annual 2026</a:t>
            </a:r>
          </a:p>
          <a:p xmlns:a="http://schemas.openxmlformats.org/drawingml/2006/main">
            <a:r>
              <a:t>https://apps.fas.usda.gov/newgainapi/api/Report/DownloadReportByFileName?fileName=Grain+and+Feed+Annual_Lagos_Nigeria_NI2026-0003.pdf</a:t>
            </a:r>
          </a:p>
          <a:p xmlns:a="http://schemas.openxmlformats.org/drawingml/2006/main">
            <a:r>
              <a:t>Wheat supply/trade and flour-demand narrative</a:t>
            </a:r>
          </a:p>
          <a:p xmlns:a="http://schemas.openxmlformats.org/drawingml/2006/main">
            <a:r>
              <a:t>Marketing-year trade estimates are not Olam orders.</a:t>
            </a:r>
          </a:p>
          <a:p xmlns:a="http://schemas.openxmlformats.org/drawingml/2006/main">
            <a:r>
              <a:t/>
            </a:r>
          </a:p>
          <a:p xmlns:a="http://schemas.openxmlformats.org/drawingml/2006/main">
            <a:r>
              <a:t>USDA_OIL | USDA Nigeria fiscal and trade policy changes 2026</a:t>
            </a:r>
          </a:p>
          <a:p xmlns:a="http://schemas.openxmlformats.org/drawingml/2006/main">
            <a:r>
              <a:t>https://apps.fas.usda.gov/newgainapi/api/Report/DownloadReportByFileName?fileName=Nigeria+Announces+2026+Fiscal+and+Trade+Policy+Changes_Lagos_Nigeria_NI2026-0010.pdf</a:t>
            </a:r>
          </a:p>
          <a:p xmlns:a="http://schemas.openxmlformats.org/drawingml/2006/main">
            <a:r>
              <a:t>Oilseeds/products and crude/refined policy discussion</a:t>
            </a:r>
          </a:p>
          <a:p xmlns:a="http://schemas.openxmlformats.org/drawingml/2006/main">
            <a:r>
              <a:t>Verify current HS subheading and Nigeria Customs rules before contracting.</a:t>
            </a:r>
          </a:p>
          <a:p xmlns:a="http://schemas.openxmlformats.org/drawingml/2006/main">
            <a:r>
              <a:t/>
            </a:r>
          </a:p>
          <a:p xmlns:a="http://schemas.openxmlformats.org/drawingml/2006/main">
            <a:r>
              <a:t>COMTRADE | UN Comtrade Nigeria wheat import preview</a:t>
            </a:r>
          </a:p>
          <a:p xmlns:a="http://schemas.openxmlformats.org/drawingml/2006/main">
            <a:r>
              <a:t>https://comtradeapi.un.org/public/v1/preview/C/A/HS?period=2024&amp;reporterCode=566&amp;cmdCode=1001&amp;flowCode=M&amp;partnerCode=0&amp;partner2Code=0&amp;customsCode=C00&amp;motCode=0&amp;maxRecords=500</a:t>
            </a:r>
          </a:p>
          <a:p xmlns:a="http://schemas.openxmlformats.org/drawingml/2006/main">
            <a:r>
              <a:t>2024, reporter 566, HS 1001, flow M, partner 0</a:t>
            </a:r>
          </a:p>
          <a:p xmlns:a="http://schemas.openxmlformats.org/drawingml/2006/main">
            <a:r>
              <a:t>CIF USD1.0475bn; net weight null, reported flag false. Never interpret quantity 0 with unit -1 as zero imports.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Exact URLs and limitations are in the linked source book.</a:t>
            </a:r>
          </a:p>
          <a:p xmlns:a="http://schemas.openxmlformats.org/drawingml/2006/main">
            <a:r>
              <a:t/>
            </a:r>
          </a:p>
          <a:p xmlns:a="http://schemas.openxmlformats.org/drawingml/2006/main">
            <a:r>
              <a:t>Evidence: CVAR, DID, NOBEL_2003, NOBEL_2018, NOBEL_2021, BASELINE. CVAR | https://sites.math.washington.edu/~rtr/papers/rtr179-CVaR1.pdf | Loss definition and CVaR optimisation formulation | Implemented loss-tail example and stress summaries, not proprietary theorem.</a:t>
            </a:r>
          </a:p>
          <a:p xmlns:a="http://schemas.openxmlformats.org/drawingml/2006/main">
            <a:r>
              <a:t/>
            </a:r>
          </a:p>
          <a:p xmlns:a="http://schemas.openxmlformats.org/drawingml/2006/main">
            <a:r>
              <a:t>DID | https://arxiv.org/abs/1803.09015 | arXiv 1803.09015; identification with multiple time periods | No Olam treatment effect estimated; pilot design only.</a:t>
            </a:r>
          </a:p>
          <a:p xmlns:a="http://schemas.openxmlformats.org/drawingml/2006/main">
            <a:r>
              <a:t/>
            </a:r>
          </a:p>
          <a:p xmlns:a="http://schemas.openxmlformats.org/drawingml/2006/main">
            <a:r>
              <a:t>NOBEL_2003 | https://www.nobelprize.org/prizes/economic-sciences/2003/summary/ | Prize motivation and research contribution | Engle/Granger (time series), Romer/Nordhaus (growth/climate), Card/Angrist/Imbens (causality) guide module choice, not parameter imports.</a:t>
            </a:r>
          </a:p>
          <a:p xmlns:a="http://schemas.openxmlformats.org/drawingml/2006/main">
            <a:r>
              <a:t/>
            </a:r>
          </a:p>
          <a:p xmlns:a="http://schemas.openxmlformats.org/drawingml/2006/main">
            <a:r>
              <a:t>NOBEL_2018 | https://www.nobelprize.org/prizes/economic-sciences/2018/summary/ | Prize motivation and research contribution | Engle/Granger (time series), Romer/Nordhaus (growth/climate), Card/Angrist/Imbens (causality) guide module choice, not parameter imports.</a:t>
            </a:r>
          </a:p>
          <a:p xmlns:a="http://schemas.openxmlformats.org/drawingml/2006/main">
            <a:r>
              <a:t/>
            </a:r>
          </a:p>
          <a:p xmlns:a="http://schemas.openxmlformats.org/drawingml/2006/main">
            <a:r>
              <a:t>NOBEL_2021 | https://www.nobelprize.org/prizes/economic-sciences/2021/summary/ | Prize motivation and research contribution | Engle/Granger (time series), Romer/Nordhaus (growth/climate), Card/Angrist/Imbens (causality) guide module choice, not parameter imports.</a:t>
            </a:r>
          </a:p>
          <a:p xmlns:a="http://schemas.openxmlformats.org/drawingml/2006/main">
            <a:r>
              <a:t/>
            </a:r>
          </a:p>
          <a:p xmlns:a="http://schemas.openxmlformats.org/drawingml/2006/main">
            <a:r>
              <a:t>BASELINE | https://github.com/ManashProtimDeori/Manash-Protim-Deori/tree/13f7393a1c69350c3cfa89bea1baa49cf08d042c | src/data/olamAfricaStrategy.ts; src/lib/olamNigeriaDecisionModel.ts; src/data/resume.ts | Self-described candidate achievements are not audited Olam outcomes.</a:t>
            </a:r>
          </a:p>
          <a:p xmlns:a="http://schemas.openxmlformats.org/drawingml/2006/main">
            <a:r>
              <a:t>Source lineage: CVAR, DID, NOBEL_2003, NOBEL_2018, NOBEL_2021, BASELINE</a:t>
            </a:r>
          </a:p>
          <a:p xmlns:a="http://schemas.openxmlformats.org/drawingml/2006/main">
            <a:r>
              <a:t>Assumptions: </a:t>
            </a:r>
          </a:p>
          <a:p xmlns:a="http://schemas.openxmlformats.org/drawingml/2006/main">
            <a:r>
              <a:t>Calculations: </a:t>
            </a:r>
          </a:p>
          <a:p xmlns:a="http://schemas.openxmlformats.org/drawingml/2006/main">
            <a:r>
              <a:t>Package: /case-studies/olam-global/; workbook source/claim/calculation registers and reproducible scripts.</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CVAR, DID, NOBEL_2003, NOBEL_2018, NOBEL_2021, BASELINE; ; source-book, calculation-appendix, CEO-question register, priority-commercial-plans and requirements-audit. Public package /case-studies/olam-global/.</a:t>
            </a:r>
          </a:p>
          <a:p xmlns:a="http://schemas.openxmlformats.org/drawingml/2006/main">
            <a:r>
              <a:t/>
            </a:r>
          </a:p>
          <a:p xmlns:a="http://schemas.openxmlformats.org/drawingml/2006/main">
            <a:r>
              <a:t>CVAR | Rockafellar &amp; Uryasev: Optimization of CVaR</a:t>
            </a:r>
          </a:p>
          <a:p xmlns:a="http://schemas.openxmlformats.org/drawingml/2006/main">
            <a:r>
              <a:t>https://sites.math.washington.edu/~rtr/papers/rtr179-CVaR1.pdf</a:t>
            </a:r>
          </a:p>
          <a:p xmlns:a="http://schemas.openxmlformats.org/drawingml/2006/main">
            <a:r>
              <a:t>Loss definition and CVaR optimisation formulation</a:t>
            </a:r>
          </a:p>
          <a:p xmlns:a="http://schemas.openxmlformats.org/drawingml/2006/main">
            <a:r>
              <a:t>Implemented loss-tail example and stress summaries, not proprietary theorem.</a:t>
            </a:r>
          </a:p>
          <a:p xmlns:a="http://schemas.openxmlformats.org/drawingml/2006/main">
            <a:r>
              <a:t/>
            </a:r>
          </a:p>
          <a:p xmlns:a="http://schemas.openxmlformats.org/drawingml/2006/main">
            <a:r>
              <a:t>DID | Callaway &amp; Sant’Anna: Difference-in-differences</a:t>
            </a:r>
          </a:p>
          <a:p xmlns:a="http://schemas.openxmlformats.org/drawingml/2006/main">
            <a:r>
              <a:t>https://arxiv.org/abs/1803.09015</a:t>
            </a:r>
          </a:p>
          <a:p xmlns:a="http://schemas.openxmlformats.org/drawingml/2006/main">
            <a:r>
              <a:t>arXiv 1803.09015; identification with multiple time periods</a:t>
            </a:r>
          </a:p>
          <a:p xmlns:a="http://schemas.openxmlformats.org/drawingml/2006/main">
            <a:r>
              <a:t>No Olam treatment effect estimated; pilot design only.</a:t>
            </a:r>
          </a:p>
          <a:p xmlns:a="http://schemas.openxmlformats.org/drawingml/2006/main">
            <a:r>
              <a:t/>
            </a:r>
          </a:p>
          <a:p xmlns:a="http://schemas.openxmlformats.org/drawingml/2006/main">
            <a:r>
              <a:t>NOBEL_2003 | Economic Sciences prize 2003</a:t>
            </a:r>
          </a:p>
          <a:p xmlns:a="http://schemas.openxmlformats.org/drawingml/2006/main">
            <a:r>
              <a:t>https://www.nobelprize.org/prizes/economic-sciences/2003/summary/</a:t>
            </a:r>
          </a:p>
          <a:p xmlns:a="http://schemas.openxmlformats.org/drawingml/2006/main">
            <a:r>
              <a:t>Prize motivation and research contribution</a:t>
            </a:r>
          </a:p>
          <a:p xmlns:a="http://schemas.openxmlformats.org/drawingml/2006/main">
            <a:r>
              <a:t>Engle/Granger (time series), Romer/Nordhaus (growth/climate), Card/Angrist/Imbens (causality) guide module choice, not parameter imports.</a:t>
            </a:r>
          </a:p>
          <a:p xmlns:a="http://schemas.openxmlformats.org/drawingml/2006/main">
            <a:r>
              <a:t/>
            </a:r>
          </a:p>
          <a:p xmlns:a="http://schemas.openxmlformats.org/drawingml/2006/main">
            <a:r>
              <a:t>NOBEL_2018 | Economic Sciences prize 2018</a:t>
            </a:r>
          </a:p>
          <a:p xmlns:a="http://schemas.openxmlformats.org/drawingml/2006/main">
            <a:r>
              <a:t>https://www.nobelprize.org/prizes/economic-sciences/2018/summary/</a:t>
            </a:r>
          </a:p>
          <a:p xmlns:a="http://schemas.openxmlformats.org/drawingml/2006/main">
            <a:r>
              <a:t>Prize motivation and research contribution</a:t>
            </a:r>
          </a:p>
          <a:p xmlns:a="http://schemas.openxmlformats.org/drawingml/2006/main">
            <a:r>
              <a:t>Engle/Granger (time series), Romer/Nordhaus (growth/climate), Card/Angrist/Imbens (causality) guide module choice, not parameter imports.</a:t>
            </a:r>
          </a:p>
          <a:p xmlns:a="http://schemas.openxmlformats.org/drawingml/2006/main">
            <a:r>
              <a:t/>
            </a:r>
          </a:p>
          <a:p xmlns:a="http://schemas.openxmlformats.org/drawingml/2006/main">
            <a:r>
              <a:t>NOBEL_2021 | Economic Sciences prize 2021</a:t>
            </a:r>
          </a:p>
          <a:p xmlns:a="http://schemas.openxmlformats.org/drawingml/2006/main">
            <a:r>
              <a:t>https://www.nobelprize.org/prizes/economic-sciences/2021/summary/</a:t>
            </a:r>
          </a:p>
          <a:p xmlns:a="http://schemas.openxmlformats.org/drawingml/2006/main">
            <a:r>
              <a:t>Prize motivation and research contribution</a:t>
            </a:r>
          </a:p>
          <a:p xmlns:a="http://schemas.openxmlformats.org/drawingml/2006/main">
            <a:r>
              <a:t>Engle/Granger (time series), Romer/Nordhaus (growth/climate), Card/Angrist/Imbens (causality) guide module choice, not parameter imports.</a:t>
            </a:r>
          </a:p>
          <a:p xmlns:a="http://schemas.openxmlformats.org/drawingml/2006/main">
            <a:r>
              <a:t/>
            </a:r>
          </a:p>
          <a:p xmlns:a="http://schemas.openxmlformats.org/drawingml/2006/main">
            <a:r>
              <a:t>BASELINE | Portfolio baseline and résumé</a:t>
            </a:r>
          </a:p>
          <a:p xmlns:a="http://schemas.openxmlformats.org/drawingml/2006/main">
            <a:r>
              <a:t>https://github.com/ManashProtimDeori/Manash-Protim-Deori/tree/13f7393a1c69350c3cfa89bea1baa49cf08d042c</a:t>
            </a:r>
          </a:p>
          <a:p xmlns:a="http://schemas.openxmlformats.org/drawingml/2006/main">
            <a:r>
              <a:t>src/data/olamAfricaStrategy.ts; src/lib/olamNigeriaDecisionModel.ts; src/data/resume.ts</a:t>
            </a:r>
          </a:p>
          <a:p xmlns:a="http://schemas.openxmlformats.org/drawingml/2006/main">
            <a:r>
              <a:t>Self-described candidate achievements are not audited Olam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The owned template remains below its chosen hurdle.</a:t>
            </a:r>
          </a:p>
          <a:p xmlns:a="http://schemas.openxmlformats.org/drawingml/2006/main">
            <a:r>
              <a:t/>
            </a:r>
          </a:p>
          <a:p xmlns:a="http://schemas.openxmlformats.org/drawingml/2006/main">
            <a:r>
              <a:t>Evidence: Chosen assumptions only; no reported calibration. </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C-CAPITAL, C-DCF-plant-managed;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630 one-variable and75 two-variable cases rerun the full cash model.</a:t>
            </a:r>
          </a:p>
          <a:p xmlns:a="http://schemas.openxmlformats.org/drawingml/2006/main">
            <a:r>
              <a:t/>
            </a:r>
          </a:p>
          <a:p xmlns:a="http://schemas.openxmlformats.org/drawingml/2006/main">
            <a:r>
              <a:t>Evidence: Chosen assumptions only; no reported calibration. </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C-SENSITIVITY;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A separate monthly teaching case reconciles stock and collections.</a:t>
            </a:r>
          </a:p>
          <a:p xmlns:a="http://schemas.openxmlformats.org/drawingml/2006/main">
            <a:r>
              <a:t/>
            </a:r>
          </a:p>
          <a:p xmlns:a="http://schemas.openxmlformats.org/drawingml/2006/main">
            <a:r>
              <a:t>Evidence: Chosen assumptions only; no reported calibration. </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C-MONTHLY;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The supply regression remains rejected for investment forecasting.</a:t>
            </a:r>
          </a:p>
          <a:p xmlns:a="http://schemas.openxmlformats.org/drawingml/2006/main">
            <a:r>
              <a:t/>
            </a:r>
          </a:p>
          <a:p xmlns:a="http://schemas.openxmlformats.org/drawingml/2006/main">
            <a:r>
              <a:t>Evidence: WB_food_index, WB_income_ppp, WB_urban, WB_cereal_yield. </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WB_food_index, WB_income_ppp, WB_urban, WB_cereal_yield; C-OLS; source-book, calculation-appendix, CEO-question register, priority-commercial-plans and requirements-audit. Public package /case-studies/olam-global/.</a:t>
            </a:r>
          </a:p>
          <a:p xmlns:a="http://schemas.openxmlformats.org/drawingml/2006/main">
            <a:r>
              <a:t/>
            </a:r>
          </a:p>
          <a:p xmlns:a="http://schemas.openxmlformats.org/drawingml/2006/main">
            <a:r>
              <a:t>WB_food_index | World Bank WDI: Food production index (2014-2016 = 100)</a:t>
            </a:r>
          </a:p>
          <a:p xmlns:a="http://schemas.openxmlformats.org/drawingml/2006/main">
            <a:r>
              <a:t>https://api.worldbank.org/v2/country/all/indicator/AG.PRD.FOOD.XD?date=2000:2025&amp;format=json&amp;per_page=20000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a:p xmlns:a="http://schemas.openxmlformats.org/drawingml/2006/main">
            <a:r>
              <a:t/>
            </a:r>
          </a:p>
          <a:p xmlns:a="http://schemas.openxmlformats.org/drawingml/2006/main">
            <a:r>
              <a:t>WB_income_ppp | World Bank WDI: GDP per capita, PPP (constant 2021 international $)</a:t>
            </a:r>
          </a:p>
          <a:p xmlns:a="http://schemas.openxmlformats.org/drawingml/2006/main">
            <a:r>
              <a:t>https://api.worldbank.org/v2/country/all/indicator/NY.GDP.PCAP.PP.KD?date=2000:2025&amp;format=json&amp;per_page=20000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a:p xmlns:a="http://schemas.openxmlformats.org/drawingml/2006/main">
            <a:r>
              <a:t/>
            </a:r>
          </a:p>
          <a:p xmlns:a="http://schemas.openxmlformats.org/drawingml/2006/main">
            <a:r>
              <a:t>WB_urban | World Bank WDI: Urban population (% of total population)</a:t>
            </a:r>
          </a:p>
          <a:p xmlns:a="http://schemas.openxmlformats.org/drawingml/2006/main">
            <a:r>
              <a:t>https://api.worldbank.org/v2/country/all/indicator/SP.URB.TOTL.IN.ZS?date=2000:2025&amp;format=json&amp;per_page=20000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a:p xmlns:a="http://schemas.openxmlformats.org/drawingml/2006/main">
            <a:r>
              <a:t/>
            </a:r>
          </a:p>
          <a:p xmlns:a="http://schemas.openxmlformats.org/drawingml/2006/main">
            <a:r>
              <a:t>WB_cereal_yield | World Bank WDI: Cereal yield (kg per hectare)</a:t>
            </a:r>
          </a:p>
          <a:p xmlns:a="http://schemas.openxmlformats.org/drawingml/2006/main">
            <a:r>
              <a:t>https://api.worldbank.org/v2/country/all/indicator/AG.YLD.CREL.KG?date=2000:2025&amp;format=json&amp;per_page=20000</a:t>
            </a:r>
          </a:p>
          <a:p xmlns:a="http://schemas.openxmlformats.org/drawingml/2006/main">
            <a:r>
              <a:t>Source 2; series and country/year records, update 2026-07-13</a:t>
            </a:r>
          </a:p>
          <a:p xmlns:a="http://schemas.openxmlformats.org/drawingml/2006/main">
            <a:r>
              <a:t>Latest available year differs by country/series. No missing value imputed.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A PSD factor matrix is checked; the shocks remain uncalibrated.</a:t>
            </a:r>
          </a:p>
          <a:p xmlns:a="http://schemas.openxmlformats.org/drawingml/2006/main">
            <a:r>
              <a:t/>
            </a:r>
          </a:p>
          <a:p xmlns:a="http://schemas.openxmlformats.org/drawingml/2006/main">
            <a:r>
              <a:t>Evidence: CVAR. </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CVAR; C-DEPENDENCE; source-book, calculation-appendix, CEO-question register, priority-commercial-plans and requirements-audit. Public package /case-studies/olam-global/.</a:t>
            </a:r>
          </a:p>
          <a:p xmlns:a="http://schemas.openxmlformats.org/drawingml/2006/main">
            <a:r>
              <a:t/>
            </a:r>
          </a:p>
          <a:p xmlns:a="http://schemas.openxmlformats.org/drawingml/2006/main">
            <a:r>
              <a:t>CVAR | Rockafellar &amp; Uryasev: Optimization of CVaR</a:t>
            </a:r>
          </a:p>
          <a:p xmlns:a="http://schemas.openxmlformats.org/drawingml/2006/main">
            <a:r>
              <a:t>https://sites.math.washington.edu/~rtr/papers/rtr179-CVaR1.pdf</a:t>
            </a:r>
          </a:p>
          <a:p xmlns:a="http://schemas.openxmlformats.org/drawingml/2006/main">
            <a:r>
              <a:t>Loss definition and CVaR optimisation formulation</a:t>
            </a:r>
          </a:p>
          <a:p xmlns:a="http://schemas.openxmlformats.org/drawingml/2006/main">
            <a:r>
              <a:t>Implemented loss-tail example and stress summaries, not proprietary theorem.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The chosen imperfect test earns0.70 USDm net value.</a:t>
            </a:r>
          </a:p>
          <a:p xmlns:a="http://schemas.openxmlformats.org/drawingml/2006/main">
            <a:r>
              <a:t/>
            </a:r>
          </a:p>
          <a:p xmlns:a="http://schemas.openxmlformats.org/drawingml/2006/main">
            <a:r>
              <a:t>Evidence: Chosen assumptions only; no reported calibration. </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C-EVSI;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A physical bottleneck can make added demand destroy contribution.</a:t>
            </a:r>
          </a:p>
          <a:p xmlns:a="http://schemas.openxmlformats.org/drawingml/2006/main">
            <a:r>
              <a:t/>
            </a:r>
          </a:p>
          <a:p xmlns:a="http://schemas.openxmlformats.org/drawingml/2006/main">
            <a:r>
              <a:t>Evidence: Chosen assumptions only; no reported calibration. </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C-CAPACITY-MARKETING;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The chosen network LP blocks an inaccessible route.</a:t>
            </a:r>
          </a:p>
          <a:p xmlns:a="http://schemas.openxmlformats.org/drawingml/2006/main">
            <a:r>
              <a:t/>
            </a:r>
          </a:p>
          <a:p xmlns:a="http://schemas.openxmlformats.org/drawingml/2006/main">
            <a:r>
              <a:t>Evidence: Chosen assumptions only; no reported calibration. </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C-NETWORK;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Feasibility changes what can be called optimal.</a:t>
            </a:r>
          </a:p>
          <a:p xmlns:a="http://schemas.openxmlformats.org/drawingml/2006/main">
            <a:r>
              <a:t/>
            </a:r>
          </a:p>
          <a:p xmlns:a="http://schemas.openxmlformats.org/drawingml/2006/main">
            <a:r>
              <a:t>Evidence: Chosen assumptions only; no reported calibration. </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C-REGRET;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Ablations reveal the cash, physical and learning mechanisms.</a:t>
            </a:r>
          </a:p>
          <a:p xmlns:a="http://schemas.openxmlformats.org/drawingml/2006/main">
            <a:r>
              <a:t/>
            </a:r>
          </a:p>
          <a:p xmlns:a="http://schemas.openxmlformats.org/drawingml/2006/main">
            <a:r>
              <a:t>Evidence: Chosen assumptions only; no reported calibration. </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C-ABLATION;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Global rivals disclose network and customer mechanisms; local shares remain missing.</a:t>
            </a:r>
          </a:p>
          <a:p xmlns:a="http://schemas.openxmlformats.org/drawingml/2006/main">
            <a:r>
              <a:t/>
            </a:r>
          </a:p>
          <a:p xmlns:a="http://schemas.openxmlformats.org/drawingml/2006/main">
            <a:r>
              <a:t>Evidence: ADM_2025, CARGILL_2026, BUNGE_VITERRA. </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ADM_2025, CARGILL_2026, BUNGE_VITERRA; ; source-book, calculation-appendix, CEO-question register, priority-commercial-plans and requirements-audit. Public package /case-studies/olam-global/.</a:t>
            </a:r>
          </a:p>
          <a:p xmlns:a="http://schemas.openxmlformats.org/drawingml/2006/main">
            <a:r>
              <a:t/>
            </a:r>
          </a:p>
          <a:p xmlns:a="http://schemas.openxmlformats.org/drawingml/2006/main">
            <a:r>
              <a:t>ADM_2025 | ADM 2025 Form 10-K</a:t>
            </a:r>
          </a:p>
          <a:p xmlns:a="http://schemas.openxmlformats.org/drawingml/2006/main">
            <a:r>
              <a:t>https://www.sec.gov/Archives/edgar/data/7084/000000708426000011/adm-20251231.htm</a:t>
            </a:r>
          </a:p>
          <a:p xmlns:a="http://schemas.openxmlformats.org/drawingml/2006/main">
            <a:r>
              <a:t>Part I: Competition and Seasonality, Working Capital Needs; printed pp.7–8 and risk factors pp.16–18</a:t>
            </a:r>
          </a:p>
          <a:p xmlns:a="http://schemas.openxmlformats.org/drawingml/2006/main">
            <a:r>
              <a:t>Public disclosure supports rival mechanisms; no country/category shares or comparable Olam margin</a:t>
            </a:r>
          </a:p>
          <a:p xmlns:a="http://schemas.openxmlformats.org/drawingml/2006/main">
            <a:r>
              <a:t/>
            </a:r>
          </a:p>
          <a:p xmlns:a="http://schemas.openxmlformats.org/drawingml/2006/main">
            <a:r>
              <a:t>CARGILL_2026 | Cargill Annual Report 2026: Grow Forward</a:t>
            </a:r>
          </a:p>
          <a:p xmlns:a="http://schemas.openxmlformats.org/drawingml/2006/main">
            <a:r>
              <a:t>https://www.cargill.com/about/2026-annual-report</a:t>
            </a:r>
          </a:p>
          <a:p xmlns:a="http://schemas.openxmlformats.org/drawingml/2006/main">
            <a:r>
              <a:t>Opening summary; helping farmers/customers/people grow</a:t>
            </a:r>
          </a:p>
          <a:p xmlns:a="http://schemas.openxmlformats.org/drawingml/2006/main">
            <a:r>
              <a:t>Corporate positioning is self-reported. No audited comparable EBIT or local market shares used</a:t>
            </a:r>
          </a:p>
          <a:p xmlns:a="http://schemas.openxmlformats.org/drawingml/2006/main">
            <a:r>
              <a:t/>
            </a:r>
          </a:p>
          <a:p xmlns:a="http://schemas.openxmlformats.org/drawingml/2006/main">
            <a:r>
              <a:t>BUNGE_VITERRA | Bunge and Viterra complete merger</a:t>
            </a:r>
          </a:p>
          <a:p xmlns:a="http://schemas.openxmlformats.org/drawingml/2006/main">
            <a:r>
              <a:t>https://www.viterra.com/Media/News/bunge-and-viterra-complete-merger-to-create-premier-global-agribusiness-solutions-company</a:t>
            </a:r>
          </a:p>
          <a:p xmlns:a="http://schemas.openxmlformats.org/drawingml/2006/main">
            <a:r>
              <a:t>Date and opening paragraph; strategic benefits are management expectations</a:t>
            </a:r>
          </a:p>
          <a:p xmlns:a="http://schemas.openxmlformats.org/drawingml/2006/main">
            <a:r>
              <a:t>Count as a combined competitive network after closing; projected synergies are not realized Olam synergies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34 country-driver series are dated and coverage checked.</a:t>
            </a:r>
          </a:p>
          <a:p xmlns:a="http://schemas.openxmlformats.org/drawingml/2006/main">
            <a:r>
              <a:t/>
            </a:r>
          </a:p>
          <a:p xmlns:a="http://schemas.openxmlformats.org/drawingml/2006/main">
            <a:r>
              <a:t>Evidence: WB_fertility, WB_age_over65, WB_poverty, WB_irrigated_land. </a:t>
            </a:r>
          </a:p>
          <a:p xmlns:a="http://schemas.openxmlformats.org/drawingml/2006/main">
            <a:r>
              <a:t/>
            </a:r>
          </a:p>
          <a:p xmlns:a="http://schemas.openxmlformats.org/drawingml/2006/main">
            <a:r>
              <a:t>Important assumption or limitation: Correct issuer, date, unit and scope must be retained; source evidence does not establish incremental company cash.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WB_fertility, WB_age_over65, WB_poverty, WB_irrigated_land; ; source-book, calculation-appendix, CEO-question register, priority-commercial-plans and requirements-audit. Public package /case-studies/olam-global/.</a:t>
            </a:r>
          </a:p>
          <a:p xmlns:a="http://schemas.openxmlformats.org/drawingml/2006/main">
            <a:r>
              <a:t/>
            </a:r>
          </a:p>
          <a:p xmlns:a="http://schemas.openxmlformats.org/drawingml/2006/main">
            <a:r>
              <a:t>WB_fertility | World Bank WDI: Fertility rate, total (births per woman)</a:t>
            </a:r>
          </a:p>
          <a:p xmlns:a="http://schemas.openxmlformats.org/drawingml/2006/main">
            <a:r>
              <a:t>https://api.worldbank.org/v2/country/all/indicator/SP.DYN.TFRT.IN?date=2000:2025&amp;format=json&amp;per_page=20000</a:t>
            </a:r>
          </a:p>
          <a:p xmlns:a="http://schemas.openxmlformats.org/drawingml/2006/main">
            <a:r>
              <a:t>Series SP.DYN.TFRT.IN; country ISO3/year records; latest non-missing observation; data vintage 2026-07-13</a:t>
            </a:r>
          </a:p>
          <a:p xmlns:a="http://schemas.openxmlformats.org/drawingml/2006/main">
            <a:r>
              <a:t>Country averages and dated observations do not establish Olam customers, effective access, costs or returns. No imputation.</a:t>
            </a:r>
          </a:p>
          <a:p xmlns:a="http://schemas.openxmlformats.org/drawingml/2006/main">
            <a:r>
              <a:t/>
            </a:r>
          </a:p>
          <a:p xmlns:a="http://schemas.openxmlformats.org/drawingml/2006/main">
            <a:r>
              <a:t>WB_age_over65 | World Bank WDI: Population ages 65 and above (% of total population)</a:t>
            </a:r>
          </a:p>
          <a:p xmlns:a="http://schemas.openxmlformats.org/drawingml/2006/main">
            <a:r>
              <a:t>https://api.worldbank.org/v2/country/all/indicator/SP.POP.65UP.TO.ZS?date=2000:2025&amp;format=json&amp;per_page=20000</a:t>
            </a:r>
          </a:p>
          <a:p xmlns:a="http://schemas.openxmlformats.org/drawingml/2006/main">
            <a:r>
              <a:t>Series SP.POP.65UP.TO.ZS; country ISO3/year records; latest non-missing observation; data vintage 2026-07-13</a:t>
            </a:r>
          </a:p>
          <a:p xmlns:a="http://schemas.openxmlformats.org/drawingml/2006/main">
            <a:r>
              <a:t>Country averages and dated observations do not establish Olam customers, effective access, costs or returns. No imputation.</a:t>
            </a:r>
          </a:p>
          <a:p xmlns:a="http://schemas.openxmlformats.org/drawingml/2006/main">
            <a:r>
              <a:t/>
            </a:r>
          </a:p>
          <a:p xmlns:a="http://schemas.openxmlformats.org/drawingml/2006/main">
            <a:r>
              <a:t>WB_poverty | World Bank WDI: Poverty headcount ratio at $3.00 a day (2021 PPP) (% of population)</a:t>
            </a:r>
          </a:p>
          <a:p xmlns:a="http://schemas.openxmlformats.org/drawingml/2006/main">
            <a:r>
              <a:t>https://api.worldbank.org/v2/country/all/indicator/SI.POV.DDAY?date=2000:2025&amp;format=json&amp;per_page=20000</a:t>
            </a:r>
          </a:p>
          <a:p xmlns:a="http://schemas.openxmlformats.org/drawingml/2006/main">
            <a:r>
              <a:t>Series SI.POV.DDAY; country ISO3/year records; latest non-missing observation; data vintage 2026-07-13</a:t>
            </a:r>
          </a:p>
          <a:p xmlns:a="http://schemas.openxmlformats.org/drawingml/2006/main">
            <a:r>
              <a:t>Country averages and dated observations do not establish Olam customers, effective access, costs or returns. No imputation.</a:t>
            </a:r>
          </a:p>
          <a:p xmlns:a="http://schemas.openxmlformats.org/drawingml/2006/main">
            <a:r>
              <a:t/>
            </a:r>
          </a:p>
          <a:p xmlns:a="http://schemas.openxmlformats.org/drawingml/2006/main">
            <a:r>
              <a:t>WB_irrigated_land | World Bank WDI: Agricultural irrigated land (% of total agricultural land)</a:t>
            </a:r>
          </a:p>
          <a:p xmlns:a="http://schemas.openxmlformats.org/drawingml/2006/main">
            <a:r>
              <a:t>https://api.worldbank.org/v2/country/all/indicator/AG.LND.IRIG.AG.ZS?date=2000:2025&amp;format=json&amp;per_page=20000</a:t>
            </a:r>
          </a:p>
          <a:p xmlns:a="http://schemas.openxmlformats.org/drawingml/2006/main">
            <a:r>
              <a:t>Series AG.LND.IRIG.AG.ZS; country ISO3/year records; latest non-missing observation; data vintage 2026-07-13</a:t>
            </a:r>
          </a:p>
          <a:p xmlns:a="http://schemas.openxmlformats.org/drawingml/2006/main">
            <a:r>
              <a:t>Country averages and dated observations do not establish Olam customers, effective access, costs or returns. No imputation.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Eighteen plans specify customer, pack, channel, test and stop rule.</a:t>
            </a:r>
          </a:p>
          <a:p xmlns:a="http://schemas.openxmlformats.org/drawingml/2006/main">
            <a:r>
              <a:t/>
            </a:r>
          </a:p>
          <a:p xmlns:a="http://schemas.openxmlformats.org/drawingml/2006/main">
            <a:r>
              <a:t>Evidence: Chosen assumptions only; no reported calibration. </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C-COVERAGE;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Completion means traceable work and visible unresolved evidence.</a:t>
            </a:r>
          </a:p>
          <a:p xmlns:a="http://schemas.openxmlformats.org/drawingml/2006/main">
            <a:r>
              <a:t/>
            </a:r>
          </a:p>
          <a:p xmlns:a="http://schemas.openxmlformats.org/drawingml/2006/main">
            <a:r>
              <a:t>Evidence: Chosen assumptions only; no reported calibration. </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Use calculation/source IDs and indexed country-product plans.</a:t>
            </a:r>
          </a:p>
          <a:p xmlns:a="http://schemas.openxmlformats.org/drawingml/2006/main">
            <a:r>
              <a:t/>
            </a:r>
          </a:p>
          <a:p xmlns:a="http://schemas.openxmlformats.org/drawingml/2006/main">
            <a:r>
              <a:t>Evidence: Chosen assumptions only; no reported calibration. </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Editable annual cash chart uses the same25-year model spine.</a:t>
            </a:r>
          </a:p>
          <a:p xmlns:a="http://schemas.openxmlformats.org/drawingml/2006/main">
            <a:r>
              <a:t/>
            </a:r>
          </a:p>
          <a:p xmlns:a="http://schemas.openxmlformats.org/drawingml/2006/main">
            <a:r>
              <a:t>Evidence: Chosen assumptions only; no reported calibration. </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C-DCF-plant-managed;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slide means: Chosen low/high input boundaries include full working cash.</a:t>
            </a:r>
          </a:p>
          <a:p xmlns:a="http://schemas.openxmlformats.org/drawingml/2006/main">
            <a:r>
              <a:t/>
            </a:r>
          </a:p>
          <a:p xmlns:a="http://schemas.openxmlformats.org/drawingml/2006/main">
            <a:r>
              <a:t>Evidence: Chosen assumptions only; no reported calibration. </a:t>
            </a:r>
          </a:p>
          <a:p xmlns:a="http://schemas.openxmlformats.org/drawingml/2006/main">
            <a:r>
              <a:t/>
            </a:r>
          </a:p>
          <a:p xmlns:a="http://schemas.openxmlformats.org/drawingml/2006/main">
            <a:r>
              <a:t>Important assumption or limitation: No country/customer/asset investment validation. Distinguish reported inputs from chosen capture, tax, cash, cost and growth.</a:t>
            </a:r>
          </a:p>
          <a:p xmlns:a="http://schemas.openxmlformats.org/drawingml/2006/main">
            <a:r>
              <a:t/>
            </a:r>
          </a:p>
          <a:p xmlns:a="http://schemas.openxmlformats.org/drawingml/2006/main">
            <a:r>
              <a:t>Adverse case: Reprice, cap, partner, wait or stop if paid contribution, physical delivery or monthly funding fails; positive national growth cannot override a failed gate.</a:t>
            </a:r>
          </a:p>
          <a:p xmlns:a="http://schemas.openxmlformats.org/drawingml/2006/main">
            <a:r>
              <a:t/>
            </a:r>
          </a:p>
          <a:p xmlns:a="http://schemas.openxmlformats.org/drawingml/2006/main">
            <a:r>
              <a:t>Likely CEO/CFO challenge: Is this sufficient to approve capital? Answer: No. It supports a costed evidence commitment and explicit G0–G7 releases; actual contracts, costs, rights and seasonal cash still govern approval.</a:t>
            </a:r>
          </a:p>
          <a:p xmlns:a="http://schemas.openxmlformats.org/drawingml/2006/main">
            <a:r>
              <a:t/>
            </a:r>
          </a:p>
          <a:p xmlns:a="http://schemas.openxmlformats.org/drawingml/2006/main">
            <a:r>
              <a:t>Source and appendix references: Chosen assumptions only; no reported calibration; C-SENSITIVITY; source-book, calculation-appendix, CEO-question register, priority-commercial-plans and requirements-audit. Public package /case-studies/olam-global/.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4c705dad708480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2d0aa0a35444af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9c51aed0dc14e4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b1d871f57b0450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f897288e4c441c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bdd3ebb53c648b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CB8BF318-5923-4CD0-BC3D-80B892BCE0D7}"/>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AB70E4B-58ED-4C0C-BACA-E64B680CB20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0BD1465D-3C54-4E33-89C0-1051A52F0A9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71EE48A0-A9EE-4684-ADB5-79387F6F7D21}"/>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C9ECBD16-FA7A-4C06-AD2F-2CF3150A9D2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CCF35462-322B-4A96-8043-6D2F2E80C1BA}"/>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4725C26-8CE6-4C63-8943-22A91B833A9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82C6F7DE-5B25-4549-AAF3-0EA3C75FBF1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941B3F4C-7185-4CDA-9134-85F8F2FC7EC9}"/>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780BC76-BA57-48A3-9EB4-8B6FBFB1158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7A21A28A-FA91-40F1-8606-BB3103F83AF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F48AC68E-F593-440D-AFAC-BEB9A683F56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889D0FB-A663-4994-9706-BF4CA96D9221}"/>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99A748C-4B85-495F-9670-85CF135BA5D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925ED0C4-7C80-4E42-9D29-63ACD6AEAF5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04d4c5785a24ccd" /><Relationship Type="http://schemas.openxmlformats.org/officeDocument/2006/relationships/slideLayout" Target="/ppt/slideLayouts/slideLayout1.xml" Id="R49155786f0ab4d89" /><Relationship Type="http://schemas.openxmlformats.org/officeDocument/2006/relationships/slideLayout" Target="/ppt/slideLayouts/slideLayout2.xml" Id="Rb3c5c5ec1d054980" /><Relationship Type="http://schemas.openxmlformats.org/officeDocument/2006/relationships/slideLayout" Target="/ppt/slideLayouts/slideLayout3.xml" Id="R14bb46c6aad04c81" /><Relationship Type="http://schemas.openxmlformats.org/officeDocument/2006/relationships/slideLayout" Target="/ppt/slideLayouts/slideLayout4.xml" Id="R4da77b878f6f49fd" /><Relationship Type="http://schemas.openxmlformats.org/officeDocument/2006/relationships/slideLayout" Target="/ppt/slideLayouts/slideLayout5.xml" Id="Rd374a74950504407" /><Relationship Type="http://schemas.openxmlformats.org/officeDocument/2006/relationships/slideLayout" Target="/ppt/slideLayouts/slideLayout6.xml" Id="R875d6b2b5432466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9155786f0ab4d89"/>
    <p:sldLayoutId xmlns:r="http://schemas.openxmlformats.org/officeDocument/2006/relationships" id="2147483650" r:id="Rb3c5c5ec1d054980"/>
    <p:sldLayoutId xmlns:r="http://schemas.openxmlformats.org/officeDocument/2006/relationships" id="2147483651" r:id="R14bb46c6aad04c81"/>
    <p:sldLayoutId xmlns:r="http://schemas.openxmlformats.org/officeDocument/2006/relationships" id="2147483652" r:id="R4da77b878f6f49fd"/>
    <p:sldLayoutId xmlns:r="http://schemas.openxmlformats.org/officeDocument/2006/relationships" id="2147483653" r:id="Rd374a74950504407"/>
    <p:sldLayoutId xmlns:r="http://schemas.openxmlformats.org/officeDocument/2006/relationships" id="2147483654" r:id="R875d6b2b5432466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Relationships xmlns="http://schemas.openxmlformats.org/package/2006/relationships"><Relationship Type="http://schemas.openxmlformats.org/officeDocument/2006/relationships/slideLayout" Target="/ppt/slideLayouts/slideLayout6.xml" Id="R8026be9343ac4c03" /><Relationship Type="http://schemas.openxmlformats.org/officeDocument/2006/relationships/slide" Target="slide38.xml" Id="R3b13331afa0e4444" /><Relationship Type="http://schemas.openxmlformats.org/officeDocument/2006/relationships/hyperlink" Target="https://manash-protim-deori.vercel.app/case-studies/olam-global/source-book.pdf" TargetMode="External" Id="R2e0101e1e7884f9c" /><Relationship Type="http://schemas.openxmlformats.org/officeDocument/2006/relationships/notesSlide" Target="/ppt/notesSlides/notesSlide1.xml" Id="R2dc4dfefe7ee43bf" /></Relationships>
</file>

<file path=ppt/slides/_rels/slide2.xml.rels><?xml version='1.0' encoding='utf-8'?>
<Relationships xmlns="http://schemas.openxmlformats.org/package/2006/relationships"><Relationship Type="http://schemas.openxmlformats.org/officeDocument/2006/relationships/slideLayout" Target="/ppt/slideLayouts/slideLayout6.xml" Id="R38d078a3d1a64c7d" /><Relationship Type="http://schemas.openxmlformats.org/officeDocument/2006/relationships/slide" Target="slide38.xml" Id="R7e409f71548a49f9" /><Relationship Type="http://schemas.openxmlformats.org/officeDocument/2006/relationships/hyperlink" Target="https://manash-protim-deori.vercel.app/case-studies/olam-global/source-book.pdf" TargetMode="External" Id="R9dc080c3f3924acf" /><Relationship Type="http://schemas.openxmlformats.org/officeDocument/2006/relationships/notesSlide" Target="/ppt/notesSlides/notesSlide2.xml" Id="Rdaaa8b1348bd4efb" /></Relationships>
</file>

<file path=ppt/slides/_rels/slide3.xml.rels><?xml version='1.0' encoding='utf-8'?>
<Relationships xmlns="http://schemas.openxmlformats.org/package/2006/relationships"><Relationship Type="http://schemas.openxmlformats.org/officeDocument/2006/relationships/slideLayout" Target="/ppt/slideLayouts/slideLayout6.xml" Id="Rf7d2ca50084740c8" /><Relationship Type="http://schemas.openxmlformats.org/officeDocument/2006/relationships/slide" Target="slide38.xml" Id="Ra9fac5e1776f414f" /><Relationship Type="http://schemas.openxmlformats.org/officeDocument/2006/relationships/hyperlink" Target="https://manash-protim-deori.vercel.app/case-studies/olam-global/source-book.pdf" TargetMode="External" Id="R8f0895eaaa794ac2" /><Relationship Type="http://schemas.openxmlformats.org/officeDocument/2006/relationships/notesSlide" Target="/ppt/notesSlides/notesSlide3.xml" Id="R3b3d9b32a81a4c38" /></Relationships>
</file>

<file path=ppt/slides/_rels/slide4.xml.rels><?xml version='1.0' encoding='utf-8'?>
<Relationships xmlns="http://schemas.openxmlformats.org/package/2006/relationships"><Relationship Type="http://schemas.openxmlformats.org/officeDocument/2006/relationships/slideLayout" Target="/ppt/slideLayouts/slideLayout6.xml" Id="Rcc12e2fe6ac24bfe" /><Relationship Type="http://schemas.openxmlformats.org/officeDocument/2006/relationships/slide" Target="slide38.xml" Id="R487426768e5444f8" /><Relationship Type="http://schemas.openxmlformats.org/officeDocument/2006/relationships/hyperlink" Target="https://manash-protim-deori.vercel.app/case-studies/olam-global/source-book.pdf" TargetMode="External" Id="R60b7bb20daa44a66" /><Relationship Type="http://schemas.openxmlformats.org/officeDocument/2006/relationships/notesSlide" Target="/ppt/notesSlides/notesSlide4.xml" Id="Rdc04685f234c4b1b" /></Relationships>
</file>

<file path=ppt/slides/_rels/slide5.xml.rels><?xml version='1.0' encoding='utf-8'?>
<Relationships xmlns="http://schemas.openxmlformats.org/package/2006/relationships"><Relationship Type="http://schemas.openxmlformats.org/officeDocument/2006/relationships/slideLayout" Target="/ppt/slideLayouts/slideLayout6.xml" Id="R6336feccc1404a0d" /><Relationship Type="http://schemas.openxmlformats.org/officeDocument/2006/relationships/slide" Target="slide38.xml" Id="R7ae4c1af01d24b7b" /><Relationship Type="http://schemas.openxmlformats.org/officeDocument/2006/relationships/hyperlink" Target="https://manash-protim-deori.vercel.app/case-studies/olam-global/source-book.pdf" TargetMode="External" Id="R2129acd7579f4858" /><Relationship Type="http://schemas.openxmlformats.org/officeDocument/2006/relationships/notesSlide" Target="/ppt/notesSlides/notesSlide5.xml" Id="Rb3a619763bca4d49" /></Relationships>
</file>

<file path=ppt/slides/_rels/slide6.xml.rels><?xml version='1.0' encoding='utf-8'?>
<Relationships xmlns="http://schemas.openxmlformats.org/package/2006/relationships"><Relationship Type="http://schemas.openxmlformats.org/officeDocument/2006/relationships/slideLayout" Target="/ppt/slideLayouts/slideLayout6.xml" Id="R8e2f3ffcaa354a95" /><Relationship Type="http://schemas.openxmlformats.org/officeDocument/2006/relationships/slide" Target="slide38.xml" Id="R00486f03bda4478b" /><Relationship Type="http://schemas.openxmlformats.org/officeDocument/2006/relationships/hyperlink" Target="https://manash-protim-deori.vercel.app/case-studies/olam-global/source-book.pdf" TargetMode="External" Id="R628fcf6106074b27" /><Relationship Type="http://schemas.openxmlformats.org/officeDocument/2006/relationships/notesSlide" Target="/ppt/notesSlides/notesSlide6.xml" Id="R80d6b39f696a4aef" /></Relationships>
</file>

<file path=ppt/slides/_rels/slide7.xml.rels><?xml version='1.0' encoding='utf-8'?>
<Relationships xmlns="http://schemas.openxmlformats.org/package/2006/relationships"><Relationship Type="http://schemas.openxmlformats.org/officeDocument/2006/relationships/slideLayout" Target="/ppt/slideLayouts/slideLayout6.xml" Id="R3f457285e1cb452f" /><Relationship Type="http://schemas.openxmlformats.org/officeDocument/2006/relationships/chart" Target="/ppt/slides/charts/chart1.xml" Id="R8c41705adeb642b8" /><Relationship Type="http://schemas.openxmlformats.org/officeDocument/2006/relationships/slide" Target="slide38.xml" Id="R62146ee1367449e5" /><Relationship Type="http://schemas.openxmlformats.org/officeDocument/2006/relationships/hyperlink" Target="https://manash-protim-deori.vercel.app/case-studies/olam-global/source-book.pdf" TargetMode="External" Id="R5df6fddaf243480e" /><Relationship Type="http://schemas.openxmlformats.org/officeDocument/2006/relationships/notesSlide" Target="/ppt/notesSlides/notesSlide7.xml" Id="Rbeb9eec039124a81" /></Relationships>
</file>

<file path=ppt/slides/_rels/slide8.xml.rels><?xml version='1.0' encoding='utf-8'?>
<Relationships xmlns="http://schemas.openxmlformats.org/package/2006/relationships"><Relationship Type="http://schemas.openxmlformats.org/officeDocument/2006/relationships/slideLayout" Target="/ppt/slideLayouts/slideLayout6.xml" Id="R81d24f1d91db42c0" /><Relationship Type="http://schemas.openxmlformats.org/officeDocument/2006/relationships/slide" Target="slide38.xml" Id="Rc297de2f33e24306" /><Relationship Type="http://schemas.openxmlformats.org/officeDocument/2006/relationships/hyperlink" Target="https://manash-protim-deori.vercel.app/case-studies/olam-global/source-book.pdf" TargetMode="External" Id="Rdb02e7d50f9d4bc2" /><Relationship Type="http://schemas.openxmlformats.org/officeDocument/2006/relationships/notesSlide" Target="/ppt/notesSlides/notesSlide8.xml" Id="Rb0df5d7dde5c4cf2" /></Relationships>
</file>

<file path=ppt/slides/_rels/slide9.xml.rels><?xml version='1.0' encoding='utf-8'?>
<Relationships xmlns="http://schemas.openxmlformats.org/package/2006/relationships"><Relationship Type="http://schemas.openxmlformats.org/officeDocument/2006/relationships/slideLayout" Target="/ppt/slideLayouts/slideLayout6.xml" Id="Rd2bba12374124c71" /><Relationship Type="http://schemas.openxmlformats.org/officeDocument/2006/relationships/slide" Target="slide38.xml" Id="R24b404c650c747e2" /><Relationship Type="http://schemas.openxmlformats.org/officeDocument/2006/relationships/hyperlink" Target="https://manash-protim-deori.vercel.app/case-studies/olam-global/source-book.pdf" TargetMode="External" Id="Rf42bbf3726a44112" /><Relationship Type="http://schemas.openxmlformats.org/officeDocument/2006/relationships/notesSlide" Target="/ppt/notesSlides/notesSlide9.xml" Id="R2df3a19033b546b4" /></Relationships>
</file>

<file path=ppt/slides/_rels/slide10.xml.rels><?xml version='1.0' encoding='utf-8'?>
<Relationships xmlns="http://schemas.openxmlformats.org/package/2006/relationships"><Relationship Type="http://schemas.openxmlformats.org/officeDocument/2006/relationships/slideLayout" Target="/ppt/slideLayouts/slideLayout6.xml" Id="Rd4c1195ccad2410b" /><Relationship Type="http://schemas.openxmlformats.org/officeDocument/2006/relationships/slide" Target="slide38.xml" Id="Rad33a3cba9b843f5" /><Relationship Type="http://schemas.openxmlformats.org/officeDocument/2006/relationships/hyperlink" Target="https://manash-protim-deori.vercel.app/case-studies/olam-global/source-book.pdf" TargetMode="External" Id="R8a6b545ab2494fca" /><Relationship Type="http://schemas.openxmlformats.org/officeDocument/2006/relationships/notesSlide" Target="/ppt/notesSlides/notesSlide10.xml" Id="R50356288e6e748e6" /></Relationships>
</file>

<file path=ppt/slides/_rels/slide11.xml.rels><?xml version='1.0' encoding='utf-8'?>
<Relationships xmlns="http://schemas.openxmlformats.org/package/2006/relationships"><Relationship Type="http://schemas.openxmlformats.org/officeDocument/2006/relationships/slideLayout" Target="/ppt/slideLayouts/slideLayout6.xml" Id="Rf11168478f9d4614" /><Relationship Type="http://schemas.openxmlformats.org/officeDocument/2006/relationships/slide" Target="slide38.xml" Id="R98364766fa6f42ff" /><Relationship Type="http://schemas.openxmlformats.org/officeDocument/2006/relationships/hyperlink" Target="https://manash-protim-deori.vercel.app/case-studies/olam-global/source-book.pdf" TargetMode="External" Id="R979ef55c2cf74b17" /><Relationship Type="http://schemas.openxmlformats.org/officeDocument/2006/relationships/notesSlide" Target="/ppt/notesSlides/notesSlide11.xml" Id="Rcad3919f6ba849a6" /></Relationships>
</file>

<file path=ppt/slides/_rels/slide12.xml.rels><?xml version='1.0' encoding='utf-8'?>
<Relationships xmlns="http://schemas.openxmlformats.org/package/2006/relationships"><Relationship Type="http://schemas.openxmlformats.org/officeDocument/2006/relationships/slideLayout" Target="/ppt/slideLayouts/slideLayout6.xml" Id="R2c760387814443d4" /><Relationship Type="http://schemas.openxmlformats.org/officeDocument/2006/relationships/slide" Target="slide38.xml" Id="R02651c64ebf148b0" /><Relationship Type="http://schemas.openxmlformats.org/officeDocument/2006/relationships/hyperlink" Target="https://manash-protim-deori.vercel.app/case-studies/olam-global/source-book.pdf" TargetMode="External" Id="R81b38300643f44c9" /><Relationship Type="http://schemas.openxmlformats.org/officeDocument/2006/relationships/notesSlide" Target="/ppt/notesSlides/notesSlide12.xml" Id="R06f328fda5274e8f" /></Relationships>
</file>

<file path=ppt/slides/_rels/slide13.xml.rels><?xml version='1.0' encoding='utf-8'?>
<Relationships xmlns="http://schemas.openxmlformats.org/package/2006/relationships"><Relationship Type="http://schemas.openxmlformats.org/officeDocument/2006/relationships/slideLayout" Target="/ppt/slideLayouts/slideLayout6.xml" Id="R1cb9d304c58a4a92" /><Relationship Type="http://schemas.openxmlformats.org/officeDocument/2006/relationships/slide" Target="slide38.xml" Id="R5c087682956e459f" /><Relationship Type="http://schemas.openxmlformats.org/officeDocument/2006/relationships/hyperlink" Target="https://manash-protim-deori.vercel.app/case-studies/olam-global/source-book.pdf" TargetMode="External" Id="Rc70969d0551e490b" /><Relationship Type="http://schemas.openxmlformats.org/officeDocument/2006/relationships/notesSlide" Target="/ppt/notesSlides/notesSlide13.xml" Id="R0fbb213e8bc44d70" /></Relationships>
</file>

<file path=ppt/slides/_rels/slide14.xml.rels><?xml version='1.0' encoding='utf-8'?>
<Relationships xmlns="http://schemas.openxmlformats.org/package/2006/relationships"><Relationship Type="http://schemas.openxmlformats.org/officeDocument/2006/relationships/slideLayout" Target="/ppt/slideLayouts/slideLayout6.xml" Id="R9b6b53489ea84b7b" /><Relationship Type="http://schemas.openxmlformats.org/officeDocument/2006/relationships/slide" Target="slide38.xml" Id="Rc89e0bd6dc3c4fdd" /><Relationship Type="http://schemas.openxmlformats.org/officeDocument/2006/relationships/hyperlink" Target="https://manash-protim-deori.vercel.app/case-studies/olam-global/source-book.pdf" TargetMode="External" Id="R0fbd247532c34e92" /><Relationship Type="http://schemas.openxmlformats.org/officeDocument/2006/relationships/notesSlide" Target="/ppt/notesSlides/notesSlide14.xml" Id="R28d617f11b564bee" /></Relationships>
</file>

<file path=ppt/slides/_rels/slide15.xml.rels><?xml version='1.0' encoding='utf-8'?>
<Relationships xmlns="http://schemas.openxmlformats.org/package/2006/relationships"><Relationship Type="http://schemas.openxmlformats.org/officeDocument/2006/relationships/slideLayout" Target="/ppt/slideLayouts/slideLayout6.xml" Id="Rae975fe90bb141ac" /><Relationship Type="http://schemas.openxmlformats.org/officeDocument/2006/relationships/slide" Target="slide38.xml" Id="R12908257f8234b1e" /><Relationship Type="http://schemas.openxmlformats.org/officeDocument/2006/relationships/hyperlink" Target="https://manash-protim-deori.vercel.app/case-studies/olam-global/source-book.pdf" TargetMode="External" Id="R5b8a3bda47184ada" /><Relationship Type="http://schemas.openxmlformats.org/officeDocument/2006/relationships/notesSlide" Target="/ppt/notesSlides/notesSlide15.xml" Id="Rfb003fc4b57940c4" /></Relationships>
</file>

<file path=ppt/slides/_rels/slide16.xml.rels><?xml version='1.0' encoding='utf-8'?>
<Relationships xmlns="http://schemas.openxmlformats.org/package/2006/relationships"><Relationship Type="http://schemas.openxmlformats.org/officeDocument/2006/relationships/slideLayout" Target="/ppt/slideLayouts/slideLayout6.xml" Id="Rcd409272a854438a" /><Relationship Type="http://schemas.openxmlformats.org/officeDocument/2006/relationships/chart" Target="/ppt/slides/charts/chart2.xml" Id="R84e5d34066a14e34" /><Relationship Type="http://schemas.openxmlformats.org/officeDocument/2006/relationships/slide" Target="slide38.xml" Id="Rf58d06ab0ed04e92" /><Relationship Type="http://schemas.openxmlformats.org/officeDocument/2006/relationships/hyperlink" Target="https://manash-protim-deori.vercel.app/case-studies/olam-global/source-book.pdf" TargetMode="External" Id="R60279978793242ac" /><Relationship Type="http://schemas.openxmlformats.org/officeDocument/2006/relationships/notesSlide" Target="/ppt/notesSlides/notesSlide16.xml" Id="Rb125008e3167496b" /></Relationships>
</file>

<file path=ppt/slides/_rels/slide17.xml.rels><?xml version='1.0' encoding='utf-8'?>
<Relationships xmlns="http://schemas.openxmlformats.org/package/2006/relationships"><Relationship Type="http://schemas.openxmlformats.org/officeDocument/2006/relationships/slideLayout" Target="/ppt/slideLayouts/slideLayout6.xml" Id="Rc2be357b8f9047ad" /><Relationship Type="http://schemas.openxmlformats.org/officeDocument/2006/relationships/slide" Target="slide38.xml" Id="R4fbb79b7da814624" /><Relationship Type="http://schemas.openxmlformats.org/officeDocument/2006/relationships/hyperlink" Target="https://manash-protim-deori.vercel.app/case-studies/olam-global/source-book.pdf" TargetMode="External" Id="Ree958954c2834ead" /><Relationship Type="http://schemas.openxmlformats.org/officeDocument/2006/relationships/notesSlide" Target="/ppt/notesSlides/notesSlide17.xml" Id="Rcd6404922328490c" /></Relationships>
</file>

<file path=ppt/slides/_rels/slide18.xml.rels><?xml version='1.0' encoding='utf-8'?>
<Relationships xmlns="http://schemas.openxmlformats.org/package/2006/relationships"><Relationship Type="http://schemas.openxmlformats.org/officeDocument/2006/relationships/slideLayout" Target="/ppt/slideLayouts/slideLayout6.xml" Id="R5eed50aa4b46495f" /><Relationship Type="http://schemas.openxmlformats.org/officeDocument/2006/relationships/slide" Target="slide38.xml" Id="R7c243c63f8554156" /><Relationship Type="http://schemas.openxmlformats.org/officeDocument/2006/relationships/hyperlink" Target="https://manash-protim-deori.vercel.app/case-studies/olam-global/source-book.pdf" TargetMode="External" Id="R4a4a189686034cb7" /><Relationship Type="http://schemas.openxmlformats.org/officeDocument/2006/relationships/notesSlide" Target="/ppt/notesSlides/notesSlide18.xml" Id="R3108730abda14b97" /></Relationships>
</file>

<file path=ppt/slides/_rels/slide19.xml.rels><?xml version='1.0' encoding='utf-8'?>
<Relationships xmlns="http://schemas.openxmlformats.org/package/2006/relationships"><Relationship Type="http://schemas.openxmlformats.org/officeDocument/2006/relationships/slideLayout" Target="/ppt/slideLayouts/slideLayout6.xml" Id="Rb72f03f84b6f42b6" /><Relationship Type="http://schemas.openxmlformats.org/officeDocument/2006/relationships/slide" Target="slide38.xml" Id="R8b9e7ac4000a46ce" /><Relationship Type="http://schemas.openxmlformats.org/officeDocument/2006/relationships/hyperlink" Target="https://manash-protim-deori.vercel.app/case-studies/olam-global/source-book.pdf" TargetMode="External" Id="Rb77ea9256f7b44a1" /><Relationship Type="http://schemas.openxmlformats.org/officeDocument/2006/relationships/notesSlide" Target="/ppt/notesSlides/notesSlide19.xml" Id="R157447f28437431d" /></Relationships>
</file>

<file path=ppt/slides/_rels/slide20.xml.rels><?xml version='1.0' encoding='utf-8'?>
<Relationships xmlns="http://schemas.openxmlformats.org/package/2006/relationships"><Relationship Type="http://schemas.openxmlformats.org/officeDocument/2006/relationships/slideLayout" Target="/ppt/slideLayouts/slideLayout6.xml" Id="Rb73383127f9b42c6" /><Relationship Type="http://schemas.openxmlformats.org/officeDocument/2006/relationships/slide" Target="slide38.xml" Id="R4d5d880d097f45b1" /><Relationship Type="http://schemas.openxmlformats.org/officeDocument/2006/relationships/hyperlink" Target="https://manash-protim-deori.vercel.app/case-studies/olam-global/source-book.pdf" TargetMode="External" Id="Rcf004933c3d04415" /><Relationship Type="http://schemas.openxmlformats.org/officeDocument/2006/relationships/notesSlide" Target="/ppt/notesSlides/notesSlide20.xml" Id="R0c7b4c40d1a2465a" /></Relationships>
</file>

<file path=ppt/slides/_rels/slide21.xml.rels><?xml version='1.0' encoding='utf-8'?>
<Relationships xmlns="http://schemas.openxmlformats.org/package/2006/relationships"><Relationship Type="http://schemas.openxmlformats.org/officeDocument/2006/relationships/slideLayout" Target="/ppt/slideLayouts/slideLayout6.xml" Id="Reb217651d3cf4136" /><Relationship Type="http://schemas.openxmlformats.org/officeDocument/2006/relationships/slide" Target="slide38.xml" Id="R59dd0d17e62d4ece" /><Relationship Type="http://schemas.openxmlformats.org/officeDocument/2006/relationships/hyperlink" Target="https://manash-protim-deori.vercel.app/case-studies/olam-global/source-book.pdf" TargetMode="External" Id="R7867e4c03e1c46ef" /><Relationship Type="http://schemas.openxmlformats.org/officeDocument/2006/relationships/notesSlide" Target="/ppt/notesSlides/notesSlide21.xml" Id="Rdb06aeb5191942e4" /></Relationships>
</file>

<file path=ppt/slides/_rels/slide22.xml.rels><?xml version='1.0' encoding='utf-8'?>
<Relationships xmlns="http://schemas.openxmlformats.org/package/2006/relationships"><Relationship Type="http://schemas.openxmlformats.org/officeDocument/2006/relationships/slideLayout" Target="/ppt/slideLayouts/slideLayout6.xml" Id="R4914d99a860446dc" /><Relationship Type="http://schemas.openxmlformats.org/officeDocument/2006/relationships/slide" Target="slide38.xml" Id="Rbf262f63101a4f3e" /><Relationship Type="http://schemas.openxmlformats.org/officeDocument/2006/relationships/hyperlink" Target="https://manash-protim-deori.vercel.app/case-studies/olam-global/source-book.pdf" TargetMode="External" Id="R0f59de94c0524d84" /><Relationship Type="http://schemas.openxmlformats.org/officeDocument/2006/relationships/notesSlide" Target="/ppt/notesSlides/notesSlide22.xml" Id="R468fe712e4444e57" /></Relationships>
</file>

<file path=ppt/slides/_rels/slide23.xml.rels><?xml version='1.0' encoding='utf-8'?>
<Relationships xmlns="http://schemas.openxmlformats.org/package/2006/relationships"><Relationship Type="http://schemas.openxmlformats.org/officeDocument/2006/relationships/slideLayout" Target="/ppt/slideLayouts/slideLayout6.xml" Id="R5c3c1283087b40eb" /><Relationship Type="http://schemas.openxmlformats.org/officeDocument/2006/relationships/slide" Target="slide38.xml" Id="R902f8ad8914f48c8" /><Relationship Type="http://schemas.openxmlformats.org/officeDocument/2006/relationships/hyperlink" Target="https://manash-protim-deori.vercel.app/case-studies/olam-global/source-book.pdf" TargetMode="External" Id="Rb9e3d2ee88f34dc5" /><Relationship Type="http://schemas.openxmlformats.org/officeDocument/2006/relationships/notesSlide" Target="/ppt/notesSlides/notesSlide23.xml" Id="R9344bef879d44aa1" /></Relationships>
</file>

<file path=ppt/slides/_rels/slide24.xml.rels><?xml version='1.0' encoding='utf-8'?>
<Relationships xmlns="http://schemas.openxmlformats.org/package/2006/relationships"><Relationship Type="http://schemas.openxmlformats.org/officeDocument/2006/relationships/slideLayout" Target="/ppt/slideLayouts/slideLayout6.xml" Id="R241931aca52943b3" /><Relationship Type="http://schemas.openxmlformats.org/officeDocument/2006/relationships/slide" Target="slide38.xml" Id="R4d0d1583b93042ee" /><Relationship Type="http://schemas.openxmlformats.org/officeDocument/2006/relationships/hyperlink" Target="https://manash-protim-deori.vercel.app/case-studies/olam-global/source-book.pdf" TargetMode="External" Id="R67fa0a105fb541c1" /><Relationship Type="http://schemas.openxmlformats.org/officeDocument/2006/relationships/notesSlide" Target="/ppt/notesSlides/notesSlide24.xml" Id="Re1377333e2664b95" /></Relationships>
</file>

<file path=ppt/slides/_rels/slide25.xml.rels><?xml version='1.0' encoding='utf-8'?>
<Relationships xmlns="http://schemas.openxmlformats.org/package/2006/relationships"><Relationship Type="http://schemas.openxmlformats.org/officeDocument/2006/relationships/slideLayout" Target="/ppt/slideLayouts/slideLayout6.xml" Id="R4b984db3ca1c424e" /><Relationship Type="http://schemas.openxmlformats.org/officeDocument/2006/relationships/slide" Target="slide38.xml" Id="R0f6ce7305c91499d" /><Relationship Type="http://schemas.openxmlformats.org/officeDocument/2006/relationships/hyperlink" Target="https://manash-protim-deori.vercel.app/case-studies/olam-global/source-book.pdf" TargetMode="External" Id="Rd8778ad2d7b54016" /><Relationship Type="http://schemas.openxmlformats.org/officeDocument/2006/relationships/notesSlide" Target="/ppt/notesSlides/notesSlide25.xml" Id="R4c957e51661c4054" /></Relationships>
</file>

<file path=ppt/slides/_rels/slide26.xml.rels><?xml version='1.0' encoding='utf-8'?>
<Relationships xmlns="http://schemas.openxmlformats.org/package/2006/relationships"><Relationship Type="http://schemas.openxmlformats.org/officeDocument/2006/relationships/slideLayout" Target="/ppt/slideLayouts/slideLayout6.xml" Id="R56d6dfa8733f48f1" /><Relationship Type="http://schemas.openxmlformats.org/officeDocument/2006/relationships/slide" Target="slide38.xml" Id="Rb9b82650a38d47a5" /><Relationship Type="http://schemas.openxmlformats.org/officeDocument/2006/relationships/hyperlink" Target="https://manash-protim-deori.vercel.app/case-studies/olam-global/source-book.pdf" TargetMode="External" Id="R65b259c80d7a41ad" /><Relationship Type="http://schemas.openxmlformats.org/officeDocument/2006/relationships/notesSlide" Target="/ppt/notesSlides/notesSlide26.xml" Id="R50b4271b798a4791" /></Relationships>
</file>

<file path=ppt/slides/_rels/slide27.xml.rels><?xml version='1.0' encoding='utf-8'?>
<Relationships xmlns="http://schemas.openxmlformats.org/package/2006/relationships"><Relationship Type="http://schemas.openxmlformats.org/officeDocument/2006/relationships/slideLayout" Target="/ppt/slideLayouts/slideLayout6.xml" Id="R93221f8883e34cbd" /><Relationship Type="http://schemas.openxmlformats.org/officeDocument/2006/relationships/slide" Target="slide38.xml" Id="R5bdfb19143014d8d" /><Relationship Type="http://schemas.openxmlformats.org/officeDocument/2006/relationships/hyperlink" Target="https://manash-protim-deori.vercel.app/case-studies/olam-global/source-book.pdf" TargetMode="External" Id="R13e11f4d69fc48bb" /><Relationship Type="http://schemas.openxmlformats.org/officeDocument/2006/relationships/notesSlide" Target="/ppt/notesSlides/notesSlide27.xml" Id="Rd2c24f4a3ef945cd" /></Relationships>
</file>

<file path=ppt/slides/_rels/slide28.xml.rels><?xml version='1.0' encoding='utf-8'?>
<Relationships xmlns="http://schemas.openxmlformats.org/package/2006/relationships"><Relationship Type="http://schemas.openxmlformats.org/officeDocument/2006/relationships/slideLayout" Target="/ppt/slideLayouts/slideLayout6.xml" Id="R453f98b1459e46c4" /><Relationship Type="http://schemas.openxmlformats.org/officeDocument/2006/relationships/slide" Target="slide38.xml" Id="Rbb463b68bec94692" /><Relationship Type="http://schemas.openxmlformats.org/officeDocument/2006/relationships/hyperlink" Target="https://manash-protim-deori.vercel.app/case-studies/olam-global/source-book.pdf" TargetMode="External" Id="R946f902a2cdf422e" /><Relationship Type="http://schemas.openxmlformats.org/officeDocument/2006/relationships/notesSlide" Target="/ppt/notesSlides/notesSlide28.xml" Id="R82e180db22fa43e1" /></Relationships>
</file>

<file path=ppt/slides/_rels/slide29.xml.rels><?xml version='1.0' encoding='utf-8'?>
<Relationships xmlns="http://schemas.openxmlformats.org/package/2006/relationships"><Relationship Type="http://schemas.openxmlformats.org/officeDocument/2006/relationships/slideLayout" Target="/ppt/slideLayouts/slideLayout6.xml" Id="R5950a998aeaf41c2" /><Relationship Type="http://schemas.openxmlformats.org/officeDocument/2006/relationships/slide" Target="slide38.xml" Id="R1838c437d8df4700" /><Relationship Type="http://schemas.openxmlformats.org/officeDocument/2006/relationships/hyperlink" Target="https://manash-protim-deori.vercel.app/case-studies/olam-global/source-book.pdf" TargetMode="External" Id="Raef6d5fe67a84fc9" /><Relationship Type="http://schemas.openxmlformats.org/officeDocument/2006/relationships/notesSlide" Target="/ppt/notesSlides/notesSlide29.xml" Id="R2aefb7adea8a410b" /></Relationships>
</file>

<file path=ppt/slides/_rels/slide30.xml.rels><?xml version='1.0' encoding='utf-8'?>
<Relationships xmlns="http://schemas.openxmlformats.org/package/2006/relationships"><Relationship Type="http://schemas.openxmlformats.org/officeDocument/2006/relationships/slideLayout" Target="/ppt/slideLayouts/slideLayout6.xml" Id="Rd31cd16ea15c4e24" /><Relationship Type="http://schemas.openxmlformats.org/officeDocument/2006/relationships/slide" Target="slide38.xml" Id="R5e4dc35cecb54456" /><Relationship Type="http://schemas.openxmlformats.org/officeDocument/2006/relationships/hyperlink" Target="https://manash-protim-deori.vercel.app/case-studies/olam-global/source-book.pdf" TargetMode="External" Id="Rde44e21b15f5431c" /><Relationship Type="http://schemas.openxmlformats.org/officeDocument/2006/relationships/notesSlide" Target="/ppt/notesSlides/notesSlide30.xml" Id="R3a36071b88734851" /></Relationships>
</file>

<file path=ppt/slides/_rels/slide31.xml.rels><?xml version='1.0' encoding='utf-8'?>
<Relationships xmlns="http://schemas.openxmlformats.org/package/2006/relationships"><Relationship Type="http://schemas.openxmlformats.org/officeDocument/2006/relationships/slideLayout" Target="/ppt/slideLayouts/slideLayout6.xml" Id="R93235b43b7fe4080" /><Relationship Type="http://schemas.openxmlformats.org/officeDocument/2006/relationships/slide" Target="slide38.xml" Id="R17921f80b63f41c6" /><Relationship Type="http://schemas.openxmlformats.org/officeDocument/2006/relationships/hyperlink" Target="https://manash-protim-deori.vercel.app/case-studies/olam-global/source-book.pdf" TargetMode="External" Id="Rde7587d0b0084bee" /><Relationship Type="http://schemas.openxmlformats.org/officeDocument/2006/relationships/notesSlide" Target="/ppt/notesSlides/notesSlide31.xml" Id="R21f9be0a697d4b29" /></Relationships>
</file>

<file path=ppt/slides/_rels/slide32.xml.rels><?xml version='1.0' encoding='utf-8'?>
<Relationships xmlns="http://schemas.openxmlformats.org/package/2006/relationships"><Relationship Type="http://schemas.openxmlformats.org/officeDocument/2006/relationships/slideLayout" Target="/ppt/slideLayouts/slideLayout6.xml" Id="R144f530288c9425b" /><Relationship Type="http://schemas.openxmlformats.org/officeDocument/2006/relationships/slide" Target="slide38.xml" Id="R8e5094ed185544b4" /><Relationship Type="http://schemas.openxmlformats.org/officeDocument/2006/relationships/hyperlink" Target="https://manash-protim-deori.vercel.app/case-studies/olam-global/source-book.pdf" TargetMode="External" Id="Rc10c01a0b08b4524" /><Relationship Type="http://schemas.openxmlformats.org/officeDocument/2006/relationships/notesSlide" Target="/ppt/notesSlides/notesSlide32.xml" Id="R32bf437835404b4f" /></Relationships>
</file>

<file path=ppt/slides/_rels/slide33.xml.rels><?xml version='1.0' encoding='utf-8'?>
<Relationships xmlns="http://schemas.openxmlformats.org/package/2006/relationships"><Relationship Type="http://schemas.openxmlformats.org/officeDocument/2006/relationships/slideLayout" Target="/ppt/slideLayouts/slideLayout6.xml" Id="R5ec6f1d545f9470e" /><Relationship Type="http://schemas.openxmlformats.org/officeDocument/2006/relationships/slide" Target="slide38.xml" Id="Rd40c5e11b08249f2" /><Relationship Type="http://schemas.openxmlformats.org/officeDocument/2006/relationships/hyperlink" Target="https://manash-protim-deori.vercel.app/case-studies/olam-global/source-book.pdf" TargetMode="External" Id="Ra9e0de2cb26d4c1b" /><Relationship Type="http://schemas.openxmlformats.org/officeDocument/2006/relationships/notesSlide" Target="/ppt/notesSlides/notesSlide33.xml" Id="Rc4ff3c142a314f46" /></Relationships>
</file>

<file path=ppt/slides/_rels/slide34.xml.rels><?xml version='1.0' encoding='utf-8'?>
<Relationships xmlns="http://schemas.openxmlformats.org/package/2006/relationships"><Relationship Type="http://schemas.openxmlformats.org/officeDocument/2006/relationships/slideLayout" Target="/ppt/slideLayouts/slideLayout6.xml" Id="R3bb1dbb37a9241d4" /><Relationship Type="http://schemas.openxmlformats.org/officeDocument/2006/relationships/slide" Target="slide38.xml" Id="R61e8beddaae74955" /><Relationship Type="http://schemas.openxmlformats.org/officeDocument/2006/relationships/hyperlink" Target="https://manash-protim-deori.vercel.app/case-studies/olam-global/source-book.pdf" TargetMode="External" Id="R8af07d34a2264dc3" /><Relationship Type="http://schemas.openxmlformats.org/officeDocument/2006/relationships/notesSlide" Target="/ppt/notesSlides/notesSlide34.xml" Id="Rb92ca0a3cb494488" /></Relationships>
</file>

<file path=ppt/slides/_rels/slide35.xml.rels><?xml version='1.0' encoding='utf-8'?>
<Relationships xmlns="http://schemas.openxmlformats.org/package/2006/relationships"><Relationship Type="http://schemas.openxmlformats.org/officeDocument/2006/relationships/slideLayout" Target="/ppt/slideLayouts/slideLayout6.xml" Id="Rfb2fff08fc724f67" /><Relationship Type="http://schemas.openxmlformats.org/officeDocument/2006/relationships/slide" Target="slide38.xml" Id="R2c69543b3e0d4c11" /><Relationship Type="http://schemas.openxmlformats.org/officeDocument/2006/relationships/hyperlink" Target="https://manash-protim-deori.vercel.app/case-studies/olam-global/source-book.pdf" TargetMode="External" Id="Rafa24b57332b44e2" /><Relationship Type="http://schemas.openxmlformats.org/officeDocument/2006/relationships/notesSlide" Target="/ppt/notesSlides/notesSlide35.xml" Id="R9db0e3efe7b2439f" /></Relationships>
</file>

<file path=ppt/slides/_rels/slide36.xml.rels><?xml version='1.0' encoding='utf-8'?>
<Relationships xmlns="http://schemas.openxmlformats.org/package/2006/relationships"><Relationship Type="http://schemas.openxmlformats.org/officeDocument/2006/relationships/slideLayout" Target="/ppt/slideLayouts/slideLayout6.xml" Id="R0f93028145ba4768" /><Relationship Type="http://schemas.openxmlformats.org/officeDocument/2006/relationships/slide" Target="slide38.xml" Id="Ra78ffe25abff40db" /><Relationship Type="http://schemas.openxmlformats.org/officeDocument/2006/relationships/hyperlink" Target="https://manash-protim-deori.vercel.app/case-studies/olam-global/source-book.pdf" TargetMode="External" Id="R9a02acfced454df2" /><Relationship Type="http://schemas.openxmlformats.org/officeDocument/2006/relationships/notesSlide" Target="/ppt/notesSlides/notesSlide36.xml" Id="R71bbbf851ca7415b" /></Relationships>
</file>

<file path=ppt/slides/_rels/slide37.xml.rels><?xml version='1.0' encoding='utf-8'?>
<Relationships xmlns="http://schemas.openxmlformats.org/package/2006/relationships"><Relationship Type="http://schemas.openxmlformats.org/officeDocument/2006/relationships/slideLayout" Target="/ppt/slideLayouts/slideLayout6.xml" Id="R8c59b01ee9094d90" /><Relationship Type="http://schemas.openxmlformats.org/officeDocument/2006/relationships/slide" Target="slide38.xml" Id="Rc2407334784d4c6c" /><Relationship Type="http://schemas.openxmlformats.org/officeDocument/2006/relationships/hyperlink" Target="https://manash-protim-deori.vercel.app/case-studies/olam-global/source-book.pdf" TargetMode="External" Id="R102ae53e2f7245e7" /><Relationship Type="http://schemas.openxmlformats.org/officeDocument/2006/relationships/notesSlide" Target="/ppt/notesSlides/notesSlide37.xml" Id="Rdcac6c3e99a64b98" /></Relationships>
</file>

<file path=ppt/slides/_rels/slide38.xml.rels><?xml version='1.0' encoding='utf-8'?>
<Relationships xmlns="http://schemas.openxmlformats.org/package/2006/relationships"><Relationship Type="http://schemas.openxmlformats.org/officeDocument/2006/relationships/slideLayout" Target="/ppt/slideLayouts/slideLayout6.xml" Id="Raaaa18faca7f4eb9" /><Relationship Type="http://schemas.openxmlformats.org/officeDocument/2006/relationships/slide" Target="slide1.xml" Id="Rb086a94f3f4445d4" /><Relationship Type="http://schemas.openxmlformats.org/officeDocument/2006/relationships/hyperlink" Target="https://manash-protim-deori.vercel.app/case-studies/olam-global/source-book.pdf" TargetMode="External" Id="R2f5b1427a21c473e" /><Relationship Type="http://schemas.openxmlformats.org/officeDocument/2006/relationships/notesSlide" Target="/ppt/notesSlides/notesSlide38.xml" Id="Recf270b0ee7b4c3d" /></Relationships>
</file>

<file path=ppt/slides/_rels/slide39.xml.rels><?xml version='1.0' encoding='utf-8'?>
<Relationships xmlns="http://schemas.openxmlformats.org/package/2006/relationships"><Relationship Type="http://schemas.openxmlformats.org/officeDocument/2006/relationships/slideLayout" Target="/ppt/slideLayouts/slideLayout6.xml" Id="R66348d9fc82f49af" /><Relationship Type="http://schemas.openxmlformats.org/officeDocument/2006/relationships/slide" Target="slide1.xml" Id="R84a64960bfe34644" /><Relationship Type="http://schemas.openxmlformats.org/officeDocument/2006/relationships/hyperlink" Target="https://manash-protim-deori.vercel.app/case-studies/olam-global/source-book.pdf" TargetMode="External" Id="Rd41b8c17bcf245dd" /><Relationship Type="http://schemas.openxmlformats.org/officeDocument/2006/relationships/notesSlide" Target="/ppt/notesSlides/notesSlide39.xml" Id="R0fe4bce005ea43a0" /></Relationships>
</file>

<file path=ppt/slides/_rels/slide40.xml.rels><?xml version='1.0' encoding='utf-8'?>
<Relationships xmlns="http://schemas.openxmlformats.org/package/2006/relationships"><Relationship Type="http://schemas.openxmlformats.org/officeDocument/2006/relationships/slideLayout" Target="/ppt/slideLayouts/slideLayout6.xml" Id="R3c30395a48164b78" /><Relationship Type="http://schemas.openxmlformats.org/officeDocument/2006/relationships/slide" Target="slide1.xml" Id="R7b469d2efe38451d" /><Relationship Type="http://schemas.openxmlformats.org/officeDocument/2006/relationships/hyperlink" Target="https://manash-protim-deori.vercel.app/case-studies/olam-global/source-book.pdf" TargetMode="External" Id="R8b6fe51e16cd46e9" /><Relationship Type="http://schemas.openxmlformats.org/officeDocument/2006/relationships/notesSlide" Target="/ppt/notesSlides/notesSlide40.xml" Id="R2a94f070a8dc42f4" /></Relationships>
</file>

<file path=ppt/slides/_rels/slide41.xml.rels><?xml version='1.0' encoding='utf-8'?>
<Relationships xmlns="http://schemas.openxmlformats.org/package/2006/relationships"><Relationship Type="http://schemas.openxmlformats.org/officeDocument/2006/relationships/slideLayout" Target="/ppt/slideLayouts/slideLayout6.xml" Id="Ra51e2eba4df74acf" /><Relationship Type="http://schemas.openxmlformats.org/officeDocument/2006/relationships/slide" Target="slide1.xml" Id="Ra8300bf5c4cf4b38" /><Relationship Type="http://schemas.openxmlformats.org/officeDocument/2006/relationships/hyperlink" Target="https://manash-protim-deori.vercel.app/case-studies/olam-global/source-book.pdf" TargetMode="External" Id="Rd657a08916ba4a7e" /><Relationship Type="http://schemas.openxmlformats.org/officeDocument/2006/relationships/notesSlide" Target="/ppt/notesSlides/notesSlide41.xml" Id="Rc5f59572d40446db" /></Relationships>
</file>

<file path=ppt/slides/_rels/slide42.xml.rels><?xml version='1.0' encoding='utf-8'?>
<Relationships xmlns="http://schemas.openxmlformats.org/package/2006/relationships"><Relationship Type="http://schemas.openxmlformats.org/officeDocument/2006/relationships/slideLayout" Target="/ppt/slideLayouts/slideLayout6.xml" Id="Rd5ef4db251c44ce5" /><Relationship Type="http://schemas.openxmlformats.org/officeDocument/2006/relationships/slide" Target="slide1.xml" Id="Ra50fad1428734ef5" /><Relationship Type="http://schemas.openxmlformats.org/officeDocument/2006/relationships/hyperlink" Target="https://manash-protim-deori.vercel.app/case-studies/olam-global/source-book.pdf" TargetMode="External" Id="R4117a6c5522749ce" /><Relationship Type="http://schemas.openxmlformats.org/officeDocument/2006/relationships/notesSlide" Target="/ppt/notesSlides/notesSlide42.xml" Id="R512d0ad5e06e4382" /></Relationships>
</file>

<file path=ppt/slides/_rels/slide43.xml.rels><?xml version='1.0' encoding='utf-8'?>
<Relationships xmlns="http://schemas.openxmlformats.org/package/2006/relationships"><Relationship Type="http://schemas.openxmlformats.org/officeDocument/2006/relationships/slideLayout" Target="/ppt/slideLayouts/slideLayout6.xml" Id="R0d7c79caaebf4d94" /><Relationship Type="http://schemas.openxmlformats.org/officeDocument/2006/relationships/slide" Target="slide1.xml" Id="Rd737515cccca4d39" /><Relationship Type="http://schemas.openxmlformats.org/officeDocument/2006/relationships/hyperlink" Target="https://manash-protim-deori.vercel.app/case-studies/olam-global/source-book.pdf" TargetMode="External" Id="R85c78cdc6e0246f3" /><Relationship Type="http://schemas.openxmlformats.org/officeDocument/2006/relationships/notesSlide" Target="/ppt/notesSlides/notesSlide43.xml" Id="R00dcd878a6634824" /></Relationships>
</file>

<file path=ppt/slides/_rels/slide44.xml.rels><?xml version='1.0' encoding='utf-8'?>
<Relationships xmlns="http://schemas.openxmlformats.org/package/2006/relationships"><Relationship Type="http://schemas.openxmlformats.org/officeDocument/2006/relationships/slideLayout" Target="/ppt/slideLayouts/slideLayout6.xml" Id="R240299459c2f45f5" /><Relationship Type="http://schemas.openxmlformats.org/officeDocument/2006/relationships/slide" Target="slide1.xml" Id="Rb385c8ed31c24c5e" /><Relationship Type="http://schemas.openxmlformats.org/officeDocument/2006/relationships/hyperlink" Target="https://manash-protim-deori.vercel.app/case-studies/olam-global/source-book.pdf" TargetMode="External" Id="R9cf19ed04c574db8" /><Relationship Type="http://schemas.openxmlformats.org/officeDocument/2006/relationships/notesSlide" Target="/ppt/notesSlides/notesSlide44.xml" Id="R8a30aacc93ce4e08" /></Relationships>
</file>

<file path=ppt/slides/_rels/slide45.xml.rels><?xml version='1.0' encoding='utf-8'?>
<Relationships xmlns="http://schemas.openxmlformats.org/package/2006/relationships"><Relationship Type="http://schemas.openxmlformats.org/officeDocument/2006/relationships/slideLayout" Target="/ppt/slideLayouts/slideLayout6.xml" Id="Rc4bbf6625aec4569" /><Relationship Type="http://schemas.openxmlformats.org/officeDocument/2006/relationships/slide" Target="slide1.xml" Id="Rbf0b3311ece941de" /><Relationship Type="http://schemas.openxmlformats.org/officeDocument/2006/relationships/hyperlink" Target="https://manash-protim-deori.vercel.app/case-studies/olam-global/source-book.pdf" TargetMode="External" Id="R19261db740f044d3" /><Relationship Type="http://schemas.openxmlformats.org/officeDocument/2006/relationships/notesSlide" Target="/ppt/notesSlides/notesSlide45.xml" Id="R134035ce741c4eb9" /></Relationships>
</file>

<file path=ppt/slides/_rels/slide46.xml.rels><?xml version='1.0' encoding='utf-8'?>
<Relationships xmlns="http://schemas.openxmlformats.org/package/2006/relationships"><Relationship Type="http://schemas.openxmlformats.org/officeDocument/2006/relationships/slideLayout" Target="/ppt/slideLayouts/slideLayout6.xml" Id="R0b284cf082c74ffd" /><Relationship Type="http://schemas.openxmlformats.org/officeDocument/2006/relationships/slide" Target="slide1.xml" Id="Rddc2f1d8c1f74e1c" /><Relationship Type="http://schemas.openxmlformats.org/officeDocument/2006/relationships/hyperlink" Target="https://manash-protim-deori.vercel.app/case-studies/olam-global/source-book.pdf" TargetMode="External" Id="R1abfc5d3e8a64cba" /><Relationship Type="http://schemas.openxmlformats.org/officeDocument/2006/relationships/notesSlide" Target="/ppt/notesSlides/notesSlide46.xml" Id="R1e8f16ce9bc24824" /></Relationships>
</file>

<file path=ppt/slides/_rels/slide47.xml.rels><?xml version='1.0' encoding='utf-8'?>
<Relationships xmlns="http://schemas.openxmlformats.org/package/2006/relationships"><Relationship Type="http://schemas.openxmlformats.org/officeDocument/2006/relationships/slideLayout" Target="/ppt/slideLayouts/slideLayout6.xml" Id="Rb2c2179a058d4bb8" /><Relationship Type="http://schemas.openxmlformats.org/officeDocument/2006/relationships/slide" Target="slide1.xml" Id="Ra508a66b17bd448c" /><Relationship Type="http://schemas.openxmlformats.org/officeDocument/2006/relationships/hyperlink" Target="https://manash-protim-deori.vercel.app/case-studies/olam-global/source-book.pdf" TargetMode="External" Id="R0f724b9b8a1843e6" /><Relationship Type="http://schemas.openxmlformats.org/officeDocument/2006/relationships/notesSlide" Target="/ppt/notesSlides/notesSlide47.xml" Id="R412721a72b874028" /></Relationships>
</file>

<file path=ppt/slides/_rels/slide48.xml.rels><?xml version='1.0' encoding='utf-8'?>
<Relationships xmlns="http://schemas.openxmlformats.org/package/2006/relationships"><Relationship Type="http://schemas.openxmlformats.org/officeDocument/2006/relationships/slideLayout" Target="/ppt/slideLayouts/slideLayout6.xml" Id="R793109795bd649b9" /><Relationship Type="http://schemas.openxmlformats.org/officeDocument/2006/relationships/slide" Target="slide1.xml" Id="Rc20f6b46b0224611" /><Relationship Type="http://schemas.openxmlformats.org/officeDocument/2006/relationships/hyperlink" Target="https://manash-protim-deori.vercel.app/case-studies/olam-global/source-book.pdf" TargetMode="External" Id="Ree24ef0c3ef14903" /><Relationship Type="http://schemas.openxmlformats.org/officeDocument/2006/relationships/notesSlide" Target="/ppt/notesSlides/notesSlide48.xml" Id="Ra30540c49f5948ab" /></Relationships>
</file>

<file path=ppt/slides/_rels/slide49.xml.rels><?xml version='1.0' encoding='utf-8'?>
<Relationships xmlns="http://schemas.openxmlformats.org/package/2006/relationships"><Relationship Type="http://schemas.openxmlformats.org/officeDocument/2006/relationships/slideLayout" Target="/ppt/slideLayouts/slideLayout6.xml" Id="Rb80827f5aa9b40e6" /><Relationship Type="http://schemas.openxmlformats.org/officeDocument/2006/relationships/slide" Target="slide1.xml" Id="Ra6a9ae67faad4dcb" /><Relationship Type="http://schemas.openxmlformats.org/officeDocument/2006/relationships/hyperlink" Target="https://manash-protim-deori.vercel.app/case-studies/olam-global/source-book.pdf" TargetMode="External" Id="R8e38ea4044424a85" /><Relationship Type="http://schemas.openxmlformats.org/officeDocument/2006/relationships/notesSlide" Target="/ppt/notesSlides/notesSlide49.xml" Id="R9fa3a886e7b34dad" /></Relationships>
</file>

<file path=ppt/slides/_rels/slide50.xml.rels><?xml version='1.0' encoding='utf-8'?>
<Relationships xmlns="http://schemas.openxmlformats.org/package/2006/relationships"><Relationship Type="http://schemas.openxmlformats.org/officeDocument/2006/relationships/slideLayout" Target="/ppt/slideLayouts/slideLayout6.xml" Id="R0b25446da5dc425a" /><Relationship Type="http://schemas.openxmlformats.org/officeDocument/2006/relationships/slide" Target="slide1.xml" Id="R6519ae10818d4e0c" /><Relationship Type="http://schemas.openxmlformats.org/officeDocument/2006/relationships/hyperlink" Target="https://manash-protim-deori.vercel.app/case-studies/olam-global/source-book.pdf" TargetMode="External" Id="R34cbbb439c8f40e1" /><Relationship Type="http://schemas.openxmlformats.org/officeDocument/2006/relationships/notesSlide" Target="/ppt/notesSlides/notesSlide50.xml" Id="Rff909887e6e74d71" /></Relationships>
</file>

<file path=ppt/slides/_rels/slide51.xml.rels><?xml version='1.0' encoding='utf-8'?>
<Relationships xmlns="http://schemas.openxmlformats.org/package/2006/relationships"><Relationship Type="http://schemas.openxmlformats.org/officeDocument/2006/relationships/slideLayout" Target="/ppt/slideLayouts/slideLayout6.xml" Id="R5551323a40ec4690" /><Relationship Type="http://schemas.openxmlformats.org/officeDocument/2006/relationships/slide" Target="slide1.xml" Id="Rd5bf706aa05a4ab4" /><Relationship Type="http://schemas.openxmlformats.org/officeDocument/2006/relationships/hyperlink" Target="https://manash-protim-deori.vercel.app/case-studies/olam-global/source-book.pdf" TargetMode="External" Id="R3c7cd427ff4d4f0a" /><Relationship Type="http://schemas.openxmlformats.org/officeDocument/2006/relationships/notesSlide" Target="/ppt/notesSlides/notesSlide51.xml" Id="R6498127f298e4e59" /></Relationships>
</file>

<file path=ppt/slides/_rels/slide52.xml.rels><?xml version='1.0' encoding='utf-8'?>
<Relationships xmlns="http://schemas.openxmlformats.org/package/2006/relationships"><Relationship Type="http://schemas.openxmlformats.org/officeDocument/2006/relationships/slideLayout" Target="/ppt/slideLayouts/slideLayout6.xml" Id="R4363d3ebbb314e59" /><Relationship Type="http://schemas.openxmlformats.org/officeDocument/2006/relationships/slide" Target="slide1.xml" Id="Rc0492fdfcdd244ce" /><Relationship Type="http://schemas.openxmlformats.org/officeDocument/2006/relationships/hyperlink" Target="https://manash-protim-deori.vercel.app/case-studies/olam-global/source-book.pdf" TargetMode="External" Id="R7423dfe6fe6c4f06" /><Relationship Type="http://schemas.openxmlformats.org/officeDocument/2006/relationships/notesSlide" Target="/ppt/notesSlides/notesSlide52.xml" Id="R65cfaeaab553425d" /></Relationships>
</file>

<file path=ppt/slides/_rels/slide53.xml.rels><?xml version='1.0' encoding='utf-8'?>
<Relationships xmlns="http://schemas.openxmlformats.org/package/2006/relationships"><Relationship Type="http://schemas.openxmlformats.org/officeDocument/2006/relationships/slideLayout" Target="/ppt/slideLayouts/slideLayout6.xml" Id="R50976b2d542048d8" /><Relationship Type="http://schemas.openxmlformats.org/officeDocument/2006/relationships/slide" Target="slide1.xml" Id="R1efd8df6cd8a45b9" /><Relationship Type="http://schemas.openxmlformats.org/officeDocument/2006/relationships/hyperlink" Target="https://manash-protim-deori.vercel.app/case-studies/olam-global/source-book.pdf" TargetMode="External" Id="Refe16466e5a14ac2" /><Relationship Type="http://schemas.openxmlformats.org/officeDocument/2006/relationships/notesSlide" Target="/ppt/notesSlides/notesSlide53.xml" Id="R2a133f6909ee4d7c" /></Relationships>
</file>

<file path=ppt/slides/_rels/slide54.xml.rels><?xml version='1.0' encoding='utf-8'?>
<Relationships xmlns="http://schemas.openxmlformats.org/package/2006/relationships"><Relationship Type="http://schemas.openxmlformats.org/officeDocument/2006/relationships/slideLayout" Target="/ppt/slideLayouts/slideLayout6.xml" Id="R6190ecac788a4027" /><Relationship Type="http://schemas.openxmlformats.org/officeDocument/2006/relationships/slide" Target="slide1.xml" Id="R27a296e638534a28" /><Relationship Type="http://schemas.openxmlformats.org/officeDocument/2006/relationships/hyperlink" Target="https://manash-protim-deori.vercel.app/case-studies/olam-global/source-book.pdf" TargetMode="External" Id="R4127833deaf44805" /><Relationship Type="http://schemas.openxmlformats.org/officeDocument/2006/relationships/notesSlide" Target="/ppt/notesSlides/notesSlide54.xml" Id="R38a8ac47ccdc4708" /></Relationships>
</file>

<file path=ppt/slides/_rels/slide55.xml.rels><?xml version='1.0' encoding='utf-8'?>
<Relationships xmlns="http://schemas.openxmlformats.org/package/2006/relationships"><Relationship Type="http://schemas.openxmlformats.org/officeDocument/2006/relationships/slideLayout" Target="/ppt/slideLayouts/slideLayout6.xml" Id="R9b127c0c79df4ed7" /><Relationship Type="http://schemas.openxmlformats.org/officeDocument/2006/relationships/slide" Target="slide1.xml" Id="Rf522a62b3c114e17" /><Relationship Type="http://schemas.openxmlformats.org/officeDocument/2006/relationships/hyperlink" Target="https://manash-protim-deori.vercel.app/case-studies/olam-global/source-book.pdf" TargetMode="External" Id="R93b0142320a24fed" /><Relationship Type="http://schemas.openxmlformats.org/officeDocument/2006/relationships/notesSlide" Target="/ppt/notesSlides/notesSlide55.xml" Id="Raab8109f2f1642a9" /></Relationships>
</file>

<file path=ppt/slides/_rels/slide56.xml.rels><?xml version='1.0' encoding='utf-8'?>
<Relationships xmlns="http://schemas.openxmlformats.org/package/2006/relationships"><Relationship Type="http://schemas.openxmlformats.org/officeDocument/2006/relationships/slideLayout" Target="/ppt/slideLayouts/slideLayout6.xml" Id="Rea2efc0307fa4215" /><Relationship Type="http://schemas.openxmlformats.org/officeDocument/2006/relationships/slide" Target="slide1.xml" Id="Rb8c1bec430a94fae" /><Relationship Type="http://schemas.openxmlformats.org/officeDocument/2006/relationships/hyperlink" Target="https://manash-protim-deori.vercel.app/case-studies/olam-global/source-book.pdf" TargetMode="External" Id="R98045429d3ae4d3b" /><Relationship Type="http://schemas.openxmlformats.org/officeDocument/2006/relationships/notesSlide" Target="/ppt/notesSlides/notesSlide56.xml" Id="Rff60f52368fe4f5d" /></Relationships>
</file>

<file path=ppt/slides/_rels/slide57.xml.rels><?xml version='1.0' encoding='utf-8'?>
<Relationships xmlns="http://schemas.openxmlformats.org/package/2006/relationships"><Relationship Type="http://schemas.openxmlformats.org/officeDocument/2006/relationships/slideLayout" Target="/ppt/slideLayouts/slideLayout6.xml" Id="Red2af643287a4bdb" /><Relationship Type="http://schemas.openxmlformats.org/officeDocument/2006/relationships/slide" Target="slide1.xml" Id="R22b1ef75cd12495d" /><Relationship Type="http://schemas.openxmlformats.org/officeDocument/2006/relationships/hyperlink" Target="https://manash-protim-deori.vercel.app/case-studies/olam-global/source-book.pdf" TargetMode="External" Id="R28709a477cdf405f" /><Relationship Type="http://schemas.openxmlformats.org/officeDocument/2006/relationships/notesSlide" Target="/ppt/notesSlides/notesSlide57.xml" Id="R8e4498af2e3744f7" /></Relationships>
</file>

<file path=ppt/slides/_rels/slide58.xml.rels><?xml version='1.0' encoding='utf-8'?>
<Relationships xmlns="http://schemas.openxmlformats.org/package/2006/relationships"><Relationship Type="http://schemas.openxmlformats.org/officeDocument/2006/relationships/slideLayout" Target="/ppt/slideLayouts/slideLayout6.xml" Id="Re70e06e382184a1d" /><Relationship Type="http://schemas.openxmlformats.org/officeDocument/2006/relationships/slide" Target="slide1.xml" Id="R7be0c8edf6f94ddc" /><Relationship Type="http://schemas.openxmlformats.org/officeDocument/2006/relationships/hyperlink" Target="https://manash-protim-deori.vercel.app/case-studies/olam-global/source-book.pdf" TargetMode="External" Id="R497cf5f6eaea48b2" /><Relationship Type="http://schemas.openxmlformats.org/officeDocument/2006/relationships/notesSlide" Target="/ppt/notesSlides/notesSlide58.xml" Id="R188f96963bfc47b7" /></Relationships>
</file>

<file path=ppt/slides/_rels/slide59.xml.rels><?xml version='1.0' encoding='utf-8'?>
<Relationships xmlns="http://schemas.openxmlformats.org/package/2006/relationships"><Relationship Type="http://schemas.openxmlformats.org/officeDocument/2006/relationships/slideLayout" Target="/ppt/slideLayouts/slideLayout6.xml" Id="Rd2fa8aa1633a450a" /><Relationship Type="http://schemas.openxmlformats.org/officeDocument/2006/relationships/slide" Target="slide1.xml" Id="R54cc611d23fa4ffc" /><Relationship Type="http://schemas.openxmlformats.org/officeDocument/2006/relationships/hyperlink" Target="https://manash-protim-deori.vercel.app/case-studies/olam-global/source-book.pdf" TargetMode="External" Id="R0578d17128dd4fe4" /><Relationship Type="http://schemas.openxmlformats.org/officeDocument/2006/relationships/notesSlide" Target="/ppt/notesSlides/notesSlide59.xml" Id="R05d046f4f00f494c" /></Relationships>
</file>

<file path=ppt/slides/_rels/slide60.xml.rels><?xml version='1.0' encoding='utf-8'?>
<Relationships xmlns="http://schemas.openxmlformats.org/package/2006/relationships"><Relationship Type="http://schemas.openxmlformats.org/officeDocument/2006/relationships/slideLayout" Target="/ppt/slideLayouts/slideLayout6.xml" Id="R920bdab8653c49aa" /><Relationship Type="http://schemas.openxmlformats.org/officeDocument/2006/relationships/slide" Target="slide1.xml" Id="R99a5162eb2764c9f" /><Relationship Type="http://schemas.openxmlformats.org/officeDocument/2006/relationships/hyperlink" Target="https://manash-protim-deori.vercel.app/case-studies/olam-global/source-book.pdf" TargetMode="External" Id="R21422756eaaf4a94" /><Relationship Type="http://schemas.openxmlformats.org/officeDocument/2006/relationships/notesSlide" Target="/ppt/notesSlides/notesSlide60.xml" Id="R4226c11b052341f9" /></Relationships>
</file>

<file path=ppt/slides/_rels/slide61.xml.rels><?xml version='1.0' encoding='utf-8'?>
<Relationships xmlns="http://schemas.openxmlformats.org/package/2006/relationships"><Relationship Type="http://schemas.openxmlformats.org/officeDocument/2006/relationships/slideLayout" Target="/ppt/slideLayouts/slideLayout6.xml" Id="R6231c2269f804bc7" /><Relationship Type="http://schemas.openxmlformats.org/officeDocument/2006/relationships/slide" Target="slide1.xml" Id="Rbefa8a247b0d4d6f" /><Relationship Type="http://schemas.openxmlformats.org/officeDocument/2006/relationships/hyperlink" Target="https://manash-protim-deori.vercel.app/case-studies/olam-global/source-book.pdf" TargetMode="External" Id="R69b9183f1bbe4e34" /><Relationship Type="http://schemas.openxmlformats.org/officeDocument/2006/relationships/notesSlide" Target="/ppt/notesSlides/notesSlide61.xml" Id="R70890599c0e74eff" /></Relationships>
</file>

<file path=ppt/slides/_rels/slide62.xml.rels><?xml version='1.0' encoding='utf-8'?>
<Relationships xmlns="http://schemas.openxmlformats.org/package/2006/relationships"><Relationship Type="http://schemas.openxmlformats.org/officeDocument/2006/relationships/slideLayout" Target="/ppt/slideLayouts/slideLayout6.xml" Id="R229d53cc13a9453d" /><Relationship Type="http://schemas.openxmlformats.org/officeDocument/2006/relationships/slide" Target="slide1.xml" Id="R656897612093495f" /><Relationship Type="http://schemas.openxmlformats.org/officeDocument/2006/relationships/hyperlink" Target="https://manash-protim-deori.vercel.app/case-studies/olam-global/source-book.pdf" TargetMode="External" Id="R7bb3d66dc8974263" /><Relationship Type="http://schemas.openxmlformats.org/officeDocument/2006/relationships/notesSlide" Target="/ppt/notesSlides/notesSlide62.xml" Id="Re02444834dd14818" /></Relationships>
</file>

<file path=ppt/slides/_rels/slide63.xml.rels><?xml version='1.0' encoding='utf-8'?>
<Relationships xmlns="http://schemas.openxmlformats.org/package/2006/relationships"><Relationship Type="http://schemas.openxmlformats.org/officeDocument/2006/relationships/slideLayout" Target="/ppt/slideLayouts/slideLayout6.xml" Id="Rb074f1a537ae4fbd" /><Relationship Type="http://schemas.openxmlformats.org/officeDocument/2006/relationships/slide" Target="slide1.xml" Id="R888fe7f51bd44fea" /><Relationship Type="http://schemas.openxmlformats.org/officeDocument/2006/relationships/hyperlink" Target="https://manash-protim-deori.vercel.app/case-studies/olam-global/source-book.pdf" TargetMode="External" Id="R4e9ca358e6cc40b3" /><Relationship Type="http://schemas.openxmlformats.org/officeDocument/2006/relationships/notesSlide" Target="/ppt/notesSlides/notesSlide63.xml" Id="R42651700ac1049d2" /></Relationships>
</file>

<file path=ppt/slides/_rels/slide64.xml.rels><?xml version='1.0' encoding='utf-8'?>
<Relationships xmlns="http://schemas.openxmlformats.org/package/2006/relationships"><Relationship Type="http://schemas.openxmlformats.org/officeDocument/2006/relationships/slideLayout" Target="/ppt/slideLayouts/slideLayout6.xml" Id="R9cb3e66a09974bf2" /><Relationship Type="http://schemas.openxmlformats.org/officeDocument/2006/relationships/slide" Target="slide1.xml" Id="R6ca11a6777ad4eae" /><Relationship Type="http://schemas.openxmlformats.org/officeDocument/2006/relationships/hyperlink" Target="https://manash-protim-deori.vercel.app/case-studies/olam-global/source-book.pdf" TargetMode="External" Id="Rf5ec3cf7144141b7" /><Relationship Type="http://schemas.openxmlformats.org/officeDocument/2006/relationships/notesSlide" Target="/ppt/notesSlides/notesSlide64.xml" Id="R8215abe2fa2c4947" /></Relationships>
</file>

<file path=ppt/slides/_rels/slide65.xml.rels><?xml version='1.0' encoding='utf-8'?>
<Relationships xmlns="http://schemas.openxmlformats.org/package/2006/relationships"><Relationship Type="http://schemas.openxmlformats.org/officeDocument/2006/relationships/slideLayout" Target="/ppt/slideLayouts/slideLayout6.xml" Id="R60a1d52d8a32468b" /><Relationship Type="http://schemas.openxmlformats.org/officeDocument/2006/relationships/slide" Target="slide1.xml" Id="Ra60ead82f31b4e5e" /><Relationship Type="http://schemas.openxmlformats.org/officeDocument/2006/relationships/hyperlink" Target="https://manash-protim-deori.vercel.app/case-studies/olam-global/source-book.pdf" TargetMode="External" Id="R80abd398a17c41cc" /><Relationship Type="http://schemas.openxmlformats.org/officeDocument/2006/relationships/notesSlide" Target="/ppt/notesSlides/notesSlide65.xml" Id="R81cda6f20f0f412c" /></Relationships>
</file>

<file path=ppt/slides/_rels/slide66.xml.rels><?xml version='1.0' encoding='utf-8'?>
<Relationships xmlns="http://schemas.openxmlformats.org/package/2006/relationships"><Relationship Type="http://schemas.openxmlformats.org/officeDocument/2006/relationships/slideLayout" Target="/ppt/slideLayouts/slideLayout6.xml" Id="R1770aba3080e4f86" /><Relationship Type="http://schemas.openxmlformats.org/officeDocument/2006/relationships/slide" Target="slide1.xml" Id="R1c25f8f331d64cd6" /><Relationship Type="http://schemas.openxmlformats.org/officeDocument/2006/relationships/hyperlink" Target="https://manash-protim-deori.vercel.app/case-studies/olam-global/source-book.pdf" TargetMode="External" Id="Rf7a9792eefe542f6" /><Relationship Type="http://schemas.openxmlformats.org/officeDocument/2006/relationships/notesSlide" Target="/ppt/notesSlides/notesSlide66.xml" Id="R2fd56faf190f4e5a" /></Relationships>
</file>

<file path=ppt/slides/_rels/slide67.xml.rels><?xml version='1.0' encoding='utf-8'?>
<Relationships xmlns="http://schemas.openxmlformats.org/package/2006/relationships"><Relationship Type="http://schemas.openxmlformats.org/officeDocument/2006/relationships/slideLayout" Target="/ppt/slideLayouts/slideLayout6.xml" Id="R6116339b5d544229" /><Relationship Type="http://schemas.openxmlformats.org/officeDocument/2006/relationships/slide" Target="slide1.xml" Id="R597735e49b404080" /><Relationship Type="http://schemas.openxmlformats.org/officeDocument/2006/relationships/hyperlink" Target="https://manash-protim-deori.vercel.app/case-studies/olam-global/source-book.pdf" TargetMode="External" Id="R432f96382a2646d7" /><Relationship Type="http://schemas.openxmlformats.org/officeDocument/2006/relationships/notesSlide" Target="/ppt/notesSlides/notesSlide67.xml" Id="R70957b35ab384d0b" /></Relationships>
</file>

<file path=ppt/slides/_rels/slide68.xml.rels><?xml version='1.0' encoding='utf-8'?>
<Relationships xmlns="http://schemas.openxmlformats.org/package/2006/relationships"><Relationship Type="http://schemas.openxmlformats.org/officeDocument/2006/relationships/slideLayout" Target="/ppt/slideLayouts/slideLayout6.xml" Id="R284e43375d6a41ad" /><Relationship Type="http://schemas.openxmlformats.org/officeDocument/2006/relationships/slide" Target="slide1.xml" Id="R0c7942fdd97a405a" /><Relationship Type="http://schemas.openxmlformats.org/officeDocument/2006/relationships/hyperlink" Target="https://manash-protim-deori.vercel.app/case-studies/olam-global/source-book.pdf" TargetMode="External" Id="R21176e1b4ec64378" /><Relationship Type="http://schemas.openxmlformats.org/officeDocument/2006/relationships/notesSlide" Target="/ppt/notesSlides/notesSlide68.xml" Id="Rd5111ba8aea94575" /></Relationships>
</file>

<file path=ppt/slides/_rels/slide69.xml.rels><?xml version='1.0' encoding='utf-8'?>
<Relationships xmlns="http://schemas.openxmlformats.org/package/2006/relationships"><Relationship Type="http://schemas.openxmlformats.org/officeDocument/2006/relationships/slideLayout" Target="/ppt/slideLayouts/slideLayout6.xml" Id="Rfb7cdf21dede4cde" /><Relationship Type="http://schemas.openxmlformats.org/officeDocument/2006/relationships/slide" Target="slide1.xml" Id="Raa6165eb0d764151" /><Relationship Type="http://schemas.openxmlformats.org/officeDocument/2006/relationships/hyperlink" Target="https://manash-protim-deori.vercel.app/case-studies/olam-global/source-book.pdf" TargetMode="External" Id="R84eb1873a0654d1e" /><Relationship Type="http://schemas.openxmlformats.org/officeDocument/2006/relationships/notesSlide" Target="/ppt/notesSlides/notesSlide69.xml" Id="R7beba9f0865c49ac" /></Relationships>
</file>

<file path=ppt/slides/_rels/slide70.xml.rels><?xml version='1.0' encoding='utf-8'?>
<Relationships xmlns="http://schemas.openxmlformats.org/package/2006/relationships"><Relationship Type="http://schemas.openxmlformats.org/officeDocument/2006/relationships/slideLayout" Target="/ppt/slideLayouts/slideLayout6.xml" Id="R246c09b5722240fe" /><Relationship Type="http://schemas.openxmlformats.org/officeDocument/2006/relationships/slide" Target="slide1.xml" Id="R433a00b0f999426d" /><Relationship Type="http://schemas.openxmlformats.org/officeDocument/2006/relationships/hyperlink" Target="https://manash-protim-deori.vercel.app/case-studies/olam-global/source-book.pdf" TargetMode="External" Id="Red17b1e073e24ddd" /><Relationship Type="http://schemas.openxmlformats.org/officeDocument/2006/relationships/notesSlide" Target="/ppt/notesSlides/notesSlide70.xml" Id="R662d2e3d05f94b97" /></Relationships>
</file>

<file path=ppt/slides/_rels/slide71.xml.rels><?xml version='1.0' encoding='utf-8'?>
<Relationships xmlns="http://schemas.openxmlformats.org/package/2006/relationships"><Relationship Type="http://schemas.openxmlformats.org/officeDocument/2006/relationships/slideLayout" Target="/ppt/slideLayouts/slideLayout6.xml" Id="R684e0447eed04efa" /><Relationship Type="http://schemas.openxmlformats.org/officeDocument/2006/relationships/slide" Target="slide1.xml" Id="R38c1af75948343d9" /><Relationship Type="http://schemas.openxmlformats.org/officeDocument/2006/relationships/hyperlink" Target="https://manash-protim-deori.vercel.app/case-studies/olam-global/source-book.pdf" TargetMode="External" Id="R06efb15ef6e44277" /><Relationship Type="http://schemas.openxmlformats.org/officeDocument/2006/relationships/notesSlide" Target="/ppt/notesSlides/notesSlide71.xml" Id="R616057f11c0b4d3a" /></Relationships>
</file>

<file path=ppt/slides/_rels/slide72.xml.rels><?xml version='1.0' encoding='utf-8'?>
<Relationships xmlns="http://schemas.openxmlformats.org/package/2006/relationships"><Relationship Type="http://schemas.openxmlformats.org/officeDocument/2006/relationships/slideLayout" Target="/ppt/slideLayouts/slideLayout6.xml" Id="R6e132edc7f614e95" /><Relationship Type="http://schemas.openxmlformats.org/officeDocument/2006/relationships/slide" Target="slide1.xml" Id="R6d90dde38933468c" /><Relationship Type="http://schemas.openxmlformats.org/officeDocument/2006/relationships/hyperlink" Target="https://manash-protim-deori.vercel.app/case-studies/olam-global/source-book.pdf" TargetMode="External" Id="R72b6342196f14f63" /><Relationship Type="http://schemas.openxmlformats.org/officeDocument/2006/relationships/notesSlide" Target="/ppt/notesSlides/notesSlide72.xml" Id="Rc196f1f4bc7742b7" /></Relationships>
</file>

<file path=ppt/slides/_rels/slide73.xml.rels><?xml version='1.0' encoding='utf-8'?>
<Relationships xmlns="http://schemas.openxmlformats.org/package/2006/relationships"><Relationship Type="http://schemas.openxmlformats.org/officeDocument/2006/relationships/slideLayout" Target="/ppt/slideLayouts/slideLayout6.xml" Id="R861f5374b326436f" /><Relationship Type="http://schemas.openxmlformats.org/officeDocument/2006/relationships/slide" Target="slide1.xml" Id="R9523460fd51942b1" /><Relationship Type="http://schemas.openxmlformats.org/officeDocument/2006/relationships/hyperlink" Target="https://manash-protim-deori.vercel.app/case-studies/olam-global/source-book.pdf" TargetMode="External" Id="R69c43b413be342b7" /><Relationship Type="http://schemas.openxmlformats.org/officeDocument/2006/relationships/notesSlide" Target="/ppt/notesSlides/notesSlide73.xml" Id="R63d013fb98f04239" /></Relationships>
</file>

<file path=ppt/slides/_rels/slide74.xml.rels><?xml version='1.0' encoding='utf-8'?>
<Relationships xmlns="http://schemas.openxmlformats.org/package/2006/relationships"><Relationship Type="http://schemas.openxmlformats.org/officeDocument/2006/relationships/slideLayout" Target="/ppt/slideLayouts/slideLayout6.xml" Id="Rbe4a3d4941de41e3" /><Relationship Type="http://schemas.openxmlformats.org/officeDocument/2006/relationships/slide" Target="slide1.xml" Id="R212a4db6d3394e23" /><Relationship Type="http://schemas.openxmlformats.org/officeDocument/2006/relationships/hyperlink" Target="https://manash-protim-deori.vercel.app/case-studies/olam-global/source-book.pdf" TargetMode="External" Id="R5190a70c00414e57" /><Relationship Type="http://schemas.openxmlformats.org/officeDocument/2006/relationships/notesSlide" Target="/ppt/notesSlides/notesSlide74.xml" Id="Rb5694d2172b245b3" /></Relationships>
</file>

<file path=ppt/slides/_rels/slide75.xml.rels><?xml version='1.0' encoding='utf-8'?>
<Relationships xmlns="http://schemas.openxmlformats.org/package/2006/relationships"><Relationship Type="http://schemas.openxmlformats.org/officeDocument/2006/relationships/slideLayout" Target="/ppt/slideLayouts/slideLayout6.xml" Id="Rce5e8cf656d74a22" /><Relationship Type="http://schemas.openxmlformats.org/officeDocument/2006/relationships/slide" Target="slide1.xml" Id="Ra2480e6c03a746e3" /><Relationship Type="http://schemas.openxmlformats.org/officeDocument/2006/relationships/hyperlink" Target="https://manash-protim-deori.vercel.app/case-studies/olam-global/source-book.pdf" TargetMode="External" Id="Rcf33135b585747b5" /><Relationship Type="http://schemas.openxmlformats.org/officeDocument/2006/relationships/notesSlide" Target="/ppt/notesSlides/notesSlide75.xml" Id="R61dc04b16aa34a23" /></Relationships>
</file>

<file path=ppt/slides/_rels/slide76.xml.rels><?xml version='1.0' encoding='utf-8'?>
<Relationships xmlns="http://schemas.openxmlformats.org/package/2006/relationships"><Relationship Type="http://schemas.openxmlformats.org/officeDocument/2006/relationships/slideLayout" Target="/ppt/slideLayouts/slideLayout6.xml" Id="R66e48ad0a37d47c6" /><Relationship Type="http://schemas.openxmlformats.org/officeDocument/2006/relationships/slide" Target="slide1.xml" Id="Rd7dad2e015ac4559" /><Relationship Type="http://schemas.openxmlformats.org/officeDocument/2006/relationships/hyperlink" Target="https://manash-protim-deori.vercel.app/case-studies/olam-global/source-book.pdf" TargetMode="External" Id="R19f6ede07b1747b2" /><Relationship Type="http://schemas.openxmlformats.org/officeDocument/2006/relationships/notesSlide" Target="/ppt/notesSlides/notesSlide76.xml" Id="R6eb0ccd5114448a4" /></Relationships>
</file>

<file path=ppt/slides/_rels/slide77.xml.rels><?xml version='1.0' encoding='utf-8'?>
<Relationships xmlns="http://schemas.openxmlformats.org/package/2006/relationships"><Relationship Type="http://schemas.openxmlformats.org/officeDocument/2006/relationships/slideLayout" Target="/ppt/slideLayouts/slideLayout6.xml" Id="Rd671317c753844a2" /><Relationship Type="http://schemas.openxmlformats.org/officeDocument/2006/relationships/slide" Target="slide1.xml" Id="R4c7da64a6d9742d4" /><Relationship Type="http://schemas.openxmlformats.org/officeDocument/2006/relationships/hyperlink" Target="https://manash-protim-deori.vercel.app/case-studies/olam-global/source-book.pdf" TargetMode="External" Id="Rd5f6c49b021b41e2" /><Relationship Type="http://schemas.openxmlformats.org/officeDocument/2006/relationships/notesSlide" Target="/ppt/notesSlides/notesSlide77.xml" Id="Rfa5ff1433a744e09" /></Relationships>
</file>

<file path=ppt/slides/_rels/slide78.xml.rels><?xml version='1.0' encoding='utf-8'?>
<Relationships xmlns="http://schemas.openxmlformats.org/package/2006/relationships"><Relationship Type="http://schemas.openxmlformats.org/officeDocument/2006/relationships/slideLayout" Target="/ppt/slideLayouts/slideLayout6.xml" Id="R882d436f31824450" /><Relationship Type="http://schemas.openxmlformats.org/officeDocument/2006/relationships/slide" Target="slide1.xml" Id="R55808de9896c4e74" /><Relationship Type="http://schemas.openxmlformats.org/officeDocument/2006/relationships/hyperlink" Target="https://manash-protim-deori.vercel.app/case-studies/olam-global/source-book.pdf" TargetMode="External" Id="Rd9091fd5463e4dce" /><Relationship Type="http://schemas.openxmlformats.org/officeDocument/2006/relationships/notesSlide" Target="/ppt/notesSlides/notesSlide78.xml" Id="R364c8799853a46c9" /></Relationships>
</file>

<file path=ppt/slides/_rels/slide79.xml.rels><?xml version='1.0' encoding='utf-8'?>
<Relationships xmlns="http://schemas.openxmlformats.org/package/2006/relationships"><Relationship Type="http://schemas.openxmlformats.org/officeDocument/2006/relationships/slideLayout" Target="/ppt/slideLayouts/slideLayout6.xml" Id="Rb1230666736d400b" /><Relationship Type="http://schemas.openxmlformats.org/officeDocument/2006/relationships/slide" Target="slide1.xml" Id="R9dc2609bf3224054" /><Relationship Type="http://schemas.openxmlformats.org/officeDocument/2006/relationships/hyperlink" Target="https://manash-protim-deori.vercel.app/case-studies/olam-global/source-book.pdf" TargetMode="External" Id="Rfec3f0c1f0b64fce" /><Relationship Type="http://schemas.openxmlformats.org/officeDocument/2006/relationships/notesSlide" Target="/ppt/notesSlides/notesSlide79.xml" Id="R514a4666c6c54e15" /></Relationships>
</file>

<file path=ppt/slides/_rels/slide80.xml.rels><?xml version='1.0' encoding='utf-8'?>
<Relationships xmlns="http://schemas.openxmlformats.org/package/2006/relationships"><Relationship Type="http://schemas.openxmlformats.org/officeDocument/2006/relationships/slideLayout" Target="/ppt/slideLayouts/slideLayout6.xml" Id="Rfa2664911aa742bf" /><Relationship Type="http://schemas.openxmlformats.org/officeDocument/2006/relationships/slide" Target="slide1.xml" Id="Ref254ffc505b4cee" /><Relationship Type="http://schemas.openxmlformats.org/officeDocument/2006/relationships/hyperlink" Target="https://manash-protim-deori.vercel.app/case-studies/olam-global/source-book.pdf" TargetMode="External" Id="Racc962c016c54612" /><Relationship Type="http://schemas.openxmlformats.org/officeDocument/2006/relationships/notesSlide" Target="/ppt/notesSlides/notesSlide80.xml" Id="Rcf100c984c7940f7" /></Relationships>
</file>

<file path=ppt/slides/_rels/slide81.xml.rels><?xml version='1.0' encoding='utf-8'?>
<Relationships xmlns="http://schemas.openxmlformats.org/package/2006/relationships"><Relationship Type="http://schemas.openxmlformats.org/officeDocument/2006/relationships/slideLayout" Target="/ppt/slideLayouts/slideLayout6.xml" Id="R19007ae5a41f4732" /><Relationship Type="http://schemas.openxmlformats.org/officeDocument/2006/relationships/slide" Target="slide1.xml" Id="R78bd80ee8b364eaf" /><Relationship Type="http://schemas.openxmlformats.org/officeDocument/2006/relationships/hyperlink" Target="https://manash-protim-deori.vercel.app/case-studies/olam-global/source-book.pdf" TargetMode="External" Id="R1c84bf8cf7ea4b14" /><Relationship Type="http://schemas.openxmlformats.org/officeDocument/2006/relationships/notesSlide" Target="/ppt/notesSlides/notesSlide81.xml" Id="Rdc435e8570c84952" /></Relationships>
</file>

<file path=ppt/slides/_rels/slide82.xml.rels><?xml version='1.0' encoding='utf-8'?>
<Relationships xmlns="http://schemas.openxmlformats.org/package/2006/relationships"><Relationship Type="http://schemas.openxmlformats.org/officeDocument/2006/relationships/slideLayout" Target="/ppt/slideLayouts/slideLayout6.xml" Id="Raa824bc417014466" /><Relationship Type="http://schemas.openxmlformats.org/officeDocument/2006/relationships/slide" Target="slide1.xml" Id="R3cdc80d321bf4c73" /><Relationship Type="http://schemas.openxmlformats.org/officeDocument/2006/relationships/hyperlink" Target="https://manash-protim-deori.vercel.app/case-studies/olam-global/source-book.pdf" TargetMode="External" Id="R4fb90692606e4ccc" /><Relationship Type="http://schemas.openxmlformats.org/officeDocument/2006/relationships/notesSlide" Target="/ppt/notesSlides/notesSlide82.xml" Id="Rc09f8d5148004961" /></Relationships>
</file>

<file path=ppt/slides/_rels/slide83.xml.rels><?xml version='1.0' encoding='utf-8'?>
<Relationships xmlns="http://schemas.openxmlformats.org/package/2006/relationships"><Relationship Type="http://schemas.openxmlformats.org/officeDocument/2006/relationships/slideLayout" Target="/ppt/slideLayouts/slideLayout6.xml" Id="R41a34940dc8e4f38" /><Relationship Type="http://schemas.openxmlformats.org/officeDocument/2006/relationships/slide" Target="slide1.xml" Id="R4619c0f52716478e" /><Relationship Type="http://schemas.openxmlformats.org/officeDocument/2006/relationships/hyperlink" Target="https://manash-protim-deori.vercel.app/case-studies/olam-global/source-book.pdf" TargetMode="External" Id="R2bb350f4618c442c" /><Relationship Type="http://schemas.openxmlformats.org/officeDocument/2006/relationships/notesSlide" Target="/ppt/notesSlides/notesSlide83.xml" Id="R4a642661b96d44fe" /></Relationships>
</file>

<file path=ppt/slides/_rels/slide84.xml.rels><?xml version='1.0' encoding='utf-8'?>
<Relationships xmlns="http://schemas.openxmlformats.org/package/2006/relationships"><Relationship Type="http://schemas.openxmlformats.org/officeDocument/2006/relationships/slideLayout" Target="/ppt/slideLayouts/slideLayout6.xml" Id="R2024d31f450d489c" /><Relationship Type="http://schemas.openxmlformats.org/officeDocument/2006/relationships/slide" Target="slide1.xml" Id="Rc1ad8271140149b8" /><Relationship Type="http://schemas.openxmlformats.org/officeDocument/2006/relationships/hyperlink" Target="https://manash-protim-deori.vercel.app/case-studies/olam-global/source-book.pdf" TargetMode="External" Id="R9e3ddb1e5ba745d3" /><Relationship Type="http://schemas.openxmlformats.org/officeDocument/2006/relationships/notesSlide" Target="/ppt/notesSlides/notesSlide84.xml" Id="R9e481f638e894f84" /></Relationships>
</file>

<file path=ppt/slides/_rels/slide85.xml.rels><?xml version='1.0' encoding='utf-8'?>
<Relationships xmlns="http://schemas.openxmlformats.org/package/2006/relationships"><Relationship Type="http://schemas.openxmlformats.org/officeDocument/2006/relationships/slideLayout" Target="/ppt/slideLayouts/slideLayout6.xml" Id="R72bbb90c67774b89" /><Relationship Type="http://schemas.openxmlformats.org/officeDocument/2006/relationships/slide" Target="slide1.xml" Id="Rccda17f51128460c" /><Relationship Type="http://schemas.openxmlformats.org/officeDocument/2006/relationships/hyperlink" Target="https://manash-protim-deori.vercel.app/case-studies/olam-global/source-book.pdf" TargetMode="External" Id="Re5e2bc152caa4beb" /><Relationship Type="http://schemas.openxmlformats.org/officeDocument/2006/relationships/notesSlide" Target="/ppt/notesSlides/notesSlide85.xml" Id="Rd6dd3c58b5a4495a" /></Relationships>
</file>

<file path=ppt/slides/_rels/slide86.xml.rels><?xml version='1.0' encoding='utf-8'?>
<Relationships xmlns="http://schemas.openxmlformats.org/package/2006/relationships"><Relationship Type="http://schemas.openxmlformats.org/officeDocument/2006/relationships/slideLayout" Target="/ppt/slideLayouts/slideLayout6.xml" Id="R6d223586f03f4f20" /><Relationship Type="http://schemas.openxmlformats.org/officeDocument/2006/relationships/slide" Target="slide1.xml" Id="Re74772fbee5a44e5" /><Relationship Type="http://schemas.openxmlformats.org/officeDocument/2006/relationships/hyperlink" Target="https://manash-protim-deori.vercel.app/case-studies/olam-global/source-book.pdf" TargetMode="External" Id="R017efabf825d40ec" /><Relationship Type="http://schemas.openxmlformats.org/officeDocument/2006/relationships/notesSlide" Target="/ppt/notesSlides/notesSlide86.xml" Id="R3c0845e5e821422a" /></Relationships>
</file>

<file path=ppt/slides/_rels/slide87.xml.rels><?xml version='1.0' encoding='utf-8'?>
<Relationships xmlns="http://schemas.openxmlformats.org/package/2006/relationships"><Relationship Type="http://schemas.openxmlformats.org/officeDocument/2006/relationships/slideLayout" Target="/ppt/slideLayouts/slideLayout6.xml" Id="R65cec480c8bc46f3" /><Relationship Type="http://schemas.openxmlformats.org/officeDocument/2006/relationships/slide" Target="slide1.xml" Id="R8f3aaeccbf884b60" /><Relationship Type="http://schemas.openxmlformats.org/officeDocument/2006/relationships/hyperlink" Target="https://manash-protim-deori.vercel.app/case-studies/olam-global/source-book.pdf" TargetMode="External" Id="Rf16c9e7e7e094f91" /><Relationship Type="http://schemas.openxmlformats.org/officeDocument/2006/relationships/notesSlide" Target="/ppt/notesSlides/notesSlide87.xml" Id="Rc5a4343456d44ec4" /></Relationships>
</file>

<file path=ppt/slides/_rels/slide88.xml.rels><?xml version='1.0' encoding='utf-8'?>
<Relationships xmlns="http://schemas.openxmlformats.org/package/2006/relationships"><Relationship Type="http://schemas.openxmlformats.org/officeDocument/2006/relationships/slideLayout" Target="/ppt/slideLayouts/slideLayout6.xml" Id="R18a246c55e1a4527" /><Relationship Type="http://schemas.openxmlformats.org/officeDocument/2006/relationships/slide" Target="slide1.xml" Id="R9437bf981874497f" /><Relationship Type="http://schemas.openxmlformats.org/officeDocument/2006/relationships/hyperlink" Target="https://manash-protim-deori.vercel.app/case-studies/olam-global/source-book.pdf" TargetMode="External" Id="R458293ee10994369" /><Relationship Type="http://schemas.openxmlformats.org/officeDocument/2006/relationships/notesSlide" Target="/ppt/notesSlides/notesSlide88.xml" Id="R2ee55805bcf3412b" /></Relationships>
</file>

<file path=ppt/slides/_rels/slide89.xml.rels><?xml version='1.0' encoding='utf-8'?>
<Relationships xmlns="http://schemas.openxmlformats.org/package/2006/relationships"><Relationship Type="http://schemas.openxmlformats.org/officeDocument/2006/relationships/slideLayout" Target="/ppt/slideLayouts/slideLayout6.xml" Id="R5342500f72034442" /><Relationship Type="http://schemas.openxmlformats.org/officeDocument/2006/relationships/slide" Target="slide1.xml" Id="R1b7f6ccf9b45498b" /><Relationship Type="http://schemas.openxmlformats.org/officeDocument/2006/relationships/hyperlink" Target="https://manash-protim-deori.vercel.app/case-studies/olam-global/source-book.pdf" TargetMode="External" Id="Rda22bad0bf30429a" /><Relationship Type="http://schemas.openxmlformats.org/officeDocument/2006/relationships/notesSlide" Target="/ppt/notesSlides/notesSlide89.xml" Id="R799b005cc8cf4cb4" /></Relationships>
</file>

<file path=ppt/slides/_rels/slide90.xml.rels><?xml version='1.0' encoding='utf-8'?>
<Relationships xmlns="http://schemas.openxmlformats.org/package/2006/relationships"><Relationship Type="http://schemas.openxmlformats.org/officeDocument/2006/relationships/slideLayout" Target="/ppt/slideLayouts/slideLayout6.xml" Id="R03d48ed93f4944e2" /><Relationship Type="http://schemas.openxmlformats.org/officeDocument/2006/relationships/slide" Target="slide1.xml" Id="R807fd8a9e2954d53" /><Relationship Type="http://schemas.openxmlformats.org/officeDocument/2006/relationships/hyperlink" Target="https://manash-protim-deori.vercel.app/case-studies/olam-global/source-book.pdf" TargetMode="External" Id="R520e0fa89dbf4f13" /><Relationship Type="http://schemas.openxmlformats.org/officeDocument/2006/relationships/notesSlide" Target="/ppt/notesSlides/notesSlide90.xml" Id="Ra6bfa86bdc9e4e47" /></Relationships>
</file>

<file path=ppt/slides/_rels/slide91.xml.rels><?xml version='1.0' encoding='utf-8'?>
<Relationships xmlns="http://schemas.openxmlformats.org/package/2006/relationships"><Relationship Type="http://schemas.openxmlformats.org/officeDocument/2006/relationships/slideLayout" Target="/ppt/slideLayouts/slideLayout6.xml" Id="Rc7e6c9eff38c465c" /><Relationship Type="http://schemas.openxmlformats.org/officeDocument/2006/relationships/slide" Target="slide1.xml" Id="R645bbcafb27d4cef" /><Relationship Type="http://schemas.openxmlformats.org/officeDocument/2006/relationships/hyperlink" Target="https://manash-protim-deori.vercel.app/case-studies/olam-global/source-book.pdf" TargetMode="External" Id="R0663c41232394bf7" /><Relationship Type="http://schemas.openxmlformats.org/officeDocument/2006/relationships/notesSlide" Target="/ppt/notesSlides/notesSlide91.xml" Id="Re6c52a9ab7744e1c" /></Relationships>
</file>

<file path=ppt/slides/_rels/slide92.xml.rels><?xml version='1.0' encoding='utf-8'?>
<Relationships xmlns="http://schemas.openxmlformats.org/package/2006/relationships"><Relationship Type="http://schemas.openxmlformats.org/officeDocument/2006/relationships/slideLayout" Target="/ppt/slideLayouts/slideLayout6.xml" Id="R045b338dff704585" /><Relationship Type="http://schemas.openxmlformats.org/officeDocument/2006/relationships/slide" Target="slide1.xml" Id="R7a89152f3b3441a2" /><Relationship Type="http://schemas.openxmlformats.org/officeDocument/2006/relationships/hyperlink" Target="https://manash-protim-deori.vercel.app/case-studies/olam-global/source-book.pdf" TargetMode="External" Id="Re28c5b67777b47c5" /><Relationship Type="http://schemas.openxmlformats.org/officeDocument/2006/relationships/notesSlide" Target="/ppt/notesSlides/notesSlide92.xml" Id="R7caa1db4f8f5415c" /></Relationships>
</file>

<file path=ppt/slides/_rels/slide93.xml.rels><?xml version='1.0' encoding='utf-8'?>
<Relationships xmlns="http://schemas.openxmlformats.org/package/2006/relationships"><Relationship Type="http://schemas.openxmlformats.org/officeDocument/2006/relationships/slideLayout" Target="/ppt/slideLayouts/slideLayout6.xml" Id="Ra8364a36db024921" /><Relationship Type="http://schemas.openxmlformats.org/officeDocument/2006/relationships/slide" Target="slide1.xml" Id="R072bbe505cba4beb" /><Relationship Type="http://schemas.openxmlformats.org/officeDocument/2006/relationships/hyperlink" Target="https://manash-protim-deori.vercel.app/case-studies/olam-global/source-book.pdf" TargetMode="External" Id="R9108519619cd4906" /><Relationship Type="http://schemas.openxmlformats.org/officeDocument/2006/relationships/notesSlide" Target="/ppt/notesSlides/notesSlide93.xml" Id="R0efb3db925b042bd" /></Relationships>
</file>

<file path=ppt/slides/_rels/slide94.xml.rels><?xml version='1.0' encoding='utf-8'?>
<Relationships xmlns="http://schemas.openxmlformats.org/package/2006/relationships"><Relationship Type="http://schemas.openxmlformats.org/officeDocument/2006/relationships/slideLayout" Target="/ppt/slideLayouts/slideLayout6.xml" Id="R89ba5aa8c7b74514" /><Relationship Type="http://schemas.openxmlformats.org/officeDocument/2006/relationships/slide" Target="slide1.xml" Id="Rae3300b8c2394b95" /><Relationship Type="http://schemas.openxmlformats.org/officeDocument/2006/relationships/hyperlink" Target="https://manash-protim-deori.vercel.app/case-studies/olam-global/source-book.pdf" TargetMode="External" Id="Reac08c36f6de4ace" /><Relationship Type="http://schemas.openxmlformats.org/officeDocument/2006/relationships/notesSlide" Target="/ppt/notesSlides/notesSlide94.xml" Id="R19041f8684864ce1" /></Relationships>
</file>

<file path=ppt/slides/_rels/slide95.xml.rels><?xml version='1.0' encoding='utf-8'?>
<Relationships xmlns="http://schemas.openxmlformats.org/package/2006/relationships"><Relationship Type="http://schemas.openxmlformats.org/officeDocument/2006/relationships/slideLayout" Target="/ppt/slideLayouts/slideLayout6.xml" Id="R80ae5e1590e04799" /><Relationship Type="http://schemas.openxmlformats.org/officeDocument/2006/relationships/slide" Target="slide1.xml" Id="R84efb5714ac0424c" /><Relationship Type="http://schemas.openxmlformats.org/officeDocument/2006/relationships/hyperlink" Target="https://manash-protim-deori.vercel.app/case-studies/olam-global/source-book.pdf" TargetMode="External" Id="Rc7aeb465b5e74b63" /><Relationship Type="http://schemas.openxmlformats.org/officeDocument/2006/relationships/notesSlide" Target="/ppt/notesSlides/notesSlide95.xml" Id="Rb6b1a67ad28c4d75" /></Relationships>
</file>

<file path=ppt/slides/_rels/slide96.xml.rels><?xml version='1.0' encoding='utf-8'?>
<Relationships xmlns="http://schemas.openxmlformats.org/package/2006/relationships"><Relationship Type="http://schemas.openxmlformats.org/officeDocument/2006/relationships/slideLayout" Target="/ppt/slideLayouts/slideLayout6.xml" Id="R377eea94797d4af3" /><Relationship Type="http://schemas.openxmlformats.org/officeDocument/2006/relationships/slide" Target="slide1.xml" Id="R0ef03aacd289484e" /><Relationship Type="http://schemas.openxmlformats.org/officeDocument/2006/relationships/hyperlink" Target="https://manash-protim-deori.vercel.app/case-studies/olam-global/source-book.pdf" TargetMode="External" Id="R2155150159c84024" /><Relationship Type="http://schemas.openxmlformats.org/officeDocument/2006/relationships/notesSlide" Target="/ppt/notesSlides/notesSlide96.xml" Id="R27e919c4d1d34269" /></Relationships>
</file>

<file path=ppt/slides/_rels/slide97.xml.rels><?xml version='1.0' encoding='utf-8'?>
<Relationships xmlns="http://schemas.openxmlformats.org/package/2006/relationships"><Relationship Type="http://schemas.openxmlformats.org/officeDocument/2006/relationships/slideLayout" Target="/ppt/slideLayouts/slideLayout6.xml" Id="R8460d7b856a1420f" /><Relationship Type="http://schemas.openxmlformats.org/officeDocument/2006/relationships/chart" Target="/ppt/slides/charts/chart3.xml" Id="Rbad25182f2a94297" /><Relationship Type="http://schemas.openxmlformats.org/officeDocument/2006/relationships/slide" Target="slide1.xml" Id="R108aa8c7d73548d7" /><Relationship Type="http://schemas.openxmlformats.org/officeDocument/2006/relationships/hyperlink" Target="https://manash-protim-deori.vercel.app/case-studies/olam-global/source-book.pdf" TargetMode="External" Id="Re4d455d07be147d8" /><Relationship Type="http://schemas.openxmlformats.org/officeDocument/2006/relationships/notesSlide" Target="/ppt/notesSlides/notesSlide97.xml" Id="R9dc4bd64eb7d49ff" /></Relationships>
</file>

<file path=ppt/slides/_rels/slide98.xml.rels><?xml version='1.0' encoding='utf-8'?>
<Relationships xmlns="http://schemas.openxmlformats.org/package/2006/relationships"><Relationship Type="http://schemas.openxmlformats.org/officeDocument/2006/relationships/slideLayout" Target="/ppt/slideLayouts/slideLayout6.xml" Id="R19713bbeaf1a4298" /><Relationship Type="http://schemas.openxmlformats.org/officeDocument/2006/relationships/chart" Target="/ppt/slides/charts/chart4.xml" Id="Rcc8eeb54e4824346" /><Relationship Type="http://schemas.openxmlformats.org/officeDocument/2006/relationships/slide" Target="slide1.xml" Id="Rb78070a691714608" /><Relationship Type="http://schemas.openxmlformats.org/officeDocument/2006/relationships/hyperlink" Target="https://manash-protim-deori.vercel.app/case-studies/olam-global/source-book.pdf" TargetMode="External" Id="Ra52464b5e02841bc" /><Relationship Type="http://schemas.openxmlformats.org/officeDocument/2006/relationships/notesSlide" Target="/ppt/notesSlides/notesSlide98.xml" Id="Ra3804287b1da4f1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200">
                <a:latin typeface="DejaVu Sans"/>
                <a:ea typeface="DejaVu Sans"/>
                <a:cs typeface="DejaVu Sans"/>
              </a:rPr>
              <a:t>UN medium population projection, million</a:t>
            </a:r>
          </a:p>
        </c:rich>
      </c:tx>
      <c:overlay val="0"/>
      <c:txPr>
        <a:bodyPr xmlns:a="http://schemas.openxmlformats.org/drawingml/2006/main" anchorCtr="1"/>
        <a:lstStyle xmlns:a="http://schemas.openxmlformats.org/drawingml/2006/main"/>
        <a:p xmlns:a="http://schemas.openxmlformats.org/drawingml/2006/main">
          <a:pPr>
            <a:defRPr sz="1200">
              <a:latin typeface="DejaVu Sans"/>
              <a:ea typeface="DejaVu Sans"/>
              <a:cs typeface="DejaVu Sans"/>
            </a:defRPr>
          </a:pPr>
        </a:p>
      </c:txPr>
    </c:title>
    <c:plotArea>
      <c:barChart>
        <c:barDir val="col"/>
        <c:grouping val="clustered"/>
        <c:varyColors val="0"/>
        <c:ser>
          <c:idx val="0"/>
          <c:order val="0"/>
          <c:tx>
            <c:v>2026</c:v>
          </c:tx>
          <c:spPr>
            <a:solidFill xmlns:a="http://schemas.openxmlformats.org/drawingml/2006/main">
              <a:srgbClr val="215B42"/>
            </a:solidFill>
          </c:spPr>
          <c:cat>
            <c:strRef>
              <c:f>'Chart Data'!$A$2:$A$5</c:f>
              <c:strCache>
                <c:ptCount val="4"/>
                <c:pt idx="0">
                  <c:v>Nigeria</c:v>
                </c:pt>
                <c:pt idx="1">
                  <c:v>India</c:v>
                </c:pt>
                <c:pt idx="2">
                  <c:v>China</c:v>
                </c:pt>
                <c:pt idx="3">
                  <c:v>Japan</c:v>
                </c:pt>
              </c:strCache>
            </c:strRef>
          </c:cat>
          <c:val>
            <c:numRef>
              <c:f>'Chart Data'!$B$2:$B$5</c:f>
              <c:numCache>
                <c:formatCode>0.0</c:formatCode>
                <c:ptCount val="4"/>
                <c:pt idx="0">
                  <c:v>242.431832</c:v>
                </c:pt>
                <c:pt idx="1">
                  <c:v>1476.625576</c:v>
                </c:pt>
                <c:pt idx="2">
                  <c:v>1412.914089</c:v>
                </c:pt>
                <c:pt idx="3">
                  <c:v>122.427731</c:v>
                </c:pt>
              </c:numCache>
            </c:numRef>
          </c:val>
        </c:ser>
        <c:ser>
          <c:idx val="1"/>
          <c:order val="1"/>
          <c:tx>
            <c:v>2051</c:v>
          </c:tx>
          <c:spPr>
            <a:solidFill xmlns:a="http://schemas.openxmlformats.org/drawingml/2006/main">
              <a:srgbClr val="78A583"/>
            </a:solidFill>
          </c:spPr>
          <c:cat>
            <c:strRef>
              <c:f>'Chart Data'!$C$2:$C$5</c:f>
              <c:strCache>
                <c:ptCount val="4"/>
                <c:pt idx="0">
                  <c:v>Nigeria</c:v>
                </c:pt>
                <c:pt idx="1">
                  <c:v>India</c:v>
                </c:pt>
                <c:pt idx="2">
                  <c:v>China</c:v>
                </c:pt>
                <c:pt idx="3">
                  <c:v>Japan</c:v>
                </c:pt>
              </c:strCache>
            </c:strRef>
          </c:cat>
          <c:val>
            <c:numRef>
              <c:f>'Chart Data'!$D$2:$D$5</c:f>
              <c:numCache>
                <c:formatCode>0.0</c:formatCode>
                <c:ptCount val="4"/>
                <c:pt idx="0">
                  <c:v>363.523611</c:v>
                </c:pt>
                <c:pt idx="1">
                  <c:v>1683.220886</c:v>
                </c:pt>
                <c:pt idx="2">
                  <c:v>1249.692538</c:v>
                </c:pt>
                <c:pt idx="3">
                  <c:v>104.452458</c:v>
                </c:pt>
              </c:numCache>
            </c:numRef>
          </c:val>
        </c:ser>
        <c:dLbls>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666666"/>
                </a:solidFill>
                <a:latin typeface="DejaVu Sans"/>
                <a:ea typeface="DejaVu Sans"/>
                <a:cs typeface="DejaVu Sans"/>
              </a:defRPr>
            </a:pPr>
          </a:p>
        </c:txPr>
        <c:crossAx val="48672768"/>
      </c:catAx>
      <c:valAx>
        <c:axId val="48672768"/>
        <c:scaling>
          <c:orientation val="minMax"/>
        </c:scaling>
        <c:delete val="0"/>
        <c:axPos val="l"/>
        <c:numFmt formatCode="0.0" sourceLinked="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666666"/>
                </a:solidFill>
                <a:latin typeface="DejaVu Sans"/>
                <a:ea typeface="DejaVu Sans"/>
                <a:cs typeface="DejaVu Sans"/>
              </a:defRPr>
            </a:pPr>
          </a:p>
        </c:txPr>
        <c:crossAx val="48650112"/>
        <c:crossBetween val="between"/>
      </c:valAx>
      <c:spPr>
        <a:solidFill xmlns:a="http://schemas.openxmlformats.org/drawingml/2006/main">
          <a:srgbClr val="FFFEF9"/>
        </a:solidFill>
      </c:spPr>
    </c:plotArea>
    <c:legend>
      <c:legendPos val="b"/>
      <c:overlay val="0"/>
      <c:txPr>
        <a:bodyPr xmlns:a="http://schemas.openxmlformats.org/drawingml/2006/main" anchorCtr="1"/>
        <a:lstStyle xmlns:a="http://schemas.openxmlformats.org/drawingml/2006/main"/>
        <a:p xmlns:a="http://schemas.openxmlformats.org/drawingml/2006/main">
          <a:pPr>
            <a:defRPr sz="1050">
              <a:latin typeface="DejaVu Sans"/>
              <a:ea typeface="DejaVu Sans"/>
              <a:cs typeface="DejaVu Sans"/>
            </a:defRPr>
          </a:pPr>
        </a:p>
      </c:txPr>
    </c:legend>
    <c:plotVisOnly val="1"/>
  </c:chart>
  <c:spPr>
    <a:solidFill xmlns:a="http://schemas.openxmlformats.org/drawingml/2006/main">
      <a:srgbClr val="FFFEF9"/>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200">
                <a:latin typeface="DejaVu Sans"/>
                <a:ea typeface="DejaVu Sans"/>
                <a:cs typeface="DejaVu Sans"/>
              </a:rPr>
              <a:t>Normalized NPV across six worlds, USD million</a:t>
            </a:r>
          </a:p>
        </c:rich>
      </c:tx>
      <c:overlay val="0"/>
      <c:txPr>
        <a:bodyPr xmlns:a="http://schemas.openxmlformats.org/drawingml/2006/main" anchorCtr="1"/>
        <a:lstStyle xmlns:a="http://schemas.openxmlformats.org/drawingml/2006/main"/>
        <a:p xmlns:a="http://schemas.openxmlformats.org/drawingml/2006/main">
          <a:pPr>
            <a:defRPr sz="1200">
              <a:latin typeface="DejaVu Sans"/>
              <a:ea typeface="DejaVu Sans"/>
              <a:cs typeface="DejaVu Sans"/>
            </a:defRPr>
          </a:pPr>
        </a:p>
      </c:txPr>
    </c:title>
    <c:plotArea>
      <c:barChart>
        <c:barDir val="col"/>
        <c:grouping val="clustered"/>
        <c:varyColors val="0"/>
        <c:ser>
          <c:idx val="0"/>
          <c:order val="0"/>
          <c:tx>
            <c:v>Contracted trade</c:v>
          </c:tx>
          <c:spPr>
            <a:solidFill xmlns:a="http://schemas.openxmlformats.org/drawingml/2006/main">
              <a:srgbClr val="215B42"/>
            </a:solidFill>
          </c:spPr>
          <c:invertIfNegative val="0"/>
          <c:cat>
            <c:strRef>
              <c:f>'Chart Data'!$A$2:$A$7</c:f>
              <c:strCache>
                <c:ptCount val="6"/>
                <c:pt idx="0">
                  <c:v>Managed transition</c:v>
                </c:pt>
                <c:pt idx="1">
                  <c:v>Productive integration</c:v>
                </c:pt>
                <c:pt idx="2">
                  <c:v>Fragmented trade</c:v>
                </c:pt>
                <c:pt idx="3">
                  <c:v>Compound physical stress</c:v>
                </c:pt>
                <c:pt idx="4">
                  <c:v>Affordability and debt squeeze</c:v>
                </c:pt>
                <c:pt idx="5">
                  <c:v>Nutrition and resource transition</c:v>
                </c:pt>
              </c:strCache>
            </c:strRef>
          </c:cat>
          <c:val>
            <c:numRef>
              <c:f>'Chart Data'!$B$2:$B$7</c:f>
              <c:numCache>
                <c:formatCode>0.0</c:formatCode>
                <c:ptCount val="6"/>
                <c:pt idx="0">
                  <c:v>0.357686</c:v>
                </c:pt>
                <c:pt idx="1">
                  <c:v>7.869359</c:v>
                </c:pt>
                <c:pt idx="2">
                  <c:v>-10.136256</c:v>
                </c:pt>
                <c:pt idx="3">
                  <c:v>-25.56085</c:v>
                </c:pt>
                <c:pt idx="4">
                  <c:v>-13.357503</c:v>
                </c:pt>
                <c:pt idx="5">
                  <c:v>-0.543371</c:v>
                </c:pt>
              </c:numCache>
            </c:numRef>
          </c:val>
        </c:ser>
        <c:ser>
          <c:idx val="1"/>
          <c:order val="1"/>
          <c:tx>
            <c:v>Partner processing</c:v>
          </c:tx>
          <c:spPr>
            <a:solidFill xmlns:a="http://schemas.openxmlformats.org/drawingml/2006/main">
              <a:srgbClr val="78A583"/>
            </a:solidFill>
          </c:spPr>
          <c:invertIfNegative val="0"/>
          <c:cat>
            <c:strRef>
              <c:f>'Chart Data'!$C$2:$C$7</c:f>
              <c:strCache>
                <c:ptCount val="6"/>
                <c:pt idx="0">
                  <c:v>Managed transition</c:v>
                </c:pt>
                <c:pt idx="1">
                  <c:v>Productive integration</c:v>
                </c:pt>
                <c:pt idx="2">
                  <c:v>Fragmented trade</c:v>
                </c:pt>
                <c:pt idx="3">
                  <c:v>Compound physical stress</c:v>
                </c:pt>
                <c:pt idx="4">
                  <c:v>Affordability and debt squeeze</c:v>
                </c:pt>
                <c:pt idx="5">
                  <c:v>Nutrition and resource transition</c:v>
                </c:pt>
              </c:strCache>
            </c:strRef>
          </c:cat>
          <c:val>
            <c:numRef>
              <c:f>'Chart Data'!$D$2:$D$7</c:f>
              <c:numCache>
                <c:formatCode>0.0</c:formatCode>
                <c:ptCount val="6"/>
                <c:pt idx="0">
                  <c:v>10.81737</c:v>
                </c:pt>
                <c:pt idx="1">
                  <c:v>20.592951</c:v>
                </c:pt>
                <c:pt idx="2">
                  <c:v>-3.584731</c:v>
                </c:pt>
                <c:pt idx="3">
                  <c:v>-17.395001</c:v>
                </c:pt>
                <c:pt idx="4">
                  <c:v>-9.824949</c:v>
                </c:pt>
                <c:pt idx="5">
                  <c:v>10.071104</c:v>
                </c:pt>
              </c:numCache>
            </c:numRef>
          </c:val>
        </c:ser>
        <c:ser>
          <c:idx val="2"/>
          <c:order val="2"/>
          <c:tx>
            <c:v>Owned processing</c:v>
          </c:tx>
          <c:spPr>
            <a:solidFill xmlns:a="http://schemas.openxmlformats.org/drawingml/2006/main">
              <a:srgbClr val="C4913F"/>
            </a:solidFill>
          </c:spPr>
          <c:invertIfNegative val="0"/>
          <c:cat>
            <c:strRef>
              <c:f>'Chart Data'!$E$2:$E$7</c:f>
              <c:strCache>
                <c:ptCount val="6"/>
                <c:pt idx="0">
                  <c:v>Managed transition</c:v>
                </c:pt>
                <c:pt idx="1">
                  <c:v>Productive integration</c:v>
                </c:pt>
                <c:pt idx="2">
                  <c:v>Fragmented trade</c:v>
                </c:pt>
                <c:pt idx="3">
                  <c:v>Compound physical stress</c:v>
                </c:pt>
                <c:pt idx="4">
                  <c:v>Affordability and debt squeeze</c:v>
                </c:pt>
                <c:pt idx="5">
                  <c:v>Nutrition and resource transition</c:v>
                </c:pt>
              </c:strCache>
            </c:strRef>
          </c:cat>
          <c:val>
            <c:numRef>
              <c:f>'Chart Data'!$F$2:$F$7</c:f>
              <c:numCache>
                <c:formatCode>0.0</c:formatCode>
                <c:ptCount val="6"/>
                <c:pt idx="0">
                  <c:v>-1.799942</c:v>
                </c:pt>
                <c:pt idx="1">
                  <c:v>13.879462</c:v>
                </c:pt>
                <c:pt idx="2">
                  <c:v>-17.203948</c:v>
                </c:pt>
                <c:pt idx="3">
                  <c:v>-33.292164</c:v>
                </c:pt>
                <c:pt idx="4">
                  <c:v>-24.952075</c:v>
                </c:pt>
                <c:pt idx="5">
                  <c:v>-2.878264</c:v>
                </c:pt>
              </c:numCache>
            </c:numRef>
          </c:val>
        </c:ser>
        <c:dLbls>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666666"/>
                </a:solidFill>
                <a:latin typeface="DejaVu Sans"/>
                <a:ea typeface="DejaVu Sans"/>
                <a:cs typeface="DejaVu Sans"/>
              </a:defRPr>
            </a:pPr>
          </a:p>
        </c:txPr>
        <c:crossAx val="48672768"/>
      </c:catAx>
      <c:valAx>
        <c:axId val="48672768"/>
        <c:scaling>
          <c:orientation val="minMax"/>
        </c:scaling>
        <c:delete val="0"/>
        <c:axPos val="l"/>
        <c:numFmt formatCode="0.0" sourceLinked="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666666"/>
                </a:solidFill>
                <a:latin typeface="DejaVu Sans"/>
                <a:ea typeface="DejaVu Sans"/>
                <a:cs typeface="DejaVu Sans"/>
              </a:defRPr>
            </a:pPr>
          </a:p>
        </c:txPr>
        <c:crossAx val="48650112"/>
        <c:crossBetween val="between"/>
      </c:valAx>
      <c:spPr>
        <a:solidFill xmlns:a="http://schemas.openxmlformats.org/drawingml/2006/main">
          <a:srgbClr val="FFFEF9"/>
        </a:solidFill>
      </c:spPr>
    </c:plotArea>
    <c:legend>
      <c:legendPos val="b"/>
      <c:overlay val="0"/>
      <c:txPr>
        <a:bodyPr xmlns:a="http://schemas.openxmlformats.org/drawingml/2006/main" anchorCtr="1"/>
        <a:lstStyle xmlns:a="http://schemas.openxmlformats.org/drawingml/2006/main"/>
        <a:p xmlns:a="http://schemas.openxmlformats.org/drawingml/2006/main">
          <a:pPr>
            <a:defRPr sz="1050">
              <a:latin typeface="DejaVu Sans"/>
              <a:ea typeface="DejaVu Sans"/>
              <a:cs typeface="DejaVu Sans"/>
            </a:defRPr>
          </a:pPr>
        </a:p>
      </c:txPr>
    </c:legend>
    <c:plotVisOnly val="1"/>
  </c:chart>
  <c:spPr>
    <a:solidFill xmlns:a="http://schemas.openxmlformats.org/drawingml/2006/main">
      <a:srgbClr val="FFFEF9"/>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200">
                <a:latin typeface="DejaVu Sans"/>
                <a:ea typeface="DejaVu Sans"/>
                <a:cs typeface="DejaVu Sans"/>
              </a:rPr>
              <a:t>Owned managed template: EBITDA / FCFF / capex, USDm</a:t>
            </a:r>
          </a:p>
        </c:rich>
      </c:tx>
      <c:overlay val="0"/>
      <c:txPr>
        <a:bodyPr xmlns:a="http://schemas.openxmlformats.org/drawingml/2006/main" anchorCtr="1"/>
        <a:lstStyle xmlns:a="http://schemas.openxmlformats.org/drawingml/2006/main"/>
        <a:p xmlns:a="http://schemas.openxmlformats.org/drawingml/2006/main">
          <a:pPr>
            <a:defRPr sz="1200">
              <a:latin typeface="DejaVu Sans"/>
              <a:ea typeface="DejaVu Sans"/>
              <a:cs typeface="DejaVu Sans"/>
            </a:defRPr>
          </a:pPr>
        </a:p>
      </c:txPr>
    </c:title>
    <c:plotArea>
      <c:barChart>
        <c:barDir val="col"/>
        <c:grouping val="clustered"/>
        <c:varyColors val="0"/>
        <c:ser>
          <c:idx val="0"/>
          <c:order val="0"/>
          <c:tx>
            <c:v>EBITDA</c:v>
          </c:tx>
          <c:spPr>
            <a:solidFill xmlns:a="http://schemas.openxmlformats.org/drawingml/2006/main">
              <a:srgbClr val="215B42"/>
            </a:solidFill>
          </c:spPr>
          <c:cat>
            <c:numRef>
              <c:f>'Chart Data'!$A$2:$A$9</c:f>
              <c:numCache>
                <c:formatCode>General</c:formatCode>
                <c:ptCount val="8"/>
                <c:pt idx="0">
                  <c:v>2027</c:v>
                </c:pt>
                <c:pt idx="1">
                  <c:v>2028</c:v>
                </c:pt>
                <c:pt idx="2">
                  <c:v>2029</c:v>
                </c:pt>
                <c:pt idx="3">
                  <c:v>2036</c:v>
                </c:pt>
                <c:pt idx="4">
                  <c:v>2037</c:v>
                </c:pt>
                <c:pt idx="5">
                  <c:v>2046</c:v>
                </c:pt>
                <c:pt idx="6">
                  <c:v>2047</c:v>
                </c:pt>
                <c:pt idx="7">
                  <c:v>2051</c:v>
                </c:pt>
              </c:numCache>
            </c:numRef>
          </c:cat>
          <c:val>
            <c:numRef>
              <c:f>'Chart Data'!$B$2:$B$9</c:f>
              <c:numCache>
                <c:formatCode>0.0</c:formatCode>
                <c:ptCount val="8"/>
                <c:pt idx="0">
                  <c:v>1</c:v>
                </c:pt>
                <c:pt idx="1">
                  <c:v>2.872</c:v>
                </c:pt>
                <c:pt idx="2">
                  <c:v>4.18135</c:v>
                </c:pt>
                <c:pt idx="3">
                  <c:v>4.86034</c:v>
                </c:pt>
                <c:pt idx="4">
                  <c:v>4.911792</c:v>
                </c:pt>
                <c:pt idx="5">
                  <c:v>5.392582</c:v>
                </c:pt>
                <c:pt idx="6">
                  <c:v>5.448027</c:v>
                </c:pt>
                <c:pt idx="7">
                  <c:v>5.673994</c:v>
                </c:pt>
              </c:numCache>
            </c:numRef>
          </c:val>
        </c:ser>
        <c:ser>
          <c:idx val="1"/>
          <c:order val="1"/>
          <c:tx>
            <c:v>FCFF</c:v>
          </c:tx>
          <c:spPr>
            <a:solidFill xmlns:a="http://schemas.openxmlformats.org/drawingml/2006/main">
              <a:srgbClr val="78A583"/>
            </a:solidFill>
          </c:spPr>
          <c:invertIfNegative val="0"/>
          <c:cat>
            <c:numRef>
              <c:f>'Chart Data'!$C$2:$C$9</c:f>
              <c:numCache>
                <c:formatCode>General</c:formatCode>
                <c:ptCount val="8"/>
                <c:pt idx="0">
                  <c:v>2027</c:v>
                </c:pt>
                <c:pt idx="1">
                  <c:v>2028</c:v>
                </c:pt>
                <c:pt idx="2">
                  <c:v>2029</c:v>
                </c:pt>
                <c:pt idx="3">
                  <c:v>2036</c:v>
                </c:pt>
                <c:pt idx="4">
                  <c:v>2037</c:v>
                </c:pt>
                <c:pt idx="5">
                  <c:v>2046</c:v>
                </c:pt>
                <c:pt idx="6">
                  <c:v>2047</c:v>
                </c:pt>
                <c:pt idx="7">
                  <c:v>2051</c:v>
                </c:pt>
              </c:numCache>
            </c:numRef>
          </c:cat>
          <c:val>
            <c:numRef>
              <c:f>'Chart Data'!$D$2:$D$9</c:f>
              <c:numCache>
                <c:formatCode>0.0</c:formatCode>
                <c:ptCount val="8"/>
                <c:pt idx="0">
                  <c:v>-10.564384</c:v>
                </c:pt>
                <c:pt idx="1">
                  <c:v>0.497425</c:v>
                </c:pt>
                <c:pt idx="2">
                  <c:v>1.946917</c:v>
                </c:pt>
                <c:pt idx="3">
                  <c:v>3.738315</c:v>
                </c:pt>
                <c:pt idx="4">
                  <c:v>-10.320428</c:v>
                </c:pt>
                <c:pt idx="5">
                  <c:v>4.03639</c:v>
                </c:pt>
                <c:pt idx="6">
                  <c:v>-9.922462</c:v>
                </c:pt>
                <c:pt idx="7">
                  <c:v>11.530277</c:v>
                </c:pt>
              </c:numCache>
            </c:numRef>
          </c:val>
        </c:ser>
        <c:ser>
          <c:idx val="2"/>
          <c:order val="2"/>
          <c:tx>
            <c:v>Capex</c:v>
          </c:tx>
          <c:spPr>
            <a:solidFill xmlns:a="http://schemas.openxmlformats.org/drawingml/2006/main">
              <a:srgbClr val="C4913F"/>
            </a:solidFill>
          </c:spPr>
          <c:cat>
            <c:numRef>
              <c:f>'Chart Data'!$E$2:$E$9</c:f>
              <c:numCache>
                <c:formatCode>General</c:formatCode>
                <c:ptCount val="8"/>
                <c:pt idx="0">
                  <c:v>2027</c:v>
                </c:pt>
                <c:pt idx="1">
                  <c:v>2028</c:v>
                </c:pt>
                <c:pt idx="2">
                  <c:v>2029</c:v>
                </c:pt>
                <c:pt idx="3">
                  <c:v>2036</c:v>
                </c:pt>
                <c:pt idx="4">
                  <c:v>2037</c:v>
                </c:pt>
                <c:pt idx="5">
                  <c:v>2046</c:v>
                </c:pt>
                <c:pt idx="6">
                  <c:v>2047</c:v>
                </c:pt>
                <c:pt idx="7">
                  <c:v>2051</c:v>
                </c:pt>
              </c:numCache>
            </c:numRef>
          </c:cat>
          <c:val>
            <c:numRef>
              <c:f>'Chart Data'!$F$2:$F$9</c:f>
              <c:numCache>
                <c:formatCode>0.0</c:formatCode>
                <c:ptCount val="8"/>
                <c:pt idx="0">
                  <c:v>8.4</c:v>
                </c:pt>
                <c:pt idx="1">
                  <c:v>0.4</c:v>
                </c:pt>
                <c:pt idx="2">
                  <c:v>0.4</c:v>
                </c:pt>
                <c:pt idx="3">
                  <c:v>0.4</c:v>
                </c:pt>
                <c:pt idx="4">
                  <c:v>14.4</c:v>
                </c:pt>
                <c:pt idx="5">
                  <c:v>0.4</c:v>
                </c:pt>
                <c:pt idx="6">
                  <c:v>14.4</c:v>
                </c:pt>
                <c:pt idx="7">
                  <c:v>0.4</c:v>
                </c:pt>
              </c:numCache>
            </c:numRef>
          </c:val>
        </c:ser>
        <c:dLbls>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666666"/>
                </a:solidFill>
                <a:latin typeface="DejaVu Sans"/>
                <a:ea typeface="DejaVu Sans"/>
                <a:cs typeface="DejaVu Sans"/>
              </a:defRPr>
            </a:pPr>
          </a:p>
        </c:txPr>
        <c:crossAx val="48672768"/>
      </c:catAx>
      <c:valAx>
        <c:axId val="48672768"/>
        <c:scaling>
          <c:orientation val="minMax"/>
        </c:scaling>
        <c:delete val="0"/>
        <c:axPos val="l"/>
        <c:numFmt formatCode="0.0" sourceLinked="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666666"/>
                </a:solidFill>
                <a:latin typeface="DejaVu Sans"/>
                <a:ea typeface="DejaVu Sans"/>
                <a:cs typeface="DejaVu Sans"/>
              </a:defRPr>
            </a:pPr>
          </a:p>
        </c:txPr>
        <c:crossAx val="48650112"/>
        <c:crossBetween val="between"/>
      </c:valAx>
      <c:spPr>
        <a:solidFill xmlns:a="http://schemas.openxmlformats.org/drawingml/2006/main">
          <a:srgbClr val="FFFEF9"/>
        </a:solidFill>
      </c:spPr>
    </c:plotArea>
    <c:legend>
      <c:legendPos val="b"/>
      <c:overlay val="0"/>
      <c:txPr>
        <a:bodyPr xmlns:a="http://schemas.openxmlformats.org/drawingml/2006/main" anchorCtr="1"/>
        <a:lstStyle xmlns:a="http://schemas.openxmlformats.org/drawingml/2006/main"/>
        <a:p xmlns:a="http://schemas.openxmlformats.org/drawingml/2006/main">
          <a:pPr>
            <a:defRPr sz="1050">
              <a:latin typeface="DejaVu Sans"/>
              <a:ea typeface="DejaVu Sans"/>
              <a:cs typeface="DejaVu Sans"/>
            </a:defRPr>
          </a:pPr>
        </a:p>
      </c:txPr>
    </c:legend>
    <c:plotVisOnly val="1"/>
  </c:chart>
  <c:spPr>
    <a:solidFill xmlns:a="http://schemas.openxmlformats.org/drawingml/2006/main">
      <a:srgbClr val="FFFEF9"/>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200">
                <a:latin typeface="DejaVu Sans"/>
                <a:ea typeface="DejaVu Sans"/>
                <a:cs typeface="DejaVu Sans"/>
              </a:rPr>
              <a:t>Owned managed NPV at first/last chosen structural input, USDm</a:t>
            </a:r>
          </a:p>
        </c:rich>
      </c:tx>
      <c:overlay val="0"/>
      <c:txPr>
        <a:bodyPr xmlns:a="http://schemas.openxmlformats.org/drawingml/2006/main" anchorCtr="1"/>
        <a:lstStyle xmlns:a="http://schemas.openxmlformats.org/drawingml/2006/main"/>
        <a:p xmlns:a="http://schemas.openxmlformats.org/drawingml/2006/main">
          <a:pPr>
            <a:defRPr sz="1200">
              <a:latin typeface="DejaVu Sans"/>
              <a:ea typeface="DejaVu Sans"/>
              <a:cs typeface="DejaVu Sans"/>
            </a:defRPr>
          </a:pPr>
        </a:p>
      </c:txPr>
    </c:title>
    <c:plotArea>
      <c:barChart>
        <c:barDir val="col"/>
        <c:grouping val="clustered"/>
        <c:varyColors val="0"/>
        <c:ser>
          <c:idx val="0"/>
          <c:order val="0"/>
          <c:tx>
            <c:v>First input</c:v>
          </c:tx>
          <c:spPr>
            <a:solidFill xmlns:a="http://schemas.openxmlformats.org/drawingml/2006/main">
              <a:srgbClr val="215B42"/>
            </a:solidFill>
          </c:spPr>
          <c:invertIfNegative val="0"/>
          <c:cat>
            <c:strRef>
              <c:f>'Chart Data'!$A$2:$A$7</c:f>
              <c:strCache>
                <c:ptCount val="6"/>
                <c:pt idx="0">
                  <c:v>Orders70–130%</c:v>
                </c:pt>
                <c:pt idx="1">
                  <c:v>Price90–110%</c:v>
                </c:pt>
                <c:pt idx="2">
                  <c:v>Cost90–110%</c:v>
                </c:pt>
                <c:pt idx="3">
                  <c:v>Capex50–150%</c:v>
                </c:pt>
                <c:pt idx="4">
                  <c:v>DSO−10/+40d</c:v>
                </c:pt>
                <c:pt idx="5">
                  <c:v>DIO−10/+40d</c:v>
                </c:pt>
              </c:strCache>
            </c:strRef>
          </c:cat>
          <c:val>
            <c:numRef>
              <c:f>'Chart Data'!$B$2:$B$7</c:f>
              <c:numCache>
                <c:formatCode>0.0</c:formatCode>
                <c:ptCount val="6"/>
                <c:pt idx="0">
                  <c:v>-13.077306</c:v>
                </c:pt>
                <c:pt idx="1">
                  <c:v>-34.217415</c:v>
                </c:pt>
                <c:pt idx="2">
                  <c:v>22.459913</c:v>
                </c:pt>
                <c:pt idx="3">
                  <c:v>10.735806</c:v>
                </c:pt>
                <c:pt idx="4">
                  <c:v>-1.050282</c:v>
                </c:pt>
                <c:pt idx="5">
                  <c:v>-1.003428</c:v>
                </c:pt>
              </c:numCache>
            </c:numRef>
          </c:val>
        </c:ser>
        <c:ser>
          <c:idx val="1"/>
          <c:order val="1"/>
          <c:tx>
            <c:v>Last input</c:v>
          </c:tx>
          <c:spPr>
            <a:solidFill xmlns:a="http://schemas.openxmlformats.org/drawingml/2006/main">
              <a:srgbClr val="78A583"/>
            </a:solidFill>
          </c:spPr>
          <c:invertIfNegative val="0"/>
          <c:cat>
            <c:strRef>
              <c:f>'Chart Data'!$C$2:$C$7</c:f>
              <c:strCache>
                <c:ptCount val="6"/>
                <c:pt idx="0">
                  <c:v>Orders70–130%</c:v>
                </c:pt>
                <c:pt idx="1">
                  <c:v>Price90–110%</c:v>
                </c:pt>
                <c:pt idx="2">
                  <c:v>Cost90–110%</c:v>
                </c:pt>
                <c:pt idx="3">
                  <c:v>Capex50–150%</c:v>
                </c:pt>
                <c:pt idx="4">
                  <c:v>DSO−10/+40d</c:v>
                </c:pt>
                <c:pt idx="5">
                  <c:v>DIO−10/+40d</c:v>
                </c:pt>
              </c:strCache>
            </c:strRef>
          </c:cat>
          <c:val>
            <c:numRef>
              <c:f>'Chart Data'!$D$2:$D$7</c:f>
              <c:numCache>
                <c:formatCode>0.0</c:formatCode>
                <c:ptCount val="6"/>
                <c:pt idx="0">
                  <c:v>8.60557</c:v>
                </c:pt>
                <c:pt idx="1">
                  <c:v>26.146093</c:v>
                </c:pt>
                <c:pt idx="2">
                  <c:v>-29.122123</c:v>
                </c:pt>
                <c:pt idx="3">
                  <c:v>-14.396267</c:v>
                </c:pt>
                <c:pt idx="4">
                  <c:v>-4.798583</c:v>
                </c:pt>
                <c:pt idx="5">
                  <c:v>-4.985998</c:v>
                </c:pt>
              </c:numCache>
            </c:numRef>
          </c:val>
        </c:ser>
        <c:dLbls>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666666"/>
                </a:solidFill>
                <a:latin typeface="DejaVu Sans"/>
                <a:ea typeface="DejaVu Sans"/>
                <a:cs typeface="DejaVu Sans"/>
              </a:defRPr>
            </a:pPr>
          </a:p>
        </c:txPr>
        <c:crossAx val="48672768"/>
      </c:catAx>
      <c:valAx>
        <c:axId val="48672768"/>
        <c:scaling>
          <c:orientation val="minMax"/>
        </c:scaling>
        <c:delete val="0"/>
        <c:axPos val="l"/>
        <c:numFmt formatCode="0.0" sourceLinked="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666666"/>
                </a:solidFill>
                <a:latin typeface="DejaVu Sans"/>
                <a:ea typeface="DejaVu Sans"/>
                <a:cs typeface="DejaVu Sans"/>
              </a:defRPr>
            </a:pPr>
          </a:p>
        </c:txPr>
        <c:crossAx val="48650112"/>
        <c:crossBetween val="between"/>
      </c:valAx>
      <c:spPr>
        <a:solidFill xmlns:a="http://schemas.openxmlformats.org/drawingml/2006/main">
          <a:srgbClr val="FFFEF9"/>
        </a:solidFill>
      </c:spPr>
    </c:plotArea>
    <c:legend>
      <c:legendPos val="b"/>
      <c:overlay val="0"/>
      <c:txPr>
        <a:bodyPr xmlns:a="http://schemas.openxmlformats.org/drawingml/2006/main" anchorCtr="1"/>
        <a:lstStyle xmlns:a="http://schemas.openxmlformats.org/drawingml/2006/main"/>
        <a:p xmlns:a="http://schemas.openxmlformats.org/drawingml/2006/main">
          <a:pPr>
            <a:defRPr sz="1050">
              <a:latin typeface="DejaVu Sans"/>
              <a:ea typeface="DejaVu Sans"/>
              <a:cs typeface="DejaVu Sans"/>
            </a:defRPr>
          </a:pPr>
        </a:p>
      </c:txPr>
    </c:legend>
    <c:plotVisOnly val="1"/>
  </c:chart>
  <c:spPr>
    <a:solidFill xmlns:a="http://schemas.openxmlformats.org/drawingml/2006/main">
      <a:srgbClr val="FFFEF9"/>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73C2B"/>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F73EDB5-1DA7-4B97-A883-3F987F309BC0}"/>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A9C5A9"/>
                </a:solidFill>
                <a:latin typeface="DejaVu Sans"/>
                <a:ea typeface="DejaVu Sans"/>
                <a:cs typeface="DejaVu Sans"/>
              </a:defRPr>
            </a:pPr>
            <a:r>
              <a:rPr sz="900" b="0">
                <a:solidFill>
                  <a:srgbClr val="A9C5A9"/>
                </a:solidFill>
                <a:latin typeface="DejaVu Sans"/>
                <a:ea typeface="DejaVu Sans"/>
                <a:cs typeface="DejaVu Sans"/>
              </a:rPr>
              <a:t>MANASH PROTIM DEORI  /  EXECUTIVE  /  01</a:t>
            </a:r>
          </a:p>
        </p:txBody>
      </p:sp>
      <p:sp>
        <p:nvSpPr>
          <p:cNvPr id="2" name="">
            <a:extLst xmlns:a="http://schemas.openxmlformats.org/drawingml/2006/main">
              <a:ext uri="{FF2B5EF4-FFF2-40B4-BE49-F238E27FC236}">
                <a16:creationId xmlns:a16="http://schemas.microsoft.com/office/drawing/2014/main" id="{39760888-6E74-4FCB-B3A2-251F8BA70941}"/>
              </a:ext>
            </a:extLst>
          </p:cNvPr>
          <p:cNvSpPr>
            <a:spLocks xmlns:a="http://schemas.openxmlformats.org/drawingml/2006/main" noGrp="1"/>
          </p:cNvSpPr>
          <p:nvPr/>
        </p:nvSpPr>
        <p:spPr>
          <a:xfrm xmlns:a="http://schemas.openxmlformats.org/drawingml/2006/main">
            <a:off x="609600" y="876300"/>
            <a:ext cx="109728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00" b="0">
                <a:solidFill>
                  <a:srgbClr val="FFFCE9"/>
                </a:solidFill>
                <a:latin typeface="DejaVu Serif"/>
                <a:ea typeface="DejaVu Serif"/>
                <a:cs typeface="DejaVu Serif"/>
              </a:defRPr>
            </a:pPr>
            <a:r>
              <a:rPr sz="4200" b="0">
                <a:solidFill>
                  <a:srgbClr val="FFFCE9"/>
                </a:solidFill>
                <a:latin typeface="DejaVu Serif"/>
                <a:ea typeface="DejaVu Serif"/>
                <a:cs typeface="DejaVu Serif"/>
              </a:rPr>
              <a:t>Olam Agri: choices that remain useful to 2051</a:t>
            </a:r>
          </a:p>
        </p:txBody>
      </p:sp>
      <p:sp>
        <p:nvSpPr>
          <p:cNvPr id="3" name="">
            <a:extLst xmlns:a="http://schemas.openxmlformats.org/drawingml/2006/main">
              <a:ext uri="{FF2B5EF4-FFF2-40B4-BE49-F238E27FC236}">
                <a16:creationId xmlns:a16="http://schemas.microsoft.com/office/drawing/2014/main" id="{BB83FBF3-74FB-4BCB-B5EE-DEAFD92B500F}"/>
              </a:ext>
            </a:extLst>
          </p:cNvPr>
          <p:cNvSpPr>
            <a:spLocks xmlns:a="http://schemas.openxmlformats.org/drawingml/2006/main" noGrp="1"/>
          </p:cNvSpPr>
          <p:nvPr/>
        </p:nvSpPr>
        <p:spPr>
          <a:xfrm xmlns:a="http://schemas.openxmlformats.org/drawingml/2006/main">
            <a:off x="609600" y="27336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B6D2B7"/>
                </a:solidFill>
                <a:latin typeface="DejaVu Sans"/>
                <a:ea typeface="DejaVu Sans"/>
                <a:cs typeface="DejaVu Sans"/>
              </a:defRPr>
            </a:pPr>
            <a:r>
              <a:rPr sz="2100" b="0">
                <a:solidFill>
                  <a:srgbClr val="B6D2B7"/>
                </a:solidFill>
                <a:latin typeface="DejaVu Sans"/>
                <a:ea typeface="DejaVu Sans"/>
                <a:cs typeface="DejaVu Sans"/>
              </a:rPr>
              <a:t>Commit first to customer proof, route cash and adaptable capacity.</a:t>
            </a:r>
          </a:p>
        </p:txBody>
      </p:sp>
      <p:sp>
        <p:nvSpPr>
          <p:cNvPr id="4" name="">
            <a:extLst xmlns:a="http://schemas.openxmlformats.org/drawingml/2006/main">
              <a:ext uri="{FF2B5EF4-FFF2-40B4-BE49-F238E27FC236}">
                <a16:creationId xmlns:a16="http://schemas.microsoft.com/office/drawing/2014/main" id="{8656D060-7E84-462F-A897-AEACEAFCF326}"/>
              </a:ext>
            </a:extLst>
          </p:cNvPr>
          <p:cNvSpPr>
            <a:spLocks xmlns:a="http://schemas.openxmlformats.org/drawingml/2006/main" noGrp="1"/>
          </p:cNvSpPr>
          <p:nvPr/>
        </p:nvSpPr>
        <p:spPr>
          <a:xfrm xmlns:a="http://schemas.openxmlformats.org/drawingml/2006/main">
            <a:off x="609600" y="39052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E1E8D5"/>
                </a:solidFill>
                <a:latin typeface="DejaVu Sans"/>
                <a:ea typeface="DejaVu Sans"/>
                <a:cs typeface="DejaVu Sans"/>
              </a:defRPr>
            </a:pPr>
            <a:r>
              <a:rPr sz="1575" b="0">
                <a:solidFill>
                  <a:srgbClr val="E1E8D5"/>
                </a:solidFill>
                <a:latin typeface="DejaVu Sans"/>
                <a:ea typeface="DejaVu Sans"/>
                <a:cs typeface="DejaVu Sans"/>
              </a:rPr>
              <a:t>Manash Protim Deori · MBA, IIM Shillong · Chemical engineering</a:t>
            </a:r>
          </a:p>
        </p:txBody>
      </p:sp>
      <p:sp>
        <p:nvSpPr>
          <p:cNvPr id="5" name="">
            <a:extLst xmlns:a="http://schemas.openxmlformats.org/drawingml/2006/main">
              <a:ext uri="{FF2B5EF4-FFF2-40B4-BE49-F238E27FC236}">
                <a16:creationId xmlns:a16="http://schemas.microsoft.com/office/drawing/2014/main" id="{A61BBA72-8A3C-40D0-80C8-0CC4461795EA}"/>
              </a:ext>
            </a:extLst>
          </p:cNvPr>
          <p:cNvSpPr>
            <a:spLocks xmlns:a="http://schemas.openxmlformats.org/drawingml/2006/main" noGrp="1"/>
          </p:cNvSpPr>
          <p:nvPr/>
        </p:nvSpPr>
        <p:spPr>
          <a:xfrm xmlns:a="http://schemas.openxmlformats.org/drawingml/2006/main">
            <a:off x="609600" y="45720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E1E8D5"/>
                </a:solidFill>
                <a:latin typeface="DejaVu Sans"/>
                <a:ea typeface="DejaVu Sans"/>
                <a:cs typeface="DejaVu Sans"/>
              </a:defRPr>
            </a:pPr>
            <a:r>
              <a:rPr sz="1575" b="0">
                <a:solidFill>
                  <a:srgbClr val="E1E8D5"/>
                </a:solidFill>
                <a:latin typeface="DejaVu Sans"/>
                <a:ea typeface="DejaVu Sans"/>
                <a:cs typeface="DejaVu Sans"/>
              </a:rPr>
              <a:t>2026–2051 | Evidence audit:8 October2026 | Source access dates in the source book</a:t>
            </a:r>
          </a:p>
        </p:txBody>
      </p:sp>
      <p:sp>
        <p:nvSpPr>
          <p:cNvPr id="6" name="">
            <a:extLst xmlns:a="http://schemas.openxmlformats.org/drawingml/2006/main">
              <a:ext uri="{FF2B5EF4-FFF2-40B4-BE49-F238E27FC236}">
                <a16:creationId xmlns:a16="http://schemas.microsoft.com/office/drawing/2014/main" id="{3E7E77C9-EAD0-4AB9-934D-EBAF136C0CA8}"/>
              </a:ext>
            </a:extLst>
          </p:cNvPr>
          <p:cNvSpPr>
            <a:spLocks xmlns:a="http://schemas.openxmlformats.org/drawingml/2006/main" noGrp="1"/>
          </p:cNvSpPr>
          <p:nvPr/>
        </p:nvSpPr>
        <p:spPr>
          <a:xfrm xmlns:a="http://schemas.openxmlformats.org/drawingml/2006/main">
            <a:off x="609600" y="52387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E1E8D5"/>
                </a:solidFill>
                <a:latin typeface="DejaVu Sans"/>
                <a:ea typeface="DejaVu Sans"/>
                <a:cs typeface="DejaVu Sans"/>
              </a:defRPr>
            </a:pPr>
            <a:r>
              <a:rPr sz="1575" b="0">
                <a:solidFill>
                  <a:srgbClr val="E1E8D5"/>
                </a:solidFill>
                <a:latin typeface="DejaVu Sans"/>
                <a:ea typeface="DejaVu Sans"/>
                <a:cs typeface="DejaVu Sans"/>
              </a:rPr>
              <a:t>Independent strategic research; company disclosures, external projections and illustrative models are distinguished.</a:t>
            </a:r>
          </a:p>
        </p:txBody>
      </p:sp>
      <p:sp>
        <p:nvSpPr>
          <p:cNvPr id="7" name="">
            <a:extLst xmlns:a="http://schemas.openxmlformats.org/drawingml/2006/main">
              <a:ext uri="{FF2B5EF4-FFF2-40B4-BE49-F238E27FC236}">
                <a16:creationId xmlns:a16="http://schemas.microsoft.com/office/drawing/2014/main" id="{35D89965-A698-48CD-90CA-1D4B799863AB}"/>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9EBA9F"/>
                </a:solidFill>
                <a:latin typeface="DejaVu Sans"/>
                <a:ea typeface="DejaVu Sans"/>
                <a:cs typeface="DejaVu Sans"/>
              </a:defRPr>
            </a:pPr>
            <a:r>
              <a:rPr sz="750" b="0">
                <a:solidFill>
                  <a:srgbClr val="9EBA9F"/>
                </a:solidFill>
                <a:latin typeface="DejaVu Sans"/>
                <a:ea typeface="DejaVu Sans"/>
                <a:cs typeface="DejaVu Sans"/>
              </a:rPr>
              <a:t>RECOMMENDATION | SOURCE CO_FACT · BASELINE</a:t>
            </a:r>
          </a:p>
        </p:txBody>
      </p:sp>
      <p:sp>
        <p:nvSpPr>
          <p:cNvPr id="8" name="">
            <a:extLst xmlns:a="http://schemas.openxmlformats.org/drawingml/2006/main">
              <a:ext uri="{FF2B5EF4-FFF2-40B4-BE49-F238E27FC236}">
                <a16:creationId xmlns:a16="http://schemas.microsoft.com/office/drawing/2014/main" id="{DE30004C-FA71-432C-8526-D0CFB851AF89}"/>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9EBA9F"/>
                </a:solidFill>
                <a:latin typeface="DejaVu Sans"/>
                <a:ea typeface="DejaVu Sans"/>
                <a:cs typeface="DejaVu Sans"/>
              </a:defRPr>
            </a:pPr>
            <a:r>
              <a:rPr sz="675" b="0">
                <a:solidFill>
                  <a:srgbClr val="9EBA9F"/>
                </a:solidFill>
                <a:latin typeface="DejaVu Sans"/>
                <a:ea typeface="DejaVu Sans"/>
                <a:cs typeface="DejaVu Sans"/>
              </a:rPr>
              <a:t>   1 / 98</a:t>
            </a:r>
          </a:p>
        </p:txBody>
      </p:sp>
      <p:sp>
        <p:nvSpPr>
          <p:cNvPr id="9" name="">
            <a:extLst xmlns:a="http://schemas.openxmlformats.org/drawingml/2006/main">
              <a:ext uri="{FF2B5EF4-FFF2-40B4-BE49-F238E27FC236}">
                <a16:creationId xmlns:a16="http://schemas.microsoft.com/office/drawing/2014/main" id="{A1289DF7-149D-4391-86E5-F997514D9452}"/>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B6D2B7"/>
                </a:solidFill>
                <a:latin typeface="DejaVu Sans"/>
                <a:ea typeface="DejaVu Sans"/>
                <a:cs typeface="DejaVu Sans"/>
              </a:defRPr>
            </a:pPr>
            <a:r>
              <a:rPr>
                <a:hlinkClick xmlns:r="http://schemas.openxmlformats.org/officeDocument/2006/relationships" r:id="R3b13331afa0e4444" action="ppaction://hlinksldjump"/>
              </a:rPr>
              <a:t>APPENDIX ↗</a:t>
            </a:r>
          </a:p>
        </p:txBody>
      </p:sp>
      <p:sp>
        <p:nvSpPr>
          <p:cNvPr id="10" name="">
            <a:extLst xmlns:a="http://schemas.openxmlformats.org/drawingml/2006/main">
              <a:ext uri="{FF2B5EF4-FFF2-40B4-BE49-F238E27FC236}">
                <a16:creationId xmlns:a16="http://schemas.microsoft.com/office/drawing/2014/main" id="{A371D387-582B-45D1-9018-85F5516D5E90}"/>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B6D2B7"/>
                </a:solidFill>
                <a:latin typeface="DejaVu Sans"/>
                <a:ea typeface="DejaVu Sans"/>
                <a:cs typeface="DejaVu Sans"/>
              </a:defRPr>
            </a:pPr>
            <a:r>
              <a:rPr>
                <a:hlinkClick xmlns:r="http://schemas.openxmlformats.org/officeDocument/2006/relationships" r:id="R2e0101e1e7884f9c"/>
              </a:rPr>
              <a:t>EVIDENCE ↗</a:t>
            </a:r>
          </a:p>
        </p:txBody>
      </p:sp>
    </p:spTree>
    <p:extLst>
      <p:ext uri="{BB962C8B-B14F-4D97-AF65-F5344CB8AC3E}">
        <p14:creationId xmlns:p14="http://schemas.microsoft.com/office/powerpoint/2010/main" val="1445557550"/>
      </p:ext>
    </p:extLst>
  </p:cSld>
</p:sld>
</file>

<file path=ppt/slides/slide2.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6D1B3D2-19EA-4EF3-AEE4-18FAE075B31E}"/>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02</a:t>
            </a:r>
          </a:p>
        </p:txBody>
      </p:sp>
      <p:sp>
        <p:nvSpPr>
          <p:cNvPr id="2" name="">
            <a:extLst xmlns:a="http://schemas.openxmlformats.org/drawingml/2006/main">
              <a:ext uri="{FF2B5EF4-FFF2-40B4-BE49-F238E27FC236}">
                <a16:creationId xmlns:a16="http://schemas.microsoft.com/office/drawing/2014/main" id="{4A578C45-9DE2-4E9E-A576-19B741185FAE}"/>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Approve evidence before irreversible expansion</a:t>
            </a:r>
          </a:p>
        </p:txBody>
      </p:sp>
      <p:sp>
        <p:nvSpPr>
          <p:cNvPr id="3" name="">
            <a:extLst xmlns:a="http://schemas.openxmlformats.org/drawingml/2006/main">
              <a:ext uri="{FF2B5EF4-FFF2-40B4-BE49-F238E27FC236}">
                <a16:creationId xmlns:a16="http://schemas.microsoft.com/office/drawing/2014/main" id="{32C7E683-8147-4063-9B3D-09FC5740F247}"/>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Authorize a scoped 90-day proof programme; defer an unconditional asset cheque.</a:t>
            </a:r>
          </a:p>
        </p:txBody>
      </p:sp>
      <p:graphicFrame>
        <p:nvGraphicFramePr>
          <p:cNvPr id="13" name=""/>
          <p:cNvGraphicFramePr/>
          <p:nvPr/>
        </p:nvGraphicFramePr>
        <p:xfrm>
          <a:off xmlns:a="http://schemas.openxmlformats.org/drawingml/2006/main" x="609600" y="2505075"/>
          <a:ext xmlns:a="http://schemas.openxmlformats.org/drawingml/2006/main" cx="10972800" cy="2143125"/>
        </p:xfrm>
        <a:graphic xmlns:a="http://schemas.openxmlformats.org/drawingml/2006/main">
          <a:graphicData uri="http://schemas.openxmlformats.org/drawingml/2006/table">
            <a:tbl>
              <a:tblPr/>
              <a:tblGrid>
                <a:gridCol w="4095750"/>
                <a:gridCol w="3438525"/>
                <a:gridCol w="3438525"/>
              </a:tblGrid>
              <a:tr h="535781">
                <a:tc>
                  <a:txBody>
                    <a:bodyPr/>
                    <a:lstStyle/>
                    <a:p>
                      <a:r>
                        <a:rPr sz="1050" b="1">
                          <a:solidFill>
                            <a:srgbClr val="49624F"/>
                          </a:solidFill>
                          <a:latin typeface="DejaVu Sans"/>
                          <a:ea typeface="DejaVu Sans"/>
                          <a:cs typeface="DejaVu Sans"/>
                        </a:rPr>
                        <a:t>Next commitment</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Required evidence</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Owner</a:t>
                      </a:r>
                    </a:p>
                  </a:txBody>
                  <a:tcPr marL="114300" marR="114300" marT="76200" marB="76200" anchor="t">
                    <a:solidFill>
                      <a:srgbClr val="E7EEE4"/>
                    </a:solidFill>
                  </a:tcPr>
                </a:tc>
              </a:tr>
              <a:tr h="535781">
                <a:tc>
                  <a:txBody>
                    <a:bodyPr/>
                    <a:lstStyle/>
                    <a:p>
                      <a:r>
                        <a:rPr sz="1200">
                          <a:solidFill>
                            <a:srgbClr val="183B2A"/>
                          </a:solidFill>
                          <a:latin typeface="DejaVu Sans"/>
                          <a:ea typeface="DejaVu Sans"/>
                          <a:cs typeface="DejaVu Sans"/>
                        </a:rPr>
                        <a:t>Data room</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Eligible sales, cost, capacity, seasonal AR/INV/AP</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Finance + operations</a:t>
                      </a:r>
                    </a:p>
                  </a:txBody>
                  <a:tcPr marL="114300" marR="114300" marT="76200" marB="76200" anchor="t">
                    <a:solidFill>
                      <a:srgbClr val="FFFEF9"/>
                    </a:solidFill>
                  </a:tcPr>
                </a:tc>
              </a:tr>
              <a:tr h="535781">
                <a:tc>
                  <a:txBody>
                    <a:bodyPr/>
                    <a:lstStyle/>
                    <a:p>
                      <a:r>
                        <a:rPr sz="1200">
                          <a:solidFill>
                            <a:srgbClr val="183B2A"/>
                          </a:solidFill>
                          <a:latin typeface="DejaVu Sans"/>
                          <a:ea typeface="DejaVu Sans"/>
                          <a:cs typeface="DejaVu Sans"/>
                        </a:rPr>
                        <a:t>Pilot</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Pre-registered counterfactual and downside limits</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Country + marketing</a:t>
                      </a:r>
                    </a:p>
                  </a:txBody>
                  <a:tcPr marL="114300" marR="114300" marT="76200" marB="76200" anchor="t">
                    <a:solidFill>
                      <a:srgbClr val="FFFEF9"/>
                    </a:solidFill>
                  </a:tcPr>
                </a:tc>
              </a:tr>
              <a:tr h="535781">
                <a:tc>
                  <a:txBody>
                    <a:bodyPr/>
                    <a:lstStyle/>
                    <a:p>
                      <a:r>
                        <a:rPr sz="1200">
                          <a:solidFill>
                            <a:srgbClr val="183B2A"/>
                          </a:solidFill>
                          <a:latin typeface="DejaVu Sans"/>
                          <a:ea typeface="DejaVu Sans"/>
                          <a:cs typeface="DejaVu Sans"/>
                        </a:rPr>
                        <a:t>Investment review</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Tax, route, resilience, funded cash and positive NPV</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Treasury + IC</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55434DC6-1AC0-41D0-A986-D88D17D9C3B4}"/>
              </a:ext>
            </a:extLst>
          </p:cNvPr>
          <p:cNvSpPr>
            <a:spLocks xmlns:a="http://schemas.openxmlformats.org/drawingml/2006/main" noGrp="1"/>
          </p:cNvSpPr>
          <p:nvPr/>
        </p:nvSpPr>
        <p:spPr>
          <a:xfrm xmlns:a="http://schemas.openxmlformats.org/drawingml/2006/main">
            <a:off x="609600" y="4857750"/>
            <a:ext cx="109728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Finance owns the data room, costed pilot envelope and cash limits. No unsupported funding amount is requested.</a:t>
            </a:r>
          </a:p>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Nigeria is the initial commercial laboratory; select one sourcing corridor and one transfer market after feasibility checks.</a:t>
            </a:r>
          </a:p>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Only customer-level contribution, funding headroom and replicable learning can release a later commitment.</a:t>
            </a:r>
          </a:p>
        </p:txBody>
      </p:sp>
      <p:sp>
        <p:nvSpPr>
          <p:cNvPr id="6" name="">
            <a:extLst xmlns:a="http://schemas.openxmlformats.org/drawingml/2006/main">
              <a:ext uri="{FF2B5EF4-FFF2-40B4-BE49-F238E27FC236}">
                <a16:creationId xmlns:a16="http://schemas.microsoft.com/office/drawing/2014/main" id="{D96DD8B0-A903-4D5F-A153-4F8DA40F349A}"/>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CONDITIONAL / ILLUSTRATIVE   |   A_PILOT</a:t>
            </a:r>
          </a:p>
        </p:txBody>
      </p:sp>
      <p:sp>
        <p:nvSpPr>
          <p:cNvPr id="7" name="">
            <a:extLst xmlns:a="http://schemas.openxmlformats.org/drawingml/2006/main">
              <a:ext uri="{FF2B5EF4-FFF2-40B4-BE49-F238E27FC236}">
                <a16:creationId xmlns:a16="http://schemas.microsoft.com/office/drawing/2014/main" id="{0392D689-9019-4EE1-BC1E-FD9894991A87}"/>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2 / 98</a:t>
            </a:r>
          </a:p>
        </p:txBody>
      </p:sp>
      <p:sp>
        <p:nvSpPr>
          <p:cNvPr id="8" name="">
            <a:extLst xmlns:a="http://schemas.openxmlformats.org/drawingml/2006/main">
              <a:ext uri="{FF2B5EF4-FFF2-40B4-BE49-F238E27FC236}">
                <a16:creationId xmlns:a16="http://schemas.microsoft.com/office/drawing/2014/main" id="{6C9EB5B4-8A8F-471D-9251-BF9B415A8424}"/>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7e409f71548a49f9" action="ppaction://hlinksldjump"/>
              </a:rPr>
              <a:t>APPENDIX ↗</a:t>
            </a:r>
          </a:p>
        </p:txBody>
      </p:sp>
      <p:sp>
        <p:nvSpPr>
          <p:cNvPr id="9" name="">
            <a:extLst xmlns:a="http://schemas.openxmlformats.org/drawingml/2006/main">
              <a:ext uri="{FF2B5EF4-FFF2-40B4-BE49-F238E27FC236}">
                <a16:creationId xmlns:a16="http://schemas.microsoft.com/office/drawing/2014/main" id="{F890A07C-438D-48E7-83F0-D01FBCEFE3C8}"/>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9dc080c3f3924acf"/>
              </a:rPr>
              <a:t>EVIDENCE ↗</a:t>
            </a:r>
          </a:p>
        </p:txBody>
      </p:sp>
    </p:spTree>
    <p:extLst>
      <p:ext uri="{BB962C8B-B14F-4D97-AF65-F5344CB8AC3E}">
        <p14:creationId xmlns:p14="http://schemas.microsoft.com/office/powerpoint/2010/main" val="978045929"/>
      </p:ext>
    </p:extLst>
  </p:cSld>
</p:sld>
</file>

<file path=ppt/slides/slide3.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B8271D5-6DF0-4694-9102-A6A4613163EA}"/>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03</a:t>
            </a:r>
          </a:p>
        </p:txBody>
      </p:sp>
      <p:sp>
        <p:nvSpPr>
          <p:cNvPr id="2" name="">
            <a:extLst xmlns:a="http://schemas.openxmlformats.org/drawingml/2006/main">
              <a:ext uri="{FF2B5EF4-FFF2-40B4-BE49-F238E27FC236}">
                <a16:creationId xmlns:a16="http://schemas.microsoft.com/office/drawing/2014/main" id="{024C0F0B-EBBF-4551-A5F0-82F9E38745A9}"/>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The old Nigeria screen becomes a global decision system</a:t>
            </a:r>
          </a:p>
        </p:txBody>
      </p:sp>
      <p:sp>
        <p:nvSpPr>
          <p:cNvPr id="3" name="">
            <a:extLst xmlns:a="http://schemas.openxmlformats.org/drawingml/2006/main">
              <a:ext uri="{FF2B5EF4-FFF2-40B4-BE49-F238E27FC236}">
                <a16:creationId xmlns:a16="http://schemas.microsoft.com/office/drawing/2014/main" id="{E2662F0C-8621-4F6B-AECB-08ECC9A3657E}"/>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The negative legacy case remains visible; additional detail cannot manufacture approval.</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3429000"/>
                <a:gridCol w="7543800"/>
              </a:tblGrid>
              <a:tr h="555625">
                <a:tc>
                  <a:txBody>
                    <a:bodyPr/>
                    <a:lstStyle/>
                    <a:p>
                      <a:r>
                        <a:rPr sz="1050" b="1">
                          <a:solidFill>
                            <a:srgbClr val="49624F"/>
                          </a:solidFill>
                          <a:latin typeface="DejaVu Sans"/>
                          <a:ea typeface="DejaVu Sans"/>
                          <a:cs typeface="DejaVu Sans"/>
                        </a:rPr>
                        <a:t>Starting point</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Replacement</a:t>
                      </a:r>
                    </a:p>
                  </a:txBody>
                  <a:tcPr marL="114300" marR="114300" marT="76200" marB="76200" anchor="t">
                    <a:solidFill>
                      <a:srgbClr val="E7EEE4"/>
                    </a:solidFill>
                  </a:tcPr>
                </a:tc>
              </a:tr>
              <a:tr h="555625">
                <a:tc>
                  <a:txBody>
                    <a:bodyPr/>
                    <a:lstStyle/>
                    <a:p>
                      <a:r>
                        <a:rPr sz="1275">
                          <a:solidFill>
                            <a:srgbClr val="183B2A"/>
                          </a:solidFill>
                          <a:latin typeface="DejaVu Sans"/>
                          <a:ea typeface="DejaVu Sans"/>
                          <a:cs typeface="DejaVu Sans"/>
                        </a:rPr>
                        <a:t>44-slide Nigeria-first narrative</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37 executive slides + 61 technical slides and indexed reports</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Sales-day cash proxy</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AR + cost-based inventory − eligible purchases AP</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Three-year uplift screen</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25 annual cash periods with replacement, tax and ramp</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Independent chosen draws</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Common-shock stress; no success-probability claim</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Opaque review-count claim</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Versioned evidence, calculation IDs and actual checks</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410534FB-03B5-4E10-8597-117A5E93B621}"/>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SOURCE BASELINE</a:t>
            </a:r>
          </a:p>
        </p:txBody>
      </p:sp>
      <p:sp>
        <p:nvSpPr>
          <p:cNvPr id="6" name="">
            <a:extLst xmlns:a="http://schemas.openxmlformats.org/drawingml/2006/main">
              <a:ext uri="{FF2B5EF4-FFF2-40B4-BE49-F238E27FC236}">
                <a16:creationId xmlns:a16="http://schemas.microsoft.com/office/drawing/2014/main" id="{EB8AA7DB-C399-4C9F-8497-46B5E2E739DF}"/>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C-LEGACY   3 / 98</a:t>
            </a:r>
          </a:p>
        </p:txBody>
      </p:sp>
      <p:sp>
        <p:nvSpPr>
          <p:cNvPr id="7" name="">
            <a:extLst xmlns:a="http://schemas.openxmlformats.org/drawingml/2006/main">
              <a:ext uri="{FF2B5EF4-FFF2-40B4-BE49-F238E27FC236}">
                <a16:creationId xmlns:a16="http://schemas.microsoft.com/office/drawing/2014/main" id="{793B1585-2028-4A90-87AC-DD01D9E7A1CB}"/>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a9fac5e1776f414f" action="ppaction://hlinksldjump"/>
              </a:rPr>
              <a:t>APPENDIX ↗</a:t>
            </a:r>
          </a:p>
        </p:txBody>
      </p:sp>
      <p:sp>
        <p:nvSpPr>
          <p:cNvPr id="8" name="">
            <a:extLst xmlns:a="http://schemas.openxmlformats.org/drawingml/2006/main">
              <a:ext uri="{FF2B5EF4-FFF2-40B4-BE49-F238E27FC236}">
                <a16:creationId xmlns:a16="http://schemas.microsoft.com/office/drawing/2014/main" id="{B9398D02-672D-4AD0-B5D4-551283526E1A}"/>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8f0895eaaa794ac2"/>
              </a:rPr>
              <a:t>EVIDENCE ↗</a:t>
            </a:r>
          </a:p>
        </p:txBody>
      </p:sp>
    </p:spTree>
    <p:extLst>
      <p:ext uri="{BB962C8B-B14F-4D97-AF65-F5344CB8AC3E}">
        <p14:creationId xmlns:p14="http://schemas.microsoft.com/office/powerpoint/2010/main" val="759584641"/>
      </p:ext>
    </p:extLst>
  </p:cSld>
</p:sld>
</file>

<file path=ppt/slides/slide4.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9F2E2F-6294-4AA9-B9A2-B0F058744784}"/>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04</a:t>
            </a:r>
          </a:p>
        </p:txBody>
      </p:sp>
      <p:sp>
        <p:nvSpPr>
          <p:cNvPr id="2" name="">
            <a:extLst xmlns:a="http://schemas.openxmlformats.org/drawingml/2006/main">
              <a:ext uri="{FF2B5EF4-FFF2-40B4-BE49-F238E27FC236}">
                <a16:creationId xmlns:a16="http://schemas.microsoft.com/office/drawing/2014/main" id="{594A4F45-49FF-4E20-986A-7311BB44097A}"/>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Volume growth did not translate into stronger EBIT</a:t>
            </a:r>
          </a:p>
        </p:txBody>
      </p:sp>
      <p:sp>
        <p:nvSpPr>
          <p:cNvPr id="3" name="">
            <a:extLst xmlns:a="http://schemas.openxmlformats.org/drawingml/2006/main">
              <a:ext uri="{FF2B5EF4-FFF2-40B4-BE49-F238E27FC236}">
                <a16:creationId xmlns:a16="http://schemas.microsoft.com/office/drawing/2014/main" id="{21CC211C-ED55-491F-AF6A-B11529008731}"/>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FY2025 Olam Agri: revenue +15.4%, sales volume +19.1%, EBIT −8.0%.</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4095750"/>
                <a:gridCol w="3438525"/>
                <a:gridCol w="3438525"/>
              </a:tblGrid>
              <a:tr h="666750">
                <a:tc>
                  <a:txBody>
                    <a:bodyPr/>
                    <a:lstStyle/>
                    <a:p>
                      <a:r>
                        <a:rPr sz="1050" b="1">
                          <a:solidFill>
                            <a:srgbClr val="49624F"/>
                          </a:solidFill>
                          <a:latin typeface="DejaVu Sans"/>
                          <a:ea typeface="DejaVu Sans"/>
                          <a:cs typeface="DejaVu Sans"/>
                        </a:rPr>
                        <a:t>USD reporting perimeter</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2024</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2025</a:t>
                      </a:r>
                    </a:p>
                  </a:txBody>
                  <a:tcPr marL="114300" marR="114300" marT="76200" marB="76200" anchor="t">
                    <a:solidFill>
                      <a:srgbClr val="E7EEE4"/>
                    </a:solidFill>
                  </a:tcPr>
                </a:tc>
              </a:tr>
              <a:tr h="666750">
                <a:tc>
                  <a:txBody>
                    <a:bodyPr/>
                    <a:lstStyle/>
                    <a:p>
                      <a:r>
                        <a:rPr sz="1200">
                          <a:solidFill>
                            <a:srgbClr val="183B2A"/>
                          </a:solidFill>
                          <a:latin typeface="DejaVu Sans"/>
                          <a:ea typeface="DejaVu Sans"/>
                          <a:cs typeface="DejaVu Sans"/>
                        </a:rPr>
                        <a:t>Revenue, USD million</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24,848</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28,666</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Sales volume, thousand tonnes</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45,130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53,740</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EBIT, USD million</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765.2</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703.7</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Derived EBIT margin</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3.08%</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2.45%</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462E0171-8B7F-4BB0-8E14-E9A5539F59F9}"/>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DERIVED FIGURE | SOURCE CO_AR</a:t>
            </a:r>
          </a:p>
        </p:txBody>
      </p:sp>
      <p:sp>
        <p:nvSpPr>
          <p:cNvPr id="6" name="">
            <a:extLst xmlns:a="http://schemas.openxmlformats.org/drawingml/2006/main">
              <a:ext uri="{FF2B5EF4-FFF2-40B4-BE49-F238E27FC236}">
                <a16:creationId xmlns:a16="http://schemas.microsoft.com/office/drawing/2014/main" id="{5EEA3841-515F-44F4-85F2-3FDAD2B969C0}"/>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C-E01   4 / 98</a:t>
            </a:r>
          </a:p>
        </p:txBody>
      </p:sp>
      <p:sp>
        <p:nvSpPr>
          <p:cNvPr id="7" name="">
            <a:extLst xmlns:a="http://schemas.openxmlformats.org/drawingml/2006/main">
              <a:ext uri="{FF2B5EF4-FFF2-40B4-BE49-F238E27FC236}">
                <a16:creationId xmlns:a16="http://schemas.microsoft.com/office/drawing/2014/main" id="{5235E3BA-DEF5-4B8D-BC29-811EE81F1BEF}"/>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487426768e5444f8" action="ppaction://hlinksldjump"/>
              </a:rPr>
              <a:t>APPENDIX ↗</a:t>
            </a:r>
          </a:p>
        </p:txBody>
      </p:sp>
      <p:sp>
        <p:nvSpPr>
          <p:cNvPr id="8" name="">
            <a:extLst xmlns:a="http://schemas.openxmlformats.org/drawingml/2006/main">
              <a:ext uri="{FF2B5EF4-FFF2-40B4-BE49-F238E27FC236}">
                <a16:creationId xmlns:a16="http://schemas.microsoft.com/office/drawing/2014/main" id="{89A42D51-BD47-4F18-96F0-0FD992E12A59}"/>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60b7bb20daa44a66"/>
              </a:rPr>
              <a:t>EVIDENCE ↗</a:t>
            </a:r>
          </a:p>
        </p:txBody>
      </p:sp>
    </p:spTree>
    <p:extLst>
      <p:ext uri="{BB962C8B-B14F-4D97-AF65-F5344CB8AC3E}">
        <p14:creationId xmlns:p14="http://schemas.microsoft.com/office/powerpoint/2010/main" val="1319147442"/>
      </p:ext>
    </p:extLst>
  </p:cSld>
</p:sld>
</file>

<file path=ppt/slides/slide5.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AF5152E-C850-476A-A597-2BF37D9B1312}"/>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05</a:t>
            </a:r>
          </a:p>
        </p:txBody>
      </p:sp>
      <p:sp>
        <p:nvSpPr>
          <p:cNvPr id="2" name="">
            <a:extLst xmlns:a="http://schemas.openxmlformats.org/drawingml/2006/main">
              <a:ext uri="{FF2B5EF4-FFF2-40B4-BE49-F238E27FC236}">
                <a16:creationId xmlns:a16="http://schemas.microsoft.com/office/drawing/2014/main" id="{E02BA799-E280-4530-AA71-D920835C9BA4}"/>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Customer orders, physical supply and cash must agree</a:t>
            </a:r>
          </a:p>
        </p:txBody>
      </p:sp>
      <p:sp>
        <p:nvSpPr>
          <p:cNvPr id="3" name="">
            <a:extLst xmlns:a="http://schemas.openxmlformats.org/drawingml/2006/main">
              <a:ext uri="{FF2B5EF4-FFF2-40B4-BE49-F238E27FC236}">
                <a16:creationId xmlns:a16="http://schemas.microsoft.com/office/drawing/2014/main" id="{F0C03541-E3E2-4F5E-B6A8-FBC308B3A8B4}"/>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Population creates context; sold tonnes require accessible demand, capture and delivery.</a:t>
            </a:r>
          </a:p>
        </p:txBody>
      </p:sp>
      <p:graphicFrame>
        <p:nvGraphicFramePr>
          <p:cNvPr id="13" name=""/>
          <p:cNvGraphicFramePr/>
          <p:nvPr/>
        </p:nvGraphicFramePr>
        <p:xfrm>
          <a:off xmlns:a="http://schemas.openxmlformats.org/drawingml/2006/main" x="609600" y="2505075"/>
          <a:ext xmlns:a="http://schemas.openxmlformats.org/drawingml/2006/main" cx="10972800" cy="2143125"/>
        </p:xfrm>
        <a:graphic xmlns:a="http://schemas.openxmlformats.org/drawingml/2006/main">
          <a:graphicData uri="http://schemas.openxmlformats.org/drawingml/2006/table">
            <a:tbl>
              <a:tblPr/>
              <a:tblGrid>
                <a:gridCol w="4095750"/>
                <a:gridCol w="3438525"/>
                <a:gridCol w="3438525"/>
              </a:tblGrid>
              <a:tr h="535781">
                <a:tc>
                  <a:txBody>
                    <a:bodyPr/>
                    <a:lstStyle/>
                    <a:p>
                      <a:r>
                        <a:rPr sz="1050" b="1">
                          <a:solidFill>
                            <a:srgbClr val="49624F"/>
                          </a:solidFill>
                          <a:latin typeface="DejaVu Sans"/>
                          <a:ea typeface="DejaVu Sans"/>
                          <a:cs typeface="DejaVu Sans"/>
                        </a:rPr>
                        <a:t>Layer</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Evidence required</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Capital implication</a:t>
                      </a:r>
                    </a:p>
                  </a:txBody>
                  <a:tcPr marL="114300" marR="114300" marT="76200" marB="76200" anchor="t">
                    <a:solidFill>
                      <a:srgbClr val="E7EEE4"/>
                    </a:solidFill>
                  </a:tcPr>
                </a:tc>
              </a:tr>
              <a:tr h="535781">
                <a:tc>
                  <a:txBody>
                    <a:bodyPr/>
                    <a:lstStyle/>
                    <a:p>
                      <a:r>
                        <a:rPr sz="1200">
                          <a:solidFill>
                            <a:srgbClr val="183B2A"/>
                          </a:solidFill>
                          <a:latin typeface="DejaVu Sans"/>
                          <a:ea typeface="DejaVu Sans"/>
                          <a:cs typeface="DejaVu Sans"/>
                        </a:rPr>
                        <a:t>Customer</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Usable yield, cash ticket, counterfactual repeat</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Test before scaling</a:t>
                      </a:r>
                    </a:p>
                  </a:txBody>
                  <a:tcPr marL="114300" marR="114300" marT="76200" marB="76200" anchor="t">
                    <a:solidFill>
                      <a:srgbClr val="FFFEF9"/>
                    </a:solidFill>
                  </a:tcPr>
                </a:tc>
              </a:tr>
              <a:tr h="535781">
                <a:tc>
                  <a:txBody>
                    <a:bodyPr/>
                    <a:lstStyle/>
                    <a:p>
                      <a:r>
                        <a:rPr sz="1200">
                          <a:solidFill>
                            <a:srgbClr val="183B2A"/>
                          </a:solidFill>
                          <a:latin typeface="DejaVu Sans"/>
                          <a:ea typeface="DejaVu Sans"/>
                          <a:cs typeface="DejaVu Sans"/>
                        </a:rPr>
                        <a:t>Route</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HS access, landed cost, lead time, counterparty</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Contract before stocking</a:t>
                      </a:r>
                    </a:p>
                  </a:txBody>
                  <a:tcPr marL="114300" marR="114300" marT="76200" marB="76200" anchor="t">
                    <a:solidFill>
                      <a:srgbClr val="FFFEF9"/>
                    </a:solidFill>
                  </a:tcPr>
                </a:tc>
              </a:tr>
              <a:tr h="535781">
                <a:tc>
                  <a:txBody>
                    <a:bodyPr/>
                    <a:lstStyle/>
                    <a:p>
                      <a:r>
                        <a:rPr sz="1200">
                          <a:solidFill>
                            <a:srgbClr val="183B2A"/>
                          </a:solidFill>
                          <a:latin typeface="DejaVu Sans"/>
                          <a:ea typeface="DejaVu Sans"/>
                          <a:cs typeface="DejaVu Sans"/>
                        </a:rPr>
                        <a:t>Asset</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Utilisation, uptime, conversion and resilience</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Option capacity only after proof</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08C4A5C5-24E3-40D2-B0CD-E9308E95A53F}"/>
              </a:ext>
            </a:extLst>
          </p:cNvPr>
          <p:cNvSpPr>
            <a:spLocks xmlns:a="http://schemas.openxmlformats.org/drawingml/2006/main" noGrp="1"/>
          </p:cNvSpPr>
          <p:nvPr/>
        </p:nvSpPr>
        <p:spPr>
          <a:xfrm xmlns:a="http://schemas.openxmlformats.org/drawingml/2006/main">
            <a:off x="609600" y="4857750"/>
            <a:ext cx="109728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Demand: households, bakers, industrial buyers and feed customers buy different services.</a:t>
            </a:r>
          </a:p>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Supply: origin, quality, yield, logistics and usable capacity bound delivered volume.</a:t>
            </a:r>
          </a:p>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Cash: payment, stocks, currency, replacement and tax can overturn a positive gross spread.</a:t>
            </a:r>
          </a:p>
        </p:txBody>
      </p:sp>
      <p:sp>
        <p:nvSpPr>
          <p:cNvPr id="6" name="">
            <a:extLst xmlns:a="http://schemas.openxmlformats.org/drawingml/2006/main">
              <a:ext uri="{FF2B5EF4-FFF2-40B4-BE49-F238E27FC236}">
                <a16:creationId xmlns:a16="http://schemas.microsoft.com/office/drawing/2014/main" id="{BF2C90F7-D6BF-4E33-95F7-1E3C2BE719D4}"/>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EXPERT JUDGEMENT | CONDITIONAL / ILLUSTRATIVE   |   A_TEMPLATE</a:t>
            </a:r>
          </a:p>
        </p:txBody>
      </p:sp>
      <p:sp>
        <p:nvSpPr>
          <p:cNvPr id="7" name="">
            <a:extLst xmlns:a="http://schemas.openxmlformats.org/drawingml/2006/main">
              <a:ext uri="{FF2B5EF4-FFF2-40B4-BE49-F238E27FC236}">
                <a16:creationId xmlns:a16="http://schemas.microsoft.com/office/drawing/2014/main" id="{F27FCC10-2784-4AD1-BEFD-6451BA942DB1}"/>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5 / 98</a:t>
            </a:r>
          </a:p>
        </p:txBody>
      </p:sp>
      <p:sp>
        <p:nvSpPr>
          <p:cNvPr id="8" name="">
            <a:extLst xmlns:a="http://schemas.openxmlformats.org/drawingml/2006/main">
              <a:ext uri="{FF2B5EF4-FFF2-40B4-BE49-F238E27FC236}">
                <a16:creationId xmlns:a16="http://schemas.microsoft.com/office/drawing/2014/main" id="{2D40A917-5361-4FCD-A71B-F8B1AA8A1F62}"/>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7ae4c1af01d24b7b" action="ppaction://hlinksldjump"/>
              </a:rPr>
              <a:t>APPENDIX ↗</a:t>
            </a:r>
          </a:p>
        </p:txBody>
      </p:sp>
      <p:sp>
        <p:nvSpPr>
          <p:cNvPr id="9" name="">
            <a:extLst xmlns:a="http://schemas.openxmlformats.org/drawingml/2006/main">
              <a:ext uri="{FF2B5EF4-FFF2-40B4-BE49-F238E27FC236}">
                <a16:creationId xmlns:a16="http://schemas.microsoft.com/office/drawing/2014/main" id="{BBD162B9-952B-4C80-B904-C319B396BF10}"/>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2129acd7579f4858"/>
              </a:rPr>
              <a:t>EVIDENCE ↗</a:t>
            </a:r>
          </a:p>
        </p:txBody>
      </p:sp>
    </p:spTree>
    <p:extLst>
      <p:ext uri="{BB962C8B-B14F-4D97-AF65-F5344CB8AC3E}">
        <p14:creationId xmlns:p14="http://schemas.microsoft.com/office/powerpoint/2010/main" val="1599465592"/>
      </p:ext>
    </p:extLst>
  </p:cSld>
</p:sld>
</file>

<file path=ppt/slides/slide6.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DC2180B-71EB-49B3-9D87-E0D9CF60B68C}"/>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06</a:t>
            </a:r>
          </a:p>
        </p:txBody>
      </p:sp>
      <p:sp>
        <p:nvSpPr>
          <p:cNvPr id="2" name="">
            <a:extLst xmlns:a="http://schemas.openxmlformats.org/drawingml/2006/main">
              <a:ext uri="{FF2B5EF4-FFF2-40B4-BE49-F238E27FC236}">
                <a16:creationId xmlns:a16="http://schemas.microsoft.com/office/drawing/2014/main" id="{E9F3F194-C4AF-4D96-8541-436B52CE12CA}"/>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A 25-year horizon strengthens options, not precision</a:t>
            </a:r>
          </a:p>
        </p:txBody>
      </p:sp>
      <p:sp>
        <p:nvSpPr>
          <p:cNvPr id="3" name="">
            <a:extLst xmlns:a="http://schemas.openxmlformats.org/drawingml/2006/main">
              <a:ext uri="{FF2B5EF4-FFF2-40B4-BE49-F238E27FC236}">
                <a16:creationId xmlns:a16="http://schemas.microsoft.com/office/drawing/2014/main" id="{8C7BBF5E-F7EC-40AB-9AD3-4E0BC0D0CC1A}"/>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Separate the official 2035 outlook from our conditional 2036–2051 extension.</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4095750"/>
                <a:gridCol w="3438525"/>
                <a:gridCol w="3438525"/>
              </a:tblGrid>
              <a:tr h="666750">
                <a:tc>
                  <a:txBody>
                    <a:bodyPr/>
                    <a:lstStyle/>
                    <a:p>
                      <a:r>
                        <a:rPr sz="1050" b="1">
                          <a:solidFill>
                            <a:srgbClr val="49624F"/>
                          </a:solidFill>
                          <a:latin typeface="DejaVu Sans"/>
                          <a:ea typeface="DejaVu Sans"/>
                          <a:cs typeface="DejaVu Sans"/>
                        </a:rPr>
                        <a:t>Period</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What is evidenced</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Decision rule</a:t>
                      </a:r>
                    </a:p>
                  </a:txBody>
                  <a:tcPr marL="114300" marR="114300" marT="76200" marB="76200" anchor="t">
                    <a:solidFill>
                      <a:srgbClr val="E7EEE4"/>
                    </a:solidFill>
                  </a:tcPr>
                </a:tc>
              </a:tr>
              <a:tr h="666750">
                <a:tc>
                  <a:txBody>
                    <a:bodyPr/>
                    <a:lstStyle/>
                    <a:p>
                      <a:r>
                        <a:rPr sz="1200">
                          <a:solidFill>
                            <a:srgbClr val="183B2A"/>
                          </a:solidFill>
                          <a:latin typeface="DejaVu Sans"/>
                          <a:ea typeface="DejaVu Sans"/>
                          <a:cs typeface="DejaVu Sans"/>
                        </a:rPr>
                        <a:t>2026–2030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Present operations and near-term customer tests</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Repair measured bottlenecks</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2030–2035</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OECD–FAO outlook; UN population paths</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Choose modular capacity after contracted cash proof</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2036–2051</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UN demography + chosen bounded operating paths</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Refresh annually; commit against triggers</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Every stage</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No guaranteed terminal franchise value</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Fund closeout and replacement explicitly</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597876EE-E82B-48E9-9E8F-C4D9861DD752}"/>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EXPERT JUDGEMENT | SOURCE OECD · UN_WPP   |   A_OUTER · A_CAPEX</a:t>
            </a:r>
          </a:p>
        </p:txBody>
      </p:sp>
      <p:sp>
        <p:nvSpPr>
          <p:cNvPr id="6" name="">
            <a:extLst xmlns:a="http://schemas.openxmlformats.org/drawingml/2006/main">
              <a:ext uri="{FF2B5EF4-FFF2-40B4-BE49-F238E27FC236}">
                <a16:creationId xmlns:a16="http://schemas.microsoft.com/office/drawing/2014/main" id="{C2A2CFC6-67ED-4133-BB26-5B350F196855}"/>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6 / 98</a:t>
            </a:r>
          </a:p>
        </p:txBody>
      </p:sp>
      <p:sp>
        <p:nvSpPr>
          <p:cNvPr id="7" name="">
            <a:extLst xmlns:a="http://schemas.openxmlformats.org/drawingml/2006/main">
              <a:ext uri="{FF2B5EF4-FFF2-40B4-BE49-F238E27FC236}">
                <a16:creationId xmlns:a16="http://schemas.microsoft.com/office/drawing/2014/main" id="{63F3A6A0-23AC-4C3A-9D0E-34A167AC0828}"/>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00486f03bda4478b" action="ppaction://hlinksldjump"/>
              </a:rPr>
              <a:t>APPENDIX ↗</a:t>
            </a:r>
          </a:p>
        </p:txBody>
      </p:sp>
      <p:sp>
        <p:nvSpPr>
          <p:cNvPr id="8" name="">
            <a:extLst xmlns:a="http://schemas.openxmlformats.org/drawingml/2006/main">
              <a:ext uri="{FF2B5EF4-FFF2-40B4-BE49-F238E27FC236}">
                <a16:creationId xmlns:a16="http://schemas.microsoft.com/office/drawing/2014/main" id="{3962580D-69AE-4018-BFA2-66DBADB392BA}"/>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628fcf6106074b27"/>
              </a:rPr>
              <a:t>EVIDENCE ↗</a:t>
            </a:r>
          </a:p>
        </p:txBody>
      </p:sp>
    </p:spTree>
    <p:extLst>
      <p:ext uri="{BB962C8B-B14F-4D97-AF65-F5344CB8AC3E}">
        <p14:creationId xmlns:p14="http://schemas.microsoft.com/office/powerpoint/2010/main" val="289921537"/>
      </p:ext>
    </p:extLst>
  </p:cSld>
</p:sld>
</file>

<file path=ppt/slides/slide7.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2C69DD5-D95C-4D64-90EF-56D6B409E6A4}"/>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07</a:t>
            </a:r>
          </a:p>
        </p:txBody>
      </p:sp>
      <p:sp>
        <p:nvSpPr>
          <p:cNvPr id="2" name="">
            <a:extLst xmlns:a="http://schemas.openxmlformats.org/drawingml/2006/main">
              <a:ext uri="{FF2B5EF4-FFF2-40B4-BE49-F238E27FC236}">
                <a16:creationId xmlns:a16="http://schemas.microsoft.com/office/drawing/2014/main" id="{80791268-4065-411D-9A7E-F90CA852D583}"/>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Population pathways diverge; category demand remains unmeasured</a:t>
            </a:r>
          </a:p>
        </p:txBody>
      </p:sp>
      <p:sp>
        <p:nvSpPr>
          <p:cNvPr id="3" name="">
            <a:extLst xmlns:a="http://schemas.openxmlformats.org/drawingml/2006/main">
              <a:ext uri="{FF2B5EF4-FFF2-40B4-BE49-F238E27FC236}">
                <a16:creationId xmlns:a16="http://schemas.microsoft.com/office/drawing/2014/main" id="{17A16350-4227-4A24-8A00-95EAE5EFB128}"/>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UN medium population projections do not imply equal per-person purchases.</a:t>
            </a:r>
          </a:p>
        </p:txBody>
      </p:sp>
      <p:graphicFrame>
        <p:nvGraphicFramePr>
          <p:cNvPr id="12" name="Chart"/>
          <p:cNvGraphicFramePr/>
          <p:nvPr/>
        </p:nvGraphicFramePr>
        <p:xfrm>
          <a:off xmlns:a="http://schemas.openxmlformats.org/drawingml/2006/main" x="609600" y="2600325"/>
          <a:ext xmlns:a="http://schemas.openxmlformats.org/drawingml/2006/main" cx="10972800" cy="3276600"/>
        </p:xfrm>
        <a:graphic xmlns:a="http://schemas.openxmlformats.org/drawingml/2006/main">
          <a:graphicData uri="http://schemas.openxmlformats.org/drawingml/2006/chart">
            <c:chart xmlns:r="http://schemas.openxmlformats.org/officeDocument/2006/relationships" xmlns:c="http://schemas.openxmlformats.org/drawingml/2006/chart" r:id="R8c41705adeb642b8"/>
          </a:graphicData>
        </a:graphic>
      </p:graphicFrame>
      <p:sp>
        <p:nvSpPr>
          <p:cNvPr id="5" name="">
            <a:extLst xmlns:a="http://schemas.openxmlformats.org/drawingml/2006/main">
              <a:ext uri="{FF2B5EF4-FFF2-40B4-BE49-F238E27FC236}">
                <a16:creationId xmlns:a16="http://schemas.microsoft.com/office/drawing/2014/main" id="{05613B3C-9C85-40F6-A7E7-A8E431967A7D}"/>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EXTERNAL PROJECTION | SOURCE UN_WPP · WB_income_ppp · WB_urban</a:t>
            </a:r>
          </a:p>
        </p:txBody>
      </p:sp>
      <p:sp>
        <p:nvSpPr>
          <p:cNvPr id="6" name="">
            <a:extLst xmlns:a="http://schemas.openxmlformats.org/drawingml/2006/main">
              <a:ext uri="{FF2B5EF4-FFF2-40B4-BE49-F238E27FC236}">
                <a16:creationId xmlns:a16="http://schemas.microsoft.com/office/drawing/2014/main" id="{EA7FA404-436A-44CA-8C58-2611D96609E8}"/>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C-POP-NGA · C-POP-IND · C-POP-CHN · C-POP-JPN   7 / 98</a:t>
            </a:r>
          </a:p>
        </p:txBody>
      </p:sp>
      <p:sp>
        <p:nvSpPr>
          <p:cNvPr id="7" name="">
            <a:extLst xmlns:a="http://schemas.openxmlformats.org/drawingml/2006/main">
              <a:ext uri="{FF2B5EF4-FFF2-40B4-BE49-F238E27FC236}">
                <a16:creationId xmlns:a16="http://schemas.microsoft.com/office/drawing/2014/main" id="{FB93B78C-CEEB-4646-87F1-62F2CA78125C}"/>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62146ee1367449e5" action="ppaction://hlinksldjump"/>
              </a:rPr>
              <a:t>APPENDIX ↗</a:t>
            </a:r>
          </a:p>
        </p:txBody>
      </p:sp>
      <p:sp>
        <p:nvSpPr>
          <p:cNvPr id="8" name="">
            <a:extLst xmlns:a="http://schemas.openxmlformats.org/drawingml/2006/main">
              <a:ext uri="{FF2B5EF4-FFF2-40B4-BE49-F238E27FC236}">
                <a16:creationId xmlns:a16="http://schemas.microsoft.com/office/drawing/2014/main" id="{5AE7C7D7-1756-4CCB-9E15-FBDDEEBD92FE}"/>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5df6fddaf243480e"/>
              </a:rPr>
              <a:t>EVIDENCE ↗</a:t>
            </a:r>
          </a:p>
        </p:txBody>
      </p:sp>
    </p:spTree>
    <p:extLst>
      <p:ext uri="{BB962C8B-B14F-4D97-AF65-F5344CB8AC3E}">
        <p14:creationId xmlns:p14="http://schemas.microsoft.com/office/powerpoint/2010/main" val="954566637"/>
      </p:ext>
    </p:extLst>
  </p:cSld>
</p:sld>
</file>

<file path=ppt/slides/slide8.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6C4DCBF-1E6D-406A-B66B-AAE6028151AF}"/>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08</a:t>
            </a:r>
          </a:p>
        </p:txBody>
      </p:sp>
      <p:sp>
        <p:nvSpPr>
          <p:cNvPr id="2" name="">
            <a:extLst xmlns:a="http://schemas.openxmlformats.org/drawingml/2006/main">
              <a:ext uri="{FF2B5EF4-FFF2-40B4-BE49-F238E27FC236}">
                <a16:creationId xmlns:a16="http://schemas.microsoft.com/office/drawing/2014/main" id="{0934A371-4815-4C00-B659-D1575AAD6B0D}"/>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Sell customer economics before asserting a nutrition premium</a:t>
            </a:r>
          </a:p>
        </p:txBody>
      </p:sp>
      <p:sp>
        <p:nvSpPr>
          <p:cNvPr id="3" name="">
            <a:extLst xmlns:a="http://schemas.openxmlformats.org/drawingml/2006/main">
              <a:ext uri="{FF2B5EF4-FFF2-40B4-BE49-F238E27FC236}">
                <a16:creationId xmlns:a16="http://schemas.microsoft.com/office/drawing/2014/main" id="{DC68CB90-618D-4620-9F8E-945BBBF7D250}"/>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Health and convenience are hypotheses until customers sustain paid repeat.</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4095750"/>
                <a:gridCol w="3438525"/>
                <a:gridCol w="3438525"/>
              </a:tblGrid>
              <a:tr h="666750">
                <a:tc>
                  <a:txBody>
                    <a:bodyPr/>
                    <a:lstStyle/>
                    <a:p>
                      <a:r>
                        <a:rPr sz="1050" b="1">
                          <a:solidFill>
                            <a:srgbClr val="49624F"/>
                          </a:solidFill>
                          <a:latin typeface="DejaVu Sans"/>
                          <a:ea typeface="DejaVu Sans"/>
                          <a:cs typeface="DejaVu Sans"/>
                        </a:rPr>
                        <a:t>Buyer</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Testable value</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Adoption constraint</a:t>
                      </a:r>
                    </a:p>
                  </a:txBody>
                  <a:tcPr marL="114300" marR="114300" marT="76200" marB="76200" anchor="t">
                    <a:solidFill>
                      <a:srgbClr val="E7EEE4"/>
                    </a:solidFill>
                  </a:tcPr>
                </a:tc>
              </a:tr>
              <a:tr h="666750">
                <a:tc>
                  <a:txBody>
                    <a:bodyPr/>
                    <a:lstStyle/>
                    <a:p>
                      <a:r>
                        <a:rPr sz="1200">
                          <a:solidFill>
                            <a:srgbClr val="183B2A"/>
                          </a:solidFill>
                          <a:latin typeface="DejaVu Sans"/>
                          <a:ea typeface="DejaVu Sans"/>
                          <a:cs typeface="DejaVu Sans"/>
                        </a:rPr>
                        <a:t>Household</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Cost per meal, cash ticket and preparation</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Income, trust and availability</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Baker</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Saleable output, rejects and energy per bag</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Working cash and consistency</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Industrial buyer</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Specification, traceability and delivery</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Contract economics and substitution</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Feed customer</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Verified performance per animal output</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Credit, formulation and biological variance</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5D68BF1F-F347-42F9-8E4D-34627FF0A232}"/>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A_PILOT · A_EXAMPLE</a:t>
            </a:r>
          </a:p>
        </p:txBody>
      </p:sp>
      <p:sp>
        <p:nvSpPr>
          <p:cNvPr id="6" name="">
            <a:extLst xmlns:a="http://schemas.openxmlformats.org/drawingml/2006/main">
              <a:ext uri="{FF2B5EF4-FFF2-40B4-BE49-F238E27FC236}">
                <a16:creationId xmlns:a16="http://schemas.microsoft.com/office/drawing/2014/main" id="{5562846C-9CB0-4CEE-90A3-4EE01E6384EA}"/>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C-E05 · C-E06   8 / 98</a:t>
            </a:r>
          </a:p>
        </p:txBody>
      </p:sp>
      <p:sp>
        <p:nvSpPr>
          <p:cNvPr id="7" name="">
            <a:extLst xmlns:a="http://schemas.openxmlformats.org/drawingml/2006/main">
              <a:ext uri="{FF2B5EF4-FFF2-40B4-BE49-F238E27FC236}">
                <a16:creationId xmlns:a16="http://schemas.microsoft.com/office/drawing/2014/main" id="{0D374BC4-C4F8-4EEB-960C-474BEFF809EB}"/>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c297de2f33e24306" action="ppaction://hlinksldjump"/>
              </a:rPr>
              <a:t>APPENDIX ↗</a:t>
            </a:r>
          </a:p>
        </p:txBody>
      </p:sp>
      <p:sp>
        <p:nvSpPr>
          <p:cNvPr id="8" name="">
            <a:extLst xmlns:a="http://schemas.openxmlformats.org/drawingml/2006/main">
              <a:ext uri="{FF2B5EF4-FFF2-40B4-BE49-F238E27FC236}">
                <a16:creationId xmlns:a16="http://schemas.microsoft.com/office/drawing/2014/main" id="{A1545161-DC75-466D-8034-B691785C33B1}"/>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db02e7d50f9d4bc2"/>
              </a:rPr>
              <a:t>EVIDENCE ↗</a:t>
            </a:r>
          </a:p>
        </p:txBody>
      </p:sp>
    </p:spTree>
    <p:extLst>
      <p:ext uri="{BB962C8B-B14F-4D97-AF65-F5344CB8AC3E}">
        <p14:creationId xmlns:p14="http://schemas.microsoft.com/office/powerpoint/2010/main" val="1661454996"/>
      </p:ext>
    </p:extLst>
  </p:cSld>
</p:sld>
</file>

<file path=ppt/slides/slide9.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B1A16AF-2A05-4C2B-B000-90530FE13B87}"/>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09</a:t>
            </a:r>
          </a:p>
        </p:txBody>
      </p:sp>
      <p:sp>
        <p:nvSpPr>
          <p:cNvPr id="2" name="">
            <a:extLst xmlns:a="http://schemas.openxmlformats.org/drawingml/2006/main">
              <a:ext uri="{FF2B5EF4-FFF2-40B4-BE49-F238E27FC236}">
                <a16:creationId xmlns:a16="http://schemas.microsoft.com/office/drawing/2014/main" id="{2B7D86D5-7B0E-4044-8AB3-8336E7D3E3E8}"/>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Country averages cannot price asset-level climate exposure</a:t>
            </a:r>
          </a:p>
        </p:txBody>
      </p:sp>
      <p:sp>
        <p:nvSpPr>
          <p:cNvPr id="3" name="">
            <a:extLst xmlns:a="http://schemas.openxmlformats.org/drawingml/2006/main">
              <a:ext uri="{FF2B5EF4-FFF2-40B4-BE49-F238E27FC236}">
                <a16:creationId xmlns:a16="http://schemas.microsoft.com/office/drawing/2014/main" id="{ACF385B7-716E-44C5-A8B4-A1423D7CC600}"/>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Map crop, basin, route and facility hazards before estimating damage or adaptation returns.</a:t>
            </a:r>
          </a:p>
        </p:txBody>
      </p:sp>
      <p:graphicFrame>
        <p:nvGraphicFramePr>
          <p:cNvPr id="13" name=""/>
          <p:cNvGraphicFramePr/>
          <p:nvPr/>
        </p:nvGraphicFramePr>
        <p:xfrm>
          <a:off xmlns:a="http://schemas.openxmlformats.org/drawingml/2006/main" x="609600" y="2505075"/>
          <a:ext xmlns:a="http://schemas.openxmlformats.org/drawingml/2006/main" cx="10972800" cy="2143125"/>
        </p:xfrm>
        <a:graphic xmlns:a="http://schemas.openxmlformats.org/drawingml/2006/main">
          <a:graphicData uri="http://schemas.openxmlformats.org/drawingml/2006/table">
            <a:tbl>
              <a:tblPr/>
              <a:tblGrid>
                <a:gridCol w="3429000"/>
                <a:gridCol w="7543800"/>
              </a:tblGrid>
              <a:tr h="535781">
                <a:tc>
                  <a:txBody>
                    <a:bodyPr/>
                    <a:lstStyle/>
                    <a:p>
                      <a:r>
                        <a:rPr sz="1050" b="1">
                          <a:solidFill>
                            <a:srgbClr val="49624F"/>
                          </a:solidFill>
                          <a:latin typeface="DejaVu Sans"/>
                          <a:ea typeface="DejaVu Sans"/>
                          <a:cs typeface="DejaVu Sans"/>
                        </a:rPr>
                        <a:t>Exposure</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Response to test</a:t>
                      </a:r>
                    </a:p>
                  </a:txBody>
                  <a:tcPr marL="114300" marR="114300" marT="76200" marB="76200" anchor="t">
                    <a:solidFill>
                      <a:srgbClr val="E7EEE4"/>
                    </a:solidFill>
                  </a:tcPr>
                </a:tc>
              </a:tr>
              <a:tr h="535781">
                <a:tc>
                  <a:txBody>
                    <a:bodyPr/>
                    <a:lstStyle/>
                    <a:p>
                      <a:r>
                        <a:rPr sz="1275">
                          <a:solidFill>
                            <a:srgbClr val="183B2A"/>
                          </a:solidFill>
                          <a:latin typeface="DejaVu Sans"/>
                          <a:ea typeface="DejaVu Sans"/>
                          <a:cs typeface="DejaVu Sans"/>
                        </a:rPr>
                        <a:t>Common harvest + port stress</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Alternate origin with genuinely different exposure</a:t>
                      </a:r>
                    </a:p>
                  </a:txBody>
                  <a:tcPr marL="114300" marR="114300" marT="76200" marB="76200" anchor="t">
                    <a:solidFill>
                      <a:srgbClr val="FFFEF9"/>
                    </a:solidFill>
                  </a:tcPr>
                </a:tc>
              </a:tr>
              <a:tr h="535781">
                <a:tc>
                  <a:txBody>
                    <a:bodyPr/>
                    <a:lstStyle/>
                    <a:p>
                      <a:r>
                        <a:rPr sz="1275">
                          <a:solidFill>
                            <a:srgbClr val="183B2A"/>
                          </a:solidFill>
                          <a:latin typeface="DejaVu Sans"/>
                          <a:ea typeface="DejaVu Sans"/>
                          <a:cs typeface="DejaVu Sans"/>
                        </a:rPr>
                        <a:t>Water constraints</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Basin-specific supplier practices and verified savings</a:t>
                      </a:r>
                    </a:p>
                  </a:txBody>
                  <a:tcPr marL="114300" marR="114300" marT="76200" marB="76200" anchor="t">
                    <a:solidFill>
                      <a:srgbClr val="FFFEF9"/>
                    </a:solidFill>
                  </a:tcPr>
                </a:tc>
              </a:tr>
              <a:tr h="535781">
                <a:tc>
                  <a:txBody>
                    <a:bodyPr/>
                    <a:lstStyle/>
                    <a:p>
                      <a:r>
                        <a:rPr sz="1275">
                          <a:solidFill>
                            <a:srgbClr val="183B2A"/>
                          </a:solidFill>
                          <a:latin typeface="DejaVu Sans"/>
                          <a:ea typeface="DejaVu Sans"/>
                          <a:cs typeface="DejaVu Sans"/>
                        </a:rPr>
                        <a:t>Flood/heat asset downtime</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Maintenance, redundancy and insurance economics</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08E8E01C-BF8D-417F-8EDC-9B857E5B8238}"/>
              </a:ext>
            </a:extLst>
          </p:cNvPr>
          <p:cNvSpPr>
            <a:spLocks xmlns:a="http://schemas.openxmlformats.org/drawingml/2006/main" noGrp="1"/>
          </p:cNvSpPr>
          <p:nvPr/>
        </p:nvSpPr>
        <p:spPr>
          <a:xfrm xmlns:a="http://schemas.openxmlformats.org/drawingml/2006/main">
            <a:off x="609600" y="4857750"/>
            <a:ext cx="109728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IPCC supports physical risk mechanisms; WMO global indicators do not yield local output losses.</a:t>
            </a:r>
          </a:p>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Water-stress observations help diligence, but suppliers may draw from different basins.</a:t>
            </a:r>
          </a:p>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Require crop calendars, asset coordinates, downscaled hazards, adaptation cost and service losses.</a:t>
            </a:r>
          </a:p>
        </p:txBody>
      </p:sp>
      <p:sp>
        <p:nvSpPr>
          <p:cNvPr id="6" name="">
            <a:extLst xmlns:a="http://schemas.openxmlformats.org/drawingml/2006/main">
              <a:ext uri="{FF2B5EF4-FFF2-40B4-BE49-F238E27FC236}">
                <a16:creationId xmlns:a16="http://schemas.microsoft.com/office/drawing/2014/main" id="{47FBEC26-50DD-4E39-8FF3-961592C75421}"/>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EXPERT JUDGEMENT | SOURCE IPCC · WMO · WB_water_stress   |   A_SCENARIO</a:t>
            </a:r>
          </a:p>
        </p:txBody>
      </p:sp>
      <p:sp>
        <p:nvSpPr>
          <p:cNvPr id="7" name="">
            <a:extLst xmlns:a="http://schemas.openxmlformats.org/drawingml/2006/main">
              <a:ext uri="{FF2B5EF4-FFF2-40B4-BE49-F238E27FC236}">
                <a16:creationId xmlns:a16="http://schemas.microsoft.com/office/drawing/2014/main" id="{9AD8CA90-7724-4183-8E28-3F30AF5DA92F}"/>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9 / 98</a:t>
            </a:r>
          </a:p>
        </p:txBody>
      </p:sp>
      <p:sp>
        <p:nvSpPr>
          <p:cNvPr id="8" name="">
            <a:extLst xmlns:a="http://schemas.openxmlformats.org/drawingml/2006/main">
              <a:ext uri="{FF2B5EF4-FFF2-40B4-BE49-F238E27FC236}">
                <a16:creationId xmlns:a16="http://schemas.microsoft.com/office/drawing/2014/main" id="{F29537F1-75E5-423A-8EA1-66CBBD9BB675}"/>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24b404c650c747e2" action="ppaction://hlinksldjump"/>
              </a:rPr>
              <a:t>APPENDIX ↗</a:t>
            </a:r>
          </a:p>
        </p:txBody>
      </p:sp>
      <p:sp>
        <p:nvSpPr>
          <p:cNvPr id="9" name="">
            <a:extLst xmlns:a="http://schemas.openxmlformats.org/drawingml/2006/main">
              <a:ext uri="{FF2B5EF4-FFF2-40B4-BE49-F238E27FC236}">
                <a16:creationId xmlns:a16="http://schemas.microsoft.com/office/drawing/2014/main" id="{D835A4AF-14A9-4CCC-A440-CBEFBD029AE1}"/>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f42bbf3726a44112"/>
              </a:rPr>
              <a:t>EVIDENCE ↗</a:t>
            </a:r>
          </a:p>
        </p:txBody>
      </p:sp>
    </p:spTree>
    <p:extLst>
      <p:ext uri="{BB962C8B-B14F-4D97-AF65-F5344CB8AC3E}">
        <p14:creationId xmlns:p14="http://schemas.microsoft.com/office/powerpoint/2010/main" val="261803176"/>
      </p:ext>
    </p:extLst>
  </p:cSld>
</p:sld>
</file>

<file path=ppt/slides/slide10.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57B93A-7F55-4506-A094-300DBF323AF5}"/>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10</a:t>
            </a:r>
          </a:p>
        </p:txBody>
      </p:sp>
      <p:sp>
        <p:nvSpPr>
          <p:cNvPr id="2" name="">
            <a:extLst xmlns:a="http://schemas.openxmlformats.org/drawingml/2006/main">
              <a:ext uri="{FF2B5EF4-FFF2-40B4-BE49-F238E27FC236}">
                <a16:creationId xmlns:a16="http://schemas.microsoft.com/office/drawing/2014/main" id="{EC869694-8F9B-4336-8877-745E62019869}"/>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A large import bill is neither accessible demand nor Olam revenue</a:t>
            </a:r>
          </a:p>
        </p:txBody>
      </p:sp>
      <p:sp>
        <p:nvSpPr>
          <p:cNvPr id="3" name="">
            <a:extLst xmlns:a="http://schemas.openxmlformats.org/drawingml/2006/main">
              <a:ext uri="{FF2B5EF4-FFF2-40B4-BE49-F238E27FC236}">
                <a16:creationId xmlns:a16="http://schemas.microsoft.com/office/drawing/2014/main" id="{4815D863-EF2B-40F1-9ABB-8D8AF643C7CE}"/>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Routes require product-level permissions, quality, landed spreads and counterparties.</a:t>
            </a:r>
          </a:p>
        </p:txBody>
      </p:sp>
      <p:sp>
        <p:nvSpPr>
          <p:cNvPr id="4" name="">
            <a:extLst xmlns:a="http://schemas.openxmlformats.org/drawingml/2006/main">
              <a:ext uri="{FF2B5EF4-FFF2-40B4-BE49-F238E27FC236}">
                <a16:creationId xmlns:a16="http://schemas.microsoft.com/office/drawing/2014/main" id="{47CC645A-22D4-4EE3-B25E-5421CF71C423}"/>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Nigeria wheat preview: 2024 CIF value about USD1.0475 bn; missing net weight prevents a credible tonnes/unit-price calculation.</a:t>
            </a:r>
          </a:p>
        </p:txBody>
      </p:sp>
      <p:sp>
        <p:nvSpPr>
          <p:cNvPr id="5" name="">
            <a:extLst xmlns:a="http://schemas.openxmlformats.org/drawingml/2006/main">
              <a:ext uri="{FF2B5EF4-FFF2-40B4-BE49-F238E27FC236}">
                <a16:creationId xmlns:a16="http://schemas.microsoft.com/office/drawing/2014/main" id="{910E9310-7337-48A4-9145-346CC03469C2}"/>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Comtrade aggregation and reporting flags remain visible. A quantity field of zero with an unspecified unit is not zero imports.</a:t>
            </a:r>
          </a:p>
        </p:txBody>
      </p:sp>
      <p:sp>
        <p:nvSpPr>
          <p:cNvPr id="6" name="">
            <a:extLst xmlns:a="http://schemas.openxmlformats.org/drawingml/2006/main">
              <a:ext uri="{FF2B5EF4-FFF2-40B4-BE49-F238E27FC236}">
                <a16:creationId xmlns:a16="http://schemas.microsoft.com/office/drawing/2014/main" id="{8671CD32-A5D4-4752-A347-3FE7CDED3666}"/>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Sanctions, export restrictions, duties, EUDR and documentation are gates, not scalar scores.</a:t>
            </a:r>
          </a:p>
        </p:txBody>
      </p:sp>
      <p:sp>
        <p:nvSpPr>
          <p:cNvPr id="7" name="">
            <a:extLst xmlns:a="http://schemas.openxmlformats.org/drawingml/2006/main">
              <a:ext uri="{FF2B5EF4-FFF2-40B4-BE49-F238E27FC236}">
                <a16:creationId xmlns:a16="http://schemas.microsoft.com/office/drawing/2014/main" id="{C23B0874-CE2C-44DA-B732-931AA3C25A51}"/>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EXPERT JUDGEMENT | SOURCE COMTRADE · EUDR · USDA_NGA · USDA_OIL</a:t>
            </a:r>
          </a:p>
        </p:txBody>
      </p:sp>
      <p:sp>
        <p:nvSpPr>
          <p:cNvPr id="8" name="">
            <a:extLst xmlns:a="http://schemas.openxmlformats.org/drawingml/2006/main">
              <a:ext uri="{FF2B5EF4-FFF2-40B4-BE49-F238E27FC236}">
                <a16:creationId xmlns:a16="http://schemas.microsoft.com/office/drawing/2014/main" id="{B0C740E3-4643-497C-8C72-92652F2E98FB}"/>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C-TRADE-NGA   10 / 98</a:t>
            </a:r>
          </a:p>
        </p:txBody>
      </p:sp>
      <p:sp>
        <p:nvSpPr>
          <p:cNvPr id="9" name="">
            <a:extLst xmlns:a="http://schemas.openxmlformats.org/drawingml/2006/main">
              <a:ext uri="{FF2B5EF4-FFF2-40B4-BE49-F238E27FC236}">
                <a16:creationId xmlns:a16="http://schemas.microsoft.com/office/drawing/2014/main" id="{70A4AA98-4C95-417A-BFDB-36FB04445484}"/>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ad33a3cba9b843f5" action="ppaction://hlinksldjump"/>
              </a:rPr>
              <a:t>APPENDIX ↗</a:t>
            </a:r>
          </a:p>
        </p:txBody>
      </p:sp>
      <p:sp>
        <p:nvSpPr>
          <p:cNvPr id="10" name="">
            <a:extLst xmlns:a="http://schemas.openxmlformats.org/drawingml/2006/main">
              <a:ext uri="{FF2B5EF4-FFF2-40B4-BE49-F238E27FC236}">
                <a16:creationId xmlns:a16="http://schemas.microsoft.com/office/drawing/2014/main" id="{616012A8-5AF6-4091-B07C-56E8F0A36443}"/>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8a6b545ab2494fca"/>
              </a:rPr>
              <a:t>EVIDENCE ↗</a:t>
            </a:r>
          </a:p>
        </p:txBody>
      </p:sp>
    </p:spTree>
    <p:extLst>
      <p:ext uri="{BB962C8B-B14F-4D97-AF65-F5344CB8AC3E}">
        <p14:creationId xmlns:p14="http://schemas.microsoft.com/office/powerpoint/2010/main" val="1230436939"/>
      </p:ext>
    </p:extLst>
  </p:cSld>
</p:sld>
</file>

<file path=ppt/slides/slide11.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7AF6EA2-8846-4496-AEC7-F5C6130BB9C4}"/>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11</a:t>
            </a:r>
          </a:p>
        </p:txBody>
      </p:sp>
      <p:sp>
        <p:nvSpPr>
          <p:cNvPr id="2" name="">
            <a:extLst xmlns:a="http://schemas.openxmlformats.org/drawingml/2006/main">
              <a:ext uri="{FF2B5EF4-FFF2-40B4-BE49-F238E27FC236}">
                <a16:creationId xmlns:a16="http://schemas.microsoft.com/office/drawing/2014/main" id="{4F73C230-4C51-4B32-8625-15981174B8F2}"/>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Each value chain needs its own offer and cash model</a:t>
            </a:r>
          </a:p>
        </p:txBody>
      </p:sp>
      <p:sp>
        <p:nvSpPr>
          <p:cNvPr id="3" name="">
            <a:extLst xmlns:a="http://schemas.openxmlformats.org/drawingml/2006/main">
              <a:ext uri="{FF2B5EF4-FFF2-40B4-BE49-F238E27FC236}">
                <a16:creationId xmlns:a16="http://schemas.microsoft.com/office/drawing/2014/main" id="{816F2B9F-1631-479F-A423-EA620549D334}"/>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June-2026 disclosed scope includes food, feed and non-food agricultural products.</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4095750"/>
                <a:gridCol w="3438525"/>
                <a:gridCol w="3438525"/>
              </a:tblGrid>
              <a:tr h="555625">
                <a:tc>
                  <a:txBody>
                    <a:bodyPr/>
                    <a:lstStyle/>
                    <a:p>
                      <a:r>
                        <a:rPr sz="1050" b="1">
                          <a:solidFill>
                            <a:srgbClr val="49624F"/>
                          </a:solidFill>
                          <a:latin typeface="DejaVu Sans"/>
                          <a:ea typeface="DejaVu Sans"/>
                          <a:cs typeface="DejaVu Sans"/>
                        </a:rPr>
                        <a:t>Value chain</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Initial commercial mechanism</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Key test</a:t>
                      </a:r>
                    </a:p>
                  </a:txBody>
                  <a:tcPr marL="114300" marR="114300" marT="76200" marB="76200" anchor="t">
                    <a:solidFill>
                      <a:srgbClr val="E7EEE4"/>
                    </a:solidFill>
                  </a:tcPr>
                </a:tc>
              </a:tr>
              <a:tr h="555625">
                <a:tc>
                  <a:txBody>
                    <a:bodyPr/>
                    <a:lstStyle/>
                    <a:p>
                      <a:r>
                        <a:rPr sz="1200">
                          <a:solidFill>
                            <a:srgbClr val="183B2A"/>
                          </a:solidFill>
                          <a:latin typeface="DejaVu Sans"/>
                          <a:ea typeface="DejaVu Sans"/>
                          <a:cs typeface="DejaVu Sans"/>
                        </a:rPr>
                        <a:t>Grains, rice, wheat milling/pasta</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Quality, usable yield and reliable delivery</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Landed spread + repeat</a:t>
                      </a:r>
                    </a:p>
                  </a:txBody>
                  <a:tcPr marL="114300" marR="114300" marT="76200" marB="76200" anchor="t">
                    <a:solidFill>
                      <a:srgbClr val="FFFEF9"/>
                    </a:solidFill>
                  </a:tcPr>
                </a:tc>
              </a:tr>
              <a:tr h="555625">
                <a:tc>
                  <a:txBody>
                    <a:bodyPr/>
                    <a:lstStyle/>
                    <a:p>
                      <a:r>
                        <a:rPr sz="1200">
                          <a:solidFill>
                            <a:srgbClr val="183B2A"/>
                          </a:solidFill>
                          <a:latin typeface="DejaVu Sans"/>
                          <a:ea typeface="DejaVu Sans"/>
                          <a:cs typeface="DejaVu Sans"/>
                        </a:rPr>
                        <a:t>Edible oils</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Local cash ticket and verified refining economics</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Crude/refined HS + conversion</a:t>
                      </a:r>
                    </a:p>
                  </a:txBody>
                  <a:tcPr marL="114300" marR="114300" marT="76200" marB="76200" anchor="t">
                    <a:solidFill>
                      <a:srgbClr val="FFFEF9"/>
                    </a:solidFill>
                  </a:tcPr>
                </a:tc>
              </a:tr>
              <a:tr h="555625">
                <a:tc>
                  <a:txBody>
                    <a:bodyPr/>
                    <a:lstStyle/>
                    <a:p>
                      <a:r>
                        <a:rPr sz="1200">
                          <a:solidFill>
                            <a:srgbClr val="183B2A"/>
                          </a:solidFill>
                          <a:latin typeface="DejaVu Sans"/>
                          <a:ea typeface="DejaVu Sans"/>
                          <a:cs typeface="DejaVu Sans"/>
                        </a:rPr>
                        <a:t>Feed/protein</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Performance-based technical service</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Buyer margin + biology</a:t>
                      </a:r>
                    </a:p>
                  </a:txBody>
                  <a:tcPr marL="114300" marR="114300" marT="76200" marB="76200" anchor="t">
                    <a:solidFill>
                      <a:srgbClr val="FFFEF9"/>
                    </a:solidFill>
                  </a:tcPr>
                </a:tc>
              </a:tr>
              <a:tr h="555625">
                <a:tc>
                  <a:txBody>
                    <a:bodyPr/>
                    <a:lstStyle/>
                    <a:p>
                      <a:r>
                        <a:rPr sz="1200">
                          <a:solidFill>
                            <a:srgbClr val="183B2A"/>
                          </a:solidFill>
                          <a:latin typeface="DejaVu Sans"/>
                          <a:ea typeface="DejaVu Sans"/>
                          <a:cs typeface="DejaVu Sans"/>
                        </a:rPr>
                        <a:t>Cotton, wood, rubber</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Specification, traceability, industrial contracts</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Eligibility + funding</a:t>
                      </a:r>
                    </a:p>
                  </a:txBody>
                  <a:tcPr marL="114300" marR="114300" marT="76200" marB="76200" anchor="t">
                    <a:solidFill>
                      <a:srgbClr val="FFFEF9"/>
                    </a:solidFill>
                  </a:tcPr>
                </a:tc>
              </a:tr>
              <a:tr h="555625">
                <a:tc>
                  <a:txBody>
                    <a:bodyPr/>
                    <a:lstStyle/>
                    <a:p>
                      <a:r>
                        <a:rPr sz="1200">
                          <a:solidFill>
                            <a:srgbClr val="183B2A"/>
                          </a:solidFill>
                          <a:latin typeface="DejaVu Sans"/>
                          <a:ea typeface="DejaVu Sans"/>
                          <a:cs typeface="DejaVu Sans"/>
                        </a:rPr>
                        <a:t>Sugar/biofuel</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Conditional scope in June factsheet</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Current perimeter + policy + process</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25B911C2-E392-45DC-86BD-2E9091405167}"/>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REPORTED FACT | SOURCE CO_FACT · CO_ABOUT</a:t>
            </a:r>
          </a:p>
        </p:txBody>
      </p:sp>
      <p:sp>
        <p:nvSpPr>
          <p:cNvPr id="6" name="">
            <a:extLst xmlns:a="http://schemas.openxmlformats.org/drawingml/2006/main">
              <a:ext uri="{FF2B5EF4-FFF2-40B4-BE49-F238E27FC236}">
                <a16:creationId xmlns:a16="http://schemas.microsoft.com/office/drawing/2014/main" id="{45828C1C-EF8D-460A-AB8E-80C57571FA37}"/>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11 / 98</a:t>
            </a:r>
          </a:p>
        </p:txBody>
      </p:sp>
      <p:sp>
        <p:nvSpPr>
          <p:cNvPr id="7" name="">
            <a:extLst xmlns:a="http://schemas.openxmlformats.org/drawingml/2006/main">
              <a:ext uri="{FF2B5EF4-FFF2-40B4-BE49-F238E27FC236}">
                <a16:creationId xmlns:a16="http://schemas.microsoft.com/office/drawing/2014/main" id="{9425C015-F768-4737-BD47-4C88D2033264}"/>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98364766fa6f42ff" action="ppaction://hlinksldjump"/>
              </a:rPr>
              <a:t>APPENDIX ↗</a:t>
            </a:r>
          </a:p>
        </p:txBody>
      </p:sp>
      <p:sp>
        <p:nvSpPr>
          <p:cNvPr id="8" name="">
            <a:extLst xmlns:a="http://schemas.openxmlformats.org/drawingml/2006/main">
              <a:ext uri="{FF2B5EF4-FFF2-40B4-BE49-F238E27FC236}">
                <a16:creationId xmlns:a16="http://schemas.microsoft.com/office/drawing/2014/main" id="{D4D3F6A0-2AB7-4E41-9591-E57EE019A334}"/>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979ef55c2cf74b17"/>
              </a:rPr>
              <a:t>EVIDENCE ↗</a:t>
            </a:r>
          </a:p>
        </p:txBody>
      </p:sp>
    </p:spTree>
    <p:extLst>
      <p:ext uri="{BB962C8B-B14F-4D97-AF65-F5344CB8AC3E}">
        <p14:creationId xmlns:p14="http://schemas.microsoft.com/office/powerpoint/2010/main" val="1336232210"/>
      </p:ext>
    </p:extLst>
  </p:cSld>
</p:sld>
</file>

<file path=ppt/slides/slide12.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7D68FF6-2544-4179-AAFA-6A5BE4EEB14D}"/>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12</a:t>
            </a:r>
          </a:p>
        </p:txBody>
      </p:sp>
      <p:sp>
        <p:nvSpPr>
          <p:cNvPr id="2" name="">
            <a:extLst xmlns:a="http://schemas.openxmlformats.org/drawingml/2006/main">
              <a:ext uri="{FF2B5EF4-FFF2-40B4-BE49-F238E27FC236}">
                <a16:creationId xmlns:a16="http://schemas.microsoft.com/office/drawing/2014/main" id="{69F1E1B8-47BF-4C68-A3F6-D3CD1793FE89}"/>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All 195 countries have a disposition; none has an internal-data valuation</a:t>
            </a:r>
          </a:p>
        </p:txBody>
      </p:sp>
      <p:sp>
        <p:nvSpPr>
          <p:cNvPr id="3" name="">
            <a:extLst xmlns:a="http://schemas.openxmlformats.org/drawingml/2006/main">
              <a:ext uri="{FF2B5EF4-FFF2-40B4-BE49-F238E27FC236}">
                <a16:creationId xmlns:a16="http://schemas.microsoft.com/office/drawing/2014/main" id="{9AF8D8DA-B297-4338-92FD-38BEB9AAB46F}"/>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195 dispositions; 34 national drivers; zero investment-grade country cases.</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3429000"/>
                <a:gridCol w="7543800"/>
              </a:tblGrid>
              <a:tr h="555625">
                <a:tc>
                  <a:txBody>
                    <a:bodyPr/>
                    <a:lstStyle/>
                    <a:p>
                      <a:r>
                        <a:rPr sz="1050" b="1">
                          <a:solidFill>
                            <a:srgbClr val="49624F"/>
                          </a:solidFill>
                          <a:latin typeface="DejaVu Sans"/>
                          <a:ea typeface="DejaVu Sans"/>
                          <a:cs typeface="DejaVu Sans"/>
                        </a:rPr>
                        <a:t>Coverage test</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Result</a:t>
                      </a:r>
                    </a:p>
                  </a:txBody>
                  <a:tcPr marL="114300" marR="114300" marT="76200" marB="76200" anchor="t">
                    <a:solidFill>
                      <a:srgbClr val="E7EEE4"/>
                    </a:solidFill>
                  </a:tcPr>
                </a:tc>
              </a:tr>
              <a:tr h="555625">
                <a:tc>
                  <a:txBody>
                    <a:bodyPr/>
                    <a:lstStyle/>
                    <a:p>
                      <a:r>
                        <a:rPr sz="1275">
                          <a:solidFill>
                            <a:srgbClr val="183B2A"/>
                          </a:solidFill>
                          <a:latin typeface="DejaVu Sans"/>
                          <a:ea typeface="DejaVu Sans"/>
                          <a:cs typeface="DejaVu Sans"/>
                        </a:rPr>
                        <a:t>UN members + observer states</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193 + 2 = 195</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Country-product × scenario × milestone rows</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203 ×6 ×7 = 8,526</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Priority diligence dossiers</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10</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Investment-grade country cases</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0</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Remaining countries</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Watch, existing-operation review, defer or no standalone asset proposal</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63E02939-1AA7-4B54-BEB7-B1CB25F242B6}"/>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DERIVED FIGURE | SOURCE UN_M49 · UN_WPP</a:t>
            </a:r>
          </a:p>
        </p:txBody>
      </p:sp>
      <p:sp>
        <p:nvSpPr>
          <p:cNvPr id="6" name="">
            <a:extLst xmlns:a="http://schemas.openxmlformats.org/drawingml/2006/main">
              <a:ext uri="{FF2B5EF4-FFF2-40B4-BE49-F238E27FC236}">
                <a16:creationId xmlns:a16="http://schemas.microsoft.com/office/drawing/2014/main" id="{1FA8376B-188D-406F-AB74-0AD6FA469BBA}"/>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C-COVERAGE   12 / 98</a:t>
            </a:r>
          </a:p>
        </p:txBody>
      </p:sp>
      <p:sp>
        <p:nvSpPr>
          <p:cNvPr id="7" name="">
            <a:extLst xmlns:a="http://schemas.openxmlformats.org/drawingml/2006/main">
              <a:ext uri="{FF2B5EF4-FFF2-40B4-BE49-F238E27FC236}">
                <a16:creationId xmlns:a16="http://schemas.microsoft.com/office/drawing/2014/main" id="{1128AC27-2881-406F-8F49-CFB299253477}"/>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02651c64ebf148b0" action="ppaction://hlinksldjump"/>
              </a:rPr>
              <a:t>APPENDIX ↗</a:t>
            </a:r>
          </a:p>
        </p:txBody>
      </p:sp>
      <p:sp>
        <p:nvSpPr>
          <p:cNvPr id="8" name="">
            <a:extLst xmlns:a="http://schemas.openxmlformats.org/drawingml/2006/main">
              <a:ext uri="{FF2B5EF4-FFF2-40B4-BE49-F238E27FC236}">
                <a16:creationId xmlns:a16="http://schemas.microsoft.com/office/drawing/2014/main" id="{242EC705-E117-4434-9578-643A4E52417D}"/>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81b38300643f44c9"/>
              </a:rPr>
              <a:t>EVIDENCE ↗</a:t>
            </a:r>
          </a:p>
        </p:txBody>
      </p:sp>
    </p:spTree>
    <p:extLst>
      <p:ext uri="{BB962C8B-B14F-4D97-AF65-F5344CB8AC3E}">
        <p14:creationId xmlns:p14="http://schemas.microsoft.com/office/powerpoint/2010/main" val="1068778354"/>
      </p:ext>
    </p:extLst>
  </p:cSld>
</p:sld>
</file>

<file path=ppt/slides/slide13.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FCBB36F-5F80-4B81-902C-C8F499793E85}"/>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13</a:t>
            </a:r>
          </a:p>
        </p:txBody>
      </p:sp>
      <p:sp>
        <p:nvSpPr>
          <p:cNvPr id="2" name="">
            <a:extLst xmlns:a="http://schemas.openxmlformats.org/drawingml/2006/main">
              <a:ext uri="{FF2B5EF4-FFF2-40B4-BE49-F238E27FC236}">
                <a16:creationId xmlns:a16="http://schemas.microsoft.com/office/drawing/2014/main" id="{A8683420-692D-4FF2-BDC3-4F329650AAE7}"/>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Choose ten diligence cases, with distinct operating reasons</a:t>
            </a:r>
          </a:p>
        </p:txBody>
      </p:sp>
      <p:sp>
        <p:nvSpPr>
          <p:cNvPr id="3" name="">
            <a:extLst xmlns:a="http://schemas.openxmlformats.org/drawingml/2006/main">
              <a:ext uri="{FF2B5EF4-FFF2-40B4-BE49-F238E27FC236}">
                <a16:creationId xmlns:a16="http://schemas.microsoft.com/office/drawing/2014/main" id="{3E46CE51-FB29-45F4-BC72-49B949108B99}"/>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These are evidence priorities, not a numerical attractiveness ranking.</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4095750"/>
                <a:gridCol w="3438525"/>
                <a:gridCol w="3438525"/>
              </a:tblGrid>
              <a:tr h="555625">
                <a:tc>
                  <a:txBody>
                    <a:bodyPr/>
                    <a:lstStyle/>
                    <a:p>
                      <a:r>
                        <a:rPr sz="1050" b="1">
                          <a:solidFill>
                            <a:srgbClr val="49624F"/>
                          </a:solidFill>
                          <a:latin typeface="DejaVu Sans"/>
                          <a:ea typeface="DejaVu Sans"/>
                          <a:cs typeface="DejaVu Sans"/>
                        </a:rPr>
                        <a:t>Markets</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Product / mode</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Next falsifier</a:t>
                      </a:r>
                    </a:p>
                  </a:txBody>
                  <a:tcPr marL="114300" marR="114300" marT="76200" marB="76200" anchor="t">
                    <a:solidFill>
                      <a:srgbClr val="E7EEE4"/>
                    </a:solidFill>
                  </a:tcPr>
                </a:tc>
              </a:tr>
              <a:tr h="555625">
                <a:tc>
                  <a:txBody>
                    <a:bodyPr/>
                    <a:lstStyle/>
                    <a:p>
                      <a:r>
                        <a:rPr sz="1200">
                          <a:solidFill>
                            <a:srgbClr val="183B2A"/>
                          </a:solidFill>
                          <a:latin typeface="DejaVu Sans"/>
                          <a:ea typeface="DejaVu Sans"/>
                          <a:cs typeface="DejaVu Sans"/>
                        </a:rPr>
                        <a:t>Nigeria, Ghana, Senegal</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Semolina/oils; flour/pasta/feed service pilot</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Customer and route contribution</a:t>
                      </a:r>
                    </a:p>
                  </a:txBody>
                  <a:tcPr marL="114300" marR="114300" marT="76200" marB="76200" anchor="t">
                    <a:solidFill>
                      <a:srgbClr val="FFFEF9"/>
                    </a:solidFill>
                  </a:tcPr>
                </a:tc>
              </a:tr>
              <a:tr h="555625">
                <a:tc>
                  <a:txBody>
                    <a:bodyPr/>
                    <a:lstStyle/>
                    <a:p>
                      <a:r>
                        <a:rPr sz="1200">
                          <a:solidFill>
                            <a:srgbClr val="183B2A"/>
                          </a:solidFill>
                          <a:latin typeface="DejaVu Sans"/>
                          <a:ea typeface="DejaVu Sans"/>
                          <a:cs typeface="DejaVu Sans"/>
                        </a:rPr>
                        <a:t>Cameroon, Mozambique</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Flour/rice/oils distribution pilot</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Credit, resilience and cash ticket</a:t>
                      </a:r>
                    </a:p>
                  </a:txBody>
                  <a:tcPr marL="114300" marR="114300" marT="76200" marB="76200" anchor="t">
                    <a:solidFill>
                      <a:srgbClr val="FFFEF9"/>
                    </a:solidFill>
                  </a:tcPr>
                </a:tc>
              </a:tr>
              <a:tr h="555625">
                <a:tc>
                  <a:txBody>
                    <a:bodyPr/>
                    <a:lstStyle/>
                    <a:p>
                      <a:r>
                        <a:rPr sz="1200">
                          <a:solidFill>
                            <a:srgbClr val="183B2A"/>
                          </a:solidFill>
                          <a:latin typeface="DejaVu Sans"/>
                          <a:ea typeface="DejaVu Sans"/>
                          <a:cs typeface="DejaVu Sans"/>
                        </a:rPr>
                        <a:t>South Africa</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B2B grains/oils contract trial</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Quality-adjusted landed spread</a:t>
                      </a:r>
                    </a:p>
                  </a:txBody>
                  <a:tcPr marL="114300" marR="114300" marT="76200" marB="76200" anchor="t">
                    <a:solidFill>
                      <a:srgbClr val="FFFEF9"/>
                    </a:solidFill>
                  </a:tcPr>
                </a:tc>
              </a:tr>
              <a:tr h="555625">
                <a:tc>
                  <a:txBody>
                    <a:bodyPr/>
                    <a:lstStyle/>
                    <a:p>
                      <a:r>
                        <a:rPr sz="1200">
                          <a:solidFill>
                            <a:srgbClr val="183B2A"/>
                          </a:solidFill>
                          <a:latin typeface="DejaVu Sans"/>
                          <a:ea typeface="DejaVu Sans"/>
                          <a:cs typeface="DejaVu Sans"/>
                        </a:rPr>
                        <a:t>India, Vietnam, Brazil</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Rice or grains/oilseeds origination</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Supplier, basin and delivered cash</a:t>
                      </a:r>
                    </a:p>
                  </a:txBody>
                  <a:tcPr marL="114300" marR="114300" marT="76200" marB="76200" anchor="t">
                    <a:solidFill>
                      <a:srgbClr val="FFFEF9"/>
                    </a:solidFill>
                  </a:tcPr>
                </a:tc>
              </a:tr>
              <a:tr h="555625">
                <a:tc>
                  <a:txBody>
                    <a:bodyPr/>
                    <a:lstStyle/>
                    <a:p>
                      <a:r>
                        <a:rPr sz="1200">
                          <a:solidFill>
                            <a:srgbClr val="183B2A"/>
                          </a:solidFill>
                          <a:latin typeface="DejaVu Sans"/>
                          <a:ea typeface="DejaVu Sans"/>
                          <a:cs typeface="DejaVu Sans"/>
                        </a:rPr>
                        <a:t>Saudi Arabia</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Bankable commercial offtake diligence</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Buyer commitment; no ownership-derived order</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CC5402FB-356D-4BD3-BDE2-5BEECBB87B06}"/>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SOURCE CO_NGA · CO_GHA · CO_SEN · CO_CMR · CO_MOZ · CO_ZAF · CO_IND · CO_VNM · CO_BRA · CO_FACT   |   A_TEMPLATE</a:t>
            </a:r>
          </a:p>
        </p:txBody>
      </p:sp>
      <p:sp>
        <p:nvSpPr>
          <p:cNvPr id="6" name="">
            <a:extLst xmlns:a="http://schemas.openxmlformats.org/drawingml/2006/main">
              <a:ext uri="{FF2B5EF4-FFF2-40B4-BE49-F238E27FC236}">
                <a16:creationId xmlns:a16="http://schemas.microsoft.com/office/drawing/2014/main" id="{7AAA44C9-7190-4F97-A4CA-920E6F483612}"/>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13 / 98</a:t>
            </a:r>
          </a:p>
        </p:txBody>
      </p:sp>
      <p:sp>
        <p:nvSpPr>
          <p:cNvPr id="7" name="">
            <a:extLst xmlns:a="http://schemas.openxmlformats.org/drawingml/2006/main">
              <a:ext uri="{FF2B5EF4-FFF2-40B4-BE49-F238E27FC236}">
                <a16:creationId xmlns:a16="http://schemas.microsoft.com/office/drawing/2014/main" id="{267A553E-0D26-41D8-B7B9-5FD1D37DE323}"/>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5c087682956e459f" action="ppaction://hlinksldjump"/>
              </a:rPr>
              <a:t>APPENDIX ↗</a:t>
            </a:r>
          </a:p>
        </p:txBody>
      </p:sp>
      <p:sp>
        <p:nvSpPr>
          <p:cNvPr id="8" name="">
            <a:extLst xmlns:a="http://schemas.openxmlformats.org/drawingml/2006/main">
              <a:ext uri="{FF2B5EF4-FFF2-40B4-BE49-F238E27FC236}">
                <a16:creationId xmlns:a16="http://schemas.microsoft.com/office/drawing/2014/main" id="{32A2AECE-55E7-4198-A89F-E01137AA5D1E}"/>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c70969d0551e490b"/>
              </a:rPr>
              <a:t>EVIDENCE ↗</a:t>
            </a:r>
          </a:p>
        </p:txBody>
      </p:sp>
    </p:spTree>
    <p:extLst>
      <p:ext uri="{BB962C8B-B14F-4D97-AF65-F5344CB8AC3E}">
        <p14:creationId xmlns:p14="http://schemas.microsoft.com/office/powerpoint/2010/main" val="1938467846"/>
      </p:ext>
    </p:extLst>
  </p:cSld>
</p:sld>
</file>

<file path=ppt/slides/slide14.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E3BB677-201E-4EB5-B72C-914F46512BC3}"/>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14</a:t>
            </a:r>
          </a:p>
        </p:txBody>
      </p:sp>
      <p:sp>
        <p:nvSpPr>
          <p:cNvPr id="2" name="">
            <a:extLst xmlns:a="http://schemas.openxmlformats.org/drawingml/2006/main">
              <a:ext uri="{FF2B5EF4-FFF2-40B4-BE49-F238E27FC236}">
                <a16:creationId xmlns:a16="http://schemas.microsoft.com/office/drawing/2014/main" id="{99EDABE7-CB1C-4911-9AC5-7DB0FC76BCE6}"/>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Managed transition is a planning convention, not the most likely future</a:t>
            </a:r>
          </a:p>
        </p:txBody>
      </p:sp>
      <p:sp>
        <p:nvSpPr>
          <p:cNvPr id="3" name="">
            <a:extLst xmlns:a="http://schemas.openxmlformats.org/drawingml/2006/main">
              <a:ext uri="{FF2B5EF4-FFF2-40B4-BE49-F238E27FC236}">
                <a16:creationId xmlns:a16="http://schemas.microsoft.com/office/drawing/2014/main" id="{F3BD551B-A971-49BA-B253-71A7396843D5}"/>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Customer orders, capacity, stocks and taxes drive a finite real-USD example.</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3429000"/>
                <a:gridCol w="7543800"/>
              </a:tblGrid>
              <a:tr h="555625">
                <a:tc>
                  <a:txBody>
                    <a:bodyPr/>
                    <a:lstStyle/>
                    <a:p>
                      <a:r>
                        <a:rPr sz="1050" b="1">
                          <a:solidFill>
                            <a:srgbClr val="49624F"/>
                          </a:solidFill>
                          <a:latin typeface="DejaVu Sans"/>
                          <a:ea typeface="DejaVu Sans"/>
                          <a:cs typeface="DejaVu Sans"/>
                        </a:rPr>
                        <a:t>Illustrative owned-processing input</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Managed case</a:t>
                      </a:r>
                    </a:p>
                  </a:txBody>
                  <a:tcPr marL="114300" marR="114300" marT="76200" marB="76200" anchor="t">
                    <a:solidFill>
                      <a:srgbClr val="E7EEE4"/>
                    </a:solidFill>
                  </a:tcPr>
                </a:tc>
              </a:tr>
              <a:tr h="555625">
                <a:tc>
                  <a:txBody>
                    <a:bodyPr/>
                    <a:lstStyle/>
                    <a:p>
                      <a:r>
                        <a:rPr sz="1275">
                          <a:solidFill>
                            <a:srgbClr val="183B2A"/>
                          </a:solidFill>
                          <a:latin typeface="DejaVu Sans"/>
                          <a:ea typeface="DejaVu Sans"/>
                          <a:cs typeface="DejaVu Sans"/>
                        </a:rPr>
                        <a:t>Orders / physical capacity</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100,000 / 150,000 tonnes per year</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Price / variable cost</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$400 / $340 per tonne</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Capex / fixed cash cost</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$20 m / $2 m per year</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Ramp / growth</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50%, 80%, 100%; 1.5%, then 0.75%</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Hurdle / tax convention</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10% real USD / 25% with loss carryforward</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3ACE9969-4C04-4418-830A-6D6D6A85F71A}"/>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PLANNING ASSUMPTION | CONDITIONAL / ILLUSTRATIVE   |   A_TEMPLATE · A_RATE · A_TAX · A_OUTER · A_CAPEX</a:t>
            </a:r>
          </a:p>
        </p:txBody>
      </p:sp>
      <p:sp>
        <p:nvSpPr>
          <p:cNvPr id="6" name="">
            <a:extLst xmlns:a="http://schemas.openxmlformats.org/drawingml/2006/main">
              <a:ext uri="{FF2B5EF4-FFF2-40B4-BE49-F238E27FC236}">
                <a16:creationId xmlns:a16="http://schemas.microsoft.com/office/drawing/2014/main" id="{017B52FF-BFF6-467C-9EF6-9B32DF4E9C15}"/>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C-DCF-plant-managed   14 / 98</a:t>
            </a:r>
          </a:p>
        </p:txBody>
      </p:sp>
      <p:sp>
        <p:nvSpPr>
          <p:cNvPr id="7" name="">
            <a:extLst xmlns:a="http://schemas.openxmlformats.org/drawingml/2006/main">
              <a:ext uri="{FF2B5EF4-FFF2-40B4-BE49-F238E27FC236}">
                <a16:creationId xmlns:a16="http://schemas.microsoft.com/office/drawing/2014/main" id="{629553C5-F51C-4E63-8AAE-A7E4FCA9F854}"/>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c89e0bd6dc3c4fdd" action="ppaction://hlinksldjump"/>
              </a:rPr>
              <a:t>APPENDIX ↗</a:t>
            </a:r>
          </a:p>
        </p:txBody>
      </p:sp>
      <p:sp>
        <p:nvSpPr>
          <p:cNvPr id="8" name="">
            <a:extLst xmlns:a="http://schemas.openxmlformats.org/drawingml/2006/main">
              <a:ext uri="{FF2B5EF4-FFF2-40B4-BE49-F238E27FC236}">
                <a16:creationId xmlns:a16="http://schemas.microsoft.com/office/drawing/2014/main" id="{9855CA3C-EB98-4B9D-95F2-5BB0DCB652D7}"/>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0fbd247532c34e92"/>
              </a:rPr>
              <a:t>EVIDENCE ↗</a:t>
            </a:r>
          </a:p>
        </p:txBody>
      </p:sp>
    </p:spTree>
    <p:extLst>
      <p:ext uri="{BB962C8B-B14F-4D97-AF65-F5344CB8AC3E}">
        <p14:creationId xmlns:p14="http://schemas.microsoft.com/office/powerpoint/2010/main" val="1618570327"/>
      </p:ext>
    </p:extLst>
  </p:cSld>
</p:sld>
</file>

<file path=ppt/slides/slide15.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6C7E7F-D1C6-497D-A2F4-510108359DBC}"/>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15</a:t>
            </a:r>
          </a:p>
        </p:txBody>
      </p:sp>
      <p:sp>
        <p:nvSpPr>
          <p:cNvPr id="2" name="">
            <a:extLst xmlns:a="http://schemas.openxmlformats.org/drawingml/2006/main">
              <a:ext uri="{FF2B5EF4-FFF2-40B4-BE49-F238E27FC236}">
                <a16:creationId xmlns:a16="http://schemas.microsoft.com/office/drawing/2014/main" id="{EE65F103-9C4A-4771-A319-AAD560963B1D}"/>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Six coherent worlds alter both customers and the cash cycle</a:t>
            </a:r>
          </a:p>
        </p:txBody>
      </p:sp>
      <p:sp>
        <p:nvSpPr>
          <p:cNvPr id="3" name="">
            <a:extLst xmlns:a="http://schemas.openxmlformats.org/drawingml/2006/main">
              <a:ext uri="{FF2B5EF4-FFF2-40B4-BE49-F238E27FC236}">
                <a16:creationId xmlns:a16="http://schemas.microsoft.com/office/drawing/2014/main" id="{229D67AC-9236-4F03-AD2B-ADFDE50CC1C2}"/>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No calibrated probability is assigned to any complete 25-year path.</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4191000"/>
                <a:gridCol w="2190750"/>
                <a:gridCol w="2190750"/>
                <a:gridCol w="2400300"/>
              </a:tblGrid>
              <a:tr h="476250">
                <a:tc>
                  <a:txBody>
                    <a:bodyPr/>
                    <a:lstStyle/>
                    <a:p>
                      <a:r>
                        <a:rPr sz="1050" b="1">
                          <a:solidFill>
                            <a:srgbClr val="49624F"/>
                          </a:solidFill>
                          <a:latin typeface="DejaVu Sans"/>
                          <a:ea typeface="DejaVu Sans"/>
                          <a:cs typeface="DejaVu Sans"/>
                        </a:rPr>
                        <a:t>World</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Order factor</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Unit cost factor</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Cash-days / hurdle</a:t>
                      </a:r>
                    </a:p>
                  </a:txBody>
                  <a:tcPr marL="114300" marR="114300" marT="76200" marB="76200" anchor="t">
                    <a:solidFill>
                      <a:srgbClr val="E7EEE4"/>
                    </a:solidFill>
                  </a:tcPr>
                </a:tc>
              </a:tr>
              <a:tr h="476250">
                <a:tc>
                  <a:txBody>
                    <a:bodyPr/>
                    <a:lstStyle/>
                    <a:p>
                      <a:r>
                        <a:rPr sz="1200">
                          <a:solidFill>
                            <a:srgbClr val="183B2A"/>
                          </a:solidFill>
                          <a:latin typeface="DejaVu Sans"/>
                          <a:ea typeface="DejaVu Sans"/>
                          <a:cs typeface="DejaVu Sans"/>
                        </a:rPr>
                        <a:t>Managed transition</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 / 10%</a:t>
                      </a:r>
                    </a:p>
                  </a:txBody>
                  <a:tcPr marL="114300" marR="114300" marT="76200" marB="76200" anchor="t">
                    <a:solidFill>
                      <a:srgbClr val="FFFEF9"/>
                    </a:solidFill>
                  </a:tcPr>
                </a:tc>
              </a:tr>
              <a:tr h="476250">
                <a:tc>
                  <a:txBody>
                    <a:bodyPr/>
                    <a:lstStyle/>
                    <a:p>
                      <a:r>
                        <a:rPr sz="1200">
                          <a:solidFill>
                            <a:srgbClr val="183B2A"/>
                          </a:solidFill>
                          <a:latin typeface="DejaVu Sans"/>
                          <a:ea typeface="DejaVu Sans"/>
                          <a:cs typeface="DejaVu Sans"/>
                        </a:rPr>
                        <a:t>Productive integration</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1.12</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0.985</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-5 / 9%</a:t>
                      </a:r>
                    </a:p>
                  </a:txBody>
                  <a:tcPr marL="114300" marR="114300" marT="76200" marB="76200" anchor="t">
                    <a:solidFill>
                      <a:srgbClr val="FFFEF9"/>
                    </a:solidFill>
                  </a:tcPr>
                </a:tc>
              </a:tr>
              <a:tr h="476250">
                <a:tc>
                  <a:txBody>
                    <a:bodyPr/>
                    <a:lstStyle/>
                    <a:p>
                      <a:r>
                        <a:rPr sz="1200">
                          <a:solidFill>
                            <a:srgbClr val="183B2A"/>
                          </a:solidFill>
                          <a:latin typeface="DejaVu Sans"/>
                          <a:ea typeface="DejaVu Sans"/>
                          <a:cs typeface="DejaVu Sans"/>
                        </a:rPr>
                        <a:t>Fragmented trade</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0.9</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1.07</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+15 / 12%</a:t>
                      </a:r>
                    </a:p>
                  </a:txBody>
                  <a:tcPr marL="114300" marR="114300" marT="76200" marB="76200" anchor="t">
                    <a:solidFill>
                      <a:srgbClr val="FFFEF9"/>
                    </a:solidFill>
                  </a:tcPr>
                </a:tc>
              </a:tr>
              <a:tr h="476250">
                <a:tc>
                  <a:txBody>
                    <a:bodyPr/>
                    <a:lstStyle/>
                    <a:p>
                      <a:r>
                        <a:rPr sz="1200">
                          <a:solidFill>
                            <a:srgbClr val="183B2A"/>
                          </a:solidFill>
                          <a:latin typeface="DejaVu Sans"/>
                          <a:ea typeface="DejaVu Sans"/>
                          <a:cs typeface="DejaVu Sans"/>
                        </a:rPr>
                        <a:t>Compound physical stress</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0.82</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1.15</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+25 / 12%</a:t>
                      </a:r>
                    </a:p>
                  </a:txBody>
                  <a:tcPr marL="114300" marR="114300" marT="76200" marB="76200" anchor="t">
                    <a:solidFill>
                      <a:srgbClr val="FFFEF9"/>
                    </a:solidFill>
                  </a:tcPr>
                </a:tc>
              </a:tr>
              <a:tr h="476250">
                <a:tc>
                  <a:txBody>
                    <a:bodyPr/>
                    <a:lstStyle/>
                    <a:p>
                      <a:r>
                        <a:rPr sz="1200">
                          <a:solidFill>
                            <a:srgbClr val="183B2A"/>
                          </a:solidFill>
                          <a:latin typeface="DejaVu Sans"/>
                          <a:ea typeface="DejaVu Sans"/>
                          <a:cs typeface="DejaVu Sans"/>
                        </a:rPr>
                        <a:t>Affordability and debt squeeze</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0.82</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1.04</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+20 / 14%</a:t>
                      </a:r>
                    </a:p>
                  </a:txBody>
                  <a:tcPr marL="114300" marR="114300" marT="76200" marB="76200" anchor="t">
                    <a:solidFill>
                      <a:srgbClr val="FFFEF9"/>
                    </a:solidFill>
                  </a:tcPr>
                </a:tc>
              </a:tr>
              <a:tr h="476250">
                <a:tc>
                  <a:txBody>
                    <a:bodyPr/>
                    <a:lstStyle/>
                    <a:p>
                      <a:r>
                        <a:rPr sz="1200">
                          <a:solidFill>
                            <a:srgbClr val="183B2A"/>
                          </a:solidFill>
                          <a:latin typeface="DejaVu Sans"/>
                          <a:ea typeface="DejaVu Sans"/>
                          <a:cs typeface="DejaVu Sans"/>
                        </a:rPr>
                        <a:t>Nutrition and resource transition</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1.03</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1.02</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+5 / 10%</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1B0E7087-6C46-4954-82E3-8F2558CB13BA}"/>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PLANNING ASSUMPTION | CONDITIONAL / ILLUSTRATIVE   |   A_SCENARIO · A_RATE</a:t>
            </a:r>
          </a:p>
        </p:txBody>
      </p:sp>
      <p:sp>
        <p:nvSpPr>
          <p:cNvPr id="6" name="">
            <a:extLst xmlns:a="http://schemas.openxmlformats.org/drawingml/2006/main">
              <a:ext uri="{FF2B5EF4-FFF2-40B4-BE49-F238E27FC236}">
                <a16:creationId xmlns:a16="http://schemas.microsoft.com/office/drawing/2014/main" id="{45F6F93E-03A9-4411-B0D5-0B0CB292D91D}"/>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C-SCENARIOS   15 / 98</a:t>
            </a:r>
          </a:p>
        </p:txBody>
      </p:sp>
      <p:sp>
        <p:nvSpPr>
          <p:cNvPr id="7" name="">
            <a:extLst xmlns:a="http://schemas.openxmlformats.org/drawingml/2006/main">
              <a:ext uri="{FF2B5EF4-FFF2-40B4-BE49-F238E27FC236}">
                <a16:creationId xmlns:a16="http://schemas.microsoft.com/office/drawing/2014/main" id="{A6BB8CB2-3085-4848-862A-3B241A6D7E70}"/>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12908257f8234b1e" action="ppaction://hlinksldjump"/>
              </a:rPr>
              <a:t>APPENDIX ↗</a:t>
            </a:r>
          </a:p>
        </p:txBody>
      </p:sp>
      <p:sp>
        <p:nvSpPr>
          <p:cNvPr id="8" name="">
            <a:extLst xmlns:a="http://schemas.openxmlformats.org/drawingml/2006/main">
              <a:ext uri="{FF2B5EF4-FFF2-40B4-BE49-F238E27FC236}">
                <a16:creationId xmlns:a16="http://schemas.microsoft.com/office/drawing/2014/main" id="{DF0AB0D7-87E7-4C98-BDFC-62AED5CA0296}"/>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5b8a3bda47184ada"/>
              </a:rPr>
              <a:t>EVIDENCE ↗</a:t>
            </a:r>
          </a:p>
        </p:txBody>
      </p:sp>
    </p:spTree>
    <p:extLst>
      <p:ext uri="{BB962C8B-B14F-4D97-AF65-F5344CB8AC3E}">
        <p14:creationId xmlns:p14="http://schemas.microsoft.com/office/powerpoint/2010/main" val="1716777194"/>
      </p:ext>
    </p:extLst>
  </p:cSld>
</p:sld>
</file>

<file path=ppt/slides/slide16.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3EDDB97-B592-4B9D-AFB3-BF6A013D9FDE}"/>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16</a:t>
            </a:r>
          </a:p>
        </p:txBody>
      </p:sp>
      <p:sp>
        <p:nvSpPr>
          <p:cNvPr id="2" name="">
            <a:extLst xmlns:a="http://schemas.openxmlformats.org/drawingml/2006/main">
              <a:ext uri="{FF2B5EF4-FFF2-40B4-BE49-F238E27FC236}">
                <a16:creationId xmlns:a16="http://schemas.microsoft.com/office/drawing/2014/main" id="{D5E88E25-0379-46C9-831B-5F64AD954696}"/>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No fixed project survives every tested world without adaptation</a:t>
            </a:r>
          </a:p>
        </p:txBody>
      </p:sp>
      <p:sp>
        <p:nvSpPr>
          <p:cNvPr id="3" name="">
            <a:extLst xmlns:a="http://schemas.openxmlformats.org/drawingml/2006/main">
              <a:ext uri="{FF2B5EF4-FFF2-40B4-BE49-F238E27FC236}">
                <a16:creationId xmlns:a16="http://schemas.microsoft.com/office/drawing/2014/main" id="{F49C3499-620F-4544-85F5-0BF6681B1419}"/>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The financial model deliberately continues fixed commitments to expose failure.</a:t>
            </a:r>
          </a:p>
        </p:txBody>
      </p:sp>
      <p:graphicFrame>
        <p:nvGraphicFramePr>
          <p:cNvPr id="12" name="Chart"/>
          <p:cNvGraphicFramePr/>
          <p:nvPr/>
        </p:nvGraphicFramePr>
        <p:xfrm>
          <a:off xmlns:a="http://schemas.openxmlformats.org/drawingml/2006/main" x="609600" y="2600325"/>
          <a:ext xmlns:a="http://schemas.openxmlformats.org/drawingml/2006/main" cx="10972800" cy="3276600"/>
        </p:xfrm>
        <a:graphic xmlns:a="http://schemas.openxmlformats.org/drawingml/2006/main">
          <a:graphicData uri="http://schemas.openxmlformats.org/drawingml/2006/chart">
            <c:chart xmlns:r="http://schemas.openxmlformats.org/officeDocument/2006/relationships" xmlns:c="http://schemas.openxmlformats.org/drawingml/2006/chart" r:id="R84e5d34066a14e34"/>
          </a:graphicData>
        </a:graphic>
      </p:graphicFrame>
      <p:sp>
        <p:nvSpPr>
          <p:cNvPr id="5" name="">
            <a:extLst xmlns:a="http://schemas.openxmlformats.org/drawingml/2006/main">
              <a:ext uri="{FF2B5EF4-FFF2-40B4-BE49-F238E27FC236}">
                <a16:creationId xmlns:a16="http://schemas.microsoft.com/office/drawing/2014/main" id="{24425848-070A-4E23-B215-200CC3103F23}"/>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A_TEMPLATE · A_SCENARIO · A_RATE · A_CAPEX</a:t>
            </a:r>
          </a:p>
        </p:txBody>
      </p:sp>
      <p:sp>
        <p:nvSpPr>
          <p:cNvPr id="6" name="">
            <a:extLst xmlns:a="http://schemas.openxmlformats.org/drawingml/2006/main">
              <a:ext uri="{FF2B5EF4-FFF2-40B4-BE49-F238E27FC236}">
                <a16:creationId xmlns:a16="http://schemas.microsoft.com/office/drawing/2014/main" id="{C4052213-93CB-4F2A-B965-4C414DDBB25F}"/>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C-DCF   16 / 98</a:t>
            </a:r>
          </a:p>
        </p:txBody>
      </p:sp>
      <p:sp>
        <p:nvSpPr>
          <p:cNvPr id="7" name="">
            <a:extLst xmlns:a="http://schemas.openxmlformats.org/drawingml/2006/main">
              <a:ext uri="{FF2B5EF4-FFF2-40B4-BE49-F238E27FC236}">
                <a16:creationId xmlns:a16="http://schemas.microsoft.com/office/drawing/2014/main" id="{50133D47-E09D-4498-A99E-488A1876E90B}"/>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f58d06ab0ed04e92" action="ppaction://hlinksldjump"/>
              </a:rPr>
              <a:t>APPENDIX ↗</a:t>
            </a:r>
          </a:p>
        </p:txBody>
      </p:sp>
      <p:sp>
        <p:nvSpPr>
          <p:cNvPr id="8" name="">
            <a:extLst xmlns:a="http://schemas.openxmlformats.org/drawingml/2006/main">
              <a:ext uri="{FF2B5EF4-FFF2-40B4-BE49-F238E27FC236}">
                <a16:creationId xmlns:a16="http://schemas.microsoft.com/office/drawing/2014/main" id="{2EC11B6D-7F89-4A79-8024-9E4913FE63A7}"/>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60279978793242ac"/>
              </a:rPr>
              <a:t>EVIDENCE ↗</a:t>
            </a:r>
          </a:p>
        </p:txBody>
      </p:sp>
    </p:spTree>
    <p:extLst>
      <p:ext uri="{BB962C8B-B14F-4D97-AF65-F5344CB8AC3E}">
        <p14:creationId xmlns:p14="http://schemas.microsoft.com/office/powerpoint/2010/main" val="919106011"/>
      </p:ext>
    </p:extLst>
  </p:cSld>
</p:sld>
</file>

<file path=ppt/slides/slide17.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8BAE694-E896-41B8-B376-47CD2EF40B26}"/>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17</a:t>
            </a:r>
          </a:p>
        </p:txBody>
      </p:sp>
      <p:sp>
        <p:nvSpPr>
          <p:cNvPr id="2" name="">
            <a:extLst xmlns:a="http://schemas.openxmlformats.org/drawingml/2006/main">
              <a:ext uri="{FF2B5EF4-FFF2-40B4-BE49-F238E27FC236}">
                <a16:creationId xmlns:a16="http://schemas.microsoft.com/office/drawing/2014/main" id="{864DDD9D-A3C6-4224-B76D-B8CDF93E4E3D}"/>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An investment boundary is more useful than a point forecast</a:t>
            </a:r>
          </a:p>
        </p:txBody>
      </p:sp>
      <p:sp>
        <p:nvSpPr>
          <p:cNvPr id="3" name="">
            <a:extLst xmlns:a="http://schemas.openxmlformats.org/drawingml/2006/main">
              <a:ext uri="{FF2B5EF4-FFF2-40B4-BE49-F238E27FC236}">
                <a16:creationId xmlns:a16="http://schemas.microsoft.com/office/drawing/2014/main" id="{E133E4CA-8909-4C05-ABBA-3BEBD410E4EE}"/>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Test order thresholds and liquidity limits before expanding physical commitments.</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4095750"/>
                <a:gridCol w="3438525"/>
                <a:gridCol w="3438525"/>
              </a:tblGrid>
              <a:tr h="833438">
                <a:tc>
                  <a:txBody>
                    <a:bodyPr/>
                    <a:lstStyle/>
                    <a:p>
                      <a:r>
                        <a:rPr sz="1050" b="1">
                          <a:solidFill>
                            <a:srgbClr val="49624F"/>
                          </a:solidFill>
                          <a:latin typeface="DejaVu Sans"/>
                          <a:ea typeface="DejaVu Sans"/>
                          <a:cs typeface="DejaVu Sans"/>
                        </a:rPr>
                        <a:t>Managed template</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Operating break-even t</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Zero-NPV initial orders t</a:t>
                      </a:r>
                    </a:p>
                  </a:txBody>
                  <a:tcPr marL="114300" marR="114300" marT="76200" marB="76200" anchor="t">
                    <a:solidFill>
                      <a:srgbClr val="E7EEE4"/>
                    </a:solidFill>
                  </a:tcPr>
                </a:tc>
              </a:tr>
              <a:tr h="833438">
                <a:tc>
                  <a:txBody>
                    <a:bodyPr/>
                    <a:lstStyle/>
                    <a:p>
                      <a:r>
                        <a:rPr sz="1200">
                          <a:solidFill>
                            <a:srgbClr val="183B2A"/>
                          </a:solidFill>
                          <a:latin typeface="DejaVu Sans"/>
                          <a:ea typeface="DejaVu Sans"/>
                          <a:cs typeface="DejaVu Sans"/>
                        </a:rPr>
                        <a:t>Contracted trade</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31,250.00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89,195.83</a:t>
                      </a:r>
                    </a:p>
                  </a:txBody>
                  <a:tcPr marL="114300" marR="114300" marT="76200" marB="76200" anchor="t">
                    <a:solidFill>
                      <a:srgbClr val="FFFEF9"/>
                    </a:solidFill>
                  </a:tcPr>
                </a:tc>
              </a:tr>
              <a:tr h="833438">
                <a:tc>
                  <a:txBody>
                    <a:bodyPr/>
                    <a:lstStyle/>
                    <a:p>
                      <a:r>
                        <a:rPr sz="1200">
                          <a:solidFill>
                            <a:srgbClr val="183B2A"/>
                          </a:solidFill>
                          <a:latin typeface="DejaVu Sans"/>
                          <a:ea typeface="DejaVu Sans"/>
                          <a:cs typeface="DejaVu Sans"/>
                        </a:rPr>
                        <a:t>Partner processing</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25,000.00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62,437.79</a:t>
                      </a:r>
                    </a:p>
                  </a:txBody>
                  <a:tcPr marL="114300" marR="114300" marT="76200" marB="76200" anchor="t">
                    <a:solidFill>
                      <a:srgbClr val="FFFEF9"/>
                    </a:solidFill>
                  </a:tcPr>
                </a:tc>
              </a:tr>
              <a:tr h="833438">
                <a:tc>
                  <a:txBody>
                    <a:bodyPr/>
                    <a:lstStyle/>
                    <a:p>
                      <a:r>
                        <a:rPr sz="1200">
                          <a:solidFill>
                            <a:srgbClr val="183B2A"/>
                          </a:solidFill>
                          <a:latin typeface="DejaVu Sans"/>
                          <a:ea typeface="DejaVu Sans"/>
                          <a:cs typeface="DejaVu Sans"/>
                        </a:rPr>
                        <a:t>Owned processing</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33,333.33</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104,862.13</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7D68EC16-E7E7-4B08-8DA6-9F38D78B9704}"/>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CONDITIONAL / ILLUSTRATIVE   |   A_TEMPLATE · A_RATE</a:t>
            </a:r>
          </a:p>
        </p:txBody>
      </p:sp>
      <p:sp>
        <p:nvSpPr>
          <p:cNvPr id="6" name="">
            <a:extLst xmlns:a="http://schemas.openxmlformats.org/drawingml/2006/main">
              <a:ext uri="{FF2B5EF4-FFF2-40B4-BE49-F238E27FC236}">
                <a16:creationId xmlns:a16="http://schemas.microsoft.com/office/drawing/2014/main" id="{F421F440-156B-45C5-BBCB-D22A34A8CAE9}"/>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C-THRESHOLD   17 / 98</a:t>
            </a:r>
          </a:p>
        </p:txBody>
      </p:sp>
      <p:sp>
        <p:nvSpPr>
          <p:cNvPr id="7" name="">
            <a:extLst xmlns:a="http://schemas.openxmlformats.org/drawingml/2006/main">
              <a:ext uri="{FF2B5EF4-FFF2-40B4-BE49-F238E27FC236}">
                <a16:creationId xmlns:a16="http://schemas.microsoft.com/office/drawing/2014/main" id="{B9D5304D-B4B8-488A-BF2F-B2472A6BFCD1}"/>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4fbb79b7da814624" action="ppaction://hlinksldjump"/>
              </a:rPr>
              <a:t>APPENDIX ↗</a:t>
            </a:r>
          </a:p>
        </p:txBody>
      </p:sp>
      <p:sp>
        <p:nvSpPr>
          <p:cNvPr id="8" name="">
            <a:extLst xmlns:a="http://schemas.openxmlformats.org/drawingml/2006/main">
              <a:ext uri="{FF2B5EF4-FFF2-40B4-BE49-F238E27FC236}">
                <a16:creationId xmlns:a16="http://schemas.microsoft.com/office/drawing/2014/main" id="{E9EED2B4-BDEF-4F41-9E02-03179042C384}"/>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ee958954c2834ead"/>
              </a:rPr>
              <a:t>EVIDENCE ↗</a:t>
            </a:r>
          </a:p>
        </p:txBody>
      </p:sp>
    </p:spTree>
    <p:extLst>
      <p:ext uri="{BB962C8B-B14F-4D97-AF65-F5344CB8AC3E}">
        <p14:creationId xmlns:p14="http://schemas.microsoft.com/office/powerpoint/2010/main" val="1283702798"/>
      </p:ext>
    </p:extLst>
  </p:cSld>
</p:sld>
</file>

<file path=ppt/slides/slide18.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F3B7B24-07B5-4154-B580-5A6D6600E4E5}"/>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18</a:t>
            </a:r>
          </a:p>
        </p:txBody>
      </p:sp>
      <p:sp>
        <p:nvSpPr>
          <p:cNvPr id="2" name="">
            <a:extLst xmlns:a="http://schemas.openxmlformats.org/drawingml/2006/main">
              <a:ext uri="{FF2B5EF4-FFF2-40B4-BE49-F238E27FC236}">
                <a16:creationId xmlns:a16="http://schemas.microsoft.com/office/drawing/2014/main" id="{2B220904-4AE8-4EA1-B722-2D98332075B5}"/>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India/Vietnam-to-Africa rice warrants a contracted-lot test</a:t>
            </a:r>
          </a:p>
        </p:txBody>
      </p:sp>
      <p:sp>
        <p:nvSpPr>
          <p:cNvPr id="3" name="">
            <a:extLst xmlns:a="http://schemas.openxmlformats.org/drawingml/2006/main">
              <a:ext uri="{FF2B5EF4-FFF2-40B4-BE49-F238E27FC236}">
                <a16:creationId xmlns:a16="http://schemas.microsoft.com/office/drawing/2014/main" id="{E28D9B2D-876A-4F1D-B44E-0EA4298A2418}"/>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Company financing disclosure supports a corridor, not its incremental returns.</a:t>
            </a:r>
          </a:p>
        </p:txBody>
      </p:sp>
      <p:sp>
        <p:nvSpPr>
          <p:cNvPr id="4" name="">
            <a:extLst xmlns:a="http://schemas.openxmlformats.org/drawingml/2006/main">
              <a:ext uri="{FF2B5EF4-FFF2-40B4-BE49-F238E27FC236}">
                <a16:creationId xmlns:a16="http://schemas.microsoft.com/office/drawing/2014/main" id="{A2E02C95-4A15-4C25-892C-679C7EF55104}"/>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Annual report describes USD100 m seven-year FMO financing associated with rice flows from India, Thailand and Vietnam to Africa.</a:t>
            </a:r>
          </a:p>
        </p:txBody>
      </p:sp>
      <p:sp>
        <p:nvSpPr>
          <p:cNvPr id="5" name="">
            <a:extLst xmlns:a="http://schemas.openxmlformats.org/drawingml/2006/main">
              <a:ext uri="{FF2B5EF4-FFF2-40B4-BE49-F238E27FC236}">
                <a16:creationId xmlns:a16="http://schemas.microsoft.com/office/drawing/2014/main" id="{C5D605D8-9B54-4B0E-A452-92764965D725}"/>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Choose a destination only after offtake, freight, quality, HS rules and payment are documented.</a:t>
            </a:r>
          </a:p>
        </p:txBody>
      </p:sp>
      <p:sp>
        <p:nvSpPr>
          <p:cNvPr id="6" name="">
            <a:extLst xmlns:a="http://schemas.openxmlformats.org/drawingml/2006/main">
              <a:ext uri="{FF2B5EF4-FFF2-40B4-BE49-F238E27FC236}">
                <a16:creationId xmlns:a16="http://schemas.microsoft.com/office/drawing/2014/main" id="{DE4F8D06-8615-4B9C-9D1D-629F5CCDCDE2}"/>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Compare delivered cash through a small contracted lot; map origin and destination common exposures.</a:t>
            </a:r>
          </a:p>
        </p:txBody>
      </p:sp>
      <p:sp>
        <p:nvSpPr>
          <p:cNvPr id="7" name="">
            <a:extLst xmlns:a="http://schemas.openxmlformats.org/drawingml/2006/main">
              <a:ext uri="{FF2B5EF4-FFF2-40B4-BE49-F238E27FC236}">
                <a16:creationId xmlns:a16="http://schemas.microsoft.com/office/drawing/2014/main" id="{8DBC5629-5E48-420C-B7B2-B07A602C887C}"/>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SOURCE CO_AR · CO_IND · CO_VNM   |   A_PILOT</a:t>
            </a:r>
          </a:p>
        </p:txBody>
      </p:sp>
      <p:sp>
        <p:nvSpPr>
          <p:cNvPr id="8" name="">
            <a:extLst xmlns:a="http://schemas.openxmlformats.org/drawingml/2006/main">
              <a:ext uri="{FF2B5EF4-FFF2-40B4-BE49-F238E27FC236}">
                <a16:creationId xmlns:a16="http://schemas.microsoft.com/office/drawing/2014/main" id="{C6CF6CCC-1582-4306-BF6D-BECFB6CD4DA3}"/>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18 / 98</a:t>
            </a:r>
          </a:p>
        </p:txBody>
      </p:sp>
      <p:sp>
        <p:nvSpPr>
          <p:cNvPr id="9" name="">
            <a:extLst xmlns:a="http://schemas.openxmlformats.org/drawingml/2006/main">
              <a:ext uri="{FF2B5EF4-FFF2-40B4-BE49-F238E27FC236}">
                <a16:creationId xmlns:a16="http://schemas.microsoft.com/office/drawing/2014/main" id="{9F2D2497-508A-47C5-AAD9-DCEB6117D7B7}"/>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7c243c63f8554156" action="ppaction://hlinksldjump"/>
              </a:rPr>
              <a:t>APPENDIX ↗</a:t>
            </a:r>
          </a:p>
        </p:txBody>
      </p:sp>
      <p:sp>
        <p:nvSpPr>
          <p:cNvPr id="10" name="">
            <a:extLst xmlns:a="http://schemas.openxmlformats.org/drawingml/2006/main">
              <a:ext uri="{FF2B5EF4-FFF2-40B4-BE49-F238E27FC236}">
                <a16:creationId xmlns:a16="http://schemas.microsoft.com/office/drawing/2014/main" id="{6BFB17F6-B03A-4197-ACF2-C8C0F11CCC6C}"/>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4a4a189686034cb7"/>
              </a:rPr>
              <a:t>EVIDENCE ↗</a:t>
            </a:r>
          </a:p>
        </p:txBody>
      </p:sp>
    </p:spTree>
    <p:extLst>
      <p:ext uri="{BB962C8B-B14F-4D97-AF65-F5344CB8AC3E}">
        <p14:creationId xmlns:p14="http://schemas.microsoft.com/office/powerpoint/2010/main" val="928605081"/>
      </p:ext>
    </p:extLst>
  </p:cSld>
</p:sld>
</file>

<file path=ppt/slides/slide19.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69604B8-F112-4E0A-916D-8BAF579BE19C}"/>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19</a:t>
            </a:r>
          </a:p>
        </p:txBody>
      </p:sp>
      <p:sp>
        <p:nvSpPr>
          <p:cNvPr id="2" name="">
            <a:extLst xmlns:a="http://schemas.openxmlformats.org/drawingml/2006/main">
              <a:ext uri="{FF2B5EF4-FFF2-40B4-BE49-F238E27FC236}">
                <a16:creationId xmlns:a16="http://schemas.microsoft.com/office/drawing/2014/main" id="{273F119C-FC11-48D3-83B8-73676B87EE6E}"/>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Saudi offtake and Brazil origination require different proof</a:t>
            </a:r>
          </a:p>
        </p:txBody>
      </p:sp>
      <p:sp>
        <p:nvSpPr>
          <p:cNvPr id="3" name="">
            <a:extLst xmlns:a="http://schemas.openxmlformats.org/drawingml/2006/main">
              <a:ext uri="{FF2B5EF4-FFF2-40B4-BE49-F238E27FC236}">
                <a16:creationId xmlns:a16="http://schemas.microsoft.com/office/drawing/2014/main" id="{6AC61DC2-7527-4D81-AC4C-A1EBA05ACD10}"/>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SALIC control offers strategic alignment; it does not create guaranteed sales.</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4095750"/>
                <a:gridCol w="3438525"/>
                <a:gridCol w="3438525"/>
              </a:tblGrid>
              <a:tr h="833438">
                <a:tc>
                  <a:txBody>
                    <a:bodyPr/>
                    <a:lstStyle/>
                    <a:p>
                      <a:r>
                        <a:rPr sz="1050" b="1">
                          <a:solidFill>
                            <a:srgbClr val="49624F"/>
                          </a:solidFill>
                          <a:latin typeface="DejaVu Sans"/>
                          <a:ea typeface="DejaVu Sans"/>
                          <a:cs typeface="DejaVu Sans"/>
                        </a:rPr>
                        <a:t>Case</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Why examine it</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What prevents approval</a:t>
                      </a:r>
                    </a:p>
                  </a:txBody>
                  <a:tcPr marL="114300" marR="114300" marT="76200" marB="76200" anchor="t">
                    <a:solidFill>
                      <a:srgbClr val="E7EEE4"/>
                    </a:solidFill>
                  </a:tcPr>
                </a:tc>
              </a:tr>
              <a:tr h="833438">
                <a:tc>
                  <a:txBody>
                    <a:bodyPr/>
                    <a:lstStyle/>
                    <a:p>
                      <a:r>
                        <a:rPr sz="1200">
                          <a:solidFill>
                            <a:srgbClr val="183B2A"/>
                          </a:solidFill>
                          <a:latin typeface="DejaVu Sans"/>
                          <a:ea typeface="DejaVu Sans"/>
                          <a:cs typeface="DejaVu Sans"/>
                        </a:rPr>
                        <a:t>Saudi Arabia</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Disclosed location and strategic shareholder</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No verified incremental bankable order</a:t>
                      </a:r>
                    </a:p>
                  </a:txBody>
                  <a:tcPr marL="114300" marR="114300" marT="76200" marB="76200" anchor="t">
                    <a:solidFill>
                      <a:srgbClr val="FFFEF9"/>
                    </a:solidFill>
                  </a:tcPr>
                </a:tc>
              </a:tr>
              <a:tr h="833438">
                <a:tc>
                  <a:txBody>
                    <a:bodyPr/>
                    <a:lstStyle/>
                    <a:p>
                      <a:r>
                        <a:rPr sz="1200">
                          <a:solidFill>
                            <a:srgbClr val="183B2A"/>
                          </a:solidFill>
                          <a:latin typeface="DejaVu Sans"/>
                          <a:ea typeface="DejaVu Sans"/>
                          <a:cs typeface="DejaVu Sans"/>
                        </a:rPr>
                        <a:t>Brazil</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Disclosed grain/oilseed origin/export capability</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No verified buyer spread, supplier/basin or port risk</a:t>
                      </a:r>
                    </a:p>
                  </a:txBody>
                  <a:tcPr marL="114300" marR="114300" marT="76200" marB="76200" anchor="t">
                    <a:solidFill>
                      <a:srgbClr val="FFFEF9"/>
                    </a:solidFill>
                  </a:tcPr>
                </a:tc>
              </a:tr>
              <a:tr h="833438">
                <a:tc>
                  <a:txBody>
                    <a:bodyPr/>
                    <a:lstStyle/>
                    <a:p>
                      <a:r>
                        <a:rPr sz="1200">
                          <a:solidFill>
                            <a:srgbClr val="183B2A"/>
                          </a:solidFill>
                          <a:latin typeface="DejaVu Sans"/>
                          <a:ea typeface="DejaVu Sans"/>
                          <a:cs typeface="DejaVu Sans"/>
                        </a:rPr>
                        <a:t>Ownership</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81.81% SALIC; 18.19% Olam Group after CFG</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About page lower 81.11% conflict recorded</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CD0E5E8E-0E38-4F78-8D00-C56CF410A724}"/>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SOURCE CO_FACT · CO_OWN · CO_ABOUT · CO_BRA</a:t>
            </a:r>
          </a:p>
        </p:txBody>
      </p:sp>
      <p:sp>
        <p:nvSpPr>
          <p:cNvPr id="6" name="">
            <a:extLst xmlns:a="http://schemas.openxmlformats.org/drawingml/2006/main">
              <a:ext uri="{FF2B5EF4-FFF2-40B4-BE49-F238E27FC236}">
                <a16:creationId xmlns:a16="http://schemas.microsoft.com/office/drawing/2014/main" id="{9BC55F04-45AC-43FE-9D92-7798177342E3}"/>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19 / 98</a:t>
            </a:r>
          </a:p>
        </p:txBody>
      </p:sp>
      <p:sp>
        <p:nvSpPr>
          <p:cNvPr id="7" name="">
            <a:extLst xmlns:a="http://schemas.openxmlformats.org/drawingml/2006/main">
              <a:ext uri="{FF2B5EF4-FFF2-40B4-BE49-F238E27FC236}">
                <a16:creationId xmlns:a16="http://schemas.microsoft.com/office/drawing/2014/main" id="{902BE497-D436-4E33-98FE-7FACD5E2E010}"/>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8b9e7ac4000a46ce" action="ppaction://hlinksldjump"/>
              </a:rPr>
              <a:t>APPENDIX ↗</a:t>
            </a:r>
          </a:p>
        </p:txBody>
      </p:sp>
      <p:sp>
        <p:nvSpPr>
          <p:cNvPr id="8" name="">
            <a:extLst xmlns:a="http://schemas.openxmlformats.org/drawingml/2006/main">
              <a:ext uri="{FF2B5EF4-FFF2-40B4-BE49-F238E27FC236}">
                <a16:creationId xmlns:a16="http://schemas.microsoft.com/office/drawing/2014/main" id="{72D69E6C-62EA-47C8-8A06-C046F7A2DBB9}"/>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b77ea9256f7b44a1"/>
              </a:rPr>
              <a:t>EVIDENCE ↗</a:t>
            </a:r>
          </a:p>
        </p:txBody>
      </p:sp>
    </p:spTree>
    <p:extLst>
      <p:ext uri="{BB962C8B-B14F-4D97-AF65-F5344CB8AC3E}">
        <p14:creationId xmlns:p14="http://schemas.microsoft.com/office/powerpoint/2010/main" val="144157926"/>
      </p:ext>
    </p:extLst>
  </p:cSld>
</p:sld>
</file>

<file path=ppt/slides/slide20.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32C481-8992-47D5-906E-2D0FF74CFEA7}"/>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20</a:t>
            </a:r>
          </a:p>
        </p:txBody>
      </p:sp>
      <p:sp>
        <p:nvSpPr>
          <p:cNvPr id="2" name="">
            <a:extLst xmlns:a="http://schemas.openxmlformats.org/drawingml/2006/main">
              <a:ext uri="{FF2B5EF4-FFF2-40B4-BE49-F238E27FC236}">
                <a16:creationId xmlns:a16="http://schemas.microsoft.com/office/drawing/2014/main" id="{ACDE9AA0-24AD-4E35-BD41-AC80B317F8DC}"/>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The inherited Nigeria capital screen stays on hold</a:t>
            </a:r>
          </a:p>
        </p:txBody>
      </p:sp>
      <p:sp>
        <p:nvSpPr>
          <p:cNvPr id="3" name="">
            <a:extLst xmlns:a="http://schemas.openxmlformats.org/drawingml/2006/main">
              <a:ext uri="{FF2B5EF4-FFF2-40B4-BE49-F238E27FC236}">
                <a16:creationId xmlns:a16="http://schemas.microsoft.com/office/drawing/2014/main" id="{06585C95-AFAA-422C-9E68-6670C409B56C}"/>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NGN0.47bn annual uplift does not fund NGN4.2bn initial capital at the chosen hurdle.</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3429000"/>
                <a:gridCol w="7543800"/>
              </a:tblGrid>
              <a:tr h="476250">
                <a:tc>
                  <a:txBody>
                    <a:bodyPr/>
                    <a:lstStyle/>
                    <a:p>
                      <a:r>
                        <a:rPr sz="1050" b="1">
                          <a:solidFill>
                            <a:srgbClr val="49624F"/>
                          </a:solidFill>
                          <a:latin typeface="DejaVu Sans"/>
                          <a:ea typeface="DejaVu Sans"/>
                          <a:cs typeface="DejaVu Sans"/>
                        </a:rPr>
                        <a:t>Inherited screening assumption / result</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NGN billion</a:t>
                      </a:r>
                    </a:p>
                  </a:txBody>
                  <a:tcPr marL="114300" marR="114300" marT="76200" marB="76200" anchor="t">
                    <a:solidFill>
                      <a:srgbClr val="E7EEE4"/>
                    </a:solidFill>
                  </a:tcPr>
                </a:tc>
              </a:tr>
              <a:tr h="476250">
                <a:tc>
                  <a:txBody>
                    <a:bodyPr/>
                    <a:lstStyle/>
                    <a:p>
                      <a:r>
                        <a:rPr sz="1275">
                          <a:solidFill>
                            <a:srgbClr val="183B2A"/>
                          </a:solidFill>
                          <a:latin typeface="DejaVu Sans"/>
                          <a:ea typeface="DejaVu Sans"/>
                          <a:cs typeface="DejaVu Sans"/>
                        </a:rPr>
                        <a:t>Sales base / contribution margin</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100 / 8%</a:t>
                      </a:r>
                    </a:p>
                  </a:txBody>
                  <a:tcPr marL="114300" marR="114300" marT="76200" marB="76200" anchor="t">
                    <a:solidFill>
                      <a:srgbClr val="FFFEF9"/>
                    </a:solidFill>
                  </a:tcPr>
                </a:tc>
              </a:tr>
              <a:tr h="476250">
                <a:tc>
                  <a:txBody>
                    <a:bodyPr/>
                    <a:lstStyle/>
                    <a:p>
                      <a:r>
                        <a:rPr sz="1275">
                          <a:solidFill>
                            <a:srgbClr val="183B2A"/>
                          </a:solidFill>
                          <a:latin typeface="DejaVu Sans"/>
                          <a:ea typeface="DejaVu Sans"/>
                          <a:cs typeface="DejaVu Sans"/>
                        </a:rPr>
                        <a:t>Net annual uplift after chosen leakage</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0.470</a:t>
                      </a:r>
                    </a:p>
                  </a:txBody>
                  <a:tcPr marL="114300" marR="114300" marT="76200" marB="76200" anchor="t">
                    <a:solidFill>
                      <a:srgbClr val="FFFEF9"/>
                    </a:solidFill>
                  </a:tcPr>
                </a:tc>
              </a:tr>
              <a:tr h="476250">
                <a:tc>
                  <a:txBody>
                    <a:bodyPr/>
                    <a:lstStyle/>
                    <a:p>
                      <a:r>
                        <a:rPr sz="1275">
                          <a:solidFill>
                            <a:srgbClr val="183B2A"/>
                          </a:solidFill>
                          <a:latin typeface="DejaVu Sans"/>
                          <a:ea typeface="DejaVu Sans"/>
                          <a:cs typeface="DejaVu Sans"/>
                        </a:rPr>
                        <a:t>One-time 7 sales-day proxy release</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1.918</a:t>
                      </a:r>
                    </a:p>
                  </a:txBody>
                  <a:tcPr marL="114300" marR="114300" marT="76200" marB="76200" anchor="t">
                    <a:solidFill>
                      <a:srgbClr val="FFFEF9"/>
                    </a:solidFill>
                  </a:tcPr>
                </a:tc>
              </a:tr>
              <a:tr h="476250">
                <a:tc>
                  <a:txBody>
                    <a:bodyPr/>
                    <a:lstStyle/>
                    <a:p>
                      <a:r>
                        <a:rPr sz="1275">
                          <a:solidFill>
                            <a:srgbClr val="183B2A"/>
                          </a:solidFill>
                          <a:latin typeface="DejaVu Sans"/>
                          <a:ea typeface="DejaVu Sans"/>
                          <a:cs typeface="DejaVu Sans"/>
                        </a:rPr>
                        <a:t>Capital envelope</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4.200</a:t>
                      </a:r>
                    </a:p>
                  </a:txBody>
                  <a:tcPr marL="114300" marR="114300" marT="76200" marB="76200" anchor="t">
                    <a:solidFill>
                      <a:srgbClr val="FFFEF9"/>
                    </a:solidFill>
                  </a:tcPr>
                </a:tc>
              </a:tr>
              <a:tr h="476250">
                <a:tc>
                  <a:txBody>
                    <a:bodyPr/>
                    <a:lstStyle/>
                    <a:p>
                      <a:r>
                        <a:rPr sz="1275">
                          <a:solidFill>
                            <a:srgbClr val="183B2A"/>
                          </a:solidFill>
                          <a:latin typeface="DejaVu Sans"/>
                          <a:ea typeface="DejaVu Sans"/>
                          <a:cs typeface="DejaVu Sans"/>
                        </a:rPr>
                        <a:t>Three-year NPV at 28%</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−2.065</a:t>
                      </a:r>
                    </a:p>
                  </a:txBody>
                  <a:tcPr marL="114300" marR="114300" marT="76200" marB="76200" anchor="t">
                    <a:solidFill>
                      <a:srgbClr val="FFFEF9"/>
                    </a:solidFill>
                  </a:tcPr>
                </a:tc>
              </a:tr>
              <a:tr h="476250">
                <a:tc>
                  <a:txBody>
                    <a:bodyPr/>
                    <a:lstStyle/>
                    <a:p>
                      <a:r>
                        <a:rPr sz="1275">
                          <a:solidFill>
                            <a:srgbClr val="183B2A"/>
                          </a:solidFill>
                          <a:latin typeface="DejaVu Sans"/>
                          <a:ea typeface="DejaVu Sans"/>
                          <a:cs typeface="DejaVu Sans"/>
                        </a:rPr>
                        <a:t>Zero-NPV annual uplift</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1.993</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8CE8F66F-43AE-4211-A93B-EACA23B987F5}"/>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SOURCE BASELINE · CO_NGA · USDA_OIL   |   A_LEGACY</a:t>
            </a:r>
          </a:p>
        </p:txBody>
      </p:sp>
      <p:sp>
        <p:nvSpPr>
          <p:cNvPr id="6" name="">
            <a:extLst xmlns:a="http://schemas.openxmlformats.org/drawingml/2006/main">
              <a:ext uri="{FF2B5EF4-FFF2-40B4-BE49-F238E27FC236}">
                <a16:creationId xmlns:a16="http://schemas.microsoft.com/office/drawing/2014/main" id="{2504D5F7-D35F-4AA2-80D4-E110402482AE}"/>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C-LEGACY · C-E10   20 / 98</a:t>
            </a:r>
          </a:p>
        </p:txBody>
      </p:sp>
      <p:sp>
        <p:nvSpPr>
          <p:cNvPr id="7" name="">
            <a:extLst xmlns:a="http://schemas.openxmlformats.org/drawingml/2006/main">
              <a:ext uri="{FF2B5EF4-FFF2-40B4-BE49-F238E27FC236}">
                <a16:creationId xmlns:a16="http://schemas.microsoft.com/office/drawing/2014/main" id="{A3356A44-C605-424F-9BC6-496CD0365507}"/>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4d5d880d097f45b1" action="ppaction://hlinksldjump"/>
              </a:rPr>
              <a:t>APPENDIX ↗</a:t>
            </a:r>
          </a:p>
        </p:txBody>
      </p:sp>
      <p:sp>
        <p:nvSpPr>
          <p:cNvPr id="8" name="">
            <a:extLst xmlns:a="http://schemas.openxmlformats.org/drawingml/2006/main">
              <a:ext uri="{FF2B5EF4-FFF2-40B4-BE49-F238E27FC236}">
                <a16:creationId xmlns:a16="http://schemas.microsoft.com/office/drawing/2014/main" id="{5635200B-580A-46A0-B779-3DBA80AA7617}"/>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cf004933c3d04415"/>
              </a:rPr>
              <a:t>EVIDENCE ↗</a:t>
            </a:r>
          </a:p>
        </p:txBody>
      </p:sp>
    </p:spTree>
    <p:extLst>
      <p:ext uri="{BB962C8B-B14F-4D97-AF65-F5344CB8AC3E}">
        <p14:creationId xmlns:p14="http://schemas.microsoft.com/office/powerpoint/2010/main" val="1993735825"/>
      </p:ext>
    </p:extLst>
  </p:cSld>
</p:sld>
</file>

<file path=ppt/slides/slide21.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870074C-6E27-45C7-840D-55959E0135DF}"/>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21</a:t>
            </a:r>
          </a:p>
        </p:txBody>
      </p:sp>
      <p:sp>
        <p:nvSpPr>
          <p:cNvPr id="2" name="">
            <a:extLst xmlns:a="http://schemas.openxmlformats.org/drawingml/2006/main">
              <a:ext uri="{FF2B5EF4-FFF2-40B4-BE49-F238E27FC236}">
                <a16:creationId xmlns:a16="http://schemas.microsoft.com/office/drawing/2014/main" id="{F389AC6E-1A5A-4CEF-96CB-14B96C5E7B60}"/>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Customer value must turn into paid, profitable repeat</a:t>
            </a:r>
          </a:p>
        </p:txBody>
      </p:sp>
      <p:sp>
        <p:nvSpPr>
          <p:cNvPr id="3" name="">
            <a:extLst xmlns:a="http://schemas.openxmlformats.org/drawingml/2006/main">
              <a:ext uri="{FF2B5EF4-FFF2-40B4-BE49-F238E27FC236}">
                <a16:creationId xmlns:a16="http://schemas.microsoft.com/office/drawing/2014/main" id="{9B46ABFB-2587-4D22-90BE-365293F5DACD}"/>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A lower cost per usable output can justify price only if cash and trust permit adoption.</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4095750"/>
                <a:gridCol w="3438525"/>
                <a:gridCol w="3438525"/>
              </a:tblGrid>
              <a:tr h="666750">
                <a:tc>
                  <a:txBody>
                    <a:bodyPr/>
                    <a:lstStyle/>
                    <a:p>
                      <a:r>
                        <a:rPr sz="1050" b="1">
                          <a:solidFill>
                            <a:srgbClr val="49624F"/>
                          </a:solidFill>
                          <a:latin typeface="DejaVu Sans"/>
                          <a:ea typeface="DejaVu Sans"/>
                          <a:cs typeface="DejaVu Sans"/>
                        </a:rPr>
                        <a:t>Illustrative flour offer</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A</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B</a:t>
                      </a:r>
                    </a:p>
                  </a:txBody>
                  <a:tcPr marL="114300" marR="114300" marT="76200" marB="76200" anchor="t">
                    <a:solidFill>
                      <a:srgbClr val="E7EEE4"/>
                    </a:solidFill>
                  </a:tcPr>
                </a:tc>
              </a:tr>
              <a:tr h="666750">
                <a:tc>
                  <a:txBody>
                    <a:bodyPr/>
                    <a:lstStyle/>
                    <a:p>
                      <a:r>
                        <a:rPr sz="1200">
                          <a:solidFill>
                            <a:srgbClr val="183B2A"/>
                          </a:solidFill>
                          <a:latin typeface="DejaVu Sans"/>
                          <a:ea typeface="DejaVu Sans"/>
                          <a:cs typeface="DejaVu Sans"/>
                        </a:rPr>
                        <a:t>Bag price + preparation cost</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$30 + $5</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$32 + $4</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Usable output, kg</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45</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48</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Cost per usable kg</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$0.778</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$0.750</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B advantage</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3.57% lower output cost</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FBD05713-AC06-45CA-9D6E-99EDBBCF0665}"/>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CONDITIONAL / ILLUSTRATIVE   |   A_EXAMPLE · A_PILOT</a:t>
            </a:r>
          </a:p>
        </p:txBody>
      </p:sp>
      <p:sp>
        <p:nvSpPr>
          <p:cNvPr id="6" name="">
            <a:extLst xmlns:a="http://schemas.openxmlformats.org/drawingml/2006/main">
              <a:ext uri="{FF2B5EF4-FFF2-40B4-BE49-F238E27FC236}">
                <a16:creationId xmlns:a16="http://schemas.microsoft.com/office/drawing/2014/main" id="{8E2D61D4-9A53-43F8-B2B0-62AACD437CDD}"/>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C-E05   21 / 98</a:t>
            </a:r>
          </a:p>
        </p:txBody>
      </p:sp>
      <p:sp>
        <p:nvSpPr>
          <p:cNvPr id="7" name="">
            <a:extLst xmlns:a="http://schemas.openxmlformats.org/drawingml/2006/main">
              <a:ext uri="{FF2B5EF4-FFF2-40B4-BE49-F238E27FC236}">
                <a16:creationId xmlns:a16="http://schemas.microsoft.com/office/drawing/2014/main" id="{930E16D7-0E09-4E47-9612-3FB327C70456}"/>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59dd0d17e62d4ece" action="ppaction://hlinksldjump"/>
              </a:rPr>
              <a:t>APPENDIX ↗</a:t>
            </a:r>
          </a:p>
        </p:txBody>
      </p:sp>
      <p:sp>
        <p:nvSpPr>
          <p:cNvPr id="8" name="">
            <a:extLst xmlns:a="http://schemas.openxmlformats.org/drawingml/2006/main">
              <a:ext uri="{FF2B5EF4-FFF2-40B4-BE49-F238E27FC236}">
                <a16:creationId xmlns:a16="http://schemas.microsoft.com/office/drawing/2014/main" id="{A177A05D-F076-47F9-9E26-C399BB8FBB9A}"/>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7867e4c03e1c46ef"/>
              </a:rPr>
              <a:t>EVIDENCE ↗</a:t>
            </a:r>
          </a:p>
        </p:txBody>
      </p:sp>
    </p:spTree>
    <p:extLst>
      <p:ext uri="{BB962C8B-B14F-4D97-AF65-F5344CB8AC3E}">
        <p14:creationId xmlns:p14="http://schemas.microsoft.com/office/powerpoint/2010/main" val="2050358279"/>
      </p:ext>
    </p:extLst>
  </p:cSld>
</p:sld>
</file>

<file path=ppt/slides/slide22.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B6BF6B5-6A91-4925-87AF-252BFF0FDAF9}"/>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22</a:t>
            </a:r>
          </a:p>
        </p:txBody>
      </p:sp>
      <p:sp>
        <p:nvSpPr>
          <p:cNvPr id="2" name="">
            <a:extLst xmlns:a="http://schemas.openxmlformats.org/drawingml/2006/main">
              <a:ext uri="{FF2B5EF4-FFF2-40B4-BE49-F238E27FC236}">
                <a16:creationId xmlns:a16="http://schemas.microsoft.com/office/drawing/2014/main" id="{5E9F5B9B-F7B0-40EA-A46A-0BCAB95E48D3}"/>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Small packs solve a cash ticket, not necessarily unit value</a:t>
            </a:r>
          </a:p>
        </p:txBody>
      </p:sp>
      <p:sp>
        <p:nvSpPr>
          <p:cNvPr id="3" name="">
            <a:extLst xmlns:a="http://schemas.openxmlformats.org/drawingml/2006/main">
              <a:ext uri="{FF2B5EF4-FFF2-40B4-BE49-F238E27FC236}">
                <a16:creationId xmlns:a16="http://schemas.microsoft.com/office/drawing/2014/main" id="{78401FE8-14DB-4380-A611-F74FC843981B}"/>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Test price, usable yield, availability and channel economics as separate mechanisms.</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4095750"/>
                <a:gridCol w="3438525"/>
                <a:gridCol w="3438525"/>
              </a:tblGrid>
              <a:tr h="666750">
                <a:tc>
                  <a:txBody>
                    <a:bodyPr/>
                    <a:lstStyle/>
                    <a:p>
                      <a:r>
                        <a:rPr sz="1050" b="1">
                          <a:solidFill>
                            <a:srgbClr val="49624F"/>
                          </a:solidFill>
                          <a:latin typeface="DejaVu Sans"/>
                          <a:ea typeface="DejaVu Sans"/>
                          <a:cs typeface="DejaVu Sans"/>
                        </a:rPr>
                        <a:t>Intervention</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Customer test</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Olam cash test</a:t>
                      </a:r>
                    </a:p>
                  </a:txBody>
                  <a:tcPr marL="114300" marR="114300" marT="76200" marB="76200" anchor="t">
                    <a:solidFill>
                      <a:srgbClr val="E7EEE4"/>
                    </a:solidFill>
                  </a:tcPr>
                </a:tc>
              </a:tr>
              <a:tr h="666750">
                <a:tc>
                  <a:txBody>
                    <a:bodyPr/>
                    <a:lstStyle/>
                    <a:p>
                      <a:r>
                        <a:rPr sz="1200">
                          <a:solidFill>
                            <a:srgbClr val="183B2A"/>
                          </a:solidFill>
                          <a:latin typeface="DejaVu Sans"/>
                          <a:ea typeface="DejaVu Sans"/>
                          <a:cs typeface="DejaVu Sans"/>
                        </a:rPr>
                        <a:t>Pack size</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Cash outlay + cost per meal</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Net price, packing and route cost</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Baker technical service</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Saleable output, rejects and energy</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Contribution after service</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Route availability</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Paid repeat and substitution</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Stock turns + credit losses</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Price recovery</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Pass-through timing and demand response</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Retained margin, not gross price rise</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21D3A109-A7D3-42DA-AE67-5F5CD8AF4041}"/>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CONDITIONAL / ILLUSTRATIVE   |   A_PILOT · A_EXAMPLE</a:t>
            </a:r>
          </a:p>
        </p:txBody>
      </p:sp>
      <p:sp>
        <p:nvSpPr>
          <p:cNvPr id="6" name="">
            <a:extLst xmlns:a="http://schemas.openxmlformats.org/drawingml/2006/main">
              <a:ext uri="{FF2B5EF4-FFF2-40B4-BE49-F238E27FC236}">
                <a16:creationId xmlns:a16="http://schemas.microsoft.com/office/drawing/2014/main" id="{E9B1B534-CBB8-48CB-9501-76A70E0C206A}"/>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C-E06 · C-E11   22 / 98</a:t>
            </a:r>
          </a:p>
        </p:txBody>
      </p:sp>
      <p:sp>
        <p:nvSpPr>
          <p:cNvPr id="7" name="">
            <a:extLst xmlns:a="http://schemas.openxmlformats.org/drawingml/2006/main">
              <a:ext uri="{FF2B5EF4-FFF2-40B4-BE49-F238E27FC236}">
                <a16:creationId xmlns:a16="http://schemas.microsoft.com/office/drawing/2014/main" id="{F92B120C-7A40-4C96-98BB-A1D86FD5C84F}"/>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bf262f63101a4f3e" action="ppaction://hlinksldjump"/>
              </a:rPr>
              <a:t>APPENDIX ↗</a:t>
            </a:r>
          </a:p>
        </p:txBody>
      </p:sp>
      <p:sp>
        <p:nvSpPr>
          <p:cNvPr id="8" name="">
            <a:extLst xmlns:a="http://schemas.openxmlformats.org/drawingml/2006/main">
              <a:ext uri="{FF2B5EF4-FFF2-40B4-BE49-F238E27FC236}">
                <a16:creationId xmlns:a16="http://schemas.microsoft.com/office/drawing/2014/main" id="{AD79223C-7B86-4148-B6AC-37CD07992A1C}"/>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0f59de94c0524d84"/>
              </a:rPr>
              <a:t>EVIDENCE ↗</a:t>
            </a:r>
          </a:p>
        </p:txBody>
      </p:sp>
    </p:spTree>
    <p:extLst>
      <p:ext uri="{BB962C8B-B14F-4D97-AF65-F5344CB8AC3E}">
        <p14:creationId xmlns:p14="http://schemas.microsoft.com/office/powerpoint/2010/main" val="420018475"/>
      </p:ext>
    </p:extLst>
  </p:cSld>
</p:sld>
</file>

<file path=ppt/slides/slide23.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C53AB10-2BEA-4562-B0CE-66A5E98786D4}"/>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23</a:t>
            </a:r>
          </a:p>
        </p:txBody>
      </p:sp>
      <p:sp>
        <p:nvSpPr>
          <p:cNvPr id="2" name="">
            <a:extLst xmlns:a="http://schemas.openxmlformats.org/drawingml/2006/main">
              <a:ext uri="{FF2B5EF4-FFF2-40B4-BE49-F238E27FC236}">
                <a16:creationId xmlns:a16="http://schemas.microsoft.com/office/drawing/2014/main" id="{2CB5688D-05F9-4191-B36C-99D9EED89231}"/>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Count only delivered saleable units</a:t>
            </a:r>
          </a:p>
        </p:txBody>
      </p:sp>
      <p:sp>
        <p:nvSpPr>
          <p:cNvPr id="3" name="">
            <a:extLst xmlns:a="http://schemas.openxmlformats.org/drawingml/2006/main">
              <a:ext uri="{FF2B5EF4-FFF2-40B4-BE49-F238E27FC236}">
                <a16:creationId xmlns:a16="http://schemas.microsoft.com/office/drawing/2014/main" id="{B1A82F04-A5B4-4538-9318-6B5E66ABCF3E}"/>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The lowest physical or commercial constraint determines revenue.</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3429000"/>
                <a:gridCol w="7543800"/>
              </a:tblGrid>
              <a:tr h="555625">
                <a:tc>
                  <a:txBody>
                    <a:bodyPr/>
                    <a:lstStyle/>
                    <a:p>
                      <a:r>
                        <a:rPr sz="1050" b="1">
                          <a:solidFill>
                            <a:srgbClr val="49624F"/>
                          </a:solidFill>
                          <a:latin typeface="DejaVu Sans"/>
                          <a:ea typeface="DejaVu Sans"/>
                          <a:cs typeface="DejaVu Sans"/>
                        </a:rPr>
                        <a:t>Illustrative demand chain</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Tonnes</a:t>
                      </a:r>
                    </a:p>
                  </a:txBody>
                  <a:tcPr marL="114300" marR="114300" marT="76200" marB="76200" anchor="t">
                    <a:solidFill>
                      <a:srgbClr val="E7EEE4"/>
                    </a:solidFill>
                  </a:tcPr>
                </a:tc>
              </a:tr>
              <a:tr h="555625">
                <a:tc>
                  <a:txBody>
                    <a:bodyPr/>
                    <a:lstStyle/>
                    <a:p>
                      <a:r>
                        <a:rPr sz="1275">
                          <a:solidFill>
                            <a:srgbClr val="183B2A"/>
                          </a:solidFill>
                          <a:latin typeface="DejaVu Sans"/>
                          <a:ea typeface="DejaVu Sans"/>
                          <a:cs typeface="DejaVu Sans"/>
                        </a:rPr>
                        <a:t>1 m people ×100 kg/person/year</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100,000 category demand</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50% accessible ×20% capture</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10,000 buyer orders</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Saleable capacity</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8,000</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Route delivery limit</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7,000</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Delivered sales</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7,000, not 10,000</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9449F56D-A13B-466F-A095-2CF7F28F326D}"/>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CONDITIONAL / ILLUSTRATIVE   |   A_EXAMPLE</a:t>
            </a:r>
          </a:p>
        </p:txBody>
      </p:sp>
      <p:sp>
        <p:nvSpPr>
          <p:cNvPr id="6" name="">
            <a:extLst xmlns:a="http://schemas.openxmlformats.org/drawingml/2006/main">
              <a:ext uri="{FF2B5EF4-FFF2-40B4-BE49-F238E27FC236}">
                <a16:creationId xmlns:a16="http://schemas.microsoft.com/office/drawing/2014/main" id="{A3FEFFD3-BE10-4A8E-847E-00A6E9073F40}"/>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C-E02   23 / 98</a:t>
            </a:r>
          </a:p>
        </p:txBody>
      </p:sp>
      <p:sp>
        <p:nvSpPr>
          <p:cNvPr id="7" name="">
            <a:extLst xmlns:a="http://schemas.openxmlformats.org/drawingml/2006/main">
              <a:ext uri="{FF2B5EF4-FFF2-40B4-BE49-F238E27FC236}">
                <a16:creationId xmlns:a16="http://schemas.microsoft.com/office/drawing/2014/main" id="{1AFC5729-B413-49D4-9EBD-9C50A449031B}"/>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902f8ad8914f48c8" action="ppaction://hlinksldjump"/>
              </a:rPr>
              <a:t>APPENDIX ↗</a:t>
            </a:r>
          </a:p>
        </p:txBody>
      </p:sp>
      <p:sp>
        <p:nvSpPr>
          <p:cNvPr id="8" name="">
            <a:extLst xmlns:a="http://schemas.openxmlformats.org/drawingml/2006/main">
              <a:ext uri="{FF2B5EF4-FFF2-40B4-BE49-F238E27FC236}">
                <a16:creationId xmlns:a16="http://schemas.microsoft.com/office/drawing/2014/main" id="{9EB281C3-7ABB-4097-A2FE-6D7200E57D41}"/>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b9e3d2ee88f34dc5"/>
              </a:rPr>
              <a:t>EVIDENCE ↗</a:t>
            </a:r>
          </a:p>
        </p:txBody>
      </p:sp>
    </p:spTree>
    <p:extLst>
      <p:ext uri="{BB962C8B-B14F-4D97-AF65-F5344CB8AC3E}">
        <p14:creationId xmlns:p14="http://schemas.microsoft.com/office/powerpoint/2010/main" val="520587768"/>
      </p:ext>
    </p:extLst>
  </p:cSld>
</p:sld>
</file>

<file path=ppt/slides/slide24.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20E527B-F770-4108-8674-5A12BA627741}"/>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24</a:t>
            </a:r>
          </a:p>
        </p:txBody>
      </p:sp>
      <p:sp>
        <p:nvSpPr>
          <p:cNvPr id="2" name="">
            <a:extLst xmlns:a="http://schemas.openxmlformats.org/drawingml/2006/main">
              <a:ext uri="{FF2B5EF4-FFF2-40B4-BE49-F238E27FC236}">
                <a16:creationId xmlns:a16="http://schemas.microsoft.com/office/drawing/2014/main" id="{31B45828-393D-47D9-9A0B-D639FCCCE7E5}"/>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Finance receivables, inventory and payables on their own bases</a:t>
            </a:r>
          </a:p>
        </p:txBody>
      </p:sp>
      <p:sp>
        <p:nvSpPr>
          <p:cNvPr id="3" name="">
            <a:extLst xmlns:a="http://schemas.openxmlformats.org/drawingml/2006/main">
              <a:ext uri="{FF2B5EF4-FFF2-40B4-BE49-F238E27FC236}">
                <a16:creationId xmlns:a16="http://schemas.microsoft.com/office/drawing/2014/main" id="{2CF91BA6-30D5-4F31-B898-10918D43DE38}"/>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Inventory and purchases use cost; receivables use credit sales.</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4095750"/>
                <a:gridCol w="3438525"/>
                <a:gridCol w="3438525"/>
              </a:tblGrid>
              <a:tr h="666750">
                <a:tc>
                  <a:txBody>
                    <a:bodyPr/>
                    <a:lstStyle/>
                    <a:p>
                      <a:r>
                        <a:rPr sz="1050" b="1">
                          <a:solidFill>
                            <a:srgbClr val="49624F"/>
                          </a:solidFill>
                          <a:latin typeface="DejaVu Sans"/>
                          <a:ea typeface="DejaVu Sans"/>
                          <a:cs typeface="DejaVu Sans"/>
                        </a:rPr>
                        <a:t>Illustrative release, USD m</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Calculation</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Result</a:t>
                      </a:r>
                    </a:p>
                  </a:txBody>
                  <a:tcPr marL="114300" marR="114300" marT="76200" marB="76200" anchor="t">
                    <a:solidFill>
                      <a:srgbClr val="E7EEE4"/>
                    </a:solidFill>
                  </a:tcPr>
                </a:tc>
              </a:tr>
              <a:tr h="666750">
                <a:tc>
                  <a:txBody>
                    <a:bodyPr/>
                    <a:lstStyle/>
                    <a:p>
                      <a:r>
                        <a:rPr sz="1200">
                          <a:solidFill>
                            <a:srgbClr val="183B2A"/>
                          </a:solidFill>
                          <a:latin typeface="DejaVu Sans"/>
                          <a:ea typeface="DejaVu Sans"/>
                          <a:cs typeface="DejaVu Sans"/>
                        </a:rPr>
                        <a:t>Receivables</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40 ×5 /365</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0.548</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Inventory</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34 ×7 /365</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0.652</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Payables</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DPO unchanged</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0.000</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Total once-only transition cash</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0.548 +0.652</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1.200</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29BDB954-871D-4A32-B8C8-960B65822528}"/>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 · A_NWC</a:t>
            </a:r>
          </a:p>
        </p:txBody>
      </p:sp>
      <p:sp>
        <p:nvSpPr>
          <p:cNvPr id="6" name="">
            <a:extLst xmlns:a="http://schemas.openxmlformats.org/drawingml/2006/main">
              <a:ext uri="{FF2B5EF4-FFF2-40B4-BE49-F238E27FC236}">
                <a16:creationId xmlns:a16="http://schemas.microsoft.com/office/drawing/2014/main" id="{FE88B280-47E2-4D3C-AA21-E2E4CDE2D076}"/>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C-E09   24 / 98</a:t>
            </a:r>
          </a:p>
        </p:txBody>
      </p:sp>
      <p:sp>
        <p:nvSpPr>
          <p:cNvPr id="7" name="">
            <a:extLst xmlns:a="http://schemas.openxmlformats.org/drawingml/2006/main">
              <a:ext uri="{FF2B5EF4-FFF2-40B4-BE49-F238E27FC236}">
                <a16:creationId xmlns:a16="http://schemas.microsoft.com/office/drawing/2014/main" id="{A52FA884-8D21-4A28-B450-38C3B060E9A6}"/>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4d0d1583b93042ee" action="ppaction://hlinksldjump"/>
              </a:rPr>
              <a:t>APPENDIX ↗</a:t>
            </a:r>
          </a:p>
        </p:txBody>
      </p:sp>
      <p:sp>
        <p:nvSpPr>
          <p:cNvPr id="8" name="">
            <a:extLst xmlns:a="http://schemas.openxmlformats.org/drawingml/2006/main">
              <a:ext uri="{FF2B5EF4-FFF2-40B4-BE49-F238E27FC236}">
                <a16:creationId xmlns:a16="http://schemas.microsoft.com/office/drawing/2014/main" id="{D2F99671-4566-40C2-85BD-4F0B94E91EBC}"/>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67fa0a105fb541c1"/>
              </a:rPr>
              <a:t>EVIDENCE ↗</a:t>
            </a:r>
          </a:p>
        </p:txBody>
      </p:sp>
    </p:spTree>
    <p:extLst>
      <p:ext uri="{BB962C8B-B14F-4D97-AF65-F5344CB8AC3E}">
        <p14:creationId xmlns:p14="http://schemas.microsoft.com/office/powerpoint/2010/main" val="1174214279"/>
      </p:ext>
    </p:extLst>
  </p:cSld>
</p:sld>
</file>

<file path=ppt/slides/slide25.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E662906-6444-441A-A32A-D524A1C259A2}"/>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25</a:t>
            </a:r>
          </a:p>
        </p:txBody>
      </p:sp>
      <p:sp>
        <p:nvSpPr>
          <p:cNvPr id="2" name="">
            <a:extLst xmlns:a="http://schemas.openxmlformats.org/drawingml/2006/main">
              <a:ext uri="{FF2B5EF4-FFF2-40B4-BE49-F238E27FC236}">
                <a16:creationId xmlns:a16="http://schemas.microsoft.com/office/drawing/2014/main" id="{2D47E3A8-289E-4069-8693-77F77217BBE6}"/>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Positive EBITDA can coexist with negative investment NPV</a:t>
            </a:r>
          </a:p>
        </p:txBody>
      </p:sp>
      <p:sp>
        <p:nvSpPr>
          <p:cNvPr id="3" name="">
            <a:extLst xmlns:a="http://schemas.openxmlformats.org/drawingml/2006/main">
              <a:ext uri="{FF2B5EF4-FFF2-40B4-BE49-F238E27FC236}">
                <a16:creationId xmlns:a16="http://schemas.microsoft.com/office/drawing/2014/main" id="{91C8E84F-FD10-4F15-8DBC-C838CB0096CD}"/>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Managed owned-processing template: NPV −USD1.80m; peak annual funding USD22.56m.</a:t>
            </a:r>
          </a:p>
        </p:txBody>
      </p:sp>
      <p:graphicFrame>
        <p:nvGraphicFramePr>
          <p:cNvPr id="13" name=""/>
          <p:cNvGraphicFramePr/>
          <p:nvPr/>
        </p:nvGraphicFramePr>
        <p:xfrm>
          <a:off xmlns:a="http://schemas.openxmlformats.org/drawingml/2006/main" x="609600" y="2505075"/>
          <a:ext xmlns:a="http://schemas.openxmlformats.org/drawingml/2006/main" cx="10972800" cy="2714625"/>
        </p:xfrm>
        <a:graphic xmlns:a="http://schemas.openxmlformats.org/drawingml/2006/main">
          <a:graphicData uri="http://schemas.openxmlformats.org/drawingml/2006/table">
            <a:tbl>
              <a:tblPr/>
              <a:tblGrid>
                <a:gridCol w="3429000"/>
                <a:gridCol w="7543800"/>
              </a:tblGrid>
              <a:tr h="452438">
                <a:tc>
                  <a:txBody>
                    <a:bodyPr/>
                    <a:lstStyle/>
                    <a:p>
                      <a:r>
                        <a:rPr sz="1050" b="1">
                          <a:solidFill>
                            <a:srgbClr val="49624F"/>
                          </a:solidFill>
                          <a:latin typeface="DejaVu Sans"/>
                          <a:ea typeface="DejaVu Sans"/>
                          <a:cs typeface="DejaVu Sans"/>
                        </a:rPr>
                        <a:t>Full model convention</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Effect</a:t>
                      </a:r>
                    </a:p>
                  </a:txBody>
                  <a:tcPr marL="114300" marR="114300" marT="76200" marB="76200" anchor="t">
                    <a:solidFill>
                      <a:srgbClr val="E7EEE4"/>
                    </a:solidFill>
                  </a:tcPr>
                </a:tc>
              </a:tr>
              <a:tr h="452438">
                <a:tc>
                  <a:txBody>
                    <a:bodyPr/>
                    <a:lstStyle/>
                    <a:p>
                      <a:r>
                        <a:rPr sz="1275">
                          <a:solidFill>
                            <a:srgbClr val="183B2A"/>
                          </a:solidFill>
                          <a:latin typeface="DejaVu Sans"/>
                          <a:ea typeface="DejaVu Sans"/>
                          <a:cs typeface="DejaVu Sans"/>
                        </a:rPr>
                        <a:t>Initial capex</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60% now +40% in first operating year</a:t>
                      </a:r>
                    </a:p>
                  </a:txBody>
                  <a:tcPr marL="114300" marR="114300" marT="76200" marB="76200" anchor="t">
                    <a:solidFill>
                      <a:srgbClr val="FFFEF9"/>
                    </a:solidFill>
                  </a:tcPr>
                </a:tc>
              </a:tr>
              <a:tr h="452438">
                <a:tc>
                  <a:txBody>
                    <a:bodyPr/>
                    <a:lstStyle/>
                    <a:p>
                      <a:r>
                        <a:rPr sz="1275">
                          <a:solidFill>
                            <a:srgbClr val="183B2A"/>
                          </a:solidFill>
                          <a:latin typeface="DejaVu Sans"/>
                          <a:ea typeface="DejaVu Sans"/>
                          <a:cs typeface="DejaVu Sans"/>
                        </a:rPr>
                        <a:t>Maintenance / replacement</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2% annually; 70% in years 11 and 21</a:t>
                      </a:r>
                    </a:p>
                  </a:txBody>
                  <a:tcPr marL="114300" marR="114300" marT="76200" marB="76200" anchor="t">
                    <a:solidFill>
                      <a:srgbClr val="FFFEF9"/>
                    </a:solidFill>
                  </a:tcPr>
                </a:tc>
              </a:tr>
              <a:tr h="452438">
                <a:tc>
                  <a:txBody>
                    <a:bodyPr/>
                    <a:lstStyle/>
                    <a:p>
                      <a:r>
                        <a:rPr sz="1275">
                          <a:solidFill>
                            <a:srgbClr val="183B2A"/>
                          </a:solidFill>
                          <a:latin typeface="DejaVu Sans"/>
                          <a:ea typeface="DejaVu Sans"/>
                          <a:cs typeface="DejaVu Sans"/>
                        </a:rPr>
                        <a:t>Tax / depreciation</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25% simplified carryforward; capital cohorts over 10 years</a:t>
                      </a:r>
                    </a:p>
                  </a:txBody>
                  <a:tcPr marL="114300" marR="114300" marT="76200" marB="76200" anchor="t">
                    <a:solidFill>
                      <a:srgbClr val="FFFEF9"/>
                    </a:solidFill>
                  </a:tcPr>
                </a:tc>
              </a:tr>
              <a:tr h="452438">
                <a:tc>
                  <a:txBody>
                    <a:bodyPr/>
                    <a:lstStyle/>
                    <a:p>
                      <a:r>
                        <a:rPr sz="1275">
                          <a:solidFill>
                            <a:srgbClr val="183B2A"/>
                          </a:solidFill>
                          <a:latin typeface="DejaVu Sans"/>
                          <a:ea typeface="DejaVu Sans"/>
                          <a:cs typeface="DejaVu Sans"/>
                        </a:rPr>
                        <a:t>Working cash</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80% credit-sales AR + cost inventory −80% eligible-purchases AP</a:t>
                      </a:r>
                    </a:p>
                  </a:txBody>
                  <a:tcPr marL="114300" marR="114300" marT="76200" marB="76200" anchor="t">
                    <a:solidFill>
                      <a:srgbClr val="FFFEF9"/>
                    </a:solidFill>
                  </a:tcPr>
                </a:tc>
              </a:tr>
              <a:tr h="452438">
                <a:tc>
                  <a:txBody>
                    <a:bodyPr/>
                    <a:lstStyle/>
                    <a:p>
                      <a:r>
                        <a:rPr sz="1275">
                          <a:solidFill>
                            <a:srgbClr val="183B2A"/>
                          </a:solidFill>
                          <a:latin typeface="DejaVu Sans"/>
                          <a:ea typeface="DejaVu Sans"/>
                          <a:cs typeface="DejaVu Sans"/>
                        </a:rPr>
                        <a:t>End of 2051</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90% NWC closeout; no franchise value</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B0B12D1E-955B-4964-984F-AFF614047892}"/>
              </a:ext>
            </a:extLst>
          </p:cNvPr>
          <p:cNvSpPr>
            <a:spLocks xmlns:a="http://schemas.openxmlformats.org/drawingml/2006/main" noGrp="1"/>
          </p:cNvSpPr>
          <p:nvPr/>
        </p:nvSpPr>
        <p:spPr>
          <a:xfrm xmlns:a="http://schemas.openxmlformats.org/drawingml/2006/main">
            <a:off x="609600" y="5381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Managed owned: IRR 9.04%; year3 ROIC 7.20%; capital turns 1.92×. Chosen10% real hurdle; all figures remain normalized, not Olam economics.</a:t>
            </a:r>
          </a:p>
        </p:txBody>
      </p:sp>
      <p:sp>
        <p:nvSpPr>
          <p:cNvPr id="6" name="">
            <a:extLst xmlns:a="http://schemas.openxmlformats.org/drawingml/2006/main">
              <a:ext uri="{FF2B5EF4-FFF2-40B4-BE49-F238E27FC236}">
                <a16:creationId xmlns:a16="http://schemas.microsoft.com/office/drawing/2014/main" id="{73A4CAE9-E67D-4B92-870D-F3E4B0982E66}"/>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A_TEMPLATE · A_TAX · A_RATE · A_CAPEX · A_NWC</a:t>
            </a:r>
          </a:p>
        </p:txBody>
      </p:sp>
      <p:sp>
        <p:nvSpPr>
          <p:cNvPr id="7" name="">
            <a:extLst xmlns:a="http://schemas.openxmlformats.org/drawingml/2006/main">
              <a:ext uri="{FF2B5EF4-FFF2-40B4-BE49-F238E27FC236}">
                <a16:creationId xmlns:a16="http://schemas.microsoft.com/office/drawing/2014/main" id="{A6A10320-F08C-4821-A1BB-CD8948C4F719}"/>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C-DCF-plant-managed   25 / 98</a:t>
            </a:r>
          </a:p>
        </p:txBody>
      </p:sp>
      <p:sp>
        <p:nvSpPr>
          <p:cNvPr id="8" name="">
            <a:extLst xmlns:a="http://schemas.openxmlformats.org/drawingml/2006/main">
              <a:ext uri="{FF2B5EF4-FFF2-40B4-BE49-F238E27FC236}">
                <a16:creationId xmlns:a16="http://schemas.microsoft.com/office/drawing/2014/main" id="{973D7493-77E5-4348-AA18-63990ED369E9}"/>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0f6ce7305c91499d" action="ppaction://hlinksldjump"/>
              </a:rPr>
              <a:t>APPENDIX ↗</a:t>
            </a:r>
          </a:p>
        </p:txBody>
      </p:sp>
      <p:sp>
        <p:nvSpPr>
          <p:cNvPr id="9" name="">
            <a:extLst xmlns:a="http://schemas.openxmlformats.org/drawingml/2006/main">
              <a:ext uri="{FF2B5EF4-FFF2-40B4-BE49-F238E27FC236}">
                <a16:creationId xmlns:a16="http://schemas.microsoft.com/office/drawing/2014/main" id="{BADC6C79-2CD1-4A0A-B29D-6FA2335E3D39}"/>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d8778ad2d7b54016"/>
              </a:rPr>
              <a:t>EVIDENCE ↗</a:t>
            </a:r>
          </a:p>
        </p:txBody>
      </p:sp>
    </p:spTree>
    <p:extLst>
      <p:ext uri="{BB962C8B-B14F-4D97-AF65-F5344CB8AC3E}">
        <p14:creationId xmlns:p14="http://schemas.microsoft.com/office/powerpoint/2010/main" val="1182092344"/>
      </p:ext>
    </p:extLst>
  </p:cSld>
</p:sld>
</file>

<file path=ppt/slides/slide26.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13235FD-65E1-471B-9EBF-D4939E713A1B}"/>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26</a:t>
            </a:r>
          </a:p>
        </p:txBody>
      </p:sp>
      <p:sp>
        <p:nvSpPr>
          <p:cNvPr id="2" name="">
            <a:extLst xmlns:a="http://schemas.openxmlformats.org/drawingml/2006/main">
              <a:ext uri="{FF2B5EF4-FFF2-40B4-BE49-F238E27FC236}">
                <a16:creationId xmlns:a16="http://schemas.microsoft.com/office/drawing/2014/main" id="{69E4C76D-7384-4F61-8990-194D3B0BDA58}"/>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Common shocks can consume more cash than the asset cheque</a:t>
            </a:r>
          </a:p>
        </p:txBody>
      </p:sp>
      <p:sp>
        <p:nvSpPr>
          <p:cNvPr id="3" name="">
            <a:extLst xmlns:a="http://schemas.openxmlformats.org/drawingml/2006/main">
              <a:ext uri="{FF2B5EF4-FFF2-40B4-BE49-F238E27FC236}">
                <a16:creationId xmlns:a16="http://schemas.microsoft.com/office/drawing/2014/main" id="{62D1E79A-DE51-466E-9A42-756A40609B29}"/>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Chosen stress distribution illustrates failure; it does not estimate the probability of loss.</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3429000"/>
                <a:gridCol w="7543800"/>
              </a:tblGrid>
              <a:tr h="555625">
                <a:tc>
                  <a:txBody>
                    <a:bodyPr/>
                    <a:lstStyle/>
                    <a:p>
                      <a:r>
                        <a:rPr sz="1050" b="1">
                          <a:solidFill>
                            <a:srgbClr val="49624F"/>
                          </a:solidFill>
                          <a:latin typeface="DejaVu Sans"/>
                          <a:ea typeface="DejaVu Sans"/>
                          <a:cs typeface="DejaVu Sans"/>
                        </a:rPr>
                        <a:t>Owned-template stress, USD m</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10,000 draws</a:t>
                      </a:r>
                    </a:p>
                  </a:txBody>
                  <a:tcPr marL="114300" marR="114300" marT="76200" marB="76200" anchor="t">
                    <a:solidFill>
                      <a:srgbClr val="E7EEE4"/>
                    </a:solidFill>
                  </a:tcPr>
                </a:tc>
              </a:tr>
              <a:tr h="555625">
                <a:tc>
                  <a:txBody>
                    <a:bodyPr/>
                    <a:lstStyle/>
                    <a:p>
                      <a:r>
                        <a:rPr sz="1275">
                          <a:solidFill>
                            <a:srgbClr val="183B2A"/>
                          </a:solidFill>
                          <a:latin typeface="DejaVu Sans"/>
                          <a:ea typeface="DejaVu Sans"/>
                          <a:cs typeface="DejaVu Sans"/>
                        </a:rPr>
                        <a:t>10 th /50 th /90 th percentile NPV</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-19.27 / -1.65 / 21.48</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Loss VaR95</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24.54</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Loss CVaR95</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29.25</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Managed zero-NPV order boundary</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104,862 tonnes of initial annual orders</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Response</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Reprice, resize, delay or stop; never assume automatic recovery</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BE5A9426-B369-43C2-8CD9-AF37677F056C}"/>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A_STRESS · A_TEMPLATE</a:t>
            </a:r>
          </a:p>
        </p:txBody>
      </p:sp>
      <p:sp>
        <p:nvSpPr>
          <p:cNvPr id="6" name="">
            <a:extLst xmlns:a="http://schemas.openxmlformats.org/drawingml/2006/main">
              <a:ext uri="{FF2B5EF4-FFF2-40B4-BE49-F238E27FC236}">
                <a16:creationId xmlns:a16="http://schemas.microsoft.com/office/drawing/2014/main" id="{B43BE594-9671-419F-8650-4F1C8262AD1D}"/>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C-STRESS · C-THRESHOLD   26 / 98</a:t>
            </a:r>
          </a:p>
        </p:txBody>
      </p:sp>
      <p:sp>
        <p:nvSpPr>
          <p:cNvPr id="7" name="">
            <a:extLst xmlns:a="http://schemas.openxmlformats.org/drawingml/2006/main">
              <a:ext uri="{FF2B5EF4-FFF2-40B4-BE49-F238E27FC236}">
                <a16:creationId xmlns:a16="http://schemas.microsoft.com/office/drawing/2014/main" id="{6B082C40-2822-41FB-81D4-86A9A542EE39}"/>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b9b82650a38d47a5" action="ppaction://hlinksldjump"/>
              </a:rPr>
              <a:t>APPENDIX ↗</a:t>
            </a:r>
          </a:p>
        </p:txBody>
      </p:sp>
      <p:sp>
        <p:nvSpPr>
          <p:cNvPr id="8" name="">
            <a:extLst xmlns:a="http://schemas.openxmlformats.org/drawingml/2006/main">
              <a:ext uri="{FF2B5EF4-FFF2-40B4-BE49-F238E27FC236}">
                <a16:creationId xmlns:a16="http://schemas.microsoft.com/office/drawing/2014/main" id="{F7976F23-857F-464C-A755-3FCA8EDB50B1}"/>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65b259c80d7a41ad"/>
              </a:rPr>
              <a:t>EVIDENCE ↗</a:t>
            </a:r>
          </a:p>
        </p:txBody>
      </p:sp>
    </p:spTree>
    <p:extLst>
      <p:ext uri="{BB962C8B-B14F-4D97-AF65-F5344CB8AC3E}">
        <p14:creationId xmlns:p14="http://schemas.microsoft.com/office/powerpoint/2010/main" val="596538175"/>
      </p:ext>
    </p:extLst>
  </p:cSld>
</p:sld>
</file>

<file path=ppt/slides/slide27.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8BEF3A1-1A8C-49A3-910E-BBB65B6006A4}"/>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27</a:t>
            </a:r>
          </a:p>
        </p:txBody>
      </p:sp>
      <p:sp>
        <p:nvSpPr>
          <p:cNvPr id="2" name="">
            <a:extLst xmlns:a="http://schemas.openxmlformats.org/drawingml/2006/main">
              <a:ext uri="{FF2B5EF4-FFF2-40B4-BE49-F238E27FC236}">
                <a16:creationId xmlns:a16="http://schemas.microsoft.com/office/drawing/2014/main" id="{06452A34-826D-48C9-98EB-A1458DFE68CD}"/>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Diversification must reduce common exposure, not add flags</a:t>
            </a:r>
          </a:p>
        </p:txBody>
      </p:sp>
      <p:sp>
        <p:nvSpPr>
          <p:cNvPr id="3" name="">
            <a:extLst xmlns:a="http://schemas.openxmlformats.org/drawingml/2006/main">
              <a:ext uri="{FF2B5EF4-FFF2-40B4-BE49-F238E27FC236}">
                <a16:creationId xmlns:a16="http://schemas.microsoft.com/office/drawing/2014/main" id="{55CF9629-A9A3-4A41-BEC6-1EABFC6762CE}"/>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Allocate only among legally feasible, funded and physically deliverable choices.</a:t>
            </a:r>
          </a:p>
        </p:txBody>
      </p:sp>
      <p:graphicFrame>
        <p:nvGraphicFramePr>
          <p:cNvPr id="13" name=""/>
          <p:cNvGraphicFramePr/>
          <p:nvPr/>
        </p:nvGraphicFramePr>
        <p:xfrm>
          <a:off xmlns:a="http://schemas.openxmlformats.org/drawingml/2006/main" x="609600" y="2505075"/>
          <a:ext xmlns:a="http://schemas.openxmlformats.org/drawingml/2006/main" cx="10972800" cy="2143125"/>
        </p:xfrm>
        <a:graphic xmlns:a="http://schemas.openxmlformats.org/drawingml/2006/main">
          <a:graphicData uri="http://schemas.openxmlformats.org/drawingml/2006/table">
            <a:tbl>
              <a:tblPr/>
              <a:tblGrid>
                <a:gridCol w="3429000"/>
                <a:gridCol w="7543800"/>
              </a:tblGrid>
              <a:tr h="535781">
                <a:tc>
                  <a:txBody>
                    <a:bodyPr/>
                    <a:lstStyle/>
                    <a:p>
                      <a:r>
                        <a:rPr sz="1050" b="1">
                          <a:solidFill>
                            <a:srgbClr val="49624F"/>
                          </a:solidFill>
                          <a:latin typeface="DejaVu Sans"/>
                          <a:ea typeface="DejaVu Sans"/>
                          <a:cs typeface="DejaVu Sans"/>
                        </a:rPr>
                        <a:t>Benchmark</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Failure to test</a:t>
                      </a:r>
                    </a:p>
                  </a:txBody>
                  <a:tcPr marL="114300" marR="114300" marT="76200" marB="76200" anchor="t">
                    <a:solidFill>
                      <a:srgbClr val="E7EEE4"/>
                    </a:solidFill>
                  </a:tcPr>
                </a:tc>
              </a:tr>
              <a:tr h="535781">
                <a:tc>
                  <a:txBody>
                    <a:bodyPr/>
                    <a:lstStyle/>
                    <a:p>
                      <a:r>
                        <a:rPr sz="1275">
                          <a:solidFill>
                            <a:srgbClr val="183B2A"/>
                          </a:solidFill>
                          <a:latin typeface="DejaVu Sans"/>
                          <a:ea typeface="DejaVu Sans"/>
                          <a:cs typeface="DejaVu Sans"/>
                        </a:rPr>
                        <a:t>Population / import-size ranking</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Capture, spread, seasonal funding</a:t>
                      </a:r>
                    </a:p>
                  </a:txBody>
                  <a:tcPr marL="114300" marR="114300" marT="76200" marB="76200" anchor="t">
                    <a:solidFill>
                      <a:srgbClr val="FFFEF9"/>
                    </a:solidFill>
                  </a:tcPr>
                </a:tc>
              </a:tr>
              <a:tr h="535781">
                <a:tc>
                  <a:txBody>
                    <a:bodyPr/>
                    <a:lstStyle/>
                    <a:p>
                      <a:r>
                        <a:rPr sz="1275">
                          <a:solidFill>
                            <a:srgbClr val="183B2A"/>
                          </a:solidFill>
                          <a:latin typeface="DejaVu Sans"/>
                          <a:ea typeface="DejaVu Sans"/>
                          <a:cs typeface="DejaVu Sans"/>
                        </a:rPr>
                        <a:t>Expected NPV only</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Joint tail loss and cash breach</a:t>
                      </a:r>
                    </a:p>
                  </a:txBody>
                  <a:tcPr marL="114300" marR="114300" marT="76200" marB="76200" anchor="t">
                    <a:solidFill>
                      <a:srgbClr val="FFFEF9"/>
                    </a:solidFill>
                  </a:tcPr>
                </a:tc>
              </a:tr>
              <a:tr h="535781">
                <a:tc>
                  <a:txBody>
                    <a:bodyPr/>
                    <a:lstStyle/>
                    <a:p>
                      <a:r>
                        <a:rPr sz="1275">
                          <a:solidFill>
                            <a:srgbClr val="183B2A"/>
                          </a:solidFill>
                          <a:latin typeface="DejaVu Sans"/>
                          <a:ea typeface="DejaVu Sans"/>
                          <a:cs typeface="DejaVu Sans"/>
                        </a:rPr>
                        <a:t>Country count diversification</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Shared port, crop season or lender</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5DB1D99D-D7E2-4548-A4B3-1E37961DCBE0}"/>
              </a:ext>
            </a:extLst>
          </p:cNvPr>
          <p:cNvSpPr>
            <a:spLocks xmlns:a="http://schemas.openxmlformats.org/drawingml/2006/main" noGrp="1"/>
          </p:cNvSpPr>
          <p:nvPr/>
        </p:nvSpPr>
        <p:spPr>
          <a:xfrm xmlns:a="http://schemas.openxmlformats.org/drawingml/2006/main">
            <a:off x="609600" y="4857750"/>
            <a:ext cx="109728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Group projects by crop/season, basin, port, shipping lane, buyer, FX and lender before optimizing.</a:t>
            </a:r>
          </a:p>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Use budget, peak cash, capacity, water/carbon and counterparty constraints with explicit shadow costs.</a:t>
            </a:r>
          </a:p>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No optimal all-country allocation is claimed without country economics and dependence data.</a:t>
            </a:r>
          </a:p>
        </p:txBody>
      </p:sp>
      <p:sp>
        <p:nvSpPr>
          <p:cNvPr id="6" name="">
            <a:extLst xmlns:a="http://schemas.openxmlformats.org/drawingml/2006/main">
              <a:ext uri="{FF2B5EF4-FFF2-40B4-BE49-F238E27FC236}">
                <a16:creationId xmlns:a16="http://schemas.microsoft.com/office/drawing/2014/main" id="{344D036F-36C5-4749-85DA-36521D31E488}"/>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CONDITIONAL / ILLUSTRATIVE   |   A_PRIOR · A_STRESS</a:t>
            </a:r>
          </a:p>
        </p:txBody>
      </p:sp>
      <p:sp>
        <p:nvSpPr>
          <p:cNvPr id="7" name="">
            <a:extLst xmlns:a="http://schemas.openxmlformats.org/drawingml/2006/main">
              <a:ext uri="{FF2B5EF4-FFF2-40B4-BE49-F238E27FC236}">
                <a16:creationId xmlns:a16="http://schemas.microsoft.com/office/drawing/2014/main" id="{2E2774F7-D7C7-412D-98A5-068A806EC328}"/>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C-E17 · C-REGRET   27 / 98</a:t>
            </a:r>
          </a:p>
        </p:txBody>
      </p:sp>
      <p:sp>
        <p:nvSpPr>
          <p:cNvPr id="8" name="">
            <a:extLst xmlns:a="http://schemas.openxmlformats.org/drawingml/2006/main">
              <a:ext uri="{FF2B5EF4-FFF2-40B4-BE49-F238E27FC236}">
                <a16:creationId xmlns:a16="http://schemas.microsoft.com/office/drawing/2014/main" id="{59B637CB-93EA-4AD5-8F34-FAA1189FEE84}"/>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5bdfb19143014d8d" action="ppaction://hlinksldjump"/>
              </a:rPr>
              <a:t>APPENDIX ↗</a:t>
            </a:r>
          </a:p>
        </p:txBody>
      </p:sp>
      <p:sp>
        <p:nvSpPr>
          <p:cNvPr id="9" name="">
            <a:extLst xmlns:a="http://schemas.openxmlformats.org/drawingml/2006/main">
              <a:ext uri="{FF2B5EF4-FFF2-40B4-BE49-F238E27FC236}">
                <a16:creationId xmlns:a16="http://schemas.microsoft.com/office/drawing/2014/main" id="{03C0F641-8F18-4779-9572-E3C8A3C4575D}"/>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13e11f4d69fc48bb"/>
              </a:rPr>
              <a:t>EVIDENCE ↗</a:t>
            </a:r>
          </a:p>
        </p:txBody>
      </p:sp>
    </p:spTree>
    <p:extLst>
      <p:ext uri="{BB962C8B-B14F-4D97-AF65-F5344CB8AC3E}">
        <p14:creationId xmlns:p14="http://schemas.microsoft.com/office/powerpoint/2010/main" val="434747127"/>
      </p:ext>
    </p:extLst>
  </p:cSld>
</p:sld>
</file>

<file path=ppt/slides/slide28.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cxnSp>
        <p:nvCxnSpPr>
          <p:cNvPr id="20" name=""/>
          <p:cNvCxnSpPr>
            <a:stCxn xmlns:a="http://schemas.openxmlformats.org/drawingml/2006/main" id="8" idx="1"/>
            <a:endCxn xmlns:a="http://schemas.openxmlformats.org/drawingml/2006/main" id="4" idx="3"/>
          </p:cNvCxnSpPr>
          <p:nvPr/>
        </p:nvCxnSpPr>
        <p:spPr>
          <a:xfrm xmlns:a="http://schemas.openxmlformats.org/drawingml/2006/main" flipH="1" flipV="1">
            <a:off x="3962400" y="3238500"/>
            <a:ext cx="457200" cy="1714500"/>
          </a:xfrm>
          <a:prstGeom xmlns:a="http://schemas.openxmlformats.org/drawingml/2006/main" prst="bentConnector3">
            <a:avLst>
              <a:gd name="adj1" fmla="val 50000"/>
            </a:avLst>
          </a:prstGeom>
          <a:ln xmlns:a="http://schemas.openxmlformats.org/drawingml/2006/main" w="19050">
            <a:solidFill>
              <a:srgbClr val="78A583"/>
            </a:solidFill>
            <a:prstDash val="solid"/>
            <a:tailEnd type="arrow" w="med" len="med"/>
          </a:ln>
        </p:spPr>
      </p:cxnSp>
      <p:cxnSp>
        <p:nvCxnSpPr>
          <p:cNvPr id="21" name=""/>
          <p:cNvCxnSpPr>
            <a:stCxn xmlns:a="http://schemas.openxmlformats.org/drawingml/2006/main" id="8" idx="1"/>
            <a:endCxn xmlns:a="http://schemas.openxmlformats.org/drawingml/2006/main" id="9" idx="3"/>
          </p:cNvCxnSpPr>
          <p:nvPr/>
        </p:nvCxnSpPr>
        <p:spPr>
          <a:xfrm xmlns:a="http://schemas.openxmlformats.org/drawingml/2006/main" flipH="1">
            <a:off x="3962400" y="4953000"/>
            <a:ext cx="457200" cy="0"/>
          </a:xfrm>
          <a:prstGeom xmlns:a="http://schemas.openxmlformats.org/drawingml/2006/main" prst="straightConnector1">
            <a:avLst/>
          </a:prstGeom>
          <a:ln xmlns:a="http://schemas.openxmlformats.org/drawingml/2006/main" w="19050">
            <a:solidFill>
              <a:srgbClr val="78A583"/>
            </a:solidFill>
            <a:prstDash val="solid"/>
            <a:tailEnd type="arrow" w="med" len="med"/>
          </a:ln>
        </p:spPr>
      </p:cxnSp>
      <p:cxnSp>
        <p:nvCxnSpPr>
          <p:cNvPr id="22" name=""/>
          <p:cNvCxnSpPr>
            <a:stCxn xmlns:a="http://schemas.openxmlformats.org/drawingml/2006/main" id="7" idx="1"/>
            <a:endCxn xmlns:a="http://schemas.openxmlformats.org/drawingml/2006/main" id="8" idx="3"/>
          </p:cNvCxnSpPr>
          <p:nvPr/>
        </p:nvCxnSpPr>
        <p:spPr>
          <a:xfrm xmlns:a="http://schemas.openxmlformats.org/drawingml/2006/main" flipH="1">
            <a:off x="7772400" y="4953000"/>
            <a:ext cx="457200" cy="0"/>
          </a:xfrm>
          <a:prstGeom xmlns:a="http://schemas.openxmlformats.org/drawingml/2006/main" prst="straightConnector1">
            <a:avLst/>
          </a:prstGeom>
          <a:ln xmlns:a="http://schemas.openxmlformats.org/drawingml/2006/main" w="19050">
            <a:solidFill>
              <a:srgbClr val="78A583"/>
            </a:solidFill>
            <a:prstDash val="solid"/>
            <a:tailEnd type="arrow" w="med" len="med"/>
          </a:ln>
        </p:spPr>
      </p:cxnSp>
      <p:cxnSp>
        <p:nvCxnSpPr>
          <p:cNvPr id="23" name=""/>
          <p:cNvCxnSpPr>
            <a:stCxn xmlns:a="http://schemas.openxmlformats.org/drawingml/2006/main" id="6" idx="2"/>
            <a:endCxn xmlns:a="http://schemas.openxmlformats.org/drawingml/2006/main" id="7" idx="0"/>
          </p:cNvCxnSpPr>
          <p:nvPr/>
        </p:nvCxnSpPr>
        <p:spPr>
          <a:xfrm xmlns:a="http://schemas.openxmlformats.org/drawingml/2006/main">
            <a:off x="9906000" y="3714750"/>
            <a:ext cx="0" cy="762000"/>
          </a:xfrm>
          <a:prstGeom xmlns:a="http://schemas.openxmlformats.org/drawingml/2006/main" prst="straightConnector1">
            <a:avLst/>
          </a:prstGeom>
          <a:ln xmlns:a="http://schemas.openxmlformats.org/drawingml/2006/main" w="19050">
            <a:solidFill>
              <a:srgbClr val="78A583"/>
            </a:solidFill>
            <a:prstDash val="solid"/>
            <a:tailEnd type="arrow" w="med" len="med"/>
          </a:ln>
        </p:spPr>
      </p:cxnSp>
      <p:cxnSp>
        <p:nvCxnSpPr>
          <p:cNvPr id="24" name=""/>
          <p:cNvCxnSpPr>
            <a:stCxn xmlns:a="http://schemas.openxmlformats.org/drawingml/2006/main" id="5" idx="3"/>
            <a:endCxn xmlns:a="http://schemas.openxmlformats.org/drawingml/2006/main" id="6" idx="1"/>
          </p:cNvCxnSpPr>
          <p:nvPr/>
        </p:nvCxnSpPr>
        <p:spPr>
          <a:xfrm xmlns:a="http://schemas.openxmlformats.org/drawingml/2006/main">
            <a:off x="7772400" y="3238500"/>
            <a:ext cx="457200" cy="0"/>
          </a:xfrm>
          <a:prstGeom xmlns:a="http://schemas.openxmlformats.org/drawingml/2006/main" prst="straightConnector1">
            <a:avLst/>
          </a:prstGeom>
          <a:ln xmlns:a="http://schemas.openxmlformats.org/drawingml/2006/main" w="19050">
            <a:solidFill>
              <a:srgbClr val="78A583"/>
            </a:solidFill>
            <a:prstDash val="solid"/>
            <a:tailEnd type="arrow" w="med" len="med"/>
          </a:ln>
        </p:spPr>
      </p:cxnSp>
      <p:cxnSp>
        <p:nvCxnSpPr>
          <p:cNvPr id="25" name=""/>
          <p:cNvCxnSpPr>
            <a:stCxn xmlns:a="http://schemas.openxmlformats.org/drawingml/2006/main" id="4" idx="3"/>
            <a:endCxn xmlns:a="http://schemas.openxmlformats.org/drawingml/2006/main" id="5" idx="1"/>
          </p:cNvCxnSpPr>
          <p:nvPr/>
        </p:nvCxnSpPr>
        <p:spPr>
          <a:xfrm xmlns:a="http://schemas.openxmlformats.org/drawingml/2006/main">
            <a:off x="3962400" y="3238500"/>
            <a:ext cx="457200" cy="0"/>
          </a:xfrm>
          <a:prstGeom xmlns:a="http://schemas.openxmlformats.org/drawingml/2006/main" prst="straightConnector1">
            <a:avLst/>
          </a:prstGeom>
          <a:ln xmlns:a="http://schemas.openxmlformats.org/drawingml/2006/main" w="19050">
            <a:solidFill>
              <a:srgbClr val="78A583"/>
            </a:solidFill>
            <a:prstDash val="solid"/>
            <a:tailEnd type="arrow" w="med" len="med"/>
          </a:ln>
        </p:spPr>
      </p:cxnSp>
      <p:sp>
        <p:nvSpPr>
          <p:cNvPr id="26" name="">
            <a:extLst xmlns:a="http://schemas.openxmlformats.org/drawingml/2006/main">
              <a:ext uri="{FF2B5EF4-FFF2-40B4-BE49-F238E27FC236}">
                <a16:creationId xmlns:a16="http://schemas.microsoft.com/office/drawing/2014/main" id="{4CC52EC4-5123-42F3-8816-E8DB1DF8C10D}"/>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28</a:t>
            </a:r>
          </a:p>
        </p:txBody>
      </p:sp>
      <p:sp>
        <p:nvSpPr>
          <p:cNvPr id="2" name="">
            <a:extLst xmlns:a="http://schemas.openxmlformats.org/drawingml/2006/main">
              <a:ext uri="{FF2B5EF4-FFF2-40B4-BE49-F238E27FC236}">
                <a16:creationId xmlns:a16="http://schemas.microsoft.com/office/drawing/2014/main" id="{8201143C-924E-4232-A53D-9D7E67BA6848}"/>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Reassess choices as customer and route evidence arrives</a:t>
            </a:r>
          </a:p>
        </p:txBody>
      </p:sp>
      <p:sp>
        <p:nvSpPr>
          <p:cNvPr id="3" name="">
            <a:extLst xmlns:a="http://schemas.openxmlformats.org/drawingml/2006/main">
              <a:ext uri="{FF2B5EF4-FFF2-40B4-BE49-F238E27FC236}">
                <a16:creationId xmlns:a16="http://schemas.microsoft.com/office/drawing/2014/main" id="{987838A5-79FE-48A7-AFC8-97546A2B6D0B}"/>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The proposed model combines established methods into an executable decision workflow.</a:t>
            </a:r>
          </a:p>
        </p:txBody>
      </p:sp>
      <p:sp>
        <p:nvSpPr>
          <p:cNvPr id="4" name="">
            <a:extLst xmlns:a="http://schemas.openxmlformats.org/drawingml/2006/main">
              <a:ext uri="{FF2B5EF4-FFF2-40B4-BE49-F238E27FC236}">
                <a16:creationId xmlns:a16="http://schemas.microsoft.com/office/drawing/2014/main" id="{6DF2C88D-C528-4323-8972-2D8337F8AEA1}"/>
              </a:ext>
            </a:extLst>
          </p:cNvPr>
          <p:cNvSpPr>
            <a:spLocks xmlns:a="http://schemas.openxmlformats.org/drawingml/2006/main" noGrp="1"/>
          </p:cNvSpPr>
          <p:nvPr/>
        </p:nvSpPr>
        <p:spPr>
          <a:xfrm xmlns:a="http://schemas.openxmlformats.org/drawingml/2006/main">
            <a:off x="609600" y="2762250"/>
            <a:ext cx="3352800" cy="952500"/>
          </a:xfrm>
          <a:prstGeom xmlns:a="http://schemas.openxmlformats.org/drawingml/2006/main" prst="roundRect">
            <a:avLst>
              <a:gd name="adj" fmla="val 8000"/>
            </a:avLst>
          </a:prstGeom>
          <a:solidFill xmlns:a="http://schemas.openxmlformats.org/drawingml/2006/main">
            <a:srgbClr val="E7EEE4"/>
          </a:solidFill>
          <a:ln xmlns:a="http://schemas.openxmlformats.org/drawingml/2006/main" w="14288">
            <a:solidFill>
              <a:srgbClr val="78A583"/>
            </a:solidFill>
          </a:ln>
        </p:spPr>
        <p:txBody>
          <a:bodyPr xmlns:a="http://schemas.openxmlformats.org/drawingml/2006/main" anchor="ctr"/>
          <a:lstStyle xmlns:a="http://schemas.openxmlformats.org/drawingml/2006/main"/>
          <a:p xmlns:a="http://schemas.openxmlformats.org/drawingml/2006/main">
            <a:pPr algn="ctr">
              <a:defRPr sz="1800" b="1">
                <a:solidFill>
                  <a:srgbClr val="183B2A"/>
                </a:solidFill>
                <a:latin typeface="DejaVu Sans"/>
                <a:ea typeface="DejaVu Sans"/>
                <a:cs typeface="DejaVu Sans"/>
              </a:defRPr>
            </a:pPr>
            <a:r>
              <a:rPr sz="1800" b="1">
                <a:solidFill>
                  <a:srgbClr val="183B2A"/>
                </a:solidFill>
                <a:latin typeface="DejaVu Sans"/>
                <a:ea typeface="DejaVu Sans"/>
                <a:cs typeface="DejaVu Sans"/>
              </a:rPr>
              <a:t>Evidence + rights</a:t>
            </a:r>
          </a:p>
        </p:txBody>
      </p:sp>
      <p:sp>
        <p:nvSpPr>
          <p:cNvPr id="5" name="">
            <a:extLst xmlns:a="http://schemas.openxmlformats.org/drawingml/2006/main">
              <a:ext uri="{FF2B5EF4-FFF2-40B4-BE49-F238E27FC236}">
                <a16:creationId xmlns:a16="http://schemas.microsoft.com/office/drawing/2014/main" id="{EFD81A95-FB8F-40D6-A428-66B0A03E03F3}"/>
              </a:ext>
            </a:extLst>
          </p:cNvPr>
          <p:cNvSpPr>
            <a:spLocks xmlns:a="http://schemas.openxmlformats.org/drawingml/2006/main" noGrp="1"/>
          </p:cNvSpPr>
          <p:nvPr/>
        </p:nvSpPr>
        <p:spPr>
          <a:xfrm xmlns:a="http://schemas.openxmlformats.org/drawingml/2006/main">
            <a:off x="4419600" y="2762250"/>
            <a:ext cx="3352800" cy="952500"/>
          </a:xfrm>
          <a:prstGeom xmlns:a="http://schemas.openxmlformats.org/drawingml/2006/main" prst="roundRect">
            <a:avLst>
              <a:gd name="adj" fmla="val 8000"/>
            </a:avLst>
          </a:prstGeom>
          <a:solidFill xmlns:a="http://schemas.openxmlformats.org/drawingml/2006/main">
            <a:srgbClr val="E7EEE4"/>
          </a:solidFill>
          <a:ln xmlns:a="http://schemas.openxmlformats.org/drawingml/2006/main" w="14288">
            <a:solidFill>
              <a:srgbClr val="78A583"/>
            </a:solidFill>
          </a:ln>
        </p:spPr>
        <p:txBody>
          <a:bodyPr xmlns:a="http://schemas.openxmlformats.org/drawingml/2006/main" anchor="ctr"/>
          <a:lstStyle xmlns:a="http://schemas.openxmlformats.org/drawingml/2006/main"/>
          <a:p xmlns:a="http://schemas.openxmlformats.org/drawingml/2006/main">
            <a:pPr algn="ctr">
              <a:defRPr sz="1800" b="1">
                <a:solidFill>
                  <a:srgbClr val="183B2A"/>
                </a:solidFill>
                <a:latin typeface="DejaVu Sans"/>
                <a:ea typeface="DejaVu Sans"/>
                <a:cs typeface="DejaVu Sans"/>
              </a:defRPr>
            </a:pPr>
            <a:r>
              <a:rPr sz="1800" b="1">
                <a:solidFill>
                  <a:srgbClr val="183B2A"/>
                </a:solidFill>
                <a:latin typeface="DejaVu Sans"/>
                <a:ea typeface="DejaVu Sans"/>
                <a:cs typeface="DejaVu Sans"/>
              </a:rPr>
              <a:t>Customer value</a:t>
            </a:r>
          </a:p>
        </p:txBody>
      </p:sp>
      <p:sp>
        <p:nvSpPr>
          <p:cNvPr id="6" name="">
            <a:extLst xmlns:a="http://schemas.openxmlformats.org/drawingml/2006/main">
              <a:ext uri="{FF2B5EF4-FFF2-40B4-BE49-F238E27FC236}">
                <a16:creationId xmlns:a16="http://schemas.microsoft.com/office/drawing/2014/main" id="{780A8E08-7D6A-4034-B18B-6ECE86F21BD0}"/>
              </a:ext>
            </a:extLst>
          </p:cNvPr>
          <p:cNvSpPr>
            <a:spLocks xmlns:a="http://schemas.openxmlformats.org/drawingml/2006/main" noGrp="1"/>
          </p:cNvSpPr>
          <p:nvPr/>
        </p:nvSpPr>
        <p:spPr>
          <a:xfrm xmlns:a="http://schemas.openxmlformats.org/drawingml/2006/main">
            <a:off x="8229600" y="2762250"/>
            <a:ext cx="3352800" cy="952500"/>
          </a:xfrm>
          <a:prstGeom xmlns:a="http://schemas.openxmlformats.org/drawingml/2006/main" prst="roundRect">
            <a:avLst>
              <a:gd name="adj" fmla="val 8000"/>
            </a:avLst>
          </a:prstGeom>
          <a:solidFill xmlns:a="http://schemas.openxmlformats.org/drawingml/2006/main">
            <a:srgbClr val="E7EEE4"/>
          </a:solidFill>
          <a:ln xmlns:a="http://schemas.openxmlformats.org/drawingml/2006/main" w="14288">
            <a:solidFill>
              <a:srgbClr val="78A583"/>
            </a:solidFill>
          </a:ln>
        </p:spPr>
        <p:txBody>
          <a:bodyPr xmlns:a="http://schemas.openxmlformats.org/drawingml/2006/main" anchor="ctr"/>
          <a:lstStyle xmlns:a="http://schemas.openxmlformats.org/drawingml/2006/main"/>
          <a:p xmlns:a="http://schemas.openxmlformats.org/drawingml/2006/main">
            <a:pPr algn="ctr">
              <a:defRPr sz="1800" b="1">
                <a:solidFill>
                  <a:srgbClr val="183B2A"/>
                </a:solidFill>
                <a:latin typeface="DejaVu Sans"/>
                <a:ea typeface="DejaVu Sans"/>
                <a:cs typeface="DejaVu Sans"/>
              </a:defRPr>
            </a:pPr>
            <a:r>
              <a:rPr sz="1800" b="1">
                <a:solidFill>
                  <a:srgbClr val="183B2A"/>
                </a:solidFill>
                <a:latin typeface="DejaVu Sans"/>
                <a:ea typeface="DejaVu Sans"/>
                <a:cs typeface="DejaVu Sans"/>
              </a:rPr>
              <a:t>Deliverable supply</a:t>
            </a:r>
          </a:p>
        </p:txBody>
      </p:sp>
      <p:sp>
        <p:nvSpPr>
          <p:cNvPr id="7" name="">
            <a:extLst xmlns:a="http://schemas.openxmlformats.org/drawingml/2006/main">
              <a:ext uri="{FF2B5EF4-FFF2-40B4-BE49-F238E27FC236}">
                <a16:creationId xmlns:a16="http://schemas.microsoft.com/office/drawing/2014/main" id="{F536EEC1-3389-4DDC-AF1B-7C9B17A6AD69}"/>
              </a:ext>
            </a:extLst>
          </p:cNvPr>
          <p:cNvSpPr>
            <a:spLocks xmlns:a="http://schemas.openxmlformats.org/drawingml/2006/main" noGrp="1"/>
          </p:cNvSpPr>
          <p:nvPr/>
        </p:nvSpPr>
        <p:spPr>
          <a:xfrm xmlns:a="http://schemas.openxmlformats.org/drawingml/2006/main">
            <a:off x="8229600" y="4476750"/>
            <a:ext cx="3352800" cy="952500"/>
          </a:xfrm>
          <a:prstGeom xmlns:a="http://schemas.openxmlformats.org/drawingml/2006/main" prst="roundRect">
            <a:avLst>
              <a:gd name="adj" fmla="val 8000"/>
            </a:avLst>
          </a:prstGeom>
          <a:solidFill xmlns:a="http://schemas.openxmlformats.org/drawingml/2006/main">
            <a:srgbClr val="E7EEE4"/>
          </a:solidFill>
          <a:ln xmlns:a="http://schemas.openxmlformats.org/drawingml/2006/main" w="14288">
            <a:solidFill>
              <a:srgbClr val="78A583"/>
            </a:solidFill>
          </a:ln>
        </p:spPr>
        <p:txBody>
          <a:bodyPr xmlns:a="http://schemas.openxmlformats.org/drawingml/2006/main" anchor="ctr"/>
          <a:lstStyle xmlns:a="http://schemas.openxmlformats.org/drawingml/2006/main"/>
          <a:p xmlns:a="http://schemas.openxmlformats.org/drawingml/2006/main">
            <a:pPr algn="ctr">
              <a:defRPr sz="1800" b="1">
                <a:solidFill>
                  <a:srgbClr val="183B2A"/>
                </a:solidFill>
                <a:latin typeface="DejaVu Sans"/>
                <a:ea typeface="DejaVu Sans"/>
                <a:cs typeface="DejaVu Sans"/>
              </a:defRPr>
            </a:pPr>
            <a:r>
              <a:rPr sz="1800" b="1">
                <a:solidFill>
                  <a:srgbClr val="183B2A"/>
                </a:solidFill>
                <a:latin typeface="DejaVu Sans"/>
                <a:ea typeface="DejaVu Sans"/>
                <a:cs typeface="DejaVu Sans"/>
              </a:rPr>
              <a:t>Full cash + risk</a:t>
            </a:r>
          </a:p>
        </p:txBody>
      </p:sp>
      <p:sp>
        <p:nvSpPr>
          <p:cNvPr id="8" name="">
            <a:extLst xmlns:a="http://schemas.openxmlformats.org/drawingml/2006/main">
              <a:ext uri="{FF2B5EF4-FFF2-40B4-BE49-F238E27FC236}">
                <a16:creationId xmlns:a16="http://schemas.microsoft.com/office/drawing/2014/main" id="{2AD4799C-0EED-4814-A5AC-203A26C3F604}"/>
              </a:ext>
            </a:extLst>
          </p:cNvPr>
          <p:cNvSpPr>
            <a:spLocks xmlns:a="http://schemas.openxmlformats.org/drawingml/2006/main" noGrp="1"/>
          </p:cNvSpPr>
          <p:nvPr/>
        </p:nvSpPr>
        <p:spPr>
          <a:xfrm xmlns:a="http://schemas.openxmlformats.org/drawingml/2006/main">
            <a:off x="4419600" y="4476750"/>
            <a:ext cx="3352800" cy="952500"/>
          </a:xfrm>
          <a:prstGeom xmlns:a="http://schemas.openxmlformats.org/drawingml/2006/main" prst="roundRect">
            <a:avLst>
              <a:gd name="adj" fmla="val 8000"/>
            </a:avLst>
          </a:prstGeom>
          <a:solidFill xmlns:a="http://schemas.openxmlformats.org/drawingml/2006/main">
            <a:srgbClr val="E7EEE4"/>
          </a:solidFill>
          <a:ln xmlns:a="http://schemas.openxmlformats.org/drawingml/2006/main" w="14288">
            <a:solidFill>
              <a:srgbClr val="78A583"/>
            </a:solidFill>
          </a:ln>
        </p:spPr>
        <p:txBody>
          <a:bodyPr xmlns:a="http://schemas.openxmlformats.org/drawingml/2006/main" anchor="ctr"/>
          <a:lstStyle xmlns:a="http://schemas.openxmlformats.org/drawingml/2006/main"/>
          <a:p xmlns:a="http://schemas.openxmlformats.org/drawingml/2006/main">
            <a:pPr algn="ctr">
              <a:defRPr sz="1800" b="1">
                <a:solidFill>
                  <a:srgbClr val="183B2A"/>
                </a:solidFill>
                <a:latin typeface="DejaVu Sans"/>
                <a:ea typeface="DejaVu Sans"/>
                <a:cs typeface="DejaVu Sans"/>
              </a:defRPr>
            </a:pPr>
            <a:r>
              <a:rPr sz="1800" b="1">
                <a:solidFill>
                  <a:srgbClr val="183B2A"/>
                </a:solidFill>
                <a:latin typeface="DejaVu Sans"/>
                <a:ea typeface="DejaVu Sans"/>
                <a:cs typeface="DejaVu Sans"/>
              </a:rPr>
              <a:t>Learn / compare</a:t>
            </a:r>
          </a:p>
        </p:txBody>
      </p:sp>
      <p:sp>
        <p:nvSpPr>
          <p:cNvPr id="9" name="">
            <a:extLst xmlns:a="http://schemas.openxmlformats.org/drawingml/2006/main">
              <a:ext uri="{FF2B5EF4-FFF2-40B4-BE49-F238E27FC236}">
                <a16:creationId xmlns:a16="http://schemas.microsoft.com/office/drawing/2014/main" id="{8BB06933-B6DE-4F9C-A528-F539C22226A8}"/>
              </a:ext>
            </a:extLst>
          </p:cNvPr>
          <p:cNvSpPr>
            <a:spLocks xmlns:a="http://schemas.openxmlformats.org/drawingml/2006/main" noGrp="1"/>
          </p:cNvSpPr>
          <p:nvPr/>
        </p:nvSpPr>
        <p:spPr>
          <a:xfrm xmlns:a="http://schemas.openxmlformats.org/drawingml/2006/main">
            <a:off x="609600" y="4476750"/>
            <a:ext cx="3352800" cy="952500"/>
          </a:xfrm>
          <a:prstGeom xmlns:a="http://schemas.openxmlformats.org/drawingml/2006/main" prst="roundRect">
            <a:avLst>
              <a:gd name="adj" fmla="val 8000"/>
            </a:avLst>
          </a:prstGeom>
          <a:solidFill xmlns:a="http://schemas.openxmlformats.org/drawingml/2006/main">
            <a:srgbClr val="173C2B"/>
          </a:solidFill>
          <a:ln xmlns:a="http://schemas.openxmlformats.org/drawingml/2006/main" w="14288">
            <a:solidFill>
              <a:srgbClr val="78A583"/>
            </a:solidFill>
          </a:ln>
        </p:spPr>
        <p:txBody>
          <a:bodyPr xmlns:a="http://schemas.openxmlformats.org/drawingml/2006/main" anchor="ctr"/>
          <a:lstStyle xmlns:a="http://schemas.openxmlformats.org/drawingml/2006/main"/>
          <a:p xmlns:a="http://schemas.openxmlformats.org/drawingml/2006/main">
            <a:pPr algn="ctr">
              <a:defRPr sz="1800" b="1">
                <a:solidFill>
                  <a:srgbClr val="FFFFFF"/>
                </a:solidFill>
                <a:latin typeface="DejaVu Sans"/>
                <a:ea typeface="DejaVu Sans"/>
                <a:cs typeface="DejaVu Sans"/>
              </a:defRPr>
            </a:pPr>
            <a:r>
              <a:rPr sz="1800" b="1">
                <a:solidFill>
                  <a:srgbClr val="FFFFFF"/>
                </a:solidFill>
                <a:latin typeface="DejaVu Sans"/>
                <a:ea typeface="DejaVu Sans"/>
                <a:cs typeface="DejaVu Sans"/>
              </a:rPr>
              <a:t>Invest · wait · stop</a:t>
            </a:r>
          </a:p>
        </p:txBody>
      </p:sp>
      <p:sp>
        <p:nvSpPr>
          <p:cNvPr id="16" name="">
            <a:extLst xmlns:a="http://schemas.openxmlformats.org/drawingml/2006/main">
              <a:ext uri="{FF2B5EF4-FFF2-40B4-BE49-F238E27FC236}">
                <a16:creationId xmlns:a16="http://schemas.microsoft.com/office/drawing/2014/main" id="{D3EFC099-9E63-4248-8721-D3B3B84ECA1B}"/>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CONDITIONAL / ILLUSTRATIVE   |   A_PRIOR</a:t>
            </a:r>
          </a:p>
        </p:txBody>
      </p:sp>
      <p:sp>
        <p:nvSpPr>
          <p:cNvPr id="17" name="">
            <a:extLst xmlns:a="http://schemas.openxmlformats.org/drawingml/2006/main">
              <a:ext uri="{FF2B5EF4-FFF2-40B4-BE49-F238E27FC236}">
                <a16:creationId xmlns:a16="http://schemas.microsoft.com/office/drawing/2014/main" id="{F5C3CE06-2388-4970-ACC3-B8690250DA77}"/>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C-REGRET · C-E20   28 / 98</a:t>
            </a:r>
          </a:p>
        </p:txBody>
      </p:sp>
      <p:sp>
        <p:nvSpPr>
          <p:cNvPr id="18" name="">
            <a:extLst xmlns:a="http://schemas.openxmlformats.org/drawingml/2006/main">
              <a:ext uri="{FF2B5EF4-FFF2-40B4-BE49-F238E27FC236}">
                <a16:creationId xmlns:a16="http://schemas.microsoft.com/office/drawing/2014/main" id="{FA1F82AB-F32F-4BE0-AB30-074E7B2E63AB}"/>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bb463b68bec94692" action="ppaction://hlinksldjump"/>
              </a:rPr>
              <a:t>APPENDIX ↗</a:t>
            </a:r>
          </a:p>
        </p:txBody>
      </p:sp>
      <p:sp>
        <p:nvSpPr>
          <p:cNvPr id="19" name="">
            <a:extLst xmlns:a="http://schemas.openxmlformats.org/drawingml/2006/main">
              <a:ext uri="{FF2B5EF4-FFF2-40B4-BE49-F238E27FC236}">
                <a16:creationId xmlns:a16="http://schemas.microsoft.com/office/drawing/2014/main" id="{446CD76B-2B6A-45AC-A042-E15BF039CE4A}"/>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946f902a2cdf422e"/>
              </a:rPr>
              <a:t>EVIDENCE ↗</a:t>
            </a:r>
          </a:p>
        </p:txBody>
      </p:sp>
    </p:spTree>
    <p:extLst>
      <p:ext uri="{BB962C8B-B14F-4D97-AF65-F5344CB8AC3E}">
        <p14:creationId xmlns:p14="http://schemas.microsoft.com/office/powerpoint/2010/main" val="189906530"/>
      </p:ext>
    </p:extLst>
  </p:cSld>
</p:sld>
</file>

<file path=ppt/slides/slide29.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8A596F3-89D7-42A2-9721-074F657433EF}"/>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29</a:t>
            </a:r>
          </a:p>
        </p:txBody>
      </p:sp>
      <p:sp>
        <p:nvSpPr>
          <p:cNvPr id="2" name="">
            <a:extLst xmlns:a="http://schemas.openxmlformats.org/drawingml/2006/main">
              <a:ext uri="{FF2B5EF4-FFF2-40B4-BE49-F238E27FC236}">
                <a16:creationId xmlns:a16="http://schemas.microsoft.com/office/drawing/2014/main" id="{5654543C-38FA-4722-A4EC-3E024B743DB1}"/>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Robust regret can choose a partner over the largest plant</a:t>
            </a:r>
          </a:p>
        </p:txBody>
      </p:sp>
      <p:sp>
        <p:nvSpPr>
          <p:cNvPr id="3" name="">
            <a:extLst xmlns:a="http://schemas.openxmlformats.org/drawingml/2006/main">
              <a:ext uri="{FF2B5EF4-FFF2-40B4-BE49-F238E27FC236}">
                <a16:creationId xmlns:a16="http://schemas.microsoft.com/office/drawing/2014/main" id="{9200DC47-2ED0-499F-B1EE-D67F8EC9DCB0}"/>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A transparent teaching case changes the decision under the same USD20m maximum envelope.</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3810000"/>
                <a:gridCol w="1790700"/>
                <a:gridCol w="1790700"/>
                <a:gridCol w="1790700"/>
                <a:gridCol w="1790700"/>
              </a:tblGrid>
              <a:tr h="666750">
                <a:tc>
                  <a:txBody>
                    <a:bodyPr/>
                    <a:lstStyle/>
                    <a:p>
                      <a:r>
                        <a:rPr sz="1050" b="1">
                          <a:solidFill>
                            <a:srgbClr val="49624F"/>
                          </a:solidFill>
                          <a:latin typeface="DejaVu Sans"/>
                          <a:ea typeface="DejaVu Sans"/>
                          <a:cs typeface="DejaVu Sans"/>
                        </a:rPr>
                        <a:t>Chosen payoff, USD m</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Managed</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Integration</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Physical</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Max regret</a:t>
                      </a:r>
                    </a:p>
                  </a:txBody>
                  <a:tcPr marL="114300" marR="114300" marT="76200" marB="76200" anchor="t">
                    <a:solidFill>
                      <a:srgbClr val="E7EEE4"/>
                    </a:solidFill>
                  </a:tcPr>
                </a:tc>
              </a:tr>
              <a:tr h="666750">
                <a:tc>
                  <a:txBody>
                    <a:bodyPr/>
                    <a:lstStyle/>
                    <a:p>
                      <a:r>
                        <a:rPr sz="1200">
                          <a:solidFill>
                            <a:srgbClr val="183B2A"/>
                          </a:solidFill>
                          <a:latin typeface="DejaVu Sans"/>
                          <a:ea typeface="DejaVu Sans"/>
                          <a:cs typeface="DejaVu Sans"/>
                        </a:rPr>
                        <a:t>Wait</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14.0</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Large owned plant</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9.0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14.0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-8.0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8.0</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Partner processing</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6.0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10.0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4.0</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Capped contracted trade</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4.0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7.0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7.0</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BD59C78F-6F1A-4DD9-9C7B-F0FE3DA37BF2}"/>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A_PRIOR · A_EXAMPLE</a:t>
            </a:r>
          </a:p>
        </p:txBody>
      </p:sp>
      <p:sp>
        <p:nvSpPr>
          <p:cNvPr id="6" name="">
            <a:extLst xmlns:a="http://schemas.openxmlformats.org/drawingml/2006/main">
              <a:ext uri="{FF2B5EF4-FFF2-40B4-BE49-F238E27FC236}">
                <a16:creationId xmlns:a16="http://schemas.microsoft.com/office/drawing/2014/main" id="{D73549E8-2B00-4293-B5EA-CB688CD3753F}"/>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C-REGRET   29 / 98</a:t>
            </a:r>
          </a:p>
        </p:txBody>
      </p:sp>
      <p:sp>
        <p:nvSpPr>
          <p:cNvPr id="7" name="">
            <a:extLst xmlns:a="http://schemas.openxmlformats.org/drawingml/2006/main">
              <a:ext uri="{FF2B5EF4-FFF2-40B4-BE49-F238E27FC236}">
                <a16:creationId xmlns:a16="http://schemas.microsoft.com/office/drawing/2014/main" id="{FA3D3AF6-78FC-4D17-A380-A6A80A36DCE3}"/>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1838c437d8df4700" action="ppaction://hlinksldjump"/>
              </a:rPr>
              <a:t>APPENDIX ↗</a:t>
            </a:r>
          </a:p>
        </p:txBody>
      </p:sp>
      <p:sp>
        <p:nvSpPr>
          <p:cNvPr id="8" name="">
            <a:extLst xmlns:a="http://schemas.openxmlformats.org/drawingml/2006/main">
              <a:ext uri="{FF2B5EF4-FFF2-40B4-BE49-F238E27FC236}">
                <a16:creationId xmlns:a16="http://schemas.microsoft.com/office/drawing/2014/main" id="{C0E3EBBC-E6E9-4175-84CE-949F6CE4540C}"/>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aef6d5fe67a84fc9"/>
              </a:rPr>
              <a:t>EVIDENCE ↗</a:t>
            </a:r>
          </a:p>
        </p:txBody>
      </p:sp>
    </p:spTree>
    <p:extLst>
      <p:ext uri="{BB962C8B-B14F-4D97-AF65-F5344CB8AC3E}">
        <p14:creationId xmlns:p14="http://schemas.microsoft.com/office/powerpoint/2010/main" val="1219934899"/>
      </p:ext>
    </p:extLst>
  </p:cSld>
</p:sld>
</file>

<file path=ppt/slides/slide30.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E90908D-DDE6-422B-A89E-98A3E28848A1}"/>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30</a:t>
            </a:r>
          </a:p>
        </p:txBody>
      </p:sp>
      <p:sp>
        <p:nvSpPr>
          <p:cNvPr id="2" name="">
            <a:extLst xmlns:a="http://schemas.openxmlformats.org/drawingml/2006/main">
              <a:ext uri="{FF2B5EF4-FFF2-40B4-BE49-F238E27FC236}">
                <a16:creationId xmlns:a16="http://schemas.microsoft.com/office/drawing/2014/main" id="{D649DE29-7199-4B6C-809A-102E2B40BCEF}"/>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The executed supply regression is insufficient for investment forecasting</a:t>
            </a:r>
          </a:p>
        </p:txBody>
      </p:sp>
      <p:sp>
        <p:nvSpPr>
          <p:cNvPr id="3" name="">
            <a:extLst xmlns:a="http://schemas.openxmlformats.org/drawingml/2006/main">
              <a:ext uri="{FF2B5EF4-FFF2-40B4-BE49-F238E27FC236}">
                <a16:creationId xmlns:a16="http://schemas.microsoft.com/office/drawing/2014/main" id="{9C8FA320-2A17-4ECF-A289-DFF30951E1AC}"/>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A small error gain does not turn aggregate food production into product demand.</a:t>
            </a:r>
          </a:p>
        </p:txBody>
      </p:sp>
      <p:graphicFrame>
        <p:nvGraphicFramePr>
          <p:cNvPr id="13" name=""/>
          <p:cNvGraphicFramePr/>
          <p:nvPr/>
        </p:nvGraphicFramePr>
        <p:xfrm>
          <a:off xmlns:a="http://schemas.openxmlformats.org/drawingml/2006/main" x="609600" y="2505075"/>
          <a:ext xmlns:a="http://schemas.openxmlformats.org/drawingml/2006/main" cx="10972800" cy="2143125"/>
        </p:xfrm>
        <a:graphic xmlns:a="http://schemas.openxmlformats.org/drawingml/2006/main">
          <a:graphicData uri="http://schemas.openxmlformats.org/drawingml/2006/table">
            <a:tbl>
              <a:tblPr/>
              <a:tblGrid>
                <a:gridCol w="3429000"/>
                <a:gridCol w="7543800"/>
              </a:tblGrid>
              <a:tr h="357188">
                <a:tc>
                  <a:txBody>
                    <a:bodyPr/>
                    <a:lstStyle/>
                    <a:p>
                      <a:r>
                        <a:rPr sz="1050" b="1">
                          <a:solidFill>
                            <a:srgbClr val="49624F"/>
                          </a:solidFill>
                          <a:latin typeface="DejaVu Sans"/>
                          <a:ea typeface="DejaVu Sans"/>
                          <a:cs typeface="DejaVu Sans"/>
                        </a:rPr>
                        <a:t>Validation, annual log growth</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Result</a:t>
                      </a:r>
                    </a:p>
                  </a:txBody>
                  <a:tcPr marL="114300" marR="114300" marT="76200" marB="76200" anchor="t">
                    <a:solidFill>
                      <a:srgbClr val="E7EEE4"/>
                    </a:solidFill>
                  </a:tcPr>
                </a:tc>
              </a:tr>
              <a:tr h="357188">
                <a:tc>
                  <a:txBody>
                    <a:bodyPr/>
                    <a:lstStyle/>
                    <a:p>
                      <a:r>
                        <a:rPr sz="1275">
                          <a:solidFill>
                            <a:srgbClr val="183B2A"/>
                          </a:solidFill>
                          <a:latin typeface="DejaVu Sans"/>
                          <a:ea typeface="DejaVu Sans"/>
                          <a:cs typeface="DejaVu Sans"/>
                        </a:rPr>
                        <a:t>Train / held-out records</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2,856 /680</a:t>
                      </a:r>
                    </a:p>
                  </a:txBody>
                  <a:tcPr marL="114300" marR="114300" marT="76200" marB="76200" anchor="t">
                    <a:solidFill>
                      <a:srgbClr val="FFFEF9"/>
                    </a:solidFill>
                  </a:tcPr>
                </a:tc>
              </a:tr>
              <a:tr h="357188">
                <a:tc>
                  <a:txBody>
                    <a:bodyPr/>
                    <a:lstStyle/>
                    <a:p>
                      <a:r>
                        <a:rPr sz="1275">
                          <a:solidFill>
                            <a:srgbClr val="183B2A"/>
                          </a:solidFill>
                          <a:latin typeface="DejaVu Sans"/>
                          <a:ea typeface="DejaVu Sans"/>
                          <a:cs typeface="DejaVu Sans"/>
                        </a:rPr>
                        <a:t>Holdout period</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2019–2022</a:t>
                      </a:r>
                    </a:p>
                  </a:txBody>
                  <a:tcPr marL="114300" marR="114300" marT="76200" marB="76200" anchor="t">
                    <a:solidFill>
                      <a:srgbClr val="FFFEF9"/>
                    </a:solidFill>
                  </a:tcPr>
                </a:tc>
              </a:tr>
              <a:tr h="357188">
                <a:tc>
                  <a:txBody>
                    <a:bodyPr/>
                    <a:lstStyle/>
                    <a:p>
                      <a:r>
                        <a:rPr sz="1275">
                          <a:solidFill>
                            <a:srgbClr val="183B2A"/>
                          </a:solidFill>
                          <a:latin typeface="DejaVu Sans"/>
                          <a:ea typeface="DejaVu Sans"/>
                          <a:cs typeface="DejaVu Sans"/>
                        </a:rPr>
                        <a:t>Model MAE /country-mean MAE</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0.04830 /0.04979</a:t>
                      </a:r>
                    </a:p>
                  </a:txBody>
                  <a:tcPr marL="114300" marR="114300" marT="76200" marB="76200" anchor="t">
                    <a:solidFill>
                      <a:srgbClr val="FFFEF9"/>
                    </a:solidFill>
                  </a:tcPr>
                </a:tc>
              </a:tr>
              <a:tr h="357188">
                <a:tc>
                  <a:txBody>
                    <a:bodyPr/>
                    <a:lstStyle/>
                    <a:p>
                      <a:r>
                        <a:rPr sz="1275">
                          <a:solidFill>
                            <a:srgbClr val="183B2A"/>
                          </a:solidFill>
                          <a:latin typeface="DejaVu Sans"/>
                          <a:ea typeface="DejaVu Sans"/>
                          <a:cs typeface="DejaVu Sans"/>
                        </a:rPr>
                        <a:t>In-sample R²</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0.00618</a:t>
                      </a:r>
                    </a:p>
                  </a:txBody>
                  <a:tcPr marL="114300" marR="114300" marT="76200" marB="76200" anchor="t">
                    <a:solidFill>
                      <a:srgbClr val="FFFEF9"/>
                    </a:solidFill>
                  </a:tcPr>
                </a:tc>
              </a:tr>
              <a:tr h="357188">
                <a:tc>
                  <a:txBody>
                    <a:bodyPr/>
                    <a:lstStyle/>
                    <a:p>
                      <a:r>
                        <a:rPr sz="1275">
                          <a:solidFill>
                            <a:srgbClr val="183B2A"/>
                          </a:solidFill>
                          <a:latin typeface="DejaVu Sans"/>
                          <a:ea typeface="DejaVu Sans"/>
                          <a:cs typeface="DejaVu Sans"/>
                        </a:rPr>
                        <a:t>Selection</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Reject for investment forecasting; retain benchmarks</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011EA4D0-87B7-4A6C-8C8B-1720B6E00D4D}"/>
              </a:ext>
            </a:extLst>
          </p:cNvPr>
          <p:cNvSpPr>
            <a:spLocks xmlns:a="http://schemas.openxmlformats.org/drawingml/2006/main" noGrp="1"/>
          </p:cNvSpPr>
          <p:nvPr/>
        </p:nvSpPr>
        <p:spPr>
          <a:xfrm xmlns:a="http://schemas.openxmlformats.org/drawingml/2006/main">
            <a:off x="609600" y="4857750"/>
            <a:ext cx="109728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Executed teaching tests: imperfect EVSI0.70 USDm; marketing/capacity contribution changes sign; regret, network and same-input ablations are in the verification appendix.</a:t>
            </a:r>
          </a:p>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Supply OLS remains rejected for investment forecasting. Internal causal effects, empirical policy superiority and exclusive originality are unproved.</a:t>
            </a:r>
          </a:p>
        </p:txBody>
      </p:sp>
      <p:sp>
        <p:nvSpPr>
          <p:cNvPr id="6" name="">
            <a:extLst xmlns:a="http://schemas.openxmlformats.org/drawingml/2006/main">
              <a:ext uri="{FF2B5EF4-FFF2-40B4-BE49-F238E27FC236}">
                <a16:creationId xmlns:a16="http://schemas.microsoft.com/office/drawing/2014/main" id="{E53A1CBF-1C7A-4FE4-8D72-85DCDB2656C2}"/>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SOURCE WB_food_index · WB_income_ppp · WB_urban · WB_cereal_yield</a:t>
            </a:r>
          </a:p>
        </p:txBody>
      </p:sp>
      <p:sp>
        <p:nvSpPr>
          <p:cNvPr id="7" name="">
            <a:extLst xmlns:a="http://schemas.openxmlformats.org/drawingml/2006/main">
              <a:ext uri="{FF2B5EF4-FFF2-40B4-BE49-F238E27FC236}">
                <a16:creationId xmlns:a16="http://schemas.microsoft.com/office/drawing/2014/main" id="{E17CC005-0EEC-492C-B859-345C26DD10A6}"/>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C-OLS   30 / 98</a:t>
            </a:r>
          </a:p>
        </p:txBody>
      </p:sp>
      <p:sp>
        <p:nvSpPr>
          <p:cNvPr id="8" name="">
            <a:extLst xmlns:a="http://schemas.openxmlformats.org/drawingml/2006/main">
              <a:ext uri="{FF2B5EF4-FFF2-40B4-BE49-F238E27FC236}">
                <a16:creationId xmlns:a16="http://schemas.microsoft.com/office/drawing/2014/main" id="{16FE370A-807D-427E-BAFE-77FAC1CD5772}"/>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5e4dc35cecb54456" action="ppaction://hlinksldjump"/>
              </a:rPr>
              <a:t>APPENDIX ↗</a:t>
            </a:r>
          </a:p>
        </p:txBody>
      </p:sp>
      <p:sp>
        <p:nvSpPr>
          <p:cNvPr id="9" name="">
            <a:extLst xmlns:a="http://schemas.openxmlformats.org/drawingml/2006/main">
              <a:ext uri="{FF2B5EF4-FFF2-40B4-BE49-F238E27FC236}">
                <a16:creationId xmlns:a16="http://schemas.microsoft.com/office/drawing/2014/main" id="{60932F7A-4025-41D0-98AD-3301DCFF271B}"/>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de44e21b15f5431c"/>
              </a:rPr>
              <a:t>EVIDENCE ↗</a:t>
            </a:r>
          </a:p>
        </p:txBody>
      </p:sp>
    </p:spTree>
    <p:extLst>
      <p:ext uri="{BB962C8B-B14F-4D97-AF65-F5344CB8AC3E}">
        <p14:creationId xmlns:p14="http://schemas.microsoft.com/office/powerpoint/2010/main" val="1161404941"/>
      </p:ext>
    </p:extLst>
  </p:cSld>
</p:sld>
</file>

<file path=ppt/slides/slide31.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1015AB3-2D18-4AA0-B76E-77949F18B905}"/>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31</a:t>
            </a:r>
          </a:p>
        </p:txBody>
      </p:sp>
      <p:sp>
        <p:nvSpPr>
          <p:cNvPr id="2" name="">
            <a:extLst xmlns:a="http://schemas.openxmlformats.org/drawingml/2006/main">
              <a:ext uri="{FF2B5EF4-FFF2-40B4-BE49-F238E27FC236}">
                <a16:creationId xmlns:a16="http://schemas.microsoft.com/office/drawing/2014/main" id="{ACF54979-67B8-4B88-9E29-862BAC94B232}"/>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Pre-register contribution and cash, then test incremental marketing</a:t>
            </a:r>
          </a:p>
        </p:txBody>
      </p:sp>
      <p:sp>
        <p:nvSpPr>
          <p:cNvPr id="3" name="">
            <a:extLst xmlns:a="http://schemas.openxmlformats.org/drawingml/2006/main">
              <a:ext uri="{FF2B5EF4-FFF2-40B4-BE49-F238E27FC236}">
                <a16:creationId xmlns:a16="http://schemas.microsoft.com/office/drawing/2014/main" id="{540418D3-3EF0-4329-BE7E-38F4A92DD8AB}"/>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Use randomised route clusters when feasible; otherwise defend the counterfactual.</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3429000"/>
                <a:gridCol w="7543800"/>
              </a:tblGrid>
              <a:tr h="555625">
                <a:tc>
                  <a:txBody>
                    <a:bodyPr/>
                    <a:lstStyle/>
                    <a:p>
                      <a:r>
                        <a:rPr sz="1050" b="1">
                          <a:solidFill>
                            <a:srgbClr val="49624F"/>
                          </a:solidFill>
                          <a:latin typeface="DejaVu Sans"/>
                          <a:ea typeface="DejaVu Sans"/>
                          <a:cs typeface="DejaVu Sans"/>
                        </a:rPr>
                        <a:t>Pilot requirement</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Concrete specification</a:t>
                      </a:r>
                    </a:p>
                  </a:txBody>
                  <a:tcPr marL="114300" marR="114300" marT="76200" marB="76200" anchor="t">
                    <a:solidFill>
                      <a:srgbClr val="E7EEE4"/>
                    </a:solidFill>
                  </a:tcPr>
                </a:tc>
              </a:tr>
              <a:tr h="555625">
                <a:tc>
                  <a:txBody>
                    <a:bodyPr/>
                    <a:lstStyle/>
                    <a:p>
                      <a:r>
                        <a:rPr sz="1275">
                          <a:solidFill>
                            <a:srgbClr val="183B2A"/>
                          </a:solidFill>
                          <a:latin typeface="DejaVu Sans"/>
                          <a:ea typeface="DejaVu Sans"/>
                          <a:cs typeface="DejaVu Sans"/>
                        </a:rPr>
                        <a:t>Eligible outcome</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Paid sell-through × incremental contribution, net of service/trade cost</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Counterfactual</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Holdout routes with baseline and spillover checks</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Sizing</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Baseline variance, detectable effect, clustering and attrition</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Decision</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Confidence interval + contribution + funding + sustained repeat</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No claim today</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No measured Olam treatment effect or causal ROMI</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9A0559F6-AF3D-466F-BEFE-CFF44E48277F}"/>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SOURCE DID · NOBEL_2021   |   A_PILOT</a:t>
            </a:r>
          </a:p>
        </p:txBody>
      </p:sp>
      <p:sp>
        <p:nvSpPr>
          <p:cNvPr id="6" name="">
            <a:extLst xmlns:a="http://schemas.openxmlformats.org/drawingml/2006/main">
              <a:ext uri="{FF2B5EF4-FFF2-40B4-BE49-F238E27FC236}">
                <a16:creationId xmlns:a16="http://schemas.microsoft.com/office/drawing/2014/main" id="{BB8B70DA-CF88-4A7C-9AF7-70B418AF7401}"/>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C-E18 · C-E19   31 / 98</a:t>
            </a:r>
          </a:p>
        </p:txBody>
      </p:sp>
      <p:sp>
        <p:nvSpPr>
          <p:cNvPr id="7" name="">
            <a:extLst xmlns:a="http://schemas.openxmlformats.org/drawingml/2006/main">
              <a:ext uri="{FF2B5EF4-FFF2-40B4-BE49-F238E27FC236}">
                <a16:creationId xmlns:a16="http://schemas.microsoft.com/office/drawing/2014/main" id="{53665282-E40E-4FA8-9789-DF20041BBFF0}"/>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17921f80b63f41c6" action="ppaction://hlinksldjump"/>
              </a:rPr>
              <a:t>APPENDIX ↗</a:t>
            </a:r>
          </a:p>
        </p:txBody>
      </p:sp>
      <p:sp>
        <p:nvSpPr>
          <p:cNvPr id="8" name="">
            <a:extLst xmlns:a="http://schemas.openxmlformats.org/drawingml/2006/main">
              <a:ext uri="{FF2B5EF4-FFF2-40B4-BE49-F238E27FC236}">
                <a16:creationId xmlns:a16="http://schemas.microsoft.com/office/drawing/2014/main" id="{8A71094A-9D20-44F3-B323-4DB76C898829}"/>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de7587d0b0084bee"/>
              </a:rPr>
              <a:t>EVIDENCE ↗</a:t>
            </a:r>
          </a:p>
        </p:txBody>
      </p:sp>
    </p:spTree>
    <p:extLst>
      <p:ext uri="{BB962C8B-B14F-4D97-AF65-F5344CB8AC3E}">
        <p14:creationId xmlns:p14="http://schemas.microsoft.com/office/powerpoint/2010/main" val="1404652987"/>
      </p:ext>
    </p:extLst>
  </p:cSld>
</p:sld>
</file>

<file path=ppt/slides/slide32.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89EA8AE-7500-49A8-9A37-0486C569032D}"/>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32</a:t>
            </a:r>
          </a:p>
        </p:txBody>
      </p:sp>
      <p:sp>
        <p:nvSpPr>
          <p:cNvPr id="2" name="">
            <a:extLst xmlns:a="http://schemas.openxmlformats.org/drawingml/2006/main">
              <a:ext uri="{FF2B5EF4-FFF2-40B4-BE49-F238E27FC236}">
                <a16:creationId xmlns:a16="http://schemas.microsoft.com/office/drawing/2014/main" id="{7656ABF8-FA75-4FF9-B083-5D982E626DE7}"/>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Dates organize review; evidence releases commitments</a:t>
            </a:r>
          </a:p>
        </p:txBody>
      </p:sp>
      <p:sp>
        <p:nvSpPr>
          <p:cNvPr id="3" name="">
            <a:extLst xmlns:a="http://schemas.openxmlformats.org/drawingml/2006/main">
              <a:ext uri="{FF2B5EF4-FFF2-40B4-BE49-F238E27FC236}">
                <a16:creationId xmlns:a16="http://schemas.microsoft.com/office/drawing/2014/main" id="{2F2760C6-CE3B-49E3-8446-A754131A1C29}"/>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Milestones through 2051 are review windows, not promises of expansion.</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4095750"/>
                <a:gridCol w="3438525"/>
                <a:gridCol w="3438525"/>
              </a:tblGrid>
              <a:tr h="666750">
                <a:tc>
                  <a:txBody>
                    <a:bodyPr/>
                    <a:lstStyle/>
                    <a:p>
                      <a:r>
                        <a:rPr sz="1050" b="1">
                          <a:solidFill>
                            <a:srgbClr val="49624F"/>
                          </a:solidFill>
                          <a:latin typeface="DejaVu Sans"/>
                          <a:ea typeface="DejaVu Sans"/>
                          <a:cs typeface="DejaVu Sans"/>
                        </a:rPr>
                        <a:t>Window</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Capability</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Release condition</a:t>
                      </a:r>
                    </a:p>
                  </a:txBody>
                  <a:tcPr marL="114300" marR="114300" marT="76200" marB="76200" anchor="t">
                    <a:solidFill>
                      <a:srgbClr val="E7EEE4"/>
                    </a:solidFill>
                  </a:tcPr>
                </a:tc>
              </a:tr>
              <a:tr h="666750">
                <a:tc>
                  <a:txBody>
                    <a:bodyPr/>
                    <a:lstStyle/>
                    <a:p>
                      <a:r>
                        <a:rPr sz="1200">
                          <a:solidFill>
                            <a:srgbClr val="183B2A"/>
                          </a:solidFill>
                          <a:latin typeface="DejaVu Sans"/>
                          <a:ea typeface="DejaVu Sans"/>
                          <a:cs typeface="DejaVu Sans"/>
                        </a:rPr>
                        <a:t>2026–2030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Customer data, route P&amp;L and seasonal cash</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Replicated contribution and legal clearance</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2030–2035</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Supplier diversity and modular processing</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Contracted demand, financed cash and resilient delivery</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2035–2045</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Reconfigure origins, assets and offers</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Updated hazards, customer preferences and opportunity cost</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2045–2051</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Renew, repurpose or close capacity</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Replacement economics and funded orderly exit</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3F902E2A-4D7C-4745-8338-8404F0EA2A64}"/>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SOURCE OECD · UN_WPP   |   A_OUTER</a:t>
            </a:r>
          </a:p>
        </p:txBody>
      </p:sp>
      <p:sp>
        <p:nvSpPr>
          <p:cNvPr id="6" name="">
            <a:extLst xmlns:a="http://schemas.openxmlformats.org/drawingml/2006/main">
              <a:ext uri="{FF2B5EF4-FFF2-40B4-BE49-F238E27FC236}">
                <a16:creationId xmlns:a16="http://schemas.microsoft.com/office/drawing/2014/main" id="{8F677A0A-FF1F-4A41-AD90-99D8162C6C59}"/>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32 / 98</a:t>
            </a:r>
          </a:p>
        </p:txBody>
      </p:sp>
      <p:sp>
        <p:nvSpPr>
          <p:cNvPr id="7" name="">
            <a:extLst xmlns:a="http://schemas.openxmlformats.org/drawingml/2006/main">
              <a:ext uri="{FF2B5EF4-FFF2-40B4-BE49-F238E27FC236}">
                <a16:creationId xmlns:a16="http://schemas.microsoft.com/office/drawing/2014/main" id="{E4A371F3-D979-4CD3-ABF9-5ADFC839FE7F}"/>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8e5094ed185544b4" action="ppaction://hlinksldjump"/>
              </a:rPr>
              <a:t>APPENDIX ↗</a:t>
            </a:r>
          </a:p>
        </p:txBody>
      </p:sp>
      <p:sp>
        <p:nvSpPr>
          <p:cNvPr id="8" name="">
            <a:extLst xmlns:a="http://schemas.openxmlformats.org/drawingml/2006/main">
              <a:ext uri="{FF2B5EF4-FFF2-40B4-BE49-F238E27FC236}">
                <a16:creationId xmlns:a16="http://schemas.microsoft.com/office/drawing/2014/main" id="{420ECE36-961D-484D-8760-1FDED2EAF0F6}"/>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c10c01a0b08b4524"/>
              </a:rPr>
              <a:t>EVIDENCE ↗</a:t>
            </a:r>
          </a:p>
        </p:txBody>
      </p:sp>
    </p:spTree>
    <p:extLst>
      <p:ext uri="{BB962C8B-B14F-4D97-AF65-F5344CB8AC3E}">
        <p14:creationId xmlns:p14="http://schemas.microsoft.com/office/powerpoint/2010/main" val="1659822312"/>
      </p:ext>
    </p:extLst>
  </p:cSld>
</p:sld>
</file>

<file path=ppt/slides/slide33.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E6994FB-4A68-4539-8F80-E41B3D55F0DC}"/>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33</a:t>
            </a:r>
          </a:p>
        </p:txBody>
      </p:sp>
      <p:sp>
        <p:nvSpPr>
          <p:cNvPr id="2" name="">
            <a:extLst xmlns:a="http://schemas.openxmlformats.org/drawingml/2006/main">
              <a:ext uri="{FF2B5EF4-FFF2-40B4-BE49-F238E27FC236}">
                <a16:creationId xmlns:a16="http://schemas.microsoft.com/office/drawing/2014/main" id="{4DC40C1D-4DCC-41EB-BD17-C48702C314FB}"/>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G0–G7 gives every commitment an owner and a stop rule</a:t>
            </a:r>
          </a:p>
        </p:txBody>
      </p:sp>
      <p:sp>
        <p:nvSpPr>
          <p:cNvPr id="3" name="">
            <a:extLst xmlns:a="http://schemas.openxmlformats.org/drawingml/2006/main">
              <a:ext uri="{FF2B5EF4-FFF2-40B4-BE49-F238E27FC236}">
                <a16:creationId xmlns:a16="http://schemas.microsoft.com/office/drawing/2014/main" id="{34326A86-8321-4430-AD97-4D4E7BE8667F}"/>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Legal and liquidity failures override an attractive demand story.</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3429000"/>
                <a:gridCol w="7543800"/>
              </a:tblGrid>
              <a:tr h="555625">
                <a:tc>
                  <a:txBody>
                    <a:bodyPr/>
                    <a:lstStyle/>
                    <a:p>
                      <a:r>
                        <a:rPr sz="1050" b="1">
                          <a:solidFill>
                            <a:srgbClr val="49624F"/>
                          </a:solidFill>
                          <a:latin typeface="DejaVu Sans"/>
                          <a:ea typeface="DejaVu Sans"/>
                          <a:cs typeface="DejaVu Sans"/>
                        </a:rPr>
                        <a:t>Gate</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Owner / release evidence</a:t>
                      </a:r>
                    </a:p>
                  </a:txBody>
                  <a:tcPr marL="114300" marR="114300" marT="76200" marB="76200" anchor="t">
                    <a:solidFill>
                      <a:srgbClr val="E7EEE4"/>
                    </a:solidFill>
                  </a:tcPr>
                </a:tc>
              </a:tr>
              <a:tr h="555625">
                <a:tc>
                  <a:txBody>
                    <a:bodyPr/>
                    <a:lstStyle/>
                    <a:p>
                      <a:r>
                        <a:rPr sz="1275">
                          <a:solidFill>
                            <a:srgbClr val="183B2A"/>
                          </a:solidFill>
                          <a:latin typeface="DejaVu Sans"/>
                          <a:ea typeface="DejaVu Sans"/>
                          <a:cs typeface="DejaVu Sans"/>
                        </a:rPr>
                        <a:t>G0 perimeter + G1 access</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Strategy/Legal: right entity, HS, sanctions, rights and licenses</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G2 customer + G3 contribution</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Marketing/Finance: paid repeat and costed counterfactual</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G4 capacity + G5 resilience</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Operations: throughput, yield, route and common-shock response</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G6 cash + G7 replication</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Treasury/IC: seasonal cash, stress funding and transfer proof</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Monitor / stop</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Monthly operational signals; immediate breach escalation</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BB5B5D5F-BAB4-451D-A338-BBD976C272A0}"/>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CONDITIONAL / ILLUSTRATIVE   |   A_PILOT</a:t>
            </a:r>
          </a:p>
        </p:txBody>
      </p:sp>
      <p:sp>
        <p:nvSpPr>
          <p:cNvPr id="6" name="">
            <a:extLst xmlns:a="http://schemas.openxmlformats.org/drawingml/2006/main">
              <a:ext uri="{FF2B5EF4-FFF2-40B4-BE49-F238E27FC236}">
                <a16:creationId xmlns:a16="http://schemas.microsoft.com/office/drawing/2014/main" id="{FFE4A615-ED40-4DE9-AAEA-50BB36D43FBE}"/>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33 / 98</a:t>
            </a:r>
          </a:p>
        </p:txBody>
      </p:sp>
      <p:sp>
        <p:nvSpPr>
          <p:cNvPr id="7" name="">
            <a:extLst xmlns:a="http://schemas.openxmlformats.org/drawingml/2006/main">
              <a:ext uri="{FF2B5EF4-FFF2-40B4-BE49-F238E27FC236}">
                <a16:creationId xmlns:a16="http://schemas.microsoft.com/office/drawing/2014/main" id="{924578D5-CA36-4EF4-8C0A-2FCD8B5FABF4}"/>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d40c5e11b08249f2" action="ppaction://hlinksldjump"/>
              </a:rPr>
              <a:t>APPENDIX ↗</a:t>
            </a:r>
          </a:p>
        </p:txBody>
      </p:sp>
      <p:sp>
        <p:nvSpPr>
          <p:cNvPr id="8" name="">
            <a:extLst xmlns:a="http://schemas.openxmlformats.org/drawingml/2006/main">
              <a:ext uri="{FF2B5EF4-FFF2-40B4-BE49-F238E27FC236}">
                <a16:creationId xmlns:a16="http://schemas.microsoft.com/office/drawing/2014/main" id="{73783B2A-A5EC-47DC-8815-C13A06186D98}"/>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a9e0de2cb26d4c1b"/>
              </a:rPr>
              <a:t>EVIDENCE ↗</a:t>
            </a:r>
          </a:p>
        </p:txBody>
      </p:sp>
    </p:spTree>
    <p:extLst>
      <p:ext uri="{BB962C8B-B14F-4D97-AF65-F5344CB8AC3E}">
        <p14:creationId xmlns:p14="http://schemas.microsoft.com/office/powerpoint/2010/main" val="1497368527"/>
      </p:ext>
    </p:extLst>
  </p:cSld>
</p:sld>
</file>

<file path=ppt/slides/slide34.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6E9FBBD-92E6-4063-BF36-1A4EAE516C15}"/>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34</a:t>
            </a:r>
          </a:p>
        </p:txBody>
      </p:sp>
      <p:sp>
        <p:nvSpPr>
          <p:cNvPr id="2" name="">
            <a:extLst xmlns:a="http://schemas.openxmlformats.org/drawingml/2006/main">
              <a:ext uri="{FF2B5EF4-FFF2-40B4-BE49-F238E27FC236}">
                <a16:creationId xmlns:a16="http://schemas.microsoft.com/office/drawing/2014/main" id="{E997DE04-856A-499F-BFAE-FFA5817DA6F4}"/>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I can connect customer experiments to a traceable cash decision</a:t>
            </a:r>
          </a:p>
        </p:txBody>
      </p:sp>
      <p:sp>
        <p:nvSpPr>
          <p:cNvPr id="3" name="">
            <a:extLst xmlns:a="http://schemas.openxmlformats.org/drawingml/2006/main">
              <a:ext uri="{FF2B5EF4-FFF2-40B4-BE49-F238E27FC236}">
                <a16:creationId xmlns:a16="http://schemas.microsoft.com/office/drawing/2014/main" id="{4CA7069D-A7BC-4C56-BA47-14CBA951B05F}"/>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My offer is an operating measurement system with Finance-controlled economics.</a:t>
            </a:r>
          </a:p>
        </p:txBody>
      </p:sp>
      <p:graphicFrame>
        <p:nvGraphicFramePr>
          <p:cNvPr id="13" name=""/>
          <p:cNvGraphicFramePr/>
          <p:nvPr/>
        </p:nvGraphicFramePr>
        <p:xfrm>
          <a:off xmlns:a="http://schemas.openxmlformats.org/drawingml/2006/main" x="609600" y="2505075"/>
          <a:ext xmlns:a="http://schemas.openxmlformats.org/drawingml/2006/main" cx="10972800" cy="2143125"/>
        </p:xfrm>
        <a:graphic xmlns:a="http://schemas.openxmlformats.org/drawingml/2006/main">
          <a:graphicData uri="http://schemas.openxmlformats.org/drawingml/2006/table">
            <a:tbl>
              <a:tblPr/>
              <a:tblGrid>
                <a:gridCol w="3429000"/>
                <a:gridCol w="7543800"/>
              </a:tblGrid>
              <a:tr h="535781">
                <a:tc>
                  <a:txBody>
                    <a:bodyPr/>
                    <a:lstStyle/>
                    <a:p>
                      <a:r>
                        <a:rPr sz="1050" b="1">
                          <a:solidFill>
                            <a:srgbClr val="49624F"/>
                          </a:solidFill>
                          <a:latin typeface="DejaVu Sans"/>
                          <a:ea typeface="DejaVu Sans"/>
                          <a:cs typeface="DejaVu Sans"/>
                        </a:rPr>
                        <a:t>Deliverable I can own</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Accountability</a:t>
                      </a:r>
                    </a:p>
                  </a:txBody>
                  <a:tcPr marL="114300" marR="114300" marT="76200" marB="76200" anchor="t">
                    <a:solidFill>
                      <a:srgbClr val="E7EEE4"/>
                    </a:solidFill>
                  </a:tcPr>
                </a:tc>
              </a:tr>
              <a:tr h="535781">
                <a:tc>
                  <a:txBody>
                    <a:bodyPr/>
                    <a:lstStyle/>
                    <a:p>
                      <a:r>
                        <a:rPr sz="1275">
                          <a:solidFill>
                            <a:srgbClr val="183B2A"/>
                          </a:solidFill>
                          <a:latin typeface="DejaVu Sans"/>
                          <a:ea typeface="DejaVu Sans"/>
                          <a:cs typeface="DejaVu Sans"/>
                        </a:rPr>
                        <a:t>Data dictionary + experiment design</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Reconcile eligible records with Finance</a:t>
                      </a:r>
                    </a:p>
                  </a:txBody>
                  <a:tcPr marL="114300" marR="114300" marT="76200" marB="76200" anchor="t">
                    <a:solidFill>
                      <a:srgbClr val="FFFEF9"/>
                    </a:solidFill>
                  </a:tcPr>
                </a:tc>
              </a:tr>
              <a:tr h="535781">
                <a:tc>
                  <a:txBody>
                    <a:bodyPr/>
                    <a:lstStyle/>
                    <a:p>
                      <a:r>
                        <a:rPr sz="1275">
                          <a:solidFill>
                            <a:srgbClr val="183B2A"/>
                          </a:solidFill>
                          <a:latin typeface="DejaVu Sans"/>
                          <a:ea typeface="DejaVu Sans"/>
                          <a:cs typeface="DejaVu Sans"/>
                        </a:rPr>
                        <a:t>Country/customer evidence system</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Version sources and falsifiers</a:t>
                      </a:r>
                    </a:p>
                  </a:txBody>
                  <a:tcPr marL="114300" marR="114300" marT="76200" marB="76200" anchor="t">
                    <a:solidFill>
                      <a:srgbClr val="FFFEF9"/>
                    </a:solidFill>
                  </a:tcPr>
                </a:tc>
              </a:tr>
              <a:tr h="535781">
                <a:tc>
                  <a:txBody>
                    <a:bodyPr/>
                    <a:lstStyle/>
                    <a:p>
                      <a:r>
                        <a:rPr sz="1275">
                          <a:solidFill>
                            <a:srgbClr val="183B2A"/>
                          </a:solidFill>
                          <a:latin typeface="DejaVu Sans"/>
                          <a:ea typeface="DejaVu Sans"/>
                          <a:cs typeface="DejaVu Sans"/>
                        </a:rPr>
                        <a:t>Commercial proof-to-cash reporting</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Separate causal sales, service cost and stock funding</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8E2637CA-EFB8-4024-B626-ABE16AB3563E}"/>
              </a:ext>
            </a:extLst>
          </p:cNvPr>
          <p:cNvSpPr>
            <a:spLocks xmlns:a="http://schemas.openxmlformats.org/drawingml/2006/main" noGrp="1"/>
          </p:cNvSpPr>
          <p:nvPr/>
        </p:nvSpPr>
        <p:spPr>
          <a:xfrm xmlns:a="http://schemas.openxmlformats.org/drawingml/2006/main">
            <a:off x="609600" y="4857750"/>
            <a:ext cx="109728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MBA at IIM Shillong and chemical engineering combine commercial framing with conversion, constraint and process reasoning.</a:t>
            </a:r>
          </a:p>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Portfolio evidence records a ₹20 m budget and CPM reduction from ₹35.8 to ₹15.5: 56.7% lower CPM. It does not establish Olam sales, profit or category-management outcomes.</a:t>
            </a:r>
          </a:p>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Meghalaya work was a simulation informed by government records; no realised savings are asserted.</a:t>
            </a:r>
          </a:p>
        </p:txBody>
      </p:sp>
      <p:sp>
        <p:nvSpPr>
          <p:cNvPr id="6" name="">
            <a:extLst xmlns:a="http://schemas.openxmlformats.org/drawingml/2006/main">
              <a:ext uri="{FF2B5EF4-FFF2-40B4-BE49-F238E27FC236}">
                <a16:creationId xmlns:a16="http://schemas.microsoft.com/office/drawing/2014/main" id="{9B0E496A-ED81-4CA3-9938-3EAAAACDBFDD}"/>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PORTFOLIO EVIDENCE | SOURCE BASELINE</a:t>
            </a:r>
          </a:p>
        </p:txBody>
      </p:sp>
      <p:sp>
        <p:nvSpPr>
          <p:cNvPr id="7" name="">
            <a:extLst xmlns:a="http://schemas.openxmlformats.org/drawingml/2006/main">
              <a:ext uri="{FF2B5EF4-FFF2-40B4-BE49-F238E27FC236}">
                <a16:creationId xmlns:a16="http://schemas.microsoft.com/office/drawing/2014/main" id="{78C10970-62B5-4B6E-BBCB-2BC6E08F04D4}"/>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C-CPM   34 / 98</a:t>
            </a:r>
          </a:p>
        </p:txBody>
      </p:sp>
      <p:sp>
        <p:nvSpPr>
          <p:cNvPr id="8" name="">
            <a:extLst xmlns:a="http://schemas.openxmlformats.org/drawingml/2006/main">
              <a:ext uri="{FF2B5EF4-FFF2-40B4-BE49-F238E27FC236}">
                <a16:creationId xmlns:a16="http://schemas.microsoft.com/office/drawing/2014/main" id="{9AB416E1-7910-454B-84B4-E660E4B25622}"/>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61e8beddaae74955" action="ppaction://hlinksldjump"/>
              </a:rPr>
              <a:t>APPENDIX ↗</a:t>
            </a:r>
          </a:p>
        </p:txBody>
      </p:sp>
      <p:sp>
        <p:nvSpPr>
          <p:cNvPr id="9" name="">
            <a:extLst xmlns:a="http://schemas.openxmlformats.org/drawingml/2006/main">
              <a:ext uri="{FF2B5EF4-FFF2-40B4-BE49-F238E27FC236}">
                <a16:creationId xmlns:a16="http://schemas.microsoft.com/office/drawing/2014/main" id="{7B4E7DB1-04BC-4577-81F0-16208B37485B}"/>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8af07d34a2264dc3"/>
              </a:rPr>
              <a:t>EVIDENCE ↗</a:t>
            </a:r>
          </a:p>
        </p:txBody>
      </p:sp>
    </p:spTree>
    <p:extLst>
      <p:ext uri="{BB962C8B-B14F-4D97-AF65-F5344CB8AC3E}">
        <p14:creationId xmlns:p14="http://schemas.microsoft.com/office/powerpoint/2010/main" val="481735245"/>
      </p:ext>
    </p:extLst>
  </p:cSld>
</p:sld>
</file>

<file path=ppt/slides/slide35.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C79F39F-CB19-48F4-9C4D-5C26A5E01D96}"/>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35</a:t>
            </a:r>
          </a:p>
        </p:txBody>
      </p:sp>
      <p:sp>
        <p:nvSpPr>
          <p:cNvPr id="2" name="">
            <a:extLst xmlns:a="http://schemas.openxmlformats.org/drawingml/2006/main">
              <a:ext uri="{FF2B5EF4-FFF2-40B4-BE49-F238E27FC236}">
                <a16:creationId xmlns:a16="http://schemas.microsoft.com/office/drawing/2014/main" id="{2D0FADCA-CD65-4194-8E6F-F857948E1912}"/>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Ninety days can earn a better decision, not prove a 25-year forecast</a:t>
            </a:r>
          </a:p>
        </p:txBody>
      </p:sp>
      <p:sp>
        <p:nvSpPr>
          <p:cNvPr id="3" name="">
            <a:extLst xmlns:a="http://schemas.openxmlformats.org/drawingml/2006/main">
              <a:ext uri="{FF2B5EF4-FFF2-40B4-BE49-F238E27FC236}">
                <a16:creationId xmlns:a16="http://schemas.microsoft.com/office/drawing/2014/main" id="{43A24785-B4B1-4017-AB41-B74CFEBA2940}"/>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Cost and size the pilot only after inspecting baseline variance and available routes.</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4095750"/>
                <a:gridCol w="3438525"/>
                <a:gridCol w="3438525"/>
              </a:tblGrid>
              <a:tr h="555625">
                <a:tc>
                  <a:txBody>
                    <a:bodyPr/>
                    <a:lstStyle/>
                    <a:p>
                      <a:r>
                        <a:rPr sz="1050" b="1">
                          <a:solidFill>
                            <a:srgbClr val="49624F"/>
                          </a:solidFill>
                          <a:latin typeface="DejaVu Sans"/>
                          <a:ea typeface="DejaVu Sans"/>
                          <a:cs typeface="DejaVu Sans"/>
                        </a:rPr>
                        <a:t>Days</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Work product</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Acceptance</a:t>
                      </a:r>
                    </a:p>
                  </a:txBody>
                  <a:tcPr marL="114300" marR="114300" marT="76200" marB="76200" anchor="t">
                    <a:solidFill>
                      <a:srgbClr val="E7EEE4"/>
                    </a:solidFill>
                  </a:tcPr>
                </a:tc>
              </a:tr>
              <a:tr h="555625">
                <a:tc>
                  <a:txBody>
                    <a:bodyPr/>
                    <a:lstStyle/>
                    <a:p>
                      <a:r>
                        <a:rPr sz="1200">
                          <a:solidFill>
                            <a:srgbClr val="183B2A"/>
                          </a:solidFill>
                          <a:latin typeface="DejaVu Sans"/>
                          <a:ea typeface="DejaVu Sans"/>
                          <a:cs typeface="DejaVu Sans"/>
                        </a:rPr>
                        <a:t>1–15</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Data room, entity and customer/route baseline</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Finance reconciliation and scope signed</a:t>
                      </a:r>
                    </a:p>
                  </a:txBody>
                  <a:tcPr marL="114300" marR="114300" marT="76200" marB="76200" anchor="t">
                    <a:solidFill>
                      <a:srgbClr val="FFFEF9"/>
                    </a:solidFill>
                  </a:tcPr>
                </a:tc>
              </a:tr>
              <a:tr h="555625">
                <a:tc>
                  <a:txBody>
                    <a:bodyPr/>
                    <a:lstStyle/>
                    <a:p>
                      <a:r>
                        <a:rPr sz="1200">
                          <a:solidFill>
                            <a:srgbClr val="183B2A"/>
                          </a:solidFill>
                          <a:latin typeface="DejaVu Sans"/>
                          <a:ea typeface="DejaVu Sans"/>
                          <a:cs typeface="DejaVu Sans"/>
                        </a:rPr>
                        <a:t>16–30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Pre-registration, power and controlled rollout plan</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Economically detectable effect and bounded cash cost</a:t>
                      </a:r>
                    </a:p>
                  </a:txBody>
                  <a:tcPr marL="114300" marR="114300" marT="76200" marB="76200" anchor="t">
                    <a:solidFill>
                      <a:srgbClr val="FFFEF9"/>
                    </a:solidFill>
                  </a:tcPr>
                </a:tc>
              </a:tr>
              <a:tr h="555625">
                <a:tc>
                  <a:txBody>
                    <a:bodyPr/>
                    <a:lstStyle/>
                    <a:p>
                      <a:r>
                        <a:rPr sz="1200">
                          <a:solidFill>
                            <a:srgbClr val="183B2A"/>
                          </a:solidFill>
                          <a:latin typeface="DejaVu Sans"/>
                          <a:ea typeface="DejaVu Sans"/>
                          <a:cs typeface="DejaVu Sans"/>
                        </a:rPr>
                        <a:t>31–60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Execute, audit treatment and delivery</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Track attrition, spillover, service and stock</a:t>
                      </a:r>
                    </a:p>
                  </a:txBody>
                  <a:tcPr marL="114300" marR="114300" marT="76200" marB="76200" anchor="t">
                    <a:solidFill>
                      <a:srgbClr val="FFFEF9"/>
                    </a:solidFill>
                  </a:tcPr>
                </a:tc>
              </a:tr>
              <a:tr h="555625">
                <a:tc>
                  <a:txBody>
                    <a:bodyPr/>
                    <a:lstStyle/>
                    <a:p>
                      <a:r>
                        <a:rPr sz="1200">
                          <a:solidFill>
                            <a:srgbClr val="183B2A"/>
                          </a:solidFill>
                          <a:latin typeface="DejaVu Sans"/>
                          <a:ea typeface="DejaVu Sans"/>
                          <a:cs typeface="DejaVu Sans"/>
                        </a:rPr>
                        <a:t>61–75</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Cash proof and one transferability test</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Repeat after support; contribution interval</a:t>
                      </a:r>
                    </a:p>
                  </a:txBody>
                  <a:tcPr marL="114300" marR="114300" marT="76200" marB="76200" anchor="t">
                    <a:solidFill>
                      <a:srgbClr val="FFFEF9"/>
                    </a:solidFill>
                  </a:tcPr>
                </a:tc>
              </a:tr>
              <a:tr h="555625">
                <a:tc>
                  <a:txBody>
                    <a:bodyPr/>
                    <a:lstStyle/>
                    <a:p>
                      <a:r>
                        <a:rPr sz="1200">
                          <a:solidFill>
                            <a:srgbClr val="183B2A"/>
                          </a:solidFill>
                          <a:latin typeface="DejaVu Sans"/>
                          <a:ea typeface="DejaVu Sans"/>
                          <a:cs typeface="DejaVu Sans"/>
                        </a:rPr>
                        <a:t>76–90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Independent review: scale, resize, wait or stop</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Decision memo with falsifiers and funded exposure</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428A1662-B3E9-4202-9034-611266D38188}"/>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CONDITIONAL / ILLUSTRATIVE   |   A_PILOT</a:t>
            </a:r>
          </a:p>
        </p:txBody>
      </p:sp>
      <p:sp>
        <p:nvSpPr>
          <p:cNvPr id="6" name="">
            <a:extLst xmlns:a="http://schemas.openxmlformats.org/drawingml/2006/main">
              <a:ext uri="{FF2B5EF4-FFF2-40B4-BE49-F238E27FC236}">
                <a16:creationId xmlns:a16="http://schemas.microsoft.com/office/drawing/2014/main" id="{608B5EF8-2CB5-4F90-9380-883D49C315B0}"/>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35 / 98</a:t>
            </a:r>
          </a:p>
        </p:txBody>
      </p:sp>
      <p:sp>
        <p:nvSpPr>
          <p:cNvPr id="7" name="">
            <a:extLst xmlns:a="http://schemas.openxmlformats.org/drawingml/2006/main">
              <a:ext uri="{FF2B5EF4-FFF2-40B4-BE49-F238E27FC236}">
                <a16:creationId xmlns:a16="http://schemas.microsoft.com/office/drawing/2014/main" id="{A4FEF929-64D9-4ADA-A8C2-BE8F34266132}"/>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2c69543b3e0d4c11" action="ppaction://hlinksldjump"/>
              </a:rPr>
              <a:t>APPENDIX ↗</a:t>
            </a:r>
          </a:p>
        </p:txBody>
      </p:sp>
      <p:sp>
        <p:nvSpPr>
          <p:cNvPr id="8" name="">
            <a:extLst xmlns:a="http://schemas.openxmlformats.org/drawingml/2006/main">
              <a:ext uri="{FF2B5EF4-FFF2-40B4-BE49-F238E27FC236}">
                <a16:creationId xmlns:a16="http://schemas.microsoft.com/office/drawing/2014/main" id="{0832334A-4F3F-4450-AF26-7D0FD54121FA}"/>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afa24b57332b44e2"/>
              </a:rPr>
              <a:t>EVIDENCE ↗</a:t>
            </a:r>
          </a:p>
        </p:txBody>
      </p:sp>
    </p:spTree>
    <p:extLst>
      <p:ext uri="{BB962C8B-B14F-4D97-AF65-F5344CB8AC3E}">
        <p14:creationId xmlns:p14="http://schemas.microsoft.com/office/powerpoint/2010/main" val="1595695925"/>
      </p:ext>
    </p:extLst>
  </p:cSld>
</p:sld>
</file>

<file path=ppt/slides/slide36.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B5787C6-4B5E-4ABB-B40D-11BA02742BA0}"/>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EXECUTIVE  /  36</a:t>
            </a:r>
          </a:p>
        </p:txBody>
      </p:sp>
      <p:sp>
        <p:nvSpPr>
          <p:cNvPr id="2" name="">
            <a:extLst xmlns:a="http://schemas.openxmlformats.org/drawingml/2006/main">
              <a:ext uri="{FF2B5EF4-FFF2-40B4-BE49-F238E27FC236}">
                <a16:creationId xmlns:a16="http://schemas.microsoft.com/office/drawing/2014/main" id="{E60D3E98-BF9C-4EFD-A497-17D30855C515}"/>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Approve the evidence programme and challenge its release criteria</a:t>
            </a:r>
          </a:p>
        </p:txBody>
      </p:sp>
      <p:sp>
        <p:nvSpPr>
          <p:cNvPr id="3" name="">
            <a:extLst xmlns:a="http://schemas.openxmlformats.org/drawingml/2006/main">
              <a:ext uri="{FF2B5EF4-FFF2-40B4-BE49-F238E27FC236}">
                <a16:creationId xmlns:a16="http://schemas.microsoft.com/office/drawing/2014/main" id="{84ED8447-4D81-41D8-B0BF-30A6C4D95915}"/>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No country asset approval is supported by the present public-data package.</a:t>
            </a:r>
          </a:p>
        </p:txBody>
      </p:sp>
      <p:sp>
        <p:nvSpPr>
          <p:cNvPr id="4" name="">
            <a:extLst xmlns:a="http://schemas.openxmlformats.org/drawingml/2006/main">
              <a:ext uri="{FF2B5EF4-FFF2-40B4-BE49-F238E27FC236}">
                <a16:creationId xmlns:a16="http://schemas.microsoft.com/office/drawing/2014/main" id="{9EF5971A-CF72-4E88-8233-888982E91776}"/>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Request customer orders, product/route cost, plant constraints, monthly inventory, AR/AP, tax and currency/hedge records.</a:t>
            </a:r>
          </a:p>
        </p:txBody>
      </p:sp>
      <p:sp>
        <p:nvSpPr>
          <p:cNvPr id="5" name="">
            <a:extLst xmlns:a="http://schemas.openxmlformats.org/drawingml/2006/main">
              <a:ext uri="{FF2B5EF4-FFF2-40B4-BE49-F238E27FC236}">
                <a16:creationId xmlns:a16="http://schemas.microsoft.com/office/drawing/2014/main" id="{C19B19C7-7364-4887-984B-751C1D4C69D2}"/>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Ask country leads to validate ten diligence cases; all other countries retain their explicit atlas disposition.</a:t>
            </a:r>
          </a:p>
        </p:txBody>
      </p:sp>
      <p:sp>
        <p:nvSpPr>
          <p:cNvPr id="6" name="">
            <a:extLst xmlns:a="http://schemas.openxmlformats.org/drawingml/2006/main">
              <a:ext uri="{FF2B5EF4-FFF2-40B4-BE49-F238E27FC236}">
                <a16:creationId xmlns:a16="http://schemas.microsoft.com/office/drawing/2014/main" id="{5BBBDF3E-0077-4E6B-9A7E-33B65B69F7B4}"/>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Set the costed pilot cap, cash-breach limit and minimum economically material effect with Finance.</a:t>
            </a:r>
          </a:p>
        </p:txBody>
      </p:sp>
      <p:sp>
        <p:nvSpPr>
          <p:cNvPr id="7" name="">
            <a:extLst xmlns:a="http://schemas.openxmlformats.org/drawingml/2006/main">
              <a:ext uri="{FF2B5EF4-FFF2-40B4-BE49-F238E27FC236}">
                <a16:creationId xmlns:a16="http://schemas.microsoft.com/office/drawing/2014/main" id="{64BA9A91-186D-48E7-A4F2-ED8765B3FF0A}"/>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Return in 90 days with measured contribution, repeat, funding and a specific expand/wait/stop proposal.</a:t>
            </a:r>
          </a:p>
        </p:txBody>
      </p:sp>
      <p:sp>
        <p:nvSpPr>
          <p:cNvPr id="8" name="">
            <a:extLst xmlns:a="http://schemas.openxmlformats.org/drawingml/2006/main">
              <a:ext uri="{FF2B5EF4-FFF2-40B4-BE49-F238E27FC236}">
                <a16:creationId xmlns:a16="http://schemas.microsoft.com/office/drawing/2014/main" id="{94DFF699-6767-46F0-A4A2-3EA660373A35}"/>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CONDITIONAL / ILLUSTRATIVE   |   A_PILOT</a:t>
            </a:r>
          </a:p>
        </p:txBody>
      </p:sp>
      <p:sp>
        <p:nvSpPr>
          <p:cNvPr id="9" name="">
            <a:extLst xmlns:a="http://schemas.openxmlformats.org/drawingml/2006/main">
              <a:ext uri="{FF2B5EF4-FFF2-40B4-BE49-F238E27FC236}">
                <a16:creationId xmlns:a16="http://schemas.microsoft.com/office/drawing/2014/main" id="{14F085EA-7C4F-4844-8FE3-CE57E33A312D}"/>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36 / 98</a:t>
            </a:r>
          </a:p>
        </p:txBody>
      </p:sp>
      <p:sp>
        <p:nvSpPr>
          <p:cNvPr id="10" name="">
            <a:extLst xmlns:a="http://schemas.openxmlformats.org/drawingml/2006/main">
              <a:ext uri="{FF2B5EF4-FFF2-40B4-BE49-F238E27FC236}">
                <a16:creationId xmlns:a16="http://schemas.microsoft.com/office/drawing/2014/main" id="{E93887F9-216B-411E-8D38-8F701C4B3E45}"/>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a78ffe25abff40db" action="ppaction://hlinksldjump"/>
              </a:rPr>
              <a:t>APPENDIX ↗</a:t>
            </a:r>
          </a:p>
        </p:txBody>
      </p:sp>
      <p:sp>
        <p:nvSpPr>
          <p:cNvPr id="11" name="">
            <a:extLst xmlns:a="http://schemas.openxmlformats.org/drawingml/2006/main">
              <a:ext uri="{FF2B5EF4-FFF2-40B4-BE49-F238E27FC236}">
                <a16:creationId xmlns:a16="http://schemas.microsoft.com/office/drawing/2014/main" id="{F0DB7BC7-9F37-43AB-BF09-66CFC8F473B4}"/>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9a02acfced454df2"/>
              </a:rPr>
              <a:t>EVIDENCE ↗</a:t>
            </a:r>
          </a:p>
        </p:txBody>
      </p:sp>
    </p:spTree>
    <p:extLst>
      <p:ext uri="{BB962C8B-B14F-4D97-AF65-F5344CB8AC3E}">
        <p14:creationId xmlns:p14="http://schemas.microsoft.com/office/powerpoint/2010/main" val="2000440936"/>
      </p:ext>
    </p:extLst>
  </p:cSld>
</p:sld>
</file>

<file path=ppt/slides/slide37.xml><?xml version="1.0" encoding="utf-8"?>
<p:sld xmlns:p="http://schemas.openxmlformats.org/presentationml/2006/main">
  <p:cSld>
    <p:bg>
      <p:bgPr>
        <a:solidFill xmlns:a="http://schemas.openxmlformats.org/drawingml/2006/main">
          <a:srgbClr val="173C2B"/>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FED8821-44C5-4C46-8DDB-A8EC9C77514B}"/>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A9C5A9"/>
                </a:solidFill>
                <a:latin typeface="DejaVu Sans"/>
                <a:ea typeface="DejaVu Sans"/>
                <a:cs typeface="DejaVu Sans"/>
              </a:defRPr>
            </a:pPr>
            <a:r>
              <a:rPr sz="900" b="0">
                <a:solidFill>
                  <a:srgbClr val="A9C5A9"/>
                </a:solidFill>
                <a:latin typeface="DejaVu Sans"/>
                <a:ea typeface="DejaVu Sans"/>
                <a:cs typeface="DejaVu Sans"/>
              </a:rPr>
              <a:t>MANASH PROTIM DEORI  /  EXECUTIVE  /  37</a:t>
            </a:r>
          </a:p>
        </p:txBody>
      </p:sp>
      <p:sp>
        <p:nvSpPr>
          <p:cNvPr id="2" name="">
            <a:extLst xmlns:a="http://schemas.openxmlformats.org/drawingml/2006/main">
              <a:ext uri="{FF2B5EF4-FFF2-40B4-BE49-F238E27FC236}">
                <a16:creationId xmlns:a16="http://schemas.microsoft.com/office/drawing/2014/main" id="{7C4F502B-8079-4074-822B-6889ABD2B3DD}"/>
              </a:ext>
            </a:extLst>
          </p:cNvPr>
          <p:cNvSpPr>
            <a:spLocks xmlns:a="http://schemas.openxmlformats.org/drawingml/2006/main" noGrp="1"/>
          </p:cNvSpPr>
          <p:nvPr/>
        </p:nvSpPr>
        <p:spPr>
          <a:xfrm xmlns:a="http://schemas.openxmlformats.org/drawingml/2006/main">
            <a:off x="609600" y="876300"/>
            <a:ext cx="109728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00" b="0">
                <a:solidFill>
                  <a:srgbClr val="FFFCE9"/>
                </a:solidFill>
                <a:latin typeface="DejaVu Serif"/>
                <a:ea typeface="DejaVu Serif"/>
                <a:cs typeface="DejaVu Serif"/>
              </a:defRPr>
            </a:pPr>
            <a:r>
              <a:rPr sz="4200" b="0">
                <a:solidFill>
                  <a:srgbClr val="FFFCE9"/>
                </a:solidFill>
                <a:latin typeface="DejaVu Serif"/>
                <a:ea typeface="DejaVu Serif"/>
                <a:cs typeface="DejaVu Serif"/>
              </a:rPr>
              <a:t>Thank you</a:t>
            </a:r>
          </a:p>
        </p:txBody>
      </p:sp>
      <p:sp>
        <p:nvSpPr>
          <p:cNvPr id="3" name="">
            <a:extLst xmlns:a="http://schemas.openxmlformats.org/drawingml/2006/main">
              <a:ext uri="{FF2B5EF4-FFF2-40B4-BE49-F238E27FC236}">
                <a16:creationId xmlns:a16="http://schemas.microsoft.com/office/drawing/2014/main" id="{F7A122ED-4A45-4773-BDCF-C59F13F2BD27}"/>
              </a:ext>
            </a:extLst>
          </p:cNvPr>
          <p:cNvSpPr>
            <a:spLocks xmlns:a="http://schemas.openxmlformats.org/drawingml/2006/main" noGrp="1"/>
          </p:cNvSpPr>
          <p:nvPr/>
        </p:nvSpPr>
        <p:spPr>
          <a:xfrm xmlns:a="http://schemas.openxmlformats.org/drawingml/2006/main">
            <a:off x="609600" y="27336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B6D2B7"/>
                </a:solidFill>
                <a:latin typeface="DejaVu Sans"/>
                <a:ea typeface="DejaVu Sans"/>
                <a:cs typeface="DejaVu Sans"/>
              </a:defRPr>
            </a:pPr>
            <a:r>
              <a:rPr sz="2100" b="0">
                <a:solidFill>
                  <a:srgbClr val="B6D2B7"/>
                </a:solidFill>
                <a:latin typeface="DejaVu Sans"/>
                <a:ea typeface="DejaVu Sans"/>
                <a:cs typeface="DejaVu Sans"/>
              </a:rPr>
              <a:t>Questions about the assumptions are the next evidence commitment.</a:t>
            </a:r>
          </a:p>
        </p:txBody>
      </p:sp>
      <p:sp>
        <p:nvSpPr>
          <p:cNvPr id="4" name="">
            <a:extLst xmlns:a="http://schemas.openxmlformats.org/drawingml/2006/main">
              <a:ext uri="{FF2B5EF4-FFF2-40B4-BE49-F238E27FC236}">
                <a16:creationId xmlns:a16="http://schemas.microsoft.com/office/drawing/2014/main" id="{F2F47508-57BD-4752-8F72-94824E2C3739}"/>
              </a:ext>
            </a:extLst>
          </p:cNvPr>
          <p:cNvSpPr>
            <a:spLocks xmlns:a="http://schemas.openxmlformats.org/drawingml/2006/main" noGrp="1"/>
          </p:cNvSpPr>
          <p:nvPr/>
        </p:nvSpPr>
        <p:spPr>
          <a:xfrm xmlns:a="http://schemas.openxmlformats.org/drawingml/2006/main">
            <a:off x="609600" y="39052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E1E8D5"/>
                </a:solidFill>
                <a:latin typeface="DejaVu Sans"/>
                <a:ea typeface="DejaVu Sans"/>
                <a:cs typeface="DejaVu Sans"/>
              </a:defRPr>
            </a:pPr>
            <a:r>
              <a:rPr sz="1575" b="0">
                <a:solidFill>
                  <a:srgbClr val="E1E8D5"/>
                </a:solidFill>
                <a:latin typeface="DejaVu Sans"/>
                <a:ea typeface="DejaVu Sans"/>
                <a:cs typeface="DejaVu Sans"/>
              </a:rPr>
              <a:t>Manash Protim Deori</a:t>
            </a:r>
          </a:p>
        </p:txBody>
      </p:sp>
      <p:sp>
        <p:nvSpPr>
          <p:cNvPr id="5" name="">
            <a:extLst xmlns:a="http://schemas.openxmlformats.org/drawingml/2006/main">
              <a:ext uri="{FF2B5EF4-FFF2-40B4-BE49-F238E27FC236}">
                <a16:creationId xmlns:a16="http://schemas.microsoft.com/office/drawing/2014/main" id="{453782D9-EBDF-4D22-8977-EC81D803D2A0}"/>
              </a:ext>
            </a:extLst>
          </p:cNvPr>
          <p:cNvSpPr>
            <a:spLocks xmlns:a="http://schemas.openxmlformats.org/drawingml/2006/main" noGrp="1"/>
          </p:cNvSpPr>
          <p:nvPr/>
        </p:nvSpPr>
        <p:spPr>
          <a:xfrm xmlns:a="http://schemas.openxmlformats.org/drawingml/2006/main">
            <a:off x="609600" y="45720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E1E8D5"/>
                </a:solidFill>
                <a:latin typeface="DejaVu Sans"/>
                <a:ea typeface="DejaVu Sans"/>
                <a:cs typeface="DejaVu Sans"/>
              </a:defRPr>
            </a:pPr>
            <a:r>
              <a:rPr sz="1575" b="0">
                <a:solidFill>
                  <a:srgbClr val="E1E8D5"/>
                </a:solidFill>
                <a:latin typeface="DejaVu Sans"/>
                <a:ea typeface="DejaVu Sans"/>
                <a:cs typeface="DejaVu Sans"/>
              </a:rPr>
              <a:t>Complete country atlas, editable workbook, source book and reproducible code accompany this presentation.</a:t>
            </a:r>
          </a:p>
        </p:txBody>
      </p:sp>
      <p:sp>
        <p:nvSpPr>
          <p:cNvPr id="6" name="">
            <a:extLst xmlns:a="http://schemas.openxmlformats.org/drawingml/2006/main">
              <a:ext uri="{FF2B5EF4-FFF2-40B4-BE49-F238E27FC236}">
                <a16:creationId xmlns:a16="http://schemas.microsoft.com/office/drawing/2014/main" id="{03152ACB-D3AC-4725-A357-35F2337AAEC9}"/>
              </a:ext>
            </a:extLst>
          </p:cNvPr>
          <p:cNvSpPr>
            <a:spLocks xmlns:a="http://schemas.openxmlformats.org/drawingml/2006/main" noGrp="1"/>
          </p:cNvSpPr>
          <p:nvPr/>
        </p:nvSpPr>
        <p:spPr>
          <a:xfrm xmlns:a="http://schemas.openxmlformats.org/drawingml/2006/main">
            <a:off x="609600" y="52387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E1E8D5"/>
                </a:solidFill>
                <a:latin typeface="DejaVu Sans"/>
                <a:ea typeface="DejaVu Sans"/>
                <a:cs typeface="DejaVu Sans"/>
              </a:defRPr>
            </a:pPr>
            <a:r>
              <a:rPr sz="1575" b="0">
                <a:solidFill>
                  <a:srgbClr val="E1E8D5"/>
                </a:solidFill>
                <a:latin typeface="DejaVu Sans"/>
                <a:ea typeface="DejaVu Sans"/>
                <a:cs typeface="DejaVu Sans"/>
              </a:rPr>
              <a:t>The technical appendix begins on the next slide.</a:t>
            </a:r>
          </a:p>
        </p:txBody>
      </p:sp>
      <p:sp>
        <p:nvSpPr>
          <p:cNvPr id="7" name="">
            <a:extLst xmlns:a="http://schemas.openxmlformats.org/drawingml/2006/main">
              <a:ext uri="{FF2B5EF4-FFF2-40B4-BE49-F238E27FC236}">
                <a16:creationId xmlns:a16="http://schemas.microsoft.com/office/drawing/2014/main" id="{56FF3353-3EB1-4833-A042-FA5162936111}"/>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9EBA9F"/>
                </a:solidFill>
                <a:latin typeface="DejaVu Sans"/>
                <a:ea typeface="DejaVu Sans"/>
                <a:cs typeface="DejaVu Sans"/>
              </a:defRPr>
            </a:pPr>
            <a:r>
              <a:rPr sz="750" b="0">
                <a:solidFill>
                  <a:srgbClr val="9EBA9F"/>
                </a:solidFill>
                <a:latin typeface="DejaVu Sans"/>
                <a:ea typeface="DejaVu Sans"/>
                <a:cs typeface="DejaVu Sans"/>
              </a:rPr>
              <a:t>PORTFOLIO EVIDENCE | CONDITIONAL / ILLUSTRATIVE</a:t>
            </a:r>
          </a:p>
        </p:txBody>
      </p:sp>
      <p:sp>
        <p:nvSpPr>
          <p:cNvPr id="8" name="">
            <a:extLst xmlns:a="http://schemas.openxmlformats.org/drawingml/2006/main">
              <a:ext uri="{FF2B5EF4-FFF2-40B4-BE49-F238E27FC236}">
                <a16:creationId xmlns:a16="http://schemas.microsoft.com/office/drawing/2014/main" id="{F69EC968-A157-4BDC-88FA-27606B493EA6}"/>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9EBA9F"/>
                </a:solidFill>
                <a:latin typeface="DejaVu Sans"/>
                <a:ea typeface="DejaVu Sans"/>
                <a:cs typeface="DejaVu Sans"/>
              </a:defRPr>
            </a:pPr>
            <a:r>
              <a:rPr sz="675" b="0">
                <a:solidFill>
                  <a:srgbClr val="9EBA9F"/>
                </a:solidFill>
                <a:latin typeface="DejaVu Sans"/>
                <a:ea typeface="DejaVu Sans"/>
                <a:cs typeface="DejaVu Sans"/>
              </a:rPr>
              <a:t>   37 / 98</a:t>
            </a:r>
          </a:p>
        </p:txBody>
      </p:sp>
      <p:sp>
        <p:nvSpPr>
          <p:cNvPr id="9" name="">
            <a:extLst xmlns:a="http://schemas.openxmlformats.org/drawingml/2006/main">
              <a:ext uri="{FF2B5EF4-FFF2-40B4-BE49-F238E27FC236}">
                <a16:creationId xmlns:a16="http://schemas.microsoft.com/office/drawing/2014/main" id="{A52874BC-C793-4D30-80E4-3A13215A64B3}"/>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B6D2B7"/>
                </a:solidFill>
                <a:latin typeface="DejaVu Sans"/>
                <a:ea typeface="DejaVu Sans"/>
                <a:cs typeface="DejaVu Sans"/>
              </a:defRPr>
            </a:pPr>
            <a:r>
              <a:rPr>
                <a:hlinkClick xmlns:r="http://schemas.openxmlformats.org/officeDocument/2006/relationships" r:id="Rc2407334784d4c6c" action="ppaction://hlinksldjump"/>
              </a:rPr>
              <a:t>APPENDIX ↗</a:t>
            </a:r>
          </a:p>
        </p:txBody>
      </p:sp>
      <p:sp>
        <p:nvSpPr>
          <p:cNvPr id="10" name="">
            <a:extLst xmlns:a="http://schemas.openxmlformats.org/drawingml/2006/main">
              <a:ext uri="{FF2B5EF4-FFF2-40B4-BE49-F238E27FC236}">
                <a16:creationId xmlns:a16="http://schemas.microsoft.com/office/drawing/2014/main" id="{39FCCB11-D61B-4DCC-B686-80D1E94CA208}"/>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B6D2B7"/>
                </a:solidFill>
                <a:latin typeface="DejaVu Sans"/>
                <a:ea typeface="DejaVu Sans"/>
                <a:cs typeface="DejaVu Sans"/>
              </a:defRPr>
            </a:pPr>
            <a:r>
              <a:rPr>
                <a:hlinkClick xmlns:r="http://schemas.openxmlformats.org/officeDocument/2006/relationships" r:id="R102ae53e2f7245e7"/>
              </a:rPr>
              <a:t>EVIDENCE ↗</a:t>
            </a:r>
          </a:p>
        </p:txBody>
      </p:sp>
    </p:spTree>
    <p:extLst>
      <p:ext uri="{BB962C8B-B14F-4D97-AF65-F5344CB8AC3E}">
        <p14:creationId xmlns:p14="http://schemas.microsoft.com/office/powerpoint/2010/main" val="11472465"/>
      </p:ext>
    </p:extLst>
  </p:cSld>
</p:sld>
</file>

<file path=ppt/slides/slide38.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CA6F3EA-BEF4-42F5-B471-637160AC8959}"/>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TECHNICAL APPENDIX  /  38</a:t>
            </a:r>
          </a:p>
        </p:txBody>
      </p:sp>
      <p:sp>
        <p:nvSpPr>
          <p:cNvPr id="2" name="">
            <a:extLst xmlns:a="http://schemas.openxmlformats.org/drawingml/2006/main">
              <a:ext uri="{FF2B5EF4-FFF2-40B4-BE49-F238E27FC236}">
                <a16:creationId xmlns:a16="http://schemas.microsoft.com/office/drawing/2014/main" id="{5177FD3E-DD13-4393-B762-62EC30E88168}"/>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Technical appendix / how to read this package</a:t>
            </a:r>
          </a:p>
        </p:txBody>
      </p:sp>
      <p:sp>
        <p:nvSpPr>
          <p:cNvPr id="3" name="">
            <a:extLst xmlns:a="http://schemas.openxmlformats.org/drawingml/2006/main">
              <a:ext uri="{FF2B5EF4-FFF2-40B4-BE49-F238E27FC236}">
                <a16:creationId xmlns:a16="http://schemas.microsoft.com/office/drawing/2014/main" id="{68B0554F-E958-4BA3-90F7-FE6333FFC179}"/>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Source IDs, assumption IDs and calculation IDs travel with every decision.</a:t>
            </a:r>
          </a:p>
        </p:txBody>
      </p:sp>
      <p:sp>
        <p:nvSpPr>
          <p:cNvPr id="4" name="">
            <a:extLst xmlns:a="http://schemas.openxmlformats.org/drawingml/2006/main">
              <a:ext uri="{FF2B5EF4-FFF2-40B4-BE49-F238E27FC236}">
                <a16:creationId xmlns:a16="http://schemas.microsoft.com/office/drawing/2014/main" id="{8B0DCDEB-F6CE-4FE7-9CEB-CBFF96252052}"/>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Reported facts: company perimeter and dated primary statistics. External projections: UN medium population and OECD–FAO through 2035.</a:t>
            </a:r>
          </a:p>
        </p:txBody>
      </p:sp>
      <p:sp>
        <p:nvSpPr>
          <p:cNvPr id="5" name="">
            <a:extLst xmlns:a="http://schemas.openxmlformats.org/drawingml/2006/main">
              <a:ext uri="{FF2B5EF4-FFF2-40B4-BE49-F238E27FC236}">
                <a16:creationId xmlns:a16="http://schemas.microsoft.com/office/drawing/2014/main" id="{1C45D0CA-B02C-4760-861C-5EEACC7109D7}"/>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Derived values: arithmetic from sourced inputs. Chosen scenarios/templates: assumptions, not forecasts. Unknown values remain blank.</a:t>
            </a:r>
          </a:p>
        </p:txBody>
      </p:sp>
      <p:sp>
        <p:nvSpPr>
          <p:cNvPr id="6" name="">
            <a:extLst xmlns:a="http://schemas.openxmlformats.org/drawingml/2006/main">
              <a:ext uri="{FF2B5EF4-FFF2-40B4-BE49-F238E27FC236}">
                <a16:creationId xmlns:a16="http://schemas.microsoft.com/office/drawing/2014/main" id="{9AF6D3AC-E4D1-4D73-BA38-DA08A34A4997}"/>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C-E01–C-E22 teach arithmetic. C-DCF follows full cash; C-OLS records executed validation; C-STRESS and C-REGRET record chosen decision examples.</a:t>
            </a:r>
          </a:p>
        </p:txBody>
      </p:sp>
      <p:sp>
        <p:nvSpPr>
          <p:cNvPr id="7" name="">
            <a:extLst xmlns:a="http://schemas.openxmlformats.org/drawingml/2006/main">
              <a:ext uri="{FF2B5EF4-FFF2-40B4-BE49-F238E27FC236}">
                <a16:creationId xmlns:a16="http://schemas.microsoft.com/office/drawing/2014/main" id="{601E7237-C586-44CB-81D8-EA9CB1DD0EDF}"/>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EXPERT JUDGEMENT | CONDITIONAL / ILLUSTRATIVE</a:t>
            </a:r>
          </a:p>
        </p:txBody>
      </p:sp>
      <p:sp>
        <p:nvSpPr>
          <p:cNvPr id="8" name="">
            <a:extLst xmlns:a="http://schemas.openxmlformats.org/drawingml/2006/main">
              <a:ext uri="{FF2B5EF4-FFF2-40B4-BE49-F238E27FC236}">
                <a16:creationId xmlns:a16="http://schemas.microsoft.com/office/drawing/2014/main" id="{D1435BF1-8A6E-43E3-8324-20F773FEA8F4}"/>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38 / 98</a:t>
            </a:r>
          </a:p>
        </p:txBody>
      </p:sp>
      <p:sp>
        <p:nvSpPr>
          <p:cNvPr id="9" name="">
            <a:extLst xmlns:a="http://schemas.openxmlformats.org/drawingml/2006/main">
              <a:ext uri="{FF2B5EF4-FFF2-40B4-BE49-F238E27FC236}">
                <a16:creationId xmlns:a16="http://schemas.microsoft.com/office/drawing/2014/main" id="{77BF1178-F914-40B6-911E-69E38FA15178}"/>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b086a94f3f4445d4" action="ppaction://hlinksldjump"/>
              </a:rPr>
              <a:t>MAIN DECK ↗</a:t>
            </a:r>
          </a:p>
        </p:txBody>
      </p:sp>
      <p:sp>
        <p:nvSpPr>
          <p:cNvPr id="10" name="">
            <a:extLst xmlns:a="http://schemas.openxmlformats.org/drawingml/2006/main">
              <a:ext uri="{FF2B5EF4-FFF2-40B4-BE49-F238E27FC236}">
                <a16:creationId xmlns:a16="http://schemas.microsoft.com/office/drawing/2014/main" id="{1EACFBA2-CA03-483B-9D78-399B0050B7FB}"/>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2f5b1427a21c473e"/>
              </a:rPr>
              <a:t>EVIDENCE ↗</a:t>
            </a:r>
          </a:p>
        </p:txBody>
      </p:sp>
    </p:spTree>
    <p:extLst>
      <p:ext uri="{BB962C8B-B14F-4D97-AF65-F5344CB8AC3E}">
        <p14:creationId xmlns:p14="http://schemas.microsoft.com/office/powerpoint/2010/main" val="919867266"/>
      </p:ext>
    </p:extLst>
  </p:cSld>
</p:sld>
</file>

<file path=ppt/slides/slide39.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725FD31-4133-4A5F-BF4D-83ACF537EBC5}"/>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39</a:t>
            </a:r>
          </a:p>
        </p:txBody>
      </p:sp>
      <p:sp>
        <p:nvSpPr>
          <p:cNvPr id="2" name="">
            <a:extLst xmlns:a="http://schemas.openxmlformats.org/drawingml/2006/main">
              <a:ext uri="{FF2B5EF4-FFF2-40B4-BE49-F238E27FC236}">
                <a16:creationId xmlns:a16="http://schemas.microsoft.com/office/drawing/2014/main" id="{9E8A850D-A398-4AD9-A625-978CC6B82990}"/>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01 / Reported margin</a:t>
            </a:r>
          </a:p>
        </p:txBody>
      </p:sp>
      <p:sp>
        <p:nvSpPr>
          <p:cNvPr id="3" name="">
            <a:extLst xmlns:a="http://schemas.openxmlformats.org/drawingml/2006/main">
              <a:ext uri="{FF2B5EF4-FFF2-40B4-BE49-F238E27FC236}">
                <a16:creationId xmlns:a16="http://schemas.microsoft.com/office/drawing/2014/main" id="{3983214D-20EA-4F4C-882D-29F041E50ACF}"/>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2.45% derived EBIT margin</a:t>
            </a:r>
          </a:p>
        </p:txBody>
      </p:sp>
      <p:sp>
        <p:nvSpPr>
          <p:cNvPr id="4" name="">
            <a:extLst xmlns:a="http://schemas.openxmlformats.org/drawingml/2006/main">
              <a:ext uri="{FF2B5EF4-FFF2-40B4-BE49-F238E27FC236}">
                <a16:creationId xmlns:a16="http://schemas.microsoft.com/office/drawing/2014/main" id="{B521E2AE-1F10-49B7-B9D4-395162F86348}"/>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Reported/derived evidence</a:t>
            </a:r>
          </a:p>
        </p:txBody>
      </p:sp>
      <p:sp>
        <p:nvSpPr>
          <p:cNvPr id="5" name="">
            <a:extLst xmlns:a="http://schemas.openxmlformats.org/drawingml/2006/main">
              <a:ext uri="{FF2B5EF4-FFF2-40B4-BE49-F238E27FC236}">
                <a16:creationId xmlns:a16="http://schemas.microsoft.com/office/drawing/2014/main" id="{F02BBEF6-88D3-47E9-BA06-B1B5EAFCEFB0}"/>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703.7 / 28,666 × 100 = 2.4548%</a:t>
            </a:r>
          </a:p>
        </p:txBody>
      </p:sp>
      <p:sp>
        <p:nvSpPr>
          <p:cNvPr id="6" name="">
            <a:extLst xmlns:a="http://schemas.openxmlformats.org/drawingml/2006/main">
              <a:ext uri="{FF2B5EF4-FFF2-40B4-BE49-F238E27FC236}">
                <a16:creationId xmlns:a16="http://schemas.microsoft.com/office/drawing/2014/main" id="{DCB31A71-DD2C-4196-9FAA-176A5282C2B9}"/>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Using rounded revenue of USD28.7 bn gives 2.4519%; keep the same entity, period and currency.</a:t>
            </a:r>
          </a:p>
        </p:txBody>
      </p:sp>
      <p:sp>
        <p:nvSpPr>
          <p:cNvPr id="7" name="">
            <a:extLst xmlns:a="http://schemas.openxmlformats.org/drawingml/2006/main">
              <a:ext uri="{FF2B5EF4-FFF2-40B4-BE49-F238E27FC236}">
                <a16:creationId xmlns:a16="http://schemas.microsoft.com/office/drawing/2014/main" id="{41753AD4-BB28-4DC6-A48C-F4D2FA90E465}"/>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Revenue can grow while margin falls.</a:t>
            </a:r>
          </a:p>
        </p:txBody>
      </p:sp>
      <p:sp>
        <p:nvSpPr>
          <p:cNvPr id="8" name="">
            <a:extLst xmlns:a="http://schemas.openxmlformats.org/drawingml/2006/main">
              <a:ext uri="{FF2B5EF4-FFF2-40B4-BE49-F238E27FC236}">
                <a16:creationId xmlns:a16="http://schemas.microsoft.com/office/drawing/2014/main" id="{0EB7697F-9C5C-4D50-A342-9EB8DFC34296}"/>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DERIVED FIGURE | SOURCE CO_AR</a:t>
            </a:r>
          </a:p>
        </p:txBody>
      </p:sp>
      <p:sp>
        <p:nvSpPr>
          <p:cNvPr id="9" name="">
            <a:extLst xmlns:a="http://schemas.openxmlformats.org/drawingml/2006/main">
              <a:ext uri="{FF2B5EF4-FFF2-40B4-BE49-F238E27FC236}">
                <a16:creationId xmlns:a16="http://schemas.microsoft.com/office/drawing/2014/main" id="{8071B26A-4AD4-4523-AE9E-78D31449CF97}"/>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C-E01   39 / 98</a:t>
            </a:r>
          </a:p>
        </p:txBody>
      </p:sp>
      <p:sp>
        <p:nvSpPr>
          <p:cNvPr id="10" name="">
            <a:extLst xmlns:a="http://schemas.openxmlformats.org/drawingml/2006/main">
              <a:ext uri="{FF2B5EF4-FFF2-40B4-BE49-F238E27FC236}">
                <a16:creationId xmlns:a16="http://schemas.microsoft.com/office/drawing/2014/main" id="{E2850C00-86D7-484B-A4BB-145BA954FE4B}"/>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84a64960bfe34644" action="ppaction://hlinksldjump"/>
              </a:rPr>
              <a:t>MAIN DECK ↗</a:t>
            </a:r>
          </a:p>
        </p:txBody>
      </p:sp>
      <p:sp>
        <p:nvSpPr>
          <p:cNvPr id="11" name="">
            <a:extLst xmlns:a="http://schemas.openxmlformats.org/drawingml/2006/main">
              <a:ext uri="{FF2B5EF4-FFF2-40B4-BE49-F238E27FC236}">
                <a16:creationId xmlns:a16="http://schemas.microsoft.com/office/drawing/2014/main" id="{667C59FC-D8FF-4D5F-BBE6-D38484BEE9B4}"/>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d41b8c17bcf245dd"/>
              </a:rPr>
              <a:t>EVIDENCE ↗</a:t>
            </a:r>
          </a:p>
        </p:txBody>
      </p:sp>
    </p:spTree>
    <p:extLst>
      <p:ext uri="{BB962C8B-B14F-4D97-AF65-F5344CB8AC3E}">
        <p14:creationId xmlns:p14="http://schemas.microsoft.com/office/powerpoint/2010/main" val="1930838153"/>
      </p:ext>
    </p:extLst>
  </p:cSld>
</p:sld>
</file>

<file path=ppt/slides/slide40.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B97BB29-BB4C-41AF-A39D-A33E3198A65F}"/>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40</a:t>
            </a:r>
          </a:p>
        </p:txBody>
      </p:sp>
      <p:sp>
        <p:nvSpPr>
          <p:cNvPr id="2" name="">
            <a:extLst xmlns:a="http://schemas.openxmlformats.org/drawingml/2006/main">
              <a:ext uri="{FF2B5EF4-FFF2-40B4-BE49-F238E27FC236}">
                <a16:creationId xmlns:a16="http://schemas.microsoft.com/office/drawing/2014/main" id="{044F9DB4-D38E-48F7-897C-D9D0C577719F}"/>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02 / Demand to delivered sales</a:t>
            </a:r>
          </a:p>
        </p:txBody>
      </p:sp>
      <p:sp>
        <p:nvSpPr>
          <p:cNvPr id="3" name="">
            <a:extLst xmlns:a="http://schemas.openxmlformats.org/drawingml/2006/main">
              <a:ext uri="{FF2B5EF4-FFF2-40B4-BE49-F238E27FC236}">
                <a16:creationId xmlns:a16="http://schemas.microsoft.com/office/drawing/2014/main" id="{DDFA597D-7049-47D5-B779-A9B22BE033BD}"/>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7,000 delivered tonnes</a:t>
            </a:r>
          </a:p>
        </p:txBody>
      </p:sp>
      <p:sp>
        <p:nvSpPr>
          <p:cNvPr id="4" name="">
            <a:extLst xmlns:a="http://schemas.openxmlformats.org/drawingml/2006/main">
              <a:ext uri="{FF2B5EF4-FFF2-40B4-BE49-F238E27FC236}">
                <a16:creationId xmlns:a16="http://schemas.microsoft.com/office/drawing/2014/main" id="{6D0534CE-8307-4D2B-9EE0-43491C9665F3}"/>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Illustrative example—not Olam data</a:t>
            </a:r>
          </a:p>
        </p:txBody>
      </p:sp>
      <p:sp>
        <p:nvSpPr>
          <p:cNvPr id="5" name="">
            <a:extLst xmlns:a="http://schemas.openxmlformats.org/drawingml/2006/main">
              <a:ext uri="{FF2B5EF4-FFF2-40B4-BE49-F238E27FC236}">
                <a16:creationId xmlns:a16="http://schemas.microsoft.com/office/drawing/2014/main" id="{3899A489-DAD3-4856-AE95-8333FEACD5CC}"/>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1 m people × 0.1 t × 50% access × 20% capture = 10,000 t orders; min(10,000, 8,000, 7,000) = 7,000 t.</a:t>
            </a:r>
          </a:p>
        </p:txBody>
      </p:sp>
      <p:sp>
        <p:nvSpPr>
          <p:cNvPr id="6" name="">
            <a:extLst xmlns:a="http://schemas.openxmlformats.org/drawingml/2006/main">
              <a:ext uri="{FF2B5EF4-FFF2-40B4-BE49-F238E27FC236}">
                <a16:creationId xmlns:a16="http://schemas.microsoft.com/office/drawing/2014/main" id="{B49C10CE-AC7B-47E5-8BB9-9C3DB0681333}"/>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Demand, access and capture are chosen inputs. Unmet orders cannot count as revenue.</a:t>
            </a:r>
          </a:p>
        </p:txBody>
      </p:sp>
      <p:sp>
        <p:nvSpPr>
          <p:cNvPr id="7" name="">
            <a:extLst xmlns:a="http://schemas.openxmlformats.org/drawingml/2006/main">
              <a:ext uri="{FF2B5EF4-FFF2-40B4-BE49-F238E27FC236}">
                <a16:creationId xmlns:a16="http://schemas.microsoft.com/office/drawing/2014/main" id="{53CB97D8-E42D-4E1A-9B2C-060C62837896}"/>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If route capacity reaches 9,000 t, plant capacity still caps delivery at 8,000 t.</a:t>
            </a:r>
          </a:p>
        </p:txBody>
      </p:sp>
      <p:sp>
        <p:nvSpPr>
          <p:cNvPr id="8" name="">
            <a:extLst xmlns:a="http://schemas.openxmlformats.org/drawingml/2006/main">
              <a:ext uri="{FF2B5EF4-FFF2-40B4-BE49-F238E27FC236}">
                <a16:creationId xmlns:a16="http://schemas.microsoft.com/office/drawing/2014/main" id="{0DB8B5A0-1128-4CA5-904C-23D3E19B8923}"/>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9" name="">
            <a:extLst xmlns:a="http://schemas.openxmlformats.org/drawingml/2006/main">
              <a:ext uri="{FF2B5EF4-FFF2-40B4-BE49-F238E27FC236}">
                <a16:creationId xmlns:a16="http://schemas.microsoft.com/office/drawing/2014/main" id="{DACF2EBD-E757-4133-840D-F07BDFB362B7}"/>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C-E02   40 / 98</a:t>
            </a:r>
          </a:p>
        </p:txBody>
      </p:sp>
      <p:sp>
        <p:nvSpPr>
          <p:cNvPr id="10" name="">
            <a:extLst xmlns:a="http://schemas.openxmlformats.org/drawingml/2006/main">
              <a:ext uri="{FF2B5EF4-FFF2-40B4-BE49-F238E27FC236}">
                <a16:creationId xmlns:a16="http://schemas.microsoft.com/office/drawing/2014/main" id="{AAC19211-2837-47BC-BE34-84C039F066D3}"/>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7b469d2efe38451d" action="ppaction://hlinksldjump"/>
              </a:rPr>
              <a:t>MAIN DECK ↗</a:t>
            </a:r>
          </a:p>
        </p:txBody>
      </p:sp>
      <p:sp>
        <p:nvSpPr>
          <p:cNvPr id="11" name="">
            <a:extLst xmlns:a="http://schemas.openxmlformats.org/drawingml/2006/main">
              <a:ext uri="{FF2B5EF4-FFF2-40B4-BE49-F238E27FC236}">
                <a16:creationId xmlns:a16="http://schemas.microsoft.com/office/drawing/2014/main" id="{8A75CA1A-383B-488A-9624-C094BA40780A}"/>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8b6fe51e16cd46e9"/>
              </a:rPr>
              <a:t>EVIDENCE ↗</a:t>
            </a:r>
          </a:p>
        </p:txBody>
      </p:sp>
    </p:spTree>
    <p:extLst>
      <p:ext uri="{BB962C8B-B14F-4D97-AF65-F5344CB8AC3E}">
        <p14:creationId xmlns:p14="http://schemas.microsoft.com/office/powerpoint/2010/main" val="242636439"/>
      </p:ext>
    </p:extLst>
  </p:cSld>
</p:sld>
</file>

<file path=ppt/slides/slide41.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99E87A3-1977-4F24-8A22-BA8F1E2672B0}"/>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41</a:t>
            </a:r>
          </a:p>
        </p:txBody>
      </p:sp>
      <p:sp>
        <p:nvSpPr>
          <p:cNvPr id="2" name="">
            <a:extLst xmlns:a="http://schemas.openxmlformats.org/drawingml/2006/main">
              <a:ext uri="{FF2B5EF4-FFF2-40B4-BE49-F238E27FC236}">
                <a16:creationId xmlns:a16="http://schemas.microsoft.com/office/drawing/2014/main" id="{72D2E5D4-3E04-4B07-B1BA-F3E3C463C727}"/>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03 / Volume, revenue and EBITDA</a:t>
            </a:r>
          </a:p>
        </p:txBody>
      </p:sp>
      <p:sp>
        <p:nvSpPr>
          <p:cNvPr id="3" name="">
            <a:extLst xmlns:a="http://schemas.openxmlformats.org/drawingml/2006/main">
              <a:ext uri="{FF2B5EF4-FFF2-40B4-BE49-F238E27FC236}">
                <a16:creationId xmlns:a16="http://schemas.microsoft.com/office/drawing/2014/main" id="{5E1FD6AA-5F21-40F3-9EF8-3DED8F1CBE03}"/>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USD4m EBITDA</a:t>
            </a:r>
          </a:p>
        </p:txBody>
      </p:sp>
      <p:sp>
        <p:nvSpPr>
          <p:cNvPr id="4" name="">
            <a:extLst xmlns:a="http://schemas.openxmlformats.org/drawingml/2006/main">
              <a:ext uri="{FF2B5EF4-FFF2-40B4-BE49-F238E27FC236}">
                <a16:creationId xmlns:a16="http://schemas.microsoft.com/office/drawing/2014/main" id="{E672D3B1-77B8-4A5D-A0BA-A122A443EB17}"/>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Illustrative example—not Olam data</a:t>
            </a:r>
          </a:p>
        </p:txBody>
      </p:sp>
      <p:sp>
        <p:nvSpPr>
          <p:cNvPr id="5" name="">
            <a:extLst xmlns:a="http://schemas.openxmlformats.org/drawingml/2006/main">
              <a:ext uri="{FF2B5EF4-FFF2-40B4-BE49-F238E27FC236}">
                <a16:creationId xmlns:a16="http://schemas.microsoft.com/office/drawing/2014/main" id="{6EA05EEE-A79E-4D43-88BE-DC89D9C13CDA}"/>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100,000 t × USD400/t = USD40 m revenue; costs = USD34 m; contribution = USD6 m; less USD2 m fixed cost = USD4 m EBITDA.</a:t>
            </a:r>
          </a:p>
        </p:txBody>
      </p:sp>
      <p:sp>
        <p:nvSpPr>
          <p:cNvPr id="6" name="">
            <a:extLst xmlns:a="http://schemas.openxmlformats.org/drawingml/2006/main">
              <a:ext uri="{FF2B5EF4-FFF2-40B4-BE49-F238E27FC236}">
                <a16:creationId xmlns:a16="http://schemas.microsoft.com/office/drawing/2014/main" id="{C54D9F29-B70A-4252-8131-4400C8A41F8C}"/>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EBITDA omits cash tax, capital spending and working cash. These are chosen saleable-volume and net-price inputs.</a:t>
            </a:r>
          </a:p>
        </p:txBody>
      </p:sp>
      <p:sp>
        <p:nvSpPr>
          <p:cNvPr id="7" name="">
            <a:extLst xmlns:a="http://schemas.openxmlformats.org/drawingml/2006/main">
              <a:ext uri="{FF2B5EF4-FFF2-40B4-BE49-F238E27FC236}">
                <a16:creationId xmlns:a16="http://schemas.microsoft.com/office/drawing/2014/main" id="{6469B91F-E066-4958-82FB-D3F5BD5243CD}"/>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 USD10/t price change at unchanged volume changes EBITDA by USD1 m.</a:t>
            </a:r>
          </a:p>
        </p:txBody>
      </p:sp>
      <p:sp>
        <p:nvSpPr>
          <p:cNvPr id="8" name="">
            <a:extLst xmlns:a="http://schemas.openxmlformats.org/drawingml/2006/main">
              <a:ext uri="{FF2B5EF4-FFF2-40B4-BE49-F238E27FC236}">
                <a16:creationId xmlns:a16="http://schemas.microsoft.com/office/drawing/2014/main" id="{B32F2FAE-4176-40D1-8EFE-893947C1496F}"/>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9" name="">
            <a:extLst xmlns:a="http://schemas.openxmlformats.org/drawingml/2006/main">
              <a:ext uri="{FF2B5EF4-FFF2-40B4-BE49-F238E27FC236}">
                <a16:creationId xmlns:a16="http://schemas.microsoft.com/office/drawing/2014/main" id="{3A7AF9EF-7A15-4DAB-BD2D-518AF36A68E7}"/>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C-E03   41 / 98</a:t>
            </a:r>
          </a:p>
        </p:txBody>
      </p:sp>
      <p:sp>
        <p:nvSpPr>
          <p:cNvPr id="10" name="">
            <a:extLst xmlns:a="http://schemas.openxmlformats.org/drawingml/2006/main">
              <a:ext uri="{FF2B5EF4-FFF2-40B4-BE49-F238E27FC236}">
                <a16:creationId xmlns:a16="http://schemas.microsoft.com/office/drawing/2014/main" id="{6DF6EAC2-EB20-465D-961E-1518C1C323CF}"/>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a8300bf5c4cf4b38" action="ppaction://hlinksldjump"/>
              </a:rPr>
              <a:t>MAIN DECK ↗</a:t>
            </a:r>
          </a:p>
        </p:txBody>
      </p:sp>
      <p:sp>
        <p:nvSpPr>
          <p:cNvPr id="11" name="">
            <a:extLst xmlns:a="http://schemas.openxmlformats.org/drawingml/2006/main">
              <a:ext uri="{FF2B5EF4-FFF2-40B4-BE49-F238E27FC236}">
                <a16:creationId xmlns:a16="http://schemas.microsoft.com/office/drawing/2014/main" id="{52F43263-7289-4D32-B22F-8EA39937A39E}"/>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d657a08916ba4a7e"/>
              </a:rPr>
              <a:t>EVIDENCE ↗</a:t>
            </a:r>
          </a:p>
        </p:txBody>
      </p:sp>
    </p:spTree>
    <p:extLst>
      <p:ext uri="{BB962C8B-B14F-4D97-AF65-F5344CB8AC3E}">
        <p14:creationId xmlns:p14="http://schemas.microsoft.com/office/powerpoint/2010/main" val="28682489"/>
      </p:ext>
    </p:extLst>
  </p:cSld>
</p:sld>
</file>

<file path=ppt/slides/slide42.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9C892D6-8D4D-4DAB-90EA-EC53B1B86754}"/>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42</a:t>
            </a:r>
          </a:p>
        </p:txBody>
      </p:sp>
      <p:sp>
        <p:nvSpPr>
          <p:cNvPr id="2" name="">
            <a:extLst xmlns:a="http://schemas.openxmlformats.org/drawingml/2006/main">
              <a:ext uri="{FF2B5EF4-FFF2-40B4-BE49-F238E27FC236}">
                <a16:creationId xmlns:a16="http://schemas.microsoft.com/office/drawing/2014/main" id="{7149CE51-17DA-46D2-9178-5E6A5AC6DEA4}"/>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04 / Yield and by-products</a:t>
            </a:r>
          </a:p>
        </p:txBody>
      </p:sp>
      <p:sp>
        <p:nvSpPr>
          <p:cNvPr id="3" name="">
            <a:extLst xmlns:a="http://schemas.openxmlformats.org/drawingml/2006/main">
              <a:ext uri="{FF2B5EF4-FFF2-40B4-BE49-F238E27FC236}">
                <a16:creationId xmlns:a16="http://schemas.microsoft.com/office/drawing/2014/main" id="{E3D932D0-F164-4ADC-9176-998D526165BC}"/>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111,111 tonnes of input</a:t>
            </a:r>
          </a:p>
        </p:txBody>
      </p:sp>
      <p:sp>
        <p:nvSpPr>
          <p:cNvPr id="4" name="">
            <a:extLst xmlns:a="http://schemas.openxmlformats.org/drawingml/2006/main">
              <a:ext uri="{FF2B5EF4-FFF2-40B4-BE49-F238E27FC236}">
                <a16:creationId xmlns:a16="http://schemas.microsoft.com/office/drawing/2014/main" id="{DF65E171-0BB1-49E7-8C22-DFCA029E43CD}"/>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Illustrative example—not Olam data</a:t>
            </a:r>
          </a:p>
        </p:txBody>
      </p:sp>
      <p:sp>
        <p:nvSpPr>
          <p:cNvPr id="5" name="">
            <a:extLst xmlns:a="http://schemas.openxmlformats.org/drawingml/2006/main">
              <a:ext uri="{FF2B5EF4-FFF2-40B4-BE49-F238E27FC236}">
                <a16:creationId xmlns:a16="http://schemas.microsoft.com/office/drawing/2014/main" id="{EB69B505-385E-4966-8D21-BAD4F72AEAFB}"/>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100,000 t output / 90% yield = 111,111 t input; 6% by-product = 6,667 t; 4% loss = 4,444 t.</a:t>
            </a:r>
          </a:p>
        </p:txBody>
      </p:sp>
      <p:sp>
        <p:nvSpPr>
          <p:cNvPr id="6" name="">
            <a:extLst xmlns:a="http://schemas.openxmlformats.org/drawingml/2006/main">
              <a:ext uri="{FF2B5EF4-FFF2-40B4-BE49-F238E27FC236}">
                <a16:creationId xmlns:a16="http://schemas.microsoft.com/office/drawing/2014/main" id="{1919EAD3-89B1-43B2-AA5C-8579852189E9}"/>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By-products may earn revenue. Their quality, price and conversion cost need evidence.</a:t>
            </a:r>
          </a:p>
        </p:txBody>
      </p:sp>
      <p:sp>
        <p:nvSpPr>
          <p:cNvPr id="7" name="">
            <a:extLst xmlns:a="http://schemas.openxmlformats.org/drawingml/2006/main">
              <a:ext uri="{FF2B5EF4-FFF2-40B4-BE49-F238E27FC236}">
                <a16:creationId xmlns:a16="http://schemas.microsoft.com/office/drawing/2014/main" id="{46F8580E-D52C-487B-BCC5-03E09AD19E11}"/>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At 95% main yield, input is 105,263 t. Reconcile the remaining mass separately.</a:t>
            </a:r>
          </a:p>
        </p:txBody>
      </p:sp>
      <p:sp>
        <p:nvSpPr>
          <p:cNvPr id="8" name="">
            <a:extLst xmlns:a="http://schemas.openxmlformats.org/drawingml/2006/main">
              <a:ext uri="{FF2B5EF4-FFF2-40B4-BE49-F238E27FC236}">
                <a16:creationId xmlns:a16="http://schemas.microsoft.com/office/drawing/2014/main" id="{D0AD4ACA-9FFE-437D-A12D-F71D55117F17}"/>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9" name="">
            <a:extLst xmlns:a="http://schemas.openxmlformats.org/drawingml/2006/main">
              <a:ext uri="{FF2B5EF4-FFF2-40B4-BE49-F238E27FC236}">
                <a16:creationId xmlns:a16="http://schemas.microsoft.com/office/drawing/2014/main" id="{56011258-50A5-4748-BF99-FA9BBA995E7E}"/>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C-E04   42 / 98</a:t>
            </a:r>
          </a:p>
        </p:txBody>
      </p:sp>
      <p:sp>
        <p:nvSpPr>
          <p:cNvPr id="10" name="">
            <a:extLst xmlns:a="http://schemas.openxmlformats.org/drawingml/2006/main">
              <a:ext uri="{FF2B5EF4-FFF2-40B4-BE49-F238E27FC236}">
                <a16:creationId xmlns:a16="http://schemas.microsoft.com/office/drawing/2014/main" id="{7AF3FCDC-F52D-4B40-9CF1-E86030B09A0D}"/>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a50fad1428734ef5" action="ppaction://hlinksldjump"/>
              </a:rPr>
              <a:t>MAIN DECK ↗</a:t>
            </a:r>
          </a:p>
        </p:txBody>
      </p:sp>
      <p:sp>
        <p:nvSpPr>
          <p:cNvPr id="11" name="">
            <a:extLst xmlns:a="http://schemas.openxmlformats.org/drawingml/2006/main">
              <a:ext uri="{FF2B5EF4-FFF2-40B4-BE49-F238E27FC236}">
                <a16:creationId xmlns:a16="http://schemas.microsoft.com/office/drawing/2014/main" id="{3DD5AD8B-9639-4167-B46A-D5C04D6D1C49}"/>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4117a6c5522749ce"/>
              </a:rPr>
              <a:t>EVIDENCE ↗</a:t>
            </a:r>
          </a:p>
        </p:txBody>
      </p:sp>
    </p:spTree>
    <p:extLst>
      <p:ext uri="{BB962C8B-B14F-4D97-AF65-F5344CB8AC3E}">
        <p14:creationId xmlns:p14="http://schemas.microsoft.com/office/powerpoint/2010/main" val="923071601"/>
      </p:ext>
    </p:extLst>
  </p:cSld>
</p:sld>
</file>

<file path=ppt/slides/slide43.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3E652F0-C545-4FDD-AFD3-46AB662148C6}"/>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43</a:t>
            </a:r>
          </a:p>
        </p:txBody>
      </p:sp>
      <p:sp>
        <p:nvSpPr>
          <p:cNvPr id="2" name="">
            <a:extLst xmlns:a="http://schemas.openxmlformats.org/drawingml/2006/main">
              <a:ext uri="{FF2B5EF4-FFF2-40B4-BE49-F238E27FC236}">
                <a16:creationId xmlns:a16="http://schemas.microsoft.com/office/drawing/2014/main" id="{6B07A328-2F00-494B-B5EA-16AE39BB88DD}"/>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05 / Customer cost per usable output</a:t>
            </a:r>
          </a:p>
        </p:txBody>
      </p:sp>
      <p:sp>
        <p:nvSpPr>
          <p:cNvPr id="3" name="">
            <a:extLst xmlns:a="http://schemas.openxmlformats.org/drawingml/2006/main">
              <a:ext uri="{FF2B5EF4-FFF2-40B4-BE49-F238E27FC236}">
                <a16:creationId xmlns:a16="http://schemas.microsoft.com/office/drawing/2014/main" id="{26EA59A2-18EB-473E-A348-DD9EF8961EDE}"/>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B costs 3.57% less per usable kg</a:t>
            </a:r>
          </a:p>
        </p:txBody>
      </p:sp>
      <p:sp>
        <p:nvSpPr>
          <p:cNvPr id="4" name="">
            <a:extLst xmlns:a="http://schemas.openxmlformats.org/drawingml/2006/main">
              <a:ext uri="{FF2B5EF4-FFF2-40B4-BE49-F238E27FC236}">
                <a16:creationId xmlns:a16="http://schemas.microsoft.com/office/drawing/2014/main" id="{28B1B908-C7DB-4F99-B196-010D165A5EB2}"/>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Illustrative example—not Olam data</a:t>
            </a:r>
          </a:p>
        </p:txBody>
      </p:sp>
      <p:sp>
        <p:nvSpPr>
          <p:cNvPr id="5" name="">
            <a:extLst xmlns:a="http://schemas.openxmlformats.org/drawingml/2006/main">
              <a:ext uri="{FF2B5EF4-FFF2-40B4-BE49-F238E27FC236}">
                <a16:creationId xmlns:a16="http://schemas.microsoft.com/office/drawing/2014/main" id="{EEDEC60E-3F41-43B8-9CA7-4F16F31269E8}"/>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Offer A: (USD30 + USD5) / 45 kg = USD0.7778/kg. Offer B: (USD32 + USD4) / 48 kg = USD0.7500/kg.</a:t>
            </a:r>
          </a:p>
        </p:txBody>
      </p:sp>
      <p:sp>
        <p:nvSpPr>
          <p:cNvPr id="6" name="">
            <a:extLst xmlns:a="http://schemas.openxmlformats.org/drawingml/2006/main">
              <a:ext uri="{FF2B5EF4-FFF2-40B4-BE49-F238E27FC236}">
                <a16:creationId xmlns:a16="http://schemas.microsoft.com/office/drawing/2014/main" id="{35AD4959-021F-4129-B1A9-6F7B1ED9A53C}"/>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Chosen flour-like inputs. Paid adoption also depends on cash, trust and availability.</a:t>
            </a:r>
          </a:p>
        </p:txBody>
      </p:sp>
      <p:sp>
        <p:nvSpPr>
          <p:cNvPr id="7" name="">
            <a:extLst xmlns:a="http://schemas.openxmlformats.org/drawingml/2006/main">
              <a:ext uri="{FF2B5EF4-FFF2-40B4-BE49-F238E27FC236}">
                <a16:creationId xmlns:a16="http://schemas.microsoft.com/office/drawing/2014/main" id="{CE7FAC1B-5877-4C1F-A2BC-51D6DECD17AD}"/>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If B produces only 45 kg, cost rises to USD0.80/kg and reverses the advantage.</a:t>
            </a:r>
          </a:p>
        </p:txBody>
      </p:sp>
      <p:sp>
        <p:nvSpPr>
          <p:cNvPr id="8" name="">
            <a:extLst xmlns:a="http://schemas.openxmlformats.org/drawingml/2006/main">
              <a:ext uri="{FF2B5EF4-FFF2-40B4-BE49-F238E27FC236}">
                <a16:creationId xmlns:a16="http://schemas.microsoft.com/office/drawing/2014/main" id="{111C7FEA-5D05-45D5-B9D7-78ED649894DA}"/>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9" name="">
            <a:extLst xmlns:a="http://schemas.openxmlformats.org/drawingml/2006/main">
              <a:ext uri="{FF2B5EF4-FFF2-40B4-BE49-F238E27FC236}">
                <a16:creationId xmlns:a16="http://schemas.microsoft.com/office/drawing/2014/main" id="{1F9C54A7-56AC-4E82-ADAC-F7D87CC88BE9}"/>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C-E05   43 / 98</a:t>
            </a:r>
          </a:p>
        </p:txBody>
      </p:sp>
      <p:sp>
        <p:nvSpPr>
          <p:cNvPr id="10" name="">
            <a:extLst xmlns:a="http://schemas.openxmlformats.org/drawingml/2006/main">
              <a:ext uri="{FF2B5EF4-FFF2-40B4-BE49-F238E27FC236}">
                <a16:creationId xmlns:a16="http://schemas.microsoft.com/office/drawing/2014/main" id="{DF18C2E1-AFA8-429D-9962-F1D60FCC5091}"/>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d737515cccca4d39" action="ppaction://hlinksldjump"/>
              </a:rPr>
              <a:t>MAIN DECK ↗</a:t>
            </a:r>
          </a:p>
        </p:txBody>
      </p:sp>
      <p:sp>
        <p:nvSpPr>
          <p:cNvPr id="11" name="">
            <a:extLst xmlns:a="http://schemas.openxmlformats.org/drawingml/2006/main">
              <a:ext uri="{FF2B5EF4-FFF2-40B4-BE49-F238E27FC236}">
                <a16:creationId xmlns:a16="http://schemas.microsoft.com/office/drawing/2014/main" id="{3FDD6B7F-0775-44CB-B18C-37004D027EC0}"/>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85c78cdc6e0246f3"/>
              </a:rPr>
              <a:t>EVIDENCE ↗</a:t>
            </a:r>
          </a:p>
        </p:txBody>
      </p:sp>
    </p:spTree>
    <p:extLst>
      <p:ext uri="{BB962C8B-B14F-4D97-AF65-F5344CB8AC3E}">
        <p14:creationId xmlns:p14="http://schemas.microsoft.com/office/powerpoint/2010/main" val="1666524075"/>
      </p:ext>
    </p:extLst>
  </p:cSld>
</p:sld>
</file>

<file path=ppt/slides/slide44.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D1983EA-8020-487D-ADFE-05F1E1A73585}"/>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44</a:t>
            </a:r>
          </a:p>
        </p:txBody>
      </p:sp>
      <p:sp>
        <p:nvSpPr>
          <p:cNvPr id="2" name="">
            <a:extLst xmlns:a="http://schemas.openxmlformats.org/drawingml/2006/main">
              <a:ext uri="{FF2B5EF4-FFF2-40B4-BE49-F238E27FC236}">
                <a16:creationId xmlns:a16="http://schemas.microsoft.com/office/drawing/2014/main" id="{36717D51-69D1-4173-ABBD-F50976AFDE1F}"/>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06 / Pack cash and cost per meal</a:t>
            </a:r>
          </a:p>
        </p:txBody>
      </p:sp>
      <p:sp>
        <p:nvSpPr>
          <p:cNvPr id="3" name="">
            <a:extLst xmlns:a="http://schemas.openxmlformats.org/drawingml/2006/main">
              <a:ext uri="{FF2B5EF4-FFF2-40B4-BE49-F238E27FC236}">
                <a16:creationId xmlns:a16="http://schemas.microsoft.com/office/drawing/2014/main" id="{F4A13B42-F989-4669-92C8-122904CEC4D5}"/>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Small cash ticket ₦600; large pack 14.29% cheaper per meal</a:t>
            </a:r>
          </a:p>
        </p:txBody>
      </p:sp>
      <p:sp>
        <p:nvSpPr>
          <p:cNvPr id="4" name="">
            <a:extLst xmlns:a="http://schemas.openxmlformats.org/drawingml/2006/main">
              <a:ext uri="{FF2B5EF4-FFF2-40B4-BE49-F238E27FC236}">
                <a16:creationId xmlns:a16="http://schemas.microsoft.com/office/drawing/2014/main" id="{17B82075-9395-4943-9347-04BF13962B14}"/>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Illustrative example—not Olam data</a:t>
            </a:r>
          </a:p>
        </p:txBody>
      </p:sp>
      <p:sp>
        <p:nvSpPr>
          <p:cNvPr id="5" name="">
            <a:extLst xmlns:a="http://schemas.openxmlformats.org/drawingml/2006/main">
              <a:ext uri="{FF2B5EF4-FFF2-40B4-BE49-F238E27FC236}">
                <a16:creationId xmlns:a16="http://schemas.microsoft.com/office/drawing/2014/main" id="{1F260E61-058A-4633-BE70-941339588E2F}"/>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Small: (₦600 + ₦100 prep) / 5 meals = ₦140/meal. Large: (₦2,000 + ₦400 prep) / 20 meals = ₦120/meal.</a:t>
            </a:r>
          </a:p>
        </p:txBody>
      </p:sp>
      <p:sp>
        <p:nvSpPr>
          <p:cNvPr id="6" name="">
            <a:extLst xmlns:a="http://schemas.openxmlformats.org/drawingml/2006/main">
              <a:ext uri="{FF2B5EF4-FFF2-40B4-BE49-F238E27FC236}">
                <a16:creationId xmlns:a16="http://schemas.microsoft.com/office/drawing/2014/main" id="{50FA6C5C-36C3-4616-8198-CBF1C353821A}"/>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Chosen Nigerian cash units and serving size. The large pack needs more upfront cash.</a:t>
            </a:r>
          </a:p>
        </p:txBody>
      </p:sp>
      <p:sp>
        <p:nvSpPr>
          <p:cNvPr id="7" name="">
            <a:extLst xmlns:a="http://schemas.openxmlformats.org/drawingml/2006/main">
              <a:ext uri="{FF2B5EF4-FFF2-40B4-BE49-F238E27FC236}">
                <a16:creationId xmlns:a16="http://schemas.microsoft.com/office/drawing/2014/main" id="{A1752E20-5A4F-43A8-97C4-86781EA61062}"/>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Large purchase cash is 3.33 times the small pack, despite lower cost per meal.</a:t>
            </a:r>
          </a:p>
        </p:txBody>
      </p:sp>
      <p:sp>
        <p:nvSpPr>
          <p:cNvPr id="8" name="">
            <a:extLst xmlns:a="http://schemas.openxmlformats.org/drawingml/2006/main">
              <a:ext uri="{FF2B5EF4-FFF2-40B4-BE49-F238E27FC236}">
                <a16:creationId xmlns:a16="http://schemas.microsoft.com/office/drawing/2014/main" id="{1D2BCB44-E368-4421-B19A-8CF237E87CA8}"/>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9" name="">
            <a:extLst xmlns:a="http://schemas.openxmlformats.org/drawingml/2006/main">
              <a:ext uri="{FF2B5EF4-FFF2-40B4-BE49-F238E27FC236}">
                <a16:creationId xmlns:a16="http://schemas.microsoft.com/office/drawing/2014/main" id="{E4AEFB57-CDF8-4D99-8A91-BF80F9A91FA9}"/>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C-E06   44 / 98</a:t>
            </a:r>
          </a:p>
        </p:txBody>
      </p:sp>
      <p:sp>
        <p:nvSpPr>
          <p:cNvPr id="10" name="">
            <a:extLst xmlns:a="http://schemas.openxmlformats.org/drawingml/2006/main">
              <a:ext uri="{FF2B5EF4-FFF2-40B4-BE49-F238E27FC236}">
                <a16:creationId xmlns:a16="http://schemas.microsoft.com/office/drawing/2014/main" id="{1B5F30F3-8C26-4B1F-851F-5CF3F84B1936}"/>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b385c8ed31c24c5e" action="ppaction://hlinksldjump"/>
              </a:rPr>
              <a:t>MAIN DECK ↗</a:t>
            </a:r>
          </a:p>
        </p:txBody>
      </p:sp>
      <p:sp>
        <p:nvSpPr>
          <p:cNvPr id="11" name="">
            <a:extLst xmlns:a="http://schemas.openxmlformats.org/drawingml/2006/main">
              <a:ext uri="{FF2B5EF4-FFF2-40B4-BE49-F238E27FC236}">
                <a16:creationId xmlns:a16="http://schemas.microsoft.com/office/drawing/2014/main" id="{C8633C61-4A60-40FF-81BB-AACC68820D99}"/>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9cf19ed04c574db8"/>
              </a:rPr>
              <a:t>EVIDENCE ↗</a:t>
            </a:r>
          </a:p>
        </p:txBody>
      </p:sp>
    </p:spTree>
    <p:extLst>
      <p:ext uri="{BB962C8B-B14F-4D97-AF65-F5344CB8AC3E}">
        <p14:creationId xmlns:p14="http://schemas.microsoft.com/office/powerpoint/2010/main" val="308275851"/>
      </p:ext>
    </p:extLst>
  </p:cSld>
</p:sld>
</file>

<file path=ppt/slides/slide45.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6DC8D81-98B5-446B-B7DB-0D729E6AD7B3}"/>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45</a:t>
            </a:r>
          </a:p>
        </p:txBody>
      </p:sp>
      <p:sp>
        <p:nvSpPr>
          <p:cNvPr id="2" name="">
            <a:extLst xmlns:a="http://schemas.openxmlformats.org/drawingml/2006/main">
              <a:ext uri="{FF2B5EF4-FFF2-40B4-BE49-F238E27FC236}">
                <a16:creationId xmlns:a16="http://schemas.microsoft.com/office/drawing/2014/main" id="{D7BEB82D-F6A3-4CE0-94EC-C5228CB843AD}"/>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07 / Percent versus percentage points</a:t>
            </a:r>
          </a:p>
        </p:txBody>
      </p:sp>
      <p:sp>
        <p:nvSpPr>
          <p:cNvPr id="3" name="">
            <a:extLst xmlns:a="http://schemas.openxmlformats.org/drawingml/2006/main">
              <a:ext uri="{FF2B5EF4-FFF2-40B4-BE49-F238E27FC236}">
                <a16:creationId xmlns:a16="http://schemas.microsoft.com/office/drawing/2014/main" id="{AB733F29-3676-4451-81AD-6E19C18975C5}"/>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2 percentage points; 25% relative increase</a:t>
            </a:r>
          </a:p>
        </p:txBody>
      </p:sp>
      <p:sp>
        <p:nvSpPr>
          <p:cNvPr id="4" name="">
            <a:extLst xmlns:a="http://schemas.openxmlformats.org/drawingml/2006/main">
              <a:ext uri="{FF2B5EF4-FFF2-40B4-BE49-F238E27FC236}">
                <a16:creationId xmlns:a16="http://schemas.microsoft.com/office/drawing/2014/main" id="{37608DFE-C766-4FB5-A172-3AB114958782}"/>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Illustrative example—not Olam data</a:t>
            </a:r>
          </a:p>
        </p:txBody>
      </p:sp>
      <p:sp>
        <p:nvSpPr>
          <p:cNvPr id="5" name="">
            <a:extLst xmlns:a="http://schemas.openxmlformats.org/drawingml/2006/main">
              <a:ext uri="{FF2B5EF4-FFF2-40B4-BE49-F238E27FC236}">
                <a16:creationId xmlns:a16="http://schemas.microsoft.com/office/drawing/2014/main" id="{3B654FFB-7C81-4283-BD9F-88EDDBE13CDD}"/>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10% − 8% = 2 percentage points. Relative increase = (10 − 8) / 8 = 25%.</a:t>
            </a:r>
          </a:p>
        </p:txBody>
      </p:sp>
      <p:sp>
        <p:nvSpPr>
          <p:cNvPr id="6" name="">
            <a:extLst xmlns:a="http://schemas.openxmlformats.org/drawingml/2006/main">
              <a:ext uri="{FF2B5EF4-FFF2-40B4-BE49-F238E27FC236}">
                <a16:creationId xmlns:a16="http://schemas.microsoft.com/office/drawing/2014/main" id="{9076272A-ABBF-447D-9922-F48D50D3FCE6}"/>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 margin change is not the same measure as revenue growth.</a:t>
            </a:r>
          </a:p>
        </p:txBody>
      </p:sp>
      <p:sp>
        <p:nvSpPr>
          <p:cNvPr id="7" name="">
            <a:extLst xmlns:a="http://schemas.openxmlformats.org/drawingml/2006/main">
              <a:ext uri="{FF2B5EF4-FFF2-40B4-BE49-F238E27FC236}">
                <a16:creationId xmlns:a16="http://schemas.microsoft.com/office/drawing/2014/main" id="{8EDFFBBE-F14E-4BAC-BE65-FDDD47BC0B05}"/>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On USD100 revenue, profit rises from USD8 to USD10.</a:t>
            </a:r>
          </a:p>
        </p:txBody>
      </p:sp>
      <p:sp>
        <p:nvSpPr>
          <p:cNvPr id="8" name="">
            <a:extLst xmlns:a="http://schemas.openxmlformats.org/drawingml/2006/main">
              <a:ext uri="{FF2B5EF4-FFF2-40B4-BE49-F238E27FC236}">
                <a16:creationId xmlns:a16="http://schemas.microsoft.com/office/drawing/2014/main" id="{7DC894BE-18F9-4436-BBE2-F4B5F109FB10}"/>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9" name="">
            <a:extLst xmlns:a="http://schemas.openxmlformats.org/drawingml/2006/main">
              <a:ext uri="{FF2B5EF4-FFF2-40B4-BE49-F238E27FC236}">
                <a16:creationId xmlns:a16="http://schemas.microsoft.com/office/drawing/2014/main" id="{7467FE55-BCD1-4128-9064-39577C066D6F}"/>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C-E07   45 / 98</a:t>
            </a:r>
          </a:p>
        </p:txBody>
      </p:sp>
      <p:sp>
        <p:nvSpPr>
          <p:cNvPr id="10" name="">
            <a:extLst xmlns:a="http://schemas.openxmlformats.org/drawingml/2006/main">
              <a:ext uri="{FF2B5EF4-FFF2-40B4-BE49-F238E27FC236}">
                <a16:creationId xmlns:a16="http://schemas.microsoft.com/office/drawing/2014/main" id="{3D4AC2D2-2B82-416D-B086-BA587F1675FA}"/>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bf0b3311ece941de" action="ppaction://hlinksldjump"/>
              </a:rPr>
              <a:t>MAIN DECK ↗</a:t>
            </a:r>
          </a:p>
        </p:txBody>
      </p:sp>
      <p:sp>
        <p:nvSpPr>
          <p:cNvPr id="11" name="">
            <a:extLst xmlns:a="http://schemas.openxmlformats.org/drawingml/2006/main">
              <a:ext uri="{FF2B5EF4-FFF2-40B4-BE49-F238E27FC236}">
                <a16:creationId xmlns:a16="http://schemas.microsoft.com/office/drawing/2014/main" id="{8DE1ABFD-2203-4123-BDC3-E1AFAFD08033}"/>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19261db740f044d3"/>
              </a:rPr>
              <a:t>EVIDENCE ↗</a:t>
            </a:r>
          </a:p>
        </p:txBody>
      </p:sp>
    </p:spTree>
    <p:extLst>
      <p:ext uri="{BB962C8B-B14F-4D97-AF65-F5344CB8AC3E}">
        <p14:creationId xmlns:p14="http://schemas.microsoft.com/office/powerpoint/2010/main" val="1171265129"/>
      </p:ext>
    </p:extLst>
  </p:cSld>
</p:sld>
</file>

<file path=ppt/slides/slide46.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B82EE59-77F2-48ED-B78A-B3AE4E0FB236}"/>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46</a:t>
            </a:r>
          </a:p>
        </p:txBody>
      </p:sp>
      <p:sp>
        <p:nvSpPr>
          <p:cNvPr id="2" name="">
            <a:extLst xmlns:a="http://schemas.openxmlformats.org/drawingml/2006/main">
              <a:ext uri="{FF2B5EF4-FFF2-40B4-BE49-F238E27FC236}">
                <a16:creationId xmlns:a16="http://schemas.microsoft.com/office/drawing/2014/main" id="{BFDE65E7-DADD-494A-82AD-39FD636A391B}"/>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08 / Profit to free cash</a:t>
            </a:r>
          </a:p>
        </p:txBody>
      </p:sp>
      <p:sp>
        <p:nvSpPr>
          <p:cNvPr id="3" name="">
            <a:extLst xmlns:a="http://schemas.openxmlformats.org/drawingml/2006/main">
              <a:ext uri="{FF2B5EF4-FFF2-40B4-BE49-F238E27FC236}">
                <a16:creationId xmlns:a16="http://schemas.microsoft.com/office/drawing/2014/main" id="{D4AD02D8-23E0-4C8C-AA13-CD7F12D25FE8}"/>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USD1.25m free cash flow</a:t>
            </a:r>
          </a:p>
        </p:txBody>
      </p:sp>
      <p:sp>
        <p:nvSpPr>
          <p:cNvPr id="4" name="">
            <a:extLst xmlns:a="http://schemas.openxmlformats.org/drawingml/2006/main">
              <a:ext uri="{FF2B5EF4-FFF2-40B4-BE49-F238E27FC236}">
                <a16:creationId xmlns:a16="http://schemas.microsoft.com/office/drawing/2014/main" id="{5DFDC900-2CFB-492F-99DE-64AC31FFE7E5}"/>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Illustrative example—not Olam data</a:t>
            </a:r>
          </a:p>
        </p:txBody>
      </p:sp>
      <p:sp>
        <p:nvSpPr>
          <p:cNvPr id="5" name="">
            <a:extLst xmlns:a="http://schemas.openxmlformats.org/drawingml/2006/main">
              <a:ext uri="{FF2B5EF4-FFF2-40B4-BE49-F238E27FC236}">
                <a16:creationId xmlns:a16="http://schemas.microsoft.com/office/drawing/2014/main" id="{C366A007-BB80-4274-A8A8-7D9F60101D4C}"/>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EBITDA 4 − D&amp;A 1 = EBIT 3; tax = 0.75. FCFF = 3 − 0.75 + 1 − 0.6 − 0.4 − 1 = 1.25 (USDm).</a:t>
            </a:r>
          </a:p>
        </p:txBody>
      </p:sp>
      <p:sp>
        <p:nvSpPr>
          <p:cNvPr id="6" name="">
            <a:extLst xmlns:a="http://schemas.openxmlformats.org/drawingml/2006/main">
              <a:ext uri="{FF2B5EF4-FFF2-40B4-BE49-F238E27FC236}">
                <a16:creationId xmlns:a16="http://schemas.microsoft.com/office/drawing/2014/main" id="{13B574F8-A71A-46DC-B97C-45D4A89A6577}"/>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Assume no prior tax losses, 25% tax, USD0.6 m maintenance and USD0.4 m growth capex.</a:t>
            </a:r>
          </a:p>
        </p:txBody>
      </p:sp>
      <p:sp>
        <p:nvSpPr>
          <p:cNvPr id="7" name="">
            <a:extLst xmlns:a="http://schemas.openxmlformats.org/drawingml/2006/main">
              <a:ext uri="{FF2B5EF4-FFF2-40B4-BE49-F238E27FC236}">
                <a16:creationId xmlns:a16="http://schemas.microsoft.com/office/drawing/2014/main" id="{8859FEBB-D064-4703-9211-AC6D166B1AB5}"/>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If NWC does not increase, this period’s cash rises by USD1 m.</a:t>
            </a:r>
          </a:p>
        </p:txBody>
      </p:sp>
      <p:sp>
        <p:nvSpPr>
          <p:cNvPr id="8" name="">
            <a:extLst xmlns:a="http://schemas.openxmlformats.org/drawingml/2006/main">
              <a:ext uri="{FF2B5EF4-FFF2-40B4-BE49-F238E27FC236}">
                <a16:creationId xmlns:a16="http://schemas.microsoft.com/office/drawing/2014/main" id="{355F2453-6BC7-475C-A20F-9600AE4B6A72}"/>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9" name="">
            <a:extLst xmlns:a="http://schemas.openxmlformats.org/drawingml/2006/main">
              <a:ext uri="{FF2B5EF4-FFF2-40B4-BE49-F238E27FC236}">
                <a16:creationId xmlns:a16="http://schemas.microsoft.com/office/drawing/2014/main" id="{45904FBA-BB39-440D-9D3D-3451E905614D}"/>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C-E08   46 / 98</a:t>
            </a:r>
          </a:p>
        </p:txBody>
      </p:sp>
      <p:sp>
        <p:nvSpPr>
          <p:cNvPr id="10" name="">
            <a:extLst xmlns:a="http://schemas.openxmlformats.org/drawingml/2006/main">
              <a:ext uri="{FF2B5EF4-FFF2-40B4-BE49-F238E27FC236}">
                <a16:creationId xmlns:a16="http://schemas.microsoft.com/office/drawing/2014/main" id="{A5C1F3FD-35FD-4FD2-9035-71171CF36D6F}"/>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ddc2f1d8c1f74e1c" action="ppaction://hlinksldjump"/>
              </a:rPr>
              <a:t>MAIN DECK ↗</a:t>
            </a:r>
          </a:p>
        </p:txBody>
      </p:sp>
      <p:sp>
        <p:nvSpPr>
          <p:cNvPr id="11" name="">
            <a:extLst xmlns:a="http://schemas.openxmlformats.org/drawingml/2006/main">
              <a:ext uri="{FF2B5EF4-FFF2-40B4-BE49-F238E27FC236}">
                <a16:creationId xmlns:a16="http://schemas.microsoft.com/office/drawing/2014/main" id="{369FB674-DE9F-4CC5-A769-2579A58A4134}"/>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1abfc5d3e8a64cba"/>
              </a:rPr>
              <a:t>EVIDENCE ↗</a:t>
            </a:r>
          </a:p>
        </p:txBody>
      </p:sp>
    </p:spTree>
    <p:extLst>
      <p:ext uri="{BB962C8B-B14F-4D97-AF65-F5344CB8AC3E}">
        <p14:creationId xmlns:p14="http://schemas.microsoft.com/office/powerpoint/2010/main" val="448768410"/>
      </p:ext>
    </p:extLst>
  </p:cSld>
</p:sld>
</file>

<file path=ppt/slides/slide47.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7BA7E44-BECB-43A0-8E2C-A83782377761}"/>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47</a:t>
            </a:r>
          </a:p>
        </p:txBody>
      </p:sp>
      <p:sp>
        <p:nvSpPr>
          <p:cNvPr id="2" name="">
            <a:extLst xmlns:a="http://schemas.openxmlformats.org/drawingml/2006/main">
              <a:ext uri="{FF2B5EF4-FFF2-40B4-BE49-F238E27FC236}">
                <a16:creationId xmlns:a16="http://schemas.microsoft.com/office/drawing/2014/main" id="{222B69E4-4C9A-456C-BED3-3038FD0353E8}"/>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09 / Working-capital release</a:t>
            </a:r>
          </a:p>
        </p:txBody>
      </p:sp>
      <p:sp>
        <p:nvSpPr>
          <p:cNvPr id="3" name="">
            <a:extLst xmlns:a="http://schemas.openxmlformats.org/drawingml/2006/main">
              <a:ext uri="{FF2B5EF4-FFF2-40B4-BE49-F238E27FC236}">
                <a16:creationId xmlns:a16="http://schemas.microsoft.com/office/drawing/2014/main" id="{C40630C5-CFEA-4C9B-A166-275ED43AD836}"/>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USD1.20m once-only cash release</a:t>
            </a:r>
          </a:p>
        </p:txBody>
      </p:sp>
      <p:sp>
        <p:nvSpPr>
          <p:cNvPr id="4" name="">
            <a:extLst xmlns:a="http://schemas.openxmlformats.org/drawingml/2006/main">
              <a:ext uri="{FF2B5EF4-FFF2-40B4-BE49-F238E27FC236}">
                <a16:creationId xmlns:a16="http://schemas.microsoft.com/office/drawing/2014/main" id="{B78FAFC5-D0F9-45FB-9CD2-52C135254A33}"/>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Illustrative example—not Olam data</a:t>
            </a:r>
          </a:p>
        </p:txBody>
      </p:sp>
      <p:sp>
        <p:nvSpPr>
          <p:cNvPr id="5" name="">
            <a:extLst xmlns:a="http://schemas.openxmlformats.org/drawingml/2006/main">
              <a:ext uri="{FF2B5EF4-FFF2-40B4-BE49-F238E27FC236}">
                <a16:creationId xmlns:a16="http://schemas.microsoft.com/office/drawing/2014/main" id="{B92D2615-8BD6-4150-A22A-18021318C9D8}"/>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AR: USD40 m × 5 / 365 = USD0.547945 m. Inventory: USD34 m × 7 / 365 = USD0.652055 m. Total = USD1.20 m.</a:t>
            </a:r>
          </a:p>
        </p:txBody>
      </p:sp>
      <p:sp>
        <p:nvSpPr>
          <p:cNvPr id="6" name="">
            <a:extLst xmlns:a="http://schemas.openxmlformats.org/drawingml/2006/main">
              <a:ext uri="{FF2B5EF4-FFF2-40B4-BE49-F238E27FC236}">
                <a16:creationId xmlns:a16="http://schemas.microsoft.com/office/drawing/2014/main" id="{F1C24CAE-6C32-45C7-9877-0D727D2646DD}"/>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All sales are credit in this example. The transition release is not recurring annual profit.</a:t>
            </a:r>
          </a:p>
        </p:txBody>
      </p:sp>
      <p:sp>
        <p:nvSpPr>
          <p:cNvPr id="7" name="">
            <a:extLst xmlns:a="http://schemas.openxmlformats.org/drawingml/2006/main">
              <a:ext uri="{FF2B5EF4-FFF2-40B4-BE49-F238E27FC236}">
                <a16:creationId xmlns:a16="http://schemas.microsoft.com/office/drawing/2014/main" id="{7D3B82BE-AE35-4DBD-BA30-C16B60BABC13}"/>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One further DSO day releases USD0.109589 m at this sales base.</a:t>
            </a:r>
          </a:p>
        </p:txBody>
      </p:sp>
      <p:sp>
        <p:nvSpPr>
          <p:cNvPr id="8" name="">
            <a:extLst xmlns:a="http://schemas.openxmlformats.org/drawingml/2006/main">
              <a:ext uri="{FF2B5EF4-FFF2-40B4-BE49-F238E27FC236}">
                <a16:creationId xmlns:a16="http://schemas.microsoft.com/office/drawing/2014/main" id="{ECE564CC-9099-4801-8897-729F281AC6FD}"/>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9" name="">
            <a:extLst xmlns:a="http://schemas.openxmlformats.org/drawingml/2006/main">
              <a:ext uri="{FF2B5EF4-FFF2-40B4-BE49-F238E27FC236}">
                <a16:creationId xmlns:a16="http://schemas.microsoft.com/office/drawing/2014/main" id="{7D94FBFB-22D7-43B7-AEB2-5B8DFCB29A6D}"/>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C-E09   47 / 98</a:t>
            </a:r>
          </a:p>
        </p:txBody>
      </p:sp>
      <p:sp>
        <p:nvSpPr>
          <p:cNvPr id="10" name="">
            <a:extLst xmlns:a="http://schemas.openxmlformats.org/drawingml/2006/main">
              <a:ext uri="{FF2B5EF4-FFF2-40B4-BE49-F238E27FC236}">
                <a16:creationId xmlns:a16="http://schemas.microsoft.com/office/drawing/2014/main" id="{399AE7F6-D8B6-4C05-A236-9769BEDFF016}"/>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a508a66b17bd448c" action="ppaction://hlinksldjump"/>
              </a:rPr>
              <a:t>MAIN DECK ↗</a:t>
            </a:r>
          </a:p>
        </p:txBody>
      </p:sp>
      <p:sp>
        <p:nvSpPr>
          <p:cNvPr id="11" name="">
            <a:extLst xmlns:a="http://schemas.openxmlformats.org/drawingml/2006/main">
              <a:ext uri="{FF2B5EF4-FFF2-40B4-BE49-F238E27FC236}">
                <a16:creationId xmlns:a16="http://schemas.microsoft.com/office/drawing/2014/main" id="{36E2683F-9491-4553-A097-52FBD9B0FD35}"/>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0f724b9b8a1843e6"/>
              </a:rPr>
              <a:t>EVIDENCE ↗</a:t>
            </a:r>
          </a:p>
        </p:txBody>
      </p:sp>
    </p:spTree>
    <p:extLst>
      <p:ext uri="{BB962C8B-B14F-4D97-AF65-F5344CB8AC3E}">
        <p14:creationId xmlns:p14="http://schemas.microsoft.com/office/powerpoint/2010/main" val="44272827"/>
      </p:ext>
    </p:extLst>
  </p:cSld>
</p:sld>
</file>

<file path=ppt/slides/slide48.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BB37EA6-6AD2-4B24-82DB-1EAC8376C718}"/>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48</a:t>
            </a:r>
          </a:p>
        </p:txBody>
      </p:sp>
      <p:sp>
        <p:nvSpPr>
          <p:cNvPr id="2" name="">
            <a:extLst xmlns:a="http://schemas.openxmlformats.org/drawingml/2006/main">
              <a:ext uri="{FF2B5EF4-FFF2-40B4-BE49-F238E27FC236}">
                <a16:creationId xmlns:a16="http://schemas.microsoft.com/office/drawing/2014/main" id="{6CAFF733-A3FC-41E7-B6E5-D9BC305580AD}"/>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10 / Inherited Nigeria screen</a:t>
            </a:r>
          </a:p>
        </p:txBody>
      </p:sp>
      <p:sp>
        <p:nvSpPr>
          <p:cNvPr id="3" name="">
            <a:extLst xmlns:a="http://schemas.openxmlformats.org/drawingml/2006/main">
              <a:ext uri="{FF2B5EF4-FFF2-40B4-BE49-F238E27FC236}">
                <a16:creationId xmlns:a16="http://schemas.microsoft.com/office/drawing/2014/main" id="{AF80605F-CADE-406C-B62B-CC06300EECD1}"/>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NPV −NGN2.0645bn; zero-NPV uplift NGN1.9928bn/year</a:t>
            </a:r>
          </a:p>
        </p:txBody>
      </p:sp>
      <p:sp>
        <p:nvSpPr>
          <p:cNvPr id="4" name="">
            <a:extLst xmlns:a="http://schemas.openxmlformats.org/drawingml/2006/main">
              <a:ext uri="{FF2B5EF4-FFF2-40B4-BE49-F238E27FC236}">
                <a16:creationId xmlns:a16="http://schemas.microsoft.com/office/drawing/2014/main" id="{3C612D26-D2AE-4696-8059-1EE3FD061E52}"/>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Illustrative example—not Olam data</a:t>
            </a:r>
          </a:p>
        </p:txBody>
      </p:sp>
      <p:sp>
        <p:nvSpPr>
          <p:cNvPr id="5" name="">
            <a:extLst xmlns:a="http://schemas.openxmlformats.org/drawingml/2006/main">
              <a:ext uri="{FF2B5EF4-FFF2-40B4-BE49-F238E27FC236}">
                <a16:creationId xmlns:a16="http://schemas.microsoft.com/office/drawing/2014/main" id="{103DC800-E3AF-4668-8F67-514A7A98CAED}"/>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100 × (2% + 2%) × 8% + 0.7 + 0.6 − 0.4 − 0.45 − 0.30 = 0.47; 100 × 7 / 365 = 1.9178 (NGNbn).</a:t>
            </a:r>
          </a:p>
        </p:txBody>
      </p:sp>
      <p:sp>
        <p:nvSpPr>
          <p:cNvPr id="6" name="">
            <a:extLst xmlns:a="http://schemas.openxmlformats.org/drawingml/2006/main">
              <a:ext uri="{FF2B5EF4-FFF2-40B4-BE49-F238E27FC236}">
                <a16:creationId xmlns:a16="http://schemas.microsoft.com/office/drawing/2014/main" id="{83C7239F-3024-4332-9AF8-B9FB8ADEA504}"/>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NGN4.2 bn initial capital; 28% hurdle; 50/80/100% benefit ramp. Tax, replacement and actual cash bases are absent.</a:t>
            </a:r>
          </a:p>
        </p:txBody>
      </p:sp>
      <p:sp>
        <p:nvSpPr>
          <p:cNvPr id="7" name="">
            <a:extLst xmlns:a="http://schemas.openxmlformats.org/drawingml/2006/main">
              <a:ext uri="{FF2B5EF4-FFF2-40B4-BE49-F238E27FC236}">
                <a16:creationId xmlns:a16="http://schemas.microsoft.com/office/drawing/2014/main" id="{04730E6B-43E3-43AF-87A7-6488E3AB9190}"/>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Repair procurement FX overlap, AR/inventory/AP, capex, tax and currency before a production decision.</a:t>
            </a:r>
          </a:p>
        </p:txBody>
      </p:sp>
      <p:sp>
        <p:nvSpPr>
          <p:cNvPr id="8" name="">
            <a:extLst xmlns:a="http://schemas.openxmlformats.org/drawingml/2006/main">
              <a:ext uri="{FF2B5EF4-FFF2-40B4-BE49-F238E27FC236}">
                <a16:creationId xmlns:a16="http://schemas.microsoft.com/office/drawing/2014/main" id="{20BEAC65-0359-4A38-9224-56C471A7DE9B}"/>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SOURCE BASELINE   |   A_EXAMPLE</a:t>
            </a:r>
          </a:p>
        </p:txBody>
      </p:sp>
      <p:sp>
        <p:nvSpPr>
          <p:cNvPr id="9" name="">
            <a:extLst xmlns:a="http://schemas.openxmlformats.org/drawingml/2006/main">
              <a:ext uri="{FF2B5EF4-FFF2-40B4-BE49-F238E27FC236}">
                <a16:creationId xmlns:a16="http://schemas.microsoft.com/office/drawing/2014/main" id="{AB5AADD4-ACB8-4F8F-9C3B-66BB6CC09223}"/>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C-E10   48 / 98</a:t>
            </a:r>
          </a:p>
        </p:txBody>
      </p:sp>
      <p:sp>
        <p:nvSpPr>
          <p:cNvPr id="10" name="">
            <a:extLst xmlns:a="http://schemas.openxmlformats.org/drawingml/2006/main">
              <a:ext uri="{FF2B5EF4-FFF2-40B4-BE49-F238E27FC236}">
                <a16:creationId xmlns:a16="http://schemas.microsoft.com/office/drawing/2014/main" id="{BDD2FCB6-97E2-4929-9E2C-482F24704B64}"/>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c20f6b46b0224611" action="ppaction://hlinksldjump"/>
              </a:rPr>
              <a:t>MAIN DECK ↗</a:t>
            </a:r>
          </a:p>
        </p:txBody>
      </p:sp>
      <p:sp>
        <p:nvSpPr>
          <p:cNvPr id="11" name="">
            <a:extLst xmlns:a="http://schemas.openxmlformats.org/drawingml/2006/main">
              <a:ext uri="{FF2B5EF4-FFF2-40B4-BE49-F238E27FC236}">
                <a16:creationId xmlns:a16="http://schemas.microsoft.com/office/drawing/2014/main" id="{E44B9C7C-4564-426D-BC9C-DE2C39A50C36}"/>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ee24ef0c3ef14903"/>
              </a:rPr>
              <a:t>EVIDENCE ↗</a:t>
            </a:r>
          </a:p>
        </p:txBody>
      </p:sp>
    </p:spTree>
    <p:extLst>
      <p:ext uri="{BB962C8B-B14F-4D97-AF65-F5344CB8AC3E}">
        <p14:creationId xmlns:p14="http://schemas.microsoft.com/office/powerpoint/2010/main" val="78631225"/>
      </p:ext>
    </p:extLst>
  </p:cSld>
</p:sld>
</file>

<file path=ppt/slides/slide49.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88A6953-4AED-4F4A-86BE-B61D41348807}"/>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49</a:t>
            </a:r>
          </a:p>
        </p:txBody>
      </p:sp>
      <p:sp>
        <p:nvSpPr>
          <p:cNvPr id="2" name="">
            <a:extLst xmlns:a="http://schemas.openxmlformats.org/drawingml/2006/main">
              <a:ext uri="{FF2B5EF4-FFF2-40B4-BE49-F238E27FC236}">
                <a16:creationId xmlns:a16="http://schemas.microsoft.com/office/drawing/2014/main" id="{5D0D4DDB-A241-4781-9788-27BB410456A2}"/>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11 / FX and commodity interaction</a:t>
            </a:r>
          </a:p>
        </p:txBody>
      </p:sp>
      <p:sp>
        <p:nvSpPr>
          <p:cNvPr id="3" name="">
            <a:extLst xmlns:a="http://schemas.openxmlformats.org/drawingml/2006/main">
              <a:ext uri="{FF2B5EF4-FFF2-40B4-BE49-F238E27FC236}">
                <a16:creationId xmlns:a16="http://schemas.microsoft.com/office/drawing/2014/main" id="{B60E41B8-4019-4FF2-812D-036776DDA31A}"/>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21% combined input-cost increase</a:t>
            </a:r>
          </a:p>
        </p:txBody>
      </p:sp>
      <p:sp>
        <p:nvSpPr>
          <p:cNvPr id="4" name="">
            <a:extLst xmlns:a="http://schemas.openxmlformats.org/drawingml/2006/main">
              <a:ext uri="{FF2B5EF4-FFF2-40B4-BE49-F238E27FC236}">
                <a16:creationId xmlns:a16="http://schemas.microsoft.com/office/drawing/2014/main" id="{7078443B-2F3D-451F-96F5-03FFC303C4D5}"/>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Illustrative example—not Olam data</a:t>
            </a:r>
          </a:p>
        </p:txBody>
      </p:sp>
      <p:sp>
        <p:nvSpPr>
          <p:cNvPr id="5" name="">
            <a:extLst xmlns:a="http://schemas.openxmlformats.org/drawingml/2006/main">
              <a:ext uri="{FF2B5EF4-FFF2-40B4-BE49-F238E27FC236}">
                <a16:creationId xmlns:a16="http://schemas.microsoft.com/office/drawing/2014/main" id="{147A3C2E-8774-4C28-A3C8-7BF4AEAFC7E1}"/>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USD100 × ₦1,000/USD = ₦100,000. With both factors +10%: USD110 × ₦1,100 = ₦121,000, or +21%.</a:t>
            </a:r>
          </a:p>
        </p:txBody>
      </p:sp>
      <p:sp>
        <p:nvSpPr>
          <p:cNvPr id="6" name="">
            <a:extLst xmlns:a="http://schemas.openxmlformats.org/drawingml/2006/main">
              <a:ext uri="{FF2B5EF4-FFF2-40B4-BE49-F238E27FC236}">
                <a16:creationId xmlns:a16="http://schemas.microsoft.com/office/drawing/2014/main" id="{6D62800B-9EDB-4FE3-8BC9-6F5C46E29901}"/>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Both shocks hit the same procurement base. Hedge effects need documented contracts.</a:t>
            </a:r>
          </a:p>
        </p:txBody>
      </p:sp>
      <p:sp>
        <p:nvSpPr>
          <p:cNvPr id="7" name="">
            <a:extLst xmlns:a="http://schemas.openxmlformats.org/drawingml/2006/main">
              <a:ext uri="{FF2B5EF4-FFF2-40B4-BE49-F238E27FC236}">
                <a16:creationId xmlns:a16="http://schemas.microsoft.com/office/drawing/2014/main" id="{620E51FD-1938-4AEB-A18B-8404B49D674A}"/>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Chosen 70% cost pass-through recovers 14.7% initially; weaker customer volume may reduce retained margin.</a:t>
            </a:r>
          </a:p>
        </p:txBody>
      </p:sp>
      <p:sp>
        <p:nvSpPr>
          <p:cNvPr id="8" name="">
            <a:extLst xmlns:a="http://schemas.openxmlformats.org/drawingml/2006/main">
              <a:ext uri="{FF2B5EF4-FFF2-40B4-BE49-F238E27FC236}">
                <a16:creationId xmlns:a16="http://schemas.microsoft.com/office/drawing/2014/main" id="{A63ABAF6-123D-44F3-A64F-AB6AEDC2E7D8}"/>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9" name="">
            <a:extLst xmlns:a="http://schemas.openxmlformats.org/drawingml/2006/main">
              <a:ext uri="{FF2B5EF4-FFF2-40B4-BE49-F238E27FC236}">
                <a16:creationId xmlns:a16="http://schemas.microsoft.com/office/drawing/2014/main" id="{2CF85908-E5DA-4FFB-BD32-47EC10E5C812}"/>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C-E11   49 / 98</a:t>
            </a:r>
          </a:p>
        </p:txBody>
      </p:sp>
      <p:sp>
        <p:nvSpPr>
          <p:cNvPr id="10" name="">
            <a:extLst xmlns:a="http://schemas.openxmlformats.org/drawingml/2006/main">
              <a:ext uri="{FF2B5EF4-FFF2-40B4-BE49-F238E27FC236}">
                <a16:creationId xmlns:a16="http://schemas.microsoft.com/office/drawing/2014/main" id="{8F92F38D-C32E-4D4A-BC13-A0AF432C38BC}"/>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a6a9ae67faad4dcb" action="ppaction://hlinksldjump"/>
              </a:rPr>
              <a:t>MAIN DECK ↗</a:t>
            </a:r>
          </a:p>
        </p:txBody>
      </p:sp>
      <p:sp>
        <p:nvSpPr>
          <p:cNvPr id="11" name="">
            <a:extLst xmlns:a="http://schemas.openxmlformats.org/drawingml/2006/main">
              <a:ext uri="{FF2B5EF4-FFF2-40B4-BE49-F238E27FC236}">
                <a16:creationId xmlns:a16="http://schemas.microsoft.com/office/drawing/2014/main" id="{936BE9DE-332F-4B1F-B740-9C2A89D822DC}"/>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8e38ea4044424a85"/>
              </a:rPr>
              <a:t>EVIDENCE ↗</a:t>
            </a:r>
          </a:p>
        </p:txBody>
      </p:sp>
    </p:spTree>
    <p:extLst>
      <p:ext uri="{BB962C8B-B14F-4D97-AF65-F5344CB8AC3E}">
        <p14:creationId xmlns:p14="http://schemas.microsoft.com/office/powerpoint/2010/main" val="529310002"/>
      </p:ext>
    </p:extLst>
  </p:cSld>
</p:sld>
</file>

<file path=ppt/slides/slide50.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802A3DB-EC72-47FB-A7D6-5C0DD42C8D5F}"/>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50</a:t>
            </a:r>
          </a:p>
        </p:txBody>
      </p:sp>
      <p:sp>
        <p:nvSpPr>
          <p:cNvPr id="2" name="">
            <a:extLst xmlns:a="http://schemas.openxmlformats.org/drawingml/2006/main">
              <a:ext uri="{FF2B5EF4-FFF2-40B4-BE49-F238E27FC236}">
                <a16:creationId xmlns:a16="http://schemas.microsoft.com/office/drawing/2014/main" id="{508A2365-41F4-4472-8DF6-C00D7673375E}"/>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12 / Finite NPV and commissioning</a:t>
            </a:r>
          </a:p>
        </p:txBody>
      </p:sp>
      <p:sp>
        <p:nvSpPr>
          <p:cNvPr id="3" name="">
            <a:extLst xmlns:a="http://schemas.openxmlformats.org/drawingml/2006/main">
              <a:ext uri="{FF2B5EF4-FFF2-40B4-BE49-F238E27FC236}">
                <a16:creationId xmlns:a16="http://schemas.microsoft.com/office/drawing/2014/main" id="{A841B9CC-85A2-422B-A34C-0E05245BDED9}"/>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NPV −USD0.0263m</a:t>
            </a:r>
          </a:p>
        </p:txBody>
      </p:sp>
      <p:sp>
        <p:nvSpPr>
          <p:cNvPr id="4" name="">
            <a:extLst xmlns:a="http://schemas.openxmlformats.org/drawingml/2006/main">
              <a:ext uri="{FF2B5EF4-FFF2-40B4-BE49-F238E27FC236}">
                <a16:creationId xmlns:a16="http://schemas.microsoft.com/office/drawing/2014/main" id="{6EF46F4C-D7E2-451D-B8ED-838A61508548}"/>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Illustrative example—not Olam data</a:t>
            </a:r>
          </a:p>
        </p:txBody>
      </p:sp>
      <p:sp>
        <p:nvSpPr>
          <p:cNvPr id="5" name="">
            <a:extLst xmlns:a="http://schemas.openxmlformats.org/drawingml/2006/main">
              <a:ext uri="{FF2B5EF4-FFF2-40B4-BE49-F238E27FC236}">
                <a16:creationId xmlns:a16="http://schemas.microsoft.com/office/drawing/2014/main" id="{D207D322-5574-40D0-B841-444136F48FB0}"/>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NPV = −5 + 2/1.10 + 2/1.10² + 2/1.10³ = −0.0263 (USDm).</a:t>
            </a:r>
          </a:p>
        </p:txBody>
      </p:sp>
      <p:sp>
        <p:nvSpPr>
          <p:cNvPr id="6" name="">
            <a:extLst xmlns:a="http://schemas.openxmlformats.org/drawingml/2006/main">
              <a:ext uri="{FF2B5EF4-FFF2-40B4-BE49-F238E27FC236}">
                <a16:creationId xmlns:a16="http://schemas.microsoft.com/office/drawing/2014/main" id="{C6D7C603-FCE0-45B9-9E7B-904DBBAA8429}"/>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No terminal value. Staging USD3 m now and USD2 m in year 1, with cash in years 2–4, gives −USD0.2966 m.</a:t>
            </a:r>
          </a:p>
        </p:txBody>
      </p:sp>
      <p:sp>
        <p:nvSpPr>
          <p:cNvPr id="7" name="">
            <a:extLst xmlns:a="http://schemas.openxmlformats.org/drawingml/2006/main">
              <a:ext uri="{FF2B5EF4-FFF2-40B4-BE49-F238E27FC236}">
                <a16:creationId xmlns:a16="http://schemas.microsoft.com/office/drawing/2014/main" id="{982D8759-750A-46E2-95E0-20CA2AA6FA51}"/>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Paying USD5 m now with a one-year cash delay gives −USD0.4784 m.</a:t>
            </a:r>
          </a:p>
        </p:txBody>
      </p:sp>
      <p:sp>
        <p:nvSpPr>
          <p:cNvPr id="8" name="">
            <a:extLst xmlns:a="http://schemas.openxmlformats.org/drawingml/2006/main">
              <a:ext uri="{FF2B5EF4-FFF2-40B4-BE49-F238E27FC236}">
                <a16:creationId xmlns:a16="http://schemas.microsoft.com/office/drawing/2014/main" id="{1309ECA0-A617-40B8-A104-AAB7CEE7EAB1}"/>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9" name="">
            <a:extLst xmlns:a="http://schemas.openxmlformats.org/drawingml/2006/main">
              <a:ext uri="{FF2B5EF4-FFF2-40B4-BE49-F238E27FC236}">
                <a16:creationId xmlns:a16="http://schemas.microsoft.com/office/drawing/2014/main" id="{AA58260A-4FA2-4C31-8A54-089EF28912DC}"/>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C-E12   50 / 98</a:t>
            </a:r>
          </a:p>
        </p:txBody>
      </p:sp>
      <p:sp>
        <p:nvSpPr>
          <p:cNvPr id="10" name="">
            <a:extLst xmlns:a="http://schemas.openxmlformats.org/drawingml/2006/main">
              <a:ext uri="{FF2B5EF4-FFF2-40B4-BE49-F238E27FC236}">
                <a16:creationId xmlns:a16="http://schemas.microsoft.com/office/drawing/2014/main" id="{00BE154A-C52D-4625-BE8B-2A517BA34EF4}"/>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6519ae10818d4e0c" action="ppaction://hlinksldjump"/>
              </a:rPr>
              <a:t>MAIN DECK ↗</a:t>
            </a:r>
          </a:p>
        </p:txBody>
      </p:sp>
      <p:sp>
        <p:nvSpPr>
          <p:cNvPr id="11" name="">
            <a:extLst xmlns:a="http://schemas.openxmlformats.org/drawingml/2006/main">
              <a:ext uri="{FF2B5EF4-FFF2-40B4-BE49-F238E27FC236}">
                <a16:creationId xmlns:a16="http://schemas.microsoft.com/office/drawing/2014/main" id="{E5056A38-12E1-47A9-8892-0357B36A1A69}"/>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34cbbb439c8f40e1"/>
              </a:rPr>
              <a:t>EVIDENCE ↗</a:t>
            </a:r>
          </a:p>
        </p:txBody>
      </p:sp>
    </p:spTree>
    <p:extLst>
      <p:ext uri="{BB962C8B-B14F-4D97-AF65-F5344CB8AC3E}">
        <p14:creationId xmlns:p14="http://schemas.microsoft.com/office/powerpoint/2010/main" val="287262996"/>
      </p:ext>
    </p:extLst>
  </p:cSld>
</p:sld>
</file>

<file path=ppt/slides/slide51.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C3C19D4-CD27-47A7-99EB-29E46CCE77B7}"/>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51</a:t>
            </a:r>
          </a:p>
        </p:txBody>
      </p:sp>
      <p:sp>
        <p:nvSpPr>
          <p:cNvPr id="2" name="">
            <a:extLst xmlns:a="http://schemas.openxmlformats.org/drawingml/2006/main">
              <a:ext uri="{FF2B5EF4-FFF2-40B4-BE49-F238E27FC236}">
                <a16:creationId xmlns:a16="http://schemas.microsoft.com/office/drawing/2014/main" id="{4919EA13-83A5-497F-8D1D-CF3F1DB02C87}"/>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13 / Real and nominal consistency</a:t>
            </a:r>
          </a:p>
        </p:txBody>
      </p:sp>
      <p:sp>
        <p:nvSpPr>
          <p:cNvPr id="3" name="">
            <a:extLst xmlns:a="http://schemas.openxmlformats.org/drawingml/2006/main">
              <a:ext uri="{FF2B5EF4-FFF2-40B4-BE49-F238E27FC236}">
                <a16:creationId xmlns:a16="http://schemas.microsoft.com/office/drawing/2014/main" id="{0F37403F-08F3-4B21-B05D-521C77B54D14}"/>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Real and nominal three-year NPVs both −USD0.0263m</a:t>
            </a:r>
          </a:p>
        </p:txBody>
      </p:sp>
      <p:sp>
        <p:nvSpPr>
          <p:cNvPr id="4" name="">
            <a:extLst xmlns:a="http://schemas.openxmlformats.org/drawingml/2006/main">
              <a:ext uri="{FF2B5EF4-FFF2-40B4-BE49-F238E27FC236}">
                <a16:creationId xmlns:a16="http://schemas.microsoft.com/office/drawing/2014/main" id="{6227E2F8-9FC5-4B98-850C-506A99D8BE8C}"/>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Illustrative example—not Olam data</a:t>
            </a:r>
          </a:p>
        </p:txBody>
      </p:sp>
      <p:sp>
        <p:nvSpPr>
          <p:cNvPr id="5" name="">
            <a:extLst xmlns:a="http://schemas.openxmlformats.org/drawingml/2006/main">
              <a:ext uri="{FF2B5EF4-FFF2-40B4-BE49-F238E27FC236}">
                <a16:creationId xmlns:a16="http://schemas.microsoft.com/office/drawing/2014/main" id="{6FB02F6B-B4EB-4B89-A3E9-DD87377CA381}"/>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(1.10 × 1.05) − 1 = 15.5% nominal hurdle. Year 1: 2.10 / 1.155 = 2.00 / 1.10.</a:t>
            </a:r>
          </a:p>
        </p:txBody>
      </p:sp>
      <p:sp>
        <p:nvSpPr>
          <p:cNvPr id="6" name="">
            <a:extLst xmlns:a="http://schemas.openxmlformats.org/drawingml/2006/main">
              <a:ext uri="{FF2B5EF4-FFF2-40B4-BE49-F238E27FC236}">
                <a16:creationId xmlns:a16="http://schemas.microsoft.com/office/drawing/2014/main" id="{4810B902-E566-46DA-BD09-A595275D31F4}"/>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Nominal cash grows by 5% inflation and is discounted at 15.5%. Project and currency risk require separate care.</a:t>
            </a:r>
          </a:p>
        </p:txBody>
      </p:sp>
      <p:sp>
        <p:nvSpPr>
          <p:cNvPr id="7" name="">
            <a:extLst xmlns:a="http://schemas.openxmlformats.org/drawingml/2006/main">
              <a:ext uri="{FF2B5EF4-FFF2-40B4-BE49-F238E27FC236}">
                <a16:creationId xmlns:a16="http://schemas.microsoft.com/office/drawing/2014/main" id="{082805B5-50CE-42FB-AEC0-9DAD11A44078}"/>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Mixing nominal cash with a real hurdle overstates value.</a:t>
            </a:r>
          </a:p>
        </p:txBody>
      </p:sp>
      <p:sp>
        <p:nvSpPr>
          <p:cNvPr id="8" name="">
            <a:extLst xmlns:a="http://schemas.openxmlformats.org/drawingml/2006/main">
              <a:ext uri="{FF2B5EF4-FFF2-40B4-BE49-F238E27FC236}">
                <a16:creationId xmlns:a16="http://schemas.microsoft.com/office/drawing/2014/main" id="{498F0D1C-794C-437B-B428-887A9F11F0EE}"/>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9" name="">
            <a:extLst xmlns:a="http://schemas.openxmlformats.org/drawingml/2006/main">
              <a:ext uri="{FF2B5EF4-FFF2-40B4-BE49-F238E27FC236}">
                <a16:creationId xmlns:a16="http://schemas.microsoft.com/office/drawing/2014/main" id="{40FB9159-6BDF-4B0F-9491-FED143792C17}"/>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C-E13   51 / 98</a:t>
            </a:r>
          </a:p>
        </p:txBody>
      </p:sp>
      <p:sp>
        <p:nvSpPr>
          <p:cNvPr id="10" name="">
            <a:extLst xmlns:a="http://schemas.openxmlformats.org/drawingml/2006/main">
              <a:ext uri="{FF2B5EF4-FFF2-40B4-BE49-F238E27FC236}">
                <a16:creationId xmlns:a16="http://schemas.microsoft.com/office/drawing/2014/main" id="{E3866AF7-4308-435A-BA95-94ABCCE50E3A}"/>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d5bf706aa05a4ab4" action="ppaction://hlinksldjump"/>
              </a:rPr>
              <a:t>MAIN DECK ↗</a:t>
            </a:r>
          </a:p>
        </p:txBody>
      </p:sp>
      <p:sp>
        <p:nvSpPr>
          <p:cNvPr id="11" name="">
            <a:extLst xmlns:a="http://schemas.openxmlformats.org/drawingml/2006/main">
              <a:ext uri="{FF2B5EF4-FFF2-40B4-BE49-F238E27FC236}">
                <a16:creationId xmlns:a16="http://schemas.microsoft.com/office/drawing/2014/main" id="{755AEA0C-C91A-4F7C-8838-B2512F398CB4}"/>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3c7cd427ff4d4f0a"/>
              </a:rPr>
              <a:t>EVIDENCE ↗</a:t>
            </a:r>
          </a:p>
        </p:txBody>
      </p:sp>
    </p:spTree>
    <p:extLst>
      <p:ext uri="{BB962C8B-B14F-4D97-AF65-F5344CB8AC3E}">
        <p14:creationId xmlns:p14="http://schemas.microsoft.com/office/powerpoint/2010/main" val="1825716163"/>
      </p:ext>
    </p:extLst>
  </p:cSld>
</p:sld>
</file>

<file path=ppt/slides/slide52.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C1FDF42-0DCF-4585-A994-2AFB4264CEF4}"/>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52</a:t>
            </a:r>
          </a:p>
        </p:txBody>
      </p:sp>
      <p:sp>
        <p:nvSpPr>
          <p:cNvPr id="2" name="">
            <a:extLst xmlns:a="http://schemas.openxmlformats.org/drawingml/2006/main">
              <a:ext uri="{FF2B5EF4-FFF2-40B4-BE49-F238E27FC236}">
                <a16:creationId xmlns:a16="http://schemas.microsoft.com/office/drawing/2014/main" id="{AC22B35D-3C2F-48C3-B24B-DD1338A330FE}"/>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14 / Operating versus investment break-even</a:t>
            </a:r>
          </a:p>
        </p:txBody>
      </p:sp>
      <p:sp>
        <p:nvSpPr>
          <p:cNvPr id="3" name="">
            <a:extLst xmlns:a="http://schemas.openxmlformats.org/drawingml/2006/main">
              <a:ext uri="{FF2B5EF4-FFF2-40B4-BE49-F238E27FC236}">
                <a16:creationId xmlns:a16="http://schemas.microsoft.com/office/drawing/2014/main" id="{0B789C5A-2ABE-44C1-96F9-C819D6EF848E}"/>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Operating 33,333t; investment boundary 104,862 initial order tonnes</a:t>
            </a:r>
          </a:p>
        </p:txBody>
      </p:sp>
      <p:sp>
        <p:nvSpPr>
          <p:cNvPr id="4" name="">
            <a:extLst xmlns:a="http://schemas.openxmlformats.org/drawingml/2006/main">
              <a:ext uri="{FF2B5EF4-FFF2-40B4-BE49-F238E27FC236}">
                <a16:creationId xmlns:a16="http://schemas.microsoft.com/office/drawing/2014/main" id="{32281855-8B74-4A6A-BEB5-D441782DDF52}"/>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Illustrative example—not Olam data</a:t>
            </a:r>
          </a:p>
        </p:txBody>
      </p:sp>
      <p:sp>
        <p:nvSpPr>
          <p:cNvPr id="5" name="">
            <a:extLst xmlns:a="http://schemas.openxmlformats.org/drawingml/2006/main">
              <a:ext uri="{FF2B5EF4-FFF2-40B4-BE49-F238E27FC236}">
                <a16:creationId xmlns:a16="http://schemas.microsoft.com/office/drawing/2014/main" id="{05CAD0AC-66A9-40AC-9491-810EFE8DEEA7}"/>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USD2 m / (USD400 − USD340 per tonne) = 33,333 t; / 150,000 t capacity = 22.22% utilization.</a:t>
            </a:r>
          </a:p>
        </p:txBody>
      </p:sp>
      <p:sp>
        <p:nvSpPr>
          <p:cNvPr id="6" name="">
            <a:extLst xmlns:a="http://schemas.openxmlformats.org/drawingml/2006/main">
              <a:ext uri="{FF2B5EF4-FFF2-40B4-BE49-F238E27FC236}">
                <a16:creationId xmlns:a16="http://schemas.microsoft.com/office/drawing/2014/main" id="{DB1109DE-E3BE-4DC6-A19A-36872C05E8C6}"/>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Full NPV includes ramp, tax, replacement, working cash and the finite horizon.</a:t>
            </a:r>
          </a:p>
        </p:txBody>
      </p:sp>
      <p:sp>
        <p:nvSpPr>
          <p:cNvPr id="7" name="">
            <a:extLst xmlns:a="http://schemas.openxmlformats.org/drawingml/2006/main">
              <a:ext uri="{FF2B5EF4-FFF2-40B4-BE49-F238E27FC236}">
                <a16:creationId xmlns:a16="http://schemas.microsoft.com/office/drawing/2014/main" id="{D36FA1D9-2093-42F8-B687-81D1B26D0EA8}"/>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Operating above 22.22% utilization can still give negative investment NPV.</a:t>
            </a:r>
          </a:p>
        </p:txBody>
      </p:sp>
      <p:sp>
        <p:nvSpPr>
          <p:cNvPr id="8" name="">
            <a:extLst xmlns:a="http://schemas.openxmlformats.org/drawingml/2006/main">
              <a:ext uri="{FF2B5EF4-FFF2-40B4-BE49-F238E27FC236}">
                <a16:creationId xmlns:a16="http://schemas.microsoft.com/office/drawing/2014/main" id="{9C53FD96-C2EB-4218-886C-3F1BF2DFA46C}"/>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9" name="">
            <a:extLst xmlns:a="http://schemas.openxmlformats.org/drawingml/2006/main">
              <a:ext uri="{FF2B5EF4-FFF2-40B4-BE49-F238E27FC236}">
                <a16:creationId xmlns:a16="http://schemas.microsoft.com/office/drawing/2014/main" id="{6E89561B-EBCB-495A-9ED8-F34BEE0B7661}"/>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C-E14   52 / 98</a:t>
            </a:r>
          </a:p>
        </p:txBody>
      </p:sp>
      <p:sp>
        <p:nvSpPr>
          <p:cNvPr id="10" name="">
            <a:extLst xmlns:a="http://schemas.openxmlformats.org/drawingml/2006/main">
              <a:ext uri="{FF2B5EF4-FFF2-40B4-BE49-F238E27FC236}">
                <a16:creationId xmlns:a16="http://schemas.microsoft.com/office/drawing/2014/main" id="{7C8836E9-67AF-427A-9838-A09596560849}"/>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c0492fdfcdd244ce" action="ppaction://hlinksldjump"/>
              </a:rPr>
              <a:t>MAIN DECK ↗</a:t>
            </a:r>
          </a:p>
        </p:txBody>
      </p:sp>
      <p:sp>
        <p:nvSpPr>
          <p:cNvPr id="11" name="">
            <a:extLst xmlns:a="http://schemas.openxmlformats.org/drawingml/2006/main">
              <a:ext uri="{FF2B5EF4-FFF2-40B4-BE49-F238E27FC236}">
                <a16:creationId xmlns:a16="http://schemas.microsoft.com/office/drawing/2014/main" id="{D2C463E1-B5BD-4421-89C8-0353F2D332E2}"/>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7423dfe6fe6c4f06"/>
              </a:rPr>
              <a:t>EVIDENCE ↗</a:t>
            </a:r>
          </a:p>
        </p:txBody>
      </p:sp>
    </p:spTree>
    <p:extLst>
      <p:ext uri="{BB962C8B-B14F-4D97-AF65-F5344CB8AC3E}">
        <p14:creationId xmlns:p14="http://schemas.microsoft.com/office/powerpoint/2010/main" val="702431655"/>
      </p:ext>
    </p:extLst>
  </p:cSld>
</p:sld>
</file>

<file path=ppt/slides/slide53.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5417D82-1092-41B0-94C4-A16BC1157830}"/>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53</a:t>
            </a:r>
          </a:p>
        </p:txBody>
      </p:sp>
      <p:sp>
        <p:nvSpPr>
          <p:cNvPr id="2" name="">
            <a:extLst xmlns:a="http://schemas.openxmlformats.org/drawingml/2006/main">
              <a:ext uri="{FF2B5EF4-FFF2-40B4-BE49-F238E27FC236}">
                <a16:creationId xmlns:a16="http://schemas.microsoft.com/office/drawing/2014/main" id="{2A9F5940-2778-4109-9ACD-3309F7E60C6C}"/>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15 / Scenario weights are not likelihood</a:t>
            </a:r>
          </a:p>
        </p:txBody>
      </p:sp>
      <p:sp>
        <p:nvSpPr>
          <p:cNvPr id="3" name="">
            <a:extLst xmlns:a="http://schemas.openxmlformats.org/drawingml/2006/main">
              <a:ext uri="{FF2B5EF4-FFF2-40B4-BE49-F238E27FC236}">
                <a16:creationId xmlns:a16="http://schemas.microsoft.com/office/drawing/2014/main" id="{D0211C89-23EC-467D-BF3D-C78861B377DF}"/>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USD3m judgement-weighted mean</a:t>
            </a:r>
          </a:p>
        </p:txBody>
      </p:sp>
      <p:sp>
        <p:nvSpPr>
          <p:cNvPr id="4" name="">
            <a:extLst xmlns:a="http://schemas.openxmlformats.org/drawingml/2006/main">
              <a:ext uri="{FF2B5EF4-FFF2-40B4-BE49-F238E27FC236}">
                <a16:creationId xmlns:a16="http://schemas.microsoft.com/office/drawing/2014/main" id="{3AAC438F-B04E-4653-9C91-A8CD6C6B17CD}"/>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Illustrative example—not Olam data</a:t>
            </a:r>
          </a:p>
        </p:txBody>
      </p:sp>
      <p:sp>
        <p:nvSpPr>
          <p:cNvPr id="5" name="">
            <a:extLst xmlns:a="http://schemas.openxmlformats.org/drawingml/2006/main">
              <a:ext uri="{FF2B5EF4-FFF2-40B4-BE49-F238E27FC236}">
                <a16:creationId xmlns:a16="http://schemas.microsoft.com/office/drawing/2014/main" id="{B9B06B2D-402D-43C9-83A7-1ABBF36D8ED0}"/>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Chosen NPVs [10, −8, 2] and weights [0.5, 0.3, 0.2]: 5 − 2.4 + 0.4 = USD3 m.</a:t>
            </a:r>
          </a:p>
        </p:txBody>
      </p:sp>
      <p:sp>
        <p:nvSpPr>
          <p:cNvPr id="6" name="">
            <a:extLst xmlns:a="http://schemas.openxmlformats.org/drawingml/2006/main">
              <a:ext uri="{FF2B5EF4-FFF2-40B4-BE49-F238E27FC236}">
                <a16:creationId xmlns:a16="http://schemas.microsoft.com/office/drawing/2014/main" id="{C5F89708-B27C-44ED-9FFB-64083E56A1A7}"/>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The central USD10 m case is not a calibrated most-likely future. The adverse loss can breach funding.</a:t>
            </a:r>
          </a:p>
        </p:txBody>
      </p:sp>
      <p:sp>
        <p:nvSpPr>
          <p:cNvPr id="7" name="">
            <a:extLst xmlns:a="http://schemas.openxmlformats.org/drawingml/2006/main">
              <a:ext uri="{FF2B5EF4-FFF2-40B4-BE49-F238E27FC236}">
                <a16:creationId xmlns:a16="http://schemas.microsoft.com/office/drawing/2014/main" id="{35FD617E-36ED-48FB-9013-1EC621569CC3}"/>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If adverse weight is 0.5 and central weight 0.3, the mean becomes −USD0.6 m.</a:t>
            </a:r>
          </a:p>
        </p:txBody>
      </p:sp>
      <p:sp>
        <p:nvSpPr>
          <p:cNvPr id="8" name="">
            <a:extLst xmlns:a="http://schemas.openxmlformats.org/drawingml/2006/main">
              <a:ext uri="{FF2B5EF4-FFF2-40B4-BE49-F238E27FC236}">
                <a16:creationId xmlns:a16="http://schemas.microsoft.com/office/drawing/2014/main" id="{D2342731-B521-4AC5-B219-5E863D215716}"/>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9" name="">
            <a:extLst xmlns:a="http://schemas.openxmlformats.org/drawingml/2006/main">
              <a:ext uri="{FF2B5EF4-FFF2-40B4-BE49-F238E27FC236}">
                <a16:creationId xmlns:a16="http://schemas.microsoft.com/office/drawing/2014/main" id="{9EF42AA0-958E-468A-9DA7-E9EB3D231CDD}"/>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C-E15   53 / 98</a:t>
            </a:r>
          </a:p>
        </p:txBody>
      </p:sp>
      <p:sp>
        <p:nvSpPr>
          <p:cNvPr id="10" name="">
            <a:extLst xmlns:a="http://schemas.openxmlformats.org/drawingml/2006/main">
              <a:ext uri="{FF2B5EF4-FFF2-40B4-BE49-F238E27FC236}">
                <a16:creationId xmlns:a16="http://schemas.microsoft.com/office/drawing/2014/main" id="{433337AC-C1CC-4724-8F22-680A3889EC17}"/>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1efd8df6cd8a45b9" action="ppaction://hlinksldjump"/>
              </a:rPr>
              <a:t>MAIN DECK ↗</a:t>
            </a:r>
          </a:p>
        </p:txBody>
      </p:sp>
      <p:sp>
        <p:nvSpPr>
          <p:cNvPr id="11" name="">
            <a:extLst xmlns:a="http://schemas.openxmlformats.org/drawingml/2006/main">
              <a:ext uri="{FF2B5EF4-FFF2-40B4-BE49-F238E27FC236}">
                <a16:creationId xmlns:a16="http://schemas.microsoft.com/office/drawing/2014/main" id="{0C62DDBE-E04C-4567-89A2-AEFFB6B54C53}"/>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efe16466e5a14ac2"/>
              </a:rPr>
              <a:t>EVIDENCE ↗</a:t>
            </a:r>
          </a:p>
        </p:txBody>
      </p:sp>
    </p:spTree>
    <p:extLst>
      <p:ext uri="{BB962C8B-B14F-4D97-AF65-F5344CB8AC3E}">
        <p14:creationId xmlns:p14="http://schemas.microsoft.com/office/powerpoint/2010/main" val="628743616"/>
      </p:ext>
    </p:extLst>
  </p:cSld>
</p:sld>
</file>

<file path=ppt/slides/slide54.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84E3825-B22A-415A-BB5F-60A65F2FE247}"/>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54</a:t>
            </a:r>
          </a:p>
        </p:txBody>
      </p:sp>
      <p:sp>
        <p:nvSpPr>
          <p:cNvPr id="2" name="">
            <a:extLst xmlns:a="http://schemas.openxmlformats.org/drawingml/2006/main">
              <a:ext uri="{FF2B5EF4-FFF2-40B4-BE49-F238E27FC236}">
                <a16:creationId xmlns:a16="http://schemas.microsoft.com/office/drawing/2014/main" id="{A3FCB6C8-301A-4AB0-971B-D0F962819343}"/>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16 / Loss-tail VaR and CVaR</a:t>
            </a:r>
          </a:p>
        </p:txBody>
      </p:sp>
      <p:sp>
        <p:nvSpPr>
          <p:cNvPr id="3" name="">
            <a:extLst xmlns:a="http://schemas.openxmlformats.org/drawingml/2006/main">
              <a:ext uri="{FF2B5EF4-FFF2-40B4-BE49-F238E27FC236}">
                <a16:creationId xmlns:a16="http://schemas.microsoft.com/office/drawing/2014/main" id="{57199A20-678A-41CC-AE02-739123D006A7}"/>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Loss VaR80 USD4m; tail CVaR80 USD8m</a:t>
            </a:r>
          </a:p>
        </p:txBody>
      </p:sp>
      <p:sp>
        <p:nvSpPr>
          <p:cNvPr id="4" name="">
            <a:extLst xmlns:a="http://schemas.openxmlformats.org/drawingml/2006/main">
              <a:ext uri="{FF2B5EF4-FFF2-40B4-BE49-F238E27FC236}">
                <a16:creationId xmlns:a16="http://schemas.microsoft.com/office/drawing/2014/main" id="{CAF8988A-E4C2-494D-BC59-B3A55873F8C0}"/>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Illustrative example—not Olam data</a:t>
            </a:r>
          </a:p>
        </p:txBody>
      </p:sp>
      <p:sp>
        <p:nvSpPr>
          <p:cNvPr id="5" name="">
            <a:extLst xmlns:a="http://schemas.openxmlformats.org/drawingml/2006/main">
              <a:ext uri="{FF2B5EF4-FFF2-40B4-BE49-F238E27FC236}">
                <a16:creationId xmlns:a16="http://schemas.microsoft.com/office/drawing/2014/main" id="{D7F78863-C3CA-42C1-A641-8EF60A01D629}"/>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NPVs [−8, −4, 0, 2, 6] imply losses [0, 0, 0, 4, 8]. Nearest-rank VaR80 = 4; worst-20% CVaR80 = 8 (USDm).</a:t>
            </a:r>
          </a:p>
        </p:txBody>
      </p:sp>
      <p:sp>
        <p:nvSpPr>
          <p:cNvPr id="6" name="">
            <a:extLst xmlns:a="http://schemas.openxmlformats.org/drawingml/2006/main">
              <a:ext uri="{FF2B5EF4-FFF2-40B4-BE49-F238E27FC236}">
                <a16:creationId xmlns:a16="http://schemas.microsoft.com/office/drawing/2014/main" id="{0932D30E-FAA3-4447-B03D-646B23CC0B66}"/>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Declare discrete tie treatment: mean(loss ≥ VaR) would be USD6 m here, a different convention.</a:t>
            </a:r>
          </a:p>
        </p:txBody>
      </p:sp>
      <p:sp>
        <p:nvSpPr>
          <p:cNvPr id="7" name="">
            <a:extLst xmlns:a="http://schemas.openxmlformats.org/drawingml/2006/main">
              <a:ext uri="{FF2B5EF4-FFF2-40B4-BE49-F238E27FC236}">
                <a16:creationId xmlns:a16="http://schemas.microsoft.com/office/drawing/2014/main" id="{F50939F1-ABCD-48AA-9CC2-B363BF468AD4}"/>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Stress code uses mean(loss ≥ 95% quantile). Its chosen continuous generator has negligible ties.</a:t>
            </a:r>
          </a:p>
        </p:txBody>
      </p:sp>
      <p:sp>
        <p:nvSpPr>
          <p:cNvPr id="8" name="">
            <a:extLst xmlns:a="http://schemas.openxmlformats.org/drawingml/2006/main">
              <a:ext uri="{FF2B5EF4-FFF2-40B4-BE49-F238E27FC236}">
                <a16:creationId xmlns:a16="http://schemas.microsoft.com/office/drawing/2014/main" id="{3F2BE339-85C7-4A0F-BE57-C3DDE0F56C42}"/>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SOURCE CVAR   |   A_EXAMPLE</a:t>
            </a:r>
          </a:p>
        </p:txBody>
      </p:sp>
      <p:sp>
        <p:nvSpPr>
          <p:cNvPr id="9" name="">
            <a:extLst xmlns:a="http://schemas.openxmlformats.org/drawingml/2006/main">
              <a:ext uri="{FF2B5EF4-FFF2-40B4-BE49-F238E27FC236}">
                <a16:creationId xmlns:a16="http://schemas.microsoft.com/office/drawing/2014/main" id="{FE565DBA-D027-434C-88DE-451F1397EF3A}"/>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C-E16   54 / 98</a:t>
            </a:r>
          </a:p>
        </p:txBody>
      </p:sp>
      <p:sp>
        <p:nvSpPr>
          <p:cNvPr id="10" name="">
            <a:extLst xmlns:a="http://schemas.openxmlformats.org/drawingml/2006/main">
              <a:ext uri="{FF2B5EF4-FFF2-40B4-BE49-F238E27FC236}">
                <a16:creationId xmlns:a16="http://schemas.microsoft.com/office/drawing/2014/main" id="{F69CE9D8-372A-4937-B71B-D0AA0F0F4CBE}"/>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27a296e638534a28" action="ppaction://hlinksldjump"/>
              </a:rPr>
              <a:t>MAIN DECK ↗</a:t>
            </a:r>
          </a:p>
        </p:txBody>
      </p:sp>
      <p:sp>
        <p:nvSpPr>
          <p:cNvPr id="11" name="">
            <a:extLst xmlns:a="http://schemas.openxmlformats.org/drawingml/2006/main">
              <a:ext uri="{FF2B5EF4-FFF2-40B4-BE49-F238E27FC236}">
                <a16:creationId xmlns:a16="http://schemas.microsoft.com/office/drawing/2014/main" id="{A7B9557E-94F9-44A2-8A56-91CB03F524B3}"/>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4127833deaf44805"/>
              </a:rPr>
              <a:t>EVIDENCE ↗</a:t>
            </a:r>
          </a:p>
        </p:txBody>
      </p:sp>
    </p:spTree>
    <p:extLst>
      <p:ext uri="{BB962C8B-B14F-4D97-AF65-F5344CB8AC3E}">
        <p14:creationId xmlns:p14="http://schemas.microsoft.com/office/powerpoint/2010/main" val="1357178295"/>
      </p:ext>
    </p:extLst>
  </p:cSld>
</p:sld>
</file>

<file path=ppt/slides/slide55.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3C387BC-AFB7-4F99-809B-6437C33F4ACB}"/>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55</a:t>
            </a:r>
          </a:p>
        </p:txBody>
      </p:sp>
      <p:sp>
        <p:nvSpPr>
          <p:cNvPr id="2" name="">
            <a:extLst xmlns:a="http://schemas.openxmlformats.org/drawingml/2006/main">
              <a:ext uri="{FF2B5EF4-FFF2-40B4-BE49-F238E27FC236}">
                <a16:creationId xmlns:a16="http://schemas.microsoft.com/office/drawing/2014/main" id="{06C4C8B5-5BCA-4B19-8A36-A82D954BA1E0}"/>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17 / Common-exposure diversification</a:t>
            </a:r>
          </a:p>
        </p:txBody>
      </p:sp>
      <p:sp>
        <p:nvSpPr>
          <p:cNvPr id="3" name="">
            <a:extLst xmlns:a="http://schemas.openxmlformats.org/drawingml/2006/main">
              <a:ext uri="{FF2B5EF4-FFF2-40B4-BE49-F238E27FC236}">
                <a16:creationId xmlns:a16="http://schemas.microsoft.com/office/drawing/2014/main" id="{58238FDC-98AA-45FB-9F52-C8FBEAE7A0D8}"/>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Expected total loss USD4m in both; joint tail differs</a:t>
            </a:r>
          </a:p>
        </p:txBody>
      </p:sp>
      <p:sp>
        <p:nvSpPr>
          <p:cNvPr id="4" name="">
            <a:extLst xmlns:a="http://schemas.openxmlformats.org/drawingml/2006/main">
              <a:ext uri="{FF2B5EF4-FFF2-40B4-BE49-F238E27FC236}">
                <a16:creationId xmlns:a16="http://schemas.microsoft.com/office/drawing/2014/main" id="{9E927CE6-EF3E-4EC1-B83F-73F619EBFD99}"/>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Illustrative example—not Olam data</a:t>
            </a:r>
          </a:p>
        </p:txBody>
      </p:sp>
      <p:sp>
        <p:nvSpPr>
          <p:cNvPr id="5" name="">
            <a:extLst xmlns:a="http://schemas.openxmlformats.org/drawingml/2006/main">
              <a:ext uri="{FF2B5EF4-FFF2-40B4-BE49-F238E27FC236}">
                <a16:creationId xmlns:a16="http://schemas.microsoft.com/office/drawing/2014/main" id="{34EA4E92-71E1-4253-A102-04EAD8582BFE}"/>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Each source loses USD10 m with chosen probability 0.2. A shared port produces joint loss USD20 m with probability 0.2; independent joint probability is 0.04.</a:t>
            </a:r>
          </a:p>
        </p:txBody>
      </p:sp>
      <p:sp>
        <p:nvSpPr>
          <p:cNvPr id="6" name="">
            <a:extLst xmlns:a="http://schemas.openxmlformats.org/drawingml/2006/main">
              <a:ext uri="{FF2B5EF4-FFF2-40B4-BE49-F238E27FC236}">
                <a16:creationId xmlns:a16="http://schemas.microsoft.com/office/drawing/2014/main" id="{9E5A405E-25DD-41E5-B7A8-12B88797B949}"/>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Chosen probabilities illustrate dependence. Country flags do not remove a shared crop season or port.</a:t>
            </a:r>
          </a:p>
        </p:txBody>
      </p:sp>
      <p:sp>
        <p:nvSpPr>
          <p:cNvPr id="7" name="">
            <a:extLst xmlns:a="http://schemas.openxmlformats.org/drawingml/2006/main">
              <a:ext uri="{FF2B5EF4-FFF2-40B4-BE49-F238E27FC236}">
                <a16:creationId xmlns:a16="http://schemas.microsoft.com/office/drawing/2014/main" id="{9AA9AA6A-E2AA-41C8-8EFE-3F1F15A46A5C}"/>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 different basin without a different port can leave route exposure unchanged.</a:t>
            </a:r>
          </a:p>
        </p:txBody>
      </p:sp>
      <p:sp>
        <p:nvSpPr>
          <p:cNvPr id="8" name="">
            <a:extLst xmlns:a="http://schemas.openxmlformats.org/drawingml/2006/main">
              <a:ext uri="{FF2B5EF4-FFF2-40B4-BE49-F238E27FC236}">
                <a16:creationId xmlns:a16="http://schemas.microsoft.com/office/drawing/2014/main" id="{B5C45894-9A46-4007-82BE-46F17FDC9B2C}"/>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9" name="">
            <a:extLst xmlns:a="http://schemas.openxmlformats.org/drawingml/2006/main">
              <a:ext uri="{FF2B5EF4-FFF2-40B4-BE49-F238E27FC236}">
                <a16:creationId xmlns:a16="http://schemas.microsoft.com/office/drawing/2014/main" id="{76F439DF-4A39-4703-BA48-43246C9908DB}"/>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C-E17   55 / 98</a:t>
            </a:r>
          </a:p>
        </p:txBody>
      </p:sp>
      <p:sp>
        <p:nvSpPr>
          <p:cNvPr id="10" name="">
            <a:extLst xmlns:a="http://schemas.openxmlformats.org/drawingml/2006/main">
              <a:ext uri="{FF2B5EF4-FFF2-40B4-BE49-F238E27FC236}">
                <a16:creationId xmlns:a16="http://schemas.microsoft.com/office/drawing/2014/main" id="{616F0A06-AE4E-4992-8C7E-409B4D78A4E5}"/>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f522a62b3c114e17" action="ppaction://hlinksldjump"/>
              </a:rPr>
              <a:t>MAIN DECK ↗</a:t>
            </a:r>
          </a:p>
        </p:txBody>
      </p:sp>
      <p:sp>
        <p:nvSpPr>
          <p:cNvPr id="11" name="">
            <a:extLst xmlns:a="http://schemas.openxmlformats.org/drawingml/2006/main">
              <a:ext uri="{FF2B5EF4-FFF2-40B4-BE49-F238E27FC236}">
                <a16:creationId xmlns:a16="http://schemas.microsoft.com/office/drawing/2014/main" id="{49F2C7A7-9822-4781-97BF-41C33CF1CDD1}"/>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93b0142320a24fed"/>
              </a:rPr>
              <a:t>EVIDENCE ↗</a:t>
            </a:r>
          </a:p>
        </p:txBody>
      </p:sp>
    </p:spTree>
    <p:extLst>
      <p:ext uri="{BB962C8B-B14F-4D97-AF65-F5344CB8AC3E}">
        <p14:creationId xmlns:p14="http://schemas.microsoft.com/office/powerpoint/2010/main" val="1890246665"/>
      </p:ext>
    </p:extLst>
  </p:cSld>
</p:sld>
</file>

<file path=ppt/slides/slide56.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0CFAD97-6B3A-4A87-9EB9-E5060B319A93}"/>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56</a:t>
            </a:r>
          </a:p>
        </p:txBody>
      </p:sp>
      <p:sp>
        <p:nvSpPr>
          <p:cNvPr id="2" name="">
            <a:extLst xmlns:a="http://schemas.openxmlformats.org/drawingml/2006/main">
              <a:ext uri="{FF2B5EF4-FFF2-40B4-BE49-F238E27FC236}">
                <a16:creationId xmlns:a16="http://schemas.microsoft.com/office/drawing/2014/main" id="{2E5437F7-CAF6-4B08-9264-8ADE3A3FC194}"/>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18 / Difference in differences</a:t>
            </a:r>
          </a:p>
        </p:txBody>
      </p:sp>
      <p:sp>
        <p:nvSpPr>
          <p:cNvPr id="3" name="">
            <a:extLst xmlns:a="http://schemas.openxmlformats.org/drawingml/2006/main">
              <a:ext uri="{FF2B5EF4-FFF2-40B4-BE49-F238E27FC236}">
                <a16:creationId xmlns:a16="http://schemas.microsoft.com/office/drawing/2014/main" id="{5A7B6D3A-5BA9-4FCD-9386-A14D53B039E3}"/>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20 illustrative incremental eligible sales units</a:t>
            </a:r>
          </a:p>
        </p:txBody>
      </p:sp>
      <p:sp>
        <p:nvSpPr>
          <p:cNvPr id="4" name="">
            <a:extLst xmlns:a="http://schemas.openxmlformats.org/drawingml/2006/main">
              <a:ext uri="{FF2B5EF4-FFF2-40B4-BE49-F238E27FC236}">
                <a16:creationId xmlns:a16="http://schemas.microsoft.com/office/drawing/2014/main" id="{04D11777-D805-4A1A-97E6-EFECE329653A}"/>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Illustrative example—not Olam data</a:t>
            </a:r>
          </a:p>
        </p:txBody>
      </p:sp>
      <p:sp>
        <p:nvSpPr>
          <p:cNvPr id="5" name="">
            <a:extLst xmlns:a="http://schemas.openxmlformats.org/drawingml/2006/main">
              <a:ext uri="{FF2B5EF4-FFF2-40B4-BE49-F238E27FC236}">
                <a16:creationId xmlns:a16="http://schemas.microsoft.com/office/drawing/2014/main" id="{8E7A5295-B419-45A5-AF01-A2061A12EE29}"/>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Treated sales: 100 → 130. Control: 100 → 110. DiD = (130 − 100) − (110 − 100) = 20.</a:t>
            </a:r>
          </a:p>
        </p:txBody>
      </p:sp>
      <p:sp>
        <p:nvSpPr>
          <p:cNvPr id="6" name="">
            <a:extLst xmlns:a="http://schemas.openxmlformats.org/drawingml/2006/main">
              <a:ext uri="{FF2B5EF4-FFF2-40B4-BE49-F238E27FC236}">
                <a16:creationId xmlns:a16="http://schemas.microsoft.com/office/drawing/2014/main" id="{9E5EE4EA-1400-49BA-8F8D-32344C437BC4}"/>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Parallel trends and no material spillovers are required. Four chosen means cannot support an estimated interval.</a:t>
            </a:r>
          </a:p>
        </p:txBody>
      </p:sp>
      <p:sp>
        <p:nvSpPr>
          <p:cNvPr id="7" name="">
            <a:extLst xmlns:a="http://schemas.openxmlformats.org/drawingml/2006/main">
              <a:ext uri="{FF2B5EF4-FFF2-40B4-BE49-F238E27FC236}">
                <a16:creationId xmlns:a16="http://schemas.microsoft.com/office/drawing/2014/main" id="{C273D879-AFC7-447C-8930-1A7DC916979F}"/>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At USD2 contribution/unit, gross incremental contribution is USD40 before service and pilot cost.</a:t>
            </a:r>
          </a:p>
        </p:txBody>
      </p:sp>
      <p:sp>
        <p:nvSpPr>
          <p:cNvPr id="8" name="">
            <a:extLst xmlns:a="http://schemas.openxmlformats.org/drawingml/2006/main">
              <a:ext uri="{FF2B5EF4-FFF2-40B4-BE49-F238E27FC236}">
                <a16:creationId xmlns:a16="http://schemas.microsoft.com/office/drawing/2014/main" id="{27118698-D461-45E8-8459-D834BF3D78C8}"/>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SOURCE DID   |   A_EXAMPLE</a:t>
            </a:r>
          </a:p>
        </p:txBody>
      </p:sp>
      <p:sp>
        <p:nvSpPr>
          <p:cNvPr id="9" name="">
            <a:extLst xmlns:a="http://schemas.openxmlformats.org/drawingml/2006/main">
              <a:ext uri="{FF2B5EF4-FFF2-40B4-BE49-F238E27FC236}">
                <a16:creationId xmlns:a16="http://schemas.microsoft.com/office/drawing/2014/main" id="{0ABE90E6-FF7D-45EA-864D-91F4DE112DBA}"/>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C-E18   56 / 98</a:t>
            </a:r>
          </a:p>
        </p:txBody>
      </p:sp>
      <p:sp>
        <p:nvSpPr>
          <p:cNvPr id="10" name="">
            <a:extLst xmlns:a="http://schemas.openxmlformats.org/drawingml/2006/main">
              <a:ext uri="{FF2B5EF4-FFF2-40B4-BE49-F238E27FC236}">
                <a16:creationId xmlns:a16="http://schemas.microsoft.com/office/drawing/2014/main" id="{5ADDFD10-9063-421A-8CBE-E834350263C2}"/>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b8c1bec430a94fae" action="ppaction://hlinksldjump"/>
              </a:rPr>
              <a:t>MAIN DECK ↗</a:t>
            </a:r>
          </a:p>
        </p:txBody>
      </p:sp>
      <p:sp>
        <p:nvSpPr>
          <p:cNvPr id="11" name="">
            <a:extLst xmlns:a="http://schemas.openxmlformats.org/drawingml/2006/main">
              <a:ext uri="{FF2B5EF4-FFF2-40B4-BE49-F238E27FC236}">
                <a16:creationId xmlns:a16="http://schemas.microsoft.com/office/drawing/2014/main" id="{14D98238-2597-4F76-9B07-1E5143E8EAEE}"/>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98045429d3ae4d3b"/>
              </a:rPr>
              <a:t>EVIDENCE ↗</a:t>
            </a:r>
          </a:p>
        </p:txBody>
      </p:sp>
    </p:spTree>
    <p:extLst>
      <p:ext uri="{BB962C8B-B14F-4D97-AF65-F5344CB8AC3E}">
        <p14:creationId xmlns:p14="http://schemas.microsoft.com/office/powerpoint/2010/main" val="1276507864"/>
      </p:ext>
    </p:extLst>
  </p:cSld>
</p:sld>
</file>

<file path=ppt/slides/slide57.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775C90F-BFBF-4E30-A406-948E80857CD8}"/>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57</a:t>
            </a:r>
          </a:p>
        </p:txBody>
      </p:sp>
      <p:sp>
        <p:nvSpPr>
          <p:cNvPr id="2" name="">
            <a:extLst xmlns:a="http://schemas.openxmlformats.org/drawingml/2006/main">
              <a:ext uri="{FF2B5EF4-FFF2-40B4-BE49-F238E27FC236}">
                <a16:creationId xmlns:a16="http://schemas.microsoft.com/office/drawing/2014/main" id="{F84C2E94-177D-4C3F-B8DD-0D41BE8DFF7E}"/>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19 / Incremental ROMI</a:t>
            </a:r>
          </a:p>
        </p:txBody>
      </p:sp>
      <p:sp>
        <p:nvSpPr>
          <p:cNvPr id="3" name="">
            <a:extLst xmlns:a="http://schemas.openxmlformats.org/drawingml/2006/main">
              <a:ext uri="{FF2B5EF4-FFF2-40B4-BE49-F238E27FC236}">
                <a16:creationId xmlns:a16="http://schemas.microsoft.com/office/drawing/2014/main" id="{B5E76E69-6622-4592-9556-11AED6290885}"/>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100% net ROMI; contribution/spend is 2.0 times</a:t>
            </a:r>
          </a:p>
        </p:txBody>
      </p:sp>
      <p:sp>
        <p:nvSpPr>
          <p:cNvPr id="4" name="">
            <a:extLst xmlns:a="http://schemas.openxmlformats.org/drawingml/2006/main">
              <a:ext uri="{FF2B5EF4-FFF2-40B4-BE49-F238E27FC236}">
                <a16:creationId xmlns:a16="http://schemas.microsoft.com/office/drawing/2014/main" id="{3C0DCE9E-1029-4DD2-861A-01B2A5D1EC98}"/>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Illustrative example—not Olam data</a:t>
            </a:r>
          </a:p>
        </p:txBody>
      </p:sp>
      <p:sp>
        <p:nvSpPr>
          <p:cNvPr id="5" name="">
            <a:extLst xmlns:a="http://schemas.openxmlformats.org/drawingml/2006/main">
              <a:ext uri="{FF2B5EF4-FFF2-40B4-BE49-F238E27FC236}">
                <a16:creationId xmlns:a16="http://schemas.microsoft.com/office/drawing/2014/main" id="{7745158C-DDEC-48F6-A46C-1EA9DE74F31F}"/>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Incremental contribution 120 − service 20 − trade 10 − cannibalisation 10 = 80. Marketing spend 40. Net ROMI = (80 − 40)/40 = 100%.</a:t>
            </a:r>
          </a:p>
        </p:txBody>
      </p:sp>
      <p:sp>
        <p:nvSpPr>
          <p:cNvPr id="6" name="">
            <a:extLst xmlns:a="http://schemas.openxmlformats.org/drawingml/2006/main">
              <a:ext uri="{FF2B5EF4-FFF2-40B4-BE49-F238E27FC236}">
                <a16:creationId xmlns:a16="http://schemas.microsoft.com/office/drawing/2014/main" id="{71C84B9E-F241-4F96-8F64-BF3A8C2C5F26}"/>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All inputs are chosen currency-thousands. Use a paid-sales counterfactual and full incremental costs.</a:t>
            </a:r>
          </a:p>
        </p:txBody>
      </p:sp>
      <p:sp>
        <p:nvSpPr>
          <p:cNvPr id="7" name="">
            <a:extLst xmlns:a="http://schemas.openxmlformats.org/drawingml/2006/main">
              <a:ext uri="{FF2B5EF4-FFF2-40B4-BE49-F238E27FC236}">
                <a16:creationId xmlns:a16="http://schemas.microsoft.com/office/drawing/2014/main" id="{379DBCD0-9DBF-404D-9AB2-196CC106C919}"/>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If contribution after other costs is only 40, net ROMI is zero. Multi-year proposals need NPV.</a:t>
            </a:r>
          </a:p>
        </p:txBody>
      </p:sp>
      <p:sp>
        <p:nvSpPr>
          <p:cNvPr id="8" name="">
            <a:extLst xmlns:a="http://schemas.openxmlformats.org/drawingml/2006/main">
              <a:ext uri="{FF2B5EF4-FFF2-40B4-BE49-F238E27FC236}">
                <a16:creationId xmlns:a16="http://schemas.microsoft.com/office/drawing/2014/main" id="{41CC57AA-2597-470D-9979-C6FEFF006E03}"/>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9" name="">
            <a:extLst xmlns:a="http://schemas.openxmlformats.org/drawingml/2006/main">
              <a:ext uri="{FF2B5EF4-FFF2-40B4-BE49-F238E27FC236}">
                <a16:creationId xmlns:a16="http://schemas.microsoft.com/office/drawing/2014/main" id="{B781EA25-9345-4F2C-9C16-852ED829F171}"/>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C-E19   57 / 98</a:t>
            </a:r>
          </a:p>
        </p:txBody>
      </p:sp>
      <p:sp>
        <p:nvSpPr>
          <p:cNvPr id="10" name="">
            <a:extLst xmlns:a="http://schemas.openxmlformats.org/drawingml/2006/main">
              <a:ext uri="{FF2B5EF4-FFF2-40B4-BE49-F238E27FC236}">
                <a16:creationId xmlns:a16="http://schemas.microsoft.com/office/drawing/2014/main" id="{70A93B97-102F-49A8-8494-DC14590D3590}"/>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22b1ef75cd12495d" action="ppaction://hlinksldjump"/>
              </a:rPr>
              <a:t>MAIN DECK ↗</a:t>
            </a:r>
          </a:p>
        </p:txBody>
      </p:sp>
      <p:sp>
        <p:nvSpPr>
          <p:cNvPr id="11" name="">
            <a:extLst xmlns:a="http://schemas.openxmlformats.org/drawingml/2006/main">
              <a:ext uri="{FF2B5EF4-FFF2-40B4-BE49-F238E27FC236}">
                <a16:creationId xmlns:a16="http://schemas.microsoft.com/office/drawing/2014/main" id="{40B23600-4669-4C23-9BB7-0A4D259BD20F}"/>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28709a477cdf405f"/>
              </a:rPr>
              <a:t>EVIDENCE ↗</a:t>
            </a:r>
          </a:p>
        </p:txBody>
      </p:sp>
    </p:spTree>
    <p:extLst>
      <p:ext uri="{BB962C8B-B14F-4D97-AF65-F5344CB8AC3E}">
        <p14:creationId xmlns:p14="http://schemas.microsoft.com/office/powerpoint/2010/main" val="702328874"/>
      </p:ext>
    </p:extLst>
  </p:cSld>
</p:sld>
</file>

<file path=ppt/slides/slide58.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4F3CCBE-1600-4D55-A3B3-9DAEC18D1235}"/>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58</a:t>
            </a:r>
          </a:p>
        </p:txBody>
      </p:sp>
      <p:sp>
        <p:nvSpPr>
          <p:cNvPr id="2" name="">
            <a:extLst xmlns:a="http://schemas.openxmlformats.org/drawingml/2006/main">
              <a:ext uri="{FF2B5EF4-FFF2-40B4-BE49-F238E27FC236}">
                <a16:creationId xmlns:a16="http://schemas.microsoft.com/office/drawing/2014/main" id="{8C50A30D-6B84-45EA-8CF8-A5C5F4E995DF}"/>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20 / Decision value of information</a:t>
            </a:r>
          </a:p>
        </p:txBody>
      </p:sp>
      <p:sp>
        <p:nvSpPr>
          <p:cNvPr id="3" name="">
            <a:extLst xmlns:a="http://schemas.openxmlformats.org/drawingml/2006/main">
              <a:ext uri="{FF2B5EF4-FFF2-40B4-BE49-F238E27FC236}">
                <a16:creationId xmlns:a16="http://schemas.microsoft.com/office/drawing/2014/main" id="{328F5517-70AA-454B-9AE7-C1F6072144B9}"/>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USD2.5m net perfect-information ceiling</a:t>
            </a:r>
          </a:p>
        </p:txBody>
      </p:sp>
      <p:sp>
        <p:nvSpPr>
          <p:cNvPr id="4" name="">
            <a:extLst xmlns:a="http://schemas.openxmlformats.org/drawingml/2006/main">
              <a:ext uri="{FF2B5EF4-FFF2-40B4-BE49-F238E27FC236}">
                <a16:creationId xmlns:a16="http://schemas.microsoft.com/office/drawing/2014/main" id="{8E5828D8-D62C-4965-9787-99406C74488F}"/>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Illustrative example—not Olam data</a:t>
            </a:r>
          </a:p>
        </p:txBody>
      </p:sp>
      <p:sp>
        <p:nvSpPr>
          <p:cNvPr id="5" name="">
            <a:extLst xmlns:a="http://schemas.openxmlformats.org/drawingml/2006/main">
              <a:ext uri="{FF2B5EF4-FFF2-40B4-BE49-F238E27FC236}">
                <a16:creationId xmlns:a16="http://schemas.microsoft.com/office/drawing/2014/main" id="{63BEBEAB-DCBE-47D8-809E-0F1DCC2688FE}"/>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Good state p=0.5: investment NPV 10; bad state p=0.5: −8; wait 0. Best prior EV=1; perfect-information EV=5; less study 1 and delay 0.5 gives net gain 2.5.</a:t>
            </a:r>
          </a:p>
        </p:txBody>
      </p:sp>
      <p:sp>
        <p:nvSpPr>
          <p:cNvPr id="6" name="">
            <a:extLst xmlns:a="http://schemas.openxmlformats.org/drawingml/2006/main">
              <a:ext uri="{FF2B5EF4-FFF2-40B4-BE49-F238E27FC236}">
                <a16:creationId xmlns:a16="http://schemas.microsoft.com/office/drawing/2014/main" id="{CA5A119C-8246-4714-9DAA-81CBAEA17F47}"/>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 perfect study is an upper bound. Do not add its benefit again to a policy that already includes learning.</a:t>
            </a:r>
          </a:p>
        </p:txBody>
      </p:sp>
      <p:sp>
        <p:nvSpPr>
          <p:cNvPr id="7" name="">
            <a:extLst xmlns:a="http://schemas.openxmlformats.org/drawingml/2006/main">
              <a:ext uri="{FF2B5EF4-FFF2-40B4-BE49-F238E27FC236}">
                <a16:creationId xmlns:a16="http://schemas.microsoft.com/office/drawing/2014/main" id="{B1DF8DED-6E09-4E57-B0F6-08A2779BCC4F}"/>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An imperfect pilot may be worth less than its cost; keep the wait option.</a:t>
            </a:r>
          </a:p>
        </p:txBody>
      </p:sp>
      <p:sp>
        <p:nvSpPr>
          <p:cNvPr id="8" name="">
            <a:extLst xmlns:a="http://schemas.openxmlformats.org/drawingml/2006/main">
              <a:ext uri="{FF2B5EF4-FFF2-40B4-BE49-F238E27FC236}">
                <a16:creationId xmlns:a16="http://schemas.microsoft.com/office/drawing/2014/main" id="{2D634969-13B2-4642-96EF-329A21537D3D}"/>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9" name="">
            <a:extLst xmlns:a="http://schemas.openxmlformats.org/drawingml/2006/main">
              <a:ext uri="{FF2B5EF4-FFF2-40B4-BE49-F238E27FC236}">
                <a16:creationId xmlns:a16="http://schemas.microsoft.com/office/drawing/2014/main" id="{D05284E5-C24D-4B80-BF32-13A4590E0F6B}"/>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C-E20   58 / 98</a:t>
            </a:r>
          </a:p>
        </p:txBody>
      </p:sp>
      <p:sp>
        <p:nvSpPr>
          <p:cNvPr id="10" name="">
            <a:extLst xmlns:a="http://schemas.openxmlformats.org/drawingml/2006/main">
              <a:ext uri="{FF2B5EF4-FFF2-40B4-BE49-F238E27FC236}">
                <a16:creationId xmlns:a16="http://schemas.microsoft.com/office/drawing/2014/main" id="{A97C7AF6-3147-4067-BCA5-396502538E8A}"/>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7be0c8edf6f94ddc" action="ppaction://hlinksldjump"/>
              </a:rPr>
              <a:t>MAIN DECK ↗</a:t>
            </a:r>
          </a:p>
        </p:txBody>
      </p:sp>
      <p:sp>
        <p:nvSpPr>
          <p:cNvPr id="11" name="">
            <a:extLst xmlns:a="http://schemas.openxmlformats.org/drawingml/2006/main">
              <a:ext uri="{FF2B5EF4-FFF2-40B4-BE49-F238E27FC236}">
                <a16:creationId xmlns:a16="http://schemas.microsoft.com/office/drawing/2014/main" id="{B8111EDE-88A1-4F7D-B5A6-010C51803CA0}"/>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497cf5f6eaea48b2"/>
              </a:rPr>
              <a:t>EVIDENCE ↗</a:t>
            </a:r>
          </a:p>
        </p:txBody>
      </p:sp>
    </p:spTree>
    <p:extLst>
      <p:ext uri="{BB962C8B-B14F-4D97-AF65-F5344CB8AC3E}">
        <p14:creationId xmlns:p14="http://schemas.microsoft.com/office/powerpoint/2010/main" val="209264339"/>
      </p:ext>
    </p:extLst>
  </p:cSld>
</p:sld>
</file>

<file path=ppt/slides/slide59.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06A4091-37FC-4C98-AF37-0B375620549D}"/>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59</a:t>
            </a:r>
          </a:p>
        </p:txBody>
      </p:sp>
      <p:sp>
        <p:nvSpPr>
          <p:cNvPr id="2" name="">
            <a:extLst xmlns:a="http://schemas.openxmlformats.org/drawingml/2006/main">
              <a:ext uri="{FF2B5EF4-FFF2-40B4-BE49-F238E27FC236}">
                <a16:creationId xmlns:a16="http://schemas.microsoft.com/office/drawing/2014/main" id="{BF0616B9-9B77-48B6-B521-6D86515B27FE}"/>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21 / Reverse stress</a:t>
            </a:r>
          </a:p>
        </p:txBody>
      </p:sp>
      <p:sp>
        <p:nvSpPr>
          <p:cNvPr id="3" name="">
            <a:extLst xmlns:a="http://schemas.openxmlformats.org/drawingml/2006/main">
              <a:ext uri="{FF2B5EF4-FFF2-40B4-BE49-F238E27FC236}">
                <a16:creationId xmlns:a16="http://schemas.microsoft.com/office/drawing/2014/main" id="{38AC9932-47B7-47AF-8D93-C838651FF9BE}"/>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About 4.86% more initial orders needed</a:t>
            </a:r>
          </a:p>
        </p:txBody>
      </p:sp>
      <p:sp>
        <p:nvSpPr>
          <p:cNvPr id="4" name="">
            <a:extLst xmlns:a="http://schemas.openxmlformats.org/drawingml/2006/main">
              <a:ext uri="{FF2B5EF4-FFF2-40B4-BE49-F238E27FC236}">
                <a16:creationId xmlns:a16="http://schemas.microsoft.com/office/drawing/2014/main" id="{80D88A03-F271-42C6-8A79-E4CEE5E9B0DA}"/>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Illustrative example—not Olam data</a:t>
            </a:r>
          </a:p>
        </p:txBody>
      </p:sp>
      <p:sp>
        <p:nvSpPr>
          <p:cNvPr id="5" name="">
            <a:extLst xmlns:a="http://schemas.openxmlformats.org/drawingml/2006/main">
              <a:ext uri="{FF2B5EF4-FFF2-40B4-BE49-F238E27FC236}">
                <a16:creationId xmlns:a16="http://schemas.microsoft.com/office/drawing/2014/main" id="{19133CBD-19D1-4019-8652-1A416A1A8A39}"/>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The managed owned template reaches zero NPV at 104,862 initial annual order tonnes. The current 100,000 t base needs 4.86% more initial orders.</a:t>
            </a:r>
          </a:p>
        </p:txBody>
      </p:sp>
      <p:sp>
        <p:nvSpPr>
          <p:cNvPr id="6" name="">
            <a:extLst xmlns:a="http://schemas.openxmlformats.org/drawingml/2006/main">
              <a:ext uri="{FF2B5EF4-FFF2-40B4-BE49-F238E27FC236}">
                <a16:creationId xmlns:a16="http://schemas.microsoft.com/office/drawing/2014/main" id="{5EA4667F-5BEB-4264-B732-6651E51C1CF2}"/>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The threshold depends on cost, hurdle, tax and capacity; volume cannot repair a negative unit contribution.</a:t>
            </a:r>
          </a:p>
        </p:txBody>
      </p:sp>
      <p:sp>
        <p:nvSpPr>
          <p:cNvPr id="7" name="">
            <a:extLst xmlns:a="http://schemas.openxmlformats.org/drawingml/2006/main">
              <a:ext uri="{FF2B5EF4-FFF2-40B4-BE49-F238E27FC236}">
                <a16:creationId xmlns:a16="http://schemas.microsoft.com/office/drawing/2014/main" id="{F705AA34-7554-4A0F-859B-FE9B0FD5C2FC}"/>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Cost, FX or commissioning shocks shift the boundary. Monitor orders together with cash.</a:t>
            </a:r>
          </a:p>
        </p:txBody>
      </p:sp>
      <p:sp>
        <p:nvSpPr>
          <p:cNvPr id="8" name="">
            <a:extLst xmlns:a="http://schemas.openxmlformats.org/drawingml/2006/main">
              <a:ext uri="{FF2B5EF4-FFF2-40B4-BE49-F238E27FC236}">
                <a16:creationId xmlns:a16="http://schemas.microsoft.com/office/drawing/2014/main" id="{55605CF9-FDB3-46EE-904E-AC2EE091EE5D}"/>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9" name="">
            <a:extLst xmlns:a="http://schemas.openxmlformats.org/drawingml/2006/main">
              <a:ext uri="{FF2B5EF4-FFF2-40B4-BE49-F238E27FC236}">
                <a16:creationId xmlns:a16="http://schemas.microsoft.com/office/drawing/2014/main" id="{C805A2AA-18DF-46D1-A7B1-03F57229A099}"/>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C-E21   59 / 98</a:t>
            </a:r>
          </a:p>
        </p:txBody>
      </p:sp>
      <p:sp>
        <p:nvSpPr>
          <p:cNvPr id="10" name="">
            <a:extLst xmlns:a="http://schemas.openxmlformats.org/drawingml/2006/main">
              <a:ext uri="{FF2B5EF4-FFF2-40B4-BE49-F238E27FC236}">
                <a16:creationId xmlns:a16="http://schemas.microsoft.com/office/drawing/2014/main" id="{2C40215A-F875-49BB-B72A-BFC0D0129987}"/>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54cc611d23fa4ffc" action="ppaction://hlinksldjump"/>
              </a:rPr>
              <a:t>MAIN DECK ↗</a:t>
            </a:r>
          </a:p>
        </p:txBody>
      </p:sp>
      <p:sp>
        <p:nvSpPr>
          <p:cNvPr id="11" name="">
            <a:extLst xmlns:a="http://schemas.openxmlformats.org/drawingml/2006/main">
              <a:ext uri="{FF2B5EF4-FFF2-40B4-BE49-F238E27FC236}">
                <a16:creationId xmlns:a16="http://schemas.microsoft.com/office/drawing/2014/main" id="{9B59C2E4-FB1C-4399-8D98-B43243057214}"/>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0578d17128dd4fe4"/>
              </a:rPr>
              <a:t>EVIDENCE ↗</a:t>
            </a:r>
          </a:p>
        </p:txBody>
      </p:sp>
    </p:spTree>
    <p:extLst>
      <p:ext uri="{BB962C8B-B14F-4D97-AF65-F5344CB8AC3E}">
        <p14:creationId xmlns:p14="http://schemas.microsoft.com/office/powerpoint/2010/main" val="1845438351"/>
      </p:ext>
    </p:extLst>
  </p:cSld>
</p:sld>
</file>

<file path=ppt/slides/slide60.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FA0D09E-5018-493C-A8D6-2912FE3C969D}"/>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CALCULATION APPENDIX  /  60</a:t>
            </a:r>
          </a:p>
        </p:txBody>
      </p:sp>
      <p:sp>
        <p:nvSpPr>
          <p:cNvPr id="2" name="">
            <a:extLst xmlns:a="http://schemas.openxmlformats.org/drawingml/2006/main">
              <a:ext uri="{FF2B5EF4-FFF2-40B4-BE49-F238E27FC236}">
                <a16:creationId xmlns:a16="http://schemas.microsoft.com/office/drawing/2014/main" id="{C1A7B73F-1E1A-49D1-BC85-24D7D43B8936}"/>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22 / Size ranking can reverse</a:t>
            </a:r>
          </a:p>
        </p:txBody>
      </p:sp>
      <p:sp>
        <p:nvSpPr>
          <p:cNvPr id="3" name="">
            <a:extLst xmlns:a="http://schemas.openxmlformats.org/drawingml/2006/main">
              <a:ext uri="{FF2B5EF4-FFF2-40B4-BE49-F238E27FC236}">
                <a16:creationId xmlns:a16="http://schemas.microsoft.com/office/drawing/2014/main" id="{EC3CB5F1-847D-48AC-B5F5-D85BE40396A2}"/>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B has 3 times EBITDA despite half the category size</a:t>
            </a:r>
          </a:p>
        </p:txBody>
      </p:sp>
      <p:sp>
        <p:nvSpPr>
          <p:cNvPr id="4" name="">
            <a:extLst xmlns:a="http://schemas.openxmlformats.org/drawingml/2006/main">
              <a:ext uri="{FF2B5EF4-FFF2-40B4-BE49-F238E27FC236}">
                <a16:creationId xmlns:a16="http://schemas.microsoft.com/office/drawing/2014/main" id="{DCFC5A75-62A0-462D-B59D-6856FC728FD5}"/>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Illustrative example—not Olam data</a:t>
            </a:r>
          </a:p>
        </p:txBody>
      </p:sp>
      <p:sp>
        <p:nvSpPr>
          <p:cNvPr id="5" name="">
            <a:extLst xmlns:a="http://schemas.openxmlformats.org/drawingml/2006/main">
              <a:ext uri="{FF2B5EF4-FFF2-40B4-BE49-F238E27FC236}">
                <a16:creationId xmlns:a16="http://schemas.microsoft.com/office/drawing/2014/main" id="{207C9AC3-A6F9-4F7E-97A1-23CF44444BC5}"/>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Country A: demand 200 kt, capture 50 kt, unit contribution USD20, fixed USD0.7 m → EBITDA USD0.3 m. B: demand 100 kt, capture 40 kt, contribution USD40 → USD0.9 m.</a:t>
            </a:r>
          </a:p>
        </p:txBody>
      </p:sp>
      <p:sp>
        <p:nvSpPr>
          <p:cNvPr id="6" name="">
            <a:extLst xmlns:a="http://schemas.openxmlformats.org/drawingml/2006/main">
              <a:ext uri="{FF2B5EF4-FFF2-40B4-BE49-F238E27FC236}">
                <a16:creationId xmlns:a16="http://schemas.microsoft.com/office/drawing/2014/main" id="{96A68AC4-5783-4903-8B49-62A4775086B9}"/>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 and B are fictional teaching cases. Chosen capex USD5 m vs USD2 m and NWC USD2 m vs USD0.5 m further favour testing B.</a:t>
            </a:r>
          </a:p>
        </p:txBody>
      </p:sp>
      <p:sp>
        <p:nvSpPr>
          <p:cNvPr id="7" name="">
            <a:extLst xmlns:a="http://schemas.openxmlformats.org/drawingml/2006/main">
              <a:ext uri="{FF2B5EF4-FFF2-40B4-BE49-F238E27FC236}">
                <a16:creationId xmlns:a16="http://schemas.microsoft.com/office/drawing/2014/main" id="{17FB522D-95E8-4400-9F15-0A1CE9413649}"/>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Before capital differences, A overtakes B above 80 kt captured at USD20/t while B stays at 40 kt.</a:t>
            </a:r>
          </a:p>
        </p:txBody>
      </p:sp>
      <p:sp>
        <p:nvSpPr>
          <p:cNvPr id="8" name="">
            <a:extLst xmlns:a="http://schemas.openxmlformats.org/drawingml/2006/main">
              <a:ext uri="{FF2B5EF4-FFF2-40B4-BE49-F238E27FC236}">
                <a16:creationId xmlns:a16="http://schemas.microsoft.com/office/drawing/2014/main" id="{A2CE7DA7-DEA4-4D86-825A-F7606F846A9F}"/>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9" name="">
            <a:extLst xmlns:a="http://schemas.openxmlformats.org/drawingml/2006/main">
              <a:ext uri="{FF2B5EF4-FFF2-40B4-BE49-F238E27FC236}">
                <a16:creationId xmlns:a16="http://schemas.microsoft.com/office/drawing/2014/main" id="{E328EF9B-B164-45BA-80A3-33734CEF0857}"/>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C-E22   60 / 98</a:t>
            </a:r>
          </a:p>
        </p:txBody>
      </p:sp>
      <p:sp>
        <p:nvSpPr>
          <p:cNvPr id="10" name="">
            <a:extLst xmlns:a="http://schemas.openxmlformats.org/drawingml/2006/main">
              <a:ext uri="{FF2B5EF4-FFF2-40B4-BE49-F238E27FC236}">
                <a16:creationId xmlns:a16="http://schemas.microsoft.com/office/drawing/2014/main" id="{8E017984-8312-45F5-B526-AFC11F2735DD}"/>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99a5162eb2764c9f" action="ppaction://hlinksldjump"/>
              </a:rPr>
              <a:t>MAIN DECK ↗</a:t>
            </a:r>
          </a:p>
        </p:txBody>
      </p:sp>
      <p:sp>
        <p:nvSpPr>
          <p:cNvPr id="11" name="">
            <a:extLst xmlns:a="http://schemas.openxmlformats.org/drawingml/2006/main">
              <a:ext uri="{FF2B5EF4-FFF2-40B4-BE49-F238E27FC236}">
                <a16:creationId xmlns:a16="http://schemas.microsoft.com/office/drawing/2014/main" id="{1F5ADCA6-A739-449C-8E05-5318DFF1E141}"/>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21422756eaaf4a94"/>
              </a:rPr>
              <a:t>EVIDENCE ↗</a:t>
            </a:r>
          </a:p>
        </p:txBody>
      </p:sp>
    </p:spTree>
    <p:extLst>
      <p:ext uri="{BB962C8B-B14F-4D97-AF65-F5344CB8AC3E}">
        <p14:creationId xmlns:p14="http://schemas.microsoft.com/office/powerpoint/2010/main" val="453065460"/>
      </p:ext>
    </p:extLst>
  </p:cSld>
</p:sld>
</file>

<file path=ppt/slides/slide61.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9BF39AB-04F7-4D18-885A-F7A1DA7BB69B}"/>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TECHNICAL APPENDIX  /  61</a:t>
            </a:r>
          </a:p>
        </p:txBody>
      </p:sp>
      <p:sp>
        <p:nvSpPr>
          <p:cNvPr id="2" name="">
            <a:extLst xmlns:a="http://schemas.openxmlformats.org/drawingml/2006/main">
              <a:ext uri="{FF2B5EF4-FFF2-40B4-BE49-F238E27FC236}">
                <a16:creationId xmlns:a16="http://schemas.microsoft.com/office/drawing/2014/main" id="{870F22EC-2C40-4368-AB4B-9E8408DA25BC}"/>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Data construction and coverage</a:t>
            </a:r>
          </a:p>
        </p:txBody>
      </p:sp>
      <p:sp>
        <p:nvSpPr>
          <p:cNvPr id="3" name="">
            <a:extLst xmlns:a="http://schemas.openxmlformats.org/drawingml/2006/main">
              <a:ext uri="{FF2B5EF4-FFF2-40B4-BE49-F238E27FC236}">
                <a16:creationId xmlns:a16="http://schemas.microsoft.com/office/drawing/2014/main" id="{4EAB7A5C-260E-4277-91DB-81C83FAFDA8D}"/>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Missing observations remain unknown; identifiers and vintages are retained.</a:t>
            </a:r>
          </a:p>
        </p:txBody>
      </p:sp>
      <p:sp>
        <p:nvSpPr>
          <p:cNvPr id="4" name="">
            <a:extLst xmlns:a="http://schemas.openxmlformats.org/drawingml/2006/main">
              <a:ext uri="{FF2B5EF4-FFF2-40B4-BE49-F238E27FC236}">
                <a16:creationId xmlns:a16="http://schemas.microsoft.com/office/drawing/2014/main" id="{8D60E171-2B1A-4FC5-91BE-749BBFDD4DD5}"/>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Join UN M49 identifiers to WDI by ISO3 and year; observers are VAT and PSE. Territories have a separate annex.</a:t>
            </a:r>
          </a:p>
        </p:txBody>
      </p:sp>
      <p:sp>
        <p:nvSpPr>
          <p:cNvPr id="5" name="">
            <a:extLst xmlns:a="http://schemas.openxmlformats.org/drawingml/2006/main">
              <a:ext uri="{FF2B5EF4-FFF2-40B4-BE49-F238E27FC236}">
                <a16:creationId xmlns:a16="http://schemas.microsoft.com/office/drawing/2014/main" id="{39A877C2-0376-48B4-9404-2B653275A312}"/>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Convert WPP population from thousands to persons. A broad food-import proxy uses food share and merchandise imports from the same year.</a:t>
            </a:r>
          </a:p>
        </p:txBody>
      </p:sp>
      <p:sp>
        <p:nvSpPr>
          <p:cNvPr id="6" name="">
            <a:extLst xmlns:a="http://schemas.openxmlformats.org/drawingml/2006/main">
              <a:ext uri="{FF2B5EF4-FFF2-40B4-BE49-F238E27FC236}">
                <a16:creationId xmlns:a16="http://schemas.microsoft.com/office/drawing/2014/main" id="{53A6FCE4-8C5C-4B97-AE45-05042ABCDC09}"/>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Food production is a supply index; real PPP income, urban share and water stress are dated observations, not customer demand.</a:t>
            </a:r>
          </a:p>
        </p:txBody>
      </p:sp>
      <p:sp>
        <p:nvSpPr>
          <p:cNvPr id="7" name="">
            <a:extLst xmlns:a="http://schemas.openxmlformats.org/drawingml/2006/main">
              <a:ext uri="{FF2B5EF4-FFF2-40B4-BE49-F238E27FC236}">
                <a16:creationId xmlns:a16="http://schemas.microsoft.com/office/drawing/2014/main" id="{269BE401-5AE2-48B9-ACC4-EC6EBB48BE5F}"/>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Complete-case regression uses no imputation. Macro availability does not establish candidate feasibility.</a:t>
            </a:r>
          </a:p>
        </p:txBody>
      </p:sp>
      <p:sp>
        <p:nvSpPr>
          <p:cNvPr id="8" name="">
            <a:extLst xmlns:a="http://schemas.openxmlformats.org/drawingml/2006/main">
              <a:ext uri="{FF2B5EF4-FFF2-40B4-BE49-F238E27FC236}">
                <a16:creationId xmlns:a16="http://schemas.microsoft.com/office/drawing/2014/main" id="{6BF9EFE7-83B2-4061-8130-B0B1784E09CE}"/>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EXPERT JUDGEMENT | SOURCE UN_M49 · UN_WPP</a:t>
            </a:r>
          </a:p>
        </p:txBody>
      </p:sp>
      <p:sp>
        <p:nvSpPr>
          <p:cNvPr id="9" name="">
            <a:extLst xmlns:a="http://schemas.openxmlformats.org/drawingml/2006/main">
              <a:ext uri="{FF2B5EF4-FFF2-40B4-BE49-F238E27FC236}">
                <a16:creationId xmlns:a16="http://schemas.microsoft.com/office/drawing/2014/main" id="{49BB3635-C932-4B8F-92FA-6058A785F022}"/>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61 / 98</a:t>
            </a:r>
          </a:p>
        </p:txBody>
      </p:sp>
      <p:sp>
        <p:nvSpPr>
          <p:cNvPr id="10" name="">
            <a:extLst xmlns:a="http://schemas.openxmlformats.org/drawingml/2006/main">
              <a:ext uri="{FF2B5EF4-FFF2-40B4-BE49-F238E27FC236}">
                <a16:creationId xmlns:a16="http://schemas.microsoft.com/office/drawing/2014/main" id="{E91490B2-8F8C-4223-A860-D40A525AE987}"/>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befa8a247b0d4d6f" action="ppaction://hlinksldjump"/>
              </a:rPr>
              <a:t>MAIN DECK ↗</a:t>
            </a:r>
          </a:p>
        </p:txBody>
      </p:sp>
      <p:sp>
        <p:nvSpPr>
          <p:cNvPr id="11" name="">
            <a:extLst xmlns:a="http://schemas.openxmlformats.org/drawingml/2006/main">
              <a:ext uri="{FF2B5EF4-FFF2-40B4-BE49-F238E27FC236}">
                <a16:creationId xmlns:a16="http://schemas.microsoft.com/office/drawing/2014/main" id="{1B68CB26-91F9-4178-820F-E9315A16A80F}"/>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69b9183f1bbe4e34"/>
              </a:rPr>
              <a:t>EVIDENCE ↗</a:t>
            </a:r>
          </a:p>
        </p:txBody>
      </p:sp>
    </p:spTree>
    <p:extLst>
      <p:ext uri="{BB962C8B-B14F-4D97-AF65-F5344CB8AC3E}">
        <p14:creationId xmlns:p14="http://schemas.microsoft.com/office/powerpoint/2010/main" val="832687758"/>
      </p:ext>
    </p:extLst>
  </p:cSld>
</p:sld>
</file>

<file path=ppt/slides/slide62.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F902768-4308-4009-8AE7-2DC4A9F75F5F}"/>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TECHNICAL APPENDIX  /  62</a:t>
            </a:r>
          </a:p>
        </p:txBody>
      </p:sp>
      <p:sp>
        <p:nvSpPr>
          <p:cNvPr id="2" name="">
            <a:extLst xmlns:a="http://schemas.openxmlformats.org/drawingml/2006/main">
              <a:ext uri="{FF2B5EF4-FFF2-40B4-BE49-F238E27FC236}">
                <a16:creationId xmlns:a16="http://schemas.microsoft.com/office/drawing/2014/main" id="{130D7E44-DED4-45FD-9908-AA84DB8739C4}"/>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Demand and trade methods: no unsupported fitted elasticity</a:t>
            </a:r>
          </a:p>
        </p:txBody>
      </p:sp>
      <p:sp>
        <p:nvSpPr>
          <p:cNvPr id="3" name="">
            <a:extLst xmlns:a="http://schemas.openxmlformats.org/drawingml/2006/main">
              <a:ext uri="{FF2B5EF4-FFF2-40B4-BE49-F238E27FC236}">
                <a16:creationId xmlns:a16="http://schemas.microsoft.com/office/drawing/2014/main" id="{21F18040-ADA3-40BB-80A7-A1348A39BB0A}"/>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Implemented descriptive supply benchmark; product demand and trade models await data.</a:t>
            </a:r>
          </a:p>
        </p:txBody>
      </p:sp>
      <p:sp>
        <p:nvSpPr>
          <p:cNvPr id="4" name="">
            <a:extLst xmlns:a="http://schemas.openxmlformats.org/drawingml/2006/main">
              <a:ext uri="{FF2B5EF4-FFF2-40B4-BE49-F238E27FC236}">
                <a16:creationId xmlns:a16="http://schemas.microsoft.com/office/drawing/2014/main" id="{2EF41BDF-253A-411C-A374-BABF9B191070}"/>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Demand begins with population and per-person quantity by segment; accessible customers, capture and delivery then bound sales.</a:t>
            </a:r>
          </a:p>
        </p:txBody>
      </p:sp>
      <p:sp>
        <p:nvSpPr>
          <p:cNvPr id="5" name="">
            <a:extLst xmlns:a="http://schemas.openxmlformats.org/drawingml/2006/main">
              <a:ext uri="{FF2B5EF4-FFF2-40B4-BE49-F238E27FC236}">
                <a16:creationId xmlns:a16="http://schemas.microsoft.com/office/drawing/2014/main" id="{FF236350-F6E5-4BD2-8A84-F9F25FC392BB}"/>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AIDS/QUAIDS and discrete-choice models need observed spending, prices and identification. No imported elasticity is used.</a:t>
            </a:r>
          </a:p>
        </p:txBody>
      </p:sp>
      <p:sp>
        <p:nvSpPr>
          <p:cNvPr id="6" name="">
            <a:extLst xmlns:a="http://schemas.openxmlformats.org/drawingml/2006/main">
              <a:ext uri="{FF2B5EF4-FFF2-40B4-BE49-F238E27FC236}">
                <a16:creationId xmlns:a16="http://schemas.microsoft.com/office/drawing/2014/main" id="{B08CAF88-0974-4353-8CB7-A1560B35E4F7}"/>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 PPML gravity module would need bilateral product flows, fixed effects and barrier data. No fitted gravity result is claimed.</a:t>
            </a:r>
          </a:p>
        </p:txBody>
      </p:sp>
      <p:sp>
        <p:nvSpPr>
          <p:cNvPr id="7" name="">
            <a:extLst xmlns:a="http://schemas.openxmlformats.org/drawingml/2006/main">
              <a:ext uri="{FF2B5EF4-FFF2-40B4-BE49-F238E27FC236}">
                <a16:creationId xmlns:a16="http://schemas.microsoft.com/office/drawing/2014/main" id="{A95B7A57-7391-4A5B-BA7C-F7A345D6F98D}"/>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Aglink-Cosimo is an institutional benchmark. Its official projection is not extended mechanically to 2051.</a:t>
            </a:r>
          </a:p>
        </p:txBody>
      </p:sp>
      <p:sp>
        <p:nvSpPr>
          <p:cNvPr id="8" name="">
            <a:extLst xmlns:a="http://schemas.openxmlformats.org/drawingml/2006/main">
              <a:ext uri="{FF2B5EF4-FFF2-40B4-BE49-F238E27FC236}">
                <a16:creationId xmlns:a16="http://schemas.microsoft.com/office/drawing/2014/main" id="{9793F1AD-AB23-4D8F-8D3B-89FE74893220}"/>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EXPERT JUDGEMENT | SOURCE OECD_METHOD</a:t>
            </a:r>
          </a:p>
        </p:txBody>
      </p:sp>
      <p:sp>
        <p:nvSpPr>
          <p:cNvPr id="9" name="">
            <a:extLst xmlns:a="http://schemas.openxmlformats.org/drawingml/2006/main">
              <a:ext uri="{FF2B5EF4-FFF2-40B4-BE49-F238E27FC236}">
                <a16:creationId xmlns:a16="http://schemas.microsoft.com/office/drawing/2014/main" id="{DFAE8EEA-AB14-4BAA-9B71-878B15088B0E}"/>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62 / 98</a:t>
            </a:r>
          </a:p>
        </p:txBody>
      </p:sp>
      <p:sp>
        <p:nvSpPr>
          <p:cNvPr id="10" name="">
            <a:extLst xmlns:a="http://schemas.openxmlformats.org/drawingml/2006/main">
              <a:ext uri="{FF2B5EF4-FFF2-40B4-BE49-F238E27FC236}">
                <a16:creationId xmlns:a16="http://schemas.microsoft.com/office/drawing/2014/main" id="{A5248BDC-FA5D-4709-B4AC-7A6D189038C2}"/>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656897612093495f" action="ppaction://hlinksldjump"/>
              </a:rPr>
              <a:t>MAIN DECK ↗</a:t>
            </a:r>
          </a:p>
        </p:txBody>
      </p:sp>
      <p:sp>
        <p:nvSpPr>
          <p:cNvPr id="11" name="">
            <a:extLst xmlns:a="http://schemas.openxmlformats.org/drawingml/2006/main">
              <a:ext uri="{FF2B5EF4-FFF2-40B4-BE49-F238E27FC236}">
                <a16:creationId xmlns:a16="http://schemas.microsoft.com/office/drawing/2014/main" id="{C7121748-12A1-467D-9388-65F82E77B1C3}"/>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7bb3d66dc8974263"/>
              </a:rPr>
              <a:t>EVIDENCE ↗</a:t>
            </a:r>
          </a:p>
        </p:txBody>
      </p:sp>
    </p:spTree>
    <p:extLst>
      <p:ext uri="{BB962C8B-B14F-4D97-AF65-F5344CB8AC3E}">
        <p14:creationId xmlns:p14="http://schemas.microsoft.com/office/powerpoint/2010/main" val="1519315679"/>
      </p:ext>
    </p:extLst>
  </p:cSld>
</p:sld>
</file>

<file path=ppt/slides/slide63.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2BA08A8-D14C-4EEA-AEBC-70F6AAC33726}"/>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TECHNICAL APPENDIX  /  63</a:t>
            </a:r>
          </a:p>
        </p:txBody>
      </p:sp>
      <p:sp>
        <p:nvSpPr>
          <p:cNvPr id="2" name="">
            <a:extLst xmlns:a="http://schemas.openxmlformats.org/drawingml/2006/main">
              <a:ext uri="{FF2B5EF4-FFF2-40B4-BE49-F238E27FC236}">
                <a16:creationId xmlns:a16="http://schemas.microsoft.com/office/drawing/2014/main" id="{4C67D460-C297-4CB2-8BD7-E950A76B4C91}"/>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Physical supply and adaptation need location-linked data</a:t>
            </a:r>
          </a:p>
        </p:txBody>
      </p:sp>
      <p:sp>
        <p:nvSpPr>
          <p:cNvPr id="3" name="">
            <a:extLst xmlns:a="http://schemas.openxmlformats.org/drawingml/2006/main">
              <a:ext uri="{FF2B5EF4-FFF2-40B4-BE49-F238E27FC236}">
                <a16:creationId xmlns:a16="http://schemas.microsoft.com/office/drawing/2014/main" id="{BD7A0210-32EB-4B84-B178-B3B6353F17DA}"/>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Do not turn a global warming number into a plant or crop loss coefficient.</a:t>
            </a:r>
          </a:p>
        </p:txBody>
      </p:sp>
      <p:sp>
        <p:nvSpPr>
          <p:cNvPr id="4" name="">
            <a:extLst xmlns:a="http://schemas.openxmlformats.org/drawingml/2006/main">
              <a:ext uri="{FF2B5EF4-FFF2-40B4-BE49-F238E27FC236}">
                <a16:creationId xmlns:a16="http://schemas.microsoft.com/office/drawing/2014/main" id="{0536E878-9AB9-48FE-AF50-78E799EF5ADC}"/>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 crop panel would link calendar-specific weather and basin conditions to yields, with fixed effects and validated nonlinear responses.</a:t>
            </a:r>
          </a:p>
        </p:txBody>
      </p:sp>
      <p:sp>
        <p:nvSpPr>
          <p:cNvPr id="5" name="">
            <a:extLst xmlns:a="http://schemas.openxmlformats.org/drawingml/2006/main">
              <a:ext uri="{FF2B5EF4-FFF2-40B4-BE49-F238E27FC236}">
                <a16:creationId xmlns:a16="http://schemas.microsoft.com/office/drawing/2014/main" id="{CA491746-5FFF-4B94-B508-E3E733150204}"/>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Convert fitted yield or downtime into saleable volume, procurement cost and stock days; price adaptation explicitly.</a:t>
            </a:r>
          </a:p>
        </p:txBody>
      </p:sp>
      <p:sp>
        <p:nvSpPr>
          <p:cNvPr id="6" name="">
            <a:extLst xmlns:a="http://schemas.openxmlformats.org/drawingml/2006/main">
              <a:ext uri="{FF2B5EF4-FFF2-40B4-BE49-F238E27FC236}">
                <a16:creationId xmlns:a16="http://schemas.microsoft.com/office/drawing/2014/main" id="{18202E8E-2A47-494A-B26C-18C5DEF41D46}"/>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Traceability and standards affect access and compliance cost. Include a premium only when buyers pay it.</a:t>
            </a:r>
          </a:p>
        </p:txBody>
      </p:sp>
      <p:sp>
        <p:nvSpPr>
          <p:cNvPr id="7" name="">
            <a:extLst xmlns:a="http://schemas.openxmlformats.org/drawingml/2006/main">
              <a:ext uri="{FF2B5EF4-FFF2-40B4-BE49-F238E27FC236}">
                <a16:creationId xmlns:a16="http://schemas.microsoft.com/office/drawing/2014/main" id="{8708082D-C593-4557-8AE4-084FF983FD96}"/>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Asset coordinates, hazards and measured adaptation effects are unavailable; financial damage outputs remain conditional.</a:t>
            </a:r>
          </a:p>
        </p:txBody>
      </p:sp>
      <p:sp>
        <p:nvSpPr>
          <p:cNvPr id="8" name="">
            <a:extLst xmlns:a="http://schemas.openxmlformats.org/drawingml/2006/main">
              <a:ext uri="{FF2B5EF4-FFF2-40B4-BE49-F238E27FC236}">
                <a16:creationId xmlns:a16="http://schemas.microsoft.com/office/drawing/2014/main" id="{585C650E-F709-45C1-B07F-54C9F73B7E00}"/>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EXPERT JUDGEMENT | SOURCE IPCC · WMO</a:t>
            </a:r>
          </a:p>
        </p:txBody>
      </p:sp>
      <p:sp>
        <p:nvSpPr>
          <p:cNvPr id="9" name="">
            <a:extLst xmlns:a="http://schemas.openxmlformats.org/drawingml/2006/main">
              <a:ext uri="{FF2B5EF4-FFF2-40B4-BE49-F238E27FC236}">
                <a16:creationId xmlns:a16="http://schemas.microsoft.com/office/drawing/2014/main" id="{29912939-EEE6-4B42-9F77-B944DA6387AF}"/>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63 / 98</a:t>
            </a:r>
          </a:p>
        </p:txBody>
      </p:sp>
      <p:sp>
        <p:nvSpPr>
          <p:cNvPr id="10" name="">
            <a:extLst xmlns:a="http://schemas.openxmlformats.org/drawingml/2006/main">
              <a:ext uri="{FF2B5EF4-FFF2-40B4-BE49-F238E27FC236}">
                <a16:creationId xmlns:a16="http://schemas.microsoft.com/office/drawing/2014/main" id="{E39B8042-98E7-41FA-9DA2-109BC3A0B14D}"/>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888fe7f51bd44fea" action="ppaction://hlinksldjump"/>
              </a:rPr>
              <a:t>MAIN DECK ↗</a:t>
            </a:r>
          </a:p>
        </p:txBody>
      </p:sp>
      <p:sp>
        <p:nvSpPr>
          <p:cNvPr id="11" name="">
            <a:extLst xmlns:a="http://schemas.openxmlformats.org/drawingml/2006/main">
              <a:ext uri="{FF2B5EF4-FFF2-40B4-BE49-F238E27FC236}">
                <a16:creationId xmlns:a16="http://schemas.microsoft.com/office/drawing/2014/main" id="{3A2FC426-9F1A-4477-A11B-154D05399B22}"/>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4e9ca358e6cc40b3"/>
              </a:rPr>
              <a:t>EVIDENCE ↗</a:t>
            </a:r>
          </a:p>
        </p:txBody>
      </p:sp>
    </p:spTree>
    <p:extLst>
      <p:ext uri="{BB962C8B-B14F-4D97-AF65-F5344CB8AC3E}">
        <p14:creationId xmlns:p14="http://schemas.microsoft.com/office/powerpoint/2010/main" val="1632547860"/>
      </p:ext>
    </p:extLst>
  </p:cSld>
</p:sld>
</file>

<file path=ppt/slides/slide64.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7317575-7BCE-4EB5-A74E-4688F8B65F48}"/>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TECHNICAL APPENDIX  /  64</a:t>
            </a:r>
          </a:p>
        </p:txBody>
      </p:sp>
      <p:sp>
        <p:nvSpPr>
          <p:cNvPr id="2" name="">
            <a:extLst xmlns:a="http://schemas.openxmlformats.org/drawingml/2006/main">
              <a:ext uri="{FF2B5EF4-FFF2-40B4-BE49-F238E27FC236}">
                <a16:creationId xmlns:a16="http://schemas.microsoft.com/office/drawing/2014/main" id="{B9B4516A-F3AC-455C-AAD7-5E2C4F34D322}"/>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Operating and cash equations</a:t>
            </a:r>
          </a:p>
        </p:txBody>
      </p:sp>
      <p:sp>
        <p:nvSpPr>
          <p:cNvPr id="3" name="">
            <a:extLst xmlns:a="http://schemas.openxmlformats.org/drawingml/2006/main">
              <a:ext uri="{FF2B5EF4-FFF2-40B4-BE49-F238E27FC236}">
                <a16:creationId xmlns:a16="http://schemas.microsoft.com/office/drawing/2014/main" id="{2E3092FC-9D7C-4D34-BECA-C19192F22941}"/>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Reconcile quantities and cash before computing returns.</a:t>
            </a:r>
          </a:p>
        </p:txBody>
      </p:sp>
      <p:sp>
        <p:nvSpPr>
          <p:cNvPr id="4" name="">
            <a:extLst xmlns:a="http://schemas.openxmlformats.org/drawingml/2006/main">
              <a:ext uri="{FF2B5EF4-FFF2-40B4-BE49-F238E27FC236}">
                <a16:creationId xmlns:a16="http://schemas.microsoft.com/office/drawing/2014/main" id="{04F77287-C6EE-44C9-801B-353090C117D4}"/>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Delivered volume = min(eligible orders, usable capacity, route capacity). Revenue = delivered volume × net price.</a:t>
            </a:r>
          </a:p>
        </p:txBody>
      </p:sp>
      <p:sp>
        <p:nvSpPr>
          <p:cNvPr id="5" name="">
            <a:extLst xmlns:a="http://schemas.openxmlformats.org/drawingml/2006/main">
              <a:ext uri="{FF2B5EF4-FFF2-40B4-BE49-F238E27FC236}">
                <a16:creationId xmlns:a16="http://schemas.microsoft.com/office/drawing/2014/main" id="{305B53A6-5B3E-4906-8F13-E0CA29AC87C6}"/>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EBITDA = volume × (price − variable cost per unit) − fixed cash cost. EBIT = EBITDA − D&amp;A.</a:t>
            </a:r>
          </a:p>
        </p:txBody>
      </p:sp>
      <p:sp>
        <p:nvSpPr>
          <p:cNvPr id="6" name="">
            <a:extLst xmlns:a="http://schemas.openxmlformats.org/drawingml/2006/main">
              <a:ext uri="{FF2B5EF4-FFF2-40B4-BE49-F238E27FC236}">
                <a16:creationId xmlns:a16="http://schemas.microsoft.com/office/drawing/2014/main" id="{331E6214-6D4F-457B-9967-F743B22B5A05}"/>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NWC = credit revenue × DSO/365 + inventory cost × DIO/365 − eligible purchases × DPO/365.</a:t>
            </a:r>
          </a:p>
        </p:txBody>
      </p:sp>
      <p:sp>
        <p:nvSpPr>
          <p:cNvPr id="7" name="">
            <a:extLst xmlns:a="http://schemas.openxmlformats.org/drawingml/2006/main">
              <a:ext uri="{FF2B5EF4-FFF2-40B4-BE49-F238E27FC236}">
                <a16:creationId xmlns:a16="http://schemas.microsoft.com/office/drawing/2014/main" id="{585C9681-C53B-4EFC-816E-BE35EA4282EE}"/>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FCFF = EBIT − cash tax + D&amp;A − capex − change in NWC + closeout. NPV discounts all incremental cash.</a:t>
            </a:r>
          </a:p>
        </p:txBody>
      </p:sp>
      <p:sp>
        <p:nvSpPr>
          <p:cNvPr id="8" name="">
            <a:extLst xmlns:a="http://schemas.openxmlformats.org/drawingml/2006/main">
              <a:ext uri="{FF2B5EF4-FFF2-40B4-BE49-F238E27FC236}">
                <a16:creationId xmlns:a16="http://schemas.microsoft.com/office/drawing/2014/main" id="{71E4C303-20C4-4C30-8E82-12EB96AAE694}"/>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EXPERT JUDGEMENT | CONDITIONAL / ILLUSTRATIVE   |   A_TEMPLATE</a:t>
            </a:r>
          </a:p>
        </p:txBody>
      </p:sp>
      <p:sp>
        <p:nvSpPr>
          <p:cNvPr id="9" name="">
            <a:extLst xmlns:a="http://schemas.openxmlformats.org/drawingml/2006/main">
              <a:ext uri="{FF2B5EF4-FFF2-40B4-BE49-F238E27FC236}">
                <a16:creationId xmlns:a16="http://schemas.microsoft.com/office/drawing/2014/main" id="{92154341-F67F-4518-ACB6-C29894CE4065}"/>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64 / 98</a:t>
            </a:r>
          </a:p>
        </p:txBody>
      </p:sp>
      <p:sp>
        <p:nvSpPr>
          <p:cNvPr id="10" name="">
            <a:extLst xmlns:a="http://schemas.openxmlformats.org/drawingml/2006/main">
              <a:ext uri="{FF2B5EF4-FFF2-40B4-BE49-F238E27FC236}">
                <a16:creationId xmlns:a16="http://schemas.microsoft.com/office/drawing/2014/main" id="{42E4F48D-4690-4787-9F2E-D87A77B80516}"/>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6ca11a6777ad4eae" action="ppaction://hlinksldjump"/>
              </a:rPr>
              <a:t>MAIN DECK ↗</a:t>
            </a:r>
          </a:p>
        </p:txBody>
      </p:sp>
      <p:sp>
        <p:nvSpPr>
          <p:cNvPr id="11" name="">
            <a:extLst xmlns:a="http://schemas.openxmlformats.org/drawingml/2006/main">
              <a:ext uri="{FF2B5EF4-FFF2-40B4-BE49-F238E27FC236}">
                <a16:creationId xmlns:a16="http://schemas.microsoft.com/office/drawing/2014/main" id="{9DCC0212-EAE2-421E-8F5B-53611548881E}"/>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f5ec3cf7144141b7"/>
              </a:rPr>
              <a:t>EVIDENCE ↗</a:t>
            </a:r>
          </a:p>
        </p:txBody>
      </p:sp>
    </p:spTree>
    <p:extLst>
      <p:ext uri="{BB962C8B-B14F-4D97-AF65-F5344CB8AC3E}">
        <p14:creationId xmlns:p14="http://schemas.microsoft.com/office/powerpoint/2010/main" val="2133555336"/>
      </p:ext>
    </p:extLst>
  </p:cSld>
</p:sld>
</file>

<file path=ppt/slides/slide65.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9D76263-9D99-45A2-8996-D406D6A806F4}"/>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TECHNICAL APPENDIX  /  65</a:t>
            </a:r>
          </a:p>
        </p:txBody>
      </p:sp>
      <p:sp>
        <p:nvSpPr>
          <p:cNvPr id="2" name="">
            <a:extLst xmlns:a="http://schemas.openxmlformats.org/drawingml/2006/main">
              <a:ext uri="{FF2B5EF4-FFF2-40B4-BE49-F238E27FC236}">
                <a16:creationId xmlns:a16="http://schemas.microsoft.com/office/drawing/2014/main" id="{5993AFFA-0D99-4DFB-86BF-7F80B1AC02D5}"/>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Mathematics disciplines the decision; it does not certify the future</a:t>
            </a:r>
          </a:p>
        </p:txBody>
      </p:sp>
      <p:sp>
        <p:nvSpPr>
          <p:cNvPr id="3" name="">
            <a:extLst xmlns:a="http://schemas.openxmlformats.org/drawingml/2006/main">
              <a:ext uri="{FF2B5EF4-FFF2-40B4-BE49-F238E27FC236}">
                <a16:creationId xmlns:a16="http://schemas.microsoft.com/office/drawing/2014/main" id="{313C0D02-2996-44A2-9822-8B40C7D93772}"/>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Use the smallest method that answers the question and validates on relevant data.</a:t>
            </a:r>
          </a:p>
        </p:txBody>
      </p:sp>
      <p:sp>
        <p:nvSpPr>
          <p:cNvPr id="4" name="">
            <a:extLst xmlns:a="http://schemas.openxmlformats.org/drawingml/2006/main">
              <a:ext uri="{FF2B5EF4-FFF2-40B4-BE49-F238E27FC236}">
                <a16:creationId xmlns:a16="http://schemas.microsoft.com/office/drawing/2014/main" id="{3A40177F-E470-432D-8CE6-B24C089A8AA4}"/>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Linear algebra supports regression and dependence; uncertainty requires an appropriate error structure.</a:t>
            </a:r>
          </a:p>
        </p:txBody>
      </p:sp>
      <p:sp>
        <p:nvSpPr>
          <p:cNvPr id="5" name="">
            <a:extLst xmlns:a="http://schemas.openxmlformats.org/drawingml/2006/main">
              <a:ext uri="{FF2B5EF4-FFF2-40B4-BE49-F238E27FC236}">
                <a16:creationId xmlns:a16="http://schemas.microsoft.com/office/drawing/2014/main" id="{83D7E617-A49A-489E-A7BE-7E6173132A75}"/>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Calculus and root finding locate margin and NPV thresholds. Capacity breakpoints can invalidate smooth derivatives.</a:t>
            </a:r>
          </a:p>
        </p:txBody>
      </p:sp>
      <p:sp>
        <p:nvSpPr>
          <p:cNvPr id="6" name="">
            <a:extLst xmlns:a="http://schemas.openxmlformats.org/drawingml/2006/main">
              <a:ext uri="{FF2B5EF4-FFF2-40B4-BE49-F238E27FC236}">
                <a16:creationId xmlns:a16="http://schemas.microsoft.com/office/drawing/2014/main" id="{D754A2D2-E107-4928-9359-9D2C8ABA98CA}"/>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Network flow connects origin, port and customer constraints. Inventory and queues need lead-time and service data.</a:t>
            </a:r>
          </a:p>
        </p:txBody>
      </p:sp>
      <p:sp>
        <p:nvSpPr>
          <p:cNvPr id="7" name="">
            <a:extLst xmlns:a="http://schemas.openxmlformats.org/drawingml/2006/main">
              <a:ext uri="{FF2B5EF4-FFF2-40B4-BE49-F238E27FC236}">
                <a16:creationId xmlns:a16="http://schemas.microsoft.com/office/drawing/2014/main" id="{64E6249D-7520-41D2-91C9-D9D230BB516D}"/>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Optimization, dynamic programming and Bayes structure actions and learning. Priors and transitions need evidence.</a:t>
            </a:r>
          </a:p>
        </p:txBody>
      </p:sp>
      <p:sp>
        <p:nvSpPr>
          <p:cNvPr id="8" name="">
            <a:extLst xmlns:a="http://schemas.openxmlformats.org/drawingml/2006/main">
              <a:ext uri="{FF2B5EF4-FFF2-40B4-BE49-F238E27FC236}">
                <a16:creationId xmlns:a16="http://schemas.microsoft.com/office/drawing/2014/main" id="{C8534BEB-9F84-48F5-9763-0AD1C110122C}"/>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EXPERT JUDGEMENT | SOURCE CVAR</a:t>
            </a:r>
          </a:p>
        </p:txBody>
      </p:sp>
      <p:sp>
        <p:nvSpPr>
          <p:cNvPr id="9" name="">
            <a:extLst xmlns:a="http://schemas.openxmlformats.org/drawingml/2006/main">
              <a:ext uri="{FF2B5EF4-FFF2-40B4-BE49-F238E27FC236}">
                <a16:creationId xmlns:a16="http://schemas.microsoft.com/office/drawing/2014/main" id="{498245A3-D89E-41F0-B3B5-194DFD7C3F0D}"/>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65 / 98</a:t>
            </a:r>
          </a:p>
        </p:txBody>
      </p:sp>
      <p:sp>
        <p:nvSpPr>
          <p:cNvPr id="10" name="">
            <a:extLst xmlns:a="http://schemas.openxmlformats.org/drawingml/2006/main">
              <a:ext uri="{FF2B5EF4-FFF2-40B4-BE49-F238E27FC236}">
                <a16:creationId xmlns:a16="http://schemas.microsoft.com/office/drawing/2014/main" id="{FFAD638B-5282-4C32-8235-65C57B2159FB}"/>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a60ead82f31b4e5e" action="ppaction://hlinksldjump"/>
              </a:rPr>
              <a:t>MAIN DECK ↗</a:t>
            </a:r>
          </a:p>
        </p:txBody>
      </p:sp>
      <p:sp>
        <p:nvSpPr>
          <p:cNvPr id="11" name="">
            <a:extLst xmlns:a="http://schemas.openxmlformats.org/drawingml/2006/main">
              <a:ext uri="{FF2B5EF4-FFF2-40B4-BE49-F238E27FC236}">
                <a16:creationId xmlns:a16="http://schemas.microsoft.com/office/drawing/2014/main" id="{A9ACE88A-3C0C-4043-AAB7-8B230BD5477B}"/>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80abd398a17c41cc"/>
              </a:rPr>
              <a:t>EVIDENCE ↗</a:t>
            </a:r>
          </a:p>
        </p:txBody>
      </p:sp>
    </p:spTree>
    <p:extLst>
      <p:ext uri="{BB962C8B-B14F-4D97-AF65-F5344CB8AC3E}">
        <p14:creationId xmlns:p14="http://schemas.microsoft.com/office/powerpoint/2010/main" val="1983422159"/>
      </p:ext>
    </p:extLst>
  </p:cSld>
</p:sld>
</file>

<file path=ppt/slides/slide66.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F80641-ED3F-4AD1-8FA2-99048B697810}"/>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TECHNICAL APPENDIX  /  66</a:t>
            </a:r>
          </a:p>
        </p:txBody>
      </p:sp>
      <p:sp>
        <p:nvSpPr>
          <p:cNvPr id="2" name="">
            <a:extLst xmlns:a="http://schemas.openxmlformats.org/drawingml/2006/main">
              <a:ext uri="{FF2B5EF4-FFF2-40B4-BE49-F238E27FC236}">
                <a16:creationId xmlns:a16="http://schemas.microsoft.com/office/drawing/2014/main" id="{EAD474C3-1239-4997-8286-E9744FAF87A2}"/>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Executed OLS coefficients and uncertainty</a:t>
            </a:r>
          </a:p>
        </p:txBody>
      </p:sp>
      <p:sp>
        <p:nvSpPr>
          <p:cNvPr id="3" name="">
            <a:extLst xmlns:a="http://schemas.openxmlformats.org/drawingml/2006/main">
              <a:ext uri="{FF2B5EF4-FFF2-40B4-BE49-F238E27FC236}">
                <a16:creationId xmlns:a16="http://schemas.microsoft.com/office/drawing/2014/main" id="{FA90E6A1-62E4-451A-AB94-F73F48555977}"/>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No coefficient here is a country demand elasticity.</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4191000"/>
                <a:gridCol w="2190750"/>
                <a:gridCol w="2190750"/>
                <a:gridCol w="2400300"/>
              </a:tblGrid>
              <a:tr h="666750">
                <a:tc>
                  <a:txBody>
                    <a:bodyPr/>
                    <a:lstStyle/>
                    <a:p>
                      <a:r>
                        <a:rPr sz="1050" b="1">
                          <a:solidFill>
                            <a:srgbClr val="49624F"/>
                          </a:solidFill>
                          <a:latin typeface="DejaVu Sans"/>
                          <a:ea typeface="DejaVu Sans"/>
                          <a:cs typeface="DejaVu Sans"/>
                        </a:rPr>
                        <a:t>Term</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Coefficient</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Cluster SE</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95% interval</a:t>
                      </a:r>
                    </a:p>
                  </a:txBody>
                  <a:tcPr marL="114300" marR="114300" marT="76200" marB="76200" anchor="t">
                    <a:solidFill>
                      <a:srgbClr val="E7EEE4"/>
                    </a:solidFill>
                  </a:tcPr>
                </a:tc>
              </a:tr>
              <a:tr h="666750">
                <a:tc>
                  <a:txBody>
                    <a:bodyPr/>
                    <a:lstStyle/>
                    <a:p>
                      <a:r>
                        <a:rPr sz="1200">
                          <a:solidFill>
                            <a:srgbClr val="183B2A"/>
                          </a:solidFill>
                          <a:latin typeface="DejaVu Sans"/>
                          <a:ea typeface="DejaVu Sans"/>
                          <a:cs typeface="DejaVu Sans"/>
                        </a:rPr>
                        <a:t>Intercept</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0.01852</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0.00231</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0.01398 to 0.02305</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g_income_ppp</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0.06197</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0.03750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-0.01153 to 0.13546</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du</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0.19450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0.40929</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-0.60770 to 0.99670</a:t>
                      </a:r>
                    </a:p>
                  </a:txBody>
                  <a:tcPr marL="114300" marR="114300" marT="76200" marB="76200" anchor="t">
                    <a:solidFill>
                      <a:srgbClr val="FFFEF9"/>
                    </a:solidFill>
                  </a:tcPr>
                </a:tc>
              </a:tr>
              <a:tr h="666750">
                <a:tc>
                  <a:txBody>
                    <a:bodyPr/>
                    <a:lstStyle/>
                    <a:p>
                      <a:r>
                        <a:rPr sz="1200">
                          <a:solidFill>
                            <a:srgbClr val="183B2A"/>
                          </a:solidFill>
                          <a:latin typeface="DejaVu Sans"/>
                          <a:ea typeface="DejaVu Sans"/>
                          <a:cs typeface="DejaVu Sans"/>
                        </a:rPr>
                        <a:t>g_cereal_yield</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-0.02331</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0.01987</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-0.06226 to 0.01563</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AF7E8DD4-7883-42C3-B29C-8EEA1A3BEF62}"/>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ESTIMATED MODEL PARAMETER | SOURCE WB_food_index · WB_income_ppp · WB_urban · WB_cereal_yield</a:t>
            </a:r>
          </a:p>
        </p:txBody>
      </p:sp>
      <p:sp>
        <p:nvSpPr>
          <p:cNvPr id="6" name="">
            <a:extLst xmlns:a="http://schemas.openxmlformats.org/drawingml/2006/main">
              <a:ext uri="{FF2B5EF4-FFF2-40B4-BE49-F238E27FC236}">
                <a16:creationId xmlns:a16="http://schemas.microsoft.com/office/drawing/2014/main" id="{8D1F5415-0821-4FD7-A7D4-7C10F1B56AC2}"/>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C-OLS   66 / 98</a:t>
            </a:r>
          </a:p>
        </p:txBody>
      </p:sp>
      <p:sp>
        <p:nvSpPr>
          <p:cNvPr id="7" name="">
            <a:extLst xmlns:a="http://schemas.openxmlformats.org/drawingml/2006/main">
              <a:ext uri="{FF2B5EF4-FFF2-40B4-BE49-F238E27FC236}">
                <a16:creationId xmlns:a16="http://schemas.microsoft.com/office/drawing/2014/main" id="{BB41CAE7-F4A5-42CF-86B2-27C0ADB30FE9}"/>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1c25f8f331d64cd6" action="ppaction://hlinksldjump"/>
              </a:rPr>
              <a:t>MAIN DECK ↗</a:t>
            </a:r>
          </a:p>
        </p:txBody>
      </p:sp>
      <p:sp>
        <p:nvSpPr>
          <p:cNvPr id="8" name="">
            <a:extLst xmlns:a="http://schemas.openxmlformats.org/drawingml/2006/main">
              <a:ext uri="{FF2B5EF4-FFF2-40B4-BE49-F238E27FC236}">
                <a16:creationId xmlns:a16="http://schemas.microsoft.com/office/drawing/2014/main" id="{E4A67205-3222-4F84-B116-3AC12F6342EA}"/>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f7a9792eefe542f6"/>
              </a:rPr>
              <a:t>EVIDENCE ↗</a:t>
            </a:r>
          </a:p>
        </p:txBody>
      </p:sp>
    </p:spTree>
    <p:extLst>
      <p:ext uri="{BB962C8B-B14F-4D97-AF65-F5344CB8AC3E}">
        <p14:creationId xmlns:p14="http://schemas.microsoft.com/office/powerpoint/2010/main" val="1379910837"/>
      </p:ext>
    </p:extLst>
  </p:cSld>
</p:sld>
</file>

<file path=ppt/slides/slide67.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1EF8CC4-F2F1-4E21-941B-B4E8EF1B84EE}"/>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TECHNICAL APPENDIX  /  67</a:t>
            </a:r>
          </a:p>
        </p:txBody>
      </p:sp>
      <p:sp>
        <p:nvSpPr>
          <p:cNvPr id="2" name="">
            <a:extLst xmlns:a="http://schemas.openxmlformats.org/drawingml/2006/main">
              <a:ext uri="{FF2B5EF4-FFF2-40B4-BE49-F238E27FC236}">
                <a16:creationId xmlns:a16="http://schemas.microsoft.com/office/drawing/2014/main" id="{3C0741F4-D455-4EF4-814B-9E0F897878F9}"/>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Holdout and transfer validation limit the model</a:t>
            </a:r>
          </a:p>
        </p:txBody>
      </p:sp>
      <p:sp>
        <p:nvSpPr>
          <p:cNvPr id="3" name="">
            <a:extLst xmlns:a="http://schemas.openxmlformats.org/drawingml/2006/main">
              <a:ext uri="{FF2B5EF4-FFF2-40B4-BE49-F238E27FC236}">
                <a16:creationId xmlns:a16="http://schemas.microsoft.com/office/drawing/2014/main" id="{1775F34B-5DC2-4C9A-9DDF-F1113F083373}"/>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Temporal improvement is small; geographic transfer is uneven.</a:t>
            </a:r>
          </a:p>
        </p:txBody>
      </p:sp>
      <p:graphicFrame>
        <p:nvGraphicFramePr>
          <p:cNvPr id="13" name=""/>
          <p:cNvGraphicFramePr/>
          <p:nvPr/>
        </p:nvGraphicFramePr>
        <p:xfrm>
          <a:off xmlns:a="http://schemas.openxmlformats.org/drawingml/2006/main" x="609600" y="2505075"/>
          <a:ext xmlns:a="http://schemas.openxmlformats.org/drawingml/2006/main" cx="10972800" cy="2714625"/>
        </p:xfrm>
        <a:graphic xmlns:a="http://schemas.openxmlformats.org/drawingml/2006/main">
          <a:graphicData uri="http://schemas.openxmlformats.org/drawingml/2006/table">
            <a:tbl>
              <a:tblPr/>
              <a:tblGrid>
                <a:gridCol w="4095750"/>
                <a:gridCol w="3438525"/>
                <a:gridCol w="3438525"/>
              </a:tblGrid>
              <a:tr h="452438">
                <a:tc>
                  <a:txBody>
                    <a:bodyPr/>
                    <a:lstStyle/>
                    <a:p>
                      <a:r>
                        <a:rPr sz="1050" b="1">
                          <a:solidFill>
                            <a:srgbClr val="49624F"/>
                          </a:solidFill>
                          <a:latin typeface="DejaVu Sans"/>
                          <a:ea typeface="DejaVu Sans"/>
                          <a:cs typeface="DejaVu Sans"/>
                        </a:rPr>
                        <a:t>Leave-region-out</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Model MAE</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Benchmark MAE</a:t>
                      </a:r>
                    </a:p>
                  </a:txBody>
                  <a:tcPr marL="114300" marR="114300" marT="76200" marB="76200" anchor="t">
                    <a:solidFill>
                      <a:srgbClr val="E7EEE4"/>
                    </a:solidFill>
                  </a:tcPr>
                </a:tc>
              </a:tr>
              <a:tr h="452438">
                <a:tc>
                  <a:txBody>
                    <a:bodyPr/>
                    <a:lstStyle/>
                    <a:p>
                      <a:r>
                        <a:rPr sz="1200">
                          <a:solidFill>
                            <a:srgbClr val="183B2A"/>
                          </a:solidFill>
                          <a:latin typeface="DejaVu Sans"/>
                          <a:ea typeface="DejaVu Sans"/>
                          <a:cs typeface="DejaVu Sans"/>
                        </a:rPr>
                        <a:t>Asia</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0.04888</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0.04863</a:t>
                      </a:r>
                    </a:p>
                  </a:txBody>
                  <a:tcPr marL="114300" marR="114300" marT="76200" marB="76200" anchor="t">
                    <a:solidFill>
                      <a:srgbClr val="FFFEF9"/>
                    </a:solidFill>
                  </a:tcPr>
                </a:tc>
              </a:tr>
              <a:tr h="452438">
                <a:tc>
                  <a:txBody>
                    <a:bodyPr/>
                    <a:lstStyle/>
                    <a:p>
                      <a:r>
                        <a:rPr sz="1200">
                          <a:solidFill>
                            <a:srgbClr val="183B2A"/>
                          </a:solidFill>
                          <a:latin typeface="DejaVu Sans"/>
                          <a:ea typeface="DejaVu Sans"/>
                          <a:cs typeface="DejaVu Sans"/>
                        </a:rPr>
                        <a:t>Africa</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0.04444</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0.04118</a:t>
                      </a:r>
                    </a:p>
                  </a:txBody>
                  <a:tcPr marL="114300" marR="114300" marT="76200" marB="76200" anchor="t">
                    <a:solidFill>
                      <a:srgbClr val="FFFEF9"/>
                    </a:solidFill>
                  </a:tcPr>
                </a:tc>
              </a:tr>
              <a:tr h="452438">
                <a:tc>
                  <a:txBody>
                    <a:bodyPr/>
                    <a:lstStyle/>
                    <a:p>
                      <a:r>
                        <a:rPr sz="1200">
                          <a:solidFill>
                            <a:srgbClr val="183B2A"/>
                          </a:solidFill>
                          <a:latin typeface="DejaVu Sans"/>
                          <a:ea typeface="DejaVu Sans"/>
                          <a:cs typeface="DejaVu Sans"/>
                        </a:rPr>
                        <a:t>Europe</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0.06458</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0.06461</a:t>
                      </a:r>
                    </a:p>
                  </a:txBody>
                  <a:tcPr marL="114300" marR="114300" marT="76200" marB="76200" anchor="t">
                    <a:solidFill>
                      <a:srgbClr val="FFFEF9"/>
                    </a:solidFill>
                  </a:tcPr>
                </a:tc>
              </a:tr>
              <a:tr h="452438">
                <a:tc>
                  <a:txBody>
                    <a:bodyPr/>
                    <a:lstStyle/>
                    <a:p>
                      <a:r>
                        <a:rPr sz="1200">
                          <a:solidFill>
                            <a:srgbClr val="183B2A"/>
                          </a:solidFill>
                          <a:latin typeface="DejaVu Sans"/>
                          <a:ea typeface="DejaVu Sans"/>
                          <a:cs typeface="DejaVu Sans"/>
                        </a:rPr>
                        <a:t>Americas</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0.04561</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0.04558</a:t>
                      </a:r>
                    </a:p>
                  </a:txBody>
                  <a:tcPr marL="114300" marR="114300" marT="76200" marB="76200" anchor="t">
                    <a:solidFill>
                      <a:srgbClr val="FFFEF9"/>
                    </a:solidFill>
                  </a:tcPr>
                </a:tc>
              </a:tr>
              <a:tr h="452438">
                <a:tc>
                  <a:txBody>
                    <a:bodyPr/>
                    <a:lstStyle/>
                    <a:p>
                      <a:r>
                        <a:rPr sz="1200">
                          <a:solidFill>
                            <a:srgbClr val="183B2A"/>
                          </a:solidFill>
                          <a:latin typeface="DejaVu Sans"/>
                          <a:ea typeface="DejaVu Sans"/>
                          <a:cs typeface="DejaVu Sans"/>
                        </a:rPr>
                        <a:t>Oceania</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0.03681</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0.03757</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76A3A892-5A52-4BFE-9383-B1118C87B7E4}"/>
              </a:ext>
            </a:extLst>
          </p:cNvPr>
          <p:cNvSpPr>
            <a:spLocks xmlns:a="http://schemas.openxmlformats.org/drawingml/2006/main" noGrp="1"/>
          </p:cNvSpPr>
          <p:nvPr/>
        </p:nvSpPr>
        <p:spPr>
          <a:xfrm xmlns:a="http://schemas.openxmlformats.org/drawingml/2006/main">
            <a:off x="609600" y="5381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Latest-vintage temporal validation is retrospective. The small error gain and uneven geographic transfer do not justify investment forecasting.</a:t>
            </a:r>
          </a:p>
        </p:txBody>
      </p:sp>
      <p:sp>
        <p:nvSpPr>
          <p:cNvPr id="6" name="">
            <a:extLst xmlns:a="http://schemas.openxmlformats.org/drawingml/2006/main">
              <a:ext uri="{FF2B5EF4-FFF2-40B4-BE49-F238E27FC236}">
                <a16:creationId xmlns:a16="http://schemas.microsoft.com/office/drawing/2014/main" id="{3CAFA4E6-2EDC-4B70-B2A9-814232434443}"/>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SOURCE WB_food_index</a:t>
            </a:r>
          </a:p>
        </p:txBody>
      </p:sp>
      <p:sp>
        <p:nvSpPr>
          <p:cNvPr id="7" name="">
            <a:extLst xmlns:a="http://schemas.openxmlformats.org/drawingml/2006/main">
              <a:ext uri="{FF2B5EF4-FFF2-40B4-BE49-F238E27FC236}">
                <a16:creationId xmlns:a16="http://schemas.microsoft.com/office/drawing/2014/main" id="{98B61F53-16B9-4CCF-9BBF-F5D8ED1EF6EB}"/>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C-OLS   67 / 98</a:t>
            </a:r>
          </a:p>
        </p:txBody>
      </p:sp>
      <p:sp>
        <p:nvSpPr>
          <p:cNvPr id="8" name="">
            <a:extLst xmlns:a="http://schemas.openxmlformats.org/drawingml/2006/main">
              <a:ext uri="{FF2B5EF4-FFF2-40B4-BE49-F238E27FC236}">
                <a16:creationId xmlns:a16="http://schemas.microsoft.com/office/drawing/2014/main" id="{1EBE209C-680F-4ED8-8F1E-1A24B82DB7AD}"/>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597735e49b404080" action="ppaction://hlinksldjump"/>
              </a:rPr>
              <a:t>MAIN DECK ↗</a:t>
            </a:r>
          </a:p>
        </p:txBody>
      </p:sp>
      <p:sp>
        <p:nvSpPr>
          <p:cNvPr id="9" name="">
            <a:extLst xmlns:a="http://schemas.openxmlformats.org/drawingml/2006/main">
              <a:ext uri="{FF2B5EF4-FFF2-40B4-BE49-F238E27FC236}">
                <a16:creationId xmlns:a16="http://schemas.microsoft.com/office/drawing/2014/main" id="{57AAA5C1-4DE3-464A-AEF6-F5DC06DA44E7}"/>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432f96382a2646d7"/>
              </a:rPr>
              <a:t>EVIDENCE ↗</a:t>
            </a:r>
          </a:p>
        </p:txBody>
      </p:sp>
    </p:spTree>
    <p:extLst>
      <p:ext uri="{BB962C8B-B14F-4D97-AF65-F5344CB8AC3E}">
        <p14:creationId xmlns:p14="http://schemas.microsoft.com/office/powerpoint/2010/main" val="1665537933"/>
      </p:ext>
    </p:extLst>
  </p:cSld>
</p:sld>
</file>

<file path=ppt/slides/slide68.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701AEA5-4ECC-412B-8E55-A4279681B823}"/>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TECHNICAL APPENDIX  /  68</a:t>
            </a:r>
          </a:p>
        </p:txBody>
      </p:sp>
      <p:sp>
        <p:nvSpPr>
          <p:cNvPr id="2" name="">
            <a:extLst xmlns:a="http://schemas.openxmlformats.org/drawingml/2006/main">
              <a:ext uri="{FF2B5EF4-FFF2-40B4-BE49-F238E27FC236}">
                <a16:creationId xmlns:a16="http://schemas.microsoft.com/office/drawing/2014/main" id="{A7A27750-78E6-4EE5-A91F-2D1891318B9C}"/>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Stress specification and convergence</a:t>
            </a:r>
          </a:p>
        </p:txBody>
      </p:sp>
      <p:sp>
        <p:nvSpPr>
          <p:cNvPr id="3" name="">
            <a:extLst xmlns:a="http://schemas.openxmlformats.org/drawingml/2006/main">
              <a:ext uri="{FF2B5EF4-FFF2-40B4-BE49-F238E27FC236}">
                <a16:creationId xmlns:a16="http://schemas.microsoft.com/office/drawing/2014/main" id="{9BC56394-F248-4EA2-9416-32DA4829B8CD}"/>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Simulation quantiles describe the chosen generator only.</a:t>
            </a:r>
          </a:p>
        </p:txBody>
      </p:sp>
      <p:graphicFrame>
        <p:nvGraphicFramePr>
          <p:cNvPr id="13" name=""/>
          <p:cNvGraphicFramePr/>
          <p:nvPr/>
        </p:nvGraphicFramePr>
        <p:xfrm>
          <a:off xmlns:a="http://schemas.openxmlformats.org/drawingml/2006/main" x="609600" y="2505075"/>
          <a:ext xmlns:a="http://schemas.openxmlformats.org/drawingml/2006/main" cx="10972800" cy="2714625"/>
        </p:xfrm>
        <a:graphic xmlns:a="http://schemas.openxmlformats.org/drawingml/2006/main">
          <a:graphicData uri="http://schemas.openxmlformats.org/drawingml/2006/table">
            <a:tbl>
              <a:tblPr/>
              <a:tblGrid>
                <a:gridCol w="4191000"/>
                <a:gridCol w="2190750"/>
                <a:gridCol w="2190750"/>
                <a:gridCol w="2400300"/>
              </a:tblGrid>
              <a:tr h="678656">
                <a:tc>
                  <a:txBody>
                    <a:bodyPr/>
                    <a:lstStyle/>
                    <a:p>
                      <a:r>
                        <a:rPr sz="1050" b="1">
                          <a:solidFill>
                            <a:srgbClr val="49624F"/>
                          </a:solidFill>
                          <a:latin typeface="DejaVu Sans"/>
                          <a:ea typeface="DejaVu Sans"/>
                          <a:cs typeface="DejaVu Sans"/>
                        </a:rPr>
                        <a:t>Runs</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p10 NPV</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p50 NPV</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Loss CVaR95</a:t>
                      </a:r>
                    </a:p>
                  </a:txBody>
                  <a:tcPr marL="114300" marR="114300" marT="76200" marB="76200" anchor="t">
                    <a:solidFill>
                      <a:srgbClr val="E7EEE4"/>
                    </a:solidFill>
                  </a:tcPr>
                </a:tc>
              </a:tr>
              <a:tr h="678656">
                <a:tc>
                  <a:txBody>
                    <a:bodyPr/>
                    <a:lstStyle/>
                    <a:p>
                      <a:r>
                        <a:rPr sz="1200">
                          <a:solidFill>
                            <a:srgbClr val="183B2A"/>
                          </a:solidFill>
                          <a:latin typeface="DejaVu Sans"/>
                          <a:ea typeface="DejaVu Sans"/>
                          <a:cs typeface="DejaVu Sans"/>
                        </a:rPr>
                        <a:t>2500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-18.91</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-1.65</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29.14</a:t>
                      </a:r>
                    </a:p>
                  </a:txBody>
                  <a:tcPr marL="114300" marR="114300" marT="76200" marB="76200" anchor="t">
                    <a:solidFill>
                      <a:srgbClr val="FFFEF9"/>
                    </a:solidFill>
                  </a:tcPr>
                </a:tc>
              </a:tr>
              <a:tr h="678656">
                <a:tc>
                  <a:txBody>
                    <a:bodyPr/>
                    <a:lstStyle/>
                    <a:p>
                      <a:r>
                        <a:rPr sz="1200">
                          <a:solidFill>
                            <a:srgbClr val="183B2A"/>
                          </a:solidFill>
                          <a:latin typeface="DejaVu Sans"/>
                          <a:ea typeface="DejaVu Sans"/>
                          <a:cs typeface="DejaVu Sans"/>
                        </a:rPr>
                        <a:t>5000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-19.16</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-1.89</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28.98</a:t>
                      </a:r>
                    </a:p>
                  </a:txBody>
                  <a:tcPr marL="114300" marR="114300" marT="76200" marB="76200" anchor="t">
                    <a:solidFill>
                      <a:srgbClr val="FFFEF9"/>
                    </a:solidFill>
                  </a:tcPr>
                </a:tc>
              </a:tr>
              <a:tr h="678656">
                <a:tc>
                  <a:txBody>
                    <a:bodyPr/>
                    <a:lstStyle/>
                    <a:p>
                      <a:r>
                        <a:rPr sz="1200">
                          <a:solidFill>
                            <a:srgbClr val="183B2A"/>
                          </a:solidFill>
                          <a:latin typeface="DejaVu Sans"/>
                          <a:ea typeface="DejaVu Sans"/>
                          <a:cs typeface="DejaVu Sans"/>
                        </a:rPr>
                        <a:t>10000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-19.27</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-1.65</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29.25</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6F03B6FB-D147-40E7-8E52-54DD043FEDD5}"/>
              </a:ext>
            </a:extLst>
          </p:cNvPr>
          <p:cNvSpPr>
            <a:spLocks xmlns:a="http://schemas.openxmlformats.org/drawingml/2006/main" noGrp="1"/>
          </p:cNvSpPr>
          <p:nvPr/>
        </p:nvSpPr>
        <p:spPr>
          <a:xfrm xmlns:a="http://schemas.openxmlformats.org/drawingml/2006/main">
            <a:off x="609600" y="5381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Chosen latent factors jointly alter volume, costs, stocks and rates. Seed 20261008; covariance is constructed, not fitted to country data.</a:t>
            </a:r>
          </a:p>
        </p:txBody>
      </p:sp>
      <p:sp>
        <p:nvSpPr>
          <p:cNvPr id="6" name="">
            <a:extLst xmlns:a="http://schemas.openxmlformats.org/drawingml/2006/main">
              <a:ext uri="{FF2B5EF4-FFF2-40B4-BE49-F238E27FC236}">
                <a16:creationId xmlns:a16="http://schemas.microsoft.com/office/drawing/2014/main" id="{0DFC48D8-9518-4CE5-8037-0B54E36D5459}"/>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EXPERT JUDGEMENT | CONDITIONAL / ILLUSTRATIVE</a:t>
            </a:r>
          </a:p>
        </p:txBody>
      </p:sp>
      <p:sp>
        <p:nvSpPr>
          <p:cNvPr id="7" name="">
            <a:extLst xmlns:a="http://schemas.openxmlformats.org/drawingml/2006/main">
              <a:ext uri="{FF2B5EF4-FFF2-40B4-BE49-F238E27FC236}">
                <a16:creationId xmlns:a16="http://schemas.microsoft.com/office/drawing/2014/main" id="{1B828BF9-10BE-4CA7-90C3-84D1AFB9CE6D}"/>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68 / 98</a:t>
            </a:r>
          </a:p>
        </p:txBody>
      </p:sp>
      <p:sp>
        <p:nvSpPr>
          <p:cNvPr id="8" name="">
            <a:extLst xmlns:a="http://schemas.openxmlformats.org/drawingml/2006/main">
              <a:ext uri="{FF2B5EF4-FFF2-40B4-BE49-F238E27FC236}">
                <a16:creationId xmlns:a16="http://schemas.microsoft.com/office/drawing/2014/main" id="{2A28B700-1FC0-4A0D-92CA-60C0203DE5AB}"/>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0c7942fdd97a405a" action="ppaction://hlinksldjump"/>
              </a:rPr>
              <a:t>MAIN DECK ↗</a:t>
            </a:r>
          </a:p>
        </p:txBody>
      </p:sp>
      <p:sp>
        <p:nvSpPr>
          <p:cNvPr id="9" name="">
            <a:extLst xmlns:a="http://schemas.openxmlformats.org/drawingml/2006/main">
              <a:ext uri="{FF2B5EF4-FFF2-40B4-BE49-F238E27FC236}">
                <a16:creationId xmlns:a16="http://schemas.microsoft.com/office/drawing/2014/main" id="{870F19C5-4078-4564-90E8-32C2D4F95AB8}"/>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21176e1b4ec64378"/>
              </a:rPr>
              <a:t>EVIDENCE ↗</a:t>
            </a:r>
          </a:p>
        </p:txBody>
      </p:sp>
    </p:spTree>
    <p:extLst>
      <p:ext uri="{BB962C8B-B14F-4D97-AF65-F5344CB8AC3E}">
        <p14:creationId xmlns:p14="http://schemas.microsoft.com/office/powerpoint/2010/main" val="1479645137"/>
      </p:ext>
    </p:extLst>
  </p:cSld>
</p:sld>
</file>

<file path=ppt/slides/slide69.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B149839-F590-4A8D-85BE-94BC681EFEEB}"/>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TECHNICAL APPENDIX  /  69</a:t>
            </a:r>
          </a:p>
        </p:txBody>
      </p:sp>
      <p:sp>
        <p:nvSpPr>
          <p:cNvPr id="2" name="">
            <a:extLst xmlns:a="http://schemas.openxmlformats.org/drawingml/2006/main">
              <a:ext uri="{FF2B5EF4-FFF2-40B4-BE49-F238E27FC236}">
                <a16:creationId xmlns:a16="http://schemas.microsoft.com/office/drawing/2014/main" id="{4F1064B8-2209-4B41-A4AF-2578A308C16F}"/>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Prior art and originality boundary</a:t>
            </a:r>
          </a:p>
        </p:txBody>
      </p:sp>
      <p:sp>
        <p:nvSpPr>
          <p:cNvPr id="3" name="">
            <a:extLst xmlns:a="http://schemas.openxmlformats.org/drawingml/2006/main">
              <a:ext uri="{FF2B5EF4-FFF2-40B4-BE49-F238E27FC236}">
                <a16:creationId xmlns:a16="http://schemas.microsoft.com/office/drawing/2014/main" id="{5A5F4B10-6F4D-4792-9D6A-2D1DF1DFCC5E}"/>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Integration is the proposal; mathematical novelty is not asserted.</a:t>
            </a:r>
          </a:p>
        </p:txBody>
      </p:sp>
      <p:sp>
        <p:nvSpPr>
          <p:cNvPr id="4" name="">
            <a:extLst xmlns:a="http://schemas.openxmlformats.org/drawingml/2006/main">
              <a:ext uri="{FF2B5EF4-FFF2-40B4-BE49-F238E27FC236}">
                <a16:creationId xmlns:a16="http://schemas.microsoft.com/office/drawing/2014/main" id="{484AA19B-9F48-4608-9BB5-3BDB11D273B1}"/>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Robust regret, CVaR, constrained optimization, causal experiments, real options and EVSI are established methods.</a:t>
            </a:r>
          </a:p>
        </p:txBody>
      </p:sp>
      <p:sp>
        <p:nvSpPr>
          <p:cNvPr id="5" name="">
            <a:extLst xmlns:a="http://schemas.openxmlformats.org/drawingml/2006/main">
              <a:ext uri="{FF2B5EF4-FFF2-40B4-BE49-F238E27FC236}">
                <a16:creationId xmlns:a16="http://schemas.microsoft.com/office/drawing/2014/main" id="{B0E15EA8-BF89-46FE-8271-477537C010B4}"/>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Growth, climate, time-series and causal research guide module choice; no Nobel research parameter is imported into company forecasts.</a:t>
            </a:r>
          </a:p>
        </p:txBody>
      </p:sp>
      <p:sp>
        <p:nvSpPr>
          <p:cNvPr id="6" name="">
            <a:extLst xmlns:a="http://schemas.openxmlformats.org/drawingml/2006/main">
              <a:ext uri="{FF2B5EF4-FFF2-40B4-BE49-F238E27FC236}">
                <a16:creationId xmlns:a16="http://schemas.microsoft.com/office/drawing/2014/main" id="{AD141DC9-5F6B-45E4-81DC-CFC1A824BB6D}"/>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The proposed integration links usable customer output to seasonal cash and transferable learning.</a:t>
            </a:r>
          </a:p>
        </p:txBody>
      </p:sp>
      <p:sp>
        <p:nvSpPr>
          <p:cNvPr id="7" name="">
            <a:extLst xmlns:a="http://schemas.openxmlformats.org/drawingml/2006/main">
              <a:ext uri="{FF2B5EF4-FFF2-40B4-BE49-F238E27FC236}">
                <a16:creationId xmlns:a16="http://schemas.microsoft.com/office/drawing/2014/main" id="{354B2C72-2A5A-4BF8-A2B8-EB3F8D130443}"/>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Only the transparent teaching comparison is executed. Superiority over real country allocation is unvalidated.</a:t>
            </a:r>
          </a:p>
        </p:txBody>
      </p:sp>
      <p:sp>
        <p:nvSpPr>
          <p:cNvPr id="8" name="">
            <a:extLst xmlns:a="http://schemas.openxmlformats.org/drawingml/2006/main">
              <a:ext uri="{FF2B5EF4-FFF2-40B4-BE49-F238E27FC236}">
                <a16:creationId xmlns:a16="http://schemas.microsoft.com/office/drawing/2014/main" id="{E47C17A8-51C4-4ADD-9971-8339D236FE06}"/>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EXPERT JUDGEMENT | SOURCE CVAR · DID · NOBEL_2003 · NOBEL_2018 · NOBEL_2021</a:t>
            </a:r>
          </a:p>
        </p:txBody>
      </p:sp>
      <p:sp>
        <p:nvSpPr>
          <p:cNvPr id="9" name="">
            <a:extLst xmlns:a="http://schemas.openxmlformats.org/drawingml/2006/main">
              <a:ext uri="{FF2B5EF4-FFF2-40B4-BE49-F238E27FC236}">
                <a16:creationId xmlns:a16="http://schemas.microsoft.com/office/drawing/2014/main" id="{8529B5C3-7A3C-4B0A-AAA2-1AAC424313CC}"/>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69 / 98</a:t>
            </a:r>
          </a:p>
        </p:txBody>
      </p:sp>
      <p:sp>
        <p:nvSpPr>
          <p:cNvPr id="10" name="">
            <a:extLst xmlns:a="http://schemas.openxmlformats.org/drawingml/2006/main">
              <a:ext uri="{FF2B5EF4-FFF2-40B4-BE49-F238E27FC236}">
                <a16:creationId xmlns:a16="http://schemas.microsoft.com/office/drawing/2014/main" id="{B716F007-8074-4DEA-A037-60BB0FE8F6F1}"/>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aa6165eb0d764151" action="ppaction://hlinksldjump"/>
              </a:rPr>
              <a:t>MAIN DECK ↗</a:t>
            </a:r>
          </a:p>
        </p:txBody>
      </p:sp>
      <p:sp>
        <p:nvSpPr>
          <p:cNvPr id="11" name="">
            <a:extLst xmlns:a="http://schemas.openxmlformats.org/drawingml/2006/main">
              <a:ext uri="{FF2B5EF4-FFF2-40B4-BE49-F238E27FC236}">
                <a16:creationId xmlns:a16="http://schemas.microsoft.com/office/drawing/2014/main" id="{95E978CB-C9D8-4460-9C44-2720A974CF10}"/>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84eb1873a0654d1e"/>
              </a:rPr>
              <a:t>EVIDENCE ↗</a:t>
            </a:r>
          </a:p>
        </p:txBody>
      </p:sp>
    </p:spTree>
    <p:extLst>
      <p:ext uri="{BB962C8B-B14F-4D97-AF65-F5344CB8AC3E}">
        <p14:creationId xmlns:p14="http://schemas.microsoft.com/office/powerpoint/2010/main" val="1547653325"/>
      </p:ext>
    </p:extLst>
  </p:cSld>
</p:sld>
</file>

<file path=ppt/slides/slide70.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F2FE538-5876-4964-AEA1-7BC0E48FDF88}"/>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TECHNICAL APPENDIX  /  70</a:t>
            </a:r>
          </a:p>
        </p:txBody>
      </p:sp>
      <p:sp>
        <p:nvSpPr>
          <p:cNvPr id="2" name="">
            <a:extLst xmlns:a="http://schemas.openxmlformats.org/drawingml/2006/main">
              <a:ext uri="{FF2B5EF4-FFF2-40B4-BE49-F238E27FC236}">
                <a16:creationId xmlns:a16="http://schemas.microsoft.com/office/drawing/2014/main" id="{D4B5C96D-DF48-4C91-82D0-D8985E11D7C0}"/>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Pilot design and power: size from evidence</a:t>
            </a:r>
          </a:p>
        </p:txBody>
      </p:sp>
      <p:sp>
        <p:nvSpPr>
          <p:cNvPr id="3" name="">
            <a:extLst xmlns:a="http://schemas.openxmlformats.org/drawingml/2006/main">
              <a:ext uri="{FF2B5EF4-FFF2-40B4-BE49-F238E27FC236}">
                <a16:creationId xmlns:a16="http://schemas.microsoft.com/office/drawing/2014/main" id="{5EE9529A-9E1E-47FE-928E-F3E34855A302}"/>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A convenient sample is not proof of an economically meaningful effect.</a:t>
            </a:r>
          </a:p>
        </p:txBody>
      </p:sp>
      <p:sp>
        <p:nvSpPr>
          <p:cNvPr id="4" name="">
            <a:extLst xmlns:a="http://schemas.openxmlformats.org/drawingml/2006/main">
              <a:ext uri="{FF2B5EF4-FFF2-40B4-BE49-F238E27FC236}">
                <a16:creationId xmlns:a16="http://schemas.microsoft.com/office/drawing/2014/main" id="{C9067215-D9B6-4753-BD2C-61D9EE75DFD0}"/>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For two independent arms, n ≈ 2(zα/2 + zβ)²σ²/δ² per arm. Cluster design effect = 1 + (m − 1)ICC.</a:t>
            </a:r>
          </a:p>
        </p:txBody>
      </p:sp>
      <p:sp>
        <p:nvSpPr>
          <p:cNvPr id="5" name="">
            <a:extLst xmlns:a="http://schemas.openxmlformats.org/drawingml/2006/main">
              <a:ext uri="{FF2B5EF4-FFF2-40B4-BE49-F238E27FC236}">
                <a16:creationId xmlns:a16="http://schemas.microsoft.com/office/drawing/2014/main" id="{0A0D78BB-EB03-49DC-A7B7-DE5149CC53BA}"/>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Chosen σ=10, δ=5, α=.05 and 80% power imply about 63 observations per arm before clustering or attrition.</a:t>
            </a:r>
          </a:p>
        </p:txBody>
      </p:sp>
      <p:sp>
        <p:nvSpPr>
          <p:cNvPr id="6" name="">
            <a:extLst xmlns:a="http://schemas.openxmlformats.org/drawingml/2006/main">
              <a:ext uri="{FF2B5EF4-FFF2-40B4-BE49-F238E27FC236}">
                <a16:creationId xmlns:a16="http://schemas.microsoft.com/office/drawing/2014/main" id="{6B46674A-CFE7-44A7-A752-D32C33D61C84}"/>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With 10 customers per cluster and ICC=.10, the design effect is 1.9: about 120 adjusted observations per arm.</a:t>
            </a:r>
          </a:p>
        </p:txBody>
      </p:sp>
      <p:sp>
        <p:nvSpPr>
          <p:cNvPr id="7" name="">
            <a:extLst xmlns:a="http://schemas.openxmlformats.org/drawingml/2006/main">
              <a:ext uri="{FF2B5EF4-FFF2-40B4-BE49-F238E27FC236}">
                <a16:creationId xmlns:a16="http://schemas.microsoft.com/office/drawing/2014/main" id="{AA9A5FAA-70BA-4E5E-93AD-A11B212528EC}"/>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Actual route variance, balance, spillovers and attrition determine the final sample. No actual sample size is approved.</a:t>
            </a:r>
          </a:p>
        </p:txBody>
      </p:sp>
      <p:sp>
        <p:nvSpPr>
          <p:cNvPr id="8" name="">
            <a:extLst xmlns:a="http://schemas.openxmlformats.org/drawingml/2006/main">
              <a:ext uri="{FF2B5EF4-FFF2-40B4-BE49-F238E27FC236}">
                <a16:creationId xmlns:a16="http://schemas.microsoft.com/office/drawing/2014/main" id="{0CAFF676-F802-4351-96C2-32B80707FD05}"/>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EXPERT JUDGEMENT | SOURCE DID</a:t>
            </a:r>
          </a:p>
        </p:txBody>
      </p:sp>
      <p:sp>
        <p:nvSpPr>
          <p:cNvPr id="9" name="">
            <a:extLst xmlns:a="http://schemas.openxmlformats.org/drawingml/2006/main">
              <a:ext uri="{FF2B5EF4-FFF2-40B4-BE49-F238E27FC236}">
                <a16:creationId xmlns:a16="http://schemas.microsoft.com/office/drawing/2014/main" id="{1278A5BB-78D4-48A1-9714-7430CC9E38FE}"/>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70 / 98</a:t>
            </a:r>
          </a:p>
        </p:txBody>
      </p:sp>
      <p:sp>
        <p:nvSpPr>
          <p:cNvPr id="10" name="">
            <a:extLst xmlns:a="http://schemas.openxmlformats.org/drawingml/2006/main">
              <a:ext uri="{FF2B5EF4-FFF2-40B4-BE49-F238E27FC236}">
                <a16:creationId xmlns:a16="http://schemas.microsoft.com/office/drawing/2014/main" id="{1651F342-4717-46C7-88ED-0ED97368FCC2}"/>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433a00b0f999426d" action="ppaction://hlinksldjump"/>
              </a:rPr>
              <a:t>MAIN DECK ↗</a:t>
            </a:r>
          </a:p>
        </p:txBody>
      </p:sp>
      <p:sp>
        <p:nvSpPr>
          <p:cNvPr id="11" name="">
            <a:extLst xmlns:a="http://schemas.openxmlformats.org/drawingml/2006/main">
              <a:ext uri="{FF2B5EF4-FFF2-40B4-BE49-F238E27FC236}">
                <a16:creationId xmlns:a16="http://schemas.microsoft.com/office/drawing/2014/main" id="{EA0D6860-364A-4AA4-A1CF-48D7B6396133}"/>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ed17b1e073e24ddd"/>
              </a:rPr>
              <a:t>EVIDENCE ↗</a:t>
            </a:r>
          </a:p>
        </p:txBody>
      </p:sp>
    </p:spTree>
    <p:extLst>
      <p:ext uri="{BB962C8B-B14F-4D97-AF65-F5344CB8AC3E}">
        <p14:creationId xmlns:p14="http://schemas.microsoft.com/office/powerpoint/2010/main" val="1002470783"/>
      </p:ext>
    </p:extLst>
  </p:cSld>
</p:sld>
</file>

<file path=ppt/slides/slide71.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960F8C8-23BB-48E2-B93F-4B88B48BA770}"/>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TECHNICAL APPENDIX  /  71</a:t>
            </a:r>
          </a:p>
        </p:txBody>
      </p:sp>
      <p:sp>
        <p:nvSpPr>
          <p:cNvPr id="2" name="">
            <a:extLst xmlns:a="http://schemas.openxmlformats.org/drawingml/2006/main">
              <a:ext uri="{FF2B5EF4-FFF2-40B4-BE49-F238E27FC236}">
                <a16:creationId xmlns:a16="http://schemas.microsoft.com/office/drawing/2014/main" id="{08A69572-0BDE-4CEC-BD55-7EE1CFF6A177}"/>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Country atlas: all countries, six worlds, seven milestones</a:t>
            </a:r>
          </a:p>
        </p:txBody>
      </p:sp>
      <p:sp>
        <p:nvSpPr>
          <p:cNvPr id="3" name="">
            <a:extLst xmlns:a="http://schemas.openxmlformats.org/drawingml/2006/main">
              <a:ext uri="{FF2B5EF4-FFF2-40B4-BE49-F238E27FC236}">
                <a16:creationId xmlns:a16="http://schemas.microsoft.com/office/drawing/2014/main" id="{CCADB190-E268-470B-9267-9C3172B20DEC}"/>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8,526 matrix rows preserve unknown finance rather than fabricate forecasts.</a:t>
            </a:r>
          </a:p>
        </p:txBody>
      </p:sp>
      <p:sp>
        <p:nvSpPr>
          <p:cNvPr id="4" name="">
            <a:extLst xmlns:a="http://schemas.openxmlformats.org/drawingml/2006/main">
              <a:ext uri="{FF2B5EF4-FFF2-40B4-BE49-F238E27FC236}">
                <a16:creationId xmlns:a16="http://schemas.microsoft.com/office/drawing/2014/main" id="{19981181-4E44-481B-9291-0BB4BE009227}"/>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195 countries, 203 separate product/unselected units, six worlds, seven milestones.</a:t>
            </a:r>
          </a:p>
        </p:txBody>
      </p:sp>
      <p:sp>
        <p:nvSpPr>
          <p:cNvPr id="5" name="">
            <a:extLst xmlns:a="http://schemas.openxmlformats.org/drawingml/2006/main">
              <a:ext uri="{FF2B5EF4-FFF2-40B4-BE49-F238E27FC236}">
                <a16:creationId xmlns:a16="http://schemas.microsoft.com/office/drawing/2014/main" id="{CDB0A0A3-938D-45A1-8ED9-FCF259BCFE52}"/>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Eighteen priority product plans are separate commercial hypotheses, with counterfactual, service/cash mechanism and stop gate.</a:t>
            </a:r>
          </a:p>
        </p:txBody>
      </p:sp>
      <p:sp>
        <p:nvSpPr>
          <p:cNvPr id="6" name="">
            <a:extLst xmlns:a="http://schemas.openxmlformats.org/drawingml/2006/main">
              <a:ext uri="{FF2B5EF4-FFF2-40B4-BE49-F238E27FC236}">
                <a16:creationId xmlns:a16="http://schemas.microsoft.com/office/drawing/2014/main" id="{5E6F1992-AFA4-4C49-9B7A-B5E8E0C89ECB}"/>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Country NPV stays unknown; normalized order roots and sensitivities support diligence rather than investment approval.</a:t>
            </a:r>
          </a:p>
        </p:txBody>
      </p:sp>
      <p:sp>
        <p:nvSpPr>
          <p:cNvPr id="7" name="">
            <a:extLst xmlns:a="http://schemas.openxmlformats.org/drawingml/2006/main">
              <a:ext uri="{FF2B5EF4-FFF2-40B4-BE49-F238E27FC236}">
                <a16:creationId xmlns:a16="http://schemas.microsoft.com/office/drawing/2014/main" id="{EFCBF4DB-4A5C-4F26-9F24-F1E0FA5DFAD9}"/>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country-driver-coverage.csv records34 national variables and dates; territories indexed separately.</a:t>
            </a:r>
          </a:p>
        </p:txBody>
      </p:sp>
      <p:sp>
        <p:nvSpPr>
          <p:cNvPr id="8" name="">
            <a:extLst xmlns:a="http://schemas.openxmlformats.org/drawingml/2006/main">
              <a:ext uri="{FF2B5EF4-FFF2-40B4-BE49-F238E27FC236}">
                <a16:creationId xmlns:a16="http://schemas.microsoft.com/office/drawing/2014/main" id="{C7953A07-AB5E-40B4-8674-63FE99C48E4A}"/>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SOURCE UN_M49 · UN_WPP</a:t>
            </a:r>
          </a:p>
        </p:txBody>
      </p:sp>
      <p:sp>
        <p:nvSpPr>
          <p:cNvPr id="9" name="">
            <a:extLst xmlns:a="http://schemas.openxmlformats.org/drawingml/2006/main">
              <a:ext uri="{FF2B5EF4-FFF2-40B4-BE49-F238E27FC236}">
                <a16:creationId xmlns:a16="http://schemas.microsoft.com/office/drawing/2014/main" id="{FB1A4ADC-99C2-403B-A341-80C71C2CD167}"/>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71 / 98</a:t>
            </a:r>
          </a:p>
        </p:txBody>
      </p:sp>
      <p:sp>
        <p:nvSpPr>
          <p:cNvPr id="10" name="">
            <a:extLst xmlns:a="http://schemas.openxmlformats.org/drawingml/2006/main">
              <a:ext uri="{FF2B5EF4-FFF2-40B4-BE49-F238E27FC236}">
                <a16:creationId xmlns:a16="http://schemas.microsoft.com/office/drawing/2014/main" id="{7DA7B804-E0FE-4F8A-A917-9A498B597744}"/>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38c1af75948343d9" action="ppaction://hlinksldjump"/>
              </a:rPr>
              <a:t>MAIN DECK ↗</a:t>
            </a:r>
          </a:p>
        </p:txBody>
      </p:sp>
      <p:sp>
        <p:nvSpPr>
          <p:cNvPr id="11" name="">
            <a:extLst xmlns:a="http://schemas.openxmlformats.org/drawingml/2006/main">
              <a:ext uri="{FF2B5EF4-FFF2-40B4-BE49-F238E27FC236}">
                <a16:creationId xmlns:a16="http://schemas.microsoft.com/office/drawing/2014/main" id="{E4E2C040-C64C-440B-88E0-E5A9AA012D7E}"/>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06efb15ef6e44277"/>
              </a:rPr>
              <a:t>EVIDENCE ↗</a:t>
            </a:r>
          </a:p>
        </p:txBody>
      </p:sp>
    </p:spTree>
    <p:extLst>
      <p:ext uri="{BB962C8B-B14F-4D97-AF65-F5344CB8AC3E}">
        <p14:creationId xmlns:p14="http://schemas.microsoft.com/office/powerpoint/2010/main" val="941462719"/>
      </p:ext>
    </p:extLst>
  </p:cSld>
</p:sld>
</file>

<file path=ppt/slides/slide72.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4FDE018-3EB5-4EC1-9B4D-203915B7A960}"/>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TECHNICAL APPENDIX  /  72</a:t>
            </a:r>
          </a:p>
        </p:txBody>
      </p:sp>
      <p:sp>
        <p:nvSpPr>
          <p:cNvPr id="2" name="">
            <a:extLst xmlns:a="http://schemas.openxmlformats.org/drawingml/2006/main">
              <a:ext uri="{FF2B5EF4-FFF2-40B4-BE49-F238E27FC236}">
                <a16:creationId xmlns:a16="http://schemas.microsoft.com/office/drawing/2014/main" id="{C0CA5F24-C2F7-4685-9610-6509703E62EB}"/>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Rank missing data by the decision it can reverse</a:t>
            </a:r>
          </a:p>
        </p:txBody>
      </p:sp>
      <p:sp>
        <p:nvSpPr>
          <p:cNvPr id="3" name="">
            <a:extLst xmlns:a="http://schemas.openxmlformats.org/drawingml/2006/main">
              <a:ext uri="{FF2B5EF4-FFF2-40B4-BE49-F238E27FC236}">
                <a16:creationId xmlns:a16="http://schemas.microsoft.com/office/drawing/2014/main" id="{C6A4B9A4-E929-4D63-A369-04D4A03D764D}"/>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The package is a complete public-data decision scaffold; internal investment cases remain open.</a:t>
            </a:r>
          </a:p>
        </p:txBody>
      </p:sp>
      <p:sp>
        <p:nvSpPr>
          <p:cNvPr id="4" name="">
            <a:extLst xmlns:a="http://schemas.openxmlformats.org/drawingml/2006/main">
              <a:ext uri="{FF2B5EF4-FFF2-40B4-BE49-F238E27FC236}">
                <a16:creationId xmlns:a16="http://schemas.microsoft.com/office/drawing/2014/main" id="{F6F395CF-9D95-42A6-A6B1-500A5397485C}"/>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Orders, capture, prices and costs can reverse contribution, NPV and country priorities.</a:t>
            </a:r>
          </a:p>
        </p:txBody>
      </p:sp>
      <p:sp>
        <p:nvSpPr>
          <p:cNvPr id="5" name="">
            <a:extLst xmlns:a="http://schemas.openxmlformats.org/drawingml/2006/main">
              <a:ext uri="{FF2B5EF4-FFF2-40B4-BE49-F238E27FC236}">
                <a16:creationId xmlns:a16="http://schemas.microsoft.com/office/drawing/2014/main" id="{3C8A00C0-2888-4D15-BC7A-66C831778EC8}"/>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Monthly cash, FX, hedges and tax can create unfunded losses despite positive annual EBITDA.</a:t>
            </a:r>
          </a:p>
        </p:txBody>
      </p:sp>
      <p:sp>
        <p:nvSpPr>
          <p:cNvPr id="6" name="">
            <a:extLst xmlns:a="http://schemas.openxmlformats.org/drawingml/2006/main">
              <a:ext uri="{FF2B5EF4-FFF2-40B4-BE49-F238E27FC236}">
                <a16:creationId xmlns:a16="http://schemas.microsoft.com/office/drawing/2014/main" id="{DD441B82-1E96-4186-886A-3D0BA2DB8D4A}"/>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Yield, capacity, route access and rights can remove a candidate from the feasible set.</a:t>
            </a:r>
          </a:p>
        </p:txBody>
      </p:sp>
      <p:sp>
        <p:nvSpPr>
          <p:cNvPr id="7" name="">
            <a:extLst xmlns:a="http://schemas.openxmlformats.org/drawingml/2006/main">
              <a:ext uri="{FF2B5EF4-FFF2-40B4-BE49-F238E27FC236}">
                <a16:creationId xmlns:a16="http://schemas.microsoft.com/office/drawing/2014/main" id="{5613AFE6-74D2-48F2-BA58-8BC148C381DB}"/>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Asset hazards, competitors and causal adoption can reverse resilience and transferability.</a:t>
            </a:r>
          </a:p>
        </p:txBody>
      </p:sp>
      <p:sp>
        <p:nvSpPr>
          <p:cNvPr id="8" name="">
            <a:extLst xmlns:a="http://schemas.openxmlformats.org/drawingml/2006/main">
              <a:ext uri="{FF2B5EF4-FFF2-40B4-BE49-F238E27FC236}">
                <a16:creationId xmlns:a16="http://schemas.microsoft.com/office/drawing/2014/main" id="{93C559FD-9437-4DF9-884A-D71DD2B5FE07}"/>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CONDITIONAL / ILLUSTRATIVE   |   A_TEMPLATE</a:t>
            </a:r>
          </a:p>
        </p:txBody>
      </p:sp>
      <p:sp>
        <p:nvSpPr>
          <p:cNvPr id="9" name="">
            <a:extLst xmlns:a="http://schemas.openxmlformats.org/drawingml/2006/main">
              <a:ext uri="{FF2B5EF4-FFF2-40B4-BE49-F238E27FC236}">
                <a16:creationId xmlns:a16="http://schemas.microsoft.com/office/drawing/2014/main" id="{858081AC-3199-4FDB-9246-E2E03BE7EBBF}"/>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72 / 98</a:t>
            </a:r>
          </a:p>
        </p:txBody>
      </p:sp>
      <p:sp>
        <p:nvSpPr>
          <p:cNvPr id="10" name="">
            <a:extLst xmlns:a="http://schemas.openxmlformats.org/drawingml/2006/main">
              <a:ext uri="{FF2B5EF4-FFF2-40B4-BE49-F238E27FC236}">
                <a16:creationId xmlns:a16="http://schemas.microsoft.com/office/drawing/2014/main" id="{03FB2BBA-B960-4978-AC0F-52FA6D60126D}"/>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6d90dde38933468c" action="ppaction://hlinksldjump"/>
              </a:rPr>
              <a:t>MAIN DECK ↗</a:t>
            </a:r>
          </a:p>
        </p:txBody>
      </p:sp>
      <p:sp>
        <p:nvSpPr>
          <p:cNvPr id="11" name="">
            <a:extLst xmlns:a="http://schemas.openxmlformats.org/drawingml/2006/main">
              <a:ext uri="{FF2B5EF4-FFF2-40B4-BE49-F238E27FC236}">
                <a16:creationId xmlns:a16="http://schemas.microsoft.com/office/drawing/2014/main" id="{CA0C0789-7275-4685-A9B5-DED243AA66BF}"/>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72b6342196f14f63"/>
              </a:rPr>
              <a:t>EVIDENCE ↗</a:t>
            </a:r>
          </a:p>
        </p:txBody>
      </p:sp>
    </p:spTree>
    <p:extLst>
      <p:ext uri="{BB962C8B-B14F-4D97-AF65-F5344CB8AC3E}">
        <p14:creationId xmlns:p14="http://schemas.microsoft.com/office/powerpoint/2010/main" val="188071953"/>
      </p:ext>
    </p:extLst>
  </p:cSld>
</p:sld>
</file>

<file path=ppt/slides/slide73.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FC0B406-38A2-4682-9170-19A5B1E647AF}"/>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TECHNICAL APPENDIX  /  73</a:t>
            </a:r>
          </a:p>
        </p:txBody>
      </p:sp>
      <p:sp>
        <p:nvSpPr>
          <p:cNvPr id="2" name="">
            <a:extLst xmlns:a="http://schemas.openxmlformats.org/drawingml/2006/main">
              <a:ext uri="{FF2B5EF4-FFF2-40B4-BE49-F238E27FC236}">
                <a16:creationId xmlns:a16="http://schemas.microsoft.com/office/drawing/2014/main" id="{70523B72-ED6B-4CB8-97F0-8F2B2425A6CE}"/>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Refresh evidence when events or decisions change</a:t>
            </a:r>
          </a:p>
        </p:txBody>
      </p:sp>
      <p:sp>
        <p:nvSpPr>
          <p:cNvPr id="3" name="">
            <a:extLst xmlns:a="http://schemas.openxmlformats.org/drawingml/2006/main">
              <a:ext uri="{FF2B5EF4-FFF2-40B4-BE49-F238E27FC236}">
                <a16:creationId xmlns:a16="http://schemas.microsoft.com/office/drawing/2014/main" id="{8D339FE2-E15D-4D4B-817B-55FDDD54D9F8}"/>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Keep a dated reproducible version; do not silently revise the investment case.</a:t>
            </a:r>
          </a:p>
        </p:txBody>
      </p:sp>
      <p:sp>
        <p:nvSpPr>
          <p:cNvPr id="4" name="">
            <a:extLst xmlns:a="http://schemas.openxmlformats.org/drawingml/2006/main">
              <a:ext uri="{FF2B5EF4-FFF2-40B4-BE49-F238E27FC236}">
                <a16:creationId xmlns:a16="http://schemas.microsoft.com/office/drawing/2014/main" id="{2F38F261-7234-496E-A180-14D45151BAE1}"/>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Recheck company and ownership evidence at material transactions and results; preserve perimeter conflicts.</a:t>
            </a:r>
          </a:p>
        </p:txBody>
      </p:sp>
      <p:sp>
        <p:nvSpPr>
          <p:cNvPr id="5" name="">
            <a:extLst xmlns:a="http://schemas.openxmlformats.org/drawingml/2006/main">
              <a:ext uri="{FF2B5EF4-FFF2-40B4-BE49-F238E27FC236}">
                <a16:creationId xmlns:a16="http://schemas.microsoft.com/office/drawing/2014/main" id="{C125FF90-7C9E-4E36-BC6F-388FD3886E17}"/>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Legal rechecks rules, taxes, sanctions and rights before a named route commitment.</a:t>
            </a:r>
          </a:p>
        </p:txBody>
      </p:sp>
      <p:sp>
        <p:nvSpPr>
          <p:cNvPr id="6" name="">
            <a:extLst xmlns:a="http://schemas.openxmlformats.org/drawingml/2006/main">
              <a:ext uri="{FF2B5EF4-FFF2-40B4-BE49-F238E27FC236}">
                <a16:creationId xmlns:a16="http://schemas.microsoft.com/office/drawing/2014/main" id="{85065781-9CA9-4C44-97A7-3E7430CC7DFF}"/>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Review customer orders and stock cash monthly; escalate breaches immediately and test repeat after support ends.</a:t>
            </a:r>
          </a:p>
        </p:txBody>
      </p:sp>
      <p:sp>
        <p:nvSpPr>
          <p:cNvPr id="7" name="">
            <a:extLst xmlns:a="http://schemas.openxmlformats.org/drawingml/2006/main">
              <a:ext uri="{FF2B5EF4-FFF2-40B4-BE49-F238E27FC236}">
                <a16:creationId xmlns:a16="http://schemas.microsoft.com/office/drawing/2014/main" id="{1D3A756D-17BD-4ADC-94DA-4C002D49A10F}"/>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Refresh data vintages, holdouts and scenarios annually; explain changed decisions, not only better fit.</a:t>
            </a:r>
          </a:p>
        </p:txBody>
      </p:sp>
      <p:sp>
        <p:nvSpPr>
          <p:cNvPr id="8" name="">
            <a:extLst xmlns:a="http://schemas.openxmlformats.org/drawingml/2006/main">
              <a:ext uri="{FF2B5EF4-FFF2-40B4-BE49-F238E27FC236}">
                <a16:creationId xmlns:a16="http://schemas.microsoft.com/office/drawing/2014/main" id="{F8185EA5-1D4B-4C5D-A33E-781E84FCA906}"/>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CONDITIONAL / ILLUSTRATIVE</a:t>
            </a:r>
          </a:p>
        </p:txBody>
      </p:sp>
      <p:sp>
        <p:nvSpPr>
          <p:cNvPr id="9" name="">
            <a:extLst xmlns:a="http://schemas.openxmlformats.org/drawingml/2006/main">
              <a:ext uri="{FF2B5EF4-FFF2-40B4-BE49-F238E27FC236}">
                <a16:creationId xmlns:a16="http://schemas.microsoft.com/office/drawing/2014/main" id="{2EB7CDCF-0959-400F-8E05-B89614B08F26}"/>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73 / 98</a:t>
            </a:r>
          </a:p>
        </p:txBody>
      </p:sp>
      <p:sp>
        <p:nvSpPr>
          <p:cNvPr id="10" name="">
            <a:extLst xmlns:a="http://schemas.openxmlformats.org/drawingml/2006/main">
              <a:ext uri="{FF2B5EF4-FFF2-40B4-BE49-F238E27FC236}">
                <a16:creationId xmlns:a16="http://schemas.microsoft.com/office/drawing/2014/main" id="{D22C32B6-1906-4E7D-A62D-32BB554D9E18}"/>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9523460fd51942b1" action="ppaction://hlinksldjump"/>
              </a:rPr>
              <a:t>MAIN DECK ↗</a:t>
            </a:r>
          </a:p>
        </p:txBody>
      </p:sp>
      <p:sp>
        <p:nvSpPr>
          <p:cNvPr id="11" name="">
            <a:extLst xmlns:a="http://schemas.openxmlformats.org/drawingml/2006/main">
              <a:ext uri="{FF2B5EF4-FFF2-40B4-BE49-F238E27FC236}">
                <a16:creationId xmlns:a16="http://schemas.microsoft.com/office/drawing/2014/main" id="{697A4B26-EB8B-483F-BDA6-2372E39F2B62}"/>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69c43b413be342b7"/>
              </a:rPr>
              <a:t>EVIDENCE ↗</a:t>
            </a:r>
          </a:p>
        </p:txBody>
      </p:sp>
    </p:spTree>
    <p:extLst>
      <p:ext uri="{BB962C8B-B14F-4D97-AF65-F5344CB8AC3E}">
        <p14:creationId xmlns:p14="http://schemas.microsoft.com/office/powerpoint/2010/main" val="1459222986"/>
      </p:ext>
    </p:extLst>
  </p:cSld>
</p:sld>
</file>

<file path=ppt/slides/slide74.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C827AA7-7882-43F0-9099-A0990CAE9F06}"/>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TECHNICAL APPENDIX  /  74</a:t>
            </a:r>
          </a:p>
        </p:txBody>
      </p:sp>
      <p:sp>
        <p:nvSpPr>
          <p:cNvPr id="2" name="">
            <a:extLst xmlns:a="http://schemas.openxmlformats.org/drawingml/2006/main">
              <a:ext uri="{FF2B5EF4-FFF2-40B4-BE49-F238E27FC236}">
                <a16:creationId xmlns:a16="http://schemas.microsoft.com/office/drawing/2014/main" id="{1AAA97C9-FB9A-4553-B9BA-73A8992CB8FC}"/>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Starting-deck audit: every original slide receives treatment</a:t>
            </a:r>
          </a:p>
        </p:txBody>
      </p:sp>
      <p:sp>
        <p:nvSpPr>
          <p:cNvPr id="3" name="">
            <a:extLst xmlns:a="http://schemas.openxmlformats.org/drawingml/2006/main">
              <a:ext uri="{FF2B5EF4-FFF2-40B4-BE49-F238E27FC236}">
                <a16:creationId xmlns:a16="http://schemas.microsoft.com/office/drawing/2014/main" id="{FA61F382-1F63-4ED1-AB4D-D3F9DB15BC53}"/>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Detailed44-row audit retains arithmetic and replaces unsupported certainty.</a:t>
            </a:r>
          </a:p>
        </p:txBody>
      </p:sp>
      <p:sp>
        <p:nvSpPr>
          <p:cNvPr id="4" name="">
            <a:extLst xmlns:a="http://schemas.openxmlformats.org/drawingml/2006/main">
              <a:ext uri="{FF2B5EF4-FFF2-40B4-BE49-F238E27FC236}">
                <a16:creationId xmlns:a16="http://schemas.microsoft.com/office/drawing/2014/main" id="{9724F83C-168B-4574-81A5-797328A9320F}"/>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Preserve customer economics, cash discipline, the Nigeria laboratory and accurately bounded candidate experience.</a:t>
            </a:r>
          </a:p>
        </p:txBody>
      </p:sp>
      <p:sp>
        <p:nvSpPr>
          <p:cNvPr id="5" name="">
            <a:extLst xmlns:a="http://schemas.openxmlformats.org/drawingml/2006/main">
              <a:ext uri="{FF2B5EF4-FFF2-40B4-BE49-F238E27FC236}">
                <a16:creationId xmlns:a16="http://schemas.microsoft.com/office/drawing/2014/main" id="{102047FB-1460-4E28-9CB9-4E22C3C95589}"/>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Repair ownership, tonnage definitions, official projection horizons, procurement FX overlap and working-capital bases.</a:t>
            </a:r>
          </a:p>
        </p:txBody>
      </p:sp>
      <p:sp>
        <p:nvSpPr>
          <p:cNvPr id="6" name="">
            <a:extLst xmlns:a="http://schemas.openxmlformats.org/drawingml/2006/main">
              <a:ext uri="{FF2B5EF4-FFF2-40B4-BE49-F238E27FC236}">
                <a16:creationId xmlns:a16="http://schemas.microsoft.com/office/drawing/2014/main" id="{F1A065A7-1E50-4B0B-B1D3-7D42932CD7CE}"/>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Expand to 195 countries, six worlds, full cash flow, causal pilot design and a linked technical package.</a:t>
            </a:r>
          </a:p>
        </p:txBody>
      </p:sp>
      <p:sp>
        <p:nvSpPr>
          <p:cNvPr id="7" name="">
            <a:extLst xmlns:a="http://schemas.openxmlformats.org/drawingml/2006/main">
              <a:ext uri="{FF2B5EF4-FFF2-40B4-BE49-F238E27FC236}">
                <a16:creationId xmlns:a16="http://schemas.microsoft.com/office/drawing/2014/main" id="{FCFE9228-A535-49A6-9867-6A0AFFE6B6BA}"/>
              </a:ext>
            </a:extLst>
          </p:cNvPr>
          <p:cNvSpPr>
            <a:spLocks xmlns:a="http://schemas.openxmlformats.org/drawingml/2006/main" noGrp="1"/>
          </p:cNvSpPr>
          <p:nvPr/>
        </p:nvSpPr>
        <p:spPr>
          <a:xfrm xmlns:a="http://schemas.openxmlformats.org/drawingml/2006/main">
            <a:off x="609600" y="50768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Replace unverified review counts, model probability claims and implied funding with evidence and actual validation.</a:t>
            </a:r>
          </a:p>
        </p:txBody>
      </p:sp>
      <p:sp>
        <p:nvSpPr>
          <p:cNvPr id="8" name="">
            <a:extLst xmlns:a="http://schemas.openxmlformats.org/drawingml/2006/main">
              <a:ext uri="{FF2B5EF4-FFF2-40B4-BE49-F238E27FC236}">
                <a16:creationId xmlns:a16="http://schemas.microsoft.com/office/drawing/2014/main" id="{F140DF37-76B9-4EDD-879A-6A7DE5B47D27}"/>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SOURCE BASELINE</a:t>
            </a:r>
          </a:p>
        </p:txBody>
      </p:sp>
      <p:sp>
        <p:nvSpPr>
          <p:cNvPr id="9" name="">
            <a:extLst xmlns:a="http://schemas.openxmlformats.org/drawingml/2006/main">
              <a:ext uri="{FF2B5EF4-FFF2-40B4-BE49-F238E27FC236}">
                <a16:creationId xmlns:a16="http://schemas.microsoft.com/office/drawing/2014/main" id="{C14D771B-A2E8-4D5E-8BAF-CFD12C1CFAB8}"/>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74 / 98</a:t>
            </a:r>
          </a:p>
        </p:txBody>
      </p:sp>
      <p:sp>
        <p:nvSpPr>
          <p:cNvPr id="10" name="">
            <a:extLst xmlns:a="http://schemas.openxmlformats.org/drawingml/2006/main">
              <a:ext uri="{FF2B5EF4-FFF2-40B4-BE49-F238E27FC236}">
                <a16:creationId xmlns:a16="http://schemas.microsoft.com/office/drawing/2014/main" id="{DBEE42DB-9E09-4E50-8A06-5989CB7CE2CC}"/>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212a4db6d3394e23" action="ppaction://hlinksldjump"/>
              </a:rPr>
              <a:t>MAIN DECK ↗</a:t>
            </a:r>
          </a:p>
        </p:txBody>
      </p:sp>
      <p:sp>
        <p:nvSpPr>
          <p:cNvPr id="11" name="">
            <a:extLst xmlns:a="http://schemas.openxmlformats.org/drawingml/2006/main">
              <a:ext uri="{FF2B5EF4-FFF2-40B4-BE49-F238E27FC236}">
                <a16:creationId xmlns:a16="http://schemas.microsoft.com/office/drawing/2014/main" id="{CB538718-BF77-4A68-A90C-14993FB2C179}"/>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5190a70c00414e57"/>
              </a:rPr>
              <a:t>EVIDENCE ↗</a:t>
            </a:r>
          </a:p>
        </p:txBody>
      </p:sp>
    </p:spTree>
    <p:extLst>
      <p:ext uri="{BB962C8B-B14F-4D97-AF65-F5344CB8AC3E}">
        <p14:creationId xmlns:p14="http://schemas.microsoft.com/office/powerpoint/2010/main" val="207388323"/>
      </p:ext>
    </p:extLst>
  </p:cSld>
</p:sld>
</file>

<file path=ppt/slides/slide75.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056AC99-7D7A-4D57-8BF0-9B9CAE8AEC41}"/>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SOURCE APPENDIX  /  75</a:t>
            </a:r>
          </a:p>
        </p:txBody>
      </p:sp>
      <p:sp>
        <p:nvSpPr>
          <p:cNvPr id="2" name="">
            <a:extLst xmlns:a="http://schemas.openxmlformats.org/drawingml/2006/main">
              <a:ext uri="{FF2B5EF4-FFF2-40B4-BE49-F238E27FC236}">
                <a16:creationId xmlns:a16="http://schemas.microsoft.com/office/drawing/2014/main" id="{BB8039A0-CA49-4DA8-9B6A-943EE9836300}"/>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Source register / 1–6</a:t>
            </a:r>
          </a:p>
        </p:txBody>
      </p:sp>
      <p:sp>
        <p:nvSpPr>
          <p:cNvPr id="3" name="">
            <a:extLst xmlns:a="http://schemas.openxmlformats.org/drawingml/2006/main">
              <a:ext uri="{FF2B5EF4-FFF2-40B4-BE49-F238E27FC236}">
                <a16:creationId xmlns:a16="http://schemas.microsoft.com/office/drawing/2014/main" id="{2ECBB0A9-7D32-4E94-B8D8-8FC3E1925E25}"/>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Exact URLs and limitations are in the linked source book.</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3429000"/>
                <a:gridCol w="7543800"/>
              </a:tblGrid>
              <a:tr h="476250">
                <a:tc>
                  <a:txBody>
                    <a:bodyPr/>
                    <a:lstStyle/>
                    <a:p>
                      <a:r>
                        <a:rPr sz="1050" b="1">
                          <a:solidFill>
                            <a:srgbClr val="49624F"/>
                          </a:solidFill>
                          <a:latin typeface="DejaVu Sans"/>
                          <a:ea typeface="DejaVu Sans"/>
                          <a:cs typeface="DejaVu Sans"/>
                        </a:rPr>
                        <a:t>ID</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Source / pinpoint</a:t>
                      </a:r>
                    </a:p>
                  </a:txBody>
                  <a:tcPr marL="114300" marR="114300" marT="76200" marB="76200" anchor="t">
                    <a:solidFill>
                      <a:srgbClr val="E7EEE4"/>
                    </a:solidFill>
                  </a:tcPr>
                </a:tc>
              </a:tr>
              <a:tr h="476250">
                <a:tc>
                  <a:txBody>
                    <a:bodyPr/>
                    <a:lstStyle/>
                    <a:p>
                      <a:r>
                        <a:rPr sz="1050">
                          <a:solidFill>
                            <a:srgbClr val="183B2A"/>
                          </a:solidFill>
                          <a:latin typeface="DejaVu Sans"/>
                          <a:ea typeface="DejaVu Sans"/>
                          <a:cs typeface="DejaVu Sans"/>
                        </a:rPr>
                        <a:t>CO_AR</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Olam Agri Annual Report 2025 · Printed pp. 3, 10–11; CFO overview and performance charts</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CO_FACT</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Olam Agri factsheet, June 2026 · pp. 1–2; footprint, products, ownership</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CO_OWN</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Olam Group reorganisation / Olam Agri · Olam Agri section: 27 April 2026 sale and 30 June CFG share issuance</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CO_ABOUT</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Olam Agri About Us · At a glance, products and ownership blocks</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OECD</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OECD–FAO Agricultural Outlook 2026–2035 · Publication 29 June 2026; executive summary, methodology; DOI 10.1787/47874669-en</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OECD_METHOD</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Aglink-Cosimo methodology · Model overview and projection assumptions</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EDFFEEEE-FEBB-49E1-905F-A6C4D45E74AF}"/>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REPORTED FACT | SOURCE CO_AR · CO_FACT · CO_OWN · CO_ABOUT · OECD · OECD_METHOD</a:t>
            </a:r>
          </a:p>
        </p:txBody>
      </p:sp>
      <p:sp>
        <p:nvSpPr>
          <p:cNvPr id="6" name="">
            <a:extLst xmlns:a="http://schemas.openxmlformats.org/drawingml/2006/main">
              <a:ext uri="{FF2B5EF4-FFF2-40B4-BE49-F238E27FC236}">
                <a16:creationId xmlns:a16="http://schemas.microsoft.com/office/drawing/2014/main" id="{B5F9900C-4C97-44D9-AADE-2048C89ABD52}"/>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75 / 98</a:t>
            </a:r>
          </a:p>
        </p:txBody>
      </p:sp>
      <p:sp>
        <p:nvSpPr>
          <p:cNvPr id="7" name="">
            <a:extLst xmlns:a="http://schemas.openxmlformats.org/drawingml/2006/main">
              <a:ext uri="{FF2B5EF4-FFF2-40B4-BE49-F238E27FC236}">
                <a16:creationId xmlns:a16="http://schemas.microsoft.com/office/drawing/2014/main" id="{6C0480E4-DEF6-49F7-ACF7-7E8F298F2E2A}"/>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a2480e6c03a746e3" action="ppaction://hlinksldjump"/>
              </a:rPr>
              <a:t>MAIN DECK ↗</a:t>
            </a:r>
          </a:p>
        </p:txBody>
      </p:sp>
      <p:sp>
        <p:nvSpPr>
          <p:cNvPr id="8" name="">
            <a:extLst xmlns:a="http://schemas.openxmlformats.org/drawingml/2006/main">
              <a:ext uri="{FF2B5EF4-FFF2-40B4-BE49-F238E27FC236}">
                <a16:creationId xmlns:a16="http://schemas.microsoft.com/office/drawing/2014/main" id="{6BC32A58-4D21-4C5C-971F-C3323DFC9563}"/>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cf33135b585747b5"/>
              </a:rPr>
              <a:t>EVIDENCE ↗</a:t>
            </a:r>
          </a:p>
        </p:txBody>
      </p:sp>
    </p:spTree>
    <p:extLst>
      <p:ext uri="{BB962C8B-B14F-4D97-AF65-F5344CB8AC3E}">
        <p14:creationId xmlns:p14="http://schemas.microsoft.com/office/powerpoint/2010/main" val="954054340"/>
      </p:ext>
    </p:extLst>
  </p:cSld>
</p:sld>
</file>

<file path=ppt/slides/slide76.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C6AE412-909E-48CD-8150-EB44C47FD761}"/>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SOURCE APPENDIX  /  76</a:t>
            </a:r>
          </a:p>
        </p:txBody>
      </p:sp>
      <p:sp>
        <p:nvSpPr>
          <p:cNvPr id="2" name="">
            <a:extLst xmlns:a="http://schemas.openxmlformats.org/drawingml/2006/main">
              <a:ext uri="{FF2B5EF4-FFF2-40B4-BE49-F238E27FC236}">
                <a16:creationId xmlns:a16="http://schemas.microsoft.com/office/drawing/2014/main" id="{DDC14E73-5F6D-4A16-806B-9B724C9D17CA}"/>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Source register / 7–12</a:t>
            </a:r>
          </a:p>
        </p:txBody>
      </p:sp>
      <p:sp>
        <p:nvSpPr>
          <p:cNvPr id="3" name="">
            <a:extLst xmlns:a="http://schemas.openxmlformats.org/drawingml/2006/main">
              <a:ext uri="{FF2B5EF4-FFF2-40B4-BE49-F238E27FC236}">
                <a16:creationId xmlns:a16="http://schemas.microsoft.com/office/drawing/2014/main" id="{E55F9169-E67C-4633-BF40-529237579D5D}"/>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Exact URLs and limitations are in the linked source book.</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3429000"/>
                <a:gridCol w="7543800"/>
              </a:tblGrid>
              <a:tr h="476250">
                <a:tc>
                  <a:txBody>
                    <a:bodyPr/>
                    <a:lstStyle/>
                    <a:p>
                      <a:r>
                        <a:rPr sz="1050" b="1">
                          <a:solidFill>
                            <a:srgbClr val="49624F"/>
                          </a:solidFill>
                          <a:latin typeface="DejaVu Sans"/>
                          <a:ea typeface="DejaVu Sans"/>
                          <a:cs typeface="DejaVu Sans"/>
                        </a:rPr>
                        <a:t>ID</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Source / pinpoint</a:t>
                      </a:r>
                    </a:p>
                  </a:txBody>
                  <a:tcPr marL="114300" marR="114300" marT="76200" marB="76200" anchor="t">
                    <a:solidFill>
                      <a:srgbClr val="E7EEE4"/>
                    </a:solidFill>
                  </a:tcPr>
                </a:tc>
              </a:tr>
              <a:tr h="476250">
                <a:tc>
                  <a:txBody>
                    <a:bodyPr/>
                    <a:lstStyle/>
                    <a:p>
                      <a:r>
                        <a:rPr sz="1050">
                          <a:solidFill>
                            <a:srgbClr val="183B2A"/>
                          </a:solidFill>
                          <a:latin typeface="DejaVu Sans"/>
                          <a:ea typeface="DejaVu Sans"/>
                          <a:cs typeface="DejaVu Sans"/>
                        </a:rPr>
                        <a:t>UN_M49</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UN Statistics Division M49 · Country/area codes and region/subregion table</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UN_MEMBERS</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UN Dag Hammarskjöld Library: current member states · All 193 country sections, crosswalked to UN M49 ISO3</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UN_OBSERVERS</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UN Dag Hammarskjöld Library: non-member observers · Holy See and State of Palestine sections</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UN_WPP</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UN World Population Prospects 2024 · Medium variant sheet; country rows at 2026, 2030, 2035, 2040, 2045, 2050, 2051</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WB_population</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World Bank WDI: SP.POP.TOTL · Source 2; series and country/year records, update 2026-07-13</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WB_income_ppp</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World Bank WDI: NY.GDP.PCAP.PP.KD · Source 2; series and country/year records, update 2026-07-13</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BF1ADF9A-FF2D-4ACE-ABA3-4A328D7737CB}"/>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REPORTED FACT | SOURCE UN_M49 · UN_MEMBERS · UN_OBSERVERS · UN_WPP · WB_population · WB_income_ppp</a:t>
            </a:r>
          </a:p>
        </p:txBody>
      </p:sp>
      <p:sp>
        <p:nvSpPr>
          <p:cNvPr id="6" name="">
            <a:extLst xmlns:a="http://schemas.openxmlformats.org/drawingml/2006/main">
              <a:ext uri="{FF2B5EF4-FFF2-40B4-BE49-F238E27FC236}">
                <a16:creationId xmlns:a16="http://schemas.microsoft.com/office/drawing/2014/main" id="{5B616F76-AEAF-4129-AE9A-29269DEFB137}"/>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76 / 98</a:t>
            </a:r>
          </a:p>
        </p:txBody>
      </p:sp>
      <p:sp>
        <p:nvSpPr>
          <p:cNvPr id="7" name="">
            <a:extLst xmlns:a="http://schemas.openxmlformats.org/drawingml/2006/main">
              <a:ext uri="{FF2B5EF4-FFF2-40B4-BE49-F238E27FC236}">
                <a16:creationId xmlns:a16="http://schemas.microsoft.com/office/drawing/2014/main" id="{8BEFA552-CA01-4EB2-9B7E-AC0F54EDEB7F}"/>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d7dad2e015ac4559" action="ppaction://hlinksldjump"/>
              </a:rPr>
              <a:t>MAIN DECK ↗</a:t>
            </a:r>
          </a:p>
        </p:txBody>
      </p:sp>
      <p:sp>
        <p:nvSpPr>
          <p:cNvPr id="8" name="">
            <a:extLst xmlns:a="http://schemas.openxmlformats.org/drawingml/2006/main">
              <a:ext uri="{FF2B5EF4-FFF2-40B4-BE49-F238E27FC236}">
                <a16:creationId xmlns:a16="http://schemas.microsoft.com/office/drawing/2014/main" id="{6A4252D8-DB61-4807-9901-514D95185C88}"/>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19f6ede07b1747b2"/>
              </a:rPr>
              <a:t>EVIDENCE ↗</a:t>
            </a:r>
          </a:p>
        </p:txBody>
      </p:sp>
    </p:spTree>
    <p:extLst>
      <p:ext uri="{BB962C8B-B14F-4D97-AF65-F5344CB8AC3E}">
        <p14:creationId xmlns:p14="http://schemas.microsoft.com/office/powerpoint/2010/main" val="1446001604"/>
      </p:ext>
    </p:extLst>
  </p:cSld>
</p:sld>
</file>

<file path=ppt/slides/slide77.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DB8E6D1-C526-42B6-A3E5-9C500E8989D4}"/>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SOURCE APPENDIX  /  77</a:t>
            </a:r>
          </a:p>
        </p:txBody>
      </p:sp>
      <p:sp>
        <p:nvSpPr>
          <p:cNvPr id="2" name="">
            <a:extLst xmlns:a="http://schemas.openxmlformats.org/drawingml/2006/main">
              <a:ext uri="{FF2B5EF4-FFF2-40B4-BE49-F238E27FC236}">
                <a16:creationId xmlns:a16="http://schemas.microsoft.com/office/drawing/2014/main" id="{8D394FA2-14F8-4A6B-BC8E-6F7112367F6C}"/>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Source register / 13–18</a:t>
            </a:r>
          </a:p>
        </p:txBody>
      </p:sp>
      <p:sp>
        <p:nvSpPr>
          <p:cNvPr id="3" name="">
            <a:extLst xmlns:a="http://schemas.openxmlformats.org/drawingml/2006/main">
              <a:ext uri="{FF2B5EF4-FFF2-40B4-BE49-F238E27FC236}">
                <a16:creationId xmlns:a16="http://schemas.microsoft.com/office/drawing/2014/main" id="{2F1285A6-C747-4B5B-9283-9359181D20AF}"/>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Exact URLs and limitations are in the linked source book.</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3429000"/>
                <a:gridCol w="7543800"/>
              </a:tblGrid>
              <a:tr h="476250">
                <a:tc>
                  <a:txBody>
                    <a:bodyPr/>
                    <a:lstStyle/>
                    <a:p>
                      <a:r>
                        <a:rPr sz="1050" b="1">
                          <a:solidFill>
                            <a:srgbClr val="49624F"/>
                          </a:solidFill>
                          <a:latin typeface="DejaVu Sans"/>
                          <a:ea typeface="DejaVu Sans"/>
                          <a:cs typeface="DejaVu Sans"/>
                        </a:rPr>
                        <a:t>ID</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Source / pinpoint</a:t>
                      </a:r>
                    </a:p>
                  </a:txBody>
                  <a:tcPr marL="114300" marR="114300" marT="76200" marB="76200" anchor="t">
                    <a:solidFill>
                      <a:srgbClr val="E7EEE4"/>
                    </a:solidFill>
                  </a:tcPr>
                </a:tc>
              </a:tr>
              <a:tr h="476250">
                <a:tc>
                  <a:txBody>
                    <a:bodyPr/>
                    <a:lstStyle/>
                    <a:p>
                      <a:r>
                        <a:rPr sz="1050">
                          <a:solidFill>
                            <a:srgbClr val="183B2A"/>
                          </a:solidFill>
                          <a:latin typeface="DejaVu Sans"/>
                          <a:ea typeface="DejaVu Sans"/>
                          <a:cs typeface="DejaVu Sans"/>
                        </a:rPr>
                        <a:t>WB_urban</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World Bank WDI: SP.URB.TOTL.IN.ZS · Source 2; series and country/year records, update 2026-07-13</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WB_inflation</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World Bank WDI: FP.CPI.TOTL.ZG · Source 2; series and country/year records, update 2026-07-13</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WB_food_index</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World Bank WDI: AG.PRD.FOOD.XD · Source 2; series and country/year records, update 2026-07-13</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WB_food_import_share</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World Bank WDI: TM.VAL.FOOD.ZS.UN · Source 2; series and country/year records, update 2026-07-13</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WB_food_export_share</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World Bank WDI: TX.VAL.FOOD.ZS.UN · Source 2; series and country/year records, update 2026-07-13</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WB_imports_usd</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World Bank WDI: TM.VAL.MRCH.CD.WT · Source 2; series and country/year records, update 2026-07-13</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5C64B803-A7CD-4737-A357-18916B657F18}"/>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REPORTED FACT | SOURCE WB_urban · WB_inflation · WB_food_index · WB_food_import_share · WB_food_export_share · WB_imports_usd</a:t>
            </a:r>
          </a:p>
        </p:txBody>
      </p:sp>
      <p:sp>
        <p:nvSpPr>
          <p:cNvPr id="6" name="">
            <a:extLst xmlns:a="http://schemas.openxmlformats.org/drawingml/2006/main">
              <a:ext uri="{FF2B5EF4-FFF2-40B4-BE49-F238E27FC236}">
                <a16:creationId xmlns:a16="http://schemas.microsoft.com/office/drawing/2014/main" id="{41AA808D-A42B-400B-BB0E-2D634340DA19}"/>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77 / 98</a:t>
            </a:r>
          </a:p>
        </p:txBody>
      </p:sp>
      <p:sp>
        <p:nvSpPr>
          <p:cNvPr id="7" name="">
            <a:extLst xmlns:a="http://schemas.openxmlformats.org/drawingml/2006/main">
              <a:ext uri="{FF2B5EF4-FFF2-40B4-BE49-F238E27FC236}">
                <a16:creationId xmlns:a16="http://schemas.microsoft.com/office/drawing/2014/main" id="{01C6D2F2-492F-459E-80A7-B592B25D3D82}"/>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4c7da64a6d9742d4" action="ppaction://hlinksldjump"/>
              </a:rPr>
              <a:t>MAIN DECK ↗</a:t>
            </a:r>
          </a:p>
        </p:txBody>
      </p:sp>
      <p:sp>
        <p:nvSpPr>
          <p:cNvPr id="8" name="">
            <a:extLst xmlns:a="http://schemas.openxmlformats.org/drawingml/2006/main">
              <a:ext uri="{FF2B5EF4-FFF2-40B4-BE49-F238E27FC236}">
                <a16:creationId xmlns:a16="http://schemas.microsoft.com/office/drawing/2014/main" id="{F6372645-423F-49D5-9624-39F5F8CB107F}"/>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d5f6c49b021b41e2"/>
              </a:rPr>
              <a:t>EVIDENCE ↗</a:t>
            </a:r>
          </a:p>
        </p:txBody>
      </p:sp>
    </p:spTree>
    <p:extLst>
      <p:ext uri="{BB962C8B-B14F-4D97-AF65-F5344CB8AC3E}">
        <p14:creationId xmlns:p14="http://schemas.microsoft.com/office/powerpoint/2010/main" val="862859450"/>
      </p:ext>
    </p:extLst>
  </p:cSld>
</p:sld>
</file>

<file path=ppt/slides/slide78.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6943E2A-4729-481A-872C-32AC349C7B89}"/>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SOURCE APPENDIX  /  78</a:t>
            </a:r>
          </a:p>
        </p:txBody>
      </p:sp>
      <p:sp>
        <p:nvSpPr>
          <p:cNvPr id="2" name="">
            <a:extLst xmlns:a="http://schemas.openxmlformats.org/drawingml/2006/main">
              <a:ext uri="{FF2B5EF4-FFF2-40B4-BE49-F238E27FC236}">
                <a16:creationId xmlns:a16="http://schemas.microsoft.com/office/drawing/2014/main" id="{365DA694-AA0D-49FF-BA77-874281A2C89A}"/>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Source register / 19–24</a:t>
            </a:r>
          </a:p>
        </p:txBody>
      </p:sp>
      <p:sp>
        <p:nvSpPr>
          <p:cNvPr id="3" name="">
            <a:extLst xmlns:a="http://schemas.openxmlformats.org/drawingml/2006/main">
              <a:ext uri="{FF2B5EF4-FFF2-40B4-BE49-F238E27FC236}">
                <a16:creationId xmlns:a16="http://schemas.microsoft.com/office/drawing/2014/main" id="{E5377A1C-0F00-4E81-B317-D09ECC01E334}"/>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Exact URLs and limitations are in the linked source book.</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3429000"/>
                <a:gridCol w="7543800"/>
              </a:tblGrid>
              <a:tr h="476250">
                <a:tc>
                  <a:txBody>
                    <a:bodyPr/>
                    <a:lstStyle/>
                    <a:p>
                      <a:r>
                        <a:rPr sz="1050" b="1">
                          <a:solidFill>
                            <a:srgbClr val="49624F"/>
                          </a:solidFill>
                          <a:latin typeface="DejaVu Sans"/>
                          <a:ea typeface="DejaVu Sans"/>
                          <a:cs typeface="DejaVu Sans"/>
                        </a:rPr>
                        <a:t>ID</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Source / pinpoint</a:t>
                      </a:r>
                    </a:p>
                  </a:txBody>
                  <a:tcPr marL="114300" marR="114300" marT="76200" marB="76200" anchor="t">
                    <a:solidFill>
                      <a:srgbClr val="E7EEE4"/>
                    </a:solidFill>
                  </a:tcPr>
                </a:tc>
              </a:tr>
              <a:tr h="476250">
                <a:tc>
                  <a:txBody>
                    <a:bodyPr/>
                    <a:lstStyle/>
                    <a:p>
                      <a:r>
                        <a:rPr sz="1050">
                          <a:solidFill>
                            <a:srgbClr val="183B2A"/>
                          </a:solidFill>
                          <a:latin typeface="DejaVu Sans"/>
                          <a:ea typeface="DejaVu Sans"/>
                          <a:cs typeface="DejaVu Sans"/>
                        </a:rPr>
                        <a:t>WB_exports_usd</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World Bank WDI: TX.VAL.MRCH.CD.WT · Source 2; series and country/year records, update 2026-07-13</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WB_cereal_yield</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World Bank WDI: AG.YLD.CREL.KG · Source 2; series and country/year records, update 2026-07-13</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WB_water_stress</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World Bank WDI: ER.H2O.FWST.ZS · Source 2; series and country/year records, update 2026-07-13</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CO_NGA</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Olam Agri Nigeria · Country capability/product sections</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CO_GHA</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Olam Agri Ghana · Country capability/product sections</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CO_SEN</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Olam Agri Senegal · Country capability/product sections</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7DBF2609-ECBC-4ADC-992D-D7812B960E23}"/>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REPORTED FACT | SOURCE WB_exports_usd · WB_cereal_yield · WB_water_stress · CO_NGA · CO_GHA · CO_SEN</a:t>
            </a:r>
          </a:p>
        </p:txBody>
      </p:sp>
      <p:sp>
        <p:nvSpPr>
          <p:cNvPr id="6" name="">
            <a:extLst xmlns:a="http://schemas.openxmlformats.org/drawingml/2006/main">
              <a:ext uri="{FF2B5EF4-FFF2-40B4-BE49-F238E27FC236}">
                <a16:creationId xmlns:a16="http://schemas.microsoft.com/office/drawing/2014/main" id="{8381AAF1-8068-4F58-BCF7-4721A64483C6}"/>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78 / 98</a:t>
            </a:r>
          </a:p>
        </p:txBody>
      </p:sp>
      <p:sp>
        <p:nvSpPr>
          <p:cNvPr id="7" name="">
            <a:extLst xmlns:a="http://schemas.openxmlformats.org/drawingml/2006/main">
              <a:ext uri="{FF2B5EF4-FFF2-40B4-BE49-F238E27FC236}">
                <a16:creationId xmlns:a16="http://schemas.microsoft.com/office/drawing/2014/main" id="{7E9EEA93-A879-455F-B4C9-8B079368F725}"/>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55808de9896c4e74" action="ppaction://hlinksldjump"/>
              </a:rPr>
              <a:t>MAIN DECK ↗</a:t>
            </a:r>
          </a:p>
        </p:txBody>
      </p:sp>
      <p:sp>
        <p:nvSpPr>
          <p:cNvPr id="8" name="">
            <a:extLst xmlns:a="http://schemas.openxmlformats.org/drawingml/2006/main">
              <a:ext uri="{FF2B5EF4-FFF2-40B4-BE49-F238E27FC236}">
                <a16:creationId xmlns:a16="http://schemas.microsoft.com/office/drawing/2014/main" id="{F4CC366D-CF33-45CA-B2A2-E1C7F6FA9DE6}"/>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d9091fd5463e4dce"/>
              </a:rPr>
              <a:t>EVIDENCE ↗</a:t>
            </a:r>
          </a:p>
        </p:txBody>
      </p:sp>
    </p:spTree>
    <p:extLst>
      <p:ext uri="{BB962C8B-B14F-4D97-AF65-F5344CB8AC3E}">
        <p14:creationId xmlns:p14="http://schemas.microsoft.com/office/powerpoint/2010/main" val="782191511"/>
      </p:ext>
    </p:extLst>
  </p:cSld>
</p:sld>
</file>

<file path=ppt/slides/slide79.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44D1254-4A3F-41AB-A5F7-ACACA9B085FC}"/>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SOURCE APPENDIX  /  79</a:t>
            </a:r>
          </a:p>
        </p:txBody>
      </p:sp>
      <p:sp>
        <p:nvSpPr>
          <p:cNvPr id="2" name="">
            <a:extLst xmlns:a="http://schemas.openxmlformats.org/drawingml/2006/main">
              <a:ext uri="{FF2B5EF4-FFF2-40B4-BE49-F238E27FC236}">
                <a16:creationId xmlns:a16="http://schemas.microsoft.com/office/drawing/2014/main" id="{2794402B-016A-4054-8A10-B6D4C923DCC2}"/>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Source register / 25–30</a:t>
            </a:r>
          </a:p>
        </p:txBody>
      </p:sp>
      <p:sp>
        <p:nvSpPr>
          <p:cNvPr id="3" name="">
            <a:extLst xmlns:a="http://schemas.openxmlformats.org/drawingml/2006/main">
              <a:ext uri="{FF2B5EF4-FFF2-40B4-BE49-F238E27FC236}">
                <a16:creationId xmlns:a16="http://schemas.microsoft.com/office/drawing/2014/main" id="{B780D5C2-E850-4306-BF5E-378D93C2D97B}"/>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Exact URLs and limitations are in the linked source book.</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3429000"/>
                <a:gridCol w="7543800"/>
              </a:tblGrid>
              <a:tr h="476250">
                <a:tc>
                  <a:txBody>
                    <a:bodyPr/>
                    <a:lstStyle/>
                    <a:p>
                      <a:r>
                        <a:rPr sz="1050" b="1">
                          <a:solidFill>
                            <a:srgbClr val="49624F"/>
                          </a:solidFill>
                          <a:latin typeface="DejaVu Sans"/>
                          <a:ea typeface="DejaVu Sans"/>
                          <a:cs typeface="DejaVu Sans"/>
                        </a:rPr>
                        <a:t>ID</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Source / pinpoint</a:t>
                      </a:r>
                    </a:p>
                  </a:txBody>
                  <a:tcPr marL="114300" marR="114300" marT="76200" marB="76200" anchor="t">
                    <a:solidFill>
                      <a:srgbClr val="E7EEE4"/>
                    </a:solidFill>
                  </a:tcPr>
                </a:tc>
              </a:tr>
              <a:tr h="476250">
                <a:tc>
                  <a:txBody>
                    <a:bodyPr/>
                    <a:lstStyle/>
                    <a:p>
                      <a:r>
                        <a:rPr sz="1050">
                          <a:solidFill>
                            <a:srgbClr val="183B2A"/>
                          </a:solidFill>
                          <a:latin typeface="DejaVu Sans"/>
                          <a:ea typeface="DejaVu Sans"/>
                          <a:cs typeface="DejaVu Sans"/>
                        </a:rPr>
                        <a:t>CO_CMR</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Olam Agri Cameroon · Country capability/product sections</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CO_MOZ</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Olam Agri Mozambique · Country capability/product sections</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CO_ZAF</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Olam Agri South-Africa · Country capability/product sections</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CO_IND</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Olam Agri India · Country capability/product sections</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CO_VNM</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Olam Agri Vietnam · Country capability/product sections</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CO_BRA</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Olam Agri Brazil · Country capability/product sections</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1190C9B1-47C6-47CA-B98E-CFDFDED6DB7E}"/>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REPORTED FACT | SOURCE CO_CMR · CO_MOZ · CO_ZAF · CO_IND · CO_VNM · CO_BRA</a:t>
            </a:r>
          </a:p>
        </p:txBody>
      </p:sp>
      <p:sp>
        <p:nvSpPr>
          <p:cNvPr id="6" name="">
            <a:extLst xmlns:a="http://schemas.openxmlformats.org/drawingml/2006/main">
              <a:ext uri="{FF2B5EF4-FFF2-40B4-BE49-F238E27FC236}">
                <a16:creationId xmlns:a16="http://schemas.microsoft.com/office/drawing/2014/main" id="{DFE5B854-8FC4-4894-A89A-2B9EF7F9AB50}"/>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79 / 98</a:t>
            </a:r>
          </a:p>
        </p:txBody>
      </p:sp>
      <p:sp>
        <p:nvSpPr>
          <p:cNvPr id="7" name="">
            <a:extLst xmlns:a="http://schemas.openxmlformats.org/drawingml/2006/main">
              <a:ext uri="{FF2B5EF4-FFF2-40B4-BE49-F238E27FC236}">
                <a16:creationId xmlns:a16="http://schemas.microsoft.com/office/drawing/2014/main" id="{1ED65766-7E59-4EA0-A596-1CA3AF592284}"/>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9dc2609bf3224054" action="ppaction://hlinksldjump"/>
              </a:rPr>
              <a:t>MAIN DECK ↗</a:t>
            </a:r>
          </a:p>
        </p:txBody>
      </p:sp>
      <p:sp>
        <p:nvSpPr>
          <p:cNvPr id="8" name="">
            <a:extLst xmlns:a="http://schemas.openxmlformats.org/drawingml/2006/main">
              <a:ext uri="{FF2B5EF4-FFF2-40B4-BE49-F238E27FC236}">
                <a16:creationId xmlns:a16="http://schemas.microsoft.com/office/drawing/2014/main" id="{27531176-0D73-4315-B9C3-C86EE05C0E05}"/>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fec3f0c1f0b64fce"/>
              </a:rPr>
              <a:t>EVIDENCE ↗</a:t>
            </a:r>
          </a:p>
        </p:txBody>
      </p:sp>
    </p:spTree>
    <p:extLst>
      <p:ext uri="{BB962C8B-B14F-4D97-AF65-F5344CB8AC3E}">
        <p14:creationId xmlns:p14="http://schemas.microsoft.com/office/powerpoint/2010/main" val="1907291095"/>
      </p:ext>
    </p:extLst>
  </p:cSld>
</p:sld>
</file>

<file path=ppt/slides/slide80.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331D93-06BE-4B4E-AA96-87F7E4D45B3F}"/>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SOURCE APPENDIX  /  80</a:t>
            </a:r>
          </a:p>
        </p:txBody>
      </p:sp>
      <p:sp>
        <p:nvSpPr>
          <p:cNvPr id="2" name="">
            <a:extLst xmlns:a="http://schemas.openxmlformats.org/drawingml/2006/main">
              <a:ext uri="{FF2B5EF4-FFF2-40B4-BE49-F238E27FC236}">
                <a16:creationId xmlns:a16="http://schemas.microsoft.com/office/drawing/2014/main" id="{C021DCB5-7E14-4373-8B40-1E3F3A383D25}"/>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Source register / 31–36</a:t>
            </a:r>
          </a:p>
        </p:txBody>
      </p:sp>
      <p:sp>
        <p:nvSpPr>
          <p:cNvPr id="3" name="">
            <a:extLst xmlns:a="http://schemas.openxmlformats.org/drawingml/2006/main">
              <a:ext uri="{FF2B5EF4-FFF2-40B4-BE49-F238E27FC236}">
                <a16:creationId xmlns:a16="http://schemas.microsoft.com/office/drawing/2014/main" id="{6728FBF1-34CE-4210-B70F-338A3BD779CB}"/>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Exact URLs and limitations are in the linked source book.</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3429000"/>
                <a:gridCol w="7543800"/>
              </a:tblGrid>
              <a:tr h="476250">
                <a:tc>
                  <a:txBody>
                    <a:bodyPr/>
                    <a:lstStyle/>
                    <a:p>
                      <a:r>
                        <a:rPr sz="1050" b="1">
                          <a:solidFill>
                            <a:srgbClr val="49624F"/>
                          </a:solidFill>
                          <a:latin typeface="DejaVu Sans"/>
                          <a:ea typeface="DejaVu Sans"/>
                          <a:cs typeface="DejaVu Sans"/>
                        </a:rPr>
                        <a:t>ID</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Source / pinpoint</a:t>
                      </a:r>
                    </a:p>
                  </a:txBody>
                  <a:tcPr marL="114300" marR="114300" marT="76200" marB="76200" anchor="t">
                    <a:solidFill>
                      <a:srgbClr val="E7EEE4"/>
                    </a:solidFill>
                  </a:tcPr>
                </a:tc>
              </a:tr>
              <a:tr h="476250">
                <a:tc>
                  <a:txBody>
                    <a:bodyPr/>
                    <a:lstStyle/>
                    <a:p>
                      <a:r>
                        <a:rPr sz="1050">
                          <a:solidFill>
                            <a:srgbClr val="183B2A"/>
                          </a:solidFill>
                          <a:latin typeface="DejaVu Sans"/>
                          <a:ea typeface="DejaVu Sans"/>
                          <a:cs typeface="DejaVu Sans"/>
                        </a:rPr>
                        <a:t>IPCC</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IPCC AR6 WGII Chapter 5: Food · Chapter 5; food system risks, adaptation and regional limits</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WMO</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WMO State of the Global Climate 2025 · 23 March 2026 release; global temperature and climate indicators</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EUDR</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EU Regulation 2023/1115 · Articles 3–4 and commodity/product annex</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USDA_NGA</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USDA Nigeria Grain and Feed Annual 2026 · Wheat supply/trade and flour-demand narrative</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USDA_OIL</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USDA Nigeria fiscal and trade policy changes 2026 · Oilseeds/products and crude/refined policy discussion</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COMTRADE</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UN Comtrade Nigeria wheat import preview · 2024, reporter 566, HS 1001, flow M, partner 0</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91A8EFF1-95E4-48D1-8CCF-B1C2EC10F2BB}"/>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REPORTED FACT | SOURCE IPCC · WMO · EUDR · USDA_NGA · USDA_OIL · COMTRADE</a:t>
            </a:r>
          </a:p>
        </p:txBody>
      </p:sp>
      <p:sp>
        <p:nvSpPr>
          <p:cNvPr id="6" name="">
            <a:extLst xmlns:a="http://schemas.openxmlformats.org/drawingml/2006/main">
              <a:ext uri="{FF2B5EF4-FFF2-40B4-BE49-F238E27FC236}">
                <a16:creationId xmlns:a16="http://schemas.microsoft.com/office/drawing/2014/main" id="{2A1AD542-19FE-492D-8FBC-9BBD501A72AB}"/>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80 / 98</a:t>
            </a:r>
          </a:p>
        </p:txBody>
      </p:sp>
      <p:sp>
        <p:nvSpPr>
          <p:cNvPr id="7" name="">
            <a:extLst xmlns:a="http://schemas.openxmlformats.org/drawingml/2006/main">
              <a:ext uri="{FF2B5EF4-FFF2-40B4-BE49-F238E27FC236}">
                <a16:creationId xmlns:a16="http://schemas.microsoft.com/office/drawing/2014/main" id="{F8880FAF-2962-476A-BB7D-413F7AEA32E4}"/>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ef254ffc505b4cee" action="ppaction://hlinksldjump"/>
              </a:rPr>
              <a:t>MAIN DECK ↗</a:t>
            </a:r>
          </a:p>
        </p:txBody>
      </p:sp>
      <p:sp>
        <p:nvSpPr>
          <p:cNvPr id="8" name="">
            <a:extLst xmlns:a="http://schemas.openxmlformats.org/drawingml/2006/main">
              <a:ext uri="{FF2B5EF4-FFF2-40B4-BE49-F238E27FC236}">
                <a16:creationId xmlns:a16="http://schemas.microsoft.com/office/drawing/2014/main" id="{789F1338-8C29-49CD-B9EE-1203FAA32B96}"/>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acc962c016c54612"/>
              </a:rPr>
              <a:t>EVIDENCE ↗</a:t>
            </a:r>
          </a:p>
        </p:txBody>
      </p:sp>
    </p:spTree>
    <p:extLst>
      <p:ext uri="{BB962C8B-B14F-4D97-AF65-F5344CB8AC3E}">
        <p14:creationId xmlns:p14="http://schemas.microsoft.com/office/powerpoint/2010/main" val="776959657"/>
      </p:ext>
    </p:extLst>
  </p:cSld>
</p:sld>
</file>

<file path=ppt/slides/slide81.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6158B90-28C9-42D1-9FCC-D625005A12B2}"/>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SOURCE APPENDIX  /  81</a:t>
            </a:r>
          </a:p>
        </p:txBody>
      </p:sp>
      <p:sp>
        <p:nvSpPr>
          <p:cNvPr id="2" name="">
            <a:extLst xmlns:a="http://schemas.openxmlformats.org/drawingml/2006/main">
              <a:ext uri="{FF2B5EF4-FFF2-40B4-BE49-F238E27FC236}">
                <a16:creationId xmlns:a16="http://schemas.microsoft.com/office/drawing/2014/main" id="{76040C9E-6DDC-4A38-B95E-906ACBC10598}"/>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Source register / 37–42</a:t>
            </a:r>
          </a:p>
        </p:txBody>
      </p:sp>
      <p:sp>
        <p:nvSpPr>
          <p:cNvPr id="3" name="">
            <a:extLst xmlns:a="http://schemas.openxmlformats.org/drawingml/2006/main">
              <a:ext uri="{FF2B5EF4-FFF2-40B4-BE49-F238E27FC236}">
                <a16:creationId xmlns:a16="http://schemas.microsoft.com/office/drawing/2014/main" id="{05DD4ABA-CBEB-4718-98FE-6ECCFCD7CA71}"/>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Exact URLs and limitations are in the linked source book.</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3429000"/>
                <a:gridCol w="7543800"/>
              </a:tblGrid>
              <a:tr h="476250">
                <a:tc>
                  <a:txBody>
                    <a:bodyPr/>
                    <a:lstStyle/>
                    <a:p>
                      <a:r>
                        <a:rPr sz="1050" b="1">
                          <a:solidFill>
                            <a:srgbClr val="49624F"/>
                          </a:solidFill>
                          <a:latin typeface="DejaVu Sans"/>
                          <a:ea typeface="DejaVu Sans"/>
                          <a:cs typeface="DejaVu Sans"/>
                        </a:rPr>
                        <a:t>ID</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Source / pinpoint</a:t>
                      </a:r>
                    </a:p>
                  </a:txBody>
                  <a:tcPr marL="114300" marR="114300" marT="76200" marB="76200" anchor="t">
                    <a:solidFill>
                      <a:srgbClr val="E7EEE4"/>
                    </a:solidFill>
                  </a:tcPr>
                </a:tc>
              </a:tr>
              <a:tr h="476250">
                <a:tc>
                  <a:txBody>
                    <a:bodyPr/>
                    <a:lstStyle/>
                    <a:p>
                      <a:r>
                        <a:rPr sz="1050">
                          <a:solidFill>
                            <a:srgbClr val="183B2A"/>
                          </a:solidFill>
                          <a:latin typeface="DejaVu Sans"/>
                          <a:ea typeface="DejaVu Sans"/>
                          <a:cs typeface="DejaVu Sans"/>
                        </a:rPr>
                        <a:t>CVAR</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Rockafellar &amp; Uryasev: Optimization of CVaR · Loss definition and CVaR optimisation formulation</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DID</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Callaway &amp; Sant’Anna: Difference-in-differences · arXiv 1803.09015; identification with multiple time periods</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NOBEL_2003</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Economic Sciences prize 2003 · Prize motivation and research contribution</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NOBEL_2018</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Economic Sciences prize 2018 · Prize motivation and research contribution</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NOBEL_2021</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Economic Sciences prize 2021 · Prize motivation and research contribution</a:t>
                      </a:r>
                    </a:p>
                  </a:txBody>
                  <a:tcPr marL="114300" marR="114300" marT="76200" marB="76200" anchor="t">
                    <a:solidFill>
                      <a:srgbClr val="FFFEF9"/>
                    </a:solidFill>
                  </a:tcPr>
                </a:tc>
              </a:tr>
              <a:tr h="476250">
                <a:tc>
                  <a:txBody>
                    <a:bodyPr/>
                    <a:lstStyle/>
                    <a:p>
                      <a:r>
                        <a:rPr sz="1050">
                          <a:solidFill>
                            <a:srgbClr val="183B2A"/>
                          </a:solidFill>
                          <a:latin typeface="DejaVu Sans"/>
                          <a:ea typeface="DejaVu Sans"/>
                          <a:cs typeface="DejaVu Sans"/>
                        </a:rPr>
                        <a:t>BASELINE</a:t>
                      </a:r>
                    </a:p>
                  </a:txBody>
                  <a:tcPr marL="114300" marR="114300" marT="76200" marB="76200" anchor="t">
                    <a:solidFill>
                      <a:srgbClr val="FFFEF9"/>
                    </a:solidFill>
                  </a:tcPr>
                </a:tc>
                <a:tc>
                  <a:txBody>
                    <a:bodyPr/>
                    <a:lstStyle/>
                    <a:p>
                      <a:r>
                        <a:rPr sz="1050">
                          <a:solidFill>
                            <a:srgbClr val="183B2A"/>
                          </a:solidFill>
                          <a:latin typeface="DejaVu Sans"/>
                          <a:ea typeface="DejaVu Sans"/>
                          <a:cs typeface="DejaVu Sans"/>
                        </a:rPr>
                        <a:t>Portfolio baseline and résumé · src/data/olamAfricaStrategy.ts; src/lib/olamNigeriaDecisionModel.ts; src/data/resume.ts</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DB949164-F1CC-417B-8B45-9B2193BA45A7}"/>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REPORTED FACT | SOURCE CVAR · DID · NOBEL_2003 · NOBEL_2018 · NOBEL_2021 · BASELINE</a:t>
            </a:r>
          </a:p>
        </p:txBody>
      </p:sp>
      <p:sp>
        <p:nvSpPr>
          <p:cNvPr id="6" name="">
            <a:extLst xmlns:a="http://schemas.openxmlformats.org/drawingml/2006/main">
              <a:ext uri="{FF2B5EF4-FFF2-40B4-BE49-F238E27FC236}">
                <a16:creationId xmlns:a16="http://schemas.microsoft.com/office/drawing/2014/main" id="{0A39509E-F159-42F9-9239-319DCA1D3F0C}"/>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81 / 98</a:t>
            </a:r>
          </a:p>
        </p:txBody>
      </p:sp>
      <p:sp>
        <p:nvSpPr>
          <p:cNvPr id="7" name="">
            <a:extLst xmlns:a="http://schemas.openxmlformats.org/drawingml/2006/main">
              <a:ext uri="{FF2B5EF4-FFF2-40B4-BE49-F238E27FC236}">
                <a16:creationId xmlns:a16="http://schemas.microsoft.com/office/drawing/2014/main" id="{5502915C-5D3D-40F9-989F-1B826917BEF2}"/>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78bd80ee8b364eaf" action="ppaction://hlinksldjump"/>
              </a:rPr>
              <a:t>MAIN DECK ↗</a:t>
            </a:r>
          </a:p>
        </p:txBody>
      </p:sp>
      <p:sp>
        <p:nvSpPr>
          <p:cNvPr id="8" name="">
            <a:extLst xmlns:a="http://schemas.openxmlformats.org/drawingml/2006/main">
              <a:ext uri="{FF2B5EF4-FFF2-40B4-BE49-F238E27FC236}">
                <a16:creationId xmlns:a16="http://schemas.microsoft.com/office/drawing/2014/main" id="{CC4D9492-BE4F-499B-BE5C-D83E846AD348}"/>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1c84bf8cf7ea4b14"/>
              </a:rPr>
              <a:t>EVIDENCE ↗</a:t>
            </a:r>
          </a:p>
        </p:txBody>
      </p:sp>
    </p:spTree>
    <p:extLst>
      <p:ext uri="{BB962C8B-B14F-4D97-AF65-F5344CB8AC3E}">
        <p14:creationId xmlns:p14="http://schemas.microsoft.com/office/powerpoint/2010/main" val="1952993395"/>
      </p:ext>
    </p:extLst>
  </p:cSld>
</p:sld>
</file>

<file path=ppt/slides/slide82.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AE6AA1A-063F-4014-8790-37448CF2E71D}"/>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VERIFICATION APPENDIX  /  82</a:t>
            </a:r>
          </a:p>
        </p:txBody>
      </p:sp>
      <p:sp>
        <p:nvSpPr>
          <p:cNvPr id="2" name="">
            <a:extLst xmlns:a="http://schemas.openxmlformats.org/drawingml/2006/main">
              <a:ext uri="{FF2B5EF4-FFF2-40B4-BE49-F238E27FC236}">
                <a16:creationId xmlns:a16="http://schemas.microsoft.com/office/drawing/2014/main" id="{E5CC32E6-06DA-4E3E-94E2-C6A8E72F5675}"/>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Separate operating margin from capital efficiency</a:t>
            </a:r>
          </a:p>
        </p:txBody>
      </p:sp>
      <p:sp>
        <p:nvSpPr>
          <p:cNvPr id="3" name="">
            <a:extLst xmlns:a="http://schemas.openxmlformats.org/drawingml/2006/main">
              <a:ext uri="{FF2B5EF4-FFF2-40B4-BE49-F238E27FC236}">
                <a16:creationId xmlns:a16="http://schemas.microsoft.com/office/drawing/2014/main" id="{F7950B53-3465-4A2D-98E1-66BC31923AAC}"/>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The owned template remains below its chosen hurdle.</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3429000"/>
                <a:gridCol w="7543800"/>
              </a:tblGrid>
              <a:tr h="555625">
                <a:tc>
                  <a:txBody>
                    <a:bodyPr/>
                    <a:lstStyle/>
                    <a:p>
                      <a:r>
                        <a:rPr sz="1050" b="1">
                          <a:solidFill>
                            <a:srgbClr val="49624F"/>
                          </a:solidFill>
                          <a:latin typeface="DejaVu Sans"/>
                          <a:ea typeface="DejaVu Sans"/>
                          <a:cs typeface="DejaVu Sans"/>
                        </a:rPr>
                        <a:t>Managed owned metric</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Conditional result</a:t>
                      </a:r>
                    </a:p>
                  </a:txBody>
                  <a:tcPr marL="114300" marR="114300" marT="76200" marB="76200" anchor="t">
                    <a:solidFill>
                      <a:srgbClr val="E7EEE4"/>
                    </a:solidFill>
                  </a:tcPr>
                </a:tc>
              </a:tr>
              <a:tr h="555625">
                <a:tc>
                  <a:txBody>
                    <a:bodyPr/>
                    <a:lstStyle/>
                    <a:p>
                      <a:r>
                        <a:rPr sz="1275">
                          <a:solidFill>
                            <a:srgbClr val="183B2A"/>
                          </a:solidFill>
                          <a:latin typeface="DejaVu Sans"/>
                          <a:ea typeface="DejaVu Sans"/>
                          <a:cs typeface="DejaVu Sans"/>
                        </a:rPr>
                        <a:t>NPV / annual peak funding</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-1.80 / 22.56 USDm</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Year3 ROIC / capital turns</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7.2% / 1.92×</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IRR roots</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9.04%</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NPV without final NWC closeout</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-2.47 USDm</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Franchise terminal value</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Zero; post2036 cash separately disclosed</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24264E88-D1F8-4271-B301-7F86B1E6CE97}"/>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6" name="">
            <a:extLst xmlns:a="http://schemas.openxmlformats.org/drawingml/2006/main">
              <a:ext uri="{FF2B5EF4-FFF2-40B4-BE49-F238E27FC236}">
                <a16:creationId xmlns:a16="http://schemas.microsoft.com/office/drawing/2014/main" id="{B23C123E-8B5B-4A1C-B3C9-55E662EB2888}"/>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C-CAPITAL · C-DCF-plant-managed   82 / 98</a:t>
            </a:r>
          </a:p>
        </p:txBody>
      </p:sp>
      <p:sp>
        <p:nvSpPr>
          <p:cNvPr id="7" name="">
            <a:extLst xmlns:a="http://schemas.openxmlformats.org/drawingml/2006/main">
              <a:ext uri="{FF2B5EF4-FFF2-40B4-BE49-F238E27FC236}">
                <a16:creationId xmlns:a16="http://schemas.microsoft.com/office/drawing/2014/main" id="{BC4388C4-C6A2-418F-A003-6ED15A46C3F2}"/>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3cdc80d321bf4c73" action="ppaction://hlinksldjump"/>
              </a:rPr>
              <a:t>MAIN DECK ↗</a:t>
            </a:r>
          </a:p>
        </p:txBody>
      </p:sp>
      <p:sp>
        <p:nvSpPr>
          <p:cNvPr id="8" name="">
            <a:extLst xmlns:a="http://schemas.openxmlformats.org/drawingml/2006/main">
              <a:ext uri="{FF2B5EF4-FFF2-40B4-BE49-F238E27FC236}">
                <a16:creationId xmlns:a16="http://schemas.microsoft.com/office/drawing/2014/main" id="{9CF20946-836B-437E-A168-9D366B9BBC9D}"/>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4fb90692606e4ccc"/>
              </a:rPr>
              <a:t>EVIDENCE ↗</a:t>
            </a:r>
          </a:p>
        </p:txBody>
      </p:sp>
    </p:spTree>
    <p:extLst>
      <p:ext uri="{BB962C8B-B14F-4D97-AF65-F5344CB8AC3E}">
        <p14:creationId xmlns:p14="http://schemas.microsoft.com/office/powerpoint/2010/main" val="718421473"/>
      </p:ext>
    </p:extLst>
  </p:cSld>
</p:sld>
</file>

<file path=ppt/slides/slide83.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3800F06-EBD4-4A7C-A22E-1309B8865DE1}"/>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VERIFICATION APPENDIX  /  83</a:t>
            </a:r>
          </a:p>
        </p:txBody>
      </p:sp>
      <p:sp>
        <p:nvSpPr>
          <p:cNvPr id="2" name="">
            <a:extLst xmlns:a="http://schemas.openxmlformats.org/drawingml/2006/main">
              <a:ext uri="{FF2B5EF4-FFF2-40B4-BE49-F238E27FC236}">
                <a16:creationId xmlns:a16="http://schemas.microsoft.com/office/drawing/2014/main" id="{8E42E7CE-B664-4071-B6F5-8943230E0DAE}"/>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Price, cost and cash days can reverse a screen</a:t>
            </a:r>
          </a:p>
        </p:txBody>
      </p:sp>
      <p:sp>
        <p:nvSpPr>
          <p:cNvPr id="3" name="">
            <a:extLst xmlns:a="http://schemas.openxmlformats.org/drawingml/2006/main">
              <a:ext uri="{FF2B5EF4-FFF2-40B4-BE49-F238E27FC236}">
                <a16:creationId xmlns:a16="http://schemas.microsoft.com/office/drawing/2014/main" id="{7E1DD20A-842E-4AA3-8508-6D1818FA5F53}"/>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630 one-variable and75 two-variable cases rerun the full cash model.</a:t>
            </a:r>
          </a:p>
        </p:txBody>
      </p:sp>
      <p:graphicFrame>
        <p:nvGraphicFramePr>
          <p:cNvPr id="13" name=""/>
          <p:cNvGraphicFramePr/>
          <p:nvPr/>
        </p:nvGraphicFramePr>
        <p:xfrm>
          <a:off xmlns:a="http://schemas.openxmlformats.org/drawingml/2006/main" x="609600" y="2505075"/>
          <a:ext xmlns:a="http://schemas.openxmlformats.org/drawingml/2006/main" cx="10972800" cy="2143125"/>
        </p:xfrm>
        <a:graphic xmlns:a="http://schemas.openxmlformats.org/drawingml/2006/main">
          <a:graphicData uri="http://schemas.openxmlformats.org/drawingml/2006/table">
            <a:tbl>
              <a:tblPr/>
              <a:tblGrid>
                <a:gridCol w="4191000"/>
                <a:gridCol w="2190750"/>
                <a:gridCol w="2190750"/>
                <a:gridCol w="2400300"/>
              </a:tblGrid>
              <a:tr h="535781">
                <a:tc>
                  <a:txBody>
                    <a:bodyPr/>
                    <a:lstStyle/>
                    <a:p>
                      <a:r>
                        <a:rPr sz="1050" b="1">
                          <a:solidFill>
                            <a:srgbClr val="49624F"/>
                          </a:solidFill>
                          <a:latin typeface="DejaVu Sans"/>
                          <a:ea typeface="DejaVu Sans"/>
                          <a:cs typeface="DejaVu Sans"/>
                        </a:rPr>
                        <a:t>Owned managed / margin USD per tonne</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30</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60</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90</a:t>
                      </a:r>
                    </a:p>
                  </a:txBody>
                  <a:tcPr marL="114300" marR="114300" marT="76200" marB="76200" anchor="t">
                    <a:solidFill>
                      <a:srgbClr val="E7EEE4"/>
                    </a:solidFill>
                  </a:tcPr>
                </a:tc>
              </a:tr>
              <a:tr h="535781">
                <a:tc>
                  <a:txBody>
                    <a:bodyPr/>
                    <a:lstStyle/>
                    <a:p>
                      <a:r>
                        <a:rPr sz="1200">
                          <a:solidFill>
                            <a:srgbClr val="183B2A"/>
                          </a:solidFill>
                          <a:latin typeface="DejaVu Sans"/>
                          <a:ea typeface="DejaVu Sans"/>
                          <a:cs typeface="DejaVu Sans"/>
                        </a:rPr>
                        <a:t>70% initial orders</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-32.09</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-13.08</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2.12</a:t>
                      </a:r>
                    </a:p>
                  </a:txBody>
                  <a:tcPr marL="114300" marR="114300" marT="76200" marB="76200" anchor="t">
                    <a:solidFill>
                      <a:srgbClr val="FFFEF9"/>
                    </a:solidFill>
                  </a:tcPr>
                </a:tc>
              </a:tr>
              <a:tr h="535781">
                <a:tc>
                  <a:txBody>
                    <a:bodyPr/>
                    <a:lstStyle/>
                    <a:p>
                      <a:r>
                        <a:rPr sz="1200">
                          <a:solidFill>
                            <a:srgbClr val="183B2A"/>
                          </a:solidFill>
                          <a:latin typeface="DejaVu Sans"/>
                          <a:ea typeface="DejaVu Sans"/>
                          <a:cs typeface="DejaVu Sans"/>
                        </a:rPr>
                        <a:t>100% initial orders</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-25.33</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-1.80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19.61</a:t>
                      </a:r>
                    </a:p>
                  </a:txBody>
                  <a:tcPr marL="114300" marR="114300" marT="76200" marB="76200" anchor="t">
                    <a:solidFill>
                      <a:srgbClr val="FFFEF9"/>
                    </a:solidFill>
                  </a:tcPr>
                </a:tc>
              </a:tr>
              <a:tr h="535781">
                <a:tc>
                  <a:txBody>
                    <a:bodyPr/>
                    <a:lstStyle/>
                    <a:p>
                      <a:r>
                        <a:rPr sz="1200">
                          <a:solidFill>
                            <a:srgbClr val="183B2A"/>
                          </a:solidFill>
                          <a:latin typeface="DejaVu Sans"/>
                          <a:ea typeface="DejaVu Sans"/>
                          <a:cs typeface="DejaVu Sans"/>
                        </a:rPr>
                        <a:t>130% initial orders</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-19.26</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8.61</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36.01</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74B0779C-F31B-46FC-95C1-CA373A64D59F}"/>
              </a:ext>
            </a:extLst>
          </p:cNvPr>
          <p:cNvSpPr>
            <a:spLocks xmlns:a="http://schemas.openxmlformats.org/drawingml/2006/main" noGrp="1"/>
          </p:cNvSpPr>
          <p:nvPr/>
        </p:nvSpPr>
        <p:spPr>
          <a:xfrm xmlns:a="http://schemas.openxmlformats.org/drawingml/2006/main">
            <a:off x="609600" y="4857750"/>
            <a:ext cx="109728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Choose structural ranges rather than pretend they are country comparables.</a:t>
            </a:r>
          </a:p>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Inspect sensitivity-one-variable.csv and sensitivity-two-variable.csv; actual country prices, capex and liquidity remain unknown.</a:t>
            </a:r>
          </a:p>
        </p:txBody>
      </p:sp>
      <p:sp>
        <p:nvSpPr>
          <p:cNvPr id="6" name="">
            <a:extLst xmlns:a="http://schemas.openxmlformats.org/drawingml/2006/main">
              <a:ext uri="{FF2B5EF4-FFF2-40B4-BE49-F238E27FC236}">
                <a16:creationId xmlns:a16="http://schemas.microsoft.com/office/drawing/2014/main" id="{14065519-EE43-48FA-A831-97031B8A1779}"/>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7" name="">
            <a:extLst xmlns:a="http://schemas.openxmlformats.org/drawingml/2006/main">
              <a:ext uri="{FF2B5EF4-FFF2-40B4-BE49-F238E27FC236}">
                <a16:creationId xmlns:a16="http://schemas.microsoft.com/office/drawing/2014/main" id="{A44DFB73-3B7D-413C-A1C0-D5979951D901}"/>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C-SENSITIVITY   83 / 98</a:t>
            </a:r>
          </a:p>
        </p:txBody>
      </p:sp>
      <p:sp>
        <p:nvSpPr>
          <p:cNvPr id="8" name="">
            <a:extLst xmlns:a="http://schemas.openxmlformats.org/drawingml/2006/main">
              <a:ext uri="{FF2B5EF4-FFF2-40B4-BE49-F238E27FC236}">
                <a16:creationId xmlns:a16="http://schemas.microsoft.com/office/drawing/2014/main" id="{B446DDC4-26B8-4226-B515-52729369D20B}"/>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4619c0f52716478e" action="ppaction://hlinksldjump"/>
              </a:rPr>
              <a:t>MAIN DECK ↗</a:t>
            </a:r>
          </a:p>
        </p:txBody>
      </p:sp>
      <p:sp>
        <p:nvSpPr>
          <p:cNvPr id="9" name="">
            <a:extLst xmlns:a="http://schemas.openxmlformats.org/drawingml/2006/main">
              <a:ext uri="{FF2B5EF4-FFF2-40B4-BE49-F238E27FC236}">
                <a16:creationId xmlns:a16="http://schemas.microsoft.com/office/drawing/2014/main" id="{500090E6-8DE4-43D0-9CD8-30820BFBFBF2}"/>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2bb350f4618c442c"/>
              </a:rPr>
              <a:t>EVIDENCE ↗</a:t>
            </a:r>
          </a:p>
        </p:txBody>
      </p:sp>
    </p:spTree>
    <p:extLst>
      <p:ext uri="{BB962C8B-B14F-4D97-AF65-F5344CB8AC3E}">
        <p14:creationId xmlns:p14="http://schemas.microsoft.com/office/powerpoint/2010/main" val="793761251"/>
      </p:ext>
    </p:extLst>
  </p:cSld>
</p:sld>
</file>

<file path=ppt/slides/slide84.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A29DEA3-7547-4FCA-9444-374AEDE518AC}"/>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VERIFICATION APPENDIX  /  84</a:t>
            </a:r>
          </a:p>
        </p:txBody>
      </p:sp>
      <p:sp>
        <p:nvSpPr>
          <p:cNvPr id="2" name="">
            <a:extLst xmlns:a="http://schemas.openxmlformats.org/drawingml/2006/main">
              <a:ext uri="{FF2B5EF4-FFF2-40B4-BE49-F238E27FC236}">
                <a16:creationId xmlns:a16="http://schemas.microsoft.com/office/drawing/2014/main" id="{FF1DFA84-294B-4746-9B53-C6CF1A6AA2BF}"/>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Annual funding can conceal an intra-year peak</a:t>
            </a:r>
          </a:p>
        </p:txBody>
      </p:sp>
      <p:sp>
        <p:nvSpPr>
          <p:cNvPr id="3" name="">
            <a:extLst xmlns:a="http://schemas.openxmlformats.org/drawingml/2006/main">
              <a:ext uri="{FF2B5EF4-FFF2-40B4-BE49-F238E27FC236}">
                <a16:creationId xmlns:a16="http://schemas.microsoft.com/office/drawing/2014/main" id="{27F8B7E4-EBED-4DB1-A3A9-199D06771052}"/>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A separate monthly teaching case reconciles stock and collections.</a:t>
            </a:r>
          </a:p>
        </p:txBody>
      </p:sp>
      <p:graphicFrame>
        <p:nvGraphicFramePr>
          <p:cNvPr id="13" name=""/>
          <p:cNvGraphicFramePr/>
          <p:nvPr/>
        </p:nvGraphicFramePr>
        <p:xfrm>
          <a:off xmlns:a="http://schemas.openxmlformats.org/drawingml/2006/main" x="609600" y="2505075"/>
          <a:ext xmlns:a="http://schemas.openxmlformats.org/drawingml/2006/main" cx="10972800" cy="2143125"/>
        </p:xfrm>
        <a:graphic xmlns:a="http://schemas.openxmlformats.org/drawingml/2006/main">
          <a:graphicData uri="http://schemas.openxmlformats.org/drawingml/2006/table">
            <a:tbl>
              <a:tblPr/>
              <a:tblGrid>
                <a:gridCol w="3429000"/>
                <a:gridCol w="7543800"/>
              </a:tblGrid>
              <a:tr h="535781">
                <a:tc>
                  <a:txBody>
                    <a:bodyPr/>
                    <a:lstStyle/>
                    <a:p>
                      <a:r>
                        <a:rPr sz="1050" b="1">
                          <a:solidFill>
                            <a:srgbClr val="49624F"/>
                          </a:solidFill>
                          <a:latin typeface="DejaVu Sans"/>
                          <a:ea typeface="DejaVu Sans"/>
                          <a:cs typeface="DejaVu Sans"/>
                        </a:rPr>
                        <a:t>Chosen timing case</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Result</a:t>
                      </a:r>
                    </a:p>
                  </a:txBody>
                  <a:tcPr marL="114300" marR="114300" marT="76200" marB="76200" anchor="t">
                    <a:solidFill>
                      <a:srgbClr val="E7EEE4"/>
                    </a:solidFill>
                  </a:tcPr>
                </a:tc>
              </a:tr>
              <a:tr h="535781">
                <a:tc>
                  <a:txBody>
                    <a:bodyPr/>
                    <a:lstStyle/>
                    <a:p>
                      <a:r>
                        <a:rPr sz="1275">
                          <a:solidFill>
                            <a:srgbClr val="183B2A"/>
                          </a:solidFill>
                          <a:latin typeface="DejaVu Sans"/>
                          <a:ea typeface="DejaVu Sans"/>
                          <a:cs typeface="DejaVu Sans"/>
                        </a:rPr>
                        <a:t>Opening capex + stock</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22.72 USDm</a:t>
                      </a:r>
                    </a:p>
                  </a:txBody>
                  <a:tcPr marL="114300" marR="114300" marT="76200" marB="76200" anchor="t">
                    <a:solidFill>
                      <a:srgbClr val="FFFEF9"/>
                    </a:solidFill>
                  </a:tcPr>
                </a:tc>
              </a:tr>
              <a:tr h="535781">
                <a:tc>
                  <a:txBody>
                    <a:bodyPr/>
                    <a:lstStyle/>
                    <a:p>
                      <a:r>
                        <a:rPr sz="1275">
                          <a:solidFill>
                            <a:srgbClr val="183B2A"/>
                          </a:solidFill>
                          <a:latin typeface="DejaVu Sans"/>
                          <a:ea typeface="DejaVu Sans"/>
                          <a:cs typeface="DejaVu Sans"/>
                        </a:rPr>
                        <a:t>Annual revenue</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40.00 USDm</a:t>
                      </a:r>
                    </a:p>
                  </a:txBody>
                  <a:tcPr marL="114300" marR="114300" marT="76200" marB="76200" anchor="t">
                    <a:solidFill>
                      <a:srgbClr val="FFFEF9"/>
                    </a:solidFill>
                  </a:tcPr>
                </a:tc>
              </a:tr>
              <a:tr h="535781">
                <a:tc>
                  <a:txBody>
                    <a:bodyPr/>
                    <a:lstStyle/>
                    <a:p>
                      <a:r>
                        <a:rPr sz="1275">
                          <a:solidFill>
                            <a:srgbClr val="183B2A"/>
                          </a:solidFill>
                          <a:latin typeface="DejaVu Sans"/>
                          <a:ea typeface="DejaVu Sans"/>
                          <a:cs typeface="DejaVu Sans"/>
                        </a:rPr>
                        <a:t>Monthly peak funding</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24.41 USDm</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30D6111C-3F2F-42D0-A80F-FCB67EDAD65E}"/>
              </a:ext>
            </a:extLst>
          </p:cNvPr>
          <p:cNvSpPr>
            <a:spLocks xmlns:a="http://schemas.openxmlformats.org/drawingml/2006/main" noGrp="1"/>
          </p:cNvSpPr>
          <p:nvPr/>
        </p:nvSpPr>
        <p:spPr>
          <a:xfrm xmlns:a="http://schemas.openxmlformats.org/drawingml/2006/main">
            <a:off x="609600" y="4857750"/>
            <a:ext cx="109728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100,000t annual production equals delivered orders; opening8,000t stock remains nonnegative through the seasonal calendar.</a:t>
            </a:r>
          </a:p>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Credit sales and eligible purchases settle next month; actual taxes, ramp, collateral and FX are absent.</a:t>
            </a:r>
          </a:p>
        </p:txBody>
      </p:sp>
      <p:sp>
        <p:nvSpPr>
          <p:cNvPr id="6" name="">
            <a:extLst xmlns:a="http://schemas.openxmlformats.org/drawingml/2006/main">
              <a:ext uri="{FF2B5EF4-FFF2-40B4-BE49-F238E27FC236}">
                <a16:creationId xmlns:a16="http://schemas.microsoft.com/office/drawing/2014/main" id="{D62F69D8-DA88-45A7-B26F-1D50F47B4D61}"/>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7" name="">
            <a:extLst xmlns:a="http://schemas.openxmlformats.org/drawingml/2006/main">
              <a:ext uri="{FF2B5EF4-FFF2-40B4-BE49-F238E27FC236}">
                <a16:creationId xmlns:a16="http://schemas.microsoft.com/office/drawing/2014/main" id="{E69187CD-5909-4F7F-9E83-BBD336BA60DD}"/>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C-MONTHLY   84 / 98</a:t>
            </a:r>
          </a:p>
        </p:txBody>
      </p:sp>
      <p:sp>
        <p:nvSpPr>
          <p:cNvPr id="8" name="">
            <a:extLst xmlns:a="http://schemas.openxmlformats.org/drawingml/2006/main">
              <a:ext uri="{FF2B5EF4-FFF2-40B4-BE49-F238E27FC236}">
                <a16:creationId xmlns:a16="http://schemas.microsoft.com/office/drawing/2014/main" id="{8B82172D-B5ED-4C5D-A3D4-9114F2B92139}"/>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c1ad8271140149b8" action="ppaction://hlinksldjump"/>
              </a:rPr>
              <a:t>MAIN DECK ↗</a:t>
            </a:r>
          </a:p>
        </p:txBody>
      </p:sp>
      <p:sp>
        <p:nvSpPr>
          <p:cNvPr id="9" name="">
            <a:extLst xmlns:a="http://schemas.openxmlformats.org/drawingml/2006/main">
              <a:ext uri="{FF2B5EF4-FFF2-40B4-BE49-F238E27FC236}">
                <a16:creationId xmlns:a16="http://schemas.microsoft.com/office/drawing/2014/main" id="{1791EA0C-C294-4C44-8173-2DA82FFD70CB}"/>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9e3ddb1e5ba745d3"/>
              </a:rPr>
              <a:t>EVIDENCE ↗</a:t>
            </a:r>
          </a:p>
        </p:txBody>
      </p:sp>
    </p:spTree>
    <p:extLst>
      <p:ext uri="{BB962C8B-B14F-4D97-AF65-F5344CB8AC3E}">
        <p14:creationId xmlns:p14="http://schemas.microsoft.com/office/powerpoint/2010/main" val="1432445089"/>
      </p:ext>
    </p:extLst>
  </p:cSld>
</p:sld>
</file>

<file path=ppt/slides/slide85.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2E5D830-A696-4DAD-AD10-86AED855A444}"/>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VERIFICATION APPENDIX  /  85</a:t>
            </a:r>
          </a:p>
        </p:txBody>
      </p:sp>
      <p:sp>
        <p:nvSpPr>
          <p:cNvPr id="2" name="">
            <a:extLst xmlns:a="http://schemas.openxmlformats.org/drawingml/2006/main">
              <a:ext uri="{FF2B5EF4-FFF2-40B4-BE49-F238E27FC236}">
                <a16:creationId xmlns:a16="http://schemas.microsoft.com/office/drawing/2014/main" id="{1F62C8A9-1ED3-42FD-B8E1-A5AE7F770023}"/>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Diagnostics do not repair the target mismatch</a:t>
            </a:r>
          </a:p>
        </p:txBody>
      </p:sp>
      <p:sp>
        <p:nvSpPr>
          <p:cNvPr id="3" name="">
            <a:extLst xmlns:a="http://schemas.openxmlformats.org/drawingml/2006/main">
              <a:ext uri="{FF2B5EF4-FFF2-40B4-BE49-F238E27FC236}">
                <a16:creationId xmlns:a16="http://schemas.microsoft.com/office/drawing/2014/main" id="{37C768DF-6D44-4308-BFF0-F94C9E3DD0AC}"/>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The supply regression remains rejected for investment forecasting.</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3429000"/>
                <a:gridCol w="7543800"/>
              </a:tblGrid>
              <a:tr h="555625">
                <a:tc>
                  <a:txBody>
                    <a:bodyPr/>
                    <a:lstStyle/>
                    <a:p>
                      <a:r>
                        <a:rPr sz="1050" b="1">
                          <a:solidFill>
                            <a:srgbClr val="49624F"/>
                          </a:solidFill>
                          <a:latin typeface="DejaVu Sans"/>
                          <a:ea typeface="DejaVu Sans"/>
                          <a:cs typeface="DejaVu Sans"/>
                        </a:rPr>
                        <a:t>Diagnostic</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Executed result</a:t>
                      </a:r>
                    </a:p>
                  </a:txBody>
                  <a:tcPr marL="114300" marR="114300" marT="76200" marB="76200" anchor="t">
                    <a:solidFill>
                      <a:srgbClr val="E7EEE4"/>
                    </a:solidFill>
                  </a:tcPr>
                </a:tc>
              </a:tr>
              <a:tr h="555625">
                <a:tc>
                  <a:txBody>
                    <a:bodyPr/>
                    <a:lstStyle/>
                    <a:p>
                      <a:r>
                        <a:rPr sz="1275">
                          <a:solidFill>
                            <a:srgbClr val="183B2A"/>
                          </a:solidFill>
                          <a:latin typeface="DejaVu Sans"/>
                          <a:ea typeface="DejaVu Sans"/>
                          <a:cs typeface="DejaVu Sans"/>
                        </a:rPr>
                        <a:t>Scaled design condition number</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1.061</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VIF income / urban / yield</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1.00 / 1.00 / 1.00</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Validation</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Year/region holdouts and split-sample signs</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Residual plots</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regression-diagnostics.pdf / PNG</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Decision</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Acquire product/customer data; retain simple benchmark</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CF2F2DCF-826B-49ED-965B-8F8B0D34B36D}"/>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SOURCE WB_food_index · WB_income_ppp · WB_urban · WB_cereal_yield</a:t>
            </a:r>
          </a:p>
        </p:txBody>
      </p:sp>
      <p:sp>
        <p:nvSpPr>
          <p:cNvPr id="6" name="">
            <a:extLst xmlns:a="http://schemas.openxmlformats.org/drawingml/2006/main">
              <a:ext uri="{FF2B5EF4-FFF2-40B4-BE49-F238E27FC236}">
                <a16:creationId xmlns:a16="http://schemas.microsoft.com/office/drawing/2014/main" id="{BE6C49EE-A27C-47E8-9317-987780F0386D}"/>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C-OLS   85 / 98</a:t>
            </a:r>
          </a:p>
        </p:txBody>
      </p:sp>
      <p:sp>
        <p:nvSpPr>
          <p:cNvPr id="7" name="">
            <a:extLst xmlns:a="http://schemas.openxmlformats.org/drawingml/2006/main">
              <a:ext uri="{FF2B5EF4-FFF2-40B4-BE49-F238E27FC236}">
                <a16:creationId xmlns:a16="http://schemas.microsoft.com/office/drawing/2014/main" id="{19798513-E671-42DC-8901-F8B14BAD530A}"/>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ccda17f51128460c" action="ppaction://hlinksldjump"/>
              </a:rPr>
              <a:t>MAIN DECK ↗</a:t>
            </a:r>
          </a:p>
        </p:txBody>
      </p:sp>
      <p:sp>
        <p:nvSpPr>
          <p:cNvPr id="8" name="">
            <a:extLst xmlns:a="http://schemas.openxmlformats.org/drawingml/2006/main">
              <a:ext uri="{FF2B5EF4-FFF2-40B4-BE49-F238E27FC236}">
                <a16:creationId xmlns:a16="http://schemas.microsoft.com/office/drawing/2014/main" id="{E1F61C56-706D-4A06-A77B-FC670208A09A}"/>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e5e2bc152caa4beb"/>
              </a:rPr>
              <a:t>EVIDENCE ↗</a:t>
            </a:r>
          </a:p>
        </p:txBody>
      </p:sp>
    </p:spTree>
    <p:extLst>
      <p:ext uri="{BB962C8B-B14F-4D97-AF65-F5344CB8AC3E}">
        <p14:creationId xmlns:p14="http://schemas.microsoft.com/office/powerpoint/2010/main" val="1914243343"/>
      </p:ext>
    </p:extLst>
  </p:cSld>
</p:sld>
</file>

<file path=ppt/slides/slide86.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0A5E1B6-402C-438A-9FFD-29D6406D37AC}"/>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VERIFICATION APPENDIX  /  86</a:t>
            </a:r>
          </a:p>
        </p:txBody>
      </p:sp>
      <p:sp>
        <p:nvSpPr>
          <p:cNvPr id="2" name="">
            <a:extLst xmlns:a="http://schemas.openxmlformats.org/drawingml/2006/main">
              <a:ext uri="{FF2B5EF4-FFF2-40B4-BE49-F238E27FC236}">
                <a16:creationId xmlns:a16="http://schemas.microsoft.com/office/drawing/2014/main" id="{718ECB06-6F30-4FBD-8ED6-2DB676A3F311}"/>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Dependence and tail choice need their own sensitivity</a:t>
            </a:r>
          </a:p>
        </p:txBody>
      </p:sp>
      <p:sp>
        <p:nvSpPr>
          <p:cNvPr id="3" name="">
            <a:extLst xmlns:a="http://schemas.openxmlformats.org/drawingml/2006/main">
              <a:ext uri="{FF2B5EF4-FFF2-40B4-BE49-F238E27FC236}">
                <a16:creationId xmlns:a16="http://schemas.microsoft.com/office/drawing/2014/main" id="{88909209-E35E-4577-89EB-FE2642910079}"/>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A PSD factor matrix is checked; the shocks remain uncalibrated.</a:t>
            </a:r>
          </a:p>
        </p:txBody>
      </p:sp>
      <p:graphicFrame>
        <p:nvGraphicFramePr>
          <p:cNvPr id="13" name=""/>
          <p:cNvGraphicFramePr/>
          <p:nvPr/>
        </p:nvGraphicFramePr>
        <p:xfrm>
          <a:off xmlns:a="http://schemas.openxmlformats.org/drawingml/2006/main" x="609600" y="2505075"/>
          <a:ext xmlns:a="http://schemas.openxmlformats.org/drawingml/2006/main" cx="10972800" cy="2714625"/>
        </p:xfrm>
        <a:graphic xmlns:a="http://schemas.openxmlformats.org/drawingml/2006/main">
          <a:graphicData uri="http://schemas.openxmlformats.org/drawingml/2006/table">
            <a:tbl>
              <a:tblPr/>
              <a:tblGrid>
                <a:gridCol w="4095750"/>
                <a:gridCol w="3438525"/>
                <a:gridCol w="3438525"/>
              </a:tblGrid>
              <a:tr h="678656">
                <a:tc>
                  <a:txBody>
                    <a:bodyPr/>
                    <a:lstStyle/>
                    <a:p>
                      <a:r>
                        <a:rPr sz="1050" b="1">
                          <a:solidFill>
                            <a:srgbClr val="49624F"/>
                          </a:solidFill>
                          <a:latin typeface="DejaVu Sans"/>
                          <a:ea typeface="DejaVu Sans"/>
                          <a:cs typeface="DejaVu Sans"/>
                        </a:rPr>
                        <a:t>Chosen generator /2500 draws</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p10 NPV</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Loss CVaR95</a:t>
                      </a:r>
                    </a:p>
                  </a:txBody>
                  <a:tcPr marL="114300" marR="114300" marT="76200" marB="76200" anchor="t">
                    <a:solidFill>
                      <a:srgbClr val="E7EEE4"/>
                    </a:solidFill>
                  </a:tcPr>
                </a:tc>
              </a:tr>
              <a:tr h="678656">
                <a:tc>
                  <a:txBody>
                    <a:bodyPr/>
                    <a:lstStyle/>
                    <a:p>
                      <a:r>
                        <a:rPr sz="1200">
                          <a:solidFill>
                            <a:srgbClr val="183B2A"/>
                          </a:solidFill>
                          <a:latin typeface="DejaVu Sans"/>
                          <a:ea typeface="DejaVu Sans"/>
                          <a:cs typeface="DejaVu Sans"/>
                        </a:rPr>
                        <a:t>dependent normal</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-18.91</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29.14</a:t>
                      </a:r>
                    </a:p>
                  </a:txBody>
                  <a:tcPr marL="114300" marR="114300" marT="76200" marB="76200" anchor="t">
                    <a:solidFill>
                      <a:srgbClr val="FFFEF9"/>
                    </a:solidFill>
                  </a:tcPr>
                </a:tc>
              </a:tr>
              <a:tr h="678656">
                <a:tc>
                  <a:txBody>
                    <a:bodyPr/>
                    <a:lstStyle/>
                    <a:p>
                      <a:r>
                        <a:rPr sz="1200">
                          <a:solidFill>
                            <a:srgbClr val="183B2A"/>
                          </a:solidFill>
                          <a:latin typeface="DejaVu Sans"/>
                          <a:ea typeface="DejaVu Sans"/>
                          <a:cs typeface="DejaVu Sans"/>
                        </a:rPr>
                        <a:t>independent normal</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-14.96</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22.71</a:t>
                      </a:r>
                    </a:p>
                  </a:txBody>
                  <a:tcPr marL="114300" marR="114300" marT="76200" marB="76200" anchor="t">
                    <a:solidFill>
                      <a:srgbClr val="FFFEF9"/>
                    </a:solidFill>
                  </a:tcPr>
                </a:tc>
              </a:tr>
              <a:tr h="678656">
                <a:tc>
                  <a:txBody>
                    <a:bodyPr/>
                    <a:lstStyle/>
                    <a:p>
                      <a:r>
                        <a:rPr sz="1200">
                          <a:solidFill>
                            <a:srgbClr val="183B2A"/>
                          </a:solidFill>
                          <a:latin typeface="DejaVu Sans"/>
                          <a:ea typeface="DejaVu Sans"/>
                          <a:cs typeface="DejaVu Sans"/>
                        </a:rPr>
                        <a:t>dependent student t5</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-17.50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29.23</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5775C66C-9F3F-43BA-929A-76012EF75EB5}"/>
              </a:ext>
            </a:extLst>
          </p:cNvPr>
          <p:cNvSpPr>
            <a:spLocks xmlns:a="http://schemas.openxmlformats.org/drawingml/2006/main" noGrp="1"/>
          </p:cNvSpPr>
          <p:nvPr/>
        </p:nvSpPr>
        <p:spPr>
          <a:xfrm xmlns:a="http://schemas.openxmlformats.org/drawingml/2006/main">
            <a:off x="609600" y="5381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Covariance=L Lᵀ; eigenvalues checked. Parameter uncertainty and actual hazard/operating likelihoods remain unestimated.</a:t>
            </a:r>
          </a:p>
        </p:txBody>
      </p:sp>
      <p:sp>
        <p:nvSpPr>
          <p:cNvPr id="6" name="">
            <a:extLst xmlns:a="http://schemas.openxmlformats.org/drawingml/2006/main">
              <a:ext uri="{FF2B5EF4-FFF2-40B4-BE49-F238E27FC236}">
                <a16:creationId xmlns:a16="http://schemas.microsoft.com/office/drawing/2014/main" id="{CCF2F8C3-B3EB-4392-9992-F97B86CBA163}"/>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SOURCE CVAR   |   A_EXAMPLE</a:t>
            </a:r>
          </a:p>
        </p:txBody>
      </p:sp>
      <p:sp>
        <p:nvSpPr>
          <p:cNvPr id="7" name="">
            <a:extLst xmlns:a="http://schemas.openxmlformats.org/drawingml/2006/main">
              <a:ext uri="{FF2B5EF4-FFF2-40B4-BE49-F238E27FC236}">
                <a16:creationId xmlns:a16="http://schemas.microsoft.com/office/drawing/2014/main" id="{A9B4C6E4-396A-450D-8976-4D0A006B5020}"/>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C-DEPENDENCE   86 / 98</a:t>
            </a:r>
          </a:p>
        </p:txBody>
      </p:sp>
      <p:sp>
        <p:nvSpPr>
          <p:cNvPr id="8" name="">
            <a:extLst xmlns:a="http://schemas.openxmlformats.org/drawingml/2006/main">
              <a:ext uri="{FF2B5EF4-FFF2-40B4-BE49-F238E27FC236}">
                <a16:creationId xmlns:a16="http://schemas.microsoft.com/office/drawing/2014/main" id="{34553A18-813E-4123-B039-2514D7A51D86}"/>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e74772fbee5a44e5" action="ppaction://hlinksldjump"/>
              </a:rPr>
              <a:t>MAIN DECK ↗</a:t>
            </a:r>
          </a:p>
        </p:txBody>
      </p:sp>
      <p:sp>
        <p:nvSpPr>
          <p:cNvPr id="9" name="">
            <a:extLst xmlns:a="http://schemas.openxmlformats.org/drawingml/2006/main">
              <a:ext uri="{FF2B5EF4-FFF2-40B4-BE49-F238E27FC236}">
                <a16:creationId xmlns:a16="http://schemas.microsoft.com/office/drawing/2014/main" id="{ABEA2535-2824-4F20-8965-819561AD5ED8}"/>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017efabf825d40ec"/>
              </a:rPr>
              <a:t>EVIDENCE ↗</a:t>
            </a:r>
          </a:p>
        </p:txBody>
      </p:sp>
    </p:spTree>
    <p:extLst>
      <p:ext uri="{BB962C8B-B14F-4D97-AF65-F5344CB8AC3E}">
        <p14:creationId xmlns:p14="http://schemas.microsoft.com/office/powerpoint/2010/main" val="1864782"/>
      </p:ext>
    </p:extLst>
  </p:cSld>
</p:sld>
</file>

<file path=ppt/slides/slide87.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BE1E74A-C82D-4E53-B361-FF9A4E5F289A}"/>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VERIFICATION APPENDIX  /  87</a:t>
            </a:r>
          </a:p>
        </p:txBody>
      </p:sp>
      <p:sp>
        <p:nvSpPr>
          <p:cNvPr id="2" name="">
            <a:extLst xmlns:a="http://schemas.openxmlformats.org/drawingml/2006/main">
              <a:ext uri="{FF2B5EF4-FFF2-40B4-BE49-F238E27FC236}">
                <a16:creationId xmlns:a16="http://schemas.microsoft.com/office/drawing/2014/main" id="{866BAD84-D5EA-41E2-A66A-C5ADEC28ACB8}"/>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Learning is valuable only when it changes an action</a:t>
            </a:r>
          </a:p>
        </p:txBody>
      </p:sp>
      <p:sp>
        <p:nvSpPr>
          <p:cNvPr id="3" name="">
            <a:extLst xmlns:a="http://schemas.openxmlformats.org/drawingml/2006/main">
              <a:ext uri="{FF2B5EF4-FFF2-40B4-BE49-F238E27FC236}">
                <a16:creationId xmlns:a16="http://schemas.microsoft.com/office/drawing/2014/main" id="{BA0A024B-E856-4123-8F45-ED5E494BF73B}"/>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The chosen imperfect test earns0.70 USDm net value.</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3429000"/>
                <a:gridCol w="7543800"/>
              </a:tblGrid>
              <a:tr h="555625">
                <a:tc>
                  <a:txBody>
                    <a:bodyPr/>
                    <a:lstStyle/>
                    <a:p>
                      <a:r>
                        <a:rPr sz="1050" b="1">
                          <a:solidFill>
                            <a:srgbClr val="49624F"/>
                          </a:solidFill>
                          <a:latin typeface="DejaVu Sans"/>
                          <a:ea typeface="DejaVu Sans"/>
                          <a:cs typeface="DejaVu Sans"/>
                        </a:rPr>
                        <a:t>Two-state Bayesian example</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Chosen result</a:t>
                      </a:r>
                    </a:p>
                  </a:txBody>
                  <a:tcPr marL="114300" marR="114300" marT="76200" marB="76200" anchor="t">
                    <a:solidFill>
                      <a:srgbClr val="E7EEE4"/>
                    </a:solidFill>
                  </a:tcPr>
                </a:tc>
              </a:tr>
              <a:tr h="555625">
                <a:tc>
                  <a:txBody>
                    <a:bodyPr/>
                    <a:lstStyle/>
                    <a:p>
                      <a:r>
                        <a:rPr sz="1275">
                          <a:solidFill>
                            <a:srgbClr val="183B2A"/>
                          </a:solidFill>
                          <a:latin typeface="DejaVu Sans"/>
                          <a:ea typeface="DejaVu Sans"/>
                          <a:cs typeface="DejaVu Sans"/>
                        </a:rPr>
                        <a:t>Prior good / symmetric accuracy</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0.50 /0.80</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Best before / after study</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1.00 /3.20 USDm</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Gross EVSI / study + delay</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2.20 /1.50 USDm</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Net EVSI / perfect-information ceiling</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0.70 /2.50 USDm</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Accuracy switching boundary</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q&gt;0.7222 for positive net value</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20ECEEBB-7C40-4553-9263-39C0970524CD}"/>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6" name="">
            <a:extLst xmlns:a="http://schemas.openxmlformats.org/drawingml/2006/main">
              <a:ext uri="{FF2B5EF4-FFF2-40B4-BE49-F238E27FC236}">
                <a16:creationId xmlns:a16="http://schemas.microsoft.com/office/drawing/2014/main" id="{EED77C0F-8010-40A0-B788-21D81D3FDC65}"/>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C-EVSI   87 / 98</a:t>
            </a:r>
          </a:p>
        </p:txBody>
      </p:sp>
      <p:sp>
        <p:nvSpPr>
          <p:cNvPr id="7" name="">
            <a:extLst xmlns:a="http://schemas.openxmlformats.org/drawingml/2006/main">
              <a:ext uri="{FF2B5EF4-FFF2-40B4-BE49-F238E27FC236}">
                <a16:creationId xmlns:a16="http://schemas.microsoft.com/office/drawing/2014/main" id="{5F46C2DF-33F6-4173-AC87-17C8D89317BA}"/>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8f3aaeccbf884b60" action="ppaction://hlinksldjump"/>
              </a:rPr>
              <a:t>MAIN DECK ↗</a:t>
            </a:r>
          </a:p>
        </p:txBody>
      </p:sp>
      <p:sp>
        <p:nvSpPr>
          <p:cNvPr id="8" name="">
            <a:extLst xmlns:a="http://schemas.openxmlformats.org/drawingml/2006/main">
              <a:ext uri="{FF2B5EF4-FFF2-40B4-BE49-F238E27FC236}">
                <a16:creationId xmlns:a16="http://schemas.microsoft.com/office/drawing/2014/main" id="{6AF8B415-5E15-4574-8D29-94D5E1E8EBE8}"/>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f16c9e7e7e094f91"/>
              </a:rPr>
              <a:t>EVIDENCE ↗</a:t>
            </a:r>
          </a:p>
        </p:txBody>
      </p:sp>
    </p:spTree>
    <p:extLst>
      <p:ext uri="{BB962C8B-B14F-4D97-AF65-F5344CB8AC3E}">
        <p14:creationId xmlns:p14="http://schemas.microsoft.com/office/powerpoint/2010/main" val="527397594"/>
      </p:ext>
    </p:extLst>
  </p:cSld>
</p:sld>
</file>

<file path=ppt/slides/slide88.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8364E0E-275A-4AC8-9432-84C4A37C2079}"/>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VERIFICATION APPENDIX  /  88</a:t>
            </a:r>
          </a:p>
        </p:txBody>
      </p:sp>
      <p:sp>
        <p:nvSpPr>
          <p:cNvPr id="2" name="">
            <a:extLst xmlns:a="http://schemas.openxmlformats.org/drawingml/2006/main">
              <a:ext uri="{FF2B5EF4-FFF2-40B4-BE49-F238E27FC236}">
                <a16:creationId xmlns:a16="http://schemas.microsoft.com/office/drawing/2014/main" id="{101BB043-EF6A-45B7-86CE-2409561FC587}"/>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Marketing cannot monetize undeliverable orders</a:t>
            </a:r>
          </a:p>
        </p:txBody>
      </p:sp>
      <p:sp>
        <p:nvSpPr>
          <p:cNvPr id="3" name="">
            <a:extLst xmlns:a="http://schemas.openxmlformats.org/drawingml/2006/main">
              <a:ext uri="{FF2B5EF4-FFF2-40B4-BE49-F238E27FC236}">
                <a16:creationId xmlns:a16="http://schemas.microsoft.com/office/drawing/2014/main" id="{FAD24C97-C305-4CF4-925A-766EE2DED495}"/>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A physical bottleneck can make added demand destroy contribution.</a:t>
            </a:r>
          </a:p>
        </p:txBody>
      </p:sp>
      <p:graphicFrame>
        <p:nvGraphicFramePr>
          <p:cNvPr id="13" name=""/>
          <p:cNvGraphicFramePr/>
          <p:nvPr/>
        </p:nvGraphicFramePr>
        <p:xfrm>
          <a:off xmlns:a="http://schemas.openxmlformats.org/drawingml/2006/main" x="609600" y="2505075"/>
          <a:ext xmlns:a="http://schemas.openxmlformats.org/drawingml/2006/main" cx="10972800" cy="2714625"/>
        </p:xfrm>
        <a:graphic xmlns:a="http://schemas.openxmlformats.org/drawingml/2006/main">
          <a:graphicData uri="http://schemas.openxmlformats.org/drawingml/2006/table">
            <a:tbl>
              <a:tblPr/>
              <a:tblGrid>
                <a:gridCol w="3429000"/>
                <a:gridCol w="7543800"/>
              </a:tblGrid>
              <a:tr h="542925">
                <a:tc>
                  <a:txBody>
                    <a:bodyPr/>
                    <a:lstStyle/>
                    <a:p>
                      <a:r>
                        <a:rPr sz="1050" b="1">
                          <a:solidFill>
                            <a:srgbClr val="49624F"/>
                          </a:solidFill>
                          <a:latin typeface="DejaVu Sans"/>
                          <a:ea typeface="DejaVu Sans"/>
                          <a:cs typeface="DejaVu Sans"/>
                        </a:rPr>
                        <a:t>Chosen one-period intervention</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Incremental USD</a:t>
                      </a:r>
                    </a:p>
                  </a:txBody>
                  <a:tcPr marL="114300" marR="114300" marT="76200" marB="76200" anchor="t">
                    <a:solidFill>
                      <a:srgbClr val="E7EEE4"/>
                    </a:solidFill>
                  </a:tcPr>
                </a:tc>
              </a:tr>
              <a:tr h="542925">
                <a:tc>
                  <a:txBody>
                    <a:bodyPr/>
                    <a:lstStyle/>
                    <a:p>
                      <a:r>
                        <a:rPr sz="1275">
                          <a:solidFill>
                            <a:srgbClr val="183B2A"/>
                          </a:solidFill>
                          <a:latin typeface="DejaVu Sans"/>
                          <a:ea typeface="DejaVu Sans"/>
                          <a:cs typeface="DejaVu Sans"/>
                        </a:rPr>
                        <a:t>Marketing, original100t capacity</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−100</a:t>
                      </a:r>
                    </a:p>
                  </a:txBody>
                  <a:tcPr marL="114300" marR="114300" marT="76200" marB="76200" anchor="t">
                    <a:solidFill>
                      <a:srgbClr val="FFFEF9"/>
                    </a:solidFill>
                  </a:tcPr>
                </a:tc>
              </a:tr>
              <a:tr h="542925">
                <a:tc>
                  <a:txBody>
                    <a:bodyPr/>
                    <a:lstStyle/>
                    <a:p>
                      <a:r>
                        <a:rPr sz="1275">
                          <a:solidFill>
                            <a:srgbClr val="183B2A"/>
                          </a:solidFill>
                          <a:latin typeface="DejaVu Sans"/>
                          <a:ea typeface="DejaVu Sans"/>
                          <a:cs typeface="DejaVu Sans"/>
                        </a:rPr>
                        <a:t>Marketing,120t headroom</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1,100</a:t>
                      </a:r>
                    </a:p>
                  </a:txBody>
                  <a:tcPr marL="114300" marR="114300" marT="76200" marB="76200" anchor="t">
                    <a:solidFill>
                      <a:srgbClr val="FFFEF9"/>
                    </a:solidFill>
                  </a:tcPr>
                </a:tc>
              </a:tr>
              <a:tr h="542925">
                <a:tc>
                  <a:txBody>
                    <a:bodyPr/>
                    <a:lstStyle/>
                    <a:p>
                      <a:r>
                        <a:rPr sz="1275">
                          <a:solidFill>
                            <a:srgbClr val="183B2A"/>
                          </a:solidFill>
                          <a:latin typeface="DejaVu Sans"/>
                          <a:ea typeface="DejaVu Sans"/>
                          <a:cs typeface="DejaVu Sans"/>
                        </a:rPr>
                        <a:t>Repair + marketing,120t capacity</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800</a:t>
                      </a:r>
                    </a:p>
                  </a:txBody>
                  <a:tcPr marL="114300" marR="114300" marT="76200" marB="76200" anchor="t">
                    <a:solidFill>
                      <a:srgbClr val="FFFEF9"/>
                    </a:solidFill>
                  </a:tcPr>
                </a:tc>
              </a:tr>
              <a:tr h="542925">
                <a:tc>
                  <a:txBody>
                    <a:bodyPr/>
                    <a:lstStyle/>
                    <a:p>
                      <a:r>
                        <a:rPr sz="1275">
                          <a:solidFill>
                            <a:srgbClr val="183B2A"/>
                          </a:solidFill>
                          <a:latin typeface="DejaVu Sans"/>
                          <a:ea typeface="DejaVu Sans"/>
                          <a:cs typeface="DejaVu Sans"/>
                        </a:rPr>
                        <a:t>Repair only, unchanged90t orders</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−300</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A0AE0CF7-C136-49C9-811C-7CE3028FFDE5}"/>
              </a:ext>
            </a:extLst>
          </p:cNvPr>
          <p:cNvSpPr>
            <a:spLocks xmlns:a="http://schemas.openxmlformats.org/drawingml/2006/main" noGrp="1"/>
          </p:cNvSpPr>
          <p:nvPr/>
        </p:nvSpPr>
        <p:spPr>
          <a:xfrm xmlns:a="http://schemas.openxmlformats.org/drawingml/2006/main">
            <a:off x="609600" y="5381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Margin60 USD/t; added orders30t; marketing500, service200, repair300 USD. This is a mechanism test, not an observed lift.</a:t>
            </a:r>
          </a:p>
        </p:txBody>
      </p:sp>
      <p:sp>
        <p:nvSpPr>
          <p:cNvPr id="6" name="">
            <a:extLst xmlns:a="http://schemas.openxmlformats.org/drawingml/2006/main">
              <a:ext uri="{FF2B5EF4-FFF2-40B4-BE49-F238E27FC236}">
                <a16:creationId xmlns:a16="http://schemas.microsoft.com/office/drawing/2014/main" id="{C29FFE23-9671-4020-9735-08A18B61FCC2}"/>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7" name="">
            <a:extLst xmlns:a="http://schemas.openxmlformats.org/drawingml/2006/main">
              <a:ext uri="{FF2B5EF4-FFF2-40B4-BE49-F238E27FC236}">
                <a16:creationId xmlns:a16="http://schemas.microsoft.com/office/drawing/2014/main" id="{F2DE836C-F7D9-4206-BA39-C615C71ACAD9}"/>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C-CAPACITY-MARKETING   88 / 98</a:t>
            </a:r>
          </a:p>
        </p:txBody>
      </p:sp>
      <p:sp>
        <p:nvSpPr>
          <p:cNvPr id="8" name="">
            <a:extLst xmlns:a="http://schemas.openxmlformats.org/drawingml/2006/main">
              <a:ext uri="{FF2B5EF4-FFF2-40B4-BE49-F238E27FC236}">
                <a16:creationId xmlns:a16="http://schemas.microsoft.com/office/drawing/2014/main" id="{CA54F54F-FDF0-4812-AB63-662FC3A2C513}"/>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9437bf981874497f" action="ppaction://hlinksldjump"/>
              </a:rPr>
              <a:t>MAIN DECK ↗</a:t>
            </a:r>
          </a:p>
        </p:txBody>
      </p:sp>
      <p:sp>
        <p:nvSpPr>
          <p:cNvPr id="9" name="">
            <a:extLst xmlns:a="http://schemas.openxmlformats.org/drawingml/2006/main">
              <a:ext uri="{FF2B5EF4-FFF2-40B4-BE49-F238E27FC236}">
                <a16:creationId xmlns:a16="http://schemas.microsoft.com/office/drawing/2014/main" id="{F7B6E654-504A-42F2-9137-81F961C13845}"/>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458293ee10994369"/>
              </a:rPr>
              <a:t>EVIDENCE ↗</a:t>
            </a:r>
          </a:p>
        </p:txBody>
      </p:sp>
    </p:spTree>
    <p:extLst>
      <p:ext uri="{BB962C8B-B14F-4D97-AF65-F5344CB8AC3E}">
        <p14:creationId xmlns:p14="http://schemas.microsoft.com/office/powerpoint/2010/main" val="50419000"/>
      </p:ext>
    </p:extLst>
  </p:cSld>
</p:sld>
</file>

<file path=ppt/slides/slide89.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E8EB190-50F2-4067-A52C-CAFEB0F5B17A}"/>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VERIFICATION APPENDIX  /  89</a:t>
            </a:r>
          </a:p>
        </p:txBody>
      </p:sp>
      <p:sp>
        <p:nvSpPr>
          <p:cNvPr id="2" name="">
            <a:extLst xmlns:a="http://schemas.openxmlformats.org/drawingml/2006/main">
              <a:ext uri="{FF2B5EF4-FFF2-40B4-BE49-F238E27FC236}">
                <a16:creationId xmlns:a16="http://schemas.microsoft.com/office/drawing/2014/main" id="{E7A4180C-6CFF-4FA7-B57F-2D90A9A9A4B5}"/>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Feasible delivery precedes portfolio value</a:t>
            </a:r>
          </a:p>
        </p:txBody>
      </p:sp>
      <p:sp>
        <p:nvSpPr>
          <p:cNvPr id="3" name="">
            <a:extLst xmlns:a="http://schemas.openxmlformats.org/drawingml/2006/main">
              <a:ext uri="{FF2B5EF4-FFF2-40B4-BE49-F238E27FC236}">
                <a16:creationId xmlns:a16="http://schemas.microsoft.com/office/drawing/2014/main" id="{680FDA03-2BF8-4860-92A3-9431DE38DC36}"/>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The chosen network LP blocks an inaccessible route.</a:t>
            </a:r>
          </a:p>
        </p:txBody>
      </p:sp>
      <p:graphicFrame>
        <p:nvGraphicFramePr>
          <p:cNvPr id="13" name=""/>
          <p:cNvGraphicFramePr/>
          <p:nvPr/>
        </p:nvGraphicFramePr>
        <p:xfrm>
          <a:off xmlns:a="http://schemas.openxmlformats.org/drawingml/2006/main" x="609600" y="2505075"/>
          <a:ext xmlns:a="http://schemas.openxmlformats.org/drawingml/2006/main" cx="10972800" cy="2714625"/>
        </p:xfrm>
        <a:graphic xmlns:a="http://schemas.openxmlformats.org/drawingml/2006/main">
          <a:graphicData uri="http://schemas.openxmlformats.org/drawingml/2006/table">
            <a:tbl>
              <a:tblPr/>
              <a:tblGrid>
                <a:gridCol w="4095750"/>
                <a:gridCol w="3438525"/>
                <a:gridCol w="3438525"/>
              </a:tblGrid>
              <a:tr h="387804">
                <a:tc>
                  <a:txBody>
                    <a:bodyPr/>
                    <a:lstStyle/>
                    <a:p>
                      <a:r>
                        <a:rPr sz="1050" b="1">
                          <a:solidFill>
                            <a:srgbClr val="49624F"/>
                          </a:solidFill>
                          <a:latin typeface="DejaVu Sans"/>
                          <a:ea typeface="DejaVu Sans"/>
                          <a:cs typeface="DejaVu Sans"/>
                        </a:rPr>
                        <a:t>Origin → buyer</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Delivered t</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Net margin USD/t</a:t>
                      </a:r>
                    </a:p>
                  </a:txBody>
                  <a:tcPr marL="114300" marR="114300" marT="76200" marB="76200" anchor="t">
                    <a:solidFill>
                      <a:srgbClr val="E7EEE4"/>
                    </a:solidFill>
                  </a:tcPr>
                </a:tc>
              </a:tr>
              <a:tr h="387804">
                <a:tc>
                  <a:txBody>
                    <a:bodyPr/>
                    <a:lstStyle/>
                    <a:p>
                      <a:r>
                        <a:rPr sz="1200">
                          <a:solidFill>
                            <a:srgbClr val="183B2A"/>
                          </a:solidFill>
                          <a:latin typeface="DejaVu Sans"/>
                          <a:ea typeface="DejaVu Sans"/>
                          <a:cs typeface="DejaVu Sans"/>
                        </a:rPr>
                        <a:t>A → Buyer1</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60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30</a:t>
                      </a:r>
                    </a:p>
                  </a:txBody>
                  <a:tcPr marL="114300" marR="114300" marT="76200" marB="76200" anchor="t">
                    <a:solidFill>
                      <a:srgbClr val="FFFEF9"/>
                    </a:solidFill>
                  </a:tcPr>
                </a:tc>
              </a:tr>
              <a:tr h="387804">
                <a:tc>
                  <a:txBody>
                    <a:bodyPr/>
                    <a:lstStyle/>
                    <a:p>
                      <a:r>
                        <a:rPr sz="1200">
                          <a:solidFill>
                            <a:srgbClr val="183B2A"/>
                          </a:solidFill>
                          <a:latin typeface="DejaVu Sans"/>
                          <a:ea typeface="DejaVu Sans"/>
                          <a:cs typeface="DejaVu Sans"/>
                        </a:rPr>
                        <a:t>A → Buyer2</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30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25</a:t>
                      </a:r>
                    </a:p>
                  </a:txBody>
                  <a:tcPr marL="114300" marR="114300" marT="76200" marB="76200" anchor="t">
                    <a:solidFill>
                      <a:srgbClr val="FFFEF9"/>
                    </a:solidFill>
                  </a:tcPr>
                </a:tc>
              </a:tr>
              <a:tr h="387804">
                <a:tc>
                  <a:txBody>
                    <a:bodyPr/>
                    <a:lstStyle/>
                    <a:p>
                      <a:r>
                        <a:rPr sz="1200">
                          <a:solidFill>
                            <a:srgbClr val="183B2A"/>
                          </a:solidFill>
                          <a:latin typeface="DejaVu Sans"/>
                          <a:ea typeface="DejaVu Sans"/>
                          <a:cs typeface="DejaVu Sans"/>
                        </a:rPr>
                        <a:t>A → Buyer3</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10</a:t>
                      </a:r>
                    </a:p>
                  </a:txBody>
                  <a:tcPr marL="114300" marR="114300" marT="76200" marB="76200" anchor="t">
                    <a:solidFill>
                      <a:srgbClr val="FFFEF9"/>
                    </a:solidFill>
                  </a:tcPr>
                </a:tc>
              </a:tr>
              <a:tr h="387804">
                <a:tc>
                  <a:txBody>
                    <a:bodyPr/>
                    <a:lstStyle/>
                    <a:p>
                      <a:r>
                        <a:rPr sz="1200">
                          <a:solidFill>
                            <a:srgbClr val="183B2A"/>
                          </a:solidFill>
                          <a:latin typeface="DejaVu Sans"/>
                          <a:ea typeface="DejaVu Sans"/>
                          <a:cs typeface="DejaVu Sans"/>
                        </a:rPr>
                        <a:t>B → Buyer1</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20</a:t>
                      </a:r>
                    </a:p>
                  </a:txBody>
                  <a:tcPr marL="114300" marR="114300" marT="76200" marB="76200" anchor="t">
                    <a:solidFill>
                      <a:srgbClr val="FFFEF9"/>
                    </a:solidFill>
                  </a:tcPr>
                </a:tc>
              </a:tr>
              <a:tr h="387804">
                <a:tc>
                  <a:txBody>
                    <a:bodyPr/>
                    <a:lstStyle/>
                    <a:p>
                      <a:r>
                        <a:rPr sz="1200">
                          <a:solidFill>
                            <a:srgbClr val="183B2A"/>
                          </a:solidFill>
                          <a:latin typeface="DejaVu Sans"/>
                          <a:ea typeface="DejaVu Sans"/>
                          <a:cs typeface="DejaVu Sans"/>
                        </a:rPr>
                        <a:t>B → Buyer2</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50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35</a:t>
                      </a:r>
                    </a:p>
                  </a:txBody>
                  <a:tcPr marL="114300" marR="114300" marT="76200" marB="76200" anchor="t">
                    <a:solidFill>
                      <a:srgbClr val="FFFEF9"/>
                    </a:solidFill>
                  </a:tcPr>
                </a:tc>
              </a:tr>
              <a:tr h="387804">
                <a:tc>
                  <a:txBody>
                    <a:bodyPr/>
                    <a:lstStyle/>
                    <a:p>
                      <a:r>
                        <a:rPr sz="1200">
                          <a:solidFill>
                            <a:srgbClr val="183B2A"/>
                          </a:solidFill>
                          <a:latin typeface="DejaVu Sans"/>
                          <a:ea typeface="DejaVu Sans"/>
                          <a:cs typeface="DejaVu Sans"/>
                        </a:rPr>
                        <a:t>B → Buyer3</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30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15</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234869F0-9D19-4C02-8512-15C13491E239}"/>
              </a:ext>
            </a:extLst>
          </p:cNvPr>
          <p:cNvSpPr>
            <a:spLocks xmlns:a="http://schemas.openxmlformats.org/drawingml/2006/main" noGrp="1"/>
          </p:cNvSpPr>
          <p:nvPr/>
        </p:nvSpPr>
        <p:spPr>
          <a:xfrm xmlns:a="http://schemas.openxmlformats.org/drawingml/2006/main">
            <a:off x="609600" y="5381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Toy total contribution4,950 USD; no actual avoided-loss synergy, financing or 25-year NPV assigned.</a:t>
            </a:r>
          </a:p>
        </p:txBody>
      </p:sp>
      <p:sp>
        <p:nvSpPr>
          <p:cNvPr id="6" name="">
            <a:extLst xmlns:a="http://schemas.openxmlformats.org/drawingml/2006/main">
              <a:ext uri="{FF2B5EF4-FFF2-40B4-BE49-F238E27FC236}">
                <a16:creationId xmlns:a16="http://schemas.microsoft.com/office/drawing/2014/main" id="{B5B031FB-6762-4EBC-A35A-B0B01BEE0D1E}"/>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7" name="">
            <a:extLst xmlns:a="http://schemas.openxmlformats.org/drawingml/2006/main">
              <a:ext uri="{FF2B5EF4-FFF2-40B4-BE49-F238E27FC236}">
                <a16:creationId xmlns:a16="http://schemas.microsoft.com/office/drawing/2014/main" id="{D9F78E40-F19A-43C6-B35C-B55A0DDF8C73}"/>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C-NETWORK   89 / 98</a:t>
            </a:r>
          </a:p>
        </p:txBody>
      </p:sp>
      <p:sp>
        <p:nvSpPr>
          <p:cNvPr id="8" name="">
            <a:extLst xmlns:a="http://schemas.openxmlformats.org/drawingml/2006/main">
              <a:ext uri="{FF2B5EF4-FFF2-40B4-BE49-F238E27FC236}">
                <a16:creationId xmlns:a16="http://schemas.microsoft.com/office/drawing/2014/main" id="{FFF75198-6E48-4317-866C-3A3F8983469D}"/>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1b7f6ccf9b45498b" action="ppaction://hlinksldjump"/>
              </a:rPr>
              <a:t>MAIN DECK ↗</a:t>
            </a:r>
          </a:p>
        </p:txBody>
      </p:sp>
      <p:sp>
        <p:nvSpPr>
          <p:cNvPr id="9" name="">
            <a:extLst xmlns:a="http://schemas.openxmlformats.org/drawingml/2006/main">
              <a:ext uri="{FF2B5EF4-FFF2-40B4-BE49-F238E27FC236}">
                <a16:creationId xmlns:a16="http://schemas.microsoft.com/office/drawing/2014/main" id="{C84C843A-A840-4412-AD0F-1EA05273C3C5}"/>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da22bad0bf30429a"/>
              </a:rPr>
              <a:t>EVIDENCE ↗</a:t>
            </a:r>
          </a:p>
        </p:txBody>
      </p:sp>
    </p:spTree>
    <p:extLst>
      <p:ext uri="{BB962C8B-B14F-4D97-AF65-F5344CB8AC3E}">
        <p14:creationId xmlns:p14="http://schemas.microsoft.com/office/powerpoint/2010/main" val="1403518110"/>
      </p:ext>
    </p:extLst>
  </p:cSld>
</p:sld>
</file>

<file path=ppt/slides/slide90.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EC5054F-A7EC-4744-AC9E-2111970A7332}"/>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VERIFICATION APPENDIX  /  90</a:t>
            </a:r>
          </a:p>
        </p:txBody>
      </p:sp>
      <p:sp>
        <p:nvSpPr>
          <p:cNvPr id="2" name="">
            <a:extLst xmlns:a="http://schemas.openxmlformats.org/drawingml/2006/main">
              <a:ext uri="{FF2B5EF4-FFF2-40B4-BE49-F238E27FC236}">
                <a16:creationId xmlns:a16="http://schemas.microsoft.com/office/drawing/2014/main" id="{1FB4A75A-7551-4858-85B0-D708D9AD1942}"/>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Compare policies with identical worlds and resources</a:t>
            </a:r>
          </a:p>
        </p:txBody>
      </p:sp>
      <p:sp>
        <p:nvSpPr>
          <p:cNvPr id="3" name="">
            <a:extLst xmlns:a="http://schemas.openxmlformats.org/drawingml/2006/main">
              <a:ext uri="{FF2B5EF4-FFF2-40B4-BE49-F238E27FC236}">
                <a16:creationId xmlns:a16="http://schemas.microsoft.com/office/drawing/2014/main" id="{0F6805E6-2116-4AE4-9C4E-8C3C6F837DCF}"/>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Feasibility changes what can be called optimal.</a:t>
            </a:r>
          </a:p>
        </p:txBody>
      </p:sp>
      <p:graphicFrame>
        <p:nvGraphicFramePr>
          <p:cNvPr id="13" name=""/>
          <p:cNvGraphicFramePr/>
          <p:nvPr/>
        </p:nvGraphicFramePr>
        <p:xfrm>
          <a:off xmlns:a="http://schemas.openxmlformats.org/drawingml/2006/main" x="609600" y="2505075"/>
          <a:ext xmlns:a="http://schemas.openxmlformats.org/drawingml/2006/main" cx="10972800" cy="2714625"/>
        </p:xfrm>
        <a:graphic xmlns:a="http://schemas.openxmlformats.org/drawingml/2006/main">
          <a:graphicData uri="http://schemas.openxmlformats.org/drawingml/2006/table">
            <a:tbl>
              <a:tblPr/>
              <a:tblGrid>
                <a:gridCol w="4095750"/>
                <a:gridCol w="3438525"/>
                <a:gridCol w="3438525"/>
              </a:tblGrid>
              <a:tr h="387804">
                <a:tc>
                  <a:txBody>
                    <a:bodyPr/>
                    <a:lstStyle/>
                    <a:p>
                      <a:r>
                        <a:rPr sz="1050" b="1">
                          <a:solidFill>
                            <a:srgbClr val="49624F"/>
                          </a:solidFill>
                          <a:latin typeface="DejaVu Sans"/>
                          <a:ea typeface="DejaVu Sans"/>
                          <a:cs typeface="DejaVu Sans"/>
                        </a:rPr>
                        <a:t>Chosen common-payoff policy</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Worst payoff</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Worst regret</a:t>
                      </a:r>
                    </a:p>
                  </a:txBody>
                  <a:tcPr marL="114300" marR="114300" marT="76200" marB="76200" anchor="t">
                    <a:solidFill>
                      <a:srgbClr val="E7EEE4"/>
                    </a:solidFill>
                  </a:tcPr>
                </a:tc>
              </a:tr>
              <a:tr h="387804">
                <a:tc>
                  <a:txBody>
                    <a:bodyPr/>
                    <a:lstStyle/>
                    <a:p>
                      <a:r>
                        <a:rPr sz="1200">
                          <a:solidFill>
                            <a:srgbClr val="183B2A"/>
                          </a:solidFill>
                          <a:latin typeface="DejaVu Sans"/>
                          <a:ea typeface="DejaVu Sans"/>
                          <a:cs typeface="DejaVu Sans"/>
                        </a:rPr>
                        <a:t>Equal linear split (relaxed)</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-3.00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3.67</a:t>
                      </a:r>
                    </a:p>
                  </a:txBody>
                  <a:tcPr marL="114300" marR="114300" marT="76200" marB="76200" anchor="t">
                    <a:solidFill>
                      <a:srgbClr val="FFFEF9"/>
                    </a:solidFill>
                  </a:tcPr>
                </a:tc>
              </a:tr>
              <a:tr h="387804">
                <a:tc>
                  <a:txBody>
                    <a:bodyPr/>
                    <a:lstStyle/>
                    <a:p>
                      <a:r>
                        <a:rPr sz="1200">
                          <a:solidFill>
                            <a:srgbClr val="183B2A"/>
                          </a:solidFill>
                          <a:latin typeface="DejaVu Sans"/>
                          <a:ea typeface="DejaVu Sans"/>
                          <a:cs typeface="DejaVu Sans"/>
                        </a:rPr>
                        <a:t>Market-size / central owned</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-8.00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8.00</a:t>
                      </a:r>
                    </a:p>
                  </a:txBody>
                  <a:tcPr marL="114300" marR="114300" marT="76200" marB="76200" anchor="t">
                    <a:solidFill>
                      <a:srgbClr val="FFFEF9"/>
                    </a:solidFill>
                  </a:tcPr>
                </a:tc>
              </a:tr>
              <a:tr h="387804">
                <a:tc>
                  <a:txBody>
                    <a:bodyPr/>
                    <a:lstStyle/>
                    <a:p>
                      <a:r>
                        <a:rPr sz="1200">
                          <a:solidFill>
                            <a:srgbClr val="183B2A"/>
                          </a:solidFill>
                          <a:latin typeface="DejaVu Sans"/>
                          <a:ea typeface="DejaVu Sans"/>
                          <a:cs typeface="DejaVu Sans"/>
                        </a:rPr>
                        <a:t>Central standalone NPV owned</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-8.00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8.00</a:t>
                      </a:r>
                    </a:p>
                  </a:txBody>
                  <a:tcPr marL="114300" marR="114300" marT="76200" marB="76200" anchor="t">
                    <a:solidFill>
                      <a:srgbClr val="FFFEF9"/>
                    </a:solidFill>
                  </a:tcPr>
                </a:tc>
              </a:tr>
              <a:tr h="387804">
                <a:tc>
                  <a:txBody>
                    <a:bodyPr/>
                    <a:lstStyle/>
                    <a:p>
                      <a:r>
                        <a:rPr sz="1200">
                          <a:solidFill>
                            <a:srgbClr val="183B2A"/>
                          </a:solidFill>
                          <a:latin typeface="DejaVu Sans"/>
                          <a:ea typeface="DejaVu Sans"/>
                          <a:cs typeface="DejaVu Sans"/>
                        </a:rPr>
                        <a:t>Four discrete actions: partner</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-1.00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4.00</a:t>
                      </a:r>
                    </a:p>
                  </a:txBody>
                  <a:tcPr marL="114300" marR="114300" marT="76200" marB="76200" anchor="t">
                    <a:solidFill>
                      <a:srgbClr val="FFFEF9"/>
                    </a:solidFill>
                  </a:tcPr>
                </a:tc>
              </a:tr>
              <a:tr h="387804">
                <a:tc>
                  <a:txBody>
                    <a:bodyPr/>
                    <a:lstStyle/>
                    <a:p>
                      <a:r>
                        <a:rPr sz="1200">
                          <a:solidFill>
                            <a:srgbClr val="183B2A"/>
                          </a:solidFill>
                          <a:latin typeface="DejaVu Sans"/>
                          <a:ea typeface="DejaVu Sans"/>
                          <a:cs typeface="DejaVu Sans"/>
                        </a:rPr>
                        <a:t>Optimal linear split (relaxed)</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-2.91</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2.91</a:t>
                      </a:r>
                    </a:p>
                  </a:txBody>
                  <a:tcPr marL="114300" marR="114300" marT="76200" marB="76200" anchor="t">
                    <a:solidFill>
                      <a:srgbClr val="FFFEF9"/>
                    </a:solidFill>
                  </a:tcPr>
                </a:tc>
              </a:tr>
              <a:tr h="387804">
                <a:tc>
                  <a:txBody>
                    <a:bodyPr/>
                    <a:lstStyle/>
                    <a:p>
                      <a:r>
                        <a:rPr sz="1200">
                          <a:solidFill>
                            <a:srgbClr val="183B2A"/>
                          </a:solidFill>
                          <a:latin typeface="DejaVu Sans"/>
                          <a:ea typeface="DejaVu Sans"/>
                          <a:cs typeface="DejaVu Sans"/>
                        </a:rPr>
                        <a:t>Wait</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0.00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14.00</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B6EEF4C3-4229-4522-83DE-92FBC15CFB4E}"/>
              </a:ext>
            </a:extLst>
          </p:cNvPr>
          <p:cNvSpPr>
            <a:spLocks xmlns:a="http://schemas.openxmlformats.org/drawingml/2006/main" noGrp="1"/>
          </p:cNvSpPr>
          <p:nvPr/>
        </p:nvSpPr>
        <p:spPr>
          <a:xfrm xmlns:a="http://schemas.openxmlformats.org/drawingml/2006/main">
            <a:off x="609600" y="5381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Partner wins among4 indivisible actions. A linear scalable27.27% owned/72.73% partner mix lowers regret to2.91; real assets may not permit the relaxation.</a:t>
            </a:r>
          </a:p>
        </p:txBody>
      </p:sp>
      <p:sp>
        <p:nvSpPr>
          <p:cNvPr id="6" name="">
            <a:extLst xmlns:a="http://schemas.openxmlformats.org/drawingml/2006/main">
              <a:ext uri="{FF2B5EF4-FFF2-40B4-BE49-F238E27FC236}">
                <a16:creationId xmlns:a16="http://schemas.microsoft.com/office/drawing/2014/main" id="{308B08B4-9F1B-4774-A3FE-2DF9328EBA1D}"/>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7" name="">
            <a:extLst xmlns:a="http://schemas.openxmlformats.org/drawingml/2006/main">
              <a:ext uri="{FF2B5EF4-FFF2-40B4-BE49-F238E27FC236}">
                <a16:creationId xmlns:a16="http://schemas.microsoft.com/office/drawing/2014/main" id="{20F1BF6B-FFEF-4E6F-9186-140A249FA0BC}"/>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C-REGRET   90 / 98</a:t>
            </a:r>
          </a:p>
        </p:txBody>
      </p:sp>
      <p:sp>
        <p:nvSpPr>
          <p:cNvPr id="8" name="">
            <a:extLst xmlns:a="http://schemas.openxmlformats.org/drawingml/2006/main">
              <a:ext uri="{FF2B5EF4-FFF2-40B4-BE49-F238E27FC236}">
                <a16:creationId xmlns:a16="http://schemas.microsoft.com/office/drawing/2014/main" id="{A3446D4C-2C6B-4E94-B2BE-91E3FAE83DE2}"/>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807fd8a9e2954d53" action="ppaction://hlinksldjump"/>
              </a:rPr>
              <a:t>MAIN DECK ↗</a:t>
            </a:r>
          </a:p>
        </p:txBody>
      </p:sp>
      <p:sp>
        <p:nvSpPr>
          <p:cNvPr id="9" name="">
            <a:extLst xmlns:a="http://schemas.openxmlformats.org/drawingml/2006/main">
              <a:ext uri="{FF2B5EF4-FFF2-40B4-BE49-F238E27FC236}">
                <a16:creationId xmlns:a16="http://schemas.microsoft.com/office/drawing/2014/main" id="{ADB4F9A8-9117-4B9D-A452-C26610018141}"/>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520e0fa89dbf4f13"/>
              </a:rPr>
              <a:t>EVIDENCE ↗</a:t>
            </a:r>
          </a:p>
        </p:txBody>
      </p:sp>
    </p:spTree>
    <p:extLst>
      <p:ext uri="{BB962C8B-B14F-4D97-AF65-F5344CB8AC3E}">
        <p14:creationId xmlns:p14="http://schemas.microsoft.com/office/powerpoint/2010/main" val="1587228443"/>
      </p:ext>
    </p:extLst>
  </p:cSld>
</p:sld>
</file>

<file path=ppt/slides/slide91.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AB18C9E-0722-4F62-B237-CF1DAE0E8D3D}"/>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VERIFICATION APPENDIX  /  91</a:t>
            </a:r>
          </a:p>
        </p:txBody>
      </p:sp>
      <p:sp>
        <p:nvSpPr>
          <p:cNvPr id="2" name="">
            <a:extLst xmlns:a="http://schemas.openxmlformats.org/drawingml/2006/main">
              <a:ext uri="{FF2B5EF4-FFF2-40B4-BE49-F238E27FC236}">
                <a16:creationId xmlns:a16="http://schemas.microsoft.com/office/drawing/2014/main" id="{DC96B201-686A-44AE-AC06-C6564988E5D8}"/>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Modules earn complexity by changing a decision</a:t>
            </a:r>
          </a:p>
        </p:txBody>
      </p:sp>
      <p:sp>
        <p:nvSpPr>
          <p:cNvPr id="3" name="">
            <a:extLst xmlns:a="http://schemas.openxmlformats.org/drawingml/2006/main">
              <a:ext uri="{FF2B5EF4-FFF2-40B4-BE49-F238E27FC236}">
                <a16:creationId xmlns:a16="http://schemas.microsoft.com/office/drawing/2014/main" id="{17C2366E-5A07-4BBC-923E-3FBA13D9AC4D}"/>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Ablations reveal the cash, physical and learning mechanisms.</a:t>
            </a:r>
          </a:p>
        </p:txBody>
      </p:sp>
      <p:graphicFrame>
        <p:nvGraphicFramePr>
          <p:cNvPr id="13" name=""/>
          <p:cNvGraphicFramePr/>
          <p:nvPr/>
        </p:nvGraphicFramePr>
        <p:xfrm>
          <a:off xmlns:a="http://schemas.openxmlformats.org/drawingml/2006/main" x="609600" y="2505075"/>
          <a:ext xmlns:a="http://schemas.openxmlformats.org/drawingml/2006/main" cx="10972800" cy="2714625"/>
        </p:xfrm>
        <a:graphic xmlns:a="http://schemas.openxmlformats.org/drawingml/2006/main">
          <a:graphicData uri="http://schemas.openxmlformats.org/drawingml/2006/table">
            <a:tbl>
              <a:tblPr/>
              <a:tblGrid>
                <a:gridCol w="4095750"/>
                <a:gridCol w="3438525"/>
                <a:gridCol w="3438525"/>
              </a:tblGrid>
              <a:tr h="678656">
                <a:tc>
                  <a:txBody>
                    <a:bodyPr/>
                    <a:lstStyle/>
                    <a:p>
                      <a:r>
                        <a:rPr sz="1050" b="1">
                          <a:solidFill>
                            <a:srgbClr val="49624F"/>
                          </a:solidFill>
                          <a:latin typeface="DejaVu Sans"/>
                          <a:ea typeface="DejaVu Sans"/>
                          <a:cs typeface="DejaVu Sans"/>
                        </a:rPr>
                        <a:t>Removed module / same case</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Baseline</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Ablated</a:t>
                      </a:r>
                    </a:p>
                  </a:txBody>
                  <a:tcPr marL="114300" marR="114300" marT="76200" marB="76200" anchor="t">
                    <a:solidFill>
                      <a:srgbClr val="E7EEE4"/>
                    </a:solidFill>
                  </a:tcPr>
                </a:tc>
              </a:tr>
              <a:tr h="678656">
                <a:tc>
                  <a:txBody>
                    <a:bodyPr/>
                    <a:lstStyle/>
                    <a:p>
                      <a:r>
                        <a:rPr sz="1200">
                          <a:solidFill>
                            <a:srgbClr val="183B2A"/>
                          </a:solidFill>
                          <a:latin typeface="DejaVu Sans"/>
                          <a:ea typeface="DejaVu Sans"/>
                          <a:cs typeface="DejaVu Sans"/>
                        </a:rPr>
                        <a:t>Working capital and its closeout</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-1.80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3.61</a:t>
                      </a:r>
                    </a:p>
                  </a:txBody>
                  <a:tcPr marL="114300" marR="114300" marT="76200" marB="76200" anchor="t">
                    <a:solidFill>
                      <a:srgbClr val="FFFEF9"/>
                    </a:solidFill>
                  </a:tcPr>
                </a:tc>
              </a:tr>
              <a:tr h="678656">
                <a:tc>
                  <a:txBody>
                    <a:bodyPr/>
                    <a:lstStyle/>
                    <a:p>
                      <a:r>
                        <a:rPr sz="1200">
                          <a:solidFill>
                            <a:srgbClr val="183B2A"/>
                          </a:solidFill>
                          <a:latin typeface="DejaVu Sans"/>
                          <a:ea typeface="DejaVu Sans"/>
                          <a:cs typeface="DejaVu Sans"/>
                        </a:rPr>
                        <a:t>Physical capacity cap</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-1.80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-1.80</a:t>
                      </a:r>
                    </a:p>
                  </a:txBody>
                  <a:tcPr marL="114300" marR="114300" marT="76200" marB="76200" anchor="t">
                    <a:solidFill>
                      <a:srgbClr val="FFFEF9"/>
                    </a:solidFill>
                  </a:tcPr>
                </a:tc>
              </a:tr>
              <a:tr h="678656">
                <a:tc>
                  <a:txBody>
                    <a:bodyPr/>
                    <a:lstStyle/>
                    <a:p>
                      <a:r>
                        <a:rPr sz="1200">
                          <a:solidFill>
                            <a:srgbClr val="183B2A"/>
                          </a:solidFill>
                          <a:latin typeface="DejaVu Sans"/>
                          <a:ea typeface="DejaVu Sans"/>
                          <a:cs typeface="DejaVu Sans"/>
                        </a:rPr>
                        <a:t>Learning decision update</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0.70</a:t>
                      </a:r>
                    </a:p>
                  </a:txBody>
                  <a:tcPr marL="114300" marR="114300" marT="76200" marB="76200" anchor="t">
                    <a:solidFill>
                      <a:srgbClr val="FFFEF9"/>
                    </a:solidFill>
                  </a:tcPr>
                </a:tc>
                <a:tc>
                  <a:txBody>
                    <a:bodyPr/>
                    <a:lstStyle/>
                    <a:p>
                      <a:r>
                        <a:rPr sz="1200">
                          <a:solidFill>
                            <a:srgbClr val="183B2A"/>
                          </a:solidFill>
                          <a:latin typeface="DejaVu Sans"/>
                          <a:ea typeface="DejaVu Sans"/>
                          <a:cs typeface="DejaVu Sans"/>
                        </a:rPr>
                        <a:t>-1.50</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87CB02EE-9C14-4018-8AD6-AB073582B1E6}"/>
              </a:ext>
            </a:extLst>
          </p:cNvPr>
          <p:cNvSpPr>
            <a:spLocks xmlns:a="http://schemas.openxmlformats.org/drawingml/2006/main" noGrp="1"/>
          </p:cNvSpPr>
          <p:nvPr/>
        </p:nvSpPr>
        <p:spPr>
          <a:xfrm xmlns:a="http://schemas.openxmlformats.org/drawingml/2006/main">
            <a:off x="609600" y="5381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These are teaching sensitivity checks; empirical policy improvement remains open.</a:t>
            </a:r>
          </a:p>
        </p:txBody>
      </p:sp>
      <p:sp>
        <p:nvSpPr>
          <p:cNvPr id="6" name="">
            <a:extLst xmlns:a="http://schemas.openxmlformats.org/drawingml/2006/main">
              <a:ext uri="{FF2B5EF4-FFF2-40B4-BE49-F238E27FC236}">
                <a16:creationId xmlns:a16="http://schemas.microsoft.com/office/drawing/2014/main" id="{11E2DD7B-2B03-4A01-8D4B-2BA3BAD9599D}"/>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7" name="">
            <a:extLst xmlns:a="http://schemas.openxmlformats.org/drawingml/2006/main">
              <a:ext uri="{FF2B5EF4-FFF2-40B4-BE49-F238E27FC236}">
                <a16:creationId xmlns:a16="http://schemas.microsoft.com/office/drawing/2014/main" id="{855AD84E-D915-4313-B728-CD33B60BEEA9}"/>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C-ABLATION   91 / 98</a:t>
            </a:r>
          </a:p>
        </p:txBody>
      </p:sp>
      <p:sp>
        <p:nvSpPr>
          <p:cNvPr id="8" name="">
            <a:extLst xmlns:a="http://schemas.openxmlformats.org/drawingml/2006/main">
              <a:ext uri="{FF2B5EF4-FFF2-40B4-BE49-F238E27FC236}">
                <a16:creationId xmlns:a16="http://schemas.microsoft.com/office/drawing/2014/main" id="{FEC99510-0787-4381-80F0-68DE9AAE32E1}"/>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645bbcafb27d4cef" action="ppaction://hlinksldjump"/>
              </a:rPr>
              <a:t>MAIN DECK ↗</a:t>
            </a:r>
          </a:p>
        </p:txBody>
      </p:sp>
      <p:sp>
        <p:nvSpPr>
          <p:cNvPr id="9" name="">
            <a:extLst xmlns:a="http://schemas.openxmlformats.org/drawingml/2006/main">
              <a:ext uri="{FF2B5EF4-FFF2-40B4-BE49-F238E27FC236}">
                <a16:creationId xmlns:a16="http://schemas.microsoft.com/office/drawing/2014/main" id="{FD4D0BC5-BE19-4AB9-87ED-3FCD4A0625B9}"/>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0663c41232394bf7"/>
              </a:rPr>
              <a:t>EVIDENCE ↗</a:t>
            </a:r>
          </a:p>
        </p:txBody>
      </p:sp>
    </p:spTree>
    <p:extLst>
      <p:ext uri="{BB962C8B-B14F-4D97-AF65-F5344CB8AC3E}">
        <p14:creationId xmlns:p14="http://schemas.microsoft.com/office/powerpoint/2010/main" val="1712802261"/>
      </p:ext>
    </p:extLst>
  </p:cSld>
</p:sld>
</file>

<file path=ppt/slides/slide92.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6762CE-BC53-4E48-95FC-33E67483E8FA}"/>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VERIFICATION APPENDIX  /  92</a:t>
            </a:r>
          </a:p>
        </p:txBody>
      </p:sp>
      <p:sp>
        <p:nvSpPr>
          <p:cNvPr id="2" name="">
            <a:extLst xmlns:a="http://schemas.openxmlformats.org/drawingml/2006/main">
              <a:ext uri="{FF2B5EF4-FFF2-40B4-BE49-F238E27FC236}">
                <a16:creationId xmlns:a16="http://schemas.microsoft.com/office/drawing/2014/main" id="{496848A0-BED2-4A90-8D39-E0D6D36E1FDF}"/>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Scale, service and cost compete before brand narratives</a:t>
            </a:r>
          </a:p>
        </p:txBody>
      </p:sp>
      <p:sp>
        <p:nvSpPr>
          <p:cNvPr id="3" name="">
            <a:extLst xmlns:a="http://schemas.openxmlformats.org/drawingml/2006/main">
              <a:ext uri="{FF2B5EF4-FFF2-40B4-BE49-F238E27FC236}">
                <a16:creationId xmlns:a16="http://schemas.microsoft.com/office/drawing/2014/main" id="{86C3E9C0-29A3-4922-9142-1721DE1702B8}"/>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Global rivals disclose network and customer mechanisms; local shares remain missing.</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3429000"/>
                <a:gridCol w="7543800"/>
              </a:tblGrid>
              <a:tr h="666750">
                <a:tc>
                  <a:txBody>
                    <a:bodyPr/>
                    <a:lstStyle/>
                    <a:p>
                      <a:r>
                        <a:rPr sz="1050" b="1">
                          <a:solidFill>
                            <a:srgbClr val="49624F"/>
                          </a:solidFill>
                          <a:latin typeface="DejaVu Sans"/>
                          <a:ea typeface="DejaVu Sans"/>
                          <a:cs typeface="DejaVu Sans"/>
                        </a:rPr>
                        <a:t>Primary issuer</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Relevant mechanism</a:t>
                      </a:r>
                    </a:p>
                  </a:txBody>
                  <a:tcPr marL="114300" marR="114300" marT="76200" marB="76200" anchor="t">
                    <a:solidFill>
                      <a:srgbClr val="E7EEE4"/>
                    </a:solidFill>
                  </a:tcPr>
                </a:tc>
              </a:tr>
              <a:tr h="666750">
                <a:tc>
                  <a:txBody>
                    <a:bodyPr/>
                    <a:lstStyle/>
                    <a:p>
                      <a:r>
                        <a:rPr sz="1275">
                          <a:solidFill>
                            <a:srgbClr val="183B2A"/>
                          </a:solidFill>
                          <a:latin typeface="DejaVu Sans"/>
                          <a:ea typeface="DejaVu Sans"/>
                          <a:cs typeface="DejaVu Sans"/>
                        </a:rPr>
                        <a:t>ADM2025 Form10-K</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Price, quality, FX, substitutes and seasonal stocks</a:t>
                      </a:r>
                    </a:p>
                  </a:txBody>
                  <a:tcPr marL="114300" marR="114300" marT="76200" marB="76200" anchor="t">
                    <a:solidFill>
                      <a:srgbClr val="FFFEF9"/>
                    </a:solidFill>
                  </a:tcPr>
                </a:tc>
              </a:tr>
              <a:tr h="666750">
                <a:tc>
                  <a:txBody>
                    <a:bodyPr/>
                    <a:lstStyle/>
                    <a:p>
                      <a:r>
                        <a:rPr sz="1275">
                          <a:solidFill>
                            <a:srgbClr val="183B2A"/>
                          </a:solidFill>
                          <a:latin typeface="DejaVu Sans"/>
                          <a:ea typeface="DejaVu Sans"/>
                          <a:cs typeface="DejaVu Sans"/>
                        </a:rPr>
                        <a:t>Cargill2026 report</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Farmer/customer co-innovation and supply system</a:t>
                      </a:r>
                    </a:p>
                  </a:txBody>
                  <a:tcPr marL="114300" marR="114300" marT="76200" marB="76200" anchor="t">
                    <a:solidFill>
                      <a:srgbClr val="FFFEF9"/>
                    </a:solidFill>
                  </a:tcPr>
                </a:tc>
              </a:tr>
              <a:tr h="666750">
                <a:tc>
                  <a:txBody>
                    <a:bodyPr/>
                    <a:lstStyle/>
                    <a:p>
                      <a:r>
                        <a:rPr sz="1275">
                          <a:solidFill>
                            <a:srgbClr val="183B2A"/>
                          </a:solidFill>
                          <a:latin typeface="DejaVu Sans"/>
                          <a:ea typeface="DejaVu Sans"/>
                          <a:cs typeface="DejaVu Sans"/>
                        </a:rPr>
                        <a:t>Bunge/Viterra, July2025</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Combined network; do not double-count competitors</a:t>
                      </a:r>
                    </a:p>
                  </a:txBody>
                  <a:tcPr marL="114300" marR="114300" marT="76200" marB="76200" anchor="t">
                    <a:solidFill>
                      <a:srgbClr val="FFFEF9"/>
                    </a:solidFill>
                  </a:tcPr>
                </a:tc>
              </a:tr>
              <a:tr h="666750">
                <a:tc>
                  <a:txBody>
                    <a:bodyPr/>
                    <a:lstStyle/>
                    <a:p>
                      <a:r>
                        <a:rPr sz="1275">
                          <a:solidFill>
                            <a:srgbClr val="183B2A"/>
                          </a:solidFill>
                          <a:latin typeface="DejaVu Sans"/>
                          <a:ea typeface="DejaVu Sans"/>
                          <a:cs typeface="DejaVu Sans"/>
                        </a:rPr>
                        <a:t>Local category competitors</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Actual delivered offer/credit/share needs field evidence</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C90518BB-EADB-46CB-922E-39A449C253FA}"/>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REPORTED FACT | SOURCE ADM_2025 · CARGILL_2026 · BUNGE_VITERRA</a:t>
            </a:r>
          </a:p>
        </p:txBody>
      </p:sp>
      <p:sp>
        <p:nvSpPr>
          <p:cNvPr id="6" name="">
            <a:extLst xmlns:a="http://schemas.openxmlformats.org/drawingml/2006/main">
              <a:ext uri="{FF2B5EF4-FFF2-40B4-BE49-F238E27FC236}">
                <a16:creationId xmlns:a16="http://schemas.microsoft.com/office/drawing/2014/main" id="{1B9EF511-D7F1-44A0-8FD2-6760B2FD0B83}"/>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92 / 98</a:t>
            </a:r>
          </a:p>
        </p:txBody>
      </p:sp>
      <p:sp>
        <p:nvSpPr>
          <p:cNvPr id="7" name="">
            <a:extLst xmlns:a="http://schemas.openxmlformats.org/drawingml/2006/main">
              <a:ext uri="{FF2B5EF4-FFF2-40B4-BE49-F238E27FC236}">
                <a16:creationId xmlns:a16="http://schemas.microsoft.com/office/drawing/2014/main" id="{7193E669-CC69-429C-AD37-397EABCC7230}"/>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7a89152f3b3441a2" action="ppaction://hlinksldjump"/>
              </a:rPr>
              <a:t>MAIN DECK ↗</a:t>
            </a:r>
          </a:p>
        </p:txBody>
      </p:sp>
      <p:sp>
        <p:nvSpPr>
          <p:cNvPr id="8" name="">
            <a:extLst xmlns:a="http://schemas.openxmlformats.org/drawingml/2006/main">
              <a:ext uri="{FF2B5EF4-FFF2-40B4-BE49-F238E27FC236}">
                <a16:creationId xmlns:a16="http://schemas.microsoft.com/office/drawing/2014/main" id="{E4B2ADAE-FD66-4645-9B7E-D280706584BD}"/>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e28c5b67777b47c5"/>
              </a:rPr>
              <a:t>EVIDENCE ↗</a:t>
            </a:r>
          </a:p>
        </p:txBody>
      </p:sp>
    </p:spTree>
    <p:extLst>
      <p:ext uri="{BB962C8B-B14F-4D97-AF65-F5344CB8AC3E}">
        <p14:creationId xmlns:p14="http://schemas.microsoft.com/office/powerpoint/2010/main" val="1305969898"/>
      </p:ext>
    </p:extLst>
  </p:cSld>
</p:sld>
</file>

<file path=ppt/slides/slide93.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DD6276-7265-4F98-84C3-D93EEA63FE5B}"/>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VERIFICATION APPENDIX  /  93</a:t>
            </a:r>
          </a:p>
        </p:txBody>
      </p:sp>
      <p:sp>
        <p:nvSpPr>
          <p:cNvPr id="2" name="">
            <a:extLst xmlns:a="http://schemas.openxmlformats.org/drawingml/2006/main">
              <a:ext uri="{FF2B5EF4-FFF2-40B4-BE49-F238E27FC236}">
                <a16:creationId xmlns:a16="http://schemas.microsoft.com/office/drawing/2014/main" id="{1B5897C9-5DFC-493B-A22E-E71BFD0A0623}"/>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Broader national evidence still cannot value a route</a:t>
            </a:r>
          </a:p>
        </p:txBody>
      </p:sp>
      <p:sp>
        <p:nvSpPr>
          <p:cNvPr id="3" name="">
            <a:extLst xmlns:a="http://schemas.openxmlformats.org/drawingml/2006/main">
              <a:ext uri="{FF2B5EF4-FFF2-40B4-BE49-F238E27FC236}">
                <a16:creationId xmlns:a16="http://schemas.microsoft.com/office/drawing/2014/main" id="{028D401F-5953-44C6-B13A-0DFD8987C318}"/>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34 country-driver series are dated and coverage checked.</a:t>
            </a:r>
          </a:p>
        </p:txBody>
      </p:sp>
      <p:sp>
        <p:nvSpPr>
          <p:cNvPr id="4" name="">
            <a:extLst xmlns:a="http://schemas.openxmlformats.org/drawingml/2006/main">
              <a:ext uri="{FF2B5EF4-FFF2-40B4-BE49-F238E27FC236}">
                <a16:creationId xmlns:a16="http://schemas.microsoft.com/office/drawing/2014/main" id="{3F9748B5-6DD4-4482-BCD3-CF43F52810BD}"/>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Added age structure, fertility, migration, health, poverty/inequality, labour, finance, power, agriculture and irrigation proxies.</a:t>
            </a:r>
          </a:p>
        </p:txBody>
      </p:sp>
      <p:sp>
        <p:nvSpPr>
          <p:cNvPr id="5" name="">
            <a:extLst xmlns:a="http://schemas.openxmlformats.org/drawingml/2006/main">
              <a:ext uri="{FF2B5EF4-FFF2-40B4-BE49-F238E27FC236}">
                <a16:creationId xmlns:a16="http://schemas.microsoft.com/office/drawing/2014/main" id="{E127627B-6DE5-449F-B5AA-F8C877CF9DD9}"/>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country-driver-coverage.csv records each country-variable gap, first/latest year, definition and eligibility. No country mean becomes an Olam customer parameter.</a:t>
            </a:r>
          </a:p>
        </p:txBody>
      </p:sp>
      <p:sp>
        <p:nvSpPr>
          <p:cNvPr id="6" name="">
            <a:extLst xmlns:a="http://schemas.openxmlformats.org/drawingml/2006/main">
              <a:ext uri="{FF2B5EF4-FFF2-40B4-BE49-F238E27FC236}">
                <a16:creationId xmlns:a16="http://schemas.microsoft.com/office/drawing/2014/main" id="{469F7BE7-4EDD-4105-A6E2-5153FA3D7FD1}"/>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WPP compact source has Medium only; low/high variants and product consumption paths remain open.</a:t>
            </a:r>
          </a:p>
        </p:txBody>
      </p:sp>
      <p:sp>
        <p:nvSpPr>
          <p:cNvPr id="7" name="">
            <a:extLst xmlns:a="http://schemas.openxmlformats.org/drawingml/2006/main">
              <a:ext uri="{FF2B5EF4-FFF2-40B4-BE49-F238E27FC236}">
                <a16:creationId xmlns:a16="http://schemas.microsoft.com/office/drawing/2014/main" id="{46388612-BB07-4A70-ACBA-B5900E9938B9}"/>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DERIVED FIGURE | SOURCE WB_fertility · WB_age_over65 · WB_poverty · WB_irrigated_land</a:t>
            </a:r>
          </a:p>
        </p:txBody>
      </p:sp>
      <p:sp>
        <p:nvSpPr>
          <p:cNvPr id="8" name="">
            <a:extLst xmlns:a="http://schemas.openxmlformats.org/drawingml/2006/main">
              <a:ext uri="{FF2B5EF4-FFF2-40B4-BE49-F238E27FC236}">
                <a16:creationId xmlns:a16="http://schemas.microsoft.com/office/drawing/2014/main" id="{F7D8676F-488A-4D81-9064-60A7BFEA661E}"/>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93 / 98</a:t>
            </a:r>
          </a:p>
        </p:txBody>
      </p:sp>
      <p:sp>
        <p:nvSpPr>
          <p:cNvPr id="9" name="">
            <a:extLst xmlns:a="http://schemas.openxmlformats.org/drawingml/2006/main">
              <a:ext uri="{FF2B5EF4-FFF2-40B4-BE49-F238E27FC236}">
                <a16:creationId xmlns:a16="http://schemas.microsoft.com/office/drawing/2014/main" id="{072DF343-FCBA-437F-BD84-C4F2514C995F}"/>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072bbe505cba4beb" action="ppaction://hlinksldjump"/>
              </a:rPr>
              <a:t>MAIN DECK ↗</a:t>
            </a:r>
          </a:p>
        </p:txBody>
      </p:sp>
      <p:sp>
        <p:nvSpPr>
          <p:cNvPr id="10" name="">
            <a:extLst xmlns:a="http://schemas.openxmlformats.org/drawingml/2006/main">
              <a:ext uri="{FF2B5EF4-FFF2-40B4-BE49-F238E27FC236}">
                <a16:creationId xmlns:a16="http://schemas.microsoft.com/office/drawing/2014/main" id="{DC28341E-830A-452F-AC19-9A58D1963DDC}"/>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9108519619cd4906"/>
              </a:rPr>
              <a:t>EVIDENCE ↗</a:t>
            </a:r>
          </a:p>
        </p:txBody>
      </p:sp>
    </p:spTree>
    <p:extLst>
      <p:ext uri="{BB962C8B-B14F-4D97-AF65-F5344CB8AC3E}">
        <p14:creationId xmlns:p14="http://schemas.microsoft.com/office/powerpoint/2010/main" val="739719439"/>
      </p:ext>
    </p:extLst>
  </p:cSld>
</p:sld>
</file>

<file path=ppt/slides/slide94.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1860D4E-5E7B-410C-B094-9EB1B74626F0}"/>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VERIFICATION APPENDIX  /  94</a:t>
            </a:r>
          </a:p>
        </p:txBody>
      </p:sp>
      <p:sp>
        <p:nvSpPr>
          <p:cNvPr id="2" name="">
            <a:extLst xmlns:a="http://schemas.openxmlformats.org/drawingml/2006/main">
              <a:ext uri="{FF2B5EF4-FFF2-40B4-BE49-F238E27FC236}">
                <a16:creationId xmlns:a16="http://schemas.microsoft.com/office/drawing/2014/main" id="{78021F60-7F2F-4713-949E-A48984ED786F}"/>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Separate product decisions in every priority market</a:t>
            </a:r>
          </a:p>
        </p:txBody>
      </p:sp>
      <p:sp>
        <p:nvSpPr>
          <p:cNvPr id="3" name="">
            <a:extLst xmlns:a="http://schemas.openxmlformats.org/drawingml/2006/main">
              <a:ext uri="{FF2B5EF4-FFF2-40B4-BE49-F238E27FC236}">
                <a16:creationId xmlns:a16="http://schemas.microsoft.com/office/drawing/2014/main" id="{49527599-E143-4731-A4C3-E632D3E1B3DE}"/>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Eighteen plans specify customer, pack, channel, test and stop rule.</a:t>
            </a:r>
          </a:p>
        </p:txBody>
      </p:sp>
      <p:graphicFrame>
        <p:nvGraphicFramePr>
          <p:cNvPr id="13" name=""/>
          <p:cNvGraphicFramePr/>
          <p:nvPr/>
        </p:nvGraphicFramePr>
        <p:xfrm>
          <a:off xmlns:a="http://schemas.openxmlformats.org/drawingml/2006/main" x="609600" y="2505075"/>
          <a:ext xmlns:a="http://schemas.openxmlformats.org/drawingml/2006/main" cx="10972800" cy="2714625"/>
        </p:xfrm>
        <a:graphic xmlns:a="http://schemas.openxmlformats.org/drawingml/2006/main">
          <a:graphicData uri="http://schemas.openxmlformats.org/drawingml/2006/table">
            <a:tbl>
              <a:tblPr/>
              <a:tblGrid>
                <a:gridCol w="3429000"/>
                <a:gridCol w="7543800"/>
              </a:tblGrid>
              <a:tr h="452438">
                <a:tc>
                  <a:txBody>
                    <a:bodyPr/>
                    <a:lstStyle/>
                    <a:p>
                      <a:r>
                        <a:rPr sz="1050" b="1">
                          <a:solidFill>
                            <a:srgbClr val="49624F"/>
                          </a:solidFill>
                          <a:latin typeface="DejaVu Sans"/>
                          <a:ea typeface="DejaVu Sans"/>
                          <a:cs typeface="DejaVu Sans"/>
                        </a:rPr>
                        <a:t>Priority markets</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Distinct product cases</a:t>
                      </a:r>
                    </a:p>
                  </a:txBody>
                  <a:tcPr marL="114300" marR="114300" marT="76200" marB="76200" anchor="t">
                    <a:solidFill>
                      <a:srgbClr val="E7EEE4"/>
                    </a:solidFill>
                  </a:tcPr>
                </a:tc>
              </a:tr>
              <a:tr h="452438">
                <a:tc>
                  <a:txBody>
                    <a:bodyPr/>
                    <a:lstStyle/>
                    <a:p>
                      <a:r>
                        <a:rPr sz="1275">
                          <a:solidFill>
                            <a:srgbClr val="183B2A"/>
                          </a:solidFill>
                          <a:latin typeface="DejaVu Sans"/>
                          <a:ea typeface="DejaVu Sans"/>
                          <a:cs typeface="DejaVu Sans"/>
                        </a:rPr>
                        <a:t>Nigeria; Ghana</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Semolina/oils; flour/pasta</a:t>
                      </a:r>
                    </a:p>
                  </a:txBody>
                  <a:tcPr marL="114300" marR="114300" marT="76200" marB="76200" anchor="t">
                    <a:solidFill>
                      <a:srgbClr val="FFFEF9"/>
                    </a:solidFill>
                  </a:tcPr>
                </a:tc>
              </a:tr>
              <a:tr h="452438">
                <a:tc>
                  <a:txBody>
                    <a:bodyPr/>
                    <a:lstStyle/>
                    <a:p>
                      <a:r>
                        <a:rPr sz="1275">
                          <a:solidFill>
                            <a:srgbClr val="183B2A"/>
                          </a:solidFill>
                          <a:latin typeface="DejaVu Sans"/>
                          <a:ea typeface="DejaVu Sans"/>
                          <a:cs typeface="DejaVu Sans"/>
                        </a:rPr>
                        <a:t>Senegal; Cameroon</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Flour/feed; flour/rice</a:t>
                      </a:r>
                    </a:p>
                  </a:txBody>
                  <a:tcPr marL="114300" marR="114300" marT="76200" marB="76200" anchor="t">
                    <a:solidFill>
                      <a:srgbClr val="FFFEF9"/>
                    </a:solidFill>
                  </a:tcPr>
                </a:tc>
              </a:tr>
              <a:tr h="452438">
                <a:tc>
                  <a:txBody>
                    <a:bodyPr/>
                    <a:lstStyle/>
                    <a:p>
                      <a:r>
                        <a:rPr sz="1275">
                          <a:solidFill>
                            <a:srgbClr val="183B2A"/>
                          </a:solidFill>
                          <a:latin typeface="DejaVu Sans"/>
                          <a:ea typeface="DejaVu Sans"/>
                          <a:cs typeface="DejaVu Sans"/>
                        </a:rPr>
                        <a:t>Mozambique; South Africa</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Rice/oils; maize/oils</a:t>
                      </a:r>
                    </a:p>
                  </a:txBody>
                  <a:tcPr marL="114300" marR="114300" marT="76200" marB="76200" anchor="t">
                    <a:solidFill>
                      <a:srgbClr val="FFFEF9"/>
                    </a:solidFill>
                  </a:tcPr>
                </a:tc>
              </a:tr>
              <a:tr h="452438">
                <a:tc>
                  <a:txBody>
                    <a:bodyPr/>
                    <a:lstStyle/>
                    <a:p>
                      <a:r>
                        <a:rPr sz="1275">
                          <a:solidFill>
                            <a:srgbClr val="183B2A"/>
                          </a:solidFill>
                          <a:latin typeface="DejaVu Sans"/>
                          <a:ea typeface="DejaVu Sans"/>
                          <a:cs typeface="DejaVu Sans"/>
                        </a:rPr>
                        <a:t>India; Vietnam</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Rice; rice</a:t>
                      </a:r>
                    </a:p>
                  </a:txBody>
                  <a:tcPr marL="114300" marR="114300" marT="76200" marB="76200" anchor="t">
                    <a:solidFill>
                      <a:srgbClr val="FFFEF9"/>
                    </a:solidFill>
                  </a:tcPr>
                </a:tc>
              </a:tr>
              <a:tr h="452438">
                <a:tc>
                  <a:txBody>
                    <a:bodyPr/>
                    <a:lstStyle/>
                    <a:p>
                      <a:r>
                        <a:rPr sz="1275">
                          <a:solidFill>
                            <a:srgbClr val="183B2A"/>
                          </a:solidFill>
                          <a:latin typeface="DejaVu Sans"/>
                          <a:ea typeface="DejaVu Sans"/>
                          <a:cs typeface="DejaVu Sans"/>
                        </a:rPr>
                        <a:t>Brazil; Saudi Arabia</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Soybeans/maize/wheat; wheat</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C5883D26-2E35-45F5-A061-3F8A1EBD72C5}"/>
              </a:ext>
            </a:extLst>
          </p:cNvPr>
          <p:cNvSpPr>
            <a:spLocks xmlns:a="http://schemas.openxmlformats.org/drawingml/2006/main" noGrp="1"/>
          </p:cNvSpPr>
          <p:nvPr/>
        </p:nvSpPr>
        <p:spPr>
          <a:xfrm xmlns:a="http://schemas.openxmlformats.org/drawingml/2006/main">
            <a:off x="609600" y="5381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83B2A"/>
                </a:solidFill>
                <a:latin typeface="DejaVu Sans"/>
                <a:ea typeface="DejaVu Sans"/>
                <a:cs typeface="DejaVu Sans"/>
              </a:defRPr>
            </a:pPr>
            <a:r>
              <a:rPr sz="1350" b="0">
                <a:solidFill>
                  <a:srgbClr val="183B2A"/>
                </a:solidFill>
                <a:latin typeface="DejaVu Sans"/>
                <a:ea typeface="DejaVu Sans"/>
                <a:cs typeface="DejaVu Sans"/>
              </a:rPr>
              <a:t>Indexed companion: priority-commercial-plans.pdf. Matrix includes8526 country-product-world-milestone rows with unsupported finance null.</a:t>
            </a:r>
          </a:p>
        </p:txBody>
      </p:sp>
      <p:sp>
        <p:nvSpPr>
          <p:cNvPr id="6" name="">
            <a:extLst xmlns:a="http://schemas.openxmlformats.org/drawingml/2006/main">
              <a:ext uri="{FF2B5EF4-FFF2-40B4-BE49-F238E27FC236}">
                <a16:creationId xmlns:a16="http://schemas.microsoft.com/office/drawing/2014/main" id="{1C1331B6-17DF-40EC-93E2-545B058C356A}"/>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CONDITIONAL / ILLUSTRATIVE   |   A_EXAMPLE</a:t>
            </a:r>
          </a:p>
        </p:txBody>
      </p:sp>
      <p:sp>
        <p:nvSpPr>
          <p:cNvPr id="7" name="">
            <a:extLst xmlns:a="http://schemas.openxmlformats.org/drawingml/2006/main">
              <a:ext uri="{FF2B5EF4-FFF2-40B4-BE49-F238E27FC236}">
                <a16:creationId xmlns:a16="http://schemas.microsoft.com/office/drawing/2014/main" id="{344B5577-3559-4601-95D7-C8E95AA24912}"/>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C-COVERAGE   94 / 98</a:t>
            </a:r>
          </a:p>
        </p:txBody>
      </p:sp>
      <p:sp>
        <p:nvSpPr>
          <p:cNvPr id="8" name="">
            <a:extLst xmlns:a="http://schemas.openxmlformats.org/drawingml/2006/main">
              <a:ext uri="{FF2B5EF4-FFF2-40B4-BE49-F238E27FC236}">
                <a16:creationId xmlns:a16="http://schemas.microsoft.com/office/drawing/2014/main" id="{2E24E2EF-2C57-4DF6-86BE-1D1BBE5EED13}"/>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ae3300b8c2394b95" action="ppaction://hlinksldjump"/>
              </a:rPr>
              <a:t>MAIN DECK ↗</a:t>
            </a:r>
          </a:p>
        </p:txBody>
      </p:sp>
      <p:sp>
        <p:nvSpPr>
          <p:cNvPr id="9" name="">
            <a:extLst xmlns:a="http://schemas.openxmlformats.org/drawingml/2006/main">
              <a:ext uri="{FF2B5EF4-FFF2-40B4-BE49-F238E27FC236}">
                <a16:creationId xmlns:a16="http://schemas.microsoft.com/office/drawing/2014/main" id="{AA9680D4-DA11-4973-ABB8-716BA1C4EA10}"/>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eac08c36f6de4ace"/>
              </a:rPr>
              <a:t>EVIDENCE ↗</a:t>
            </a:r>
          </a:p>
        </p:txBody>
      </p:sp>
    </p:spTree>
    <p:extLst>
      <p:ext uri="{BB962C8B-B14F-4D97-AF65-F5344CB8AC3E}">
        <p14:creationId xmlns:p14="http://schemas.microsoft.com/office/powerpoint/2010/main" val="1657001477"/>
      </p:ext>
    </p:extLst>
  </p:cSld>
</p:sld>
</file>

<file path=ppt/slides/slide95.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F951FFF-3100-4E27-B068-6F75B924C0BC}"/>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VERIFICATION APPENDIX  /  95</a:t>
            </a:r>
          </a:p>
        </p:txBody>
      </p:sp>
      <p:sp>
        <p:nvSpPr>
          <p:cNvPr id="2" name="">
            <a:extLst xmlns:a="http://schemas.openxmlformats.org/drawingml/2006/main">
              <a:ext uri="{FF2B5EF4-FFF2-40B4-BE49-F238E27FC236}">
                <a16:creationId xmlns:a16="http://schemas.microsoft.com/office/drawing/2014/main" id="{6ED112C0-2A9D-412B-8CA6-720D8E7FC18A}"/>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Every controlling requirement has a recorded disposition</a:t>
            </a:r>
          </a:p>
        </p:txBody>
      </p:sp>
      <p:sp>
        <p:nvSpPr>
          <p:cNvPr id="3" name="">
            <a:extLst xmlns:a="http://schemas.openxmlformats.org/drawingml/2006/main">
              <a:ext uri="{FF2B5EF4-FFF2-40B4-BE49-F238E27FC236}">
                <a16:creationId xmlns:a16="http://schemas.microsoft.com/office/drawing/2014/main" id="{2A2F7CE2-64EC-4C26-9CDA-CCE81F5186BA}"/>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Completion means traceable work and visible unresolved evidence.</a:t>
            </a:r>
          </a:p>
        </p:txBody>
      </p:sp>
      <p:sp>
        <p:nvSpPr>
          <p:cNvPr id="4" name="">
            <a:extLst xmlns:a="http://schemas.openxmlformats.org/drawingml/2006/main">
              <a:ext uri="{FF2B5EF4-FFF2-40B4-BE49-F238E27FC236}">
                <a16:creationId xmlns:a16="http://schemas.microsoft.com/office/drawing/2014/main" id="{856AF263-7669-443D-928C-E85B26D76A73}"/>
              </a:ext>
            </a:extLst>
          </p:cNvPr>
          <p:cNvSpPr>
            <a:spLocks xmlns:a="http://schemas.openxmlformats.org/drawingml/2006/main" noGrp="1"/>
          </p:cNvSpPr>
          <p:nvPr/>
        </p:nvSpPr>
        <p:spPr>
          <a:xfrm xmlns:a="http://schemas.openxmlformats.org/drawingml/2006/main">
            <a:off x="609600" y="26765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Requirement IDs preserve section and source line; verified/provisional/open states link to exact evidence and consequences.</a:t>
            </a:r>
          </a:p>
        </p:txBody>
      </p:sp>
      <p:sp>
        <p:nvSpPr>
          <p:cNvPr id="5" name="">
            <a:extLst xmlns:a="http://schemas.openxmlformats.org/drawingml/2006/main">
              <a:ext uri="{FF2B5EF4-FFF2-40B4-BE49-F238E27FC236}">
                <a16:creationId xmlns:a16="http://schemas.microsoft.com/office/drawing/2014/main" id="{17D348F1-A000-4B79-A4ED-5AA87A354D55}"/>
              </a:ext>
            </a:extLst>
          </p:cNvPr>
          <p:cNvSpPr>
            <a:spLocks xmlns:a="http://schemas.openxmlformats.org/drawingml/2006/main" noGrp="1"/>
          </p:cNvSpPr>
          <p:nvPr/>
        </p:nvSpPr>
        <p:spPr>
          <a:xfrm xmlns:a="http://schemas.openxmlformats.org/drawingml/2006/main">
            <a:off x="609600" y="34766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CEO questions, hypotheses, red-team, models, entry modes, monitoring and evidence costs each have an indexed register.</a:t>
            </a:r>
          </a:p>
        </p:txBody>
      </p:sp>
      <p:sp>
        <p:nvSpPr>
          <p:cNvPr id="6" name="">
            <a:extLst xmlns:a="http://schemas.openxmlformats.org/drawingml/2006/main">
              <a:ext uri="{FF2B5EF4-FFF2-40B4-BE49-F238E27FC236}">
                <a16:creationId xmlns:a16="http://schemas.microsoft.com/office/drawing/2014/main" id="{CBF5EF37-5B3D-482B-9631-5094A302E1FA}"/>
              </a:ext>
            </a:extLst>
          </p:cNvPr>
          <p:cNvSpPr>
            <a:spLocks xmlns:a="http://schemas.openxmlformats.org/drawingml/2006/main" noGrp="1"/>
          </p:cNvSpPr>
          <p:nvPr/>
        </p:nvSpPr>
        <p:spPr>
          <a:xfrm xmlns:a="http://schemas.openxmlformats.org/drawingml/2006/main">
            <a:off x="609600" y="427672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44C3D"/>
                </a:solidFill>
                <a:latin typeface="DejaVu Sans"/>
                <a:ea typeface="DejaVu Sans"/>
                <a:cs typeface="DejaVu Sans"/>
              </a:defRPr>
            </a:pPr>
            <a:r>
              <a:rPr sz="1650" b="0">
                <a:solidFill>
                  <a:srgbClr val="344C3D"/>
                </a:solidFill>
                <a:latin typeface="DejaVu Sans"/>
                <a:ea typeface="DejaVu Sans"/>
                <a:cs typeface="DejaVu Sans"/>
              </a:rPr>
              <a:t>Open internal data, legal/asset clearance, probability calibration, external review and empirical superiority remain visible.</a:t>
            </a:r>
          </a:p>
        </p:txBody>
      </p:sp>
      <p:sp>
        <p:nvSpPr>
          <p:cNvPr id="7" name="">
            <a:extLst xmlns:a="http://schemas.openxmlformats.org/drawingml/2006/main">
              <a:ext uri="{FF2B5EF4-FFF2-40B4-BE49-F238E27FC236}">
                <a16:creationId xmlns:a16="http://schemas.microsoft.com/office/drawing/2014/main" id="{5AD5795D-317D-429F-A653-3B26B90BB760}"/>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CONDITIONAL / ILLUSTRATIVE   |   A_EXAMPLE</a:t>
            </a:r>
          </a:p>
        </p:txBody>
      </p:sp>
      <p:sp>
        <p:nvSpPr>
          <p:cNvPr id="8" name="">
            <a:extLst xmlns:a="http://schemas.openxmlformats.org/drawingml/2006/main">
              <a:ext uri="{FF2B5EF4-FFF2-40B4-BE49-F238E27FC236}">
                <a16:creationId xmlns:a16="http://schemas.microsoft.com/office/drawing/2014/main" id="{A1380627-B395-4903-9496-D12F4BA9943C}"/>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95 / 98</a:t>
            </a:r>
          </a:p>
        </p:txBody>
      </p:sp>
      <p:sp>
        <p:nvSpPr>
          <p:cNvPr id="9" name="">
            <a:extLst xmlns:a="http://schemas.openxmlformats.org/drawingml/2006/main">
              <a:ext uri="{FF2B5EF4-FFF2-40B4-BE49-F238E27FC236}">
                <a16:creationId xmlns:a16="http://schemas.microsoft.com/office/drawing/2014/main" id="{DEBCB46F-4B17-4CD2-9BC0-8966419BB3F4}"/>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84efb5714ac0424c" action="ppaction://hlinksldjump"/>
              </a:rPr>
              <a:t>MAIN DECK ↗</a:t>
            </a:r>
          </a:p>
        </p:txBody>
      </p:sp>
      <p:sp>
        <p:nvSpPr>
          <p:cNvPr id="10" name="">
            <a:extLst xmlns:a="http://schemas.openxmlformats.org/drawingml/2006/main">
              <a:ext uri="{FF2B5EF4-FFF2-40B4-BE49-F238E27FC236}">
                <a16:creationId xmlns:a16="http://schemas.microsoft.com/office/drawing/2014/main" id="{A69A4797-956C-4C75-BED2-1E5DDE591A2C}"/>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c7aeb465b5e74b63"/>
              </a:rPr>
              <a:t>EVIDENCE ↗</a:t>
            </a:r>
          </a:p>
        </p:txBody>
      </p:sp>
    </p:spTree>
    <p:extLst>
      <p:ext uri="{BB962C8B-B14F-4D97-AF65-F5344CB8AC3E}">
        <p14:creationId xmlns:p14="http://schemas.microsoft.com/office/powerpoint/2010/main" val="414742188"/>
      </p:ext>
    </p:extLst>
  </p:cSld>
</p:sld>
</file>

<file path=ppt/slides/slide96.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C45443A-1C0A-497F-9975-AFF29D313ECD}"/>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VERIFICATION APPENDIX  /  96</a:t>
            </a:r>
          </a:p>
        </p:txBody>
      </p:sp>
      <p:sp>
        <p:nvSpPr>
          <p:cNvPr id="2" name="">
            <a:extLst xmlns:a="http://schemas.openxmlformats.org/drawingml/2006/main">
              <a:ext uri="{FF2B5EF4-FFF2-40B4-BE49-F238E27FC236}">
                <a16:creationId xmlns:a16="http://schemas.microsoft.com/office/drawing/2014/main" id="{3E0EAF5D-1DBC-4D2B-8F21-1A51D614C1D6}"/>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Navigate the companion evidence by stable ID</a:t>
            </a:r>
          </a:p>
        </p:txBody>
      </p:sp>
      <p:sp>
        <p:nvSpPr>
          <p:cNvPr id="3" name="">
            <a:extLst xmlns:a="http://schemas.openxmlformats.org/drawingml/2006/main">
              <a:ext uri="{FF2B5EF4-FFF2-40B4-BE49-F238E27FC236}">
                <a16:creationId xmlns:a16="http://schemas.microsoft.com/office/drawing/2014/main" id="{E78AE9DA-4F96-4AEF-A4F8-4D3715A80CA3}"/>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Use calculation/source IDs and indexed country-product plans.</a:t>
            </a:r>
          </a:p>
        </p:txBody>
      </p:sp>
      <p:graphicFrame>
        <p:nvGraphicFramePr>
          <p:cNvPr id="12" name=""/>
          <p:cNvGraphicFramePr/>
          <p:nvPr/>
        </p:nvGraphicFramePr>
        <p:xfrm>
          <a:off xmlns:a="http://schemas.openxmlformats.org/drawingml/2006/main" x="609600" y="2505075"/>
          <a:ext xmlns:a="http://schemas.openxmlformats.org/drawingml/2006/main" cx="10972800" cy="3333750"/>
        </p:xfrm>
        <a:graphic xmlns:a="http://schemas.openxmlformats.org/drawingml/2006/main">
          <a:graphicData uri="http://schemas.openxmlformats.org/drawingml/2006/table">
            <a:tbl>
              <a:tblPr/>
              <a:tblGrid>
                <a:gridCol w="3429000"/>
                <a:gridCol w="7543800"/>
              </a:tblGrid>
              <a:tr h="555625">
                <a:tc>
                  <a:txBody>
                    <a:bodyPr/>
                    <a:lstStyle/>
                    <a:p>
                      <a:r>
                        <a:rPr sz="1050" b="1">
                          <a:solidFill>
                            <a:srgbClr val="49624F"/>
                          </a:solidFill>
                          <a:latin typeface="DejaVu Sans"/>
                          <a:ea typeface="DejaVu Sans"/>
                          <a:cs typeface="DejaVu Sans"/>
                        </a:rPr>
                        <a:t>Companion</a:t>
                      </a:r>
                    </a:p>
                  </a:txBody>
                  <a:tcPr marL="114300" marR="114300" marT="76200" marB="76200" anchor="t">
                    <a:solidFill>
                      <a:srgbClr val="E7EEE4"/>
                    </a:solidFill>
                  </a:tcPr>
                </a:tc>
                <a:tc>
                  <a:txBody>
                    <a:bodyPr/>
                    <a:lstStyle/>
                    <a:p>
                      <a:r>
                        <a:rPr sz="1050" b="1">
                          <a:solidFill>
                            <a:srgbClr val="49624F"/>
                          </a:solidFill>
                          <a:latin typeface="DejaVu Sans"/>
                          <a:ea typeface="DejaVu Sans"/>
                          <a:cs typeface="DejaVu Sans"/>
                        </a:rPr>
                        <a:t>Contents</a:t>
                      </a:r>
                    </a:p>
                  </a:txBody>
                  <a:tcPr marL="114300" marR="114300" marT="76200" marB="76200" anchor="t">
                    <a:solidFill>
                      <a:srgbClr val="E7EEE4"/>
                    </a:solidFill>
                  </a:tcPr>
                </a:tc>
              </a:tr>
              <a:tr h="555625">
                <a:tc>
                  <a:txBody>
                    <a:bodyPr/>
                    <a:lstStyle/>
                    <a:p>
                      <a:r>
                        <a:rPr sz="1275">
                          <a:solidFill>
                            <a:srgbClr val="183B2A"/>
                          </a:solidFill>
                          <a:latin typeface="DejaVu Sans"/>
                          <a:ea typeface="DejaVu Sans"/>
                          <a:cs typeface="DejaVu Sans"/>
                        </a:rPr>
                        <a:t>requirements-audit.pdf / CSV</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Every requirement and open gate</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ceo-questions.pdf / strategic-hypotheses.pdf</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22 answers;12 tests/falsifiers</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priority-commercial-plans.pdf</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18 cases in10 priority markets</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model-selection-and-foundations.pdf</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Fitted/rejected/unexecuted modules</a:t>
                      </a:r>
                    </a:p>
                  </a:txBody>
                  <a:tcPr marL="114300" marR="114300" marT="76200" marB="76200" anchor="t">
                    <a:solidFill>
                      <a:srgbClr val="FFFEF9"/>
                    </a:solidFill>
                  </a:tcPr>
                </a:tc>
              </a:tr>
              <a:tr h="555625">
                <a:tc>
                  <a:txBody>
                    <a:bodyPr/>
                    <a:lstStyle/>
                    <a:p>
                      <a:r>
                        <a:rPr sz="1275">
                          <a:solidFill>
                            <a:srgbClr val="183B2A"/>
                          </a:solidFill>
                          <a:latin typeface="DejaVu Sans"/>
                          <a:ea typeface="DejaVu Sans"/>
                          <a:cs typeface="DejaVu Sans"/>
                        </a:rPr>
                        <a:t>monitoring-specification.pdf</a:t>
                      </a:r>
                    </a:p>
                  </a:txBody>
                  <a:tcPr marL="114300" marR="114300" marT="76200" marB="76200" anchor="t">
                    <a:solidFill>
                      <a:srgbClr val="FFFEF9"/>
                    </a:solidFill>
                  </a:tcPr>
                </a:tc>
                <a:tc>
                  <a:txBody>
                    <a:bodyPr/>
                    <a:lstStyle/>
                    <a:p>
                      <a:r>
                        <a:rPr sz="1275">
                          <a:solidFill>
                            <a:srgbClr val="183B2A"/>
                          </a:solidFill>
                          <a:latin typeface="DejaVu Sans"/>
                          <a:ea typeface="DejaVu Sans"/>
                          <a:cs typeface="DejaVu Sans"/>
                        </a:rPr>
                        <a:t>Owners, economic alerts and retirement</a:t>
                      </a:r>
                    </a:p>
                  </a:txBody>
                  <a:tcPr marL="114300" marR="114300" marT="76200" marB="76200" anchor="t">
                    <a:solidFill>
                      <a:srgbClr val="FFFEF9"/>
                    </a:solidFill>
                  </a:tcPr>
                </a:tc>
              </a:tr>
            </a:tbl>
          </a:graphicData>
        </a:graphic>
      </p:graphicFrame>
      <p:sp>
        <p:nvSpPr>
          <p:cNvPr id="5" name="">
            <a:extLst xmlns:a="http://schemas.openxmlformats.org/drawingml/2006/main">
              <a:ext uri="{FF2B5EF4-FFF2-40B4-BE49-F238E27FC236}">
                <a16:creationId xmlns:a16="http://schemas.microsoft.com/office/drawing/2014/main" id="{71144A12-EC22-43EE-8E1B-A9DDFF211525}"/>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RECOMMENDATION | CONDITIONAL / ILLUSTRATIVE   |   A_EXAMPLE</a:t>
            </a:r>
          </a:p>
        </p:txBody>
      </p:sp>
      <p:sp>
        <p:nvSpPr>
          <p:cNvPr id="6" name="">
            <a:extLst xmlns:a="http://schemas.openxmlformats.org/drawingml/2006/main">
              <a:ext uri="{FF2B5EF4-FFF2-40B4-BE49-F238E27FC236}">
                <a16:creationId xmlns:a16="http://schemas.microsoft.com/office/drawing/2014/main" id="{5399C91A-A245-41E5-8A8D-5029624FD428}"/>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   96 / 98</a:t>
            </a:r>
          </a:p>
        </p:txBody>
      </p:sp>
      <p:sp>
        <p:nvSpPr>
          <p:cNvPr id="7" name="">
            <a:extLst xmlns:a="http://schemas.openxmlformats.org/drawingml/2006/main">
              <a:ext uri="{FF2B5EF4-FFF2-40B4-BE49-F238E27FC236}">
                <a16:creationId xmlns:a16="http://schemas.microsoft.com/office/drawing/2014/main" id="{D7DD1330-055D-4457-9485-5B68F110FBD4}"/>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0ef03aacd289484e" action="ppaction://hlinksldjump"/>
              </a:rPr>
              <a:t>MAIN DECK ↗</a:t>
            </a:r>
          </a:p>
        </p:txBody>
      </p:sp>
      <p:sp>
        <p:nvSpPr>
          <p:cNvPr id="8" name="">
            <a:extLst xmlns:a="http://schemas.openxmlformats.org/drawingml/2006/main">
              <a:ext uri="{FF2B5EF4-FFF2-40B4-BE49-F238E27FC236}">
                <a16:creationId xmlns:a16="http://schemas.microsoft.com/office/drawing/2014/main" id="{D3BB53AB-228A-47AD-B871-990BBF9D1F7C}"/>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2155150159c84024"/>
              </a:rPr>
              <a:t>EVIDENCE ↗</a:t>
            </a:r>
          </a:p>
        </p:txBody>
      </p:sp>
    </p:spTree>
    <p:extLst>
      <p:ext uri="{BB962C8B-B14F-4D97-AF65-F5344CB8AC3E}">
        <p14:creationId xmlns:p14="http://schemas.microsoft.com/office/powerpoint/2010/main" val="272028372"/>
      </p:ext>
    </p:extLst>
  </p:cSld>
</p:sld>
</file>

<file path=ppt/slides/slide97.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D53D984-BBE9-4C11-B2FB-9F18155474F3}"/>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VERIFICATION APPENDIX  /  97</a:t>
            </a:r>
          </a:p>
        </p:txBody>
      </p:sp>
      <p:sp>
        <p:nvSpPr>
          <p:cNvPr id="2" name="">
            <a:extLst xmlns:a="http://schemas.openxmlformats.org/drawingml/2006/main">
              <a:ext uri="{FF2B5EF4-FFF2-40B4-BE49-F238E27FC236}">
                <a16:creationId xmlns:a16="http://schemas.microsoft.com/office/drawing/2014/main" id="{2C6B9DF9-DFE8-46C0-ABCB-BA8E225E8358}"/>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Replacement and cash funding belong in the value story</a:t>
            </a:r>
          </a:p>
        </p:txBody>
      </p:sp>
      <p:sp>
        <p:nvSpPr>
          <p:cNvPr id="3" name="">
            <a:extLst xmlns:a="http://schemas.openxmlformats.org/drawingml/2006/main">
              <a:ext uri="{FF2B5EF4-FFF2-40B4-BE49-F238E27FC236}">
                <a16:creationId xmlns:a16="http://schemas.microsoft.com/office/drawing/2014/main" id="{E8B78086-FCAD-4E59-9C29-8E2C1D777C56}"/>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Editable annual cash chart uses the same25-year model spine.</a:t>
            </a:r>
          </a:p>
        </p:txBody>
      </p:sp>
      <p:graphicFrame>
        <p:nvGraphicFramePr>
          <p:cNvPr id="12" name="Chart"/>
          <p:cNvGraphicFramePr/>
          <p:nvPr/>
        </p:nvGraphicFramePr>
        <p:xfrm>
          <a:off xmlns:a="http://schemas.openxmlformats.org/drawingml/2006/main" x="609600" y="2600325"/>
          <a:ext xmlns:a="http://schemas.openxmlformats.org/drawingml/2006/main" cx="10972800" cy="3276600"/>
        </p:xfrm>
        <a:graphic xmlns:a="http://schemas.openxmlformats.org/drawingml/2006/main">
          <a:graphicData uri="http://schemas.openxmlformats.org/drawingml/2006/chart">
            <c:chart xmlns:r="http://schemas.openxmlformats.org/officeDocument/2006/relationships" xmlns:c="http://schemas.openxmlformats.org/drawingml/2006/chart" r:id="Rbad25182f2a94297"/>
          </a:graphicData>
        </a:graphic>
      </p:graphicFrame>
      <p:sp>
        <p:nvSpPr>
          <p:cNvPr id="5" name="">
            <a:extLst xmlns:a="http://schemas.openxmlformats.org/drawingml/2006/main">
              <a:ext uri="{FF2B5EF4-FFF2-40B4-BE49-F238E27FC236}">
                <a16:creationId xmlns:a16="http://schemas.microsoft.com/office/drawing/2014/main" id="{53FFA2B7-97D2-457F-9E39-A9109295A6A1}"/>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6" name="">
            <a:extLst xmlns:a="http://schemas.openxmlformats.org/drawingml/2006/main">
              <a:ext uri="{FF2B5EF4-FFF2-40B4-BE49-F238E27FC236}">
                <a16:creationId xmlns:a16="http://schemas.microsoft.com/office/drawing/2014/main" id="{CA276186-A82F-4694-B0AC-40F11EBE40E2}"/>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C-DCF-plant-managed   97 / 98</a:t>
            </a:r>
          </a:p>
        </p:txBody>
      </p:sp>
      <p:sp>
        <p:nvSpPr>
          <p:cNvPr id="7" name="">
            <a:extLst xmlns:a="http://schemas.openxmlformats.org/drawingml/2006/main">
              <a:ext uri="{FF2B5EF4-FFF2-40B4-BE49-F238E27FC236}">
                <a16:creationId xmlns:a16="http://schemas.microsoft.com/office/drawing/2014/main" id="{8CC440D3-4B39-4A82-A3F8-CABE728C8810}"/>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108aa8c7d73548d7" action="ppaction://hlinksldjump"/>
              </a:rPr>
              <a:t>MAIN DECK ↗</a:t>
            </a:r>
          </a:p>
        </p:txBody>
      </p:sp>
      <p:sp>
        <p:nvSpPr>
          <p:cNvPr id="8" name="">
            <a:extLst xmlns:a="http://schemas.openxmlformats.org/drawingml/2006/main">
              <a:ext uri="{FF2B5EF4-FFF2-40B4-BE49-F238E27FC236}">
                <a16:creationId xmlns:a16="http://schemas.microsoft.com/office/drawing/2014/main" id="{9CB7D83D-3D89-4D7F-873D-65A3DB855402}"/>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e4d455d07be147d8"/>
              </a:rPr>
              <a:t>EVIDENCE ↗</a:t>
            </a:r>
          </a:p>
        </p:txBody>
      </p:sp>
    </p:spTree>
    <p:extLst>
      <p:ext uri="{BB962C8B-B14F-4D97-AF65-F5344CB8AC3E}">
        <p14:creationId xmlns:p14="http://schemas.microsoft.com/office/powerpoint/2010/main" val="310494515"/>
      </p:ext>
    </p:extLst>
  </p:cSld>
</p:sld>
</file>

<file path=ppt/slides/slide98.xml><?xml version="1.0" encoding="utf-8"?>
<p:sld xmlns:p="http://schemas.openxmlformats.org/presentationml/2006/main">
  <p:cSld>
    <p:bg>
      <p:bgPr>
        <a:solidFill xmlns:a="http://schemas.openxmlformats.org/drawingml/2006/main">
          <a:srgbClr val="FFFEF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A5DD10B-4430-4A0A-A214-1D8B6E620036}"/>
              </a:ext>
            </a:extLst>
          </p:cNvPr>
          <p:cNvSpPr>
            <a:spLocks xmlns:a="http://schemas.openxmlformats.org/drawingml/2006/main" noGrp="1"/>
          </p:cNvSpPr>
          <p:nvPr/>
        </p:nvSpPr>
        <p:spPr>
          <a:xfrm xmlns:a="http://schemas.openxmlformats.org/drawingml/2006/main">
            <a:off x="609600" y="2667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0">
                <a:solidFill>
                  <a:srgbClr val="657468"/>
                </a:solidFill>
                <a:latin typeface="DejaVu Sans"/>
                <a:ea typeface="DejaVu Sans"/>
                <a:cs typeface="DejaVu Sans"/>
              </a:defRPr>
            </a:pPr>
            <a:r>
              <a:rPr sz="900" b="0">
                <a:solidFill>
                  <a:srgbClr val="657468"/>
                </a:solidFill>
                <a:latin typeface="DejaVu Sans"/>
                <a:ea typeface="DejaVu Sans"/>
                <a:cs typeface="DejaVu Sans"/>
              </a:rPr>
              <a:t>MANASH PROTIM DEORI  /  VERIFICATION APPENDIX  /  98</a:t>
            </a:r>
          </a:p>
        </p:txBody>
      </p:sp>
      <p:sp>
        <p:nvSpPr>
          <p:cNvPr id="2" name="">
            <a:extLst xmlns:a="http://schemas.openxmlformats.org/drawingml/2006/main">
              <a:ext uri="{FF2B5EF4-FFF2-40B4-BE49-F238E27FC236}">
                <a16:creationId xmlns:a16="http://schemas.microsoft.com/office/drawing/2014/main" id="{8D77A410-E8A7-4207-BAEB-78D28B86D05B}"/>
              </a:ext>
            </a:extLst>
          </p:cNvPr>
          <p:cNvSpPr>
            <a:spLocks xmlns:a="http://schemas.openxmlformats.org/drawingml/2006/main" noGrp="1"/>
          </p:cNvSpPr>
          <p:nvPr/>
        </p:nvSpPr>
        <p:spPr>
          <a:xfrm xmlns:a="http://schemas.openxmlformats.org/drawingml/2006/main">
            <a:off x="609600" y="695325"/>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183B2A"/>
                </a:solidFill>
                <a:latin typeface="DejaVu Serif"/>
                <a:ea typeface="DejaVu Serif"/>
                <a:cs typeface="DejaVu Serif"/>
              </a:defRPr>
            </a:pPr>
            <a:r>
              <a:rPr sz="2850" b="0">
                <a:solidFill>
                  <a:srgbClr val="183B2A"/>
                </a:solidFill>
                <a:latin typeface="DejaVu Serif"/>
                <a:ea typeface="DejaVu Serif"/>
                <a:cs typeface="DejaVu Serif"/>
              </a:rPr>
              <a:t>Show how a decision moves, not just a central value</a:t>
            </a:r>
          </a:p>
        </p:txBody>
      </p:sp>
      <p:sp>
        <p:nvSpPr>
          <p:cNvPr id="3" name="">
            <a:extLst xmlns:a="http://schemas.openxmlformats.org/drawingml/2006/main">
              <a:ext uri="{FF2B5EF4-FFF2-40B4-BE49-F238E27FC236}">
                <a16:creationId xmlns:a16="http://schemas.microsoft.com/office/drawing/2014/main" id="{7129D217-DD8B-49C3-92D4-6AD30FBC6953}"/>
              </a:ext>
            </a:extLst>
          </p:cNvPr>
          <p:cNvSpPr>
            <a:spLocks xmlns:a="http://schemas.openxmlformats.org/drawingml/2006/main" noGrp="1"/>
          </p:cNvSpPr>
          <p:nvPr/>
        </p:nvSpPr>
        <p:spPr>
          <a:xfrm xmlns:a="http://schemas.openxmlformats.org/drawingml/2006/main">
            <a:off x="609600" y="18002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3D5947"/>
                </a:solidFill>
                <a:latin typeface="DejaVu Sans"/>
                <a:ea typeface="DejaVu Sans"/>
                <a:cs typeface="DejaVu Sans"/>
              </a:defRPr>
            </a:pPr>
            <a:r>
              <a:rPr sz="1650" b="0">
                <a:solidFill>
                  <a:srgbClr val="3D5947"/>
                </a:solidFill>
                <a:latin typeface="DejaVu Sans"/>
                <a:ea typeface="DejaVu Sans"/>
                <a:cs typeface="DejaVu Sans"/>
              </a:rPr>
              <a:t>Chosen low/high input boundaries include full working cash.</a:t>
            </a:r>
          </a:p>
        </p:txBody>
      </p:sp>
      <p:graphicFrame>
        <p:nvGraphicFramePr>
          <p:cNvPr id="12" name="Chart"/>
          <p:cNvGraphicFramePr/>
          <p:nvPr/>
        </p:nvGraphicFramePr>
        <p:xfrm>
          <a:off xmlns:a="http://schemas.openxmlformats.org/drawingml/2006/main" x="609600" y="2600325"/>
          <a:ext xmlns:a="http://schemas.openxmlformats.org/drawingml/2006/main" cx="10972800" cy="3276600"/>
        </p:xfrm>
        <a:graphic xmlns:a="http://schemas.openxmlformats.org/drawingml/2006/main">
          <a:graphicData uri="http://schemas.openxmlformats.org/drawingml/2006/chart">
            <c:chart xmlns:r="http://schemas.openxmlformats.org/officeDocument/2006/relationships" xmlns:c="http://schemas.openxmlformats.org/drawingml/2006/chart" r:id="Rcc8eeb54e4824346"/>
          </a:graphicData>
        </a:graphic>
      </p:graphicFrame>
      <p:sp>
        <p:nvSpPr>
          <p:cNvPr id="5" name="">
            <a:extLst xmlns:a="http://schemas.openxmlformats.org/drawingml/2006/main">
              <a:ext uri="{FF2B5EF4-FFF2-40B4-BE49-F238E27FC236}">
                <a16:creationId xmlns:a16="http://schemas.microsoft.com/office/drawing/2014/main" id="{D3E07111-AEDF-441B-8B10-957C587FA319}"/>
              </a:ext>
            </a:extLst>
          </p:cNvPr>
          <p:cNvSpPr>
            <a:spLocks xmlns:a="http://schemas.openxmlformats.org/drawingml/2006/main" noGrp="1"/>
          </p:cNvSpPr>
          <p:nvPr/>
        </p:nvSpPr>
        <p:spPr>
          <a:xfrm xmlns:a="http://schemas.openxmlformats.org/drawingml/2006/main">
            <a:off x="609600" y="6229350"/>
            <a:ext cx="9239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b="0">
                <a:solidFill>
                  <a:srgbClr val="657468"/>
                </a:solidFill>
                <a:latin typeface="DejaVu Sans"/>
                <a:ea typeface="DejaVu Sans"/>
                <a:cs typeface="DejaVu Sans"/>
              </a:defRPr>
            </a:pPr>
            <a:r>
              <a:rPr sz="750" b="0">
                <a:solidFill>
                  <a:srgbClr val="657468"/>
                </a:solidFill>
                <a:latin typeface="DejaVu Sans"/>
                <a:ea typeface="DejaVu Sans"/>
                <a:cs typeface="DejaVu Sans"/>
              </a:rPr>
              <a:t>MODELLED OUTCOME | CONDITIONAL / ILLUSTRATIVE   |   A_EXAMPLE</a:t>
            </a:r>
          </a:p>
        </p:txBody>
      </p:sp>
      <p:sp>
        <p:nvSpPr>
          <p:cNvPr id="6" name="">
            <a:extLst xmlns:a="http://schemas.openxmlformats.org/drawingml/2006/main">
              <a:ext uri="{FF2B5EF4-FFF2-40B4-BE49-F238E27FC236}">
                <a16:creationId xmlns:a16="http://schemas.microsoft.com/office/drawing/2014/main" id="{E883315C-B2D0-4874-A74F-5CCB98E2AA93}"/>
              </a:ext>
            </a:extLst>
          </p:cNvPr>
          <p:cNvSpPr>
            <a:spLocks xmlns:a="http://schemas.openxmlformats.org/drawingml/2006/main" noGrp="1"/>
          </p:cNvSpPr>
          <p:nvPr/>
        </p:nvSpPr>
        <p:spPr>
          <a:xfrm xmlns:a="http://schemas.openxmlformats.org/drawingml/2006/main">
            <a:off x="609600" y="6610350"/>
            <a:ext cx="109728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75" b="0">
                <a:solidFill>
                  <a:srgbClr val="657468"/>
                </a:solidFill>
                <a:latin typeface="DejaVu Sans"/>
                <a:ea typeface="DejaVu Sans"/>
                <a:cs typeface="DejaVu Sans"/>
              </a:defRPr>
            </a:pPr>
            <a:r>
              <a:rPr sz="675" b="0">
                <a:solidFill>
                  <a:srgbClr val="657468"/>
                </a:solidFill>
                <a:latin typeface="DejaVu Sans"/>
                <a:ea typeface="DejaVu Sans"/>
                <a:cs typeface="DejaVu Sans"/>
              </a:rPr>
              <a:t>C-SENSITIVITY   98 / 98</a:t>
            </a:r>
          </a:p>
        </p:txBody>
      </p:sp>
      <p:sp>
        <p:nvSpPr>
          <p:cNvPr id="7" name="">
            <a:extLst xmlns:a="http://schemas.openxmlformats.org/drawingml/2006/main">
              <a:ext uri="{FF2B5EF4-FFF2-40B4-BE49-F238E27FC236}">
                <a16:creationId xmlns:a16="http://schemas.microsoft.com/office/drawing/2014/main" id="{A7419D09-BE8D-4243-96AA-71E10C4A58A4}"/>
              </a:ext>
            </a:extLst>
          </p:cNvPr>
          <p:cNvSpPr>
            <a:spLocks xmlns:a="http://schemas.openxmlformats.org/drawingml/2006/main" noGrp="1"/>
          </p:cNvSpPr>
          <p:nvPr/>
        </p:nvSpPr>
        <p:spPr>
          <a:xfrm xmlns:a="http://schemas.openxmlformats.org/drawingml/2006/main">
            <a:off x="10191750" y="621982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b78070a691714608" action="ppaction://hlinksldjump"/>
              </a:rPr>
              <a:t>MAIN DECK ↗</a:t>
            </a:r>
          </a:p>
        </p:txBody>
      </p:sp>
      <p:sp>
        <p:nvSpPr>
          <p:cNvPr id="8" name="">
            <a:extLst xmlns:a="http://schemas.openxmlformats.org/drawingml/2006/main">
              <a:ext uri="{FF2B5EF4-FFF2-40B4-BE49-F238E27FC236}">
                <a16:creationId xmlns:a16="http://schemas.microsoft.com/office/drawing/2014/main" id="{4C47788A-7625-4568-925E-E2FFBD90DDFE}"/>
              </a:ext>
            </a:extLst>
          </p:cNvPr>
          <p:cNvSpPr>
            <a:spLocks xmlns:a="http://schemas.openxmlformats.org/drawingml/2006/main" noGrp="1"/>
          </p:cNvSpPr>
          <p:nvPr/>
        </p:nvSpPr>
        <p:spPr>
          <a:xfrm xmlns:a="http://schemas.openxmlformats.org/drawingml/2006/main">
            <a:off x="10191750" y="6429375"/>
            <a:ext cx="13811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215B42"/>
                </a:solidFill>
                <a:latin typeface="DejaVu Sans"/>
                <a:ea typeface="DejaVu Sans"/>
                <a:cs typeface="DejaVu Sans"/>
              </a:defRPr>
            </a:pPr>
            <a:r>
              <a:rPr>
                <a:hlinkClick xmlns:r="http://schemas.openxmlformats.org/officeDocument/2006/relationships" r:id="Ra52464b5e02841bc"/>
              </a:rPr>
              <a:t>EVIDENCE ↗</a:t>
            </a:r>
          </a:p>
        </p:txBody>
      </p:sp>
    </p:spTree>
    <p:extLst>
      <p:ext uri="{BB962C8B-B14F-4D97-AF65-F5344CB8AC3E}">
        <p14:creationId xmlns:p14="http://schemas.microsoft.com/office/powerpoint/2010/main" val="15873176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2026-10-08T02:56:48.8110000Z</dcterms:created>
  <dcterms:modified xsi:type="dcterms:W3CDTF">2026-10-08T02:56:48.8110000Z</dcterms:modified>
</coreProperties>
</file>