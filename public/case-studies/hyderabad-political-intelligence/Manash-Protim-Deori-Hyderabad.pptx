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Seats</c:v>
                </c:pt>
              </c:strCache>
            </c:strRef>
          </c:tx>
          <c:spPr>
            <a:solidFill>
              <a:srgbClr val="4E82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INC</c:v>
                  </c:pt>
                  <c:pt idx="1">
                    <c:v>BRS</c:v>
                  </c:pt>
                  <c:pt idx="2">
                    <c:v>BJP</c:v>
                  </c:pt>
                  <c:pt idx="3">
                    <c:v>AIMIM</c:v>
                  </c:pt>
                  <c:pt idx="4">
                    <c:v>CPI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</c:v>
                </c:pt>
                <c:pt idx="1">
                  <c:v>39</c:v>
                </c:pt>
                <c:pt idx="2">
                  <c:v>8</c:v>
                </c:pt>
                <c:pt idx="3">
                  <c:v>7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rgbClr val="2263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TRS</c:v>
                  </c:pt>
                  <c:pt idx="1">
                    <c:v>BJP</c:v>
                  </c:pt>
                  <c:pt idx="2">
                    <c:v>AIMIM</c:v>
                  </c:pt>
                  <c:pt idx="3">
                    <c:v>INC</c:v>
                  </c:pt>
                  <c:pt idx="4">
                    <c:v>TDP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</c:v>
                </c:pt>
                <c:pt idx="1">
                  <c:v>4</c:v>
                </c:pt>
                <c:pt idx="2">
                  <c:v>44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E58B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TRS</c:v>
                  </c:pt>
                  <c:pt idx="1">
                    <c:v>BJP</c:v>
                  </c:pt>
                  <c:pt idx="2">
                    <c:v>AIMIM</c:v>
                  </c:pt>
                  <c:pt idx="3">
                    <c:v>INC</c:v>
                  </c:pt>
                  <c:pt idx="4">
                    <c:v>TDP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56</c:v>
                </c:pt>
                <c:pt idx="1">
                  <c:v>48</c:v>
                </c:pt>
                <c:pt idx="2">
                  <c:v>44</c:v>
                </c:pt>
                <c:pt idx="3">
                  <c:v>2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State capex</c:v>
                </c:pt>
              </c:strCache>
            </c:strRef>
          </c:tx>
          <c:spPr>
            <a:solidFill>
              <a:srgbClr val="4E82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2025–26 RE</c:v>
                  </c:pt>
                  <c:pt idx="1">
                    <c:v>2026–27 BE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36480.87</c:v>
                </c:pt>
                <c:pt idx="1">
                  <c:v>47267.28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Political dynamics, governance evidence and a rigorous application work sample for Inclusive Minds
Qualification: Research cut-off 8 October 2026. Prepared independently; no employer or party endorsement.
Detailed reasoning, source documents, calculations, alternatives and source URLs: Appendix evidence card 25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The geography of institutions, the meaning of election results, and the distance from budget provision to service delivery must be kept distinct.
Qualification: ECI 2023 statewide outcome; 2026 governance order and estimates. No citywide electoral or service-effect inference.
Detailed reasoning, source documents, calculations, alternatives and source URLs: Appendix evidence card 26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GO 55 establishes three municipal corporations; Assembly constituencies, parliamentary seats and planning jurisdictions use different boundaries.
Qualification: Schematic categories, not GIS boundary polygons. Full legal crosswalk must be validated before geographic joins.
Detailed reasoning, source documents, calculations, alternatives and source URLs: Appendix evidence card 27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A chronological view distinguishes election types, government transitions and administrative reforms.
Qualification: 2018 and 2020 results are attributed historical reporting; different ballots and institutional periods are not vote swing.
Detailed reasoning, source documents, calculations, alternatives and source URLs: Appendix evidence card 28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Municipal geography, asset protection, river planning and budget financing involve distinct decision-makers.
Qualification: Agency scope is not proof of effectiveness or case-specific legal authority.
Detailed reasoning, source documents, calculations, alternatives and source URLs: Appendix evidence card 29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The official ECI tally records 64 INC, 39 BRS, 8 BJP, 7 AIMIM and 1 CPI seat in 2023.
Qualification: 119 statewide seats. This is not Hyderabad-specific voting or any party's current legislative strength.
Detailed reasoning, source documents, calculations, alternatives and source URLs: Appendix evidence card 30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Published historical recaps report a changed composition of the 150-seat GHMC council; these are seat counts, not vote transfers.
Qualification: Reported 2016 and 2020 council results; not 2026 corporation composition. Original primary municipal declarations should be checked.
Detailed reasoning, source documents, calculations, alternatives and source URLs: Appendix evidence card 31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ECI's 2024 Lok Sabha records identify BJP winners in Malkajgiri, Secunderabad and Chevella, and the AIMIM winner in Hyderabad.
Qualification: Four distinct parliamentary constituencies, not an aggregate of Hyderabad Assembly seats.
Detailed reasoning, source documents, calculations, alternatives and source URLs: Appendix evidence card 32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The investment portal identifies Genome Valley and electronics-sector clusters, but this alone cannot establish Hyderabad-wide jobs, GDP or access.
Qualification: State investment-portal evidence establishes identified clusters, not realised jobs or citywide economic impact.
Detailed reasoning, source documents, calculations, alternatives and source URLs: Appendix evidence card 33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Vacancy, skill, commute, placement and job-quality data are needed before judging the reach of economic opportunity.
Qualification: Measurement framework, not a finding about household employment outcomes.
Detailed reasoning, source documents, calculations, alternatives and source URLs: Appendix evidence card 34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GO 55 and the official GO 68/69 index define differing urban and planning units; parcel- and housing-level conclusions need further evidence.
Qualification: No verified current price index, housing-displacement total or parcel-specific legal finding.
Detailed reasoning, source documents, calculations, alternatives and source URLs: Appendix evidence card 35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The 2026–27 state budget records ₹600 crore for Metro Phase II and ₹500 crore as loans to HMRL; neither represents proven completion.
Qualification: 2026–27 budget estimates; separate provision lines, not evidence of operating service.
Detailed reasoning, source documents, calculations, alternatives and source URLs: Appendix evidence card 36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HYDRAA's described disaster remit and MRDCL's ecological objectives establish institutional roles—not verified flood or water-quality outcomes.
Qualification: No measured improvement in flooding, lake health, wastewater treatment or response time is asserted.
Detailed reasoning, source documents, calculations, alternatives and source URLs: Appendix evidence card 37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Telangana's state capital expenditure is budgeted at ₹47,267.28 crore for 2026–27 versus ₹36,480.87 crore revised estimate for 2025–26.
Qualification: Statewide budgets, nominal RE-to-BE comparison; not Hyderabad actual spending or guaranteed delivery.
Detailed reasoning, source documents, calculations, alternatives and source URLs: Appendix evidence card 38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The government budget provides ₹1,500 crore for Musi development, while the agency describes restoration goals and officials acknowledge relocation concerns.
Qualification: Funding provision and expressed objectives do not demonstrate awards, resettlement outcomes or restored water quality.
Detailed reasoning, source documents, calculations, alternatives and source URLs: Appendix evidence card 39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HYDRAA's public-asset and disaster-management mandate cannot by itself establish the legal status or real-world results of an individual action.
Qualification: Case-specific notice, title, adjudication and remedial records require independent examination.
Detailed reasoning, source documents, calculations, alternatives and source URLs: Appendix evidence card 40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The evidence supports sequencing document-backed questions ahead of claims about unmeasured public outcomes.
Qualification: Analyst-designed research priority order, not an empirical score or a party strategy.
Detailed reasoning, source documents, calculations, alternatives and source URLs: Appendix evidence card 41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MBA, IIM Shillong (2023–25); candidate-reported Meghalaya PDS modelling with 4,500+ government records.
Qualification: Candidate self-report. Academic/project achievements are not independently audited.
Detailed reasoning, source documents, calculations, alternatives and source URLs: Appendix evidence card 42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Consultant, Marketing and Strategy, Nation With Namo (May 2025–Apr 2026). Resume reports an evidence-review workflow for seven political-intelligence team members.
Qualification: Self-reported experience. Timing and impact are proposals, not guaranteed outcomes.
Detailed reasoning, source documents, calculations, alternatives and source URLs: Appendix evidence card 43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TAKEAWAY: Thank you for considering this independent research work sample.
Manash Protim Deori
manashdeori09@gmail.com
Qualification: Independent application; not endorsed by Inclusive Minds.
Detailed reasoning, source documents, calculations, alternatives and source URLs: Appendix evidence card 44 and full source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Methods and data; slide-level reasoning; factual and source registers; historical self-review; unresolved records.
[]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[["Provenance", "Supported, Qualified or Blocked for each record. An unread original is not cleared by correct arithmetic."], ["Lineage", "Shared issuer and publisher records count once. ET/TOI share Times Group; PRS reuses state documents."], ["Integrity", "Original date, unit and fiscal stage retained. Chart/workbook values agree; PDF data are searchable."], ["Inference", "Interpretations remain bounded. Current legal status, officeholders and delivery require separate records."], ["Practical use", "Recommendations identify a work product and acceptance test. Effort/output counts remain conditional."]]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Contiguous-code study set selected for a bounded work sample; other metropolitan seats excluded. Fresh primary row recheck pending.
[["57 Musheerabad", "BRS"], ["58 Malakpet", "AIMIM"], ["59 Amberpet", "BRS"], ["60 Khairatabad", "BRS"], ["61 Jubilee Hills", "BRS"], ["62 Sanathnagar", "BRS"], ["63 Nampally", "AIMIM"], ["64 Karwan", "AIMIM"], ["65 Goshamahal", "BJP"], ["66 Charminar", "AIMIM"], ["67 Chandrayangutta", "AIMIM"], ["68 Yakutpura", "AIMIM"], ["69 Bahadurpura", "AIMIM"], ["70 Secunderabad", "BRS"], ["71 Secunderabad Cantt.(SC)", "BRS"]]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[["State seats 2023", "64+39+8+7+1=119. S06 official performance table."], ["Selected seats 2023", "7+7+1+0=15 internally. S07 target rows remain blocked for fresh recheck."], ["Reported GHMC councils", "2016: 99+44+4+2+1=150. 2020: 56+48+44+2=150. Historical reporting."], ["Three margins", "62,185−60,148=2,037; 46,153−45,275=878; 99,776−18,116=81,660. Inputs pending fresh check."], ["State capex", "(47,267.28 / 36,480.87 − 1) × 100 = 29.5673%, rounded 29.6%. Nominal RE-to-BE."], ["Prior execution context", "PRS 2024–25 BE-to-actual shortfalls are historical statewide context. No summed city budget or next-year forecast."]]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Political dynamics, governance questions and my contribution to Inclusive Minds
EVIDENCE: F34 (Qualified): Candidate resume lists MBA, IIM Shillong, 2023–25; Consultant Marketing and Strategy at Nation With Namo, May 2025–Apr 2026. [S25; Education/workExperience]; F37 (Qualified): Candidate resume lists manashdeori09@gmail.com, LinkedIn/manash-protim-deori and openness to relocation. [S25; Header]
REASONING: Editorial title for a professional research work sample.
LIMITS / ASSUMPTIONS: Research cut-off 8 October 2026. Prepared independently; no employer or party endorsement.
ALTERNATIVES: Editorial framing or contact information; no independent substantive recommendation.
RECOMMENDATION: Framing/contact only.
HOW I WOULD CONTRIBUTE: Framing/contact only.
PRACTICAL TEST: Contact fields reflect candidate self-report.
EVIDENCE STATUS: Evidence as of 8 October 2026: 2 qualified. Inferences bounded. Proposals conditional.
FULL REFERENCES: 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
INTERVIEW DEFENCE: Editorial title for a professional research work sample. Evidence status: Qualified premises. Research cut-off 8 October 2026. Prepared independently; no employer or party endorsement.
SOURCE URLS:
S25: Portfolio resume data — https://github.com/ManashProtimDeori/Manash-Protim-Deori/blob/c5ab9d8ac00c9180b880fa50f3e5f99682e1dac1/src/data/resume.ts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Three findings shape my operating perspective. Each requires a different work product.
EVIDENCE: F03 (Supported): GO 55 of 11 February 2026 reorganised CURE into GHMC, CMC and MMC with immediate effect. [S03, S04, S15; GO 55 pp 1–2]; F07 (Supported): 2023 Telangana Assembly seats won: INC 64; BRS 39; BJP 8; AIMIM 7; CPI 1. [S06; WON column]; F08 (Blocked): In selected Assembly seats AC 57–71,2023 winners were BRS 7, AIMIM 7, BJP 1, INC 0. [S07; AC 57–71]; F21 (Supported): 2026–27 BE: H-CITY assistance to CURE ₹2,654 crore. [S09, S10; S09 p.16, Table 10, row 32]; F22 (Supported): 2026–27 BE: Musi Riverfront development ₹1,500 crore. [S09; S09 p.16, Table 10, row 36]
REASONING: These institution-specific results cannot be collapsed into one citywide result. Budget provisions create questions about implementation.
LIMITS / ASSUMPTIONS: Selected units differ. The 15-seat source recheck is pending. Budget estimates and boundary changes do not establish public approval.
ALTERNATIVES: A difference may reflect institutional boundaries, election context or candidate competition; it does not identify switching voters.
RECOMMENDATION: Maintain separate institution-specific briefs with a dated geography crosswalk.
HOW I WOULD CONTRIBUTE: Adjacent executive contributions are shown.
PRACTICAL TEST: Output: Institution-specific briefing pack. Inputs: Dated results and boundary records. Owner: candidate under research lead; reviewer: manager/subject specialist. Acceptance: Separate unit/date/source in every comparison. Effort: log pilot sourcing and review time before agreeing output count. If access/review fails, narrow the desk brief and retain unknowns.
EVIDENCE STATUS: Evidence as of 8 October 2026: 4 supported, 1 blocked. Inferences bounded. Proposals conditional.
FULL REFERENCES: S03 | G.O.Ms.No.55: CURE reorganisation | Government of Telangana, MAUD | https://tg-bn-website-assets.flowwlabs.tech/GOs-and-ACTs/GO.Ms.No.55_11-02-2026.pdf | PDF pp.1–2; operative paragraphs 2–3 | 2026-02-11 | Local fresh retrieval successful
S04 | Government Orders and Acts | Government of Telangana, BuildNow | https://buildnow.telangana.gov.in/go-and-act/ | GO 55, GO 45, GO 16, GO 68 and GO 69 entries | Orders dated 2025–2026 | Local fresh retrieval successful
S06 | Performance of Political Parties: Telangana 2023 | Election Commission of India | https://www.eci.gov.in/eci-backend/public/all_files/full-statistical-reports/telangana/2023/Performance_of_Political_Parties.pdf | Performance of Political Parties, printed p.1, WON column | 2023 Assembly election; report undated | Fresh original route unavailable; relevant source passages subsequently readable via web retrieval
S07 | List of Successful Candidates: Telangana 2023 | Election Commission of India | https://www.eci.gov.in/eci-backend/public/all_files/full-statistical-reports/telangana/2023/List_of_Successful_Candidates.pdf | PDF pp.2–3; AC 57–71 and winner/runner-up columns | 2023 Assembly election; report undated | Fresh original route unavailable; partial web retrieval did not clear target rows
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
S10 | Telangana Budget Analysis 2026–27 | PRS Legislative Research | https://prsindia.org/budgets/states/telangana-budget-analysis-2026-27 | Fiscal summary; Table 11 revenue receipts and Table 14 sector BE-to-actual comparison, 2024–25 | 2026–27 budget analysis | Local fresh retrieval successful
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
INTERVIEW DEFENCE: These institution-specific results cannot be collapsed into one citywide result. Budget provisions create questions about implementation. Evidence status: Blocked premises. Selected units differ. The 15-seat source recheck is pending. Budget estimates and boundary changes do not establish public approval.
SOURCE URLS:
S06: Performance of Political Parties: Telangana 2023 — https://www.eci.gov.in/eci-backend/public/all_files/full-statistical-reports/telangana/2023/Performance_of_Political_Parties.pdf
S03: G.O.Ms.No.55: CURE reorganisation — https://tg-bn-website-assets.flowwlabs.tech/GOs-and-ACTs/GO.Ms.No.55_11-02-2026.pdf
S04: Government Orders and Acts — https://buildnow.telangana.gov.in/go-and-act/
S15: Moosarambagh bridge event and corporation logos — https://www.telangana.gov.in/news/press-releases/2026/08/honble-cm-sri-a-revanth-reddy-addresses-the-public-meeting-at-ghmc-sports-stadium-amberpet-hyderabad-following-the-inauguration-of-the-moosarambagh-high-level-bridge/
S09: Budget in Brief: 2026–27 — https://www.telangana.gov.in/wp-content/uploads/2026/05/Budget-in-Brief.pdf
S10: Telangana Budget Analysis 2026–27 — https://prsindia.org/budgets/states/telangana-budget-analysis-2026-27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District, Assembly seat, Lok Sabha seat, municipal corporation and metropolitan planning region answer different questions.
EVIDENCE: F03 (Supported): GO 55 of 11 February 2026 reorganised CURE into GHMC, CMC and MMC with immediate effect. [S03, S04, S15; GO 55 pp 1–2]; F04 (Supported): CMC comprises Serilingampally, Kukatpally and Qutbullapur zones; MMC comprises Malkajgiri, Uppal and L.B.Nagar zones. [S03; GO 55 operative zone allocation]; F05 (Supported): GHMC comprises Shamshabad, Rajendernagar, Charminar, Golconda, Khairatabad and Secunderabad zones. [S03; GO 55 operative zone allocation]; F33 (Supported): BuildNow lists GO 68 dated 12 March 2025 for expansion of HMR and GO 69 for FCDA. [S04; GO 68/69 entries]
REASONING: The GO allocates municipal zones; election tables use constituency codes. A name match does not establish identical population or jurisdiction.
LIMITS / ASSUMPTIONS: AC 57–71 is a contiguous administrative-code study set, chosen for a bounded work sample. It excludes other metropolitan seats and is not representative.
ALTERNATIVES: A changed total can reflect a boundary revision or record coverage rather than a real service change.
RECOMMENDATION: Complete the dated official boundary crosswalk before joining datasets.
HOW I WOULD CONTRIBUTE: I would create a dated crosswalk with overlap rules, official boundary files and exclusions before analysis.
PRACTICAL TEST: Output: Geography crosswalk. Inputs: GO instruments and official polygons. Owner: candidate under research lead; reviewer: manager/subject specialist. Acceptance: Version, join keys, overlap rules and exclusions recorded. Effort: log pilot sourcing and review time before agreeing output count. If access/review fails, narrow the desk brief and retain unknowns.
EVIDENCE STATUS: Evidence as of 8 October 2026: 4 supported. Inferences bounded. Proposals conditional.
FULL REFERENCES: S03 | G.O.Ms.No.55: CURE reorganisation | Government of Telangana, MAUD | https://tg-bn-website-assets.flowwlabs.tech/GOs-and-ACTs/GO.Ms.No.55_11-02-2026.pdf | PDF pp.1–2; operative paragraphs 2–3 | 2026-02-11 | Local fresh retrieval successful
S04 | Government Orders and Acts | Government of Telangana, BuildNow | https://buildnow.telangana.gov.in/go-and-act/ | GO 55, GO 45, GO 16, GO 68 and GO 69 entries | Orders dated 2025–2026 | Local fresh retrieval successful
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
INTERVIEW DEFENCE: The GO allocates municipal zones; election tables use constituency codes. A name match does not establish identical population or jurisdiction. Evidence status: Supported premises. AC 57–71 is a contiguous administrative-code study set, chosen for a bounded work sample. It excludes other metropolitan seats and is not representative.
SOURCE URLS:
S03: G.O.Ms.No.55: CURE reorganisation — https://tg-bn-website-assets.flowwlabs.tech/GOs-and-ACTs/GO.Ms.No.55_11-02-2026.pdf
S04: Government Orders and Acts — https://buildnow.telangana.gov.in/go-and-act/
S15: Moosarambagh bridge event and corporation logos — https://www.telangana.gov.in/news/press-releases/2026/08/honble-cm-sri-a-revanth-reddy-addresses-the-public-meeting-at-ghmc-sports-stadium-amberpet-hyderabad-following-the-inauguration-of-the-moosarambagh-high-level-bridge/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State, civic and by-election records describe different institutions and dates. Later by-elections require a separate event ledger.
EVIDENCE: F16 (Blocked): First Telangana Assembly as of 2 June 2014: TRS 63, INC 21, out of 119. [S16; Printed 410/PDF 63]; F17 (Qualified): Contemporaneous 2018 reporting recorded TRS 88 and INC 19 Assembly seats. [S17, S18; Updated results paragraphs]; F18 (Qualified): Published 2016 GHMC recap: TRS 99, AIMIM 44, BJP 4, INC 2, TDP 1. [S19, S20; Numerical result paragraphs]; F19 (Qualified): Post-Neredmet 2020 reporting: TRS 56, BJP 48, AIMIM 44, INC 2. [S21, S22; Results paragraphs; final Neredmet result]; F07 (Supported): 2023 Telangana Assembly seats won: INC 64; BRS 39; BJP 8; AIMIM 7; CPI 1. [S06; WON column]; F03 (Supported): GO 55 of 11 February 2026 reorganised CURE into GHMC, CMC and MMC with immediate effect. [S03, S04, S15; GO 55 pp 1–2]; F38 (Qualified): Congress won the 2024 Secunderabad Cantonment by-election, according to reporting. [S27; Opening paragraph; reported result 4 June 2024]; F20 (Qualified): Congress candidate V. Naveen Yadav won the November 2025 Jubilee Hills by-election, according to Times Group reporting. [S23, S24; Winner reports]
REASONING: Separate election outcomes, by-elections, office changes and boundary changes. Historical outcomes do not establish present membership.
LIMITS / ASSUMPTIONS: 2014 fresh passage pending. Legacy/bypoll results are attributed reporting. No voter switching or current party-strength estimate.
ALTERNATIVES: Institution-specific results can change without one common citywide trend. Bypolls also have distinct candidate/context effects.
RECOMMENDATION: Maintain a dated event ledger that includes subsequent by-elections.
HOW I WOULD CONTRIBUTE: I would maintain an event ledger that separates electoral results, office changes, boundary changes and delivery milestones.
PRACTICAL TEST: Output: Political event ledger. Inputs: Results, by-elections, office/boundary notifications. Owner: candidate under research lead; reviewer: manager/subject specialist. Acceptance: Historical outcome and later status occupy separate dated rows. Effort: log pilot sourcing and review time before agreeing output count. If access/review fails, narrow the desk brief and retain unknowns.
EVIDENCE STATUS: Evidence as of 8 October 2026: 1 blocked, 5 qualified, 2 supported. Inferences bounded. Proposals conditional.
FULL REFERENCES: S03 | G.O.Ms.No.55: CURE reorganisation | Government of Telangana, MAUD | https://tg-bn-website-assets.flowwlabs.tech/GOs-and-ACTs/GO.Ms.No.55_11-02-2026.pdf | PDF pp.1–2; operative paragraphs 2–3 | 2026-02-11 | Local fresh retrieval successful
S04 | Government Orders and Acts | Government of Telangana, BuildNow | https://buildnow.telangana.gov.in/go-and-act/ | GO 55, GO 45, GO 16, GO 68 and GO 69 entries | Orders dated 2025–2026 | Local fresh retrieval successful
S06 | Performance of Political Parties: Telangana 2023 | Election Commission of India | https://www.eci.gov.in/eci-backend/public/all_files/full-statistical-reports/telangana/2023/Performance_of_Political_Parties.pdf | Performance of Political Parties, printed p.1, WON column | 2023 Assembly election; report undated | Fresh original route unavailable; relevant source passages subsequently readable via web retrieval
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
S16 | Journal of Parliamentary Information, September 2014 | Lok Sabha Secretariat | https://eparlib.sansad.in/bitstream/123456789/58523/1/JPI_September_2014.pdf | Printed p.410 / PDF p.63; first Telangana Assembly | 2014-09; reference 2014-06-02 | Fresh original route unavailable; target passage not freshly cleared
S17 | Telangana Assembly polls: TRS wins | Scroll | https://scroll.in/latest/905254/telangana-assembly-polls-counting-of-votes-in-three-way-contest-set-to-begin-at-8-am | Updated article paragraph below party table | 2018-12-12 | Local fresh retrieval successful
S18 | 2018 Telangana complete winners | The Times of India | https://timesofindia.indiatimes.com/city/hyderabad/telangana-election-results-2018-complete-list-of-winning-candidates-in-telangana/articleshow/67055845.cms | Opening results paragraph | 2018-12-12 | Local fresh retrieval successful
S19 | Hyderabad civic body voting: 2016 recap | NDTV, Uma Sudhir | https://www.ndtv.com/telangana-news/after-a-bitter-campaign-voting-begins-for-hyderabad-civic-body-polls-2332363 | Paragraph beginning A total of 1,122 candidates | 2020-12-01 | Local fresh retrieval successful
S20 | GHMC 2016 result report | PTI / The New Indian Express | https://www.newindianexpress.com/amp/story/cities/hyderabad/2016/Feb/06/ghmc-polls-sops-for-poor-seemandhra-candidates-key-in-trs-win-889293.html | Results paragraphs: 99/150; Congress 2; TDP 1/BJP 4; MIM 44 | 2016-02-06 | Local fresh retrieval successful
S21 | Week after GHMC results: mayor question | The Indian Express, Rahul V Pisharody | https://indianexpress.com/article/cities/hyderabad/ghmc-results-hyderabad-mayor-7104860/ | Results paragraphs: TRS 56, AIMIM 44, BJP 48 | 2020-12-14 | Local fresh retrieval successful
S22 | Neredmet final result takes TRS tally to 56 | The Tribune, Naveen S Garewal | https://www.tribuneindia.com/news/nation/trs-wins-neredmet-ghmc-division-takes-its-tally-to-56-182436/ | Final paragraph: 56,48,44,2; Neredmet timing | 2020-12-11 | Local fresh retrieval successful
S23 | Jubilee Hills bypoll result | The Economic Times | https://m.economictimes.com/news/politics-and-nation/jubilee-hills-bypoll-result-2025-in-l-deepak-reddy-vs-sunita-vs-naveen-yadav-check-who-is-winning/articleshow/125315450.cms | Winner report | 2025-11-14 | Local fresh retrieval successful
S24 | Jubilee Hills bypoll winner live report | The Times of India | https://timesofindia.indiatimes.com/city/hyderabad/assembly-bypoll-result-2025-live-updates-by-election-results-jubilee-hills-budgam-nagrota-anta-ghatshila-tarn-taran-dampa-nuapada/liveblog/125313066.cms | 13:18 IST winner update | 2025-11-14 | Local fresh retrieval successful
S26 | 2024 Secunderabad Cantonment by-election records | Chief Electoral Officer Telangana | https://ceotelangana.nic.in/BYE_GE_2024.html | By-election index: result declaration and Form 20 links | 2024 by-election records | Index read; result document pending
S27 | Congress wins Secunderabad Cantonment by-election | The New Indian Express | https://www.newindianexpress.com/states/telangana/2024/Jun/05/congress-wins-byelection-to-secunderabad-cantonment | Opening paragraph: Congress win; result event 4 June 2024 | 2024-06-05 | Article read
S28 | 2025 Jubilee Hills by-election records | Chief Electoral Officer Telangana | https://ceotelangana.nic.in/BYE_GE_2025.HTML | Index: State Gazette Form 21-D declaration link | 2025 by-election records | Index read; declaration/Form 20 pending
INTERVIEW DEFENCE: Separate election outcomes, by-elections, office changes and boundary changes. Historical outcomes do not establish present membership. Evidence status: Blocked premises. 2014 fresh passage pending. Legacy/bypoll results are attributed reporting. No voter switching or current party-strength estimate.
SOURCE URLS:
S17: Telangana Assembly polls: TRS wins — https://scroll.in/latest/905254/telangana-assembly-polls-counting-of-votes-in-three-way-contest-set-to-begin-at-8-am
S18: 2018 Telangana complete winners — https://timesofindia.indiatimes.com/city/hyderabad/telangana-election-results-2018-complete-list-of-winning-candidates-in-telangana/articleshow/67055845.cms
S21: Week after GHMC results: mayor question — https://indianexpress.com/article/cities/hyderabad/ghmc-results-hyderabad-mayor-7104860/
S22: Neredmet final result takes TRS tally to 56 — https://www.tribuneindia.com/news/nation/trs-wins-neredmet-ghmc-division-takes-its-tally-to-56-182436/
S06: Performance of Political Parties: Telangana 2023 — https://www.eci.gov.in/eci-backend/public/all_files/full-statistical-reports/telangana/2023/Performance_of_Political_Parties.pdf
S08: Constituency-wise Detailed Results: 2024 Lok Sabha — https://www.eci.gov.in/eci-backend/public/all_files/GE-2024-statistical-report/33-Constituency-Wise-Detailed-Result.pdf
S03: G.O.Ms.No.55: CURE reorganisation — https://tg-bn-website-assets.flowwlabs.tech/GOs-and-ACTs/GO.Ms.No.55_11-02-2026.pdf
S04: Government Orders and Acts — https://buildnow.telangana.gov.in/go-and-act/
S15: Moosarambagh bridge event and corporation logos — https://www.telangana.gov.in/news/press-releases/2026/08/honble-cm-sri-a-revanth-reddy-addresses-the-public-meeting-at-ghmc-sports-stadium-amberpet-hyderabad-following-the-inauguration-of-the-moosarambagh-high-level-bridge/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Municipal reorganisation, asset protection, river planning and state budget provision operate through different institutions.
EVIDENCE: F03 (Supported): GO 55 of 11 February 2026 reorganised CURE into GHMC, CMC and MMC with immediate effect. [S03, S04, S15; GO 55 pp 1–2]; F06 (Supported): HYDRAA describes its CURE-wide remit as disaster management and protection of government / public assets, under MAUD. [S05; Mandate; Jurisdictional Coverage]; F21 (Supported): 2026–27 BE: H-CITY assistance to CURE ₹2,654 crore. [S09, S10; S09 p.16, Table 10, row 32]; F30 (Supported): MRDCL describes Musi vision in terms of ecological restoration, sewage interception/treatment, floodplain zones and mobility/livelihoods. [S11; Vision]
REASONING: A documented institution-specific chain is more useful than assigning every urban outcome to one politician or department.
LIMITS / ASSUMPTIONS: This is a documented-role scaffold, not a complete current statutory responsibility matrix. Case-specific powers need validation.
ALTERNATIVES: An observed delay may arise from a handoff, funding, record access or a legitimate review process.
RECOMMENDATION: Document responsibility and evidence for each issue-specific handoff.
HOW I WOULD CONTRIBUTE: I would produce one responsibility sheet for each issue: decision owner, payer, delivery body, review authority and evidence gap.
PRACTICAL TEST: Output: Issue responsibility sheet. Inputs: Relevant powers, funding and grievance records. Owner: candidate under research lead; reviewer: manager/subject specialist. Acceptance: Decision, payer, delivery and review route source-linked. Effort: log pilot sourcing and review time before agreeing output count. If access/review fails, narrow the desk brief and retain unknowns.
EVIDENCE STATUS: Evidence as of 8 October 2026: 4 supported. Inferences bounded. Proposals conditional.
FULL REFERENCES: S03 | G.O.Ms.No.55: CURE reorganisation | Government of Telangana, MAUD | https://tg-bn-website-assets.flowwlabs.tech/GOs-and-ACTs/GO.Ms.No.55_11-02-2026.pdf | PDF pp.1–2; operative paragraphs 2–3 | 2026-02-11 | Local fresh retrieval successful
S04 | Government Orders and Acts | Government of Telangana, BuildNow | https://buildnow.telangana.gov.in/go-and-act/ | GO 55, GO 45, GO 16, GO 68 and GO 69 entries | Orders dated 2025–2026 | Local fresh retrieval successful
S05 | About the Agency | HYDRAA, Government of Telangana | https://hydraa.telangana.gov.in/about | About HYDRAA; Jurisdictional Coverage; Functional Wings | Undated current page | Local fresh retrieval successful
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
S10 | Telangana Budget Analysis 2026–27 | PRS Legislative Research | https://prsindia.org/budgets/states/telangana-budget-analysis-2026-27 | Fiscal summary; Table 11 revenue receipts and Table 14 sector BE-to-actual comparison, 2024–25 | 2026–27 budget analysis | Local fresh retrieval successful
S11 | Vision / Mission | Musi Riverfront Development Corporation | https://musi.telangana.gov.in/VisionMusi.aspx | Vision paragraphs | Undated; current page | Local fresh retrieval successful
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
INTERVIEW DEFENCE: A documented institution-specific chain is more useful than assigning every urban outcome to one politician or department. Evidence status: Supported premises. This is a documented-role scaffold, not a complete current statutory responsibility matrix. Case-specific powers need validation.
SOURCE URLS:
S03: G.O.Ms.No.55: CURE reorganisation — https://tg-bn-website-assets.flowwlabs.tech/GOs-and-ACTs/GO.Ms.No.55_11-02-2026.pdf
S04: Government Orders and Acts — https://buildnow.telangana.gov.in/go-and-act/
S15: Moosarambagh bridge event and corporation logos — https://www.telangana.gov.in/news/press-releases/2026/08/honble-cm-sri-a-revanth-reddy-addresses-the-public-meeting-at-ghmc-sports-stadium-amberpet-hyderabad-following-the-inauguration-of-the-moosarambagh-high-level-bridge/
S05: About the Agency — https://hydraa.telangana.gov.in/about
S11: Vision / Mission — https://musi.telangana.gov.in/VisionMusi.aspx
S09: Budget in Brief: 2026–27 — https://www.telangana.gov.in/wp-content/uploads/2026/05/Budget-in-Brief.pdf
S10: Telangana Budget Analysis 2026–27 — https://prsindia.org/budgets/states/telangana-budget-analysis-2026-27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INC won 64 of 119 state seats. Within AC 57–71, the winners were BRS 7, AIMIM 7 and BJP 1; INC won 0.
EVIDENCE: F07 (Supported): 2023 Telangana Assembly seats won: INC 64; BRS 39; BJP 8; AIMIM 7; CPI 1. [S06; WON column]; F08 (Blocked): In selected Assembly seats AC 57–71,2023 winners were BRS 7, AIMIM 7, BJP 1, INC 0. [S07; AC 57–71]
REASONING: A contrasting selected-set result falsifies a claim that the statewide winner also won everywhere in the urban core.
LIMITS / ASSUMPTIONS: Contiguous-code study set AC 57–71, not the full metropolis. Historical result table retained with fresh primary recheck pending.
ALTERNATIVES: The selected study set can differ from other metropolitan seats. Its result is not a representative estimate.
RECOMMENDATION: Publish the selection rationale and exclusions with each constituency brief.
HOW I WOULD CONTRIBUTE: I would write explicitly scoped constituency briefs rather than treating the state mandate as a metropolitan result.
PRACTICAL TEST: Output: Scoped constituency brief. Inputs: Selected-seat rows and selection rationale. Owner: candidate under research lead; reviewer: manager/subject specialist. Acceptance: All 15 units disclosed; blocked rows visibly pending. Effort: log pilot sourcing and review time before agreeing output count. If access/review fails, narrow the desk brief and retain unknowns.
EVIDENCE STATUS: Evidence as of 8 October 2026: 1 supported, 1 blocked. Inferences bounded. Proposals conditional.
FULL REFERENCES: S06 | Performance of Political Parties: Telangana 2023 | Election Commission of India | https://www.eci.gov.in/eci-backend/public/all_files/full-statistical-reports/telangana/2023/Performance_of_Political_Parties.pdf | Performance of Political Parties, printed p.1, WON column | 2023 Assembly election; report undated | Fresh original route unavailable; relevant source passages subsequently readable via web retrieval
S07 | List of Successful Candidates: Telangana 2023 | Election Commission of India | https://www.eci.gov.in/eci-backend/public/all_files/full-statistical-reports/telangana/2023/List_of_Successful_Candidates.pdf | PDF pp.2–3; AC 57–71 and winner/runner-up columns | 2023 Assembly election; report undated | Fresh original route unavailable; partial web retrieval did not clear target rows
INTERVIEW DEFENCE: A contrasting selected-set result falsifies a claim that the statewide winner also won everywhere in the urban core. Evidence status: Blocked premises. Contiguous-code study set AC 57–71, not the full metropolis. Historical result table retained with fresh primary recheck pending.
SOURCE URLS:
S06: Performance of Political Parties: Telangana 2023 — https://www.eci.gov.in/eci-backend/public/all_files/full-statistical-reports/telangana/2023/Performance_of_Political_Parties.pdf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The historical civic council changed from TRS 99 seats in 2016 to 56 in 2020; BJP rose from 4 to 48. AIMIM retained 44.
EVIDENCE: F18 (Qualified): Published 2016 GHMC recap: TRS 99, AIMIM 44, BJP 4, INC 2, TDP 1. [S19, S20; Numerical result paragraphs]; F19 (Qualified): Post-Neredmet 2020 reporting: TRS 56, BJP 48, AIMIM 44, INC 2. [S21, S22; Results paragraphs; final Neredmet result]
REASONING: Reported same-institution seat counts show council-level change. Seats are not votes; result differences do not identify voter transitions.
LIMITS / ASSUMPTIONS: Historical 150-seat GHMC tables, based on two corroborated reporting lineages. They are not 2026 corporation totals.
ALTERNATIVES: Seat changes can reflect turnout, candidates, boundaries or vote distribution. Seats alone do not separate those explanations.
RECOMMENDATION: Compare historical council counts only within equivalent election units.
HOW I WOULD CONTRIBUTE: I would preserve raw election vintages and compare only equivalent units, with candidate and boundary changes recorded.
PRACTICAL TEST: Output: Historical council comparison. Inputs: Final election files or labelled reports. Owner: candidate under research lead; reviewer: manager/subject specialist. Acceptance: Equivalent units and final-result vintage retained. Effort: log pilot sourcing and review time before agreeing output count. If access/review fails, narrow the desk brief and retain unknowns.
EVIDENCE STATUS: Evidence as of 8 October 2026: 2 qualified. Inferences bounded. Proposals conditional.
FULL REFERENCES: S19 | Hyderabad civic body voting: 2016 recap | NDTV, Uma Sudhir | https://www.ndtv.com/telangana-news/after-a-bitter-campaign-voting-begins-for-hyderabad-civic-body-polls-2332363 | Paragraph beginning A total of 1,122 candidates | 2020-12-01 | Local fresh retrieval successful
S20 | GHMC 2016 result report | PTI / The New Indian Express | https://www.newindianexpress.com/amp/story/cities/hyderabad/2016/Feb/06/ghmc-polls-sops-for-poor-seemandhra-candidates-key-in-trs-win-889293.html | Results paragraphs: 99/150; Congress 2; TDP 1/BJP 4; MIM 44 | 2016-02-06 | Local fresh retrieval successful
S21 | Week after GHMC results: mayor question | The Indian Express, Rahul V Pisharody | https://indianexpress.com/article/cities/hyderabad/ghmc-results-hyderabad-mayor-7104860/ | Results paragraphs: TRS 56, AIMIM 44, BJP 48 | 2020-12-14 | Local fresh retrieval successful
S22 | Neredmet final result takes TRS tally to 56 | The Tribune, Naveen S Garewal | https://www.tribuneindia.com/news/nation/trs-wins-neredmet-ghmc-division-takes-its-tally-to-56-182436/ | Final paragraph: 56,48,44,2; Neredmet timing | 2020-12-11 | Local fresh retrieval successful
INTERVIEW DEFENCE: Reported same-institution seat counts show council-level change. Seats are not votes; result differences do not identify voter transitions. Evidence status: Qualified premises. Historical 150-seat GHMC tables, based on two corroborated reporting lineages. They are not 2026 corporation totals.
CHART DATA: 2016: TRS=99, BJP=4, AIMIM=44, INC=2, TDP=1; 2020: TRS=56, BJP=48, AIMIM=44, INC=2, TDP=0
SOURCE URLS:
S19: Hyderabad civic body voting: 2016 recap — https://www.ndtv.com/telangana-news/after-a-bitter-campaign-voting-begins-for-hyderabad-civic-body-polls-2332363
S20: GHMC 2016 result report — https://www.newindianexpress.com/amp/story/cities/hyderabad/2016/Feb/06/ghmc-polls-sops-for-poor-seemandhra-candidates-key-in-trs-win-889293.html
S21: Week after GHMC results: mayor question — https://indianexpress.com/article/cities/hyderabad/ghmc-results-hyderabad-mayor-7104860/
S22: Neredmet final result takes TRS tally to 56 — https://www.tribuneindia.com/news/nation/trs-wins-neredmet-ghmc-division-takes-its-tally-to-56-182436/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BJP won Malkajgiri, Secunderabad and Chevella; AIMIM won Hyderabad in the 2024 results examined here.
EVIDENCE: F12 (Supported): Malkajgiri, 2024 Lok Sabha: Eatala Rajender (BJP) led with 991,042 votes; runner-up 599,567. [S08; p 580]; F13 (Supported): Secunderabad, 2024 Lok Sabha: G.Kishan Reddy (BJP) led with 473,012 votes; runner-up 423,068. [S08; p 581]; F14 (Supported): Hyderabad, 2024 Lok Sabha: Asaduddin Owaisi (AIMIM) led with 661,981 votes; runner-up 323,894. [S08; p 583]; F15 (Supported): Chevella, 2024 Lok Sabha: Konda Vishweshwar Reddy (BJP) led with 809,882 votes; runner-up 636,985. [S08; p 585]; F08 (Blocked): In selected Assembly seats AC 57–71,2023 winners were BRS 7, AIMIM 7, BJP 1, INC 0. [S07; AC 57–71]
REASONING: Different institution-specific observations show why political strength cannot be represented by one number.
LIMITS / ASSUMPTIONS: Four PCs and the 15-seat AC set are not coextensive. Candidate effects, turnout and national context remain rival explanations.
ALTERNATIVES: National and state contests differ in units, candidates and timing; contrasting results do not prove voter conversion.
RECOMMENDATION: Keep Assembly, parliamentary and civic series separate.
HOW I WOULD CONTRIBUTE: I would keep Assembly, parliamentary and civic result series separate, then test possible explanations through approved research.
PRACTICAL TEST: Output: Separate AC / PC / civic series. Inputs: Original institution-specific results. Owner: candidate under research lead; reviewer: manager/subject specialist. Acceptance: No pooled swing or individual-voter inference. Effort: log pilot sourcing and review time before agreeing output count. If access/review fails, narrow the desk brief and retain unknowns.
EVIDENCE STATUS: Evidence as of 8 October 2026: 4 supported, 1 blocked. Inferences bounded. Proposals conditional.
FULL REFERENCES: S07 | List of Successful Candidates: Telangana 2023 | Election Commission of India | https://www.eci.gov.in/eci-backend/public/all_files/full-statistical-reports/telangana/2023/List_of_Successful_Candidates.pdf | PDF pp.2–3; AC 57–71 and winner/runner-up columns | 2023 Assembly election; report undated | Fresh original route unavailable; partial web retrieval did not clear target rows
S08 | Constituency-wise Detailed Results: 2024 Lok Sabha | Election Commission of India | https://www.eci.gov.in/eci-backend/public/all_files/GE-2024-statistical-report/33-Constituency-Wise-Detailed-Result.pdf | Printed pp.580,581,583,585; four selected PCs | 2024 Lok Sabha election; report undated | Fresh original route unavailable; relevant source passages subsequently readable via web retrieval
INTERVIEW DEFENCE: Different institution-specific observations show why political strength cannot be represented by one number. Evidence status: Blocked premises. Four PCs and the 15-seat AC set are not coextensive. Candidate effects, turnout and national context remain rival explanations.
SOURCE URLS:
S08: Constituency-wise Detailed Results: 2024 Lok Sabha — https://www.eci.gov.in/eci-backend/public/all_files/GE-2024-statistical-report/33-Constituency-Wise-Detailed-Result.pdf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The state investment portal identifies Genome Valley at Shamirpet and electronics clusters. These locations are useful anchors for questions about jobs and services.
EVIDENCE: F32 (Qualified): State investment portal identifies Genome Valley at Shamirpet and electronics manufacturing clusters. [S14; Industrial-parks section]
REASONING: Cluster presence does not establish broad access. Locations anchor research questions, but do not measure benefits, GDP or job quality.
LIMITS / ASSUMPTIONS: No city GDP, unemployment, export or employment estimate is asserted from a statewide promotional portal.
ALTERNATIVES: Cluster presence can coexist with broad or uneven access. Neither distribution is established by a location directory.
RECOMMENDATION: Use verified cluster locations to frame a bounded opportunity-access brief.
HOW I WOULD CONTRIBUTE: I would build a place-based opportunity brief using verified cluster locations, commuting access and service data.
PRACTICAL TEST: Output: Opportunity-access brief. Inputs: Cluster locations, bounded commute/service measures. Owner: candidate under research lead; reviewer: manager/subject specialist. Acceptance: No promotional job/GDP statement used as an outcome. Effort: log pilot sourcing and review time before agreeing output count. If access/review fails, narrow the desk brief and retain unknowns.
EVIDENCE STATUS: Evidence as of 8 October 2026: 1 qualified. Inferences bounded. Proposals conditional.
FULL REFERENCES: S14 | Invest Telangana portal | Government of Telangana investment portal | https://invest.telangana.gov.in/ | Industrial parks; Genome Valley at Shamirpet; electronics clusters | Undated; current page | Local fresh retrieval successful
INTERVIEW DEFENCE: Cluster presence does not establish broad access. Locations anchor research questions, but do not measure benefits, GDP or job quality. Evidence status: Qualified premises. No city GDP, unemployment, export or employment estimate is asserted from a statewide promotional portal.
SOURCE URLS:
S14: Invest Telangana portal — https://invest.telangana.gov.in/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A sector-growth narrative leaves open questions about vacancies, qualification fit, commute costs, informality and job stability.
EVIDENCE: F32 (Qualified): State investment portal identifies Genome Valley at Shamirpet and electronics manufacturing clusters. [S14; Industrial-parks section]; F36 (Qualified): Candidate resume reports modelling Meghalaya PDS and analysing 4,500+government records. [S25; Projects, Jul–Sep 2024]
REASONING: Measured barriers are needed to connect clusters with residents’ opportunities. No labour-market deficit is assumed simply from cluster presence.
LIMITS / ASSUMPTIONS: Hypothesis: access barriers may vary by location and occupation. Requires local evidence; no demographic or religious political profiling.
ALTERNATIVES: An apparent access gap can reflect qualifications, transport, job quality or incomplete vacancy information.
RECOMMENDATION: Validate a defined access question before proposing an intervention.
HOW I WOULD CONTRIBUTE: I would triangulate employer information, official labour statistics and consented interviews before proposing an access intervention.
PRACTICAL TEST: Output: Access-question validation plan. Inputs: Named location/occupation, official labour data, guide. Owner: candidate under research lead; reviewer: manager/subject specialist. Acceptance: Question and observable measures agreed before recruitment. Effort: log pilot sourcing and review time before agreeing output count. If access/review fails, narrow the desk brief and retain unknowns.
EVIDENCE STATUS: Evidence as of 8 October 2026: 2 qualified. Inferences bounded. Proposals conditional.
FULL REFERENCES: S14 | Invest Telangana portal | Government of Telangana investment portal | https://invest.telangana.gov.in/ | Industrial parks; Genome Valley at Shamirpet; electronics clusters | Undated; current page | Local fresh retrieval successful
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
INTERVIEW DEFENCE: Measured barriers are needed to connect clusters with residents’ opportunities. No labour-market deficit is assumed simply from cluster presence. Evidence status: Qualified premises. Hypothesis: access barriers may vary by location and occupation. Requires local evidence; no demographic or religious political profiling.
SOURCE URLS:
S14: Invest Telangana portal — https://invest.telangana.gov.in/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GO 55 changes municipal administration. Separate 2025 planning instruments concern HMR expansion and FCDA. Land questions require parcel-level evidence.
EVIDENCE: F03 (Supported): GO 55 of 11 February 2026 reorganised CURE into GHMC, CMC and MMC with immediate effect. [S03, S04, S15; GO 55 pp 1–2]; F33 (Supported): BuildNow lists GO 68 dated 12 March 2025 for expansion of HMR and GO 69 for FCDA. [S04; GO 68/69 entries]
REASONING: Changes in administrative and planning units can break time-series comparisons and ownership assumptions.
LIMITS / ASSUMPTIONS: No current land-price trend, household displacement total or legal conclusion is asserted. GO index alone does not establish parcel-specific rights.
ALTERNATIVES: A difference may reflect jurisdiction/record changes or underlying development. Parcel rights require distinct evidence.
RECOMMENDATION: Match each land or service claim to its dated jurisdiction and original record.
HOW I WOULD CONTRIBUTE: I would maintain a boundary-vintage register and verify land, housing, approvals and service claims against the right jurisdiction.
PRACTICAL TEST: Output: Boundary-vintage case register. Inputs: Full instruments, parcel and approval records. Owner: candidate under research lead; reviewer: manager/subject specialist. Acceptance: Right jurisdiction and effective date for every row. Effort: log pilot sourcing and review time before agreeing output count. If access/review fails, narrow the desk brief and retain unknowns.
EVIDENCE STATUS: Evidence as of 8 October 2026: 2 supported. Inferences bounded. Proposals conditional.
FULL REFERENCES: S03 | G.O.Ms.No.55: CURE reorganisation | Government of Telangana, MAUD | https://tg-bn-website-assets.flowwlabs.tech/GOs-and-ACTs/GO.Ms.No.55_11-02-2026.pdf | PDF pp.1–2; operative paragraphs 2–3 | 2026-02-11 | Local fresh retrieval successful
S04 | Government Orders and Acts | Government of Telangana, BuildNow | https://buildnow.telangana.gov.in/go-and-act/ | GO 55, GO 45, GO 16, GO 68 and GO 69 entries | Orders dated 2025–2026 | Local fresh retrieval successful
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
INTERVIEW DEFENCE: Changes in administrative and planning units can break time-series comparisons and ownership assumptions. Evidence status: Supported premises. No current land-price trend, household displacement total or legal conclusion is asserted. GO index alone does not establish parcel-specific rights.
SOURCE URLS:
S03: G.O.Ms.No.55: CURE reorganisation — https://tg-bn-website-assets.flowwlabs.tech/GOs-and-ACTs/GO.Ms.No.55_11-02-2026.pdf
S04: Government Orders and Acts — https://buildnow.telangana.gov.in/go-and-act/
S15: Moosarambagh bridge event and corporation logos — https://www.telangana.gov.in/news/press-releases/2026/08/honble-cm-sri-a-revanth-reddy-addresses-the-public-meeting-at-ghmc-sports-stadium-amberpet-hyderabad-following-the-inauguration-of-the-moosarambagh-high-level-bridge/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2026–27 provides ₹600 crore for Metro Phase II and a separate ₹500 crore loan line to HMRL.
EVIDENCE: F24 (Supported): 2026–27 BE: Metro Rail Phase II ₹600 crore. [S09; S09 p.17, Table 10, row 50]; F25 (Supported): 2026–27 BE: loans to HMRL ₹500 crore. [S09; S09 p.17, Table 10, row 57]
REASONING: Distinct lines should not be merged into a claim about completed rail construction. Accessibility requires route and service evidence.
LIMITS / ASSUMPTIONS: Both are budget estimates. Current procurement, central approvals, operating extensions and completion dates are not established by the budget.
ALTERNATIVES: Budget provision can precede approval, award or spending. A completed asset can still provide uneven journey access.
RECOMMENDATION: Track each transport financing line through documented implementation stages.
HOW I WOULD CONTRIBUTE: I would track each financing line separately and evaluate access through verified project status, journeys and interchange evidence.
PRACTICAL TEST: Output: Transport implementation ledger. Inputs: Sanction, award, release, spend and service records. Owner: candidate under research lead; reviewer: manager/subject specialist. Acceptance: Financing provision kept separate from operating service. Effort: log pilot sourcing and review time before agreeing output count. If access/review fails, narrow the desk brief and retain unknowns.
EVIDENCE STATUS: Evidence as of 8 October 2026: 2 supported. Inferences bounded. Proposals conditional.
FULL REFERENCES: 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
INTERVIEW DEFENCE: Distinct lines should not be merged into a claim about completed rail construction. Accessibility requires route and service evidence. Evidence status: Supported premises. Both are budget estimates. Current procurement, central approvals, operating extensions and completion dates are not established by the budget.
SOURCE URLS:
S09: Budget in Brief: 2026–27 — https://www.telangana.gov.in/wp-content/uploads/2026/05/Budget-in-Brief.pdf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HYDRAA’s stated remit includes disaster response and public assets. MRDCL’s vision includes sewage treatment, drainage and floodplain measures.
EVIDENCE: F06 (Supported): HYDRAA describes its CURE-wide remit as disaster management and protection of government / public assets, under MAUD. [S05; Mandate; Jurisdictional Coverage]; F23 (Supported): 2026–27 BE: loans to HMWSSB for development ₹1,450 crore. [S09; S09 p.16, Table 10, row 38]; F30 (Supported): MRDCL describes Musi vision in terms of ecological restoration, sewage interception/treatment, floodplain zones and mobility/livelihoods. [S11; Vision]
REASONING: The documented remit and project scope suggest linked research tasks, not measured performance or a causal reduction in flood risk.
LIMITS / ASSUMPTIONS: No flood-frequency, water-quality, sewage-treatment or lake-restoration success rate has been verified in this deck.
ALTERNATIVES: Event severity and catchment conditions can change outcomes independently of an agency intervention.
RECOMMENDATION: Build a catchment-specific resilience brief using comparable event records.
HOW I WOULD CONTRIBUTE: I would connect rainfall events, drainage records, water-quality evidence and agency responsibilities in one issue brief.
PRACTICAL TEST: Output: Catchment resilience brief. Inputs: Rainfall, drainage and water-quality observations. Owner: candidate under research lead; reviewer: manager/subject specialist. Acceptance: Comparable events/units and missing series disclosed. Effort: log pilot sourcing and review time before agreeing output count. If access/review fails, narrow the desk brief and retain unknowns.
EVIDENCE STATUS: Evidence as of 8 October 2026: 3 supported. Inferences bounded. Proposals conditional.
FULL REFERENCES: S05 | About the Agency | HYDRAA, Government of Telangana | https://hydraa.telangana.gov.in/about | About HYDRAA; Jurisdictional Coverage; Functional Wings | Undated current page | Local fresh retrieval successful
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
S11 | Vision / Mission | Musi Riverfront Development Corporation | https://musi.telangana.gov.in/VisionMusi.aspx | Vision paragraphs | Undated; current page | Local fresh retrieval successful
INTERVIEW DEFENCE: The documented remit and project scope suggest linked research tasks, not measured performance or a causal reduction in flood risk. Evidence status: Supported premises. No flood-frequency, water-quality, sewage-treatment or lake-restoration success rate has been verified in this deck.
SOURCE URLS:
S05: About the Agency — https://hydraa.telangana.gov.in/about
S11: Vision / Mission — https://musi.telangana.gov.in/VisionMusi.aspx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State capex: ₹36,480.87 crore in 2025–26 RE and ₹47,267.28 crore in 2026–27 BE, a 29.6% nominal increase. In 2024–25, PRS reports state revenue receipts 24% below BE.
EVIDENCE: F27 (Supported): State capital expenditure: 2025–26 RE ₹36,480.87 crore; 2026–27 BE ₹47,267.28 crore. [S09, S10; S09 p.4, row VII, RE/BE columns]; F28 (Supported): Nominal state capex BE/RE increase is 29.57%, rounded 29.6%. [S09; Derived from F27]; F21 (Supported): 2026–27 BE: H-CITY assistance to CURE ₹2,654 crore. [S09, S10; S09 p.16, Table 10, row 32]; F22 (Supported): 2026–27 BE: Musi Riverfront development ₹1,500 crore. [S09; S09 p.16, Table 10, row 36]; F23 (Supported): 2026–27 BE: loans to HMWSSB for development ₹1,450 crore. [S09; S09 p.16, Table 10, row 38]; F39 (Qualified): PRS reports 2024–25 state revenue receipts 24% below BE. [S10; Table 11, Revenue Receipts row]
REASONING: A larger planned envelope makes financing and implementation monitoring material. It does not establish fiscal capacity or future completion.
LIMITS / ASSUMPTIONS: Statewide RE-to-BE comparison. Prior BE-to-actual gap is context, not a forecast. Chart labels round to whole crore; exact values remain in the workbook.
ALTERNATIVES: A larger plan can reflect priorities or financing assumptions; prior shortfalls do not predict the next year.
RECOMMENDATION: Monitor financing and execution with explicit BE, RE and actual stages.
HOW I WOULD CONTRIBUTE: I would build a commitments-to-delivery tracker with separate estimate, sanction, release, spend and outcome fields.
PRACTICAL TEST: Output: Financing-to-delivery brief. Inputs: BE/RE/actual and release/outcome records. Owner: candidate under research lead; reviewer: manager/subject specialist. Acceptance: Nominal/statewide scope retained; no forecast from old shortfalls. Effort: log pilot sourcing and review time before agreeing output count. If access/review fails, narrow the desk brief and retain unknowns.
EVIDENCE STATUS: Evidence as of 8 October 2026: 5 supported, 1 qualified. Inferences bounded. Proposals conditional.
FULL REFERENCES: 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
S10 | Telangana Budget Analysis 2026–27 | PRS Legislative Research | https://prsindia.org/budgets/states/telangana-budget-analysis-2026-27 | Fiscal summary; Table 11 revenue receipts and Table 14 sector BE-to-actual comparison, 2024–25 | 2026–27 budget analysis | Local fresh retrieval successful
INTERVIEW DEFENCE: A larger planned envelope makes financing and implementation monitoring material. It does not establish fiscal capacity or future completion. Evidence status: Qualified premises. Statewide RE-to-BE comparison. Prior BE-to-actual gap is context, not a forecast. Chart labels round to whole crore; exact values remain in the workbook.
CHART DATA: State capex: 2025–26 RE=36480.87, 2026–27 BE=47267.28
SOURCE URLS:
S09: Budget in Brief: 2026–27 — https://www.telangana.gov.in/wp-content/uploads/2026/05/Budget-in-Brief.pdf
S10: Telangana Budget Analysis 2026–27 — https://prsindia.org/budgets/states/telangana-budget-analysis-2026-27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MRDCL states environmental and mobility objectives. The March 2026 official conference also acknowledged compensation and livelihood concerns.
EVIDENCE: F22 (Supported): 2026–27 BE: Musi Riverfront development ₹1,500 crore. [S09; S09 p.16, Table 10, row 36]; F30 (Supported): MRDCL describes Musi vision in terms of ecological restoration, sewage interception/treatment, floodplain zones and mobility/livelihoods. [S11; Vision]; F31 (Supported): At the 13 March 2026 Musi conference, the CM addressed compensation and livelihood concerns associated with relocation. [S12; English compensation/livelihood paragraphs]
REASONING: Environmental objectives and acknowledged relocation concerns justify testing multiple dimensions of implementation together.
LIMITS / ASSUMPTIONS: Government objectives/commitments are not proof of outcomes. Current award, construction, compensation and water-quality results remain unverified.
ALTERNATIVES: Environmental progress and household costs can move differently; official commitments do not settle either outcome.
RECOMMENDATION: Evaluate the Musi case against documented milestones and household safeguards.
HOW I WOULD CONTRIBUTE: I would produce a balanced Musi brief: documentary milestone, environmental evidence, household safeguards and unresolved questions.
PRACTICAL TEST: Output: Musi case brief. Inputs: Award, environment, compensation/rehousing records. Owner: candidate under research lead; reviewer: manager/subject specialist. Acceptance: Objectives, commitments and verified outcomes separated. Effort: log pilot sourcing and review time before agreeing output count. If access/review fails, narrow the desk brief and retain unknowns.
EVIDENCE STATUS: Evidence as of 8 October 2026: 3 supported. Inferences bounded. Proposals conditional.
FULL REFERENCES: 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
S11 | Vision / Mission | Musi Riverfront Development Corporation | https://musi.telangana.gov.in/VisionMusi.aspx | Vision paragraphs | Undated; current page | Local fresh retrieval successful
S12 | Musi Invites: Phase I presentation | Government of Telangana, TG Digital Media | https://www.telangana.gov.in/news/press-releases/2026/03/honble-cm-sri-a-revanth-reddy-participated-in-musi-invites-a-presentation-on-musi-river-rejuvenation-phase-i-by-mrdcl-in-hyderabad/ | English text: compensation and livelihood concerns; concluding presentation description | Event 2026-03-13; page 2026-03-16 | Local fresh retrieval successful
INTERVIEW DEFENCE: Environmental objectives and acknowledged relocation concerns justify testing multiple dimensions of implementation together. Evidence status: Supported premises. Government objectives/commitments are not proof of outcomes. Current award, construction, compensation and water-quality results remain unverified.
SOURCE URLS:
S09: Budget in Brief: 2026–27 — https://www.telangana.gov.in/wp-content/uploads/2026/05/Budget-in-Brief.pdf
S11: Vision / Mission — https://musi.telangana.gov.in/VisionMusi.aspx
S12: Musi Invites: Phase I presentation — https://www.telangana.gov.in/news/press-releases/2026/03/honble-cm-sri-a-revanth-reddy-participated-in-musi-invites-a-presentation-on-musi-river-rejuvenation-phase-i-by-mrdcl-in-hyderabad/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HYDRAA describes a CURE-wide asset-protection and disaster mandate. That does not determine the legality or fairness of an individual action.
EVIDENCE: F06 (Supported): HYDRAA describes its CURE-wide remit as disaster management and protection of government / public assets, under MAUD. [S05; Mandate; Jurisdictional Coverage]; F03 (Supported): GO 55 of 11 February 2026 reorganised CURE into GHMC, CMC and MMC with immediate effect. [S03, S04, S15; GO 55 pp 1–2]
REASONING: Mandate-level evidence and case-level evidence answer different questions; public trust needs both.
LIMITS / ASSUMPTIONS: No parcel is labelled an encroachment here. Current legal requirements and court orders need counsel/official record review.
ALTERNATIVES: A mandate may exist while an individual action still requires distinct authority, boundary and procedural evidence.
RECOMMENDATION: Verify an individual case against its order, boundary and review records.
HOW I WOULD CONTRIBUTE: I would keep a case tracker for the order, boundary record, notice, review route, implementation and independently checked outcome.
PRACTICAL TEST: Output: Case evidence tracker. Inputs: Order, boundary, notice and review record. Owner: candidate under research lead; reviewer: manager/subject specialist. Acceptance: Legal conclusions withheld until case-specific review. Effort: log pilot sourcing and review time before agreeing output count. If access/review fails, narrow the desk brief and retain unknowns.
EVIDENCE STATUS: Evidence as of 8 October 2026: 2 supported. Inferences bounded. Proposals conditional.
FULL REFERENCES: S03 | G.O.Ms.No.55: CURE reorganisation | Government of Telangana, MAUD | https://tg-bn-website-assets.flowwlabs.tech/GOs-and-ACTs/GO.Ms.No.55_11-02-2026.pdf | PDF pp.1–2; operative paragraphs 2–3 | 2026-02-11 | Local fresh retrieval successful
S04 | Government Orders and Acts | Government of Telangana, BuildNow | https://buildnow.telangana.gov.in/go-and-act/ | GO 55, GO 45, GO 16, GO 68 and GO 69 entries | Orders dated 2025–2026 | Local fresh retrieval successful
S05 | About the Agency | HYDRAA, Government of Telangana | https://hydraa.telangana.gov.in/about | About HYDRAA; Jurisdictional Coverage; Functional Wings | Undated current page | Local fresh retrieval successful
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
INTERVIEW DEFENCE: Mandate-level evidence and case-level evidence answer different questions; public trust needs both. Evidence status: Supported premises. No parcel is labelled an encroachment here. Current legal requirements and court orders need counsel/official record review.
SOURCE URLS:
S05: About the Agency — https://hydraa.telangana.gov.in/about
S03: G.O.Ms.No.55: CURE reorganisation — https://tg-bn-website-assets.flowwlabs.tech/GOs-and-ACTs/GO.Ms.No.55_11-02-2026.pdf
S04: Government Orders and Acts — https://buildnow.telangana.gov.in/go-and-act/
S15: Moosarambagh bridge event and corporation logos — https://www.telangana.gov.in/news/press-releases/2026/08/honble-cm-sri-a-revanth-reddy-addresses-the-public-meeting-at-ghmc-sports-stadium-amberpet-hyderabad-following-the-inauguration-of-the-moosarambagh-high-level-bridge/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Results and notified geography are strong anchors. Service performance, legal status and representative experience need separate current evidence.
EVIDENCE: F03 (Supported): GO 55 of 11 February 2026 reorganised CURE into GHMC, CMC and MMC with immediate effect. [S03, S04, S15; GO 55 pp 1–2]; F07 (Supported): 2023 Telangana Assembly seats won: INC 64; BRS 39; BJP 8; AIMIM 7; CPI 1. [S06; WON column]; F20 (Qualified): Congress candidate V. Naveen Yadav won the November 2025 Jubilee Hills by-election, according to Times Group reporting. [S23, S24; Winner reports]; F27 (Supported): State capital expenditure: 2025–26 RE ₹36,480.87 crore; 2026–27 BE ₹47,267.28 crore. [S09, S10; S09 p.4, row VII, RE/BE columns]; F38 (Qualified): Congress won the 2024 Secunderabad Cantonment by-election, according to reporting. [S27; Opening paragraph; reported result 4 June 2024]
REASONING: Separating known records from unresolved status prevents confidence in one source class from spilling into another.
LIMITS / ASSUMPTIONS: Verification status is record-specific. A source index or correct calculation does not clear an unread original passage.
ALTERNATIVES: An unavailable record is an access gap, not proof that the underlying event or outcome did not happen.
RECOMMENDATION: Assign an owner, expiry trigger and validation task to each consequential unknown.
HOW I WOULD CONTRIBUTE: I would maintain explicit expiry rules and assign a validation task to each consequential unknown.
PRACTICAL TEST: Output: Evidence refresh queue. Inputs: Blocked facts and dynamic status records. Owner: candidate under research lead; reviewer: manager/subject specialist. Acceptance: Named owner, expiry trigger and exact required record. Effort: log pilot sourcing and review time before agreeing output count. If access/review fails, narrow the desk brief and retain unknowns.
EVIDENCE STATUS: Evidence as of 8 October 2026: 3 supported, 2 qualified. Inferences bounded. Proposals conditional.
FULL REFERENCES: S03 | G.O.Ms.No.55: CURE reorganisation | Government of Telangana, MAUD | https://tg-bn-website-assets.flowwlabs.tech/GOs-and-ACTs/GO.Ms.No.55_11-02-2026.pdf | PDF pp.1–2; operative paragraphs 2–3 | 2026-02-11 | Local fresh retrieval successful
S04 | Government Orders and Acts | Government of Telangana, BuildNow | https://buildnow.telangana.gov.in/go-and-act/ | GO 55, GO 45, GO 16, GO 68 and GO 69 entries | Orders dated 2025–2026 | Local fresh retrieval successful
S06 | Performance of Political Parties: Telangana 2023 | Election Commission of India | https://www.eci.gov.in/eci-backend/public/all_files/full-statistical-reports/telangana/2023/Performance_of_Political_Parties.pdf | Performance of Political Parties, printed p.1, WON column | 2023 Assembly election; report undated | Fresh original route unavailable; relevant source passages subsequently readable via web retrieval
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
S10 | Telangana Budget Analysis 2026–27 | PRS Legislative Research | https://prsindia.org/budgets/states/telangana-budget-analysis-2026-27 | Fiscal summary; Table 11 revenue receipts and Table 14 sector BE-to-actual comparison, 2024–25 | 2026–27 budget analysis | Local fresh retrieval successful
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
S23 | Jubilee Hills bypoll result | The Economic Times | https://m.economictimes.com/news/politics-and-nation/jubilee-hills-bypoll-result-2025-in-l-deepak-reddy-vs-sunita-vs-naveen-yadav-check-who-is-winning/articleshow/125315450.cms | Winner report | 2025-11-14 | Local fresh retrieval successful
S24 | Jubilee Hills bypoll winner live report | The Times of India | https://timesofindia.indiatimes.com/city/hyderabad/assembly-bypoll-result-2025-live-updates-by-election-results-jubilee-hills-budgam-nagrota-anta-ghatshila-tarn-taran-dampa-nuapada/liveblog/125313066.cms | 13:18 IST winner update | 2025-11-14 | Local fresh retrieval successful
S26 | 2024 Secunderabad Cantonment by-election records | Chief Electoral Officer Telangana | https://ceotelangana.nic.in/BYE_GE_2024.html | By-election index: result declaration and Form 20 links | 2024 by-election records | Index read; result document pending
S27 | Congress wins Secunderabad Cantonment by-election | The New Indian Express | https://www.newindianexpress.com/states/telangana/2024/Jun/05/congress-wins-byelection-to-secunderabad-cantonment | Opening paragraph: Congress win; result event 4 June 2024 | 2024-06-05 | Article read
S28 | 2025 Jubilee Hills by-election records | Chief Electoral Officer Telangana | https://ceotelangana.nic.in/BYE_GE_2025.HTML | Index: State Gazette Form 21-D declaration link | 2025 by-election records | Index read; declaration/Form 20 pending
INTERVIEW DEFENCE: Separating known records from unresolved status prevents confidence in one source class from spilling into another. Evidence status: Qualified premises. Verification status is record-specific. A source index or correct calculation does not clear an unread original passage.
SOURCE URLS:
S03: G.O.Ms.No.55: CURE reorganisation — https://tg-bn-website-assets.flowwlabs.tech/GOs-and-ACTs/GO.Ms.No.55_11-02-2026.pdf
S04: Government Orders and Acts — https://buildnow.telangana.gov.in/go-and-act/
S15: Moosarambagh bridge event and corporation logos — https://www.telangana.gov.in/news/press-releases/2026/08/honble-cm-sri-a-revanth-reddy-addresses-the-public-meeting-at-ghmc-sports-stadium-amberpet-hyderabad-following-the-inauguration-of-the-moosarambagh-high-level-bridge/
S06: Performance of Political Parties: Telangana 2023 — https://www.eci.gov.in/eci-backend/public/all_files/full-statistical-reports/telangana/2023/Performance_of_Political_Parties.pdf
S09: Budget in Brief: 2026–27 — https://www.telangana.gov.in/wp-content/uploads/2026/05/Budget-in-Brief.pdf
S10: Telangana Budget Analysis 2026–27 — https://prsindia.org/budgets/states/telangana-budget-analysis-2026-27
S11: Vision / Mission — https://musi.telangana.gov.in/VisionMusi.aspx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My resume reports political-intelligence review work, cross-functional coordination and a Meghalaya public-distribution modelling project.
EVIDENCE: F34 (Qualified): Candidate resume lists MBA, IIM Shillong, 2023–25; Consultant Marketing and Strategy at Nation With Namo, May 2025–Apr 2026. [S25; Education/workExperience]; F35 (Qualified): Candidate resume reports introducing an evidence-based review system for a seven-person political-intelligence team. [S25; workExperience bullet 3]; F36 (Qualified): Candidate resume reports modelling Meghalaya PDS and analysing 4,500+government records. [S25; Projects, Jul–Sep 2024]
REASONING: These self-reported experiences support a methods-based fit; geographic expertise and employer performance remain to be demonstrated.
LIMITS / ASSUMPTIONS: No independent audit of CV outcomes. No claim to local-language fluency, Hyderabad field networks or guaranteed political impact.
ALTERNATIVES: Experience may transfer partly, while local knowledge, language support and agency context require supervised learning.
RECOMMENDATION: Test transferable methods through a supervised Hyderabad work product.
HOW I WOULD CONTRIBUTE: I would bring structured research and operational discipline, while building Hyderabad context through supervised local learning.
PRACTICAL TEST: Output: Supervised proof-of-fit brief. Inputs: CV examples and local orientation. Owner: candidate under research lead; reviewer: manager/subject specialist. Acceptance: Self-report, observed work and learning gaps remain distinct. Effort: log pilot sourcing and review time before agreeing output count. If access/review fails, narrow the desk brief and retain unknowns.
EVIDENCE STATUS: Evidence as of 8 October 2026: 3 qualified. Inferences bounded. Proposals conditional.
FULL REFERENCES: 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
INTERVIEW DEFENCE: These self-reported experiences support a methods-based fit; geographic expertise and employer performance remain to be demonstrated. Evidence status: Qualified premises. No independent audit of CV outcomes. No claim to local-language fluency, Hyderabad field networks or guaranteed political impact.
SOURCE URLS:
S25: Portfolio resume data — https://github.com/ManashProtimDeori/Manash-Protim-Deori/blob/c5ab9d8ac00c9180b880fa50f3e5f99682e1dac1/src/data/resume.ts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An insight should retain its evidence, uncertainty and accountable next action as it moves between research and delivery teams.
EVIDENCE: F35 (Qualified): Candidate resume reports introducing an evidence-based review system for a seven-person political-intelligence team. [S25; workExperience bullet 3]; F36 (Qualified): Candidate resume reports modelling Meghalaya PDS and analysing 4,500+government records. [S25; Projects, Jul–Sep 2024]; F01 (Supported): Inclusive Minds describes itself as INC-aligned and lists six work verticals. [S01; About Us; Our Work]
REASONING: The candidate-reported review experience supports proposing an evidence workflow; actual performance must be established through a pilot.
LIMITS / ASSUMPTIONS: Owner: me under a research lead. Depends on approved repositories and reviewers. Fall back to a shared spreadsheet if tooling is limited.
ALTERNATIVES: A pilot may improve detection, increase workload or need a simpler shared-sheet workflow.
RECOMMENDATION: Pilot a manager-reviewed research workflow with correction-closure criteria.
HOW I WOULD CONTRIBUTE: I would introduce a short daily triage and a manager-reviewed weekly research brief with a correction log.
PRACTICAL TEST: Output: Workflow pilot and correction log. Inputs: Approved repository, reviewer, brief template. Owner: candidate under research lead; reviewer: manager/subject specialist. Acceptance: Review acceptance and correction-closure criteria agreed. Effort: log pilot sourcing and review time before agreeing output count. If access/review fails, narrow the desk brief and retain unknowns.
EVIDENCE STATUS: Evidence as of 8 October 2026: 2 qualified, 1 supported. Inferences bounded. Proposals conditional.
FULL REFERENCES: S01 | About us and six work verticals | Inclusive Minds | https://www.inclusiveminds.in/ | About Us; Our Work | Undated; retrieved 2026-10-08 | Local fresh retrieval successful
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
S29 | Quality in qualitative evaluation | HM Treasury / GOV.UK | https://www.gov.uk/government/publications/the-magenta-book/quality-in-qualitative-evaluation-qqe-html | Framework questions 7–8: sample selection/coverage; question 18: auditability | 2003 framework; current HTML edition retrieved 2026-10-08 | Relevant framework sections read
S30 | Magenta Book: evaluation guidance | HM Treasury / GOV.UK | https://www.gov.uk/government/publications/the-magenta-book/magenta-book-central-government-guidance-on-evaluation-html | Quality principles; theory of change and evaluation-design sections | 2026 edition | Relevant sections read
INTERVIEW DEFENCE: The candidate-reported review experience supports proposing an evidence workflow; actual performance must be established through a pilot. Evidence status: Qualified premises. Owner: me under a research lead. Depends on approved repositories and reviewers. Fall back to a shared spreadsheet if tooling is limited.
SOURCE URLS:
S25: Portfolio resume data — https://github.com/ManashProtimDeori/Manash-Protim-Deori/blob/c5ab9d8ac00c9180b880fa50f3e5f99682e1dac1/src/data/resume.ts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ESTABLISHES: For considering my application to Inclusive Minds Political consulting · Hyderabad  manashdeori09@gmail.com linkedin.com/in/manash-protim-deori
EVIDENCE: F37 (Qualified): Candidate resume lists manashdeori09@gmail.com, LinkedIn/manash-protim-deori and openness to relocation. [S25; Header]
REASONING: Contact and relocation information from the existing portfolio resume.
LIMITS / ASSUMPTIONS: Independent application work sample. Appendix follows immediately.
ALTERNATIVES: Editorial framing or contact information; no independent substantive recommendation.
RECOMMENDATION: Framing/contact only.
HOW I WOULD CONTRIBUTE: Framing/contact only.
PRACTICAL TEST: Contact fields reflect candidate self-report.
EVIDENCE STATUS: Evidence as of 8 October 2026: 1 qualified. Inferences bounded. Proposals conditional.
FULL REFERENCES: 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
INTERVIEW DEFENCE: Contact and relocation information from the existing portfolio resume. Evidence status: Qualified premises. Independent application work sample. Appendix follows immediately.
SOURCE URLS:
S25: Portfolio resume data — https://github.com/ManashProtimDeori/Manash-Protim-Deori/blob/c5ab9d8ac00c9180b880fa50f3e5f99682e1dac1/src/data/resume.ts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[["F01 · Supported", "Inclusive Minds describes itself as INC-aligned and lists six work verticals.", "S01 · About Us; Our Work\nRetrieved 2026-10-08"], ["F02 · Qualified", "Employer Generalist post identifies Hyderabad on-site and experience in research, strategy, communication or project management.", "S02 · Hiring post\nRetrieved 2026-10-08"], ["F03 · Supported", "GO 55 of 11 February 2026 reorganised CURE into GHMC, CMC and MMC with immediate effect.", "S03,S04,S15 · GO 55 pp 1–2\n2026-02-11"], ["F04 · Supported", "CMC comprises Serilingampally, Kukatpally and Qutbullapur zones; MMC comprises Malkajgiri, Uppal and L.B.Nagar zones.", "S03 · GO 55 operative zone allocation\n2026-02-11"], ["F05 · Supported", "GHMC comprises Shamshabad, Rajendernagar, Charminar, Golconda, Khairatabad and Secunderabad zones.", "S03 · GO 55 operative zone allocation\n2026-02-11"]]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[["F06 · Supported", "HYDRAA describes its CURE-wide remit as disaster management and protection of government / public assets, under MAUD.", "S05 · Mandate; Jurisdictional Coverage\nRetrieved 2026-10-08"], ["F07 · Supported", "2023 Telangana Assembly seats won: INC 64; BRS 39; BJP 8; AIMIM 7; CPI 1.", "S06 · WON column\n2023 election"], ["F08 · Blocked", "In selected Assembly seats AC 57–71,2023 winners were BRS 7, AIMIM 7, BJP 1, INC 0.", "S07 · AC 57–71\n2023 election"], ["F09 · Blocked", "Nampally, 2023: winner 62,185; runner-up 60,148; margin 2,037 votes.", "S07 · PDF p 3; winner/runner-up table\n2023 election"], ["F10 · Blocked", "Yakutpura, 2023: winner 46,153; runner-up 45,275; margin 878 votes.", "S07 · PDF p 3; winner/runner-up table\n2023 election"]]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[["F11 · Blocked", "Chandrayangutta, 2023: winner 99,776; runner-up 18,116; margin 81,660 votes.", "S07 · PDF p 3; winner/runner-up table\n2023 election"], ["F12 · Supported", "Malkajgiri, 2024 Lok Sabha: Eatala Rajender (BJP) led with 991,042 votes; runner-up 599,567.", "S08 · p 580\n2024 election"], ["F13 · Supported", "Secunderabad, 2024 Lok Sabha: G.Kishan Reddy (BJP) led with 473,012 votes; runner-up 423,068.", "S08 · p 581\n2024 election"], ["F14 · Supported", "Hyderabad, 2024 Lok Sabha: Asaduddin Owaisi (AIMIM) led with 661,981 votes; runner-up 323,894.", "S08 · p 583\n2024 election"], ["F15 · Supported", "Chevella, 2024 Lok Sabha: Konda Vishweshwar Reddy (BJP) led with 809,882 votes; runner-up 636,985.", "S08 · p 585\n2024 election"]]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[["F16 · Blocked", "First Telangana Assembly as of 2 June 2014: TRS 63, INC 21, out of 119.", "S16 · Printed 410/PDF 63\n2014-06-02"], ["F17 · Qualified", "Contemporaneous 2018 reporting recorded TRS 88 and INC 19 Assembly seats.", "S17,S18 · Updated results paragraphs\n2018-12-12"], ["F18 · Qualified", "Published 2016 GHMC recap: TRS 99, AIMIM 44, BJP 4, INC 2, TDP 1.", "S19,S20 · Numerical result paragraphs\n2016 election"], ["F19 · Qualified", "Post-Neredmet 2020 reporting: TRS 56, BJP 48, AIMIM 44, INC 2.", "S21,S22 · Results paragraphs; final Neredmet result\n2020-12-10"], ["F20 · Qualified", "Congress candidate V. Naveen Yadav won the November 2025 Jubilee Hills by-election, according to Times Group reporting.", "S23,S24 · Winner reports\n2025-11-14"]]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[["F21 · Supported", "2026–27 BE: H-CITY assistance to CURE ₹2,654 crore.", "S09,S10 · S09 p.16, Table 10, row 32\nFY 2026–27"], ["F22 · Supported", "2026–27 BE: Musi Riverfront development ₹1,500 crore.", "S09 · S09 p.16, Table 10, row 36\nFY 2026–27"], ["F23 · Supported", "2026–27 BE: loans to HMWSSB for development ₹1,450 crore.", "S09 · S09 p.16, Table 10, row 38\nFY 2026–27"], ["F24 · Supported", "2026–27 BE: Metro Rail Phase II ₹600 crore.", "S09 · S09 p.17, Table 10, row 50\nFY 2026–27"], ["F25 · Supported", "2026–27 BE: loans to HMRL ₹500 crore.", "S09 · S09 p.17, Table 10, row 57\nFY 2026–27"]]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[["F26 · Supported", "2026–27 BE: 20 KL free-water reimbursement to HMWSSB ₹300 crore.", "S09 · S09 p.17, Table 10, row 69\nFY 2026–27"], ["F27 · Supported", "State capital expenditure: 2025–26 RE ₹36,480.87 crore; 2026–27 BE ₹47,267.28 crore.", "S09,S10 · S09 p.4, row VII, RE/BE columns\nFY 2025–26 RE and 2026–27 BE"], ["F28 · Supported", "Nominal state capex BE/RE increase is 29.57%, rounded 29.6%.", "S09 · Derived from F27\nFY 2026–27"], ["F29 · Supported", "State 2026–27 BE: Indiramma Houses ₹5,500 crore; Mahalaxmi RTC ₹4,305 crore; Rajiv Aarogya Sri ₹1,143 crore.", "S09 · S09 p.15, Table 10, row 3/4/7\nFY 2026–27"], ["F30 · Supported", "MRDCL describes Musi vision in terms of ecological restoration, sewage interception/treatment, floodplain zones and mobility/livelihoods.", "S11 · Vision\nRetrieved 2026-10-08"]]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[["F31 · Supported", "At the 13 March 2026 Musi conference, the CM addressed compensation and livelihood concerns associated with relocation.", "S12 · English compensation/livelihood paragraphs\n2026-03-13"], ["F32 · Qualified", "State investment portal identifies Genome Valley at Shamirpet and electronics manufacturing clusters.", "S14 · Industrial-parks section\nRetrieved 2026-10-08"], ["F33 · Supported", "BuildNow lists GO 68 dated 12 March 2025 for expansion of HMR and GO 69 for FCDA.", "S04 · GO 68/69 entries\n2025-03-12"], ["F34 · Qualified", "Candidate resume lists MBA, IIM Shillong, 2023–25; Consultant Marketing and Strategy at Nation With Namo, May 2025–Apr 2026.", "S25 · Education/workExperience\nCV periods"], ["F35 · Qualified", "Candidate resume reports introducing an evidence-based review system for a seven-person political-intelligence team.", "S25 · workExperience bullet 3\n2025–26"]]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[["F36 · Qualified", "Candidate resume reports modelling Meghalaya PDS and analysing 4,500+government records.", "S25 · Projects, Jul–Sep 2024\n2024"], ["F37 · Qualified", "Candidate resume lists manashdeori09@gmail.com, LinkedIn/manash-protim-deori and openness to relocation.", "S25 · Header\nRetrieved 2026-10-08"], ["F38 · Qualified", "Congress won the 2024 Secunderabad Cantonment by-election, according to reporting.", "S27 · Opening paragraph; reported result 4 June 2024\n2024-06-04"], ["F39 · Qualified", "PRS reports 2024–25 state revenue receipts 24% below BE.", "S10 · Table 11, Revenue Receipts row\n2024–25 BE to actual"], ["F40 · Qualified", "PRS reports 2024–25 urban-development actuals 56% below BE.", "S10 · Table 14, Urban Development row\n2024–25 BE to actual"], ["F41 · Qualified", "PRS reports 2024–25 transport actuals 33% below BE.", "S10 · Table 14, Transport row\n2024–25 BE to actual"]]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[{"id": "S01", "title": "About us and six work verticals", "publisher": "Inclusive Minds", "url": "https://www.inclusiveminds.in/", "locator": "About Us; Our Work", "publication_date": "Undated; retrieved 2026-10-08", "retrieved": "2026-10-08", "lineage": "Employer", "limitation": "Self-description; not independent evidence of effectiveness.", "fresh_access": "Local fresh retrieval successful", "snapshot_sha256": "32e36e7ff584826148346dbb920ee7ce0ccbd0d04bf0dd30bcc7c50e9d764bff", "verification_date": "2026-10-08"}, {"id": "S02", "title": "Generalist hiring post: Hyderabad, on-site", "publisher": "Inclusive Minds", "url": "https://www.linkedin.com/posts/inclusive-minds-ind_hiring-generalist-politicalconsulting-activity-7495111990261252096-TM4l", "locator": "Employer-authored post text", "publication_date": "Undated public post", "retrieved": "2026-10-08", "lineage": "Employer", "limitation": "Exact vacancy supplied by applicant is absent; current acceptance of applications not confirmed.", "fresh_access": "Local fresh retrieval successful", "snapshot_sha256": "3eadb9a580257ffd9f12561798a8adcb8eeadeafb8144a31db26922af169a302", "verification_date": "2026-10-08"}, {"id": "S03", "title": "G.O.Ms.No.55: CURE reorganisation", "publisher": "Government of Telangana, MAUD", "url": "https://tg-bn-website-assets.flowwlabs.tech/GOs-and-ACTs/GO.Ms.No.55_11-02-2026.pdf", "locator": "PDF pp.1–2; operative paragraphs 2–3", "publication_date": "2026-02-11", "retrieved": "2026-10-08", "lineage": "Government order", "limitation": "Read through the official BuildNow listing S04. Boundary allocation is by zone; this deck supplies no GIS polygons.", "fresh_access": "Local fresh retrieval successful", "snapshot_sha256": "59586b4ccfdd3680e569f307a6a322b1bb6be81a57b18da63cd191194f440556", "verification_date": "2026-10-08"}]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[{"id": "S04", "title": "Government Orders and Acts", "publisher": "Government of Telangana, BuildNow", "url": "https://buildnow.telangana.gov.in/go-and-act/", "locator": "GO 55, GO 45, GO 16, GO 68 and GO 69 entries", "publication_date": "Orders dated 2025–2026", "retrieved": "2026-10-08", "lineage": "Government order index", "limitation": "Listing proves instrument/date only; unread instruments are not treated as proof of full legal effect.", "fresh_access": "Local fresh retrieval successful", "snapshot_sha256": "7ca76a459895fd3e4078b54522212bcedd4e944f6433074bbd0159d5703fd352", "verification_date": "2026-10-08"}, {"id": "S05", "title": "About the Agency", "publisher": "HYDRAA, Government of Telangana", "url": "https://hydraa.telangana.gov.in/about", "locator": "About HYDRAA; Jurisdictional Coverage; Functional Wings", "publication_date": "Undated current page", "retrieved": "2026-10-08", "lineage": "Agency", "limitation": "Mandate description is not evidence of case-specific legality, environmental outcomes or public approval.", "fresh_access": "Local fresh retrieval successful", "snapshot_sha256": "400c95801953cf43a7873c22dfa26fb59c682fc3a6e2388c94817f6dca90e266", "verification_date": "2026-10-08"}, {"id": "S06", "title": "Performance of Political Parties: Telangana 2023", "publisher": "Election Commission of India", "url": "https://www.eci.gov.in/eci-backend/public/all_files/full-statistical-reports/telangana/2023/Performance_of_Political_Parties.pdf", "locator": "Performance of Political Parties, printed p.1, WON column", "publication_date": "2023 Assembly election; report undated", "retrieved": "2026-10-08", "lineage": "ECI 2023", "limitation": "Historical election-time affiliation; BHRS normalised to BRS for presentation.", "fresh_access": "Fresh original route unavailable; relevant source passages subsequently readable via web retrieval", "verification_date": "2026-10-08"}]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[{"id": "S07", "title": "List of Successful Candidates: Telangana 2023", "publisher": "Election Commission of India", "url": "https://www.eci.gov.in/eci-backend/public/all_files/full-statistical-reports/telangana/2023/List_of_Successful_Candidates.pdf", "locator": "PDF pp.2–3; AC 57–71 and winner/runner-up columns", "publication_date": "2023 Assembly election; report undated", "retrieved": "2026-10-08", "lineage": "ECI 2023", "limitation": "AC 57–71 is an explicitly selected 15-seat study set, not the entire metropolis or current municipal footprint. Fresh target rows were inaccessible in the ten-round review. Retain as pending primary recheck.", "fresh_access": "Fresh original route unavailable; partial web retrieval did not clear target rows", "verification_date": "2026-10-08"}, {"id": "S08", "title": "Constituency-wise Detailed Results: 2024 Lok Sabha", "publisher": "Election Commission of India", "url": "https://www.eci.gov.in/eci-backend/public/all_files/GE-2024-statistical-report/33-Constituency-Wise-Detailed-Result.pdf", "locator": "Printed pp.580,581,583,585; four selected PCs", "publication_date": "2024 Lok Sabha election; report undated", "retrieved": "2026-10-08", "lineage": "ECI 2024", "limitation": "Four selected constituencies have different boundaries from AC 57–71. No aggregate metropolitan vote share calculated.", "fresh_access": "Fresh original route unavailable; relevant source passages subsequently readable via web retrieval", "verification_date": "2026-10-08"}, {"id": "S09", "title": "Budget in Brief: 2026–27", "publisher": "Government of Telangana, Finance Department", "url": "https://www.telangana.gov.in/wp-content/uploads/2026/05/Budget-in-Brief.pdf", "locator": "Printed p.4: VII Capital Expenditure; printed pp.15–17: Major Schemes Budget Allocation", "publication_date": "2026–27 budget; posted May 2026", "retrieved": "2026-10-08", "lineage": "State budget", "limitation": "BE=budget estimate; RE=revised estimate. Allocation does not prove sanction, release, expenditure or delivery.", "fresh_access": "Local fresh retrieval successful", "snapshot_sha256": "ad1588897119ec4379dfd3cf547b45876653fde016934e5f2726773c30f51d10", "verification_date": "2026-10-08"}]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[{"id": "S10", "title": "Telangana Budget Analysis 2026–27", "publisher": "PRS Legislative Research", "url": "https://prsindia.org/budgets/states/telangana-budget-analysis-2026-27", "locator": "Fiscal summary; Table 11 revenue receipts and Table 14 sector BE-to-actual comparison, 2024–25", "publication_date": "2026–27 budget analysis", "retrieved": "2026-10-08", "lineage": "PRS analysis of state budget", "limitation": "Independent analytical scrutiny, but budget totals share upstream state documents. PRS net expenditure definition differs from headline gross budget.", "fresh_access": "Local fresh retrieval successful", "snapshot_sha256": "a6f8228b05af6a703803404b51c3bfee393e0073475e4a043c91cc487838abe7", "verification_date": "2026-10-08"}, {"id": "S11", "title": "Vision / Mission", "publisher": "Musi Riverfront Development Corporation", "url": "https://musi.telangana.gov.in/VisionMusi.aspx", "locator": "Vision paragraphs", "publication_date": "Undated; current page", "retrieved": "2026-10-08", "lineage": "MRDCL", "limitation": "Objectives only. Its promised sustainability outcomes are not independently verified achievements.", "fresh_access": "Local fresh retrieval successful", "snapshot_sha256": "6ab95a48236b764e99e5ffd73f73fff252b4903f932beea839578bdfe39a7589", "verification_date": "2026-10-08"}, {"id": "S12", "title": "Musi Invites: Phase I presentation", "publisher": "Government of Telangana, TG Digital Media", "url": "https://www.telangana.gov.in/news/press-releases/2026/03/honble-cm-sri-a-revanth-reddy-participated-in-musi-invites-a-presentation-on-musi-river-rejuvenation-phase-i-by-mrdcl-in-hyderabad/", "locator": "English text: compensation and livelihood concerns; concluding presentation description", "publication_date": "Event 2026-03-13; page 2026-03-16", "retrieved": "2026-10-08", "lineage": "Government press release", "limitation": "Official statements demonstrate stated commitments and acknowledged concerns; household counts and cost forecasts excluded.", "fresh_access": "Local fresh retrieval successful", "snapshot_sha256": "3849445334e1da83f0dea3b56351ce038b0ed68b92a2a43e53b27f313210db97", "verification_date": "2026-10-08"}]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[{"id": "S13", "title": "Musi project tenders", "publisher": "MRDCL", "url": "https://musi.telangana.gov.in/Tenders.aspx", "locator": "Tender listings", "publication_date": "Listing dates vary", "retrieved": "2026-10-08", "lineage": "MRDCL procurement", "limitation": "Discovery source only; not used to assert current award, construction or completion status.", "fresh_access": "Local fresh retrieval successful", "snapshot_sha256": "6309ee514480d7fd7c4846ed1e92b581703aa2e8eba8e8628477fd8b92c28316", "verification_date": "2026-10-08"}, {"id": "S14", "title": "Invest Telangana portal", "publisher": "Government of Telangana investment portal", "url": "https://invest.telangana.gov.in/", "locator": "Industrial parks; Genome Valley at Shamirpet; electronics clusters", "publication_date": "Undated; current page", "retrieved": "2026-10-08", "lineage": "Investment promotion", "limitation": "Promotional source used for cluster identification only. Export, GDP and jobs claims are not ingested.", "fresh_access": "Local fresh retrieval successful", "snapshot_sha256": "099122c79193c5ce1e1288bc584a7721fbf34caab265e7d7ac71febec90a900a", "verification_date": "2026-10-08"}, {"id": "S15", "title": "Moosarambagh bridge event and corporation logos", "publisher": "Government of Telangana, TG Digital Media", "url": "https://www.telangana.gov.in/news/press-releases/2026/08/honble-cm-sri-a-revanth-reddy-addresses-the-public-meeting-at-ghmc-sports-stadium-amberpet-hyderabad-following-the-inauguration-of-the-moosarambagh-high-level-bridge/", "locator": "English text, paragraph on three corporation logos", "publication_date": "Event 2026-08-31; page 2026-09-01", "retrieved": "2026-10-08", "lineage": "Government press release", "limitation": "Later corroboration of the three corporation names; not independent of state government.", "fresh_access": "Local fresh retrieval successful", "snapshot_sha256": "4c8e575a038d54b4b92379534e5776c36acafc275c1743e915d5d3d22f37ba35", "verification_date": "2026-10-08"}]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[{"id": "S16", "title": "Journal of Parliamentary Information, September 2014", "publisher": "Lok Sabha Secretariat", "url": "https://eparlib.sansad.in/bitstream/123456789/58523/1/JPI_September_2014.pdf", "locator": "Printed p.410 / PDF p.63; first Telangana Assembly", "publication_date": "2014-09; reference 2014-06-02", "retrieved": "2026-10-08", "lineage": "Parliamentary record", "limitation": "First Assembly party position as of 2 June 2014; not current legislative strength. Relevant passage could not be freshly read in the ten-round review.", "fresh_access": "Fresh original route unavailable; target passage not freshly cleared", "verification_date": "2026-10-08"}, {"id": "S17", "title": "Telangana Assembly polls: TRS wins", "publisher": "Scroll", "url": "https://scroll.in/latest/905254/telangana-assembly-polls-counting-of-votes-in-three-way-contest-set-to-begin-at-8-am", "locator": "Updated article paragraph below party table", "publication_date": "2018-12-12", "retrieved": "2026-10-08", "lineage": "Newsroom citing ECI", "limitation": "2018 TRS 88/INC 19 historical context only. Table total has an internal leading-seat inconsistency; full statewide reconstruction not used.", "fresh_access": "Local fresh retrieval successful", "snapshot_sha256": "ce7252b05cb74e8894fa9931d184ef47e3c580098c1fc0858928749f685ecdcd", "verification_date": "2026-10-08"}, {"id": "S18", "title": "2018 Telangana complete winners", "publisher": "The Times of India", "url": "https://timesofindia.indiatimes.com/city/hyderabad/telangana-election-results-2018-complete-list-of-winning-candidates-in-telangana/articleshow/67055845.cms", "locator": "Opening results paragraph", "publication_date": "2018-12-12", "retrieved": "2026-10-08", "lineage": "Newsroom citing election results", "limitation": "Corroborates S17; not an independent official election record.", "fresh_access": "Local fresh retrieval successful", "snapshot_sha256": "56103c605c40c7bd6b8f81325c4d114e0994d3e1bd9beccd4df10419711d9590", "verification_date": "2026-10-08"}]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[{"id": "S19", "title": "Hyderabad civic body voting: 2016 recap", "publisher": "NDTV, Uma Sudhir", "url": "https://www.ndtv.com/telangana-news/after-a-bitter-campaign-voting-begins-for-hyderabad-civic-body-polls-2332363", "locator": "Paragraph beginning A total of 1,122 candidates", "publication_date": "2020-12-01", "retrieved": "2026-10-08", "lineage": "NDTV reporting", "limitation": "2016 historical seat table is reported, not a newly ingested TSEC dataset.", "fresh_access": "Local fresh retrieval successful", "snapshot_sha256": "bf71e8914ae406e5920c644be417172d650a490b68f5f67f6482ce31e09ad417", "verification_date": "2026-10-08"}, {"id": "S20", "title": "GHMC 2016 result report", "publisher": "PTI / The New Indian Express", "url": "https://www.newindianexpress.com/amp/story/cities/hyderabad/2016/Feb/06/ghmc-polls-sops-for-poor-seemandhra-candidates-key-in-trs-win-889293.html", "locator": "Results paragraphs: 99/150; Congress 2; TDP 1/BJP 4; MIM 44", "publication_date": "2016-02-06", "retrieved": "2026-10-08", "lineage": "PTI wire", "limitation": "Only numerical result used; causal claims about communities in the article are excluded.", "fresh_access": "Local fresh retrieval successful", "snapshot_sha256": "587c9e64a571b7d5c802e44577ff222e291c0ee49cf3bedf0a6502c645318fda", "verification_date": "2026-10-08"}, {"id": "S21", "title": "Week after GHMC results: mayor question", "publisher": "The Indian Express, Rahul V Pisharody", "url": "https://indianexpress.com/article/cities/hyderabad/ghmc-results-hyderabad-mayor-7104860/", "locator": "Results paragraphs: TRS 56, AIMIM 44, BJP 48", "publication_date": "2020-12-14", "retrieved": "2026-10-08", "lineage": "Indian Express reporting", "limitation": "Historical council only. Article dated after Neredmet result; legal rules in 2020 not assumed current.", "fresh_access": "Local fresh retrieval successful", "snapshot_sha256": "42b5494493cecc7ea26dea5a46e2baf313a8a3848df62236edbc503b794e901b", "verification_date": "2026-10-08"}]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[{"id": "S22", "title": "Neredmet final result takes TRS tally to 56", "publisher": "The Tribune, Naveen S Garewal", "url": "https://www.tribuneindia.com/news/nation/trs-wins-neredmet-ghmc-division-takes-its-tally-to-56-182436/", "locator": "Final paragraph: 56,48,44,2; Neredmet timing", "publication_date": "2020-12-11", "retrieved": "2026-10-08", "lineage": "Tribune reporting", "limitation": "Reconciles earlier incomplete tally 55. Direct current TSEC table was inaccessible in this run.", "fresh_access": "Local fresh retrieval successful", "snapshot_sha256": "3cd10ca1a4366935f6e5e56c327764826deca38a151c916c25fc9b9e7db4856f", "verification_date": "2026-10-08"}, {"id": "S23", "title": "Jubilee Hills bypoll result", "publisher": "The Economic Times", "url": "https://m.economictimes.com/news/politics-and-nation/jubilee-hills-bypoll-result-2025-in-l-deepak-reddy-vs-sunita-vs-naveen-yadav-check-who-is-winning/articleshow/125315450.cms", "locator": "Winner report", "publication_date": "2025-11-14", "retrieved": "2026-10-08", "lineage": "Times Group reporting; shared corporate lineage", "limitation": "Winner only used. Vote totals conflict with another live report and are excluded. Shares corporate lineage with S24. Count as one reporting lineage.", "fresh_access": "Local fresh retrieval successful", "snapshot_sha256": "0d515e284b6d0a4388811632ac8c42bab8b3ed57fa40b24f7b680fd786f2ee45", "verification_date": "2026-10-08"}, {"id": "S24", "title": "Jubilee Hills bypoll winner live report", "publisher": "The Times of India", "url": "https://timesofindia.indiatimes.com/city/hyderabad/assembly-bypoll-result-2025-live-updates-by-election-results-jubilee-hills-budgam-nagrota-anta-ghatshila-tarn-taran-dampa-nuapada/liveblog/125313066.cms", "locator": "13:18 IST winner update", "publication_date": "2025-11-14", "retrieved": "2026-10-08", "lineage": "Times Group reporting; shared corporate lineage", "limitation": "Same corporate group as S23. Winner supported as reporting, not two independent confirmations. Official final Form 20 pending.", "fresh_access": "Local fresh retrieval successful", "snapshot_sha256": "c57b19c3001041aca2e7ecfe58b9c7b06a85727e35504a7c056f44cfc7b4b5f6", "verification_date": "2026-10-08"}]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[{"id": "S25", "title": "Portfolio resume data", "publisher": "Manash Protim Deori", "url": "https://github.com/ManashProtimDeori/Manash-Protim-Deori/blob/c5ab9d8ac00c9180b880fa50f3e5f99682e1dac1/src/data/resume.ts", "locator": "workExperience, projects, education and header", "publication_date": "Repository read 2026-10-08", "retrieved": "2026-10-08", "lineage": "Candidate self-report", "limitation": "Owner-controlled resume, not independent verification. No claim to Telugu/Urdu fluency, Hyderabad fieldwork or hiring endorsement.", "fresh_access": "Read owner-controlled resume via GitHub at frozen commit", "verification_date": "2026-10-08"}, {"id": "S26", "title": "2024 Secunderabad Cantonment by-election records", "publisher": "Chief Electoral Officer Telangana", "url": "https://ceotelangana.nic.in/BYE_GE_2024.html", "locator": "By-election index: result declaration and Form 20 links", "publication_date": "2024 by-election records", "retrieved": "2026-10-08", "lineage": "CEO official index", "limitation": "Index read. Linked result declaration/Form 20 could not be retrieved. The index is not used to verify an unread result.", "fresh_access": "Index read; result document pending"}, {"id": "S27", "title": "Congress wins Secunderabad Cantonment by-election", "publisher": "The New Indian Express", "url": "https://www.newindianexpress.com/states/telangana/2024/Jun/05/congress-wins-byelection-to-secunderabad-cantonment", "locator": "Opening paragraph: Congress win; result event 4 June 2024", "publication_date": "2024-06-05", "retrieved": "2026-10-08", "lineage": "Express News Service reporting", "limitation": "Winner/event only. Vote totals and current party strength are not adopted. Official declaration remains pending.", "fresh_access": "Article read"}]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[{"id": "S28", "title": "2025 Jubilee Hills by-election records", "publisher": "Chief Electoral Officer Telangana", "url": "https://ceotelangana.nic.in/BYE_GE_2025.HTML", "locator": "Index: State Gazette Form 21-D declaration link", "publication_date": "2025 by-election records", "retrieved": "2026-10-08", "lineage": "CEO official index", "limitation": "Index read. Linked declaration PDF unavailable. No unread document content or disputed final vote total is adopted.", "fresh_access": "Index read; declaration/Form 20 pending"}, {"id": "S29", "title": "Quality in qualitative evaluation", "publisher": "HM Treasury / GOV.UK", "url": "https://www.gov.uk/government/publications/the-magenta-book/quality-in-qualitative-evaluation-qqe-html", "locator": "Framework questions 7–8: sample selection/coverage; question 18: auditability", "publication_date": "2003 framework; current HTML edition retrieved 2026-10-08", "retrieved": "2026-10-08", "lineage": "UK government methodological guidance", "limitation": "Supports research-design checks. Does not prescribe 5–8 interviews or validate this proposed Hyderabad pilot.", "fresh_access": "Relevant framework sections read"}, {"id": "S30", "title": "Magenta Book: evaluation guidance", "publisher": "HM Treasury / GOV.UK", "url": "https://www.gov.uk/government/publications/the-magenta-book/magenta-book-central-government-guidance-on-evaluation-html", "locator": "Quality principles; theory of change and evaluation-design sections", "publication_date": "2026 edition", "retrieved": "2026-10-08", "lineage": "UK government methodological guidance", "limitation": "Supports evaluation design, uncertainty and comparison. Local workload, outputs and future effectiveness remain untested.", "fresh_access": "Relevant sections read"}]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[["v01 · Scope, vacancy and candidate inputs", "Created 32-slide full draft, candidate inputs, research cut-off and unresolved vacancy register."], ["v02 · Geography and institutional definitions", "Installed GO 55 zone allocations and separated electoral, municipal and planning units"], ["v03 · Source collection and provenance", "Added five-gate method, source hierarchy, source-lineage disclosure and source accessibility limitations."], ["v04 · Election data integrity", "Inserted historical civic table, primary Assembly study-set count and four separate parliamentary records"], ["v05 · Historical context", "Added selective 2014/2018/2020/2023/2026 timeline, labelled reported legacy context and avoided voter-transfer claims."]]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[["v06 · Current actors and legal status", "Replaced current-strength implications with election-time affiliation and reported 2025 winner"], ["v07 · Governance and responsibility", "Mapped documented agency roles and inserted coordination scaffold without asserting proven institutional failure."], ["v08 · Political economy", "Added cluster/access distinction"], ["v09 · Public services and fiscal evidence", "Inserted actual BE/RE amounts, separate transport instruments, statewide welfare scope and plan-to-revised-plan capex arithmetic."], ["v10 · Live policy case studies", "Added Musi and HYDRAA briefs with objective/commitment/mandate distinctions"]]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[["v11 · Causality and competing explanations", "Tested causal overreach across deck"], ["v12 · Media, language and qualitative evidence", "Added source/translation/representativeness discipline and known/disputed/unknown queue"], ["v13 · Recommendation feasibility", "Produced budget tracker baseline"], ["v14 · Immediate candidate contribution", "Audited every major finding/proposal for adjacent contribution"], ["v15 · CV truthfulness and role fit", "Added role fit and self-reportedCV evidence"]]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[["v16 · 30/60/90-day realism", "Added sequential 30/60/90-day outputs and resource assumptions"], ["v17 · Narrative and executive compression", "Completed operating system and closing proposition"], ["v18 · Adversarial review", "Adversarially reviewed conflicting bypoll totals, 2020 incomplete tally, H-CITY label and boundary selection"], ["v19 · Full traceability and five-gate closure", "Closed all substantive-ID mappings"], ["v20 · Final currency and presentation readiness", "Refreshed source snapshot/date boundaries, verified final sequence and all 32 main slides, retained residual uncertainties and released contentv 20."]]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[["Fresh source gaps", "F08–F11 and F16 remain blocked. Retained historical inputs cannot be called freshly verified."], ["By-election status", "Cantonment 2024 and Jubilee 2025 wins are reported. Official declarations / final Form 20 still pending."], ["Shared lineage", "ET/TOI share Times Group. PRS/state budget figures share upstream state documents."], ["Selected scope", "Three margins, 15 selected ACs and six selected budget lines do not cover the full party, metropolis or CURE budget."], ["Candidate experience", "CV remains self-report. Local fluency, networks and independently audited impact are unclaimed."]]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[["Desk capacity", "Start with one brief. Log sourcing/review effort before agreeing quantities within the proposed 10-hour weekly envelope."], ["Interview coverage", "5–8 is exploratory and conditional. Explain purposive inclusion, missing voices, language review and stopping rule."], ["Quality denominator", "Unsupported claims / audited claims; closed / logged corrections. Keep newly detected errors visible."], ["Comparable turnaround", "Match scope and review depth before comparing brief time. A lower raw correction count does not prove improvement."], ["Access fallback", "Named reviewer and permitted records first. If unavailable, narrow the brief and retain precise unanswered questions."]]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[["Hiring manager", "Exact requisition/open status and first work product. Confirm before operational use."], ["ECI / CEO / Lok Sabha", "F08–F11 election rows; F16 passage from Lok Sabha Secretariat. Final 2024 Cantonment and 2025 Jubilee declaration/Form 20 before numerical reuse."], ["TSEC / corporations", "Current poll notification, ward polygons, officeholder/legal roster. Refresh whenever a new order or schedule appears."], ["Scheme agencies", "Sanction, award, release, spend, completion and safeguards. Update after every new document or reporting period."], ["Research lead", "Confirm question, permissions, language support, reviewer and pilot acceptance before fieldwork or output commitments."]]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mailto:manashdeori09@gmail.com" TargetMode="External"/><Relationship Id="rId2" Type="http://schemas.openxmlformats.org/officeDocument/2006/relationships/hyperlink" Target="https://www.linkedin.com/in/manash-protim-deori" TargetMode="External"/><Relationship Id="rId3" Type="http://schemas.openxmlformats.org/officeDocument/2006/relationships/hyperlink" Target="https://manash-protim-deori.vercel.app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clusiveminds.in/" TargetMode="External"/><Relationship Id="rId2" Type="http://schemas.openxmlformats.org/officeDocument/2006/relationships/hyperlink" Target="https://www.linkedin.com/posts/inclusive-minds-ind_hiring-generalist-politicalconsulting-activity-7495111990261252096-TM4l" TargetMode="External"/><Relationship Id="rId3" Type="http://schemas.openxmlformats.org/officeDocument/2006/relationships/hyperlink" Target="https://tg-bn-website-assets.flowwlabs.tech/GOs-and-ACTs/GO.Ms.No.55_11-02-2026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hyperlink" Target="https://buildnow.telangana.gov.in/go-and-act/" TargetMode="External"/><Relationship Id="rId2" Type="http://schemas.openxmlformats.org/officeDocument/2006/relationships/hyperlink" Target="https://hydraa.telangana.gov.in/about" TargetMode="External"/><Relationship Id="rId3" Type="http://schemas.openxmlformats.org/officeDocument/2006/relationships/hyperlink" Target="https://www.eci.gov.in/eci-backend/public/all_files/full-statistical-reports/telangana/2023/Performance_of_Political_Parties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i.gov.in/eci-backend/public/all_files/full-statistical-reports/telangana/2023/List_of_Successful_Candidates.pdf" TargetMode="External"/><Relationship Id="rId2" Type="http://schemas.openxmlformats.org/officeDocument/2006/relationships/hyperlink" Target="https://www.eci.gov.in/eci-backend/public/all_files/GE-2024-statistical-report/33-Constituency-Wise-Detailed-Result.pdf" TargetMode="External"/><Relationship Id="rId3" Type="http://schemas.openxmlformats.org/officeDocument/2006/relationships/hyperlink" Target="https://www.telangana.gov.in/wp-content/uploads/2026/05/Budget-in-Brief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hyperlink" Target="https://prsindia.org/budgets/states/telangana-budget-analysis-2026-27" TargetMode="External"/><Relationship Id="rId2" Type="http://schemas.openxmlformats.org/officeDocument/2006/relationships/hyperlink" Target="https://musi.telangana.gov.in/VisionMusi.aspx" TargetMode="External"/><Relationship Id="rId3" Type="http://schemas.openxmlformats.org/officeDocument/2006/relationships/hyperlink" Target="https://www.telangana.gov.in/news/press-releases/2026/03/honble-cm-sri-a-revanth-reddy-participated-in-musi-invites-a-presentation-on-musi-river-rejuvenation-phase-i-by-mrdcl-in-hyderabad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hyperlink" Target="https://musi.telangana.gov.in/Tenders.aspx" TargetMode="External"/><Relationship Id="rId2" Type="http://schemas.openxmlformats.org/officeDocument/2006/relationships/hyperlink" Target="https://invest.telangana.gov.in/" TargetMode="External"/><Relationship Id="rId3" Type="http://schemas.openxmlformats.org/officeDocument/2006/relationships/hyperlink" Target="https://www.telangana.gov.in/news/press-releases/2026/08/honble-cm-sri-a-revanth-reddy-addresses-the-public-meeting-at-ghmc-sports-stadium-amberpet-hyderabad-following-the-inauguration-of-the-moosarambagh-high-level-bridge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hyperlink" Target="https://eparlib.sansad.in/bitstream/123456789/58523/1/JPI_September_2014.pdf" TargetMode="External"/><Relationship Id="rId2" Type="http://schemas.openxmlformats.org/officeDocument/2006/relationships/hyperlink" Target="https://scroll.in/latest/905254/telangana-assembly-polls-counting-of-votes-in-three-way-contest-set-to-begin-at-8-am" TargetMode="External"/><Relationship Id="rId3" Type="http://schemas.openxmlformats.org/officeDocument/2006/relationships/hyperlink" Target="https://timesofindia.indiatimes.com/city/hyderabad/telangana-election-results-2018-complete-list-of-winning-candidates-in-telangana/articleshow/67055845.cm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dtv.com/telangana-news/after-a-bitter-campaign-voting-begins-for-hyderabad-civic-body-polls-2332363" TargetMode="External"/><Relationship Id="rId2" Type="http://schemas.openxmlformats.org/officeDocument/2006/relationships/hyperlink" Target="https://www.newindianexpress.com/amp/story/cities/hyderabad/2016/Feb/06/ghmc-polls-sops-for-poor-seemandhra-candidates-key-in-trs-win-889293.html" TargetMode="External"/><Relationship Id="rId3" Type="http://schemas.openxmlformats.org/officeDocument/2006/relationships/hyperlink" Target="https://indianexpress.com/article/cities/hyderabad/ghmc-results-hyderabad-mayor-7104860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ribuneindia.com/news/nation/trs-wins-neredmet-ghmc-division-takes-its-tally-to-56-182436/" TargetMode="External"/><Relationship Id="rId2" Type="http://schemas.openxmlformats.org/officeDocument/2006/relationships/hyperlink" Target="https://m.economictimes.com/news/politics-and-nation/jubilee-hills-bypoll-result-2025-in-l-deepak-reddy-vs-sunita-vs-naveen-yadav-check-who-is-winning/articleshow/125315450.cms" TargetMode="External"/><Relationship Id="rId3" Type="http://schemas.openxmlformats.org/officeDocument/2006/relationships/hyperlink" Target="https://timesofindia.indiatimes.com/city/hyderabad/assembly-bypoll-result-2025-live-updates-by-election-results-jubilee-hills-budgam-nagrota-anta-ghatshila-tarn-taran-dampa-nuapada/liveblog/125313066.cm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nashProtimDeori/Manash-Protim-Deori/blob/c5ab9d8ac00c9180b880fa50f3e5f99682e1dac1/src/data/resume.ts" TargetMode="External"/><Relationship Id="rId2" Type="http://schemas.openxmlformats.org/officeDocument/2006/relationships/hyperlink" Target="https://ceotelangana.nic.in/BYE_GE_2024.html" TargetMode="External"/><Relationship Id="rId3" Type="http://schemas.openxmlformats.org/officeDocument/2006/relationships/hyperlink" Target="https://www.newindianexpress.com/states/telangana/2024/Jun/05/congress-wins-byelection-to-secunderabad-cantonment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hyperlink" Target="https://ceotelangana.nic.in/BYE_GE_2025.HTML" TargetMode="External"/><Relationship Id="rId2" Type="http://schemas.openxmlformats.org/officeDocument/2006/relationships/hyperlink" Target="https://www.gov.uk/government/publications/the-magenta-book/quality-in-qualitative-evaluation-qqe-html" TargetMode="External"/><Relationship Id="rId3" Type="http://schemas.openxmlformats.org/officeDocument/2006/relationships/hyperlink" Target="https://www.gov.uk/government/publications/the-magenta-book/magenta-book-central-government-guidance-on-evaluation-ht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Manash-Protim-Deori/Manash-Protim-Deori/public/case-studies/hyderabad-political-intelligence/cover-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0"/>
            <a:ext cx="56052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720840" cy="6858000"/>
          </a:xfrm>
          <a:prstGeom prst="rect">
            <a:avLst/>
          </a:prstGeom>
          <a:solidFill>
            <a:srgbClr val="FAF7F0"/>
          </a:solidFill>
          <a:ln w="12700">
            <a:solidFill>
              <a:srgbClr val="FAF7F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67512" y="740664"/>
            <a:ext cx="1060704" cy="64008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76656" y="996696"/>
            <a:ext cx="5394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APPLICATION WORK SAMPLE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874520"/>
            <a:ext cx="60350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HYDERABAD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694944" y="3035808"/>
            <a:ext cx="56692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Political dynamics,</a:t>
            </a:r>
            <a:endParaRPr lang="en-US" sz="3400" dirty="0"/>
          </a:p>
          <a:p>
            <a:pPr algn="l" indent="0" marL="0">
              <a:buNone/>
            </a:pPr>
            <a:r>
              <a:rPr lang="en-US" sz="3400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 &amp; public value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85800" y="5358384"/>
            <a:ext cx="5751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Manash Protim Deori | Inclusive Minds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94944" y="5760720"/>
            <a:ext cx="5650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cut-off 9 October 2026 · Historical data retain reference dates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FINDINGS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Hyderabad's political, institutional and service records demand separate analytical lenses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geography of institutions, the meaning of election results, and the distance from budget provision to service delivery must be kept distinct.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M02 · F07/F03/F21/F24 · Appendix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2651760"/>
            <a:ext cx="3566160" cy="73152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ELECTIONS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 64 / 119 Assembly seats statewide in 2023; no urban-wide inference.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2651760"/>
            <a:ext cx="3566160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2651760"/>
            <a:ext cx="3566160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3984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JURISDICTIONS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443984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55 (11 Feb 2026): GHMC, Cyberabad and Malkajgiri corporations.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19288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19288" y="2651760"/>
            <a:ext cx="3566160" cy="73152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65592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2026–27 provisions are budget estimates, not confirmed outcomes.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ECI 2023 statewide outcome; 2026 governance order and estimates. No citywide electoral or service-effect inference.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GEOGRAPHY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Hyderabad's electoral, municipal and planning units are not interchangeable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55 establishes three municipal corporations; Assembly constituencies, parliamentary seats and planning jurisdictions use different boundaries.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M03 · F03/F04/F05/F33 · Appendix 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2651760"/>
            <a:ext cx="3566160" cy="73152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 municipal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GHMC · Cyberabad MC · Malkajgiri MC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2651760"/>
            <a:ext cx="3566160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2651760"/>
            <a:ext cx="3566160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3984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Election geography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443984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Assembly and parliamentary units differ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19288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19288" y="2651760"/>
            <a:ext cx="3566160" cy="73152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geography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65592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HMR / FCDA records have separate legal bases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Schematic categories, not GIS boundary polygons. Full legal crosswalk must be validated before geographic joins.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HISTORICAL TURNING POINTS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 election and administrative milestones explain today's institutional context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chronological view distinguishes election types, government transitions and administrative reforms.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M04 · F17/F19/F07/F12/F13/F14/F15/F03 · Appendix 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76656" y="3081528"/>
            <a:ext cx="10643616" cy="0"/>
          </a:xfrm>
          <a:prstGeom prst="line">
            <a:avLst/>
          </a:prstGeom>
          <a:noFill/>
          <a:ln w="38100">
            <a:solidFill>
              <a:srgbClr val="BDA88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990088"/>
            <a:ext cx="128016" cy="173736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32841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2018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3886200"/>
            <a:ext cx="195681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TRS 88 / INC 19 Assembly seats (attributed reporting)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825496" y="2990088"/>
            <a:ext cx="128016" cy="173736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25496" y="332841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25496" y="3886200"/>
            <a:ext cx="195681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TRS 56 / BJP 48 council seats (reported)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65192" y="2990088"/>
            <a:ext cx="128016" cy="173736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65192" y="332841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965192" y="3886200"/>
            <a:ext cx="195681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 64 / BRS 39 Assembly seats (ECI)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104888" y="2990088"/>
            <a:ext cx="128016" cy="173736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04888" y="332841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104888" y="3886200"/>
            <a:ext cx="195681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examined parliamentary winners (ECI)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244584" y="2990088"/>
            <a:ext cx="128016" cy="173736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44584" y="332841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244584" y="3886200"/>
            <a:ext cx="195681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55 creates three corporations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2018 and 2020 results are attributed historical reporting; different ballots and institutional periods are not vote swing.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ARCHITECTURE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Urban services involve multiple accountable institutions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Municipal geography, asset protection, river planning and budget financing involve distinct decision-makers.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M05 · F03/F06/F30/F21 · Appendix 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2615184"/>
            <a:ext cx="10972800" cy="420624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6883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 / UNIT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268833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30768" y="26883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10972800" cy="475488"/>
          </a:xfrm>
          <a:prstGeom prst="rect">
            <a:avLst/>
          </a:prstGeom>
          <a:solidFill>
            <a:srgbClr val="EEF2EF"/>
          </a:solidFill>
          <a:ln w="12700">
            <a:solidFill>
              <a:srgbClr val="EEF2E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099816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Municipal</a:t>
            </a:r>
            <a:endParaRPr lang="en-US" sz="1240" dirty="0"/>
          </a:p>
        </p:txBody>
      </p:sp>
      <p:sp>
        <p:nvSpPr>
          <p:cNvPr id="15" name="Text 13"/>
          <p:cNvSpPr/>
          <p:nvPr/>
        </p:nvSpPr>
        <p:spPr>
          <a:xfrm>
            <a:off x="3657600" y="3099816"/>
            <a:ext cx="4572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GHMC / CMC / MMC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8430768" y="3099816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55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94360" y="3538728"/>
            <a:ext cx="10972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575304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657600" y="3575304"/>
            <a:ext cx="4572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HYDRAA / MAUD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8430768" y="3575304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Agency remit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94360" y="4014216"/>
            <a:ext cx="10972800" cy="475488"/>
          </a:xfrm>
          <a:prstGeom prst="rect">
            <a:avLst/>
          </a:prstGeom>
          <a:solidFill>
            <a:srgbClr val="EEF2EF"/>
          </a:solidFill>
          <a:ln w="12700">
            <a:solidFill>
              <a:srgbClr val="EEF2E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4050792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River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3657600" y="4050792"/>
            <a:ext cx="4572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MRDCL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8430768" y="4050792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Published vision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594360" y="4489704"/>
            <a:ext cx="10972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4526280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3657600" y="4526280"/>
            <a:ext cx="4572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/ programme bodies</a:t>
            </a:r>
            <a:endParaRPr lang="en-US" sz="1240" dirty="0"/>
          </a:p>
        </p:txBody>
      </p:sp>
      <p:sp>
        <p:nvSpPr>
          <p:cNvPr id="28" name="Text 26"/>
          <p:cNvSpPr/>
          <p:nvPr/>
        </p:nvSpPr>
        <p:spPr>
          <a:xfrm>
            <a:off x="8430768" y="4526280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estimates</a:t>
            </a:r>
            <a:endParaRPr lang="en-US" sz="1240" dirty="0"/>
          </a:p>
        </p:txBody>
      </p:sp>
      <p:sp>
        <p:nvSpPr>
          <p:cNvPr id="29" name="Text 27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Agency scope is not proof of effectiveness or case-specific legal authority.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2023 TELANGANA ASSEMBLY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INC won 64 of 119 seats in Telangana's 2023 Assembly election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official ECI tally records 64 INC, 39 BRS, 8 BJP, 7 AIMIM and 1 CPI seat in 2023.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M06 · F07 · Appendix 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20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118104" y="2587752"/>
          <a:ext cx="8385048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2743200"/>
            <a:ext cx="2276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ECI | Telangana Assembly seats won, 2023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119 statewide seats. This is not Hyderabad-specific voting or any party's current legislative strength.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HISTORICAL MUNICIPAL ELECTIONS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Reported GHMC council composition changed between 2016 and 2020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Published historical recaps report a changed composition of the 150-seat GHMC council; these are seat counts, not vote transfers.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M07 · F18/F19 · Appendix 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20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118104" y="2587752"/>
          <a:ext cx="8385048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2743200"/>
            <a:ext cx="2276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GHMC seats won · historical150-seat councils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2016 and 2020 council results; not 2026 corporation composition. Original primary municipal declarations should be checked.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 LOK SABHA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relevant 2024 parliamentary seats had distinct, documented winners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ECI's 2024 Lok Sabha records identify BJP winners in Malkajgiri, Secunderabad and Chevella, and the AIMIM winner in Hyderabad.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M08 · F12/F13/F14/F15 · Appendix 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2615184"/>
            <a:ext cx="10972800" cy="420624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6883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 / UNIT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268833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30768" y="26883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10972800" cy="475488"/>
          </a:xfrm>
          <a:prstGeom prst="rect">
            <a:avLst/>
          </a:prstGeom>
          <a:solidFill>
            <a:srgbClr val="EEF2EF"/>
          </a:solidFill>
          <a:ln w="12700">
            <a:solidFill>
              <a:srgbClr val="EEF2E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099816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Malkajgiri</a:t>
            </a:r>
            <a:endParaRPr lang="en-US" sz="1240" dirty="0"/>
          </a:p>
        </p:txBody>
      </p:sp>
      <p:sp>
        <p:nvSpPr>
          <p:cNvPr id="15" name="Text 13"/>
          <p:cNvSpPr/>
          <p:nvPr/>
        </p:nvSpPr>
        <p:spPr>
          <a:xfrm>
            <a:off x="3657600" y="3099816"/>
            <a:ext cx="4572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Eatala Rajender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8430768" y="3099816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BJP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94360" y="3538728"/>
            <a:ext cx="10972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575304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Secunderabad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657600" y="3575304"/>
            <a:ext cx="4572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G. Kishan Reddy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8430768" y="3575304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BJP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94360" y="4014216"/>
            <a:ext cx="10972800" cy="475488"/>
          </a:xfrm>
          <a:prstGeom prst="rect">
            <a:avLst/>
          </a:prstGeom>
          <a:solidFill>
            <a:srgbClr val="EEF2EF"/>
          </a:solidFill>
          <a:ln w="12700">
            <a:solidFill>
              <a:srgbClr val="EEF2E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4050792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Hyderabad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3657600" y="4050792"/>
            <a:ext cx="4572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Asaduddin Owaisi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8430768" y="4050792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AIMIM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594360" y="4489704"/>
            <a:ext cx="10972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4526280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Chevella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3657600" y="4526280"/>
            <a:ext cx="4572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Konda Vishweshwar Reddy</a:t>
            </a:r>
            <a:endParaRPr lang="en-US" sz="1240" dirty="0"/>
          </a:p>
        </p:txBody>
      </p:sp>
      <p:sp>
        <p:nvSpPr>
          <p:cNvPr id="28" name="Text 26"/>
          <p:cNvSpPr/>
          <p:nvPr/>
        </p:nvSpPr>
        <p:spPr>
          <a:xfrm>
            <a:off x="8430768" y="4526280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BJP</a:t>
            </a:r>
            <a:endParaRPr lang="en-US" sz="1240" dirty="0"/>
          </a:p>
        </p:txBody>
      </p:sp>
      <p:sp>
        <p:nvSpPr>
          <p:cNvPr id="29" name="Text 27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distinct parliamentary constituencies, not an aggregate of Hyderabad Assembly seats.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ECONOMIC STRUCTURE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Identified industrial clusters do not measure citywide economic benefit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investment portal identifies Genome Valley and electronics-sector clusters, but this alone cannot establish Hyderabad-wide jobs, GDP or access.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M09 · F32 · Appendix 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2651760"/>
            <a:ext cx="3566160" cy="73152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employers and value chains are documented?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2651760"/>
            <a:ext cx="3566160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2651760"/>
            <a:ext cx="3566160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3984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443984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can reach jobs, training and services?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19288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19288" y="2651760"/>
            <a:ext cx="3566160" cy="73152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65592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evidence shows benefits across places?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investment-portal evidence establishes identified clusters, not realised jobs or citywide economic impact.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EMPLOYMENT AND OPPORTUNITY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Employment access requires evidence beyond sector growth narratives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Vacancy, skill, commute, placement and job-quality data are needed before judging the reach of economic opportunity.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M10 · F32 · Appendix 34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2651760"/>
            <a:ext cx="263575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2651760"/>
            <a:ext cx="2635758" cy="73152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862072"/>
            <a:ext cx="23614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" y="3621024"/>
            <a:ext cx="234315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vacancies and skills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20390" y="3401568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367278" y="2651760"/>
            <a:ext cx="2635758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67278" y="2651760"/>
            <a:ext cx="2635758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3582" y="2862072"/>
            <a:ext cx="23614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513582" y="3621024"/>
            <a:ext cx="234315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Commute, cost and information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11596" y="3401568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158484" y="2651760"/>
            <a:ext cx="263575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8484" y="2651760"/>
            <a:ext cx="2635758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4788" y="2862072"/>
            <a:ext cx="23614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4788" y="3621024"/>
            <a:ext cx="234315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and placement evidence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702802" y="3401568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949690" y="2651760"/>
            <a:ext cx="2635758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49690" y="2651760"/>
            <a:ext cx="2635758" cy="73152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95994" y="2862072"/>
            <a:ext cx="23614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5994" y="3621024"/>
            <a:ext cx="234315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Retention, pay and stability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Measurement framework, not a finding about household employment outcomes.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HOUSING AND METROPOLITAN EXPANSION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Municipal reorganisation and planning changes demand updated land and housing evidence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55 and the official GO 68/69 index define differing urban and planning units; parcel- and housing-level conclusions need further evidence.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M11 · F03/F33 · Appendix 35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2651760"/>
            <a:ext cx="3566160" cy="73152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instrument and vintage?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2651760"/>
            <a:ext cx="3566160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2651760"/>
            <a:ext cx="3566160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3984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443984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title, approval and record?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19288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19288" y="2651760"/>
            <a:ext cx="3566160" cy="73152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65592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housing and service evidence?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verified current price index, housing-displacement total or parcel-specific legal finding.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MOBILITY AND TRANSPORT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Metro funding provisions are not proof of completed service expansion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2026–27 state budget records ₹600 crore for Metro Phase II and ₹500 crore as loans to HMRL; neither represents proven completion.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M12 · F24/F25 · Appendix 36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2743200"/>
            <a:ext cx="3502152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118104"/>
            <a:ext cx="31272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E58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₹600 cr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777240" y="4087368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Metro Rail Phase II ·BE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15968" y="2743200"/>
            <a:ext cx="3502152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8848" y="3118104"/>
            <a:ext cx="31272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E58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₹500 cr</a:t>
            </a:r>
            <a:endParaRPr lang="en-US" sz="3700" dirty="0"/>
          </a:p>
        </p:txBody>
      </p:sp>
      <p:sp>
        <p:nvSpPr>
          <p:cNvPr id="14" name="Text 12"/>
          <p:cNvSpPr/>
          <p:nvPr/>
        </p:nvSpPr>
        <p:spPr>
          <a:xfrm>
            <a:off x="4498848" y="4087368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Loans to HMRL ·BE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37576" y="2743200"/>
            <a:ext cx="3502152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0456" y="3118104"/>
            <a:ext cx="31272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58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Journey access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20456" y="4087368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separate validation question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2026–27 budget estimates; separate provision lines, not evidence of operating service.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WATER AND RESILIENCE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credible resilience assessment must connect hazards, assets and service outcomes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HYDRAA's described disaster remit and MRDCL's ecological objectives establish institutional roles—not verified flood or water-quality outcomes.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M13 · F06/F30 · Appendix 37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2651760"/>
            <a:ext cx="3566160" cy="73152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Hazard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Rainfall and catchment evidence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2651760"/>
            <a:ext cx="3566160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2651760"/>
            <a:ext cx="3566160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3984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443984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Drainage, sewage and asset condition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19288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19288" y="2651760"/>
            <a:ext cx="3566160" cy="73152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65592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Warning, rescue and recovery records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measured improvement in flooding, lake health, wastewater treatment or response time is asserted.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SERVICES AND FISCAL CAPACITY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State budget expansion highlights the gap between provision and delivery evidence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Telangana's state capital expenditure is budgeted at ₹47,267.28 crore for 2026–27 versus ₹36,480.87 crore revised estimate for 2025–26.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M14 · F27/F28/F29 · Appendix 38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/ 20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118104" y="2587752"/>
          <a:ext cx="8385048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2743200"/>
            <a:ext cx="2276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Telangana state capital expenditure · ₹crore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Statewide budgets, nominal RE-to-BE comparison; not Hyderabad actual spending or guaranteed delivery.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MUSI RIVER CASE STUDY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Musi restoration has documented objectives and still requires delivery evidence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government budget provides ₹1,500 crore for Musi development, while the agency describes restoration goals and officials acknowledge relocation concerns.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M15 · F22/F30/F31 · Appendix 39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2651760"/>
            <a:ext cx="3566160" cy="73152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Agency vision; ₹1,500 crore BE; March conference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2651760"/>
            <a:ext cx="3566160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2651760"/>
            <a:ext cx="3566160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3984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Needs proof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443984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Awards, disbursement, sewage and water-quality results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19288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19288" y="2651760"/>
            <a:ext cx="3566160" cy="73152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impact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65592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Compensation, location of rehousing and livelihood access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provision and expressed objectives do not demonstrate awards, resettlement outcomes or restored water quality.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PUBLIC-ASSET PROTECTION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HYDRAA's formal remit does not decide the legality or outcomes of individual cases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HYDRAA's public-asset and disaster-management mandate cannot by itself establish the legal status or real-world results of an individual action.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M16 · F06/F03 · Appendix 40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2651760"/>
            <a:ext cx="3566160" cy="73152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site and boundary documentation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2651760"/>
            <a:ext cx="3566160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2651760"/>
            <a:ext cx="3566160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3984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443984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Notice, authority, hearing or review record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19288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19288" y="2651760"/>
            <a:ext cx="3566160" cy="73152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65592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Restoration, affected livelihoods and remedy evidence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Case-specific notice, title, adjudication and remedial records require independent examination.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RESEARCH PRIORITIES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strongest research priorities concern boundaries, delivery and outcomes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evidence supports sequencing document-backed questions ahead of claims about unmeasured public outcomes.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M17 · F03/F07/F21/F30 · Appendix 41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21792" y="2587752"/>
            <a:ext cx="10908792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88336"/>
            <a:ext cx="4480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62456" y="26791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 crosswalk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577840" y="2670048"/>
            <a:ext cx="5541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dated GO 55 municipal divisions and authoritative GIS only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" y="3319272"/>
            <a:ext cx="10908792" cy="6126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419856"/>
            <a:ext cx="4480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62456" y="34107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Electoral integrity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577840" y="3401568"/>
            <a:ext cx="5541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official ballot results, dates and constituencies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" y="4050792"/>
            <a:ext cx="10908792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151376"/>
            <a:ext cx="4480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62456" y="41422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tracking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577840" y="4133088"/>
            <a:ext cx="5541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Distinguish budget, release, procurement and service evidence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" y="4782312"/>
            <a:ext cx="10908792" cy="6126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882896"/>
            <a:ext cx="4480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362456" y="487375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Accountability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577840" y="4864608"/>
            <a:ext cx="5541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Link each issue to legal authority and measurable outcomes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Analyst-designed research priority order, not an empirical score or a party strategy.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EDUCATION AND ACADEMIC RESEARCH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IIM Shillong and applied policy modelling offer a research-oriented foundation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MBA, IIM Shillong (2023–25); candidate-reported Meghalaya PDS modelling with 4,500+ government records.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M18 · F34/F36 · Appendix 42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2651760"/>
            <a:ext cx="3566160" cy="73152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MBA · IIM Shillong (2023–25)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" y="4718304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management and analytical approach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50792" y="3401568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297680" y="2651760"/>
            <a:ext cx="3566160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2651760"/>
            <a:ext cx="3566160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443984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Meghalaya public-distribution modelling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43984" y="4718304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review of 4,500+ government records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0" y="3401568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019288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19288" y="2651760"/>
            <a:ext cx="3566160" cy="73152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65592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PROPOSED OUTPUT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165592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Source-linked policy evidence brief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165592" y="4718304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Subject to source access and reviewer acceptance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" y="5559552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Proposed: reproducible public-policy analysis with a documented data-quality and source register.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self-report. Academic/project achievements are not independently audited.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PROFESSIONAL CONTRIBUTION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94360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11064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My strategy and political-intelligence experience supports a testable delivery plan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Consultant, Marketing and Strategy, Nation With Namo (May 2025–Apr 2026). Resume reports an evidence-review workflow for seven political-intelligence team members.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6556248"/>
            <a:ext cx="11064240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92824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M19 · F34/F35 · Appendix 43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680192" y="6574536"/>
            <a:ext cx="832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2651760"/>
            <a:ext cx="3566160" cy="73152"/>
          </a:xfrm>
          <a:prstGeom prst="rect">
            <a:avLst/>
          </a:prstGeom>
          <a:solidFill>
            <a:srgbClr val="22634F"/>
          </a:solidFill>
          <a:ln w="12700">
            <a:solidFill>
              <a:srgbClr val="22634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0–30 DAYS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Onboard; validate geography and sources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" y="4718304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Reviewed baseline brief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50792" y="3401568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297680" y="2651760"/>
            <a:ext cx="3566160" cy="26334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2651760"/>
            <a:ext cx="3566160" cy="73152"/>
          </a:xfrm>
          <a:prstGeom prst="rect">
            <a:avLst/>
          </a:prstGeom>
          <a:solidFill>
            <a:srgbClr val="4E82A8"/>
          </a:solidFill>
          <a:ln w="12700">
            <a:solidFill>
              <a:srgbClr val="4E82A8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31–60 DAYS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443984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issue and policy-status tracking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43984" y="4718304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Correction and coverage log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0" y="3401568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019288" y="2651760"/>
            <a:ext cx="3566160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19288" y="2651760"/>
            <a:ext cx="3566160" cy="73152"/>
          </a:xfrm>
          <a:prstGeom prst="rect">
            <a:avLst/>
          </a:prstGeom>
          <a:solidFill>
            <a:srgbClr val="E58B3A"/>
          </a:solidFill>
          <a:ln w="12700">
            <a:solidFill>
              <a:srgbClr val="E58B3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65592" y="28620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61–90 DAYS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165592" y="3621024"/>
            <a:ext cx="3273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Refine, document and hand over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165592" y="4718304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Repeatable reviewer-ready research asset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" y="5559552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conditional 30/60/90-day plan; outputs depend on role scope, authorised access and supervisory review.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" y="6035040"/>
            <a:ext cx="10927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Self-reported experience. Timing and impact are proposals, not guaranteed outcomes.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" y="1161288"/>
            <a:ext cx="106070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endParaRPr lang="en-US" sz="6800" dirty="0"/>
          </a:p>
        </p:txBody>
      </p:sp>
      <p:sp>
        <p:nvSpPr>
          <p:cNvPr id="3" name="Text 1"/>
          <p:cNvSpPr/>
          <p:nvPr/>
        </p:nvSpPr>
        <p:spPr>
          <a:xfrm>
            <a:off x="713232" y="2880360"/>
            <a:ext cx="106984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welcome a discussion of the evidence and the research work I can contribute.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40664" y="4114800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MANASH PROTIM DEORI</a:t>
            </a:r>
            <a:endParaRPr lang="en-US" sz="17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40664" y="468172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u="sng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manashdeori09@gmail.com</a:t>
            </a:r>
            <a:endParaRPr lang="en-US" sz="1700" dirty="0"/>
          </a:p>
        </p:txBody>
      </p:sp>
      <p:sp>
        <p:nvSpPr>
          <p:cNvPr id="6" name="Text 4">
            <a:hlinkClick r:id="rId2" tooltip=""/>
          </p:cNvPr>
          <p:cNvSpPr/>
          <p:nvPr/>
        </p:nvSpPr>
        <p:spPr>
          <a:xfrm>
            <a:off x="740664" y="509320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linkedin.com/in/manash-protim-deori</a:t>
            </a:r>
            <a:endParaRPr lang="en-US" sz="1600" dirty="0"/>
          </a:p>
        </p:txBody>
      </p:sp>
      <p:sp>
        <p:nvSpPr>
          <p:cNvPr id="7" name="Text 5">
            <a:hlinkClick r:id="rId3" tooltip=""/>
          </p:cNvPr>
          <p:cNvSpPr/>
          <p:nvPr/>
        </p:nvSpPr>
        <p:spPr>
          <a:xfrm>
            <a:off x="740664" y="550468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manash-protim-deori.vercel.app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642823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DA8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work sample. Complete evidence appendix follows.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" y="5212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APPENDIX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94944" y="1856232"/>
            <a:ext cx="1063447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Trace the claim.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Inspect the evidence.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4791456"/>
            <a:ext cx="10332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 · methods · reasoning · records · limitations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VERIFICATION STANDARD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status and release conditions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Provenance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Supported, Qualified or Blocked for each record. An unread original is not cleared by correct arithmetic.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issuer and publisher records count once. ET/TOI share Times Group; PRS reuses state documents.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date, unit and fiscal stage retained. Chart/workbook values agree; PDF data are searchable.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Inference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Interpretations remain bounded. Current legal status, officeholders and delivery require separate records.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use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Recommendations identify a work product and acceptance test. Effort/output counts remain conditional.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ELECTION CROSSWALK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2023 study set: AC 57–71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5358384" cy="50177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57 Musheerabad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47595" y="1856232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BRS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640080" y="2358009"/>
            <a:ext cx="5358384" cy="501777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431161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 Malakpet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47595" y="2422017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AIMIM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640080" y="2923794"/>
            <a:ext cx="5358384" cy="50177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2996946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 Amberpet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47595" y="2987802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640080" y="3489579"/>
            <a:ext cx="5358384" cy="501777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3562731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Khairatabad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47595" y="3553587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BRS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640080" y="4055364"/>
            <a:ext cx="5358384" cy="50177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128516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 Jubilee Hills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47595" y="4119372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BRS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640080" y="4621149"/>
            <a:ext cx="5358384" cy="501777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" y="4694301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 Sanathnagar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47595" y="4685157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BRS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640080" y="5186934"/>
            <a:ext cx="5358384" cy="50177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8952" y="5260086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63 Nampally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247595" y="5250942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AIMIM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640080" y="5752719"/>
            <a:ext cx="5358384" cy="501777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8952" y="5825871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 Karwan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47595" y="5816727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AIMIM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6199632" y="1792224"/>
            <a:ext cx="5358384" cy="50177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18504" y="1865376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 Goshamahal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807147" y="1856232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BJP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6199632" y="2358009"/>
            <a:ext cx="5358384" cy="501777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18504" y="2431161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66 Charminar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807147" y="2422017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AIMIM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6199632" y="2923794"/>
            <a:ext cx="5358384" cy="50177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18504" y="2996946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67 Chandrayangutta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807147" y="2987802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AIMIM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6199632" y="3489579"/>
            <a:ext cx="5358384" cy="501777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18504" y="3562731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68 Yakutpura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807147" y="3553587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AIMIM</a:t>
            </a:r>
            <a:endParaRPr lang="en-US" sz="1020" dirty="0"/>
          </a:p>
        </p:txBody>
      </p:sp>
      <p:sp>
        <p:nvSpPr>
          <p:cNvPr id="42" name="Shape 40"/>
          <p:cNvSpPr/>
          <p:nvPr/>
        </p:nvSpPr>
        <p:spPr>
          <a:xfrm>
            <a:off x="6199632" y="4055364"/>
            <a:ext cx="5358384" cy="50177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18504" y="4128516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 Bahadurpura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807147" y="4119372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AIMIM</a:t>
            </a:r>
            <a:endParaRPr lang="en-US" sz="1020" dirty="0"/>
          </a:p>
        </p:txBody>
      </p:sp>
      <p:sp>
        <p:nvSpPr>
          <p:cNvPr id="45" name="Shape 43"/>
          <p:cNvSpPr/>
          <p:nvPr/>
        </p:nvSpPr>
        <p:spPr>
          <a:xfrm>
            <a:off x="6199632" y="4621149"/>
            <a:ext cx="5358384" cy="501777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18504" y="4694301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 Secunderabad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807147" y="4685157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BRS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6199632" y="5186934"/>
            <a:ext cx="5358384" cy="50177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18504" y="5260086"/>
            <a:ext cx="15539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71 Secunderabad Cantt.(SC)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807147" y="5250942"/>
            <a:ext cx="3590117" cy="43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BRS</a:t>
            </a:r>
            <a:endParaRPr lang="en-US" sz="1020" dirty="0"/>
          </a:p>
        </p:txBody>
      </p:sp>
      <p:sp>
        <p:nvSpPr>
          <p:cNvPr id="51" name="Text 49"/>
          <p:cNvSpPr/>
          <p:nvPr/>
        </p:nvSpPr>
        <p:spPr>
          <a:xfrm>
            <a:off x="731520" y="6080760"/>
            <a:ext cx="10789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 AC rows remain blocked pending direct primary-record recheck.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Arithmetic and comparison rules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6903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seats 2023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64+39+8+7+1=119. S06 official performance table.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546604"/>
            <a:ext cx="10890504" cy="6903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61975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 seats 2023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61061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7+7+1+0=15 internally. S07 target rows remain blocked for fresh recheck.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300984"/>
            <a:ext cx="10890504" cy="6903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37413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GHMC councils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36499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2016: 99+44+4+2+1=150. 2020: 56+48+44+2=150. Historical reporting.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55364"/>
            <a:ext cx="10890504" cy="6903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12851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margins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11937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62,185−60,148=2,037; 46,153−45,275=878; 99,776−18,116=81,660. Inputs pending fresh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809744"/>
            <a:ext cx="10890504" cy="6903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88289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capex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487375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(47,267.28 / 36,480.87 − 1) × 100 = 29.5673%, rounded 29.6%. Nominal RE-to-BE.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564124"/>
            <a:ext cx="10890504" cy="6903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" y="563727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 execution context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907231" y="562813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PRS 2024–25 BE-to-actual shortfalls are historical statewide context. No summed city budget or next-year forecast.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01 | Hyderabad: political dynamics, governance &amp; publ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Political dynamics, governance evidence and a rigorous application work sample for Inclusive Minds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F34 (Qualified): Candidate resume lists MBA, IIM Shillong, 2023–25; Consultant Marketing and Strategy at Nation With Namo, May 2025–Apr 2026. F37 (Qualified): Candidate resume lists manashdeori09@gmail.com, LinkedIn/manash-protim-deori and openness to relocation.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Editorial title for a professional research work sample.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cut-off 8 October 2026. Prepared independently; no employer or party endorsement.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S25: Portfolio resume data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02 | Hyderabad's political, institutional and service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geography of institutions, the meaning of election results, and the distance from budget provision to service delivery must be kept distinct.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F07 (Supported): 2023 Telangana Assembly seats won: INC 64; BRS 39; BJP 8; AIMIM 7; CPI 1. F03 (Supported): GO 55 of 11 February 2026 reorganised CURE into GHMC, CMC and MMC with immediate effect. F21 (Supported): 2026–27 BE: H-CITY assistance to CURE ₹2,654 crore. F24 (Supported): 2026–27 BE: Metro Rail Phase II ₹600 crore.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institution-specific results cannot be collapsed into one citywide result. Budget provisions create questions about implementation.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difference may reflect institutional boundaries, election context or candidate competition; it does not identify switching voters.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ECI 2023 statewide outcome; 2026 governance order and estimates. No citywide electoral or service-effect inference.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S06: Performance of Political Parties: Telangana 2023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S03: G.O.Ms.No.55: CURE reorganisation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S04: Government Orders and Acts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S15: Moosarambagh bridge event and corporation logos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S09: Budget in Brief: 2026–27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S10: Telangana Budget Analysis 2026–27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03 | Hyderabad's electoral, municipal and planning un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55 establishes three municipal corporations; Assembly constituencies, parliamentary seats and planning jurisdictions use different boundaries.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F03 (Supported): GO 55 of 11 February 2026 reorganised CURE into GHMC, CMC and MMC with immediate effect. F04 (Supported): CMC comprises Serilingampally, Kukatpally and Qutbullapur zones; MMC comprises Malkajgiri, Uppal and L.B.Nagar zones. F05 (Supported): GHMC comprises Shamshabad, Rajendernagar, Charminar, Golconda, Khairatabad and Secunderabad zones. F33 (Supported): BuildNow lists GO 68 dated 12 March 2025 for expansion of HMR and GO 69 for FCDA.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 allocates municipal zones; election tables use constituency codes. A name match does not establish identical population or jurisdiction.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changed total can reflect a boundary revision or record coverage rather than a real service change.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Schematic categories, not GIS boundary polygons. Full legal crosswalk must be validated before geographic joins.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S03: G.O.Ms.No.55: CURE reorganisation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S04: Government Orders and Acts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S15: Moosarambagh bridge event and corporation logos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04 | Different election and administrative milestones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chronological view distinguishes election types, government transitions and administrative reforms.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F17 (Qualified): Contemporaneous 2018 reporting recorded TRS 88 and INC 19 Assembly seats. F19 (Qualified): Post-Neredmet 2020 reporting: TRS 56, BJP 48, AIMIM 44, INC 2. F07 (Supported): 2023 Telangana Assembly seats won: INC 64; BRS 39; BJP 8; AIMIM 7; CPI 1. F12 (Supported): Malkajgiri, 2024 Lok Sabha: Eatala Rajender (BJP) led with 991,042 votes; runner-up 599,567. F13 (Supported): Secunderabad, 2024 Lok Sabha: G.Kishan Reddy (BJP) led with 473,012 votes; runner-up 423,068. F14 (Supported): Hyderabad, 2024 Lok Sabha: Asaduddin Owaisi (AIMIM) led with 661,981 votes; runner-up 323,894. F15 (Supported): Chevella, 2024 Lok Sabha: Konda Vishweshwar Reddy (BJP) led with 809,882 votes; runner-up 636,985. F03 (Supported): GO 55 of 11 February 2026 reorganised CURE into GHMC, CMC and MMC with immediate effect.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election outcomes, by-elections, office changes and boundary changes. Historical outcomes do not establish present membership.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Institution-specific results can change without one common citywide trend. Bypolls also have distinct candidate/context effects.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2018 and 2020 results are attributed historical reporting; different ballots and institutional periods are not vote swing.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S17: Telangana Assembly polls: TRS wins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S18: 2018 Telangana complete winners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S21: Week after GHMC results: mayor question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S22: Neredmet final result takes TRS tally to 56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S06: Performance of Political Parties: Telangana 2023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S08: Constituency-wise Detailed Results: 2024 Lok Sabha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S03: G.O.Ms.No.55: CURE reorganisation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S04: Government Orders and Acts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S15: Moosarambagh bridge event and corporation logos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05 | Urban services involve multiple accountable inst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Municipal geography, asset protection, river planning and budget financing involve distinct decision-makers.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F03 (Supported): GO 55 of 11 February 2026 reorganised CURE into GHMC, CMC and MMC with immediate effect. F06 (Supported): HYDRAA describes its CURE-wide remit as disaster management and protection of government / public assets, under MAUD. F30 (Supported): MRDCL describes Musi vision in terms of ecological restoration, sewage interception/treatment, floodplain zones and mobility/livelihoods. F21 (Supported): 2026–27 BE: H-CITY assistance to CURE ₹2,654 crore.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documented institution-specific chain is more useful than assigning every urban outcome to one politician or department.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observed delay may arise from a handoff, funding, record access or a legitimate review process.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Agency scope is not proof of effectiveness or case-specific legal authority.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S03: G.O.Ms.No.55: CURE reorganisation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S04: Government Orders and Acts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S15: Moosarambagh bridge event and corporation logos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S05: About the Agency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S11: Vision / Mission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S09: Budget in Brief: 2026–27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S10: Telangana Budget Analysis 2026–27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06 | INC won 64 of 119 seats in Telangana's 2023 Asse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official ECI tally records 64 INC, 39 BRS, 8 BJP, 7 AIMIM and 1 CPI seat in 2023.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F07 (Supported): 2023 Telangana Assembly seats won: INC 64; BRS 39; BJP 8; AIMIM 7; CPI 1.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contrasting selected-set result falsifies a claim that the statewide winner also won everywhere in the urban core.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study set can differ from other metropolitan seats. Its result is not a representative estimate.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119 statewide seats. This is not Hyderabad-specific voting or any party's current legislative strength.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S06: Performance of Political Parties: Telangana 2023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07 | Reported GHMC council composition changed betwee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Published historical recaps report a changed composition of the 150-seat GHMC council; these are seat counts, not vote transfers.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F18 (Qualified): Published 2016 GHMC recap: TRS 99, AIMIM 44, BJP 4, INC 2, TDP 1. F19 (Qualified): Post-Neredmet 2020 reporting: TRS 56, BJP 48, AIMIM 44, INC 2.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same-institution seat counts show council-level change. Seats are not votes; result differences do not identify voter transitions.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Seat changes can reflect turnout, candidates, boundaries or vote distribution. Seats alone do not separate those explanations.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2016 and 2020 council results; not 2026 corporation composition. Original primary municipal declarations should be checked.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S19: Hyderabad civic body voting: 2016 recap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S20: GHMC 2016 result report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S21: Week after GHMC results: mayor question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S22: Neredmet final result takes TRS tally to 56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08 | Four relevant 2024 parliamentary seats had disti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ECI's 2024 Lok Sabha records identify BJP winners in Malkajgiri, Secunderabad and Chevella, and the AIMIM winner in Hyderabad.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F12 (Supported): Malkajgiri, 2024 Lok Sabha: Eatala Rajender (BJP) led with 991,042 votes; runner-up 599,567. F13 (Supported): Secunderabad, 2024 Lok Sabha: G.Kishan Reddy (BJP) led with 473,012 votes; runner-up 423,068. F14 (Supported): Hyderabad, 2024 Lok Sabha: Asaduddin Owaisi (AIMIM) led with 661,981 votes; runner-up 323,894. F15 (Supported): Chevella, 2024 Lok Sabha: Konda Vishweshwar Reddy (BJP) led with 809,882 votes; runner-up 636,985.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institution-specific observations show why political strength cannot be represented by one number.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National and state contests differ in units, candidates and timing; contrasting results do not prove voter conversion.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distinct parliamentary constituencies, not an aggregate of Hyderabad Assembly seats.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S08: Constituency-wise Detailed Results: 2024 Lok Sabha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09 | Identified industrial clusters do not measure ci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investment portal identifies Genome Valley and electronics-sector clusters, but this alone cannot establish Hyderabad-wide jobs, GDP or access.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F32 (Qualified): State investment portal identifies Genome Valley at Shamirpet and electronics manufacturing clusters.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Cluster presence does not establish broad access. Locations anchor research questions, but do not measure benefits, GDP or job quality.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Cluster presence can coexist with broad or uneven access. Neither distribution is established by a location directory.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investment-portal evidence establishes identified clusters, not realised jobs or citywide economic impact.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S14: Invest Telangana portal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10 | Employment access requires evidence beyond secto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Vacancy, skill, commute, placement and job-quality data are needed before judging the reach of economic opportunity.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F32 (Qualified): State investment portal identifies Genome Valley at Shamirpet and electronics manufacturing clusters.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barriers are needed to connect clusters with residents’ opportunities. No labour-market deficit is assumed simply from cluster presence.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apparent access gap can reflect qualifications, transport, job quality or incomplete vacancy information.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Measurement framework, not a finding about household employment outcomes.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S14: Invest Telangana portal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11 | Municipal reorganisation and planning changes de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55 and the official GO 68/69 index define differing urban and planning units; parcel- and housing-level conclusions need further evidence.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F03 (Supported): GO 55 of 11 February 2026 reorganised CURE into GHMC, CMC and MMC with immediate effect. F33 (Supported): BuildNow lists GO 68 dated 12 March 2025 for expansion of HMR and GO 69 for FCDA.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Changes in administrative and planning units can break time-series comparisons and ownership assumptions.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difference may reflect jurisdiction/record changes or underlying development. Parcel rights require distinct evidence.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verified current price index, housing-displacement total or parcel-specific legal finding.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S03: G.O.Ms.No.55: CURE reorganisation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S04: Government Orders and Acts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S15: Moosarambagh bridge event and corporation logos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12 | Metro funding provisions are not proof of comple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2026–27 state budget records ₹600 crore for Metro Phase II and ₹500 crore as loans to HMRL; neither represents proven completion.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F24 (Supported): 2026–27 BE: Metro Rail Phase II ₹600 crore. F25 (Supported): 2026–27 BE: loans to HMRL ₹500 crore.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Distinct lines should not be merged into a claim about completed rail construction. Accessibility requires route and service evidence.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provision can precede approval, award or spending. A completed asset can still provide uneven journey access.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2026–27 budget estimates; separate provision lines, not evidence of operating service.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S09: Budget in Brief: 2026–27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13 | A credible resilience assessment must connect ha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HYDRAA's described disaster remit and MRDCL's ecological objectives establish institutional roles—not verified flood or water-quality outcomes.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F06 (Supported): HYDRAA describes its CURE-wide remit as disaster management and protection of government / public assets, under MAUD. F30 (Supported): MRDCL describes Musi vision in terms of ecological restoration, sewage interception/treatment, floodplain zones and mobility/livelihoods.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documented remit and project scope suggest linked research tasks, not measured performance or a causal reduction in flood risk.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severity and catchment conditions can change outcomes independently of an agency intervention.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measured improvement in flooding, lake health, wastewater treatment or response time is asserted.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S05: About the Agency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S11: Vision / Mission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14 | State budget expansion highlights the gap betwee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Telangana's state capital expenditure is budgeted at ₹47,267.28 crore for 2026–27 versus ₹36,480.87 crore revised estimate for 2025–26.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F27 (Supported): State capital expenditure: 2025–26 RE ₹36,480.87 crore; 2026–27 BE ₹47,267.28 crore. F28 (Supported): Nominal state capex BE/RE increase is 29.57%, rounded 29.6%. F29 (Supported): State 2026–27 BE: Indiramma Houses ₹5,500 crore; Mahalaxmi RTC ₹4,305 crore; Rajiv Aarogya Sri ₹1,143 crore.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larger planned envelope makes financing and implementation monitoring material. It does not establish fiscal capacity or future completion.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larger plan can reflect priorities or financing assumptions; prior shortfalls do not predict the next year.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Statewide budgets, nominal RE-to-BE comparison; not Hyderabad actual spending or guaranteed delivery.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S09: Budget in Brief: 2026–27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S10: Telangana Budget Analysis 2026–27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15 | Musi restoration has documented objectives and 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government budget provides ₹1,500 crore for Musi development, while the agency describes restoration goals and officials acknowledge relocation concerns.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F22 (Supported): 2026–27 BE: Musi Riverfront development ₹1,500 crore. F30 (Supported): MRDCL describes Musi vision in terms of ecological restoration, sewage interception/treatment, floodplain zones and mobility/livelihoods. F31 (Supported): At the 13 March 2026 Musi conference, the CM addressed compensation and livelihood concerns associated with relocation.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Environmental objectives and acknowledged relocation concerns justify testing multiple dimensions of implementation together.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Environmental progress and household costs can move differently; official commitments do not settle either outcome.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provision and expressed objectives do not demonstrate awards, resettlement outcomes or restored water quality.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S09: Budget in Brief: 2026–27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S11: Vision / Mission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S12: Musi Invites: Phase I presentation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16 | HYDRAA's formal remit does not decide the legali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HYDRAA's public-asset and disaster-management mandate cannot by itself establish the legal status or real-world results of an individual action.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F06 (Supported): HYDRAA describes its CURE-wide remit as disaster management and protection of government / public assets, under MAUD. F03 (Supported): GO 55 of 11 February 2026 reorganised CURE into GHMC, CMC and MMC with immediate effect.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Mandate-level evidence and case-level evidence answer different questions; public trust needs both.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mandate may exist while an individual action still requires distinct authority, boundary and procedural evidence.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Case-specific notice, title, adjudication and remedial records require independent examination.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S05: About the Agency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S03: G.O.Ms.No.55: CURE reorganisation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S04: Government Orders and Acts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S15: Moosarambagh bridge event and corporation logos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17 | The strongest research priorities concern bounda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evidence supports sequencing document-backed questions ahead of claims about unmeasured public outcomes.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F03 (Supported): GO 55 of 11 February 2026 reorganised CURE into GHMC, CMC and MMC with immediate effect. F07 (Supported): 2023 Telangana Assembly seats won: INC 64; BRS 39; BJP 8; AIMIM 7; CPI 1. F21 (Supported): 2026–27 BE: H-CITY assistance to CURE ₹2,654 crore. F30 (Supported): MRDCL describes Musi vision in terms of ecological restoration, sewage interception/treatment, floodplain zones and mobility/livelihoods.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Separating known records from unresolved status prevents confidence in one source class from spilling into another.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unavailable record is an access gap, not proof that the underlying event or outcome did not happen.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Analyst-designed research priority order, not an empirical score or a party strategy.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S03: G.O.Ms.No.55: CURE reorganisation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S04: Government Orders and Acts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S15: Moosarambagh bridge event and corporation logos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S06: Performance of Political Parties: Telangana 2023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S09: Budget in Brief: 2026–27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S10: Telangana Budget Analysis 2026–27 — [full clickable URL in source register]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S11: Vision / Mission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18 | IIM Shillong and applied policy modelling offer 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MBA, IIM Shillong (2023–25); candidate-reported Meghalaya PDS modelling with 4,500+ government records.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F34 (Qualified): Candidate resume lists MBA, IIM Shillong, 2023–25; Consultant Marketing and Strategy at Nation With Namo, May 2025–Apr 2026. F36 (Qualified): Candidate resume reports modelling Meghalaya PDS and analysing 4,500+government records.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self-reported experiences support a methods-based fit; geographic expertise and employer performance remain to be demonstrated.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Experience may transfer partly, while local knowledge, language support and agency context require supervised learning.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self-report. Academic/project achievements are not independently audited.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S25: Portfolio resume data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19 | My strategy and political-intelligence experienc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Consultant, Marketing and Strategy, Nation With Namo (May 2025–Apr 2026). Resume reports an evidence-review workflow for seven political-intelligence team members.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F34 (Qualified): Candidate resume lists MBA, IIM Shillong, 2023–25; Consultant Marketing and Strategy at Nation With Namo, May 2025–Apr 2026. F35 (Qualified): Candidate resume reports introducing an evidence-based review system for a seven-person political-intelligence team.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candidate-reported review experience supports proposing an evidence workflow; actual performance must be established through a pilot.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pilot may improve detection, increase workload or need a simpler shared-sheet workflow.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Self-reported experience. Timing and impact are proposals, not guaranteed outcomes.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S25: Portfolio resume data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SLIDE-LEVEL EVIDENCE AND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20 | Thank you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" y="1764792"/>
            <a:ext cx="533095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56232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22376" y="2121408"/>
            <a:ext cx="5129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 for considering this independent research work sample.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Manash Protim Deori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manashdeori09@gmail.com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08192" y="1764792"/>
            <a:ext cx="5458968" cy="134416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85623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PREMISES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2121408"/>
            <a:ext cx="52578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F37 (Qualified): Candidate resume lists manashdeori09@gmail.com, LinkedIn/manash-protim-deori and openness to relocation.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12648" y="2843784"/>
            <a:ext cx="5330952" cy="1362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3522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2376" y="3200400"/>
            <a:ext cx="5129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 and relocation information from the existing portfolio resume.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08192" y="3273552"/>
            <a:ext cx="5458968" cy="148132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64992"/>
            <a:ext cx="5239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ALTERNATIVES / LIMITS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630168"/>
            <a:ext cx="5257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application; not endorsed by Inclusive Minds.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" y="4352544"/>
            <a:ext cx="533095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4443984"/>
            <a:ext cx="5111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" y="4709160"/>
            <a:ext cx="5129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S25: Portfolio resume data — [full clickable URL in source register]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Factual records · F01–F05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F01 · Supported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Inclusive Minds describes itself as INC-aligned and lists six work verticals. · S01 · About Us; Our Work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2026-10-08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F02 · Qualified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Employer Generalist post identifies Hyderabad on-site and experience in research, strategy, communication or project management. · S02 · Hiring post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2026-10-08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F03 · Supported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55 of 11 February 2026 reorganised CURE into GHMC, CMC and MMC with immediate effect. · S03,S04,S15 · GO 55 pp 1–2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2026-02-11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F04 · Supported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CMC comprises Serilingampally, Kukatpally and Qutbullapur zones; MMC comprises Malkajgiri, Uppal and L.B.Nagar zones. · S03 · GO 55 operative zone allocation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2026-02-11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F05 · Supported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GHMC comprises Shamshabad, Rajendernagar, Charminar, Golconda, Khairatabad and Secunderabad zones. · S03 · GO 55 operative zone allocation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2026-02-11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Factual records · F06–F10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F06 · Supported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HYDRAA describes its CURE-wide remit as disaster management and protection of government / public assets, under MAUD. · S05 · Mandate; Jurisdictional Coverage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2026-10-08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F07 · Supported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2023 Telangana Assembly seats won: INC 64; BRS 39; BJP 8; AIMIM 7; CPI 1. · S06 · WON column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2023 election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F08 · Blocked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selected Assembly seats AC 57–71,2023 winners were BRS 7, AIMIM 7, BJP 1, INC 0. · S07 · AC 57–71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2023 election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F09 · Blocked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Nampally, 2023: winner 62,185; runner-up 60,148; margin 2,037 votes. · S07 · PDF p 3; winner/runner-up table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2023 election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F10 · Blocked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Yakutpura, 2023: winner 46,153; runner-up 45,275; margin 878 votes. · S07 · PDF p 3; winner/runner-up table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2023 election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Factual records · F11–F15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F11 · Blocked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Chandrayangutta, 2023: winner 99,776; runner-up 18,116; margin 81,660 votes. · S07 · PDF p 3; winner/runner-up table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2023 election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F12 · Supported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Malkajgiri, 2024 Lok Sabha: Eatala Rajender (BJP) led with 991,042 votes; runner-up 599,567. · S08 · p 580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 election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F13 · Supported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Secunderabad, 2024 Lok Sabha: G.Kishan Reddy (BJP) led with 473,012 votes; runner-up 423,068. · S08 · p 581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 election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F14 · Supported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Hyderabad, 2024 Lok Sabha: Asaduddin Owaisi (AIMIM) led with 661,981 votes; runner-up 323,894. · S08 · p 583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 election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F15 · Supported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Chevella, 2024 Lok Sabha: Konda Vishweshwar Reddy (BJP) led with 809,882 votes; runner-up 636,985. · S08 · p 585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 election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Factual records · F16–F20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F16 · Blocked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Telangana Assembly as of 2 June 2014: TRS 63, INC 21, out of 119. · S16 · Printed 410/PDF 63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2014-06-02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F17 · Qualified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Contemporaneous 2018 reporting recorded TRS 88 and INC 19 Assembly seats. · S17,S18 · Updated results paragraphs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2018-12-12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F18 · Qualified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Published 2016 GHMC recap: TRS 99, AIMIM 44, BJP 4, INC 2, TDP 1. · S19,S20 · Numerical result paragraphs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2016 election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F19 · Qualified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Post-Neredmet 2020 reporting: TRS 56, BJP 48, AIMIM 44, INC 2. · S21,S22 · Results paragraphs; final Neredmet result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2020-12-10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F20 · Qualified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Congress candidate V. Naveen Yadav won the November 2025 Jubilee Hills by-election, according to Times Group reporting. · S23,S24 · Winner reports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2025-11-14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Factual records · F21–F25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F21 · Supported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2026–27 BE: H-CITY assistance to CURE ₹2,654 crore. · S09,S10 · S09 p.16, Table 10, row 32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2026–27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F22 · Supported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2026–27 BE: Musi Riverfront development ₹1,500 crore. · S09 · S09 p.16, Table 10, row 36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2026–27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F23 · Supported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2026–27 BE: loans to HMWSSB for development ₹1,450 crore. · S09 · S09 p.16, Table 10, row 38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2026–27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F24 · Supported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2026–27 BE: Metro Rail Phase II ₹600 crore. · S09 · S09 p.17, Table 10, row 50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2026–27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F25 · Supported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2026–27 BE: loans to HMRL ₹500 crore. · S09 · S09 p.17, Table 10, row 57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2026–27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Factual records · F26–F30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F26 · Supported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2026–27 BE: 20 KL free-water reimbursement to HMWSSB ₹300 crore. · S09 · S09 p.17, Table 10, row 69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2026–27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F27 · Supported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capital expenditure: 2025–26 RE ₹36,480.87 crore; 2026–27 BE ₹47,267.28 crore. · S09,S10 · S09 p.4, row VII, RE/BE columns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2025–26 RE and 2026–27 BE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F28 · Supported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Nominal state capex BE/RE increase is 29.57%, rounded 29.6%. · S09 · Derived from F27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2026–27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F29 · Supported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2026–27 BE: Indiramma Houses ₹5,500 crore; Mahalaxmi RTC ₹4,305 crore; Rajiv Aarogya Sri ₹1,143 crore. · S09 · S09 p.15, Table 10, row 3/4/7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2026–27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F30 · Supported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MRDCL describes Musi vision in terms of ecological restoration, sewage interception/treatment, floodplain zones and mobility/livelihoods. · S11 · Vision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2026-10-08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Factual records · F31–F35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31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F31 · Supported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the 13 March 2026 Musi conference, the CM addressed compensation and livelihood concerns associated with relocation. · S12 · English compensation/livelihood paragraphs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2026-03-13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F32 · Qualified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investment portal identifies Genome Valley at Shamirpet and electronics manufacturing clusters. · S14 · Industrial-parks section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2026-10-08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F33 · Supported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BuildNow lists GO 68 dated 12 March 2025 for expansion of HMR and GO 69 for FCDA. · S04 · GO 68/69 entries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2025-03-12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F34 · Qualified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resume lists MBA, IIM Shillong, 2023–25; Consultant Marketing and Strategy at Nation With Namo, May 2025–Apr 2026. · S25 · Education/workExperience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CV periods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F35 · Qualified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resume reports introducing an evidence-based review system for a seven-person political-intelligence team. · S25 · workExperience bullet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2025–26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Factual records · F36–F41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32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6903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F36 · Qualified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resume reports modelling Meghalaya PDS and analysing 4,500+government records. · S25 · Projects, Jul–Sep 2024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546604"/>
            <a:ext cx="10890504" cy="6903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61975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F37 · Qualified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61061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resume lists manashdeori09@gmail.com, LinkedIn/manash-protim-deori and openness to relocation. · S25 · Header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2026-10-08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300984"/>
            <a:ext cx="10890504" cy="6903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37413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F38 · Qualified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36499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Congress won the 2024 Secunderabad Cantonment by-election, according to reporting. · S27 · Opening paragraph; reported result 4 June 2024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2024-06-04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55364"/>
            <a:ext cx="10890504" cy="6903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12851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F39 · Qualified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11937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PRS reports 2024–25 state revenue receipts 24% below BE. · S10 · Table 11, Revenue Receipts row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2024–25 BE to actual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809744"/>
            <a:ext cx="10890504" cy="6903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88289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F40 · Qualified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487375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PRS reports 2024–25 urban-development actuals 56% below BE. · S10 · Table 14, Urban Development row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2024–25 BE to actual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564124"/>
            <a:ext cx="10890504" cy="690372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" y="5637276"/>
            <a:ext cx="315824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F41 · Qualified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907231" y="5628132"/>
            <a:ext cx="7296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PRS reports 2024–25 transport actuals 33% below BE. · S10 · Table 14, Transport row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2024–25 BE to actual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ATTRIBUTION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Sources · S01–S03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33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0936" y="1728216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8288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S01 · About us and six work verticals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2157984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Inclusive Minds · Undated; retrieved 2026-10-08 · About Us; Our Work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32104" y="2441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https://www.inclusiveminds.in/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" y="2734056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Self-description; not independent evidence of effectiveness.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" y="3209544"/>
            <a:ext cx="10899648" cy="12984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31012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S02 · Generalist hiring post: Hyderabad, on-site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" y="3639312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Inclusive Minds · Undated public post · Employer-authored post text</a:t>
            </a:r>
            <a:endParaRPr lang="en-US" sz="11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832104" y="39227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https://www.linkedin.com/posts/inclusive-minds-ind_hiring-generalist-politicalconsulting-activity-7495111990261252096-TM4l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" y="4215384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vacancy supplied by applicant is absent; current acceptance of applications not confirmed.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" y="4690872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791456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S03 · G.O.Ms.No.55: CURE reorganisation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" y="512064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Government of Telangana, MAUD · 2026-02-11 · PDF pp.1–2; operative paragraphs 2–3</a:t>
            </a:r>
            <a:endParaRPr lang="en-US" sz="1100" dirty="0"/>
          </a:p>
        </p:txBody>
      </p:sp>
      <p:sp>
        <p:nvSpPr>
          <p:cNvPr id="19" name="Text 17">
            <a:hlinkClick r:id="rId3" tooltip=""/>
          </p:cNvPr>
          <p:cNvSpPr/>
          <p:nvPr/>
        </p:nvSpPr>
        <p:spPr>
          <a:xfrm>
            <a:off x="832104" y="54041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https://tg-bn-website-assets.flowwlabs.tech/GOs-and-ACTs/GO.Ms.No.55_11-02-2026.pdf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" y="5696712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through the official BuildNow listing S04. Boundary allocation is by zone; this deck supplies no GIS polygons.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ATTRIBUTION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Sources · S04–S06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34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0936" y="1728216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8288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S04 · Government Orders and Acts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2157984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Government of Telangana, BuildNow · Orders dated 2025–2026 · GO 55, GO 45, GO 16, GO 68 and GO 69 entries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32104" y="2441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https://buildnow.telangana.gov.in/go-and-act/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" y="2734056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Listing proves instrument/date only; unread instruments are not treated as proof of full legal effect.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" y="3209544"/>
            <a:ext cx="10899648" cy="12984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31012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S05 · About the Agency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" y="3639312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HYDRAA, Government of Telangana · Undated current page · About HYDRAA; Jurisdictional Coverage; Functional Wings</a:t>
            </a:r>
            <a:endParaRPr lang="en-US" sz="11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832104" y="39227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https://hydraa.telangana.gov.in/about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" y="4215384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Mandate description is not evidence of case-specific legality, environmental outcomes or public approval.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" y="4690872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791456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S06 · Performance of Political Parties: Telangana 2023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" y="512064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Election Commission of India · 2023 Assembly election; report undated · Performance of Political Parties, printed p.1, WON column</a:t>
            </a:r>
            <a:endParaRPr lang="en-US" sz="1100" dirty="0"/>
          </a:p>
        </p:txBody>
      </p:sp>
      <p:sp>
        <p:nvSpPr>
          <p:cNvPr id="19" name="Text 17">
            <a:hlinkClick r:id="rId3" tooltip=""/>
          </p:cNvPr>
          <p:cNvSpPr/>
          <p:nvPr/>
        </p:nvSpPr>
        <p:spPr>
          <a:xfrm>
            <a:off x="832104" y="54041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https://www.eci.gov.in/eci-backend/public/all_files/full-statistical-reports/telangana/2023/Performance_of_Political_Parties.pdf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" y="5696712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Historical election-time affiliation; BHRS normalised to BRS for presentation.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ATTRIBUTION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Sources · S07–S09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35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0936" y="1728216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8288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S07 · List of Successful Candidates: Telangana 2023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2157984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Election Commission of India · 2023 Assembly election; report undated · PDF pp.2–3; AC 57–71 and winner/runner-up columns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32104" y="2441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https://www.eci.gov.in/eci-backend/public/all_files/full-statistical-reports/telangana/2023/List_of_Successful_Candidates.pdf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" y="2734056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57–71 is an explicitly selected 15-seat study set, not the entire metropolis or current municipal footprint. Fresh target rows were inaccessible in the ten-round review. Retain as pending primary recheck.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" y="3209544"/>
            <a:ext cx="10899648" cy="12984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31012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S08 · Constituency-wise Detailed Results: 2024 Lok Sabha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" y="3639312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Election Commission of India · 2024 Lok Sabha election; report undated · Printed pp.580,581,583,585; four selected PCs</a:t>
            </a:r>
            <a:endParaRPr lang="en-US" sz="11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832104" y="39227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https://www.eci.gov.in/eci-backend/public/all_files/GE-2024-statistical-report/33-Constituency-Wise-Detailed-Result.pdf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" y="4215384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selected constituencies have different boundaries from AC 57–71. No aggregate metropolitan vote share calculated.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" y="4690872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791456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S09 · Budget in Brief: 2026–27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" y="512064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Government of Telangana, Finance Department · 2026–27 budget; posted May 2026 · Printed p.4: VII Capital Expenditure; printed pp.15–17: Major Schemes Budget Allocation</a:t>
            </a:r>
            <a:endParaRPr lang="en-US" sz="1100" dirty="0"/>
          </a:p>
        </p:txBody>
      </p:sp>
      <p:sp>
        <p:nvSpPr>
          <p:cNvPr id="19" name="Text 17">
            <a:hlinkClick r:id="rId3" tooltip=""/>
          </p:cNvPr>
          <p:cNvSpPr/>
          <p:nvPr/>
        </p:nvSpPr>
        <p:spPr>
          <a:xfrm>
            <a:off x="832104" y="54041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https://www.telangana.gov.in/wp-content/uploads/2026/05/Budget-in-Brief.pdf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" y="5696712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BE=budget estimate; RE=revised estimate. Allocation does not prove sanction, release, expenditure or delivery.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ATTRIBUTION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Sources · S10–S12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0936" y="1728216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8288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S10 · Telangana Budget Analysis 2026–27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2157984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PRS Legislative Research · 2026–27 budget analysis · Fiscal summary; Table 11 revenue receipts and Table 14 sector BE-to-actual comparison, 2024–25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32104" y="2441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https://prsindia.org/budgets/states/telangana-budget-analysis-2026-27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" y="2734056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analytical scrutiny, but budget totals share upstream state documents. PRS net expenditure definition differs from headline gross budget.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" y="3209544"/>
            <a:ext cx="10899648" cy="12984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31012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S11 · Vision / Mission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" y="3639312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Musi Riverfront Development Corporation · Undated; current page · Vision paragraphs</a:t>
            </a:r>
            <a:endParaRPr lang="en-US" sz="11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832104" y="39227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https://musi.telangana.gov.in/VisionMusi.aspx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" y="4215384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Objectives only. Its promised sustainability outcomes are not independently verified achievements.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" y="4690872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791456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S12 · Musi Invites: Phase I presentation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" y="512064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Government of Telangana, TG Digital Media · Event 2026-03-13; page 2026-03-16 · English text: compensation and livelihood concerns; concluding presentation description</a:t>
            </a:r>
            <a:endParaRPr lang="en-US" sz="1100" dirty="0"/>
          </a:p>
        </p:txBody>
      </p:sp>
      <p:sp>
        <p:nvSpPr>
          <p:cNvPr id="19" name="Text 17">
            <a:hlinkClick r:id="rId3" tooltip=""/>
          </p:cNvPr>
          <p:cNvSpPr/>
          <p:nvPr/>
        </p:nvSpPr>
        <p:spPr>
          <a:xfrm>
            <a:off x="832104" y="54041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https://www.telangana.gov.in/news/press-releases/2026/03/honble-cm-sri-a-revanth-reddy-participated-in-musi-invites-a-presentation-on-musi-river-rejuvenation-phase-i-by-mrdcl-in-hyderabad/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" y="5696712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statements demonstrate stated commitments and acknowledged concerns; household counts and cost forecasts excluded.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ATTRIBUTION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Sources · S13–S15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37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0936" y="1728216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8288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S13 · Musi project tenders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2157984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MRDCL · Listing dates vary · Tender listings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32104" y="2441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https://musi.telangana.gov.in/Tenders.aspx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" y="2734056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source only; not used to assert current award, construction or completion status.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" y="3209544"/>
            <a:ext cx="10899648" cy="12984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31012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S14 · Invest Telangana portal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" y="3639312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Government of Telangana investment portal · Undated; current page · Industrial parks; Genome Valley at Shamirpet; electronics clusters</a:t>
            </a:r>
            <a:endParaRPr lang="en-US" sz="11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832104" y="39227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https://invest.telangana.gov.in/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" y="4215384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source used for cluster identification only. Export, GDP and jobs claims are not ingested.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" y="4690872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791456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S15 · Moosarambagh bridge event and corporation logos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" y="512064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Government of Telangana, TG Digital Media · Event 2026-08-31; page 2026-09-01 · English text, paragraph on three corporation logos</a:t>
            </a:r>
            <a:endParaRPr lang="en-US" sz="1100" dirty="0"/>
          </a:p>
        </p:txBody>
      </p:sp>
      <p:sp>
        <p:nvSpPr>
          <p:cNvPr id="19" name="Text 17">
            <a:hlinkClick r:id="rId3" tooltip=""/>
          </p:cNvPr>
          <p:cNvSpPr/>
          <p:nvPr/>
        </p:nvSpPr>
        <p:spPr>
          <a:xfrm>
            <a:off x="832104" y="54041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https://www.telangana.gov.in/news/press-releases/2026/08/honble-cm-sri-a-revanth-reddy-addresses-the-public-meeting-at-ghmc-sports-stadium-amberpet-hyderabad-following-the-inauguration-of-the-moosarambagh-high-level-bridge/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" y="5696712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corroboration of the three corporation names; not independent of state government.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ATTRIBUTION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Sources · S16–S18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0936" y="1728216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8288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S16 · Journal of Parliamentary Information, September 2014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2157984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Lok Sabha Secretariat · 2014-09; reference 2014-06-02 · Printed p.410 / PDF p.63; first Telangana Assembly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32104" y="2441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https://eparlib.sansad.in/bitstream/123456789/58523/1/JPI_September_2014.pdf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" y="2734056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Assembly party position as of 2 June 2014; not current legislative strength. Relevant passage could not be freshly read in the ten-round review.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" y="3209544"/>
            <a:ext cx="10899648" cy="12984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31012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S17 · Telangana Assembly polls: TRS wins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" y="3639312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Scroll · 2018-12-12 · Updated article paragraph below party table</a:t>
            </a:r>
            <a:endParaRPr lang="en-US" sz="11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832104" y="39227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https://scroll.in/latest/905254/telangana-assembly-polls-counting-of-votes-in-three-way-contest-set-to-begin-at-8-am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" y="4215384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2018 TRS 88/INC 19 historical context only. Table total has an internal leading-seat inconsistency; full statewide reconstruction not used.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" y="4690872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791456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S18 · 2018 Telangana complete winners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" y="512064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Times of India · 2018-12-12 · Opening results paragraph</a:t>
            </a:r>
            <a:endParaRPr lang="en-US" sz="1100" dirty="0"/>
          </a:p>
        </p:txBody>
      </p:sp>
      <p:sp>
        <p:nvSpPr>
          <p:cNvPr id="19" name="Text 17">
            <a:hlinkClick r:id="rId3" tooltip=""/>
          </p:cNvPr>
          <p:cNvSpPr/>
          <p:nvPr/>
        </p:nvSpPr>
        <p:spPr>
          <a:xfrm>
            <a:off x="832104" y="54041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https://timesofindia.indiatimes.com/city/hyderabad/telangana-election-results-2018-complete-list-of-winning-candidates-in-telangana/articleshow/67055845.cms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" y="5696712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Corroborates S17; not an independent official election record.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ATTRIBUTION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Sources · S19–S21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39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0936" y="1728216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8288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S19 · Hyderabad civic body voting: 2016 recap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2157984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NDTV, Uma Sudhir · 2020-12-01 · Paragraph beginning A total of 1,122 candidates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32104" y="2441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https://www.ndtv.com/telangana-news/after-a-bitter-campaign-voting-begins-for-hyderabad-civic-body-polls-2332363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" y="2734056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2016 historical seat table is reported, not a newly ingested TSEC dataset.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" y="3209544"/>
            <a:ext cx="10899648" cy="12984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31012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S20 · GHMC 2016 result report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" y="3639312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PTI / The New Indian Express · 2016-02-06 · Results paragraphs: 99/150; Congress 2; TDP 1/BJP 4; MIM 44</a:t>
            </a:r>
            <a:endParaRPr lang="en-US" sz="11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832104" y="39227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https://www.newindianexpress.com/amp/story/cities/hyderabad/2016/Feb/06/ghmc-polls-sops-for-poor-seemandhra-candidates-key-in-trs-win-889293.html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" y="4215384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numerical result used; causal claims about communities in the article are excluded.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" y="4690872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791456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S21 · Week after GHMC results: mayor question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" y="512064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Indian Express, Rahul V Pisharody · 2020-12-14 · Results paragraphs: TRS 56, AIMIM 44, BJP 48</a:t>
            </a:r>
            <a:endParaRPr lang="en-US" sz="1100" dirty="0"/>
          </a:p>
        </p:txBody>
      </p:sp>
      <p:sp>
        <p:nvSpPr>
          <p:cNvPr id="19" name="Text 17">
            <a:hlinkClick r:id="rId3" tooltip=""/>
          </p:cNvPr>
          <p:cNvSpPr/>
          <p:nvPr/>
        </p:nvSpPr>
        <p:spPr>
          <a:xfrm>
            <a:off x="832104" y="54041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https://indianexpress.com/article/cities/hyderabad/ghmc-results-hyderabad-mayor-7104860/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" y="5696712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Historical council only. Article dated after Neredmet result; legal rules in 2020 not assumed current.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ATTRIBUTION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Sources · S22–S24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40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0936" y="1728216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8288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S22 · Neredmet final result takes TRS tally to 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2157984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Tribune, Naveen S Garewal · 2020-12-11 · Final paragraph: 56,48,44,2; Neredmet timing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32104" y="2441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https://www.tribuneindia.com/news/nation/trs-wins-neredmet-ghmc-division-takes-its-tally-to-56-182436/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" y="2734056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Reconciles earlier incomplete tally 55. Direct current TSEC table was inaccessible in this run.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" y="3209544"/>
            <a:ext cx="10899648" cy="12984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31012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S23 · Jubilee Hills bypoll result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" y="3639312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Economic Times · 2025-11-14 · Winner report</a:t>
            </a:r>
            <a:endParaRPr lang="en-US" sz="11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832104" y="39227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https://m.economictimes.com/news/politics-and-nation/jubilee-hills-bypoll-result-2025-in-l-deepak-reddy-vs-sunita-vs-naveen-yadav-check-who-is-winning/articleshow/125315450.cms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" y="4215384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Winner only used. Vote totals conflict with another live report and are excluded. Shares corporate lineage with S24. Count as one reporting lineage.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" y="4690872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791456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S24 · Jubilee Hills bypoll winner live report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" y="512064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Times of India · 2025-11-14 · 13:18 IST winner update</a:t>
            </a:r>
            <a:endParaRPr lang="en-US" sz="1100" dirty="0"/>
          </a:p>
        </p:txBody>
      </p:sp>
      <p:sp>
        <p:nvSpPr>
          <p:cNvPr id="19" name="Text 17">
            <a:hlinkClick r:id="rId3" tooltip=""/>
          </p:cNvPr>
          <p:cNvSpPr/>
          <p:nvPr/>
        </p:nvSpPr>
        <p:spPr>
          <a:xfrm>
            <a:off x="832104" y="54041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https://timesofindia.indiatimes.com/city/hyderabad/assembly-bypoll-result-2025-live-updates-by-election-results-jubilee-hills-budgam-nagrota-anta-ghatshila-tarn-taran-dampa-nuapada/liveblog/125313066.cms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" y="5696712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corporate group as S23. Winner supported as reporting, not two independent confirmations. Official final Form 20 pending.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ATTRIBUTION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Sources · S25–S27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41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0936" y="1728216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8288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S25 · Portfolio resume data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2157984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Manash Protim Deori · Repository read 2026-10-08 · workExperience, projects, education and header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32104" y="2441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https://github.com/ManashProtimDeori/Manash-Protim-Deori/blob/c5ab9d8ac00c9180b880fa50f3e5f99682e1dac1/src/data/resume.ts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" y="2734056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Owner-controlled resume, not independent verification. No claim to Telugu/Urdu fluency, Hyderabad fieldwork or hiring endorsement.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" y="3209544"/>
            <a:ext cx="10899648" cy="12984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31012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S26 · 2024 Secunderabad Cantonment by-election records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" y="3639312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Chief Electoral Officer Telangana · 2024 by-election records · By-election index: result declaration and Form 20 links</a:t>
            </a:r>
            <a:endParaRPr lang="en-US" sz="11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832104" y="39227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https://ceotelangana.nic.in/BYE_GE_2024.html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" y="4215384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 read. Linked result declaration/Form 20 could not be retrieved. The index is not used to verify an unread result.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" y="4690872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791456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S27 · Congress wins Secunderabad Cantonment by-election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" y="512064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Indian Express · 2024-06-05 · Opening paragraph: Congress win; result event 4 June 2024</a:t>
            </a:r>
            <a:endParaRPr lang="en-US" sz="1100" dirty="0"/>
          </a:p>
        </p:txBody>
      </p:sp>
      <p:sp>
        <p:nvSpPr>
          <p:cNvPr id="19" name="Text 17">
            <a:hlinkClick r:id="rId3" tooltip=""/>
          </p:cNvPr>
          <p:cNvSpPr/>
          <p:nvPr/>
        </p:nvSpPr>
        <p:spPr>
          <a:xfrm>
            <a:off x="832104" y="54041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https://www.newindianexpress.com/states/telangana/2024/Jun/05/congress-wins-byelection-to-secunderabad-cantonment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" y="5696712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Winner/event only. Vote totals and current party strength are not adopted. Official declaration remains pending.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ATTRIBUTION REGISTER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Sources · S28–S30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42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0936" y="1728216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8288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S28 · 2025 Jubilee Hills by-election records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2157984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Chief Electoral Officer Telangana · 2025 by-election records · Index: State Gazette Form 21-D declaration link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32104" y="2441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https://ceotelangana.nic.in/BYE_GE_2025.HTML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" y="2734056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 read. Linked declaration PDF unavailable. No unread document content or disputed final vote total is adopted.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" y="3209544"/>
            <a:ext cx="10899648" cy="12984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331012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S29 · Quality in qualitative evaluation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" y="3639312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 Treasury / GOV.UK · 2003 framework; current HTML edition retrieved 2026-10-08 · Framework questions 7–8: sample selection/coverage; question 18: auditability</a:t>
            </a:r>
            <a:endParaRPr lang="en-US" sz="11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832104" y="39227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https://www.gov.uk/government/publications/the-magenta-book/quality-in-qualitative-evaluation-qqe-html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" y="4215384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research-design checks. Does not prescribe 5–8 interviews or validate this proposed Hyderabad pilot.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" y="4690872"/>
            <a:ext cx="1089964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791456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S30 · Magenta Book: evaluation guidance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" y="512064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 Treasury / GOV.UK · 2026 edition · Quality principles; theory of change and evaluation-design sections</a:t>
            </a:r>
            <a:endParaRPr lang="en-US" sz="1100" dirty="0"/>
          </a:p>
        </p:txBody>
      </p:sp>
      <p:sp>
        <p:nvSpPr>
          <p:cNvPr id="19" name="Text 17">
            <a:hlinkClick r:id="rId3" tooltip=""/>
          </p:cNvPr>
          <p:cNvSpPr/>
          <p:nvPr/>
        </p:nvSpPr>
        <p:spPr>
          <a:xfrm>
            <a:off x="832104" y="54041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4E82A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https://www.gov.uk/government/publications/the-magenta-book/magenta-book-central-government-guidance-on-evaluation-html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" y="5696712"/>
            <a:ext cx="10415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evaluation design, uncertainty and comparison. Local workload, outputs and future effectiveness remain untested.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 CONTENT VERSIONS, NOT FRESH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Historical self-review · 01–05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43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v01 · Scope, vacancy and candidate inputs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Created 32-slide full draft, candidate inputs, research cut-off and unresolved vacancy register.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v02 · Geography and institutional definitions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Installed GO 55 zone allocations and separated electoral, municipal and planning units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v03 · Source collection and provenance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Added five-gate method, source hierarchy, source-lineage disclosure and source accessibility limitations.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v04 · Election data integrity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Inserted historical civic table, primary Assembly study-set count and four separate parliamentary records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v05 · Historical context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Added selective 2014/2018/2020/2023/2026 timeline, labelled reported legacy context and avoided voter-transfer claims.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 CONTENT VERSIONS, NOT FRESH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Historical self-review · 06–10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44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v06 · Current actors and legal status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Replaced current-strength implications with election-time affiliation and reported 2025 winner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v07 · Governance and responsibility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Mapped documented agency roles and inserted coordination scaffold without asserting proven institutional failure.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v08 · Political economy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Added cluster/access distinction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v09 · Public services and fiscal evidence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Inserted actual BE/RE amounts, separate transport instruments, statewide welfare scope and plan-to-revised-plan capex arithmetic.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v10 · Live policy case studies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Added Musi and HYDRAA briefs with objective/commitment/mandate distinctions</a:t>
            </a:r>
            <a:endParaRPr lang="en-US" sz="12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 CONTENT VERSIONS, NOT FRESH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Historical self-review · 11–15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45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v11 · Causality and competing explanations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 causal overreach across deck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v12 · Media, language and qualitative evidence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Added source/translation/representativeness discipline and known/disputed/unknown queue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v13 · Recommendation feasibility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Produced budget tracker baseline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v14 · Immediate candidate contribution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Audited every major finding/proposal for adjacent contribution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v15 · CV truthfulness and role fit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Added role fit and self-reportedCV evidence</a:t>
            </a:r>
            <a:endParaRPr lang="en-US" sz="12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 CONTENT VERSIONS, NOT FRESH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Historical self-review · 16–20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46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v16 · 30/60/90-day realism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Added sequential 30/60/90-day outputs and resource assumptions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v17 · Narrative and executive compression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 operating system and closing proposition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v18 · Adversarial review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Adversarially reviewed conflicting bypoll totals, 2020 incomplete tally, H-CITY label and boundary selection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v19 · Full traceability and five-gate closure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Closed all substantive-ID mappings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v20 · Final currency and presentation readiness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Refreshed source snapshot/date boundaries, verified final sequence and all 32 main slides, retained residual uncertainties and released contentv 20.</a:t>
            </a:r>
            <a:endParaRPr lang="en-US" sz="12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LIMITS ON RELEASED CLAIMS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qualifications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47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Fresh source gaps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F08–F11 and F16 remain blocked. Retained historical inputs cannot be called freshly verified.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By-election status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Cantonment 2024 and Jubilee 2025 wins are reported. Official declarations / final Form 20 still pending.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lineage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ET/TOI share Times Group. PRS/state budget figures share upstream state documents.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 scope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margins, 15 selected ACs and six selected budget lines do not cover the full party, metropolis or CURE budget.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experience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CV remains self-report. Local fluency, networks and independently audited impact are unclaimed.</a:t>
            </a:r>
            <a:endParaRPr lang="en-US" sz="12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LIMITS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Pilot assumptions and acceptance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48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 capacity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one brief. Log sourcing/review effort before agreeing quantities within the proposed 10-hour weekly envelope.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Interview coverage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5–8 is exploratory and conditional. Explain purposive inclusion, missing voices, language review and stopping rule.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denominator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Unsupported claims / audited claims; closed / logged corrections. Keep newly detected errors visible.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Comparable turnaround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 scope and review depth before comparing brief time. A lower raw correction count does not prove improvement.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fallback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reviewer and permitted records first. If unavailable, narrow the brief and retain precise unanswered questions.</a:t>
            </a:r>
            <a:endParaRPr lang="en-US" sz="12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26517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58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RECORD REQUESTS AND EXPIRY RULES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22376"/>
            <a:ext cx="109636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25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refresh queue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6072" y="1517904"/>
            <a:ext cx="11009376" cy="0"/>
          </a:xfrm>
          <a:prstGeom prst="line">
            <a:avLst/>
          </a:prstGeom>
          <a:noFill/>
          <a:ln w="12700">
            <a:solidFill>
              <a:srgbClr val="D6DB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6592824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261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49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65376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Hiring manager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07231" y="1856232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requisition/open status and first work product. Confirm before operational use.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770632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ECI / CEO / Lok Sabha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07231" y="2761488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F08–F11 election rows; F16 passage from Lok Sabha Secretariat. Final 2024 Cantonment and 2025 Jubilee declaration/Form 20 before numerical reuse.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675888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TSEC / corporations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07231" y="3666744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poll notification, ward polygons, officeholder/legal roster. Refresh whenever a new order or schedule appears.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07992"/>
            <a:ext cx="10890504" cy="841248"/>
          </a:xfrm>
          <a:prstGeom prst="rect">
            <a:avLst/>
          </a:prstGeom>
          <a:solidFill>
            <a:srgbClr val="EEF2E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581144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Scheme agencies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7231" y="4572000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Sanction, award, release, spend, completion and safeguards. Update after every new document or reporting period.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413248"/>
            <a:ext cx="1089050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5486400"/>
            <a:ext cx="3158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63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lead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7231" y="5477256"/>
            <a:ext cx="72966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5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question, permissions, language support, reviewer and pilot acceptance before fieldwork or output commitments.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Hyderabad: Political Dynamics, Governance &amp; Public Value</dc:title>
  <dc:subject>Independent application work sample</dc:subject>
  <dc:creator>Manash Protim Deori</dc:creator>
  <cp:lastModifiedBy>Manash Protim Deori</cp:lastModifiedBy>
  <cp:revision>1</cp:revision>
  <dcterms:created xsi:type="dcterms:W3CDTF">2026-10-09T05:30:10Z</dcterms:created>
  <dcterms:modified xsi:type="dcterms:W3CDTF">2026-10-09T05:30:10Z</dcterms:modified>
</cp:coreProperties>
</file>