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notesMasterIdLst>
    <p:notesMasterId r:id="rId4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would open by framing the deck as a working perspective, not a finished answer.,The first signal I want to send is that I understand communications as an operating system around citizen understanding and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 see: public communication here is a service-delivery layer,I would judge communication by whether information becomes understandable, actionable and answerable - not simply whether it was published.,C16 SYNTHESIS: I conclude that effective public communication in Meghalaya is best designed as an access-and-feedback system, not only a content-production function.,S01: https://des.megplanning.gov.in/portal.htm | n/a,S02: https://meghalaya.gov.in/sites/default/files/tenders/RFP_for_Selection_of_Agency_for_Grassroot_Citizen_Engagement_Program.pdf | pp. 4 and 23 of 40,S03: https://mymeg.meghalaya.gov.in/highlights/ | n/a,S04: https://www.meghalaya.gov.in/meghalaya/sites/default/files/press_release/78th_Independence_Day_2024_HCM_Speech.pdf | printed p. 9,S05: https://homepolitical.meghalaya.gov.in/pdf/acts/meghalaya_language_act-2005.pdf | PDF p. 2 / Gazette p. 364,S06: https://meghalaya.gov.in/sites/default/files/documents/Meghalaya_Youth_Policy_2021_0.pdf | printed pp. 6 and 8,S07: https://www.trai.gov.in/sites/default/files/2025-07/YIR_08072025_0.pdf | report p. 67 / PDF p. 68,S08: https://meghalaya.gov.in/index.php/dept/25 | n/a,S09: https://meghalaya.gov.in/meghalaya/sites/default/files/documents/MPOWER_Draft_ESCP_22_Jan_2024.pdf | printed p. 6,S10: https://meghalaya.gov.in/index.php/documents/content/46179 | n/a,S11: https://www.niti.gov.in/node/1708 | report available from source page,S12: https://www.meghalaya.gov.in/documents/content/46466 | n/a,Logic: Across demographics, last-mile RFP design, MyMeG, service access, language, youth segmentation, telecom, DIPR and stakeholder standards, the common requirement is to move information into understanding, action and feedback.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 see in the operating context: distance, rurality and administrative spread shape communication design,I would design for the whole state, not let a Shillong-centric content model stand in for Meghalaya.,C01 FACT: Meghalaya had 2,966,889 people in the 2011 Census base used by the state DES portal: 2,371,439 rural and 595,450 urban.,S01: https://des.megplanning.gov.in/portal.htm | n/a,Logic: I use this only as a dated structural baseline, not as a current population estimate.,C02 DERIVED FACT: The 2011 DES figures imply that 79.9% of Meghalaya's population was rural.,S01: https://des.megplanning.gov.in/portal.htm | n/a,Logic: 2,371,439 / 2,966,889 = 79.93%. This supports designing beyond urban social-media audiences.,C03 FACT: The DES portal lists 12 districts (2022) and 55 C&amp;RD blocks (2022).,S01: https://des.megplanning.gov.in/portal.htm | n/a,Logic: Administrative spread makes repeatable district/block communication kits more useful than a Shillong-only content model.,C07 FACT: In the 2024 Independence Day speech, the Chief Minister explicitly linked terrain and distance to difficulty accessing government services and described CM-CONNECT as a response.,S04: https://www.meghalaya.gov.in/meghalaya/sites/default/files/press_release/78th_Independence_Day_2024_HCM_Speech.pdf | printed p. 9,Logic: The communication architecture should reduce distance through channel redundancy, field touchpoints and clear escalation paths.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would design for digital reach - without assuming digital uniformity,Digital is essential, but the rural-urban subscription gap and formal field-publicity channels argue for deliberate channel redundancy.,C11 FACT: TRAI reported 2.08 million internet subscriptions in Meghalaya at March 2025, equal to 61.08 subscriptions per 100 population.,S07: https://www.trai.gov.in/sites/default/files/2025-07/YIR_08072025_0.pdf | report p. 67 / PDF p. 68,Logic: Digital channels are material to reach, but subscription density is not the same as unique people reached.,C12 FACT: TRAI reported 49.45 internet subscriptions per 100 rural population versus 105.53 per 100 urban population in Meghalaya at March 2025.,S07: https://www.trai.gov.in/sites/default/files/2025-07/YIR_08072025_0.pdf | report p. 67 / PDF p. 68,Logic: The gap argues for digital-plus-field distribution; urban figures above 100 also warn against reading subscription density as population penetration.,C14 FACT: DIPR also describes periodic Special Interactive Programmes across districts and sub-divisions for one-to-one citizen interaction with department officials.,S08: https://meghalaya.gov.in/index.php/dept/25 | n/a,Logic: Face-to-face feedback and explanation remain part of the state's communication infrastructure.,C17 RECOMMENDATION: I would use a digital-plus-field channel architecture instead of a digital-only plan.,S01: https://des.megplanning.gov.in/portal.htm | n/a,S02: https://meghalaya.gov.in/sites/default/files/tenders/RFP_for_Selection_of_Agency_for_Grassroot_Citizen_Engagement_Program.pdf | pp. 4 and 23 of 40,S04: https://www.meghalaya.gov.in/meghalaya/sites/default/files/press_release/78th_Independence_Day_2024_HCM_Speech.pdf | printed p. 9,S07: https://www.trai.gov.in/sites/default/files/2025-07/YIR_08072025_0.pdf | report p. 67 / PDF p. 68,S08: https://meghalaya.gov.in/index.php/dept/25 | n/a,Logic: High rural share, explicit terrain/access barriers, rural-urban internet-density difference, and formal field publicity all point to complementary channels.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would localise meaning, not just translate words,Language matters; so do the example, messenger, context and call-to-action that make a message usable.,C05 FACT: The same RFP specified village-level audience frameworks, communication in local languages and collection of citizen feedback/grievances.,S02: https://meghalaya.gov.in/sites/default/files/tenders/RFP_for_Selection_of_Agency_for_Grassroot_Citizen_Engagement_Program.pdf | pp. 4 and 23 of 40,Logic: Localisation and feedback are explicit operating requirements in a real Meghalaya citizen-engagement mandate.,C09 FACT: The Meghalaya State Language Act continues English as the official language and permits Khasi and Garo as associate official languages in specified district-level contexts.,S05: https://homepolitical.meghalaya.gov.in/pdf/acts/meghalaya_language_act-2005.pdf | PDF p. 2 / Gazette p. 364,Logic: I would treat localisation as audience/context design, with language as one layer rather than a mechanical translation step.,C18 RECOMMENDATION: I would localise meaning - language, example, call-to-action and messenger - rather than translate one master asset word-for-word.,S02: https://meghalaya.gov.in/sites/default/files/tenders/RFP_for_Selection_of_Agency_for_Grassroot_Citizen_Engagement_Program.pdf | pp. 4 and 23 of 40,S05: https://homepolitical.meghalaya.gov.in/pdf/acts/meghalaya_language_act-2005.pdf | PDF p. 2 / Gazette p. 364,S06: https://meghalaya.gov.in/sites/default/files/documents/Meghalaya_Youth_Policy_2021_0.pdf | printed pp. 6 and 8,S09: https://meghalaya.gov.in/meghalaya/sites/default/files/documents/MPOWER_Draft_ESCP_22_Jan_2024.pdf | printed p. 6,Logic: Local-language requirements coexist with heterogeneous audience needs and culturally appropriate engagement standards.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would design for young audiences without treating youth as one audience,A youth-heavy state can still contain very different needs, contexts and information behaviours.,C10 FACT: The 2021 Youth Policy estimated that more than 70% of Meghalaya's population was under 35 and also warned that youth are not a homogeneous group.,S06: https://meghalaya.gov.in/sites/default/files/documents/Meghalaya_Youth_Policy_2021_0.pdf | printed pp. 6 and 8,Logic: Youth relevance is high, but segmentation by life situation, rural/urban context and needs matters more than generic youth tone.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would turn every announcement into a citizen journey,My goal would be to move from awareness to comprehension, action, support, feedback and - where relevant - resolution.,C04 FACT: A 2022 Government RFP described connectivity and rural awareness as barriers to last-mile scheme uptake and called for grass-root Behaviour Change Communication.,S02: https://meghalaya.gov.in/sites/default/files/tenders/RFP_for_Selection_of_Agency_for_Grassroot_Citizen_Engagement_Program.pdf | pp. 4 and 23 of 40,Logic: This is direct evidence that awareness alone is insufficient; communication must help people convert information into action.,C05 FACT: The same RFP specified village-level audience frameworks, communication in local languages and collection of citizen feedback/grievances.,S02: https://meghalaya.gov.in/sites/default/files/tenders/RFP_for_Selection_of_Agency_for_Grassroot_Citizen_Engagement_Program.pdf | pp. 4 and 23 of 40,Logic: Localisation and feedback are explicit operating requirements in a real Meghalaya citizen-engagement mandate.,C06 FACT: MyMeG describes its purpose as participatory governance: capturing citizen feedback, disseminating government messages through multiple channels and engaging citizens in implementation.,S03: https://mymeg.meghalaya.gov.in/highlights/ | n/a,Logic: This supports a two-way communications model rather than a one-way publishing calendar.,C08 FACT: The same speech said the 1971 multilingual helpline had already been used by 12,000 citizens by August 2024.,S04: https://www.meghalaya.gov.in/meghalaya/sites/default/files/press_release/78th_Independence_Day_2024_HCM_Speech.pdf | printed p. 9,Logic: The helpline demonstrates that feedback/service channels are part of the communication system, not downstream of it.,C19 RECOMMENDATION: I would measure communication as reach -&gt; comprehension proxy -&gt; action -&gt; closure/feedback -&gt; learning.,S02: https://meghalaya.gov.in/sites/default/files/tenders/RFP_for_Selection_of_Agency_for_Grassroot_Citizen_Engagement_Program.pdf | pp. 4 and 23 of 40,S03: https://mymeg.meghalaya.gov.in/highlights/ | n/a,S04: https://www.meghalaya.gov.in/meghalaya/sites/default/files/press_release/78th_Independence_Day_2024_HCM_Speech.pdf | printed p. 9,S08: https://meghalaya.gov.in/index.php/dept/25 | n/a,S09: https://meghalaya.gov.in/meghalaya/sites/default/files/documents/MPOWER_Draft_ESCP_22_Jan_2024.pdf | printed p. 6,Logic: The public sources repeatedly connect communication to action, feedback, grievance resolution, direct interaction and accessible information.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would run a communications confidence loop before I run a content calendar,Accuracy and speed improve when the information chain is explicit before creative production begins.,C15 FACT: The MPOWER commitment plan requires stakeholder information to be timely, relevant, understandable, accessible and consultation to be culturally appropriate.,S09: https://meghalaya.gov.in/meghalaya/sites/default/files/documents/MPOWER_Draft_ESCP_22_Jan_2024.pdf | printed p. 6,Logic: I use these as quality gates for communication products, not merely stylistic preferences.,C16 SYNTHESIS: I conclude that effective public communication in Meghalaya is best designed as an access-and-feedback system, not only a content-production function.,S01: https://des.megplanning.gov.in/portal.htm | n/a,S02: https://meghalaya.gov.in/sites/default/files/tenders/RFP_for_Selection_of_Agency_for_Grassroot_Citizen_Engagement_Program.pdf | pp. 4 and 23 of 40,S03: https://mymeg.meghalaya.gov.in/highlights/ | n/a,S04: https://www.meghalaya.gov.in/meghalaya/sites/default/files/press_release/78th_Independence_Day_2024_HCM_Speech.pdf | printed p. 9,S05: https://homepolitical.meghalaya.gov.in/pdf/acts/meghalaya_language_act-2005.pdf | PDF p. 2 / Gazette p. 364,S06: https://meghalaya.gov.in/sites/default/files/documents/Meghalaya_Youth_Policy_2021_0.pdf | printed pp. 6 and 8,S07: https://www.trai.gov.in/sites/default/files/2025-07/YIR_08072025_0.pdf | report p. 67 / PDF p. 68,S08: https://meghalaya.gov.in/index.php/dept/25 | n/a,S09: https://meghalaya.gov.in/meghalaya/sites/default/files/documents/MPOWER_Draft_ESCP_22_Jan_2024.pdf | printed p. 6,S10: https://meghalaya.gov.in/index.php/documents/content/46179 | n/a,S11: https://www.niti.gov.in/node/1708 | report available from source page,S12: https://www.meghalaya.gov.in/documents/content/46466 | n/a,Logic: Across demographics, last-mile RFP design, MyMeG, service access, language, youth segmentation, telecom, DIPR and stakeholder standards, the common requirement is to move information into understanding, action and feedback.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would make one development travel across formats - not duplicate the same copy everywhere,I would build format-specific assets from one verified message architecture so each channel has a job.,C13 FACT: Meghalaya DIPR describes daily press releases, press conferences/briefings, photo documentation, video production and field publicity within its remit.,S08: https://meghalaya.gov.in/index.php/dept/25 | n/a,Logic: A communications consultant needs to work across earned, owned, visual and field formats rather than optimize one channel in isolation.,C18 RECOMMENDATION: I would localise meaning - language, example, call-to-action and messenger - rather than translate one master asset word-for-word.,S02: https://meghalaya.gov.in/sites/default/files/tenders/RFP_for_Selection_of_Agency_for_Grassroot_Citizen_Engagement_Program.pdf | pp. 4 and 23 of 40,S05: https://homepolitical.meghalaya.gov.in/pdf/acts/meghalaya_language_act-2005.pdf | PDF p. 2 / Gazette p. 364,S06: https://meghalaya.gov.in/sites/default/files/documents/Meghalaya_Youth_Policy_2021_0.pdf | printed pp. 6 and 8,S09: https://meghalaya.gov.in/meghalaya/sites/default/files/documents/MPOWER_Draft_ESCP_22_Jan_2024.pdf | printed p. 6,Logic: Local-language requirements coexist with heterogeneous audience needs and culturally appropriate engagement standards.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would build a narrative radar that separates noise from decision-worthy signals,Monitoring is valuable only when it changes what I verify, clarify, escalate or create next.,C20 RECOMMENDATION: I would make narrative monitoring a decision system: verify the signal, identify the affected audience, judge velocity/risk, decide response, then log the outcome.,S03: https://mymeg.meghalaya.gov.in/highlights/ | n/a,S08: https://meghalaya.gov.in/index.php/dept/25 | n/a,S09: https://meghalaya.gov.in/meghalaya/sites/default/files/documents/MPOWER_Draft_ESCP_22_Jan_2024.pdf | printed p. 6,Logic: Public communications teams already operate across press, multi-channel dissemination and citizen feedback; monitoring is useful only when it changes a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would measure whether communication moved from reach to resolution,I would keep reach, but add comprehension proxies, action, closure and learning so the dashboard reflects public value.,C19 RECOMMENDATION: I would measure communication as reach -&gt; comprehension proxy -&gt; action -&gt; closure/feedback -&gt; learning.,S02: https://meghalaya.gov.in/sites/default/files/tenders/RFP_for_Selection_of_Agency_for_Grassroot_Citizen_Engagement_Program.pdf | pp. 4 and 23 of 40,S03: https://mymeg.meghalaya.gov.in/highlights/ | n/a,S04: https://www.meghalaya.gov.in/meghalaya/sites/default/files/press_release/78th_Independence_Day_2024_HCM_Speech.pdf | printed p. 9,S08: https://meghalaya.gov.in/index.php/dept/25 | n/a,S09: https://meghalaya.gov.in/meghalaya/sites/default/files/documents/MPOWER_Draft_ESCP_22_Jan_2024.pdf | printed p. 6,Logic: The public sources repeatedly connect communication to action, feedback, grievance resolution, direct interaction and accessible information.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already understand Meghalaya through a public-system lens,My Meghalaya PDS project taught me to connect data, network constraints and last-mile consequences before recommending action.,CV01: I completed my MBA at IIM Shillong (Jun 2023-Apr 2025).,S13: https://github.com/ManashProtimDeori/Manash-Protim-Deori/blob/main/src/data/resume.ts,S14: https://manash-protim-deori.vercel.app/resume,Why it matters: This gives me lived academic familiarity with Shillong and a management foundation relevant to structured problem-solving.,CV02: I modelled Meghalaya's Public Distribution System using 4,500+ government records.,S13: https://github.com/ManashProtimDeori/Manash-Protim-Deori/blob/main/src/data/resume.ts,Why it matters: I have already worked with complex Meghalaya public-system data rather than approaching the state only from desk research.,CV03: My PDS simulation covered 8 state warehouses, 281 wholesalers and 4,000+ fair-price shops.,S13: https://github.com/ManashProtimDeori/Manash-Protim-Deori/blob/main/src/data/resume.ts,Why it matters: The project trained me to think in networks, last-mile constraints and operational interdependencies.,CV04: My PDS recommendations were framed around food-security resilience for 2M+ beneficiaries.,S13: https://github.com/ManashProtimDeori/Manash-Protim-Deori/blob/main/src/data/resume.ts,Why it matters: I understand that public systems ultimately have citizen-level consequences; analysis and communication both have to respect that.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have already operated at the scale, speed and coordination this role demands,My strongest transferable advantage is not a single channel - it is the ability to align research, content, distribution, stakeholders and measurement under pressure.,CV05: I managed two integrated digital campaigns that generated 330M+ impressions and grew communities to 260K+ and 192K+ followers.,S13: https://github.com/ManashProtimDeori/Manash-Protim-Deori/blob/main/src/data/resume.ts,Why it matters: I have operated high-volume digital communication and can distinguish reach from the deeper outcomes this role needs.,CV06: I managed a Rs 20M marketing budget and reduced CPM from Rs 35.8 to Rs 15.5 - about a 57% reduction.,S13: https://github.com/ManashProtimDeori/Manash-Protim-Deori/blob/main/src/data/resume.ts,Why it matters: I bring measurement discipline and can use performance data to improve distribution efficiency without reducing communication to vanity metrics.,CV07: I coordinated 73+ macro-influencers and 520+ micro-influencers through a structured create-review-produce-distribute workflow.,S13: https://github.com/ManashProtimDeori/Manash-Protim-Deori/blob/main/src/data/resume.ts,Why it matters: I am used to coordinating many contributors, maintaining message consistency and delivering locally relevant content under time pressure.,CV08: I developed event-specific speech inputs for 8 events involving the Prime Minister and Home Minister of India.,S13: https://github.com/ManashProtimDeori/Manash-Protim-Deori/blob/main/src/data/resume.ts,Why it matters: I have experience adapting messages to context, audience and speaker while working inside high-stakes approval environments.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would complement the team by connecting strategy, creative production and measurement,I would not try to duplicate specialist strengths; I would make the operating system around them sharper, faster and more measurable.,C13 FACT: Meghalaya DIPR describes daily press releases, press conferences/briefings, photo documentation, video production and field publicity within its remit.,S08: https://meghalaya.gov.in/index.php/dept/25 | n/a,Logic: A communications consultant needs to work across earned, owned, visual and field formats rather than optimize one channel in isolation.,C15 FACT: The MPOWER commitment plan requires stakeholder information to be timely, relevant, understandable, accessible and consultation to be culturally appropriate.,S09: https://meghalaya.gov.in/meghalaya/sites/default/files/documents/MPOWER_Draft_ESCP_22_Jan_2024.pdf | printed p. 6,Logic: I use these as quality gates for communication products, not merely stylistic preferences.,C20 RECOMMENDATION: I would make narrative monitoring a decision system: verify the signal, identify the affected audience, judge velocity/risk, decide response, then log the outcome.,S03: https://mymeg.meghalaya.gov.in/highlights/ | n/a,S08: https://meghalaya.gov.in/index.php/dept/25 | n/a,S09: https://meghalaya.gov.in/meghalaya/sites/default/files/documents/MPOWER_Draft_ESCP_22_Jan_2024.pdf | printed p. 6,Logic: Public communications teams already operate across press, multi-channel dissemination and citizen feedback; monitoring is useful only when it changes a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my first 90 days, I would learn first, standardise second and optimise third,I would earn context before changing the system - then make the useful parts repeatable.,C16 SYNTHESIS: I conclude that effective public communication in Meghalaya is best designed as an access-and-feedback system, not only a content-production function.,S01: https://des.megplanning.gov.in/portal.htm | n/a,S02: https://meghalaya.gov.in/sites/default/files/tenders/RFP_for_Selection_of_Agency_for_Grassroot_Citizen_Engagement_Program.pdf | pp. 4 and 23 of 40,S03: https://mymeg.meghalaya.gov.in/highlights/ | n/a,S04: https://www.meghalaya.gov.in/meghalaya/sites/default/files/press_release/78th_Independence_Day_2024_HCM_Speech.pdf | printed p. 9,S05: https://homepolitical.meghalaya.gov.in/pdf/acts/meghalaya_language_act-2005.pdf | PDF p. 2 / Gazette p. 364,S06: https://meghalaya.gov.in/sites/default/files/documents/Meghalaya_Youth_Policy_2021_0.pdf | printed pp. 6 and 8,S07: https://www.trai.gov.in/sites/default/files/2025-07/YIR_08072025_0.pdf | report p. 67 / PDF p. 68,S08: https://meghalaya.gov.in/index.php/dept/25 | n/a,S09: https://meghalaya.gov.in/meghalaya/sites/default/files/documents/MPOWER_Draft_ESCP_22_Jan_2024.pdf | printed p. 6,S10: https://meghalaya.gov.in/index.php/documents/content/46179 | n/a,S11: https://www.niti.gov.in/node/1708 | report available from source page,S12: https://www.meghalaya.gov.in/documents/content/46466 | n/a,Logic: Across demographics, last-mile RFP design, MyMeG, service access, language, youth segmentation, telecom, DIPR and stakeholder standards, the common requirement is to move information into understanding, action and feedback.,C19 RECOMMENDATION: I would measure communication as reach -&gt; comprehension proxy -&gt; action -&gt; closure/feedback -&gt; learning.,S02: https://meghalaya.gov.in/sites/default/files/tenders/RFP_for_Selection_of_Agency_for_Grassroot_Citizen_Engagement_Program.pdf | pp. 4 and 23 of 40,S03: https://mymeg.meghalaya.gov.in/highlights/ | n/a,S04: https://www.meghalaya.gov.in/meghalaya/sites/default/files/press_release/78th_Independence_Day_2024_HCM_Speech.pdf | printed p. 9,S08: https://meghalaya.gov.in/index.php/dept/25 | n/a,S09: https://meghalaya.gov.in/meghalaya/sites/default/files/documents/MPOWER_Draft_ESCP_22_Jan_2024.pdf | printed p. 6,Logic: The public sources repeatedly connect communication to action, feedback, grievance resolution, direct interaction and accessible information.,C20 RECOMMENDATION: I would make narrative monitoring a decision system: verify the signal, identify the affected audience, judge velocity/risk, decide response, then log the outcome.,S03: https://mymeg.meghalaya.gov.in/highlights/ | n/a,S08: https://meghalaya.gov.in/index.php/dept/25 | n/a,S09: https://meghalaya.gov.in/meghalaya/sites/default/files/documents/MPOWER_Draft_ESCP_22_Jan_2024.pdf | printed p. 6,Logic: Public communications teams already operate across press, multi-channel dissemination and citizen feedback; monitoring is useful only when it changes a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 would aim to leave behind: a communications system that gets clearer with every cycle,My standard would be simple: accurate enough to trust, clear enough to understand, local enough to matter, and measurable enough to improve.,C15 FACT: The MPOWER commitment plan requires stakeholder information to be timely, relevant, understandable, accessible and consultation to be culturally appropriate.,S09: https://meghalaya.gov.in/meghalaya/sites/default/files/documents/MPOWER_Draft_ESCP_22_Jan_2024.pdf | printed p. 6,Logic: I use these as quality gates for communication products, not merely stylistic preferences.,C16 SYNTHESIS: I conclude that effective public communication in Meghalaya is best designed as an access-and-feedback system, not only a content-production function.,S01: https://des.megplanning.gov.in/portal.htm | n/a,S02: https://meghalaya.gov.in/sites/default/files/tenders/RFP_for_Selection_of_Agency_for_Grassroot_Citizen_Engagement_Program.pdf | pp. 4 and 23 of 40,S03: https://mymeg.meghalaya.gov.in/highlights/ | n/a,S04: https://www.meghalaya.gov.in/meghalaya/sites/default/files/press_release/78th_Independence_Day_2024_HCM_Speech.pdf | printed p. 9,S05: https://homepolitical.meghalaya.gov.in/pdf/acts/meghalaya_language_act-2005.pdf | PDF p. 2 / Gazette p. 364,S06: https://meghalaya.gov.in/sites/default/files/documents/Meghalaya_Youth_Policy_2021_0.pdf | printed pp. 6 and 8,S07: https://www.trai.gov.in/sites/default/files/2025-07/YIR_08072025_0.pdf | report p. 67 / PDF p. 68,S08: https://meghalaya.gov.in/index.php/dept/25 | n/a,S09: https://meghalaya.gov.in/meghalaya/sites/default/files/documents/MPOWER_Draft_ESCP_22_Jan_2024.pdf | printed p. 6,S10: https://meghalaya.gov.in/index.php/documents/content/46179 | n/a,S11: https://www.niti.gov.in/node/1708 | report available from source page,S12: https://www.meghalaya.gov.in/documents/content/46466 | n/a,Logic: Across demographics, last-mile RFP design, MyMeG, service access, language, youth segmentation, telecom, DIPR and stakeholder standards, the common requirement is to move information into understanding, action and feedback.,C19 RECOMMENDATION: I would measure communication as reach -&gt; comprehension proxy -&gt; action -&gt; closure/feedback -&gt; learning.,S02: https://meghalaya.gov.in/sites/default/files/tenders/RFP_for_Selection_of_Agency_for_Grassroot_Citizen_Engagement_Program.pdf | pp. 4 and 23 of 40,S03: https://mymeg.meghalaya.gov.in/highlights/ | n/a,S04: https://www.meghalaya.gov.in/meghalaya/sites/default/files/press_release/78th_Independence_Day_2024_HCM_Speech.pdf | printed p. 9,S08: https://meghalaya.gov.in/index.php/dept/25 | n/a,S09: https://meghalaya.gov.in/meghalaya/sites/default/files/documents/MPOWER_Draft_ESCP_22_Jan_2024.pdf | printed p. 6,Logic: The public sources repeatedly connect communication to action, feedback, grievance resolution, direct interaction and accessible information.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you,I would welcome the chance to bring this thinking, execution discipline and Northeast context to the team in Shillong.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6F3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E1B3A"/>
          </a:solidFill>
          <a:ln w="12700">
            <a:solidFill>
              <a:srgbClr val="2E1B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510528"/>
            <a:ext cx="11064240" cy="0"/>
          </a:xfrm>
          <a:prstGeom prst="line">
            <a:avLst/>
          </a:prstGeom>
          <a:noFill/>
          <a:ln w="7620">
            <a:solidFill>
              <a:srgbClr val="D8D0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235440" y="22860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110" kern="0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INDEPENDENT CANDIDATE PERSPECTIVE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6616A"/>
                </a:solidFill>
                <a:latin typeface="Aptos Mono"/>
                <a:ea typeface="Aptos Mono"/>
                <a:cs typeface="Aptos Mono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6616A"/>
                </a:solidFill>
                <a:latin typeface="Aptos Mono"/>
                <a:ea typeface="Aptos Mono"/>
                <a:cs typeface="Aptos Mon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hyperlink" Target="https://des.megplanning.gov.in/portal.htm" TargetMode="External"/><Relationship Id="rId2" Type="http://schemas.openxmlformats.org/officeDocument/2006/relationships/hyperlink" Target="https://meghalaya.gov.in/sites/default/files/tenders/RFP_for_Selection_of_Agency_for_Grassroot_Citizen_Engagement_Program.pdf" TargetMode="External"/><Relationship Id="rId3" Type="http://schemas.openxmlformats.org/officeDocument/2006/relationships/hyperlink" Target="https://mymeg.meghalaya.gov.in/highlights/" TargetMode="External"/><Relationship Id="rId4" Type="http://schemas.openxmlformats.org/officeDocument/2006/relationships/hyperlink" Target="https://www.meghalaya.gov.in/meghalaya/sites/default/files/press_release/78th_Independence_Day_2024_HCM_Speech.pdf" TargetMode="External"/><Relationship Id="rId5" Type="http://schemas.openxmlformats.org/officeDocument/2006/relationships/hyperlink" Target="https://homepolitical.meghalaya.gov.in/pdf/acts/meghalaya_language_act-2005.pdf" TargetMode="External"/><Relationship Id="rId6" Type="http://schemas.openxmlformats.org/officeDocument/2006/relationships/hyperlink" Target="https://meghalaya.gov.in/sites/default/files/documents/Meghalaya_Youth_Policy_2021_0.pdf" TargetMode="External"/><Relationship Id="rId7" Type="http://schemas.openxmlformats.org/officeDocument/2006/relationships/hyperlink" Target="https://www.trai.gov.in/sites/default/files/2025-07/YIR_08072025_0.pdf" TargetMode="External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hyperlink" Target="https://meghalaya.gov.in/index.php/dept/25" TargetMode="External"/><Relationship Id="rId2" Type="http://schemas.openxmlformats.org/officeDocument/2006/relationships/hyperlink" Target="https://meghalaya.gov.in/meghalaya/sites/default/files/documents/MPOWER_Draft_ESCP_22_Jan_2024.pdf" TargetMode="External"/><Relationship Id="rId3" Type="http://schemas.openxmlformats.org/officeDocument/2006/relationships/hyperlink" Target="https://meghalaya.gov.in/index.php/documents/content/46179" TargetMode="External"/><Relationship Id="rId4" Type="http://schemas.openxmlformats.org/officeDocument/2006/relationships/hyperlink" Target="https://www.niti.gov.in/node/1708" TargetMode="External"/><Relationship Id="rId5" Type="http://schemas.openxmlformats.org/officeDocument/2006/relationships/hyperlink" Target="https://www.meghalaya.gov.in/documents/content/46466" TargetMode="External"/><Relationship Id="rId6" Type="http://schemas.openxmlformats.org/officeDocument/2006/relationships/hyperlink" Target="https://github.com/ManashProtimDeori/Manash-Protim-Deori/blob/main/src/data/resume.ts" TargetMode="External"/><Relationship Id="rId7" Type="http://schemas.openxmlformats.org/officeDocument/2006/relationships/hyperlink" Target="https://manash-protim-deori.vercel.app/resume" TargetMode="External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3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92240" y="5166360"/>
            <a:ext cx="6035040" cy="1188720"/>
          </a:xfrm>
          <a:prstGeom prst="arc">
            <a:avLst/>
          </a:prstGeom>
          <a:solidFill>
            <a:srgbClr val="DCCFE4">
              <a:alpha val="45000"/>
            </a:srgbClr>
          </a:solidFill>
          <a:ln w="13970">
            <a:solidFill>
              <a:srgbClr val="DCCFE4">
                <a:alpha val="6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91072" y="5394960"/>
            <a:ext cx="6382512" cy="1188720"/>
          </a:xfrm>
          <a:prstGeom prst="arc">
            <a:avLst/>
          </a:prstGeom>
          <a:solidFill>
            <a:srgbClr val="F0EAF3">
              <a:alpha val="39000"/>
            </a:srgbClr>
          </a:solidFill>
          <a:ln w="13970">
            <a:solidFill>
              <a:srgbClr val="F0EAF3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89904" y="5623560"/>
            <a:ext cx="6729984" cy="1188720"/>
          </a:xfrm>
          <a:prstGeom prst="arc">
            <a:avLst/>
          </a:prstGeom>
          <a:solidFill>
            <a:srgbClr val="EAF0ED">
              <a:alpha val="33000"/>
            </a:srgbClr>
          </a:solidFill>
          <a:ln w="13970">
            <a:solidFill>
              <a:srgbClr val="EAF0ED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88736" y="5852160"/>
            <a:ext cx="7077456" cy="1188720"/>
          </a:xfrm>
          <a:prstGeom prst="arc">
            <a:avLst/>
          </a:prstGeom>
          <a:solidFill>
            <a:srgbClr val="91AAA3">
              <a:alpha val="27000"/>
            </a:srgbClr>
          </a:solidFill>
          <a:ln w="13970">
            <a:solidFill>
              <a:srgbClr val="91AAA3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87568" y="6080760"/>
            <a:ext cx="7424928" cy="1188720"/>
          </a:xfrm>
          <a:prstGeom prst="arc">
            <a:avLst/>
          </a:prstGeom>
          <a:solidFill>
            <a:srgbClr val="3E5D55">
              <a:alpha val="21000"/>
            </a:srgbClr>
          </a:solidFill>
          <a:ln w="13970">
            <a:solidFill>
              <a:srgbClr val="3E5D55">
                <a:alpha val="6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658368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40" kern="0" dirty="0">
                <a:solidFill>
                  <a:srgbClr val="6B4A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CONSULTANT - COMMUNICATIONS · SHILLONG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1335024"/>
            <a:ext cx="67665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I would</a:t>
            </a:r>
            <a:endParaRPr lang="en-US" sz="3300" dirty="0"/>
          </a:p>
          <a:p>
            <a:pPr algn="l" indent="0" marL="0">
              <a:buNone/>
            </a:pPr>
            <a:r>
              <a:rPr lang="en-US" sz="330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communicate Meghalaya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685800" y="3017520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E5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strategic communications perspective for public programmes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361188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Manash Protim Deori · IIM Shillong · Strategic communications, marketing &amp; analytics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955280" y="1097280"/>
            <a:ext cx="3154680" cy="3520440"/>
          </a:xfrm>
          <a:prstGeom prst="roundRect">
            <a:avLst>
              <a:gd name="adj" fmla="val 3478"/>
            </a:avLst>
          </a:prstGeom>
          <a:solidFill>
            <a:srgbClr val="FFFEFC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0" y="141732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30" kern="0" dirty="0">
                <a:solidFill>
                  <a:srgbClr val="6B4A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MY THESIS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8229600" y="1828800"/>
            <a:ext cx="2560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communication is strongest when it behaves like a service: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229600" y="2980944"/>
            <a:ext cx="780288" cy="566928"/>
          </a:xfrm>
          <a:prstGeom prst="roundRect">
            <a:avLst>
              <a:gd name="adj" fmla="val 19355"/>
            </a:avLst>
          </a:prstGeom>
          <a:solidFill>
            <a:srgbClr val="F0EAF3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84464" y="3090672"/>
            <a:ext cx="67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UNDERSTAND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8982456" y="3163824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28A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119616" y="2980944"/>
            <a:ext cx="780288" cy="566928"/>
          </a:xfrm>
          <a:prstGeom prst="roundRect">
            <a:avLst>
              <a:gd name="adj" fmla="val 19355"/>
            </a:avLst>
          </a:prstGeom>
          <a:solidFill>
            <a:srgbClr val="EAF0ED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74480" y="3090672"/>
            <a:ext cx="67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3E5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9872472" y="3163824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28A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0009632" y="2980944"/>
            <a:ext cx="780288" cy="566928"/>
          </a:xfrm>
          <a:prstGeom prst="roundRect">
            <a:avLst>
              <a:gd name="adj" fmla="val 19355"/>
            </a:avLst>
          </a:prstGeom>
          <a:solidFill>
            <a:srgbClr val="F0EAF3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64496" y="3090672"/>
            <a:ext cx="67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RESPOND</a:t>
            </a:r>
            <a:endParaRPr lang="en-US" sz="920" dirty="0"/>
          </a:p>
        </p:txBody>
      </p:sp>
      <p:sp>
        <p:nvSpPr>
          <p:cNvPr id="22" name="Text 20"/>
          <p:cNvSpPr/>
          <p:nvPr/>
        </p:nvSpPr>
        <p:spPr>
          <a:xfrm>
            <a:off x="685800" y="60533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Independent role-specific perspective. Not commissioned by or affiliated with Grant Thornton Bharat.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10058400" y="60533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20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07 OCT 2026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6616A"/>
                </a:solidFill>
                <a:latin typeface="Aptos Mono"/>
                <a:ea typeface="Aptos Mono"/>
                <a:cs typeface="Aptos Mono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20" kern="0" dirty="0">
                <a:solidFill>
                  <a:srgbClr val="6B4A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CORE / 02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 see: public communication here is a service-delivery layer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1408176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would judge communication by whether information becomes understandable, actionable and answerable - not simply whether it was published.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58368" y="2176272"/>
            <a:ext cx="2542032" cy="2148840"/>
          </a:xfrm>
          <a:prstGeom prst="roundRect">
            <a:avLst>
              <a:gd name="adj" fmla="val 5106"/>
            </a:avLst>
          </a:prstGeom>
          <a:solidFill>
            <a:srgbClr val="FFFEFC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313432"/>
            <a:ext cx="22128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spc="70" kern="0" dirty="0">
                <a:solidFill>
                  <a:srgbClr val="6B4A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01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822960" y="3008376"/>
            <a:ext cx="221284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people receive the information where they are?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419856" y="2176272"/>
            <a:ext cx="2542032" cy="2148840"/>
          </a:xfrm>
          <a:prstGeom prst="roundRect">
            <a:avLst>
              <a:gd name="adj" fmla="val 5106"/>
            </a:avLst>
          </a:prstGeom>
          <a:solidFill>
            <a:srgbClr val="FFFEFC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84448" y="2313432"/>
            <a:ext cx="22128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spc="70" kern="0" dirty="0">
                <a:solidFill>
                  <a:srgbClr val="3E5D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02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3584448" y="2560320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UNDERSTAND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3584448" y="3008376"/>
            <a:ext cx="221284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they decode the policy, programme or announcement?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81344" y="2176272"/>
            <a:ext cx="2542032" cy="2148840"/>
          </a:xfrm>
          <a:prstGeom prst="roundRect">
            <a:avLst>
              <a:gd name="adj" fmla="val 5106"/>
            </a:avLst>
          </a:prstGeom>
          <a:solidFill>
            <a:srgbClr val="FFFEFC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45936" y="2313432"/>
            <a:ext cx="22128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spc="70" kern="0" dirty="0">
                <a:solidFill>
                  <a:srgbClr val="B28A5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03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6345936" y="2560320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</a:t>
            </a:r>
            <a:endParaRPr lang="en-US" sz="1420" dirty="0"/>
          </a:p>
        </p:txBody>
      </p:sp>
      <p:sp>
        <p:nvSpPr>
          <p:cNvPr id="16" name="Text 14"/>
          <p:cNvSpPr/>
          <p:nvPr/>
        </p:nvSpPr>
        <p:spPr>
          <a:xfrm>
            <a:off x="6345936" y="3008376"/>
            <a:ext cx="221284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they know the next concrete step?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942832" y="2176272"/>
            <a:ext cx="2542032" cy="2148840"/>
          </a:xfrm>
          <a:prstGeom prst="roundRect">
            <a:avLst>
              <a:gd name="adj" fmla="val 5106"/>
            </a:avLst>
          </a:prstGeom>
          <a:solidFill>
            <a:srgbClr val="FFFEFC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07424" y="2313432"/>
            <a:ext cx="22128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spc="70" kern="0" dirty="0">
                <a:solidFill>
                  <a:srgbClr val="6C837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04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9107424" y="2560320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FEEDBACK</a:t>
            </a:r>
            <a:endParaRPr lang="en-US" sz="1420" dirty="0"/>
          </a:p>
        </p:txBody>
      </p:sp>
      <p:sp>
        <p:nvSpPr>
          <p:cNvPr id="20" name="Text 18"/>
          <p:cNvSpPr/>
          <p:nvPr/>
        </p:nvSpPr>
        <p:spPr>
          <a:xfrm>
            <a:off x="9107424" y="3008376"/>
            <a:ext cx="221284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questions, grievances and signals travel back?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58368" y="4727448"/>
            <a:ext cx="10826496" cy="1078992"/>
          </a:xfrm>
          <a:prstGeom prst="roundRect">
            <a:avLst>
              <a:gd name="adj" fmla="val 10169"/>
            </a:avLst>
          </a:prstGeom>
          <a:solidFill>
            <a:srgbClr val="2E1B3A"/>
          </a:solidFill>
          <a:ln w="10160">
            <a:solidFill>
              <a:srgbClr val="2E1B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6112" y="495604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CCFE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What changes for me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2395728" y="4837176"/>
            <a:ext cx="8641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would organise communications around citizen outcomes - then choose content and channels as tools inside that system.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566928" y="6574536"/>
            <a:ext cx="7132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Evidence: C16 | Full URL, page and rationale in appendix</a:t>
            </a:r>
            <a:endParaRPr lang="en-US" sz="680" dirty="0"/>
          </a:p>
        </p:txBody>
      </p:sp>
      <p:sp>
        <p:nvSpPr>
          <p:cNvPr id="25" name="Text 23"/>
          <p:cNvSpPr/>
          <p:nvPr/>
        </p:nvSpPr>
        <p:spPr>
          <a:xfrm>
            <a:off x="7863840" y="6574536"/>
            <a:ext cx="3154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70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Not commissioned by or affiliated with Grant Thornton Bharat.</a:t>
            </a:r>
            <a:endParaRPr lang="en-US" sz="6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6616A"/>
                </a:solidFill>
                <a:latin typeface="Aptos Mono"/>
                <a:ea typeface="Aptos Mono"/>
                <a:cs typeface="Aptos Mon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20" kern="0" dirty="0">
                <a:solidFill>
                  <a:srgbClr val="6B4A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CORE / 03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 see in the operating context: distance, rurality and administrative spread shape communication design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1408176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would design for the whole state, not let a Shillong-centric content model stand in for Meghalaya.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58368" y="2176272"/>
            <a:ext cx="2423160" cy="1517904"/>
          </a:xfrm>
          <a:prstGeom prst="roundRect">
            <a:avLst>
              <a:gd name="adj" fmla="val 7229"/>
            </a:avLst>
          </a:prstGeom>
          <a:solidFill>
            <a:srgbClr val="FFFEFC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340864"/>
            <a:ext cx="2093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6B4A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79.9%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2093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211E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Rural share in 2011</a:t>
            </a:r>
            <a:endParaRPr lang="en-US" sz="940" dirty="0"/>
          </a:p>
        </p:txBody>
      </p:sp>
      <p:sp>
        <p:nvSpPr>
          <p:cNvPr id="8" name="Text 6"/>
          <p:cNvSpPr/>
          <p:nvPr/>
        </p:nvSpPr>
        <p:spPr>
          <a:xfrm>
            <a:off x="822960" y="3108960"/>
            <a:ext cx="20939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Derived from DES Census-base figures; dated structural baseline, not a 2026 estimate.</a:t>
            </a:r>
            <a:endParaRPr lang="en-US" sz="780" dirty="0"/>
          </a:p>
        </p:txBody>
      </p:sp>
      <p:sp>
        <p:nvSpPr>
          <p:cNvPr id="9" name="Shape 7"/>
          <p:cNvSpPr/>
          <p:nvPr/>
        </p:nvSpPr>
        <p:spPr>
          <a:xfrm>
            <a:off x="3264408" y="2176272"/>
            <a:ext cx="2423160" cy="1517904"/>
          </a:xfrm>
          <a:prstGeom prst="roundRect">
            <a:avLst>
              <a:gd name="adj" fmla="val 7229"/>
            </a:avLst>
          </a:prstGeom>
          <a:solidFill>
            <a:srgbClr val="FFFEFC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2340864"/>
            <a:ext cx="2093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3E5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3429000" y="2788920"/>
            <a:ext cx="2093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211E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Districts</a:t>
            </a:r>
            <a:endParaRPr lang="en-US" sz="940" dirty="0"/>
          </a:p>
        </p:txBody>
      </p:sp>
      <p:sp>
        <p:nvSpPr>
          <p:cNvPr id="12" name="Text 10"/>
          <p:cNvSpPr/>
          <p:nvPr/>
        </p:nvSpPr>
        <p:spPr>
          <a:xfrm>
            <a:off x="3429000" y="3108960"/>
            <a:ext cx="20939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 reference year 2022.</a:t>
            </a:r>
            <a:endParaRPr lang="en-US" sz="780" dirty="0"/>
          </a:p>
        </p:txBody>
      </p:sp>
      <p:sp>
        <p:nvSpPr>
          <p:cNvPr id="13" name="Shape 11"/>
          <p:cNvSpPr/>
          <p:nvPr/>
        </p:nvSpPr>
        <p:spPr>
          <a:xfrm>
            <a:off x="5870448" y="2176272"/>
            <a:ext cx="2423160" cy="1517904"/>
          </a:xfrm>
          <a:prstGeom prst="roundRect">
            <a:avLst>
              <a:gd name="adj" fmla="val 7229"/>
            </a:avLst>
          </a:prstGeom>
          <a:solidFill>
            <a:srgbClr val="FFFEFC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0" y="2340864"/>
            <a:ext cx="2093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B28A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55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6035040" y="2788920"/>
            <a:ext cx="2093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211E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C&amp;RD blocks</a:t>
            </a:r>
            <a:endParaRPr lang="en-US" sz="940" dirty="0"/>
          </a:p>
        </p:txBody>
      </p:sp>
      <p:sp>
        <p:nvSpPr>
          <p:cNvPr id="16" name="Text 14"/>
          <p:cNvSpPr/>
          <p:nvPr/>
        </p:nvSpPr>
        <p:spPr>
          <a:xfrm>
            <a:off x="6035040" y="3108960"/>
            <a:ext cx="20939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 reference year 2022.</a:t>
            </a:r>
            <a:endParaRPr lang="en-US" sz="780" dirty="0"/>
          </a:p>
        </p:txBody>
      </p:sp>
      <p:sp>
        <p:nvSpPr>
          <p:cNvPr id="17" name="Shape 15"/>
          <p:cNvSpPr/>
          <p:nvPr/>
        </p:nvSpPr>
        <p:spPr>
          <a:xfrm>
            <a:off x="8476488" y="2176272"/>
            <a:ext cx="2999232" cy="1517904"/>
          </a:xfrm>
          <a:prstGeom prst="roundRect">
            <a:avLst>
              <a:gd name="adj" fmla="val 7229"/>
            </a:avLst>
          </a:prstGeom>
          <a:solidFill>
            <a:srgbClr val="FFFEFC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41080" y="2313432"/>
            <a:ext cx="2670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spc="70" kern="0" dirty="0">
                <a:solidFill>
                  <a:srgbClr val="6C837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SERVICE ACCESS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8641080" y="2560320"/>
            <a:ext cx="2670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Terrain + distance</a:t>
            </a:r>
            <a:endParaRPr lang="en-US" sz="1420" dirty="0"/>
          </a:p>
        </p:txBody>
      </p:sp>
      <p:sp>
        <p:nvSpPr>
          <p:cNvPr id="20" name="Text 18"/>
          <p:cNvSpPr/>
          <p:nvPr/>
        </p:nvSpPr>
        <p:spPr>
          <a:xfrm>
            <a:off x="8641080" y="3008376"/>
            <a:ext cx="267004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2024 CM speech explicitly described terrain and distance as barriers to citizens connecting with government.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58368" y="4005072"/>
            <a:ext cx="5230368" cy="1554480"/>
          </a:xfrm>
          <a:prstGeom prst="roundRect">
            <a:avLst>
              <a:gd name="adj" fmla="val 7059"/>
            </a:avLst>
          </a:prstGeom>
          <a:solidFill>
            <a:srgbClr val="FFFEFC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142232"/>
            <a:ext cx="4901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spc="70" kern="0" dirty="0">
                <a:solidFill>
                  <a:srgbClr val="6B4A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MY IMPLICATION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822960" y="4389120"/>
            <a:ext cx="4901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would decentralise the message kit</a:t>
            </a:r>
            <a:endParaRPr lang="en-US" sz="1420" dirty="0"/>
          </a:p>
        </p:txBody>
      </p:sp>
      <p:sp>
        <p:nvSpPr>
          <p:cNvPr id="24" name="Text 22"/>
          <p:cNvSpPr/>
          <p:nvPr/>
        </p:nvSpPr>
        <p:spPr>
          <a:xfrm>
            <a:off x="822960" y="4837176"/>
            <a:ext cx="490118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would create a verified master message plus district/block-ready variants, local examples, contacts and escalation paths - so distribution does not depend on one central social post.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108192" y="4005072"/>
            <a:ext cx="5367528" cy="1554480"/>
          </a:xfrm>
          <a:prstGeom prst="roundRect">
            <a:avLst>
              <a:gd name="adj" fmla="val 7059"/>
            </a:avLst>
          </a:prstGeom>
          <a:solidFill>
            <a:srgbClr val="FFFEFC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72784" y="4142232"/>
            <a:ext cx="50383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spc="70" kern="0" dirty="0">
                <a:solidFill>
                  <a:srgbClr val="3E5D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MY GUARDRAIL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6272784" y="4389120"/>
            <a:ext cx="50383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would not confuse Shillong with Meghalaya</a:t>
            </a:r>
            <a:endParaRPr lang="en-US" sz="1420" dirty="0"/>
          </a:p>
        </p:txBody>
      </p:sp>
      <p:sp>
        <p:nvSpPr>
          <p:cNvPr id="28" name="Text 26"/>
          <p:cNvSpPr/>
          <p:nvPr/>
        </p:nvSpPr>
        <p:spPr>
          <a:xfrm>
            <a:off x="6272784" y="4837176"/>
            <a:ext cx="503834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would treat Shillong as the operating base and media/administrative hub, while designing communication for rural, district and community realities across the state.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66928" y="6574536"/>
            <a:ext cx="7132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Evidence: C01 · C02 · C03 · C07 | Full URL, page and rationale in appendix</a:t>
            </a:r>
            <a:endParaRPr lang="en-US" sz="680" dirty="0"/>
          </a:p>
        </p:txBody>
      </p:sp>
      <p:sp>
        <p:nvSpPr>
          <p:cNvPr id="30" name="Text 28"/>
          <p:cNvSpPr/>
          <p:nvPr/>
        </p:nvSpPr>
        <p:spPr>
          <a:xfrm>
            <a:off x="7863840" y="6574536"/>
            <a:ext cx="3154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70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Not commissioned by or affiliated with Grant Thornton Bharat.</a:t>
            </a:r>
            <a:endParaRPr lang="en-US" sz="6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6616A"/>
                </a:solidFill>
                <a:latin typeface="Aptos Mono"/>
                <a:ea typeface="Aptos Mono"/>
                <a:cs typeface="Aptos Mon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20" kern="0" dirty="0">
                <a:solidFill>
                  <a:srgbClr val="6B4A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CORE / 04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would design for digital reach - without assuming digital uniformity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1408176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Digital is essential, but the rural-urban subscription gap and formal field-publicity channels argue for deliberate channel redundancy.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58368" y="2148840"/>
            <a:ext cx="2971800" cy="1691640"/>
          </a:xfrm>
          <a:prstGeom prst="roundRect">
            <a:avLst>
              <a:gd name="adj" fmla="val 6486"/>
            </a:avLst>
          </a:prstGeom>
          <a:solidFill>
            <a:srgbClr val="FFFEFC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313432"/>
            <a:ext cx="2642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6B4A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61.08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822960" y="2761488"/>
            <a:ext cx="2642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211E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Internet subscriptions / 100 people</a:t>
            </a:r>
            <a:endParaRPr lang="en-US" sz="940" dirty="0"/>
          </a:p>
        </p:txBody>
      </p:sp>
      <p:sp>
        <p:nvSpPr>
          <p:cNvPr id="8" name="Text 6"/>
          <p:cNvSpPr/>
          <p:nvPr/>
        </p:nvSpPr>
        <p:spPr>
          <a:xfrm>
            <a:off x="822960" y="3081528"/>
            <a:ext cx="264261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Meghalaya, March 2025. Subscription density is not unique-person penetration.</a:t>
            </a:r>
            <a:endParaRPr lang="en-US" sz="780" dirty="0"/>
          </a:p>
        </p:txBody>
      </p:sp>
      <p:sp>
        <p:nvSpPr>
          <p:cNvPr id="9" name="Shape 7"/>
          <p:cNvSpPr/>
          <p:nvPr/>
        </p:nvSpPr>
        <p:spPr>
          <a:xfrm>
            <a:off x="3794760" y="2148840"/>
            <a:ext cx="2971800" cy="1691640"/>
          </a:xfrm>
          <a:prstGeom prst="roundRect">
            <a:avLst>
              <a:gd name="adj" fmla="val 6486"/>
            </a:avLst>
          </a:prstGeom>
          <a:solidFill>
            <a:srgbClr val="FFFEFC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59352" y="2313432"/>
            <a:ext cx="2642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3E5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49.45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3959352" y="2761488"/>
            <a:ext cx="2642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211E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Rural subscriptions / 100</a:t>
            </a:r>
            <a:endParaRPr lang="en-US" sz="940" dirty="0"/>
          </a:p>
        </p:txBody>
      </p:sp>
      <p:sp>
        <p:nvSpPr>
          <p:cNvPr id="12" name="Text 10"/>
          <p:cNvSpPr/>
          <p:nvPr/>
        </p:nvSpPr>
        <p:spPr>
          <a:xfrm>
            <a:off x="3959352" y="3081528"/>
            <a:ext cx="264261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Meghalaya, March 2025.</a:t>
            </a:r>
            <a:endParaRPr lang="en-US" sz="780" dirty="0"/>
          </a:p>
        </p:txBody>
      </p:sp>
      <p:sp>
        <p:nvSpPr>
          <p:cNvPr id="13" name="Shape 11"/>
          <p:cNvSpPr/>
          <p:nvPr/>
        </p:nvSpPr>
        <p:spPr>
          <a:xfrm>
            <a:off x="6931152" y="2148840"/>
            <a:ext cx="2971800" cy="1691640"/>
          </a:xfrm>
          <a:prstGeom prst="roundRect">
            <a:avLst>
              <a:gd name="adj" fmla="val 6486"/>
            </a:avLst>
          </a:prstGeom>
          <a:solidFill>
            <a:srgbClr val="FFFEFC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95744" y="2313432"/>
            <a:ext cx="2642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B28A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105.53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7095744" y="2761488"/>
            <a:ext cx="2642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211E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Urban subscriptions / 100</a:t>
            </a:r>
            <a:endParaRPr lang="en-US" sz="940" dirty="0"/>
          </a:p>
        </p:txBody>
      </p:sp>
      <p:sp>
        <p:nvSpPr>
          <p:cNvPr id="16" name="Text 14"/>
          <p:cNvSpPr/>
          <p:nvPr/>
        </p:nvSpPr>
        <p:spPr>
          <a:xfrm>
            <a:off x="7095744" y="3081528"/>
            <a:ext cx="264261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Meghalaya, March 2025; &gt;100 can reflect multiple subscriptions.</a:t>
            </a:r>
            <a:endParaRPr lang="en-US" sz="780" dirty="0"/>
          </a:p>
        </p:txBody>
      </p:sp>
      <p:sp>
        <p:nvSpPr>
          <p:cNvPr id="17" name="Shape 15"/>
          <p:cNvSpPr/>
          <p:nvPr/>
        </p:nvSpPr>
        <p:spPr>
          <a:xfrm>
            <a:off x="658368" y="4160520"/>
            <a:ext cx="9235440" cy="1298448"/>
          </a:xfrm>
          <a:prstGeom prst="roundRect">
            <a:avLst>
              <a:gd name="adj" fmla="val 8451"/>
            </a:avLst>
          </a:prstGeom>
          <a:solidFill>
            <a:srgbClr val="FFFEFC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7824" y="436168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B4A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HOW I WOULD DESIGN DISTRIBUTION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896112" y="4681728"/>
            <a:ext cx="1660550" cy="566928"/>
          </a:xfrm>
          <a:prstGeom prst="roundRect">
            <a:avLst>
              <a:gd name="adj" fmla="val 19355"/>
            </a:avLst>
          </a:prstGeom>
          <a:solidFill>
            <a:srgbClr val="F0EAF3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0976" y="4791456"/>
            <a:ext cx="155082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SOCIAL / WEB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2529230" y="486460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28A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666390" y="4681728"/>
            <a:ext cx="1660550" cy="566928"/>
          </a:xfrm>
          <a:prstGeom prst="roundRect">
            <a:avLst>
              <a:gd name="adj" fmla="val 19355"/>
            </a:avLst>
          </a:prstGeom>
          <a:solidFill>
            <a:srgbClr val="EAF0ED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21254" y="4791456"/>
            <a:ext cx="155082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3E5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PRESS / RADIO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4299509" y="486460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28A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436669" y="4681728"/>
            <a:ext cx="1660550" cy="566928"/>
          </a:xfrm>
          <a:prstGeom prst="roundRect">
            <a:avLst>
              <a:gd name="adj" fmla="val 19355"/>
            </a:avLst>
          </a:prstGeom>
          <a:solidFill>
            <a:srgbClr val="F0EAF3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91533" y="4791456"/>
            <a:ext cx="155082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DISTRICT KITS</a:t>
            </a:r>
            <a:endParaRPr lang="en-US" sz="920" dirty="0"/>
          </a:p>
        </p:txBody>
      </p:sp>
      <p:sp>
        <p:nvSpPr>
          <p:cNvPr id="27" name="Text 25"/>
          <p:cNvSpPr/>
          <p:nvPr/>
        </p:nvSpPr>
        <p:spPr>
          <a:xfrm>
            <a:off x="6069787" y="486460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28A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206947" y="4681728"/>
            <a:ext cx="1660550" cy="566928"/>
          </a:xfrm>
          <a:prstGeom prst="roundRect">
            <a:avLst>
              <a:gd name="adj" fmla="val 19355"/>
            </a:avLst>
          </a:prstGeom>
          <a:solidFill>
            <a:srgbClr val="EAF0ED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61811" y="4791456"/>
            <a:ext cx="155082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3E5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FIELD / SIP</a:t>
            </a:r>
            <a:endParaRPr lang="en-US" sz="920" dirty="0"/>
          </a:p>
        </p:txBody>
      </p:sp>
      <p:sp>
        <p:nvSpPr>
          <p:cNvPr id="30" name="Text 28"/>
          <p:cNvSpPr/>
          <p:nvPr/>
        </p:nvSpPr>
        <p:spPr>
          <a:xfrm>
            <a:off x="7840066" y="486460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28A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977226" y="4681728"/>
            <a:ext cx="1660550" cy="566928"/>
          </a:xfrm>
          <a:prstGeom prst="roundRect">
            <a:avLst>
              <a:gd name="adj" fmla="val 19355"/>
            </a:avLst>
          </a:prstGeom>
          <a:solidFill>
            <a:srgbClr val="F0EAF3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32090" y="4791456"/>
            <a:ext cx="155082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HELPLINE / FEEDBACK</a:t>
            </a:r>
            <a:endParaRPr lang="en-US" sz="920" dirty="0"/>
          </a:p>
        </p:txBody>
      </p:sp>
      <p:sp>
        <p:nvSpPr>
          <p:cNvPr id="33" name="Shape 31"/>
          <p:cNvSpPr/>
          <p:nvPr/>
        </p:nvSpPr>
        <p:spPr>
          <a:xfrm>
            <a:off x="10104120" y="2148840"/>
            <a:ext cx="1371600" cy="3310128"/>
          </a:xfrm>
          <a:prstGeom prst="roundRect">
            <a:avLst>
              <a:gd name="adj" fmla="val 8000"/>
            </a:avLst>
          </a:prstGeom>
          <a:solidFill>
            <a:srgbClr val="FFFEFC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68712" y="2286000"/>
            <a:ext cx="10424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spc="70" kern="0" dirty="0">
                <a:solidFill>
                  <a:srgbClr val="6B4A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RULE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10268712" y="2532888"/>
            <a:ext cx="10424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single-channel optimism</a:t>
            </a:r>
            <a:endParaRPr lang="en-US" sz="1420" dirty="0"/>
          </a:p>
        </p:txBody>
      </p:sp>
      <p:sp>
        <p:nvSpPr>
          <p:cNvPr id="36" name="Text 34"/>
          <p:cNvSpPr/>
          <p:nvPr/>
        </p:nvSpPr>
        <p:spPr>
          <a:xfrm>
            <a:off x="10268712" y="2980944"/>
            <a:ext cx="1042416" cy="2368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would treat digital as a powerful layer, not a substitute for the rest of the information network.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66928" y="6574536"/>
            <a:ext cx="7132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Evidence: C11 · C12 · C14 · C17 | Full URL, page and rationale in appendix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7863840" y="6574536"/>
            <a:ext cx="3154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70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Not commissioned by or affiliated with Grant Thornton Bharat.</a:t>
            </a:r>
            <a:endParaRPr lang="en-US" sz="6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6616A"/>
                </a:solidFill>
                <a:latin typeface="Aptos Mono"/>
                <a:ea typeface="Aptos Mono"/>
                <a:cs typeface="Aptos Mono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20" kern="0" dirty="0">
                <a:solidFill>
                  <a:srgbClr val="6B4A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CORE / 05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would localise meaning, not just translate words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1408176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Language matters; so do the example, messenger, context and call-to-action that make a message usable.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58368" y="2148840"/>
            <a:ext cx="2542032" cy="2103120"/>
          </a:xfrm>
          <a:prstGeom prst="roundRect">
            <a:avLst>
              <a:gd name="adj" fmla="val 5217"/>
            </a:avLst>
          </a:prstGeom>
          <a:solidFill>
            <a:srgbClr val="FFFEFC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286000"/>
            <a:ext cx="22128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spc="70" kern="0" dirty="0">
                <a:solidFill>
                  <a:srgbClr val="6B4A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01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22960" y="2532888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LANGUAGE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822960" y="2980944"/>
            <a:ext cx="2212848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words will be understood without losing precision?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419856" y="2148840"/>
            <a:ext cx="2542032" cy="2103120"/>
          </a:xfrm>
          <a:prstGeom prst="roundRect">
            <a:avLst>
              <a:gd name="adj" fmla="val 5217"/>
            </a:avLst>
          </a:prstGeom>
          <a:solidFill>
            <a:srgbClr val="FFFEFC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84448" y="2286000"/>
            <a:ext cx="22128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spc="70" kern="0" dirty="0">
                <a:solidFill>
                  <a:srgbClr val="3E5D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02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3584448" y="2532888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3584448" y="2980944"/>
            <a:ext cx="2212848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local situation makes the policy concrete?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81344" y="2148840"/>
            <a:ext cx="2542032" cy="2103120"/>
          </a:xfrm>
          <a:prstGeom prst="roundRect">
            <a:avLst>
              <a:gd name="adj" fmla="val 5217"/>
            </a:avLst>
          </a:prstGeom>
          <a:solidFill>
            <a:srgbClr val="FFFEFC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45936" y="2286000"/>
            <a:ext cx="22128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spc="70" kern="0" dirty="0">
                <a:solidFill>
                  <a:srgbClr val="B28A5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03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6345936" y="2532888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CTA</a:t>
            </a:r>
            <a:endParaRPr lang="en-US" sz="1420" dirty="0"/>
          </a:p>
        </p:txBody>
      </p:sp>
      <p:sp>
        <p:nvSpPr>
          <p:cNvPr id="16" name="Text 14"/>
          <p:cNvSpPr/>
          <p:nvPr/>
        </p:nvSpPr>
        <p:spPr>
          <a:xfrm>
            <a:off x="6345936" y="2980944"/>
            <a:ext cx="2212848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exactly should a citizen do next?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942832" y="2148840"/>
            <a:ext cx="2542032" cy="2103120"/>
          </a:xfrm>
          <a:prstGeom prst="roundRect">
            <a:avLst>
              <a:gd name="adj" fmla="val 5217"/>
            </a:avLst>
          </a:prstGeom>
          <a:solidFill>
            <a:srgbClr val="FFFEFC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07424" y="2286000"/>
            <a:ext cx="22128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spc="70" kern="0" dirty="0">
                <a:solidFill>
                  <a:srgbClr val="6C837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04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9107424" y="2532888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MESSENGER</a:t>
            </a:r>
            <a:endParaRPr lang="en-US" sz="1420" dirty="0"/>
          </a:p>
        </p:txBody>
      </p:sp>
      <p:sp>
        <p:nvSpPr>
          <p:cNvPr id="20" name="Text 18"/>
          <p:cNvSpPr/>
          <p:nvPr/>
        </p:nvSpPr>
        <p:spPr>
          <a:xfrm>
            <a:off x="9107424" y="2980944"/>
            <a:ext cx="2212848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official, institution or channel is credible here?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58368" y="4572000"/>
            <a:ext cx="10826496" cy="1060704"/>
          </a:xfrm>
          <a:prstGeom prst="roundRect">
            <a:avLst>
              <a:gd name="adj" fmla="val 10345"/>
            </a:avLst>
          </a:prstGeom>
          <a:solidFill>
            <a:srgbClr val="F0EAF3"/>
          </a:solidFill>
          <a:ln w="10160">
            <a:solidFill>
              <a:srgbClr val="DCCFE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477316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B4A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CONTEXT I WOULD RESPECT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2743200" y="4700016"/>
            <a:ext cx="8275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11E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English is the state official language; the Language Act permits Khasi and Garo as associate official languages in specified district-level contexts. A 2022 citizen-engagement RFP separately required communication in local languages.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66928" y="6574536"/>
            <a:ext cx="7132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Evidence: C05 · C09 · C18 | Full URL, page and rationale in appendix</a:t>
            </a:r>
            <a:endParaRPr lang="en-US" sz="680" dirty="0"/>
          </a:p>
        </p:txBody>
      </p:sp>
      <p:sp>
        <p:nvSpPr>
          <p:cNvPr id="25" name="Text 23"/>
          <p:cNvSpPr/>
          <p:nvPr/>
        </p:nvSpPr>
        <p:spPr>
          <a:xfrm>
            <a:off x="7863840" y="6574536"/>
            <a:ext cx="3154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70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Not commissioned by or affiliated with Grant Thornton Bharat.</a:t>
            </a:r>
            <a:endParaRPr lang="en-US" sz="6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6616A"/>
                </a:solidFill>
                <a:latin typeface="Aptos Mono"/>
                <a:ea typeface="Aptos Mono"/>
                <a:cs typeface="Aptos Mono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20" kern="0" dirty="0">
                <a:solidFill>
                  <a:srgbClr val="6B4A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CORE / 06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would design for young audiences without treating youth as one audience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1408176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youth-heavy state can still contain very different needs, contexts and information behaviours.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58368" y="2148840"/>
            <a:ext cx="2971800" cy="1874520"/>
          </a:xfrm>
          <a:prstGeom prst="roundRect">
            <a:avLst>
              <a:gd name="adj" fmla="val 5854"/>
            </a:avLst>
          </a:prstGeom>
          <a:solidFill>
            <a:srgbClr val="FFFEFC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313432"/>
            <a:ext cx="2642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6B4A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70%+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822960" y="2761488"/>
            <a:ext cx="2642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211E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 35 - 2021 policy estimate</a:t>
            </a:r>
            <a:endParaRPr lang="en-US" sz="940" dirty="0"/>
          </a:p>
        </p:txBody>
      </p:sp>
      <p:sp>
        <p:nvSpPr>
          <p:cNvPr id="8" name="Text 6"/>
          <p:cNvSpPr/>
          <p:nvPr/>
        </p:nvSpPr>
        <p:spPr>
          <a:xfrm>
            <a:off x="822960" y="3081528"/>
            <a:ext cx="264261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policy estimated 27.08 lakh of 36.31 lakh people under 35. I would not present this as a current census figure.</a:t>
            </a:r>
            <a:endParaRPr lang="en-US" sz="780" dirty="0"/>
          </a:p>
        </p:txBody>
      </p:sp>
      <p:sp>
        <p:nvSpPr>
          <p:cNvPr id="9" name="Shape 7"/>
          <p:cNvSpPr/>
          <p:nvPr/>
        </p:nvSpPr>
        <p:spPr>
          <a:xfrm>
            <a:off x="3840480" y="2148840"/>
            <a:ext cx="3657600" cy="1874520"/>
          </a:xfrm>
          <a:prstGeom prst="roundRect">
            <a:avLst>
              <a:gd name="adj" fmla="val 5854"/>
            </a:avLst>
          </a:prstGeom>
          <a:solidFill>
            <a:srgbClr val="FFFEFC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05072" y="2286000"/>
            <a:ext cx="33284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spc="70" kern="0" dirty="0">
                <a:solidFill>
                  <a:srgbClr val="3E5D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POLICY CAUTION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005072" y="2532888"/>
            <a:ext cx="33284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Youth are not one segment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4005072" y="2980944"/>
            <a:ext cx="332841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policy itself differentiates students/non-students, rural/urban and other life situations. I would segment by need state rather than use one generic “youth tone.”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708392" y="2148840"/>
            <a:ext cx="3767328" cy="1874520"/>
          </a:xfrm>
          <a:prstGeom prst="roundRect">
            <a:avLst>
              <a:gd name="adj" fmla="val 5854"/>
            </a:avLst>
          </a:prstGeom>
          <a:solidFill>
            <a:srgbClr val="FFFEFC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72984" y="2286000"/>
            <a:ext cx="34381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spc="70" kern="0" dirty="0">
                <a:solidFill>
                  <a:srgbClr val="B28A5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HOW I WOULD USE THIS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872984" y="2532888"/>
            <a:ext cx="3438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Format agility, not slang</a:t>
            </a:r>
            <a:endParaRPr lang="en-US" sz="1420" dirty="0"/>
          </a:p>
        </p:txBody>
      </p:sp>
      <p:sp>
        <p:nvSpPr>
          <p:cNvPr id="16" name="Text 14"/>
          <p:cNvSpPr/>
          <p:nvPr/>
        </p:nvSpPr>
        <p:spPr>
          <a:xfrm>
            <a:off x="7872984" y="2980944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would use short-form video and visual explainers where useful, but keep authority, clarity and actionability ahead of trend mimicry.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58368" y="4361688"/>
            <a:ext cx="10826496" cy="1051560"/>
          </a:xfrm>
          <a:prstGeom prst="roundRect">
            <a:avLst>
              <a:gd name="adj" fmla="val 10435"/>
            </a:avLst>
          </a:prstGeom>
          <a:solidFill>
            <a:srgbClr val="FFFEFC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0120" y="4636008"/>
            <a:ext cx="1956816" cy="566928"/>
          </a:xfrm>
          <a:prstGeom prst="roundRect">
            <a:avLst>
              <a:gd name="adj" fmla="val 19355"/>
            </a:avLst>
          </a:prstGeom>
          <a:solidFill>
            <a:srgbClr val="F0EAF3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14984" y="4745736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 STATE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2889504" y="481888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28A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026664" y="4636008"/>
            <a:ext cx="1956816" cy="566928"/>
          </a:xfrm>
          <a:prstGeom prst="roundRect">
            <a:avLst>
              <a:gd name="adj" fmla="val 19355"/>
            </a:avLst>
          </a:prstGeom>
          <a:solidFill>
            <a:srgbClr val="EAF0ED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81528" y="4745736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3E5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4956048" y="481888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28A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093208" y="4636008"/>
            <a:ext cx="1956816" cy="566928"/>
          </a:xfrm>
          <a:prstGeom prst="roundRect">
            <a:avLst>
              <a:gd name="adj" fmla="val 19355"/>
            </a:avLst>
          </a:prstGeom>
          <a:solidFill>
            <a:srgbClr val="F0EAF3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48072" y="4745736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FORMAT</a:t>
            </a:r>
            <a:endParaRPr lang="en-US" sz="920" dirty="0"/>
          </a:p>
        </p:txBody>
      </p:sp>
      <p:sp>
        <p:nvSpPr>
          <p:cNvPr id="26" name="Text 24"/>
          <p:cNvSpPr/>
          <p:nvPr/>
        </p:nvSpPr>
        <p:spPr>
          <a:xfrm>
            <a:off x="7022592" y="481888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28A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159752" y="4636008"/>
            <a:ext cx="1956816" cy="566928"/>
          </a:xfrm>
          <a:prstGeom prst="roundRect">
            <a:avLst>
              <a:gd name="adj" fmla="val 19355"/>
            </a:avLst>
          </a:prstGeom>
          <a:solidFill>
            <a:srgbClr val="EAF0ED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14616" y="4745736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3E5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LANGUAGE</a:t>
            </a:r>
            <a:endParaRPr lang="en-US" sz="920" dirty="0"/>
          </a:p>
        </p:txBody>
      </p:sp>
      <p:sp>
        <p:nvSpPr>
          <p:cNvPr id="29" name="Text 27"/>
          <p:cNvSpPr/>
          <p:nvPr/>
        </p:nvSpPr>
        <p:spPr>
          <a:xfrm>
            <a:off x="9089136" y="481888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28A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9226296" y="4636008"/>
            <a:ext cx="1956816" cy="566928"/>
          </a:xfrm>
          <a:prstGeom prst="roundRect">
            <a:avLst>
              <a:gd name="adj" fmla="val 19355"/>
            </a:avLst>
          </a:prstGeom>
          <a:solidFill>
            <a:srgbClr val="F0EAF3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281160" y="4745736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920" dirty="0"/>
          </a:p>
        </p:txBody>
      </p:sp>
      <p:sp>
        <p:nvSpPr>
          <p:cNvPr id="32" name="Text 30"/>
          <p:cNvSpPr/>
          <p:nvPr/>
        </p:nvSpPr>
        <p:spPr>
          <a:xfrm>
            <a:off x="566928" y="6574536"/>
            <a:ext cx="7132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Evidence: C10 | Full URL, page and rationale in appendix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7863840" y="6574536"/>
            <a:ext cx="3154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70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Not commissioned by or affiliated with Grant Thornton Bharat.</a:t>
            </a:r>
            <a:endParaRPr lang="en-US" sz="6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6616A"/>
                </a:solidFill>
                <a:latin typeface="Aptos Mono"/>
                <a:ea typeface="Aptos Mono"/>
                <a:cs typeface="Aptos Mono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20" kern="0" dirty="0">
                <a:solidFill>
                  <a:srgbClr val="6B4A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CORE / 07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would turn every announcement into a citizen journey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1408176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goal would be to move from awareness to comprehension, action, support, feedback and - where relevant - resolution.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58368" y="2286000"/>
            <a:ext cx="1452590" cy="566928"/>
          </a:xfrm>
          <a:prstGeom prst="roundRect">
            <a:avLst>
              <a:gd name="adj" fmla="val 19355"/>
            </a:avLst>
          </a:prstGeom>
          <a:solidFill>
            <a:srgbClr val="F0EAF3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2395728"/>
            <a:ext cx="134286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ANNOUNCE</a:t>
            </a:r>
            <a:endParaRPr lang="en-US" sz="920" dirty="0"/>
          </a:p>
        </p:txBody>
      </p:sp>
      <p:sp>
        <p:nvSpPr>
          <p:cNvPr id="7" name="Text 5"/>
          <p:cNvSpPr/>
          <p:nvPr/>
        </p:nvSpPr>
        <p:spPr>
          <a:xfrm>
            <a:off x="2083526" y="246888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28A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220686" y="2286000"/>
            <a:ext cx="1452590" cy="566928"/>
          </a:xfrm>
          <a:prstGeom prst="roundRect">
            <a:avLst>
              <a:gd name="adj" fmla="val 19355"/>
            </a:avLst>
          </a:prstGeom>
          <a:solidFill>
            <a:srgbClr val="EAF0ED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75550" y="2395728"/>
            <a:ext cx="134286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3E5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</a:t>
            </a:r>
            <a:endParaRPr lang="en-US" sz="920" dirty="0"/>
          </a:p>
        </p:txBody>
      </p:sp>
      <p:sp>
        <p:nvSpPr>
          <p:cNvPr id="10" name="Text 8"/>
          <p:cNvSpPr/>
          <p:nvPr/>
        </p:nvSpPr>
        <p:spPr>
          <a:xfrm>
            <a:off x="3645843" y="246888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28A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783003" y="2286000"/>
            <a:ext cx="1452590" cy="566928"/>
          </a:xfrm>
          <a:prstGeom prst="roundRect">
            <a:avLst>
              <a:gd name="adj" fmla="val 19355"/>
            </a:avLst>
          </a:prstGeom>
          <a:solidFill>
            <a:srgbClr val="F0EAF3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37867" y="2395728"/>
            <a:ext cx="134286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RELEVANCE</a:t>
            </a:r>
            <a:endParaRPr lang="en-US" sz="920" dirty="0"/>
          </a:p>
        </p:txBody>
      </p:sp>
      <p:sp>
        <p:nvSpPr>
          <p:cNvPr id="13" name="Text 11"/>
          <p:cNvSpPr/>
          <p:nvPr/>
        </p:nvSpPr>
        <p:spPr>
          <a:xfrm>
            <a:off x="5208161" y="246888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28A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345321" y="2286000"/>
            <a:ext cx="1452590" cy="566928"/>
          </a:xfrm>
          <a:prstGeom prst="roundRect">
            <a:avLst>
              <a:gd name="adj" fmla="val 19355"/>
            </a:avLst>
          </a:prstGeom>
          <a:solidFill>
            <a:srgbClr val="EAF0ED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00185" y="2395728"/>
            <a:ext cx="134286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3E5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6770479" y="246888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28A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907639" y="2286000"/>
            <a:ext cx="1452590" cy="566928"/>
          </a:xfrm>
          <a:prstGeom prst="roundRect">
            <a:avLst>
              <a:gd name="adj" fmla="val 19355"/>
            </a:avLst>
          </a:prstGeom>
          <a:solidFill>
            <a:srgbClr val="F0EAF3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62503" y="2395728"/>
            <a:ext cx="134286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8332797" y="246888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28A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469957" y="2286000"/>
            <a:ext cx="1452590" cy="566928"/>
          </a:xfrm>
          <a:prstGeom prst="roundRect">
            <a:avLst>
              <a:gd name="adj" fmla="val 19355"/>
            </a:avLst>
          </a:prstGeom>
          <a:solidFill>
            <a:srgbClr val="EAF0ED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24821" y="2395728"/>
            <a:ext cx="134286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3E5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FEEDBACK</a:t>
            </a:r>
            <a:endParaRPr lang="en-US" sz="920" dirty="0"/>
          </a:p>
        </p:txBody>
      </p:sp>
      <p:sp>
        <p:nvSpPr>
          <p:cNvPr id="22" name="Text 20"/>
          <p:cNvSpPr/>
          <p:nvPr/>
        </p:nvSpPr>
        <p:spPr>
          <a:xfrm>
            <a:off x="9895114" y="246888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28A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0032274" y="2286000"/>
            <a:ext cx="1452590" cy="566928"/>
          </a:xfrm>
          <a:prstGeom prst="roundRect">
            <a:avLst>
              <a:gd name="adj" fmla="val 19355"/>
            </a:avLst>
          </a:prstGeom>
          <a:solidFill>
            <a:srgbClr val="F0EAF3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87138" y="2395728"/>
            <a:ext cx="134286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CLOSURE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658368" y="3246120"/>
            <a:ext cx="3383280" cy="987552"/>
          </a:xfrm>
          <a:prstGeom prst="roundRect">
            <a:avLst>
              <a:gd name="adj" fmla="val 11111"/>
            </a:avLst>
          </a:prstGeom>
          <a:solidFill>
            <a:srgbClr val="FFFEFC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3383280"/>
            <a:ext cx="30540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spc="70" kern="0" dirty="0">
                <a:solidFill>
                  <a:srgbClr val="6B4A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ANNOUNCE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822960" y="3630168"/>
            <a:ext cx="3054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changed?</a:t>
            </a:r>
            <a:endParaRPr lang="en-US" sz="1420" dirty="0"/>
          </a:p>
        </p:txBody>
      </p:sp>
      <p:sp>
        <p:nvSpPr>
          <p:cNvPr id="28" name="Text 26"/>
          <p:cNvSpPr/>
          <p:nvPr/>
        </p:nvSpPr>
        <p:spPr>
          <a:xfrm>
            <a:off x="822960" y="4078224"/>
            <a:ext cx="3054096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would assign a content owner, channel and response path.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270248" y="3246120"/>
            <a:ext cx="3383280" cy="987552"/>
          </a:xfrm>
          <a:prstGeom prst="roundRect">
            <a:avLst>
              <a:gd name="adj" fmla="val 11111"/>
            </a:avLst>
          </a:prstGeom>
          <a:solidFill>
            <a:srgbClr val="FFFEFC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34840" y="3383280"/>
            <a:ext cx="30540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spc="70" kern="0" dirty="0">
                <a:solidFill>
                  <a:srgbClr val="3E5D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EXPLAIN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4434840" y="3630168"/>
            <a:ext cx="3054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does it mean?</a:t>
            </a:r>
            <a:endParaRPr lang="en-US" sz="1420" dirty="0"/>
          </a:p>
        </p:txBody>
      </p:sp>
      <p:sp>
        <p:nvSpPr>
          <p:cNvPr id="32" name="Text 30"/>
          <p:cNvSpPr/>
          <p:nvPr/>
        </p:nvSpPr>
        <p:spPr>
          <a:xfrm>
            <a:off x="4434840" y="4078224"/>
            <a:ext cx="3054096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would assign a content owner, channel and response path.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882128" y="3246120"/>
            <a:ext cx="3383280" cy="987552"/>
          </a:xfrm>
          <a:prstGeom prst="roundRect">
            <a:avLst>
              <a:gd name="adj" fmla="val 11111"/>
            </a:avLst>
          </a:prstGeom>
          <a:solidFill>
            <a:srgbClr val="FFFEFC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46720" y="3383280"/>
            <a:ext cx="30540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spc="70" kern="0" dirty="0">
                <a:solidFill>
                  <a:srgbClr val="B28A5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ACTION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8046720" y="3630168"/>
            <a:ext cx="3054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should I do?</a:t>
            </a:r>
            <a:endParaRPr lang="en-US" sz="1420" dirty="0"/>
          </a:p>
        </p:txBody>
      </p:sp>
      <p:sp>
        <p:nvSpPr>
          <p:cNvPr id="36" name="Text 34"/>
          <p:cNvSpPr/>
          <p:nvPr/>
        </p:nvSpPr>
        <p:spPr>
          <a:xfrm>
            <a:off x="8046720" y="4078224"/>
            <a:ext cx="3054096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would assign a content owner, channel and response path.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58368" y="4416552"/>
            <a:ext cx="3383280" cy="987552"/>
          </a:xfrm>
          <a:prstGeom prst="roundRect">
            <a:avLst>
              <a:gd name="adj" fmla="val 11111"/>
            </a:avLst>
          </a:prstGeom>
          <a:solidFill>
            <a:srgbClr val="FFFEFC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2960" y="4553712"/>
            <a:ext cx="30540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spc="70" kern="0" dirty="0">
                <a:solidFill>
                  <a:srgbClr val="6C837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SUPPORT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822960" y="4800600"/>
            <a:ext cx="3054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do I get help?</a:t>
            </a:r>
            <a:endParaRPr lang="en-US" sz="1420" dirty="0"/>
          </a:p>
        </p:txBody>
      </p:sp>
      <p:sp>
        <p:nvSpPr>
          <p:cNvPr id="40" name="Text 38"/>
          <p:cNvSpPr/>
          <p:nvPr/>
        </p:nvSpPr>
        <p:spPr>
          <a:xfrm>
            <a:off x="822960" y="5248656"/>
            <a:ext cx="3054096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would assign a content owner, channel and response path.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270248" y="4416552"/>
            <a:ext cx="3383280" cy="987552"/>
          </a:xfrm>
          <a:prstGeom prst="roundRect">
            <a:avLst>
              <a:gd name="adj" fmla="val 11111"/>
            </a:avLst>
          </a:prstGeom>
          <a:solidFill>
            <a:srgbClr val="FFFEFC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434840" y="4553712"/>
            <a:ext cx="30540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spc="70" kern="0" dirty="0">
                <a:solidFill>
                  <a:srgbClr val="6B4A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FEEDBACK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4434840" y="4800600"/>
            <a:ext cx="3054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did people not understand?</a:t>
            </a:r>
            <a:endParaRPr lang="en-US" sz="1420" dirty="0"/>
          </a:p>
        </p:txBody>
      </p:sp>
      <p:sp>
        <p:nvSpPr>
          <p:cNvPr id="44" name="Text 42"/>
          <p:cNvSpPr/>
          <p:nvPr/>
        </p:nvSpPr>
        <p:spPr>
          <a:xfrm>
            <a:off x="4434840" y="5248656"/>
            <a:ext cx="3054096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would assign a content owner, channel and response path.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7882128" y="4416552"/>
            <a:ext cx="3383280" cy="987552"/>
          </a:xfrm>
          <a:prstGeom prst="roundRect">
            <a:avLst>
              <a:gd name="adj" fmla="val 11111"/>
            </a:avLst>
          </a:prstGeom>
          <a:solidFill>
            <a:srgbClr val="FFFEFC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046720" y="4553712"/>
            <a:ext cx="30540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spc="70" kern="0" dirty="0">
                <a:solidFill>
                  <a:srgbClr val="3E5D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CLOSURE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8046720" y="4800600"/>
            <a:ext cx="3054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changed after feedback?</a:t>
            </a:r>
            <a:endParaRPr lang="en-US" sz="1420" dirty="0"/>
          </a:p>
        </p:txBody>
      </p:sp>
      <p:sp>
        <p:nvSpPr>
          <p:cNvPr id="48" name="Text 46"/>
          <p:cNvSpPr/>
          <p:nvPr/>
        </p:nvSpPr>
        <p:spPr>
          <a:xfrm>
            <a:off x="8046720" y="5248656"/>
            <a:ext cx="3054096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would assign a content owner, channel and response path.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566928" y="6574536"/>
            <a:ext cx="7132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Evidence: C04 · C05 · C06 · C08 · C19 | Full URL, page and rationale in appendix</a:t>
            </a:r>
            <a:endParaRPr lang="en-US" sz="680" dirty="0"/>
          </a:p>
        </p:txBody>
      </p:sp>
      <p:sp>
        <p:nvSpPr>
          <p:cNvPr id="50" name="Text 48"/>
          <p:cNvSpPr/>
          <p:nvPr/>
        </p:nvSpPr>
        <p:spPr>
          <a:xfrm>
            <a:off x="7863840" y="6574536"/>
            <a:ext cx="3154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70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Not commissioned by or affiliated with Grant Thornton Bharat.</a:t>
            </a:r>
            <a:endParaRPr lang="en-US" sz="6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6616A"/>
                </a:solidFill>
                <a:latin typeface="Aptos Mono"/>
                <a:ea typeface="Aptos Mono"/>
                <a:cs typeface="Aptos Mono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20" kern="0" dirty="0">
                <a:solidFill>
                  <a:srgbClr val="6B4A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CORE / 08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would run a communications confidence loop before I run a content calendar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1408176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 and speed improve when the information chain is explicit before creative production begins.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77240" y="2148840"/>
            <a:ext cx="1874520" cy="868680"/>
          </a:xfrm>
          <a:prstGeom prst="roundRect">
            <a:avLst>
              <a:gd name="adj" fmla="val 12632"/>
            </a:avLst>
          </a:prstGeom>
          <a:solidFill>
            <a:srgbClr val="F0EAF3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6968" y="2313432"/>
            <a:ext cx="347472" cy="347472"/>
          </a:xfrm>
          <a:prstGeom prst="ellipse">
            <a:avLst/>
          </a:prstGeom>
          <a:solidFill>
            <a:srgbClr val="6B4A7C"/>
          </a:solidFill>
          <a:ln w="12700">
            <a:solidFill>
              <a:srgbClr val="6B4A7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2386584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01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344168" y="2350008"/>
            <a:ext cx="1124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926080" y="2148840"/>
            <a:ext cx="1874520" cy="868680"/>
          </a:xfrm>
          <a:prstGeom prst="roundRect">
            <a:avLst>
              <a:gd name="adj" fmla="val 12632"/>
            </a:avLst>
          </a:prstGeom>
          <a:solidFill>
            <a:srgbClr val="EAF0ED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35808" y="2313432"/>
            <a:ext cx="347472" cy="347472"/>
          </a:xfrm>
          <a:prstGeom prst="ellipse">
            <a:avLst/>
          </a:prstGeom>
          <a:solidFill>
            <a:srgbClr val="3E5D55"/>
          </a:solidFill>
          <a:ln w="12700">
            <a:solidFill>
              <a:srgbClr val="3E5D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35808" y="2386584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02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3493008" y="2350008"/>
            <a:ext cx="1124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74920" y="2148840"/>
            <a:ext cx="1874520" cy="868680"/>
          </a:xfrm>
          <a:prstGeom prst="roundRect">
            <a:avLst>
              <a:gd name="adj" fmla="val 12632"/>
            </a:avLst>
          </a:prstGeom>
          <a:solidFill>
            <a:srgbClr val="F0EAF3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84648" y="2313432"/>
            <a:ext cx="347472" cy="347472"/>
          </a:xfrm>
          <a:prstGeom prst="ellipse">
            <a:avLst/>
          </a:prstGeom>
          <a:solidFill>
            <a:srgbClr val="6B4A7C"/>
          </a:solidFill>
          <a:ln w="12700">
            <a:solidFill>
              <a:srgbClr val="6B4A7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84648" y="2386584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03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5641848" y="2350008"/>
            <a:ext cx="1124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SIMPLIFY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223760" y="2148840"/>
            <a:ext cx="1874520" cy="868680"/>
          </a:xfrm>
          <a:prstGeom prst="roundRect">
            <a:avLst>
              <a:gd name="adj" fmla="val 12632"/>
            </a:avLst>
          </a:prstGeom>
          <a:solidFill>
            <a:srgbClr val="EAF0ED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33488" y="2313432"/>
            <a:ext cx="347472" cy="347472"/>
          </a:xfrm>
          <a:prstGeom prst="ellipse">
            <a:avLst/>
          </a:prstGeom>
          <a:solidFill>
            <a:srgbClr val="3E5D55"/>
          </a:solidFill>
          <a:ln w="12700">
            <a:solidFill>
              <a:srgbClr val="3E5D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33488" y="2386584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04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790688" y="2350008"/>
            <a:ext cx="1124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LOCALISE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372600" y="2148840"/>
            <a:ext cx="1874520" cy="868680"/>
          </a:xfrm>
          <a:prstGeom prst="roundRect">
            <a:avLst>
              <a:gd name="adj" fmla="val 12632"/>
            </a:avLst>
          </a:prstGeom>
          <a:solidFill>
            <a:srgbClr val="F0EAF3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482328" y="2313432"/>
            <a:ext cx="347472" cy="347472"/>
          </a:xfrm>
          <a:prstGeom prst="ellipse">
            <a:avLst/>
          </a:prstGeom>
          <a:solidFill>
            <a:srgbClr val="6B4A7C"/>
          </a:solidFill>
          <a:ln w="12700">
            <a:solidFill>
              <a:srgbClr val="6B4A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82328" y="2386584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05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9939528" y="2350008"/>
            <a:ext cx="1124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77240" y="3383280"/>
            <a:ext cx="1874520" cy="868680"/>
          </a:xfrm>
          <a:prstGeom prst="roundRect">
            <a:avLst>
              <a:gd name="adj" fmla="val 12632"/>
            </a:avLst>
          </a:prstGeom>
          <a:solidFill>
            <a:srgbClr val="EAF0ED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86968" y="3547872"/>
            <a:ext cx="347472" cy="347472"/>
          </a:xfrm>
          <a:prstGeom prst="ellipse">
            <a:avLst/>
          </a:prstGeom>
          <a:solidFill>
            <a:srgbClr val="3E5D55"/>
          </a:solidFill>
          <a:ln w="12700">
            <a:solidFill>
              <a:srgbClr val="3E5D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86968" y="3621024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06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1344168" y="3584448"/>
            <a:ext cx="1124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926080" y="3383280"/>
            <a:ext cx="1874520" cy="868680"/>
          </a:xfrm>
          <a:prstGeom prst="roundRect">
            <a:avLst>
              <a:gd name="adj" fmla="val 12632"/>
            </a:avLst>
          </a:prstGeom>
          <a:solidFill>
            <a:srgbClr val="F0EAF3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035808" y="3547872"/>
            <a:ext cx="347472" cy="347472"/>
          </a:xfrm>
          <a:prstGeom prst="ellipse">
            <a:avLst/>
          </a:prstGeom>
          <a:solidFill>
            <a:srgbClr val="6B4A7C"/>
          </a:solidFill>
          <a:ln w="12700">
            <a:solidFill>
              <a:srgbClr val="6B4A7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035808" y="3621024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07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3493008" y="3584448"/>
            <a:ext cx="1124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DISTRIBUTE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074920" y="3383280"/>
            <a:ext cx="1874520" cy="868680"/>
          </a:xfrm>
          <a:prstGeom prst="roundRect">
            <a:avLst>
              <a:gd name="adj" fmla="val 12632"/>
            </a:avLst>
          </a:prstGeom>
          <a:solidFill>
            <a:srgbClr val="EAF0ED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184648" y="3547872"/>
            <a:ext cx="347472" cy="347472"/>
          </a:xfrm>
          <a:prstGeom prst="ellipse">
            <a:avLst/>
          </a:prstGeom>
          <a:solidFill>
            <a:srgbClr val="3E5D55"/>
          </a:solidFill>
          <a:ln w="12700">
            <a:solidFill>
              <a:srgbClr val="3E5D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84648" y="3621024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08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5641848" y="3584448"/>
            <a:ext cx="1124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LISTEN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223760" y="3383280"/>
            <a:ext cx="1874520" cy="868680"/>
          </a:xfrm>
          <a:prstGeom prst="roundRect">
            <a:avLst>
              <a:gd name="adj" fmla="val 12632"/>
            </a:avLst>
          </a:prstGeom>
          <a:solidFill>
            <a:srgbClr val="F0EAF3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33488" y="3547872"/>
            <a:ext cx="347472" cy="347472"/>
          </a:xfrm>
          <a:prstGeom prst="ellipse">
            <a:avLst/>
          </a:prstGeom>
          <a:solidFill>
            <a:srgbClr val="6B4A7C"/>
          </a:solidFill>
          <a:ln w="12700">
            <a:solidFill>
              <a:srgbClr val="6B4A7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33488" y="3621024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09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7790688" y="3584448"/>
            <a:ext cx="1124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9738360" y="3383280"/>
            <a:ext cx="1737360" cy="1874520"/>
          </a:xfrm>
          <a:prstGeom prst="roundRect">
            <a:avLst>
              <a:gd name="adj" fmla="val 6316"/>
            </a:avLst>
          </a:prstGeom>
          <a:solidFill>
            <a:srgbClr val="FFFEFC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902952" y="3520440"/>
            <a:ext cx="14081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spc="70" kern="0" dirty="0">
                <a:solidFill>
                  <a:srgbClr val="8A4A4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QUALITY GATE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9902952" y="3767328"/>
            <a:ext cx="1408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would stop a post if…</a:t>
            </a:r>
            <a:endParaRPr lang="en-US" sz="1420" dirty="0"/>
          </a:p>
        </p:txBody>
      </p:sp>
      <p:sp>
        <p:nvSpPr>
          <p:cNvPr id="44" name="Text 42"/>
          <p:cNvSpPr/>
          <p:nvPr/>
        </p:nvSpPr>
        <p:spPr>
          <a:xfrm>
            <a:off x="9902952" y="4215384"/>
            <a:ext cx="140817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source is unclear, the action is ambiguous, the audience is wrong, or the correction path is undefined.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777240" y="4892040"/>
            <a:ext cx="8641080" cy="749808"/>
          </a:xfrm>
          <a:prstGeom prst="roundRect">
            <a:avLst>
              <a:gd name="adj" fmla="val 14634"/>
            </a:avLst>
          </a:prstGeom>
          <a:solidFill>
            <a:srgbClr val="2E1B3A"/>
          </a:solidFill>
          <a:ln w="10160">
            <a:solidFill>
              <a:srgbClr val="2E1B3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05840" y="51023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would make the approval chain visible enough that speed comes from structure, not from skipping verification.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566928" y="6574536"/>
            <a:ext cx="7132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Evidence: C15 · C16 | Full URL, page and rationale in appendix</a:t>
            </a:r>
            <a:endParaRPr lang="en-US" sz="680" dirty="0"/>
          </a:p>
        </p:txBody>
      </p:sp>
      <p:sp>
        <p:nvSpPr>
          <p:cNvPr id="48" name="Text 46"/>
          <p:cNvSpPr/>
          <p:nvPr/>
        </p:nvSpPr>
        <p:spPr>
          <a:xfrm>
            <a:off x="7863840" y="6574536"/>
            <a:ext cx="3154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70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Not commissioned by or affiliated with Grant Thornton Bharat.</a:t>
            </a:r>
            <a:endParaRPr lang="en-US" sz="6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6616A"/>
                </a:solidFill>
                <a:latin typeface="Aptos Mono"/>
                <a:ea typeface="Aptos Mono"/>
                <a:cs typeface="Aptos Mono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20" kern="0" dirty="0">
                <a:solidFill>
                  <a:srgbClr val="6B4A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CORE / 09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would make one development travel across formats - not duplicate the same copy everywhere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1408176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would build format-specific assets from one verified message architecture so each channel has a job.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58368" y="21031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example: a new public-service enrolment window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58368" y="2578608"/>
            <a:ext cx="2487168" cy="1115568"/>
          </a:xfrm>
          <a:prstGeom prst="roundRect">
            <a:avLst>
              <a:gd name="adj" fmla="val 9836"/>
            </a:avLst>
          </a:prstGeom>
          <a:solidFill>
            <a:srgbClr val="FFFEFC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715768"/>
            <a:ext cx="21579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spc="70" kern="0" dirty="0">
                <a:solidFill>
                  <a:srgbClr val="6B4A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PRESS NOTE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22960" y="2962656"/>
            <a:ext cx="2157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Official facts + quote + eligibility</a:t>
            </a:r>
            <a:endParaRPr lang="en-US" sz="1420" dirty="0"/>
          </a:p>
        </p:txBody>
      </p:sp>
      <p:sp>
        <p:nvSpPr>
          <p:cNvPr id="9" name="Text 7"/>
          <p:cNvSpPr/>
          <p:nvPr/>
        </p:nvSpPr>
        <p:spPr>
          <a:xfrm>
            <a:off x="822960" y="3410712"/>
            <a:ext cx="215798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verified message architecture; different communication job.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64992" y="2578608"/>
            <a:ext cx="2487168" cy="1115568"/>
          </a:xfrm>
          <a:prstGeom prst="roundRect">
            <a:avLst>
              <a:gd name="adj" fmla="val 9836"/>
            </a:avLst>
          </a:prstGeom>
          <a:solidFill>
            <a:srgbClr val="FFFEFC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2715768"/>
            <a:ext cx="21579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spc="70" kern="0" dirty="0">
                <a:solidFill>
                  <a:srgbClr val="3E5D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45S REEL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3529584" y="2962656"/>
            <a:ext cx="2157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 -&gt; benefit -&gt; action</a:t>
            </a:r>
            <a:endParaRPr lang="en-US" sz="1420" dirty="0"/>
          </a:p>
        </p:txBody>
      </p:sp>
      <p:sp>
        <p:nvSpPr>
          <p:cNvPr id="13" name="Text 11"/>
          <p:cNvSpPr/>
          <p:nvPr/>
        </p:nvSpPr>
        <p:spPr>
          <a:xfrm>
            <a:off x="3529584" y="3410712"/>
            <a:ext cx="215798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verified message architecture; different communication job.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71616" y="2578608"/>
            <a:ext cx="2487168" cy="1115568"/>
          </a:xfrm>
          <a:prstGeom prst="roundRect">
            <a:avLst>
              <a:gd name="adj" fmla="val 9836"/>
            </a:avLst>
          </a:prstGeom>
          <a:solidFill>
            <a:srgbClr val="FFFEFC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36208" y="2715768"/>
            <a:ext cx="21579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spc="70" kern="0" dirty="0">
                <a:solidFill>
                  <a:srgbClr val="B28A5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INFOGRAPHIC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6236208" y="2962656"/>
            <a:ext cx="2157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Eligibility + deadline + steps</a:t>
            </a:r>
            <a:endParaRPr lang="en-US" sz="1420" dirty="0"/>
          </a:p>
        </p:txBody>
      </p:sp>
      <p:sp>
        <p:nvSpPr>
          <p:cNvPr id="17" name="Text 15"/>
          <p:cNvSpPr/>
          <p:nvPr/>
        </p:nvSpPr>
        <p:spPr>
          <a:xfrm>
            <a:off x="6236208" y="3410712"/>
            <a:ext cx="215798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verified message architecture; different communication job.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778240" y="2578608"/>
            <a:ext cx="2487168" cy="1115568"/>
          </a:xfrm>
          <a:prstGeom prst="roundRect">
            <a:avLst>
              <a:gd name="adj" fmla="val 9836"/>
            </a:avLst>
          </a:prstGeom>
          <a:solidFill>
            <a:srgbClr val="FFFEFC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42832" y="2715768"/>
            <a:ext cx="21579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spc="70" kern="0" dirty="0">
                <a:solidFill>
                  <a:srgbClr val="6C837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FAQ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8942832" y="2962656"/>
            <a:ext cx="2157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8 questions + escalation</a:t>
            </a:r>
            <a:endParaRPr lang="en-US" sz="1420" dirty="0"/>
          </a:p>
        </p:txBody>
      </p:sp>
      <p:sp>
        <p:nvSpPr>
          <p:cNvPr id="21" name="Text 19"/>
          <p:cNvSpPr/>
          <p:nvPr/>
        </p:nvSpPr>
        <p:spPr>
          <a:xfrm>
            <a:off x="8942832" y="3410712"/>
            <a:ext cx="215798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verified message architecture; different communication job.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58368" y="3904488"/>
            <a:ext cx="2487168" cy="1115568"/>
          </a:xfrm>
          <a:prstGeom prst="roundRect">
            <a:avLst>
              <a:gd name="adj" fmla="val 9836"/>
            </a:avLst>
          </a:prstGeom>
          <a:solidFill>
            <a:srgbClr val="FFFEFC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4041648"/>
            <a:ext cx="21579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spc="70" kern="0" dirty="0">
                <a:solidFill>
                  <a:srgbClr val="6B4A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PHOTO STORY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822960" y="4288536"/>
            <a:ext cx="2157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 / beneficiary context</a:t>
            </a:r>
            <a:endParaRPr lang="en-US" sz="1420" dirty="0"/>
          </a:p>
        </p:txBody>
      </p:sp>
      <p:sp>
        <p:nvSpPr>
          <p:cNvPr id="25" name="Text 23"/>
          <p:cNvSpPr/>
          <p:nvPr/>
        </p:nvSpPr>
        <p:spPr>
          <a:xfrm>
            <a:off x="822960" y="4736592"/>
            <a:ext cx="215798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verified message architecture; different communication job.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364992" y="3904488"/>
            <a:ext cx="2487168" cy="1115568"/>
          </a:xfrm>
          <a:prstGeom prst="roundRect">
            <a:avLst>
              <a:gd name="adj" fmla="val 9836"/>
            </a:avLst>
          </a:prstGeom>
          <a:solidFill>
            <a:srgbClr val="FFFEFC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29584" y="4041648"/>
            <a:ext cx="21579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spc="70" kern="0" dirty="0">
                <a:solidFill>
                  <a:srgbClr val="3E5D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DISTRICT KIT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3529584" y="4288536"/>
            <a:ext cx="2157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contact + language + example</a:t>
            </a:r>
            <a:endParaRPr lang="en-US" sz="1420" dirty="0"/>
          </a:p>
        </p:txBody>
      </p:sp>
      <p:sp>
        <p:nvSpPr>
          <p:cNvPr id="29" name="Text 27"/>
          <p:cNvSpPr/>
          <p:nvPr/>
        </p:nvSpPr>
        <p:spPr>
          <a:xfrm>
            <a:off x="3529584" y="4736592"/>
            <a:ext cx="215798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verified message architecture; different communication job.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071616" y="3904488"/>
            <a:ext cx="2487168" cy="1115568"/>
          </a:xfrm>
          <a:prstGeom prst="roundRect">
            <a:avLst>
              <a:gd name="adj" fmla="val 9836"/>
            </a:avLst>
          </a:prstGeom>
          <a:solidFill>
            <a:srgbClr val="FFFEFC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36208" y="4041648"/>
            <a:ext cx="21579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spc="70" kern="0" dirty="0">
                <a:solidFill>
                  <a:srgbClr val="B28A5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MEDIA BRIEF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6236208" y="4288536"/>
            <a:ext cx="2157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 + evidence + spokesperson lines</a:t>
            </a:r>
            <a:endParaRPr lang="en-US" sz="1420" dirty="0"/>
          </a:p>
        </p:txBody>
      </p:sp>
      <p:sp>
        <p:nvSpPr>
          <p:cNvPr id="33" name="Text 31"/>
          <p:cNvSpPr/>
          <p:nvPr/>
        </p:nvSpPr>
        <p:spPr>
          <a:xfrm>
            <a:off x="6236208" y="4736592"/>
            <a:ext cx="215798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verified message architecture; different communication job.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778240" y="3904488"/>
            <a:ext cx="2487168" cy="1115568"/>
          </a:xfrm>
          <a:prstGeom prst="roundRect">
            <a:avLst>
              <a:gd name="adj" fmla="val 9836"/>
            </a:avLst>
          </a:prstGeom>
          <a:solidFill>
            <a:srgbClr val="FFFEFC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942832" y="4041648"/>
            <a:ext cx="21579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spc="70" kern="0" dirty="0">
                <a:solidFill>
                  <a:srgbClr val="6C837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SOCIAL CARDS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8942832" y="4288536"/>
            <a:ext cx="2157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Reminder / myth / CTA sequence</a:t>
            </a:r>
            <a:endParaRPr lang="en-US" sz="1420" dirty="0"/>
          </a:p>
        </p:txBody>
      </p:sp>
      <p:sp>
        <p:nvSpPr>
          <p:cNvPr id="37" name="Text 35"/>
          <p:cNvSpPr/>
          <p:nvPr/>
        </p:nvSpPr>
        <p:spPr>
          <a:xfrm>
            <a:off x="8942832" y="4736592"/>
            <a:ext cx="215798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verified message architecture; different communication job.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66928" y="6574536"/>
            <a:ext cx="7132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Evidence: C13 · C18 | Full URL, page and rationale in appendix</a:t>
            </a:r>
            <a:endParaRPr lang="en-US" sz="680" dirty="0"/>
          </a:p>
        </p:txBody>
      </p:sp>
      <p:sp>
        <p:nvSpPr>
          <p:cNvPr id="39" name="Text 37"/>
          <p:cNvSpPr/>
          <p:nvPr/>
        </p:nvSpPr>
        <p:spPr>
          <a:xfrm>
            <a:off x="7863840" y="6574536"/>
            <a:ext cx="3154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70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Not commissioned by or affiliated with Grant Thornton Bharat.</a:t>
            </a:r>
            <a:endParaRPr lang="en-US" sz="6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6616A"/>
                </a:solidFill>
                <a:latin typeface="Aptos Mono"/>
                <a:ea typeface="Aptos Mono"/>
                <a:cs typeface="Aptos Mono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20" kern="0" dirty="0">
                <a:solidFill>
                  <a:srgbClr val="6B4A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CORE / 10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would build a narrative radar that separates noise from decision-worthy signals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1408176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Monitoring is valuable only when it changes what I verify, clarify, escalate or create next.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58368" y="2148840"/>
            <a:ext cx="3364992" cy="1353312"/>
          </a:xfrm>
          <a:prstGeom prst="roundRect">
            <a:avLst>
              <a:gd name="adj" fmla="val 8108"/>
            </a:avLst>
          </a:prstGeom>
          <a:solidFill>
            <a:srgbClr val="FFFEFC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286000"/>
            <a:ext cx="30358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spc="70" kern="0" dirty="0">
                <a:solidFill>
                  <a:srgbClr val="6B4A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01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22960" y="2532888"/>
            <a:ext cx="3035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SIGNAL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822960" y="2980944"/>
            <a:ext cx="3035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News, social, stakeholder question, search trend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279392" y="2148840"/>
            <a:ext cx="3364992" cy="1353312"/>
          </a:xfrm>
          <a:prstGeom prst="roundRect">
            <a:avLst>
              <a:gd name="adj" fmla="val 8108"/>
            </a:avLst>
          </a:prstGeom>
          <a:solidFill>
            <a:srgbClr val="FFFEFC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43984" y="2286000"/>
            <a:ext cx="30358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spc="70" kern="0" dirty="0">
                <a:solidFill>
                  <a:srgbClr val="3E5D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02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443984" y="2532888"/>
            <a:ext cx="3035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4443984" y="2980944"/>
            <a:ext cx="3035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fact? What is incomplete?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900416" y="2148840"/>
            <a:ext cx="3364992" cy="1353312"/>
          </a:xfrm>
          <a:prstGeom prst="roundRect">
            <a:avLst>
              <a:gd name="adj" fmla="val 8108"/>
            </a:avLst>
          </a:prstGeom>
          <a:solidFill>
            <a:srgbClr val="FFFEFC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65008" y="2286000"/>
            <a:ext cx="30358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spc="70" kern="0" dirty="0">
                <a:solidFill>
                  <a:srgbClr val="B28A5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03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8065008" y="2532888"/>
            <a:ext cx="3035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</a:t>
            </a:r>
            <a:endParaRPr lang="en-US" sz="1420" dirty="0"/>
          </a:p>
        </p:txBody>
      </p:sp>
      <p:sp>
        <p:nvSpPr>
          <p:cNvPr id="16" name="Text 14"/>
          <p:cNvSpPr/>
          <p:nvPr/>
        </p:nvSpPr>
        <p:spPr>
          <a:xfrm>
            <a:off x="8065008" y="2980944"/>
            <a:ext cx="3035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is affected and what preceded this?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58368" y="3721608"/>
            <a:ext cx="3364992" cy="1353312"/>
          </a:xfrm>
          <a:prstGeom prst="roundRect">
            <a:avLst>
              <a:gd name="adj" fmla="val 8108"/>
            </a:avLst>
          </a:prstGeom>
          <a:solidFill>
            <a:srgbClr val="FFFEFC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858768"/>
            <a:ext cx="30358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spc="70" kern="0" dirty="0">
                <a:solidFill>
                  <a:srgbClr val="6C837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04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822960" y="4105656"/>
            <a:ext cx="3035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VELOCITY</a:t>
            </a:r>
            <a:endParaRPr lang="en-US" sz="1420" dirty="0"/>
          </a:p>
        </p:txBody>
      </p:sp>
      <p:sp>
        <p:nvSpPr>
          <p:cNvPr id="20" name="Text 18"/>
          <p:cNvSpPr/>
          <p:nvPr/>
        </p:nvSpPr>
        <p:spPr>
          <a:xfrm>
            <a:off x="822960" y="4553712"/>
            <a:ext cx="3035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it emerging, accelerating, persistent or declining?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279392" y="3721608"/>
            <a:ext cx="3364992" cy="1353312"/>
          </a:xfrm>
          <a:prstGeom prst="roundRect">
            <a:avLst>
              <a:gd name="adj" fmla="val 8108"/>
            </a:avLst>
          </a:prstGeom>
          <a:solidFill>
            <a:srgbClr val="FFFEFC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43984" y="3858768"/>
            <a:ext cx="30358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spc="70" kern="0" dirty="0">
                <a:solidFill>
                  <a:srgbClr val="6B4A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05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4443984" y="4105656"/>
            <a:ext cx="3035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DECIDE</a:t>
            </a:r>
            <a:endParaRPr lang="en-US" sz="1420" dirty="0"/>
          </a:p>
        </p:txBody>
      </p:sp>
      <p:sp>
        <p:nvSpPr>
          <p:cNvPr id="24" name="Text 22"/>
          <p:cNvSpPr/>
          <p:nvPr/>
        </p:nvSpPr>
        <p:spPr>
          <a:xfrm>
            <a:off x="4443984" y="4553712"/>
            <a:ext cx="3035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Clarify, respond, create, escalate or observe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900416" y="3721608"/>
            <a:ext cx="3364992" cy="1353312"/>
          </a:xfrm>
          <a:prstGeom prst="roundRect">
            <a:avLst>
              <a:gd name="adj" fmla="val 8108"/>
            </a:avLst>
          </a:prstGeom>
          <a:solidFill>
            <a:srgbClr val="FFFEFC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65008" y="3858768"/>
            <a:ext cx="30358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spc="70" kern="0" dirty="0">
                <a:solidFill>
                  <a:srgbClr val="3E5D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06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8065008" y="4105656"/>
            <a:ext cx="3035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</a:t>
            </a:r>
            <a:endParaRPr lang="en-US" sz="1420" dirty="0"/>
          </a:p>
        </p:txBody>
      </p:sp>
      <p:sp>
        <p:nvSpPr>
          <p:cNvPr id="28" name="Text 26"/>
          <p:cNvSpPr/>
          <p:nvPr/>
        </p:nvSpPr>
        <p:spPr>
          <a:xfrm>
            <a:off x="8065008" y="4553712"/>
            <a:ext cx="3035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Did the response reduce confusion or create a new question?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58368" y="5440680"/>
            <a:ext cx="10826496" cy="420624"/>
          </a:xfrm>
          <a:prstGeom prst="roundRect">
            <a:avLst>
              <a:gd name="adj" fmla="val 26087"/>
            </a:avLst>
          </a:prstGeom>
          <a:solidFill>
            <a:srgbClr val="F4EEE6"/>
          </a:solidFill>
          <a:ln w="10160">
            <a:solidFill>
              <a:srgbClr val="F4EE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5522976"/>
            <a:ext cx="10287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rule: sentiment is a signal, not a decision. I would verify the underlying issue before I optimise the response.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66928" y="6574536"/>
            <a:ext cx="7132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Evidence: C20 | Full URL, page and rationale in appendix</a:t>
            </a:r>
            <a:endParaRPr lang="en-US" sz="680" dirty="0"/>
          </a:p>
        </p:txBody>
      </p:sp>
      <p:sp>
        <p:nvSpPr>
          <p:cNvPr id="32" name="Text 30"/>
          <p:cNvSpPr/>
          <p:nvPr/>
        </p:nvSpPr>
        <p:spPr>
          <a:xfrm>
            <a:off x="7863840" y="6574536"/>
            <a:ext cx="3154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70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Not commissioned by or affiliated with Grant Thornton Bharat.</a:t>
            </a:r>
            <a:endParaRPr lang="en-US" sz="6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6616A"/>
                </a:solidFill>
                <a:latin typeface="Aptos Mono"/>
                <a:ea typeface="Aptos Mono"/>
                <a:cs typeface="Aptos Mono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20" kern="0" dirty="0">
                <a:solidFill>
                  <a:srgbClr val="6B4A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CORE / 11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would measure whether communication moved from reach to resolution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1408176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would keep reach, but add comprehension proxies, action, closure and learning so the dashboard reflects public value.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58368" y="2148840"/>
            <a:ext cx="1975104" cy="2971800"/>
          </a:xfrm>
          <a:prstGeom prst="roundRect">
            <a:avLst>
              <a:gd name="adj" fmla="val 5556"/>
            </a:avLst>
          </a:prstGeom>
          <a:solidFill>
            <a:srgbClr val="FFFEFC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286000"/>
            <a:ext cx="1645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spc="70" kern="0" dirty="0">
                <a:solidFill>
                  <a:srgbClr val="6B4A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01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22960" y="253288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REACH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822960" y="2980944"/>
            <a:ext cx="1645920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Did the intended audience encounter it?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Examples: delivery, views, coverage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834640" y="2148840"/>
            <a:ext cx="1975104" cy="2971800"/>
          </a:xfrm>
          <a:prstGeom prst="roundRect">
            <a:avLst>
              <a:gd name="adj" fmla="val 5556"/>
            </a:avLst>
          </a:prstGeom>
          <a:solidFill>
            <a:srgbClr val="FFFEFC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99232" y="2286000"/>
            <a:ext cx="1645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spc="70" kern="0" dirty="0">
                <a:solidFill>
                  <a:srgbClr val="3E5D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02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2999232" y="253288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COMPREHENSION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2999232" y="2980944"/>
            <a:ext cx="1645920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Did the content reduce ambiguity?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Examples: FAQ patterns, completion, repeat questions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10912" y="2148840"/>
            <a:ext cx="1975104" cy="2971800"/>
          </a:xfrm>
          <a:prstGeom prst="roundRect">
            <a:avLst>
              <a:gd name="adj" fmla="val 5556"/>
            </a:avLst>
          </a:prstGeom>
          <a:solidFill>
            <a:srgbClr val="FFFEFC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75504" y="2286000"/>
            <a:ext cx="1645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spc="70" kern="0" dirty="0">
                <a:solidFill>
                  <a:srgbClr val="B28A5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03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5175504" y="253288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1420" dirty="0"/>
          </a:p>
        </p:txBody>
      </p:sp>
      <p:sp>
        <p:nvSpPr>
          <p:cNvPr id="16" name="Text 14"/>
          <p:cNvSpPr/>
          <p:nvPr/>
        </p:nvSpPr>
        <p:spPr>
          <a:xfrm>
            <a:off x="5175504" y="2980944"/>
            <a:ext cx="1645920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Did people take the next step?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Examples: clicks, registrations, calls, applications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187184" y="2148840"/>
            <a:ext cx="1975104" cy="2971800"/>
          </a:xfrm>
          <a:prstGeom prst="roundRect">
            <a:avLst>
              <a:gd name="adj" fmla="val 5556"/>
            </a:avLst>
          </a:prstGeom>
          <a:solidFill>
            <a:srgbClr val="FFFEFC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51776" y="2286000"/>
            <a:ext cx="1645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spc="70" kern="0" dirty="0">
                <a:solidFill>
                  <a:srgbClr val="6C837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04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7351776" y="253288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CLOSURE</a:t>
            </a:r>
            <a:endParaRPr lang="en-US" sz="1420" dirty="0"/>
          </a:p>
        </p:txBody>
      </p:sp>
      <p:sp>
        <p:nvSpPr>
          <p:cNvPr id="20" name="Text 18"/>
          <p:cNvSpPr/>
          <p:nvPr/>
        </p:nvSpPr>
        <p:spPr>
          <a:xfrm>
            <a:off x="7351776" y="2980944"/>
            <a:ext cx="1645920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Was the query/grievance resolved?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Examples: resolution, turnaround, repeat contact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363456" y="2148840"/>
            <a:ext cx="1975104" cy="2971800"/>
          </a:xfrm>
          <a:prstGeom prst="roundRect">
            <a:avLst>
              <a:gd name="adj" fmla="val 5556"/>
            </a:avLst>
          </a:prstGeom>
          <a:solidFill>
            <a:srgbClr val="FFFEFC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28048" y="2286000"/>
            <a:ext cx="1645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spc="70" kern="0" dirty="0">
                <a:solidFill>
                  <a:srgbClr val="6B4A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05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9528048" y="253288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</a:t>
            </a:r>
            <a:endParaRPr lang="en-US" sz="1420" dirty="0"/>
          </a:p>
        </p:txBody>
      </p:sp>
      <p:sp>
        <p:nvSpPr>
          <p:cNvPr id="24" name="Text 22"/>
          <p:cNvSpPr/>
          <p:nvPr/>
        </p:nvSpPr>
        <p:spPr>
          <a:xfrm>
            <a:off x="9528048" y="2980944"/>
            <a:ext cx="1645920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should change next cycle?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Examples: content, channel, timing, process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49808" y="5422392"/>
            <a:ext cx="10561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would avoid pretending every outcome is attributable to communications alone; the dashboard should separate delivery metrics, behaviour proxies and service outcomes.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66928" y="6574536"/>
            <a:ext cx="7132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Evidence: C19 | Full URL, page and rationale in appendix</a:t>
            </a:r>
            <a:endParaRPr lang="en-US" sz="680" dirty="0"/>
          </a:p>
        </p:txBody>
      </p:sp>
      <p:sp>
        <p:nvSpPr>
          <p:cNvPr id="27" name="Text 25"/>
          <p:cNvSpPr/>
          <p:nvPr/>
        </p:nvSpPr>
        <p:spPr>
          <a:xfrm>
            <a:off x="7863840" y="6574536"/>
            <a:ext cx="3154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70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Not commissioned by or affiliated with Grant Thornton Bharat.</a:t>
            </a:r>
            <a:endParaRPr lang="en-US" sz="6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6616A"/>
                </a:solidFill>
                <a:latin typeface="Aptos Mono"/>
                <a:ea typeface="Aptos Mono"/>
                <a:cs typeface="Aptos Mono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20" kern="0" dirty="0">
                <a:solidFill>
                  <a:srgbClr val="6B4A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CORE / 12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already understand Meghalaya through a public-system lens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1408176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Meghalaya PDS project taught me to connect data, network constraints and last-mile consequences before recommending action.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58368" y="2148840"/>
            <a:ext cx="2377440" cy="1554480"/>
          </a:xfrm>
          <a:prstGeom prst="roundRect">
            <a:avLst>
              <a:gd name="adj" fmla="val 7059"/>
            </a:avLst>
          </a:prstGeom>
          <a:solidFill>
            <a:srgbClr val="FFFEFC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313432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6B4A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4,500+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822960" y="2761488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211E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Government records</a:t>
            </a:r>
            <a:endParaRPr lang="en-US" sz="940" dirty="0"/>
          </a:p>
        </p:txBody>
      </p:sp>
      <p:sp>
        <p:nvSpPr>
          <p:cNvPr id="8" name="Text 6"/>
          <p:cNvSpPr/>
          <p:nvPr/>
        </p:nvSpPr>
        <p:spPr>
          <a:xfrm>
            <a:off x="822960" y="3081528"/>
            <a:ext cx="20482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used them in an Excel-based cost / sensitivity model.</a:t>
            </a:r>
            <a:endParaRPr lang="en-US" sz="780" dirty="0"/>
          </a:p>
        </p:txBody>
      </p:sp>
      <p:sp>
        <p:nvSpPr>
          <p:cNvPr id="9" name="Shape 7"/>
          <p:cNvSpPr/>
          <p:nvPr/>
        </p:nvSpPr>
        <p:spPr>
          <a:xfrm>
            <a:off x="3227832" y="2148840"/>
            <a:ext cx="2377440" cy="1554480"/>
          </a:xfrm>
          <a:prstGeom prst="roundRect">
            <a:avLst>
              <a:gd name="adj" fmla="val 7059"/>
            </a:avLst>
          </a:prstGeom>
          <a:solidFill>
            <a:srgbClr val="FFFEFC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92424" y="2313432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3E5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3392424" y="2761488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211E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 warehouses</a:t>
            </a:r>
            <a:endParaRPr lang="en-US" sz="940" dirty="0"/>
          </a:p>
        </p:txBody>
      </p:sp>
      <p:sp>
        <p:nvSpPr>
          <p:cNvPr id="12" name="Text 10"/>
          <p:cNvSpPr/>
          <p:nvPr/>
        </p:nvSpPr>
        <p:spPr>
          <a:xfrm>
            <a:off x="3392424" y="3081528"/>
            <a:ext cx="20482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Modelled in the PDS network.</a:t>
            </a:r>
            <a:endParaRPr lang="en-US" sz="780" dirty="0"/>
          </a:p>
        </p:txBody>
      </p:sp>
      <p:sp>
        <p:nvSpPr>
          <p:cNvPr id="13" name="Shape 11"/>
          <p:cNvSpPr/>
          <p:nvPr/>
        </p:nvSpPr>
        <p:spPr>
          <a:xfrm>
            <a:off x="5797296" y="2148840"/>
            <a:ext cx="2377440" cy="1554480"/>
          </a:xfrm>
          <a:prstGeom prst="roundRect">
            <a:avLst>
              <a:gd name="adj" fmla="val 7059"/>
            </a:avLst>
          </a:prstGeom>
          <a:solidFill>
            <a:srgbClr val="FFFEFC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61888" y="2313432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B28A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281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5961888" y="2761488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211E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Wholesalers</a:t>
            </a:r>
            <a:endParaRPr lang="en-US" sz="940" dirty="0"/>
          </a:p>
        </p:txBody>
      </p:sp>
      <p:sp>
        <p:nvSpPr>
          <p:cNvPr id="16" name="Text 14"/>
          <p:cNvSpPr/>
          <p:nvPr/>
        </p:nvSpPr>
        <p:spPr>
          <a:xfrm>
            <a:off x="5961888" y="3081528"/>
            <a:ext cx="20482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Modelled in the PDS network.</a:t>
            </a:r>
            <a:endParaRPr lang="en-US" sz="780" dirty="0"/>
          </a:p>
        </p:txBody>
      </p:sp>
      <p:sp>
        <p:nvSpPr>
          <p:cNvPr id="17" name="Shape 15"/>
          <p:cNvSpPr/>
          <p:nvPr/>
        </p:nvSpPr>
        <p:spPr>
          <a:xfrm>
            <a:off x="8366760" y="2148840"/>
            <a:ext cx="3108960" cy="1554480"/>
          </a:xfrm>
          <a:prstGeom prst="roundRect">
            <a:avLst>
              <a:gd name="adj" fmla="val 7059"/>
            </a:avLst>
          </a:prstGeom>
          <a:solidFill>
            <a:srgbClr val="FFFEFC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31352" y="2313432"/>
            <a:ext cx="2779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6C83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4,000+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8531352" y="2761488"/>
            <a:ext cx="2779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211E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Fair-price shops</a:t>
            </a:r>
            <a:endParaRPr lang="en-US" sz="940" dirty="0"/>
          </a:p>
        </p:txBody>
      </p:sp>
      <p:sp>
        <p:nvSpPr>
          <p:cNvPr id="20" name="Text 18"/>
          <p:cNvSpPr/>
          <p:nvPr/>
        </p:nvSpPr>
        <p:spPr>
          <a:xfrm>
            <a:off x="8531352" y="3081528"/>
            <a:ext cx="27797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Last-mile nodes in my supply-chain simulation.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658368" y="4050792"/>
            <a:ext cx="5230368" cy="1508760"/>
          </a:xfrm>
          <a:prstGeom prst="roundRect">
            <a:avLst>
              <a:gd name="adj" fmla="val 7273"/>
            </a:avLst>
          </a:prstGeom>
          <a:solidFill>
            <a:srgbClr val="FFFEFC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187952"/>
            <a:ext cx="4901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spc="70" kern="0" dirty="0">
                <a:solidFill>
                  <a:srgbClr val="6B4A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WHAT I LEARNED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822960" y="4434840"/>
            <a:ext cx="4901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look for the system beneath the announcement</a:t>
            </a:r>
            <a:endParaRPr lang="en-US" sz="1420" dirty="0"/>
          </a:p>
        </p:txBody>
      </p:sp>
      <p:sp>
        <p:nvSpPr>
          <p:cNvPr id="24" name="Text 22"/>
          <p:cNvSpPr/>
          <p:nvPr/>
        </p:nvSpPr>
        <p:spPr>
          <a:xfrm>
            <a:off x="822960" y="4882896"/>
            <a:ext cx="4901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a public programme has thousands of nodes, communication quality depends on understanding the operational dependencies, information owners and failure points behind the message.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099048" y="4050792"/>
            <a:ext cx="5376672" cy="1508760"/>
          </a:xfrm>
          <a:prstGeom prst="roundRect">
            <a:avLst>
              <a:gd name="adj" fmla="val 7273"/>
            </a:avLst>
          </a:prstGeom>
          <a:solidFill>
            <a:srgbClr val="FFFEFC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63640" y="4187952"/>
            <a:ext cx="50474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spc="70" kern="0" dirty="0">
                <a:solidFill>
                  <a:srgbClr val="3E5D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MY SHILLONG CONNECTION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6263640" y="4434840"/>
            <a:ext cx="5047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am not starting from zero</a:t>
            </a:r>
            <a:endParaRPr lang="en-US" sz="1420" dirty="0"/>
          </a:p>
        </p:txBody>
      </p:sp>
      <p:sp>
        <p:nvSpPr>
          <p:cNvPr id="28" name="Text 26"/>
          <p:cNvSpPr/>
          <p:nvPr/>
        </p:nvSpPr>
        <p:spPr>
          <a:xfrm>
            <a:off x="6263640" y="4882896"/>
            <a:ext cx="5047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completed my MBA at IIM Shillong and have already worked on a Government of Meghalaya public-system project. I would still listen before assuming that familiarity equals field knowledge.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66928" y="6574536"/>
            <a:ext cx="7132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Evidence: CV01 · CV02 · CV03 · CV04 | Full URL, page and rationale in appendix</a:t>
            </a:r>
            <a:endParaRPr lang="en-US" sz="680" dirty="0"/>
          </a:p>
        </p:txBody>
      </p:sp>
      <p:sp>
        <p:nvSpPr>
          <p:cNvPr id="30" name="Text 28"/>
          <p:cNvSpPr/>
          <p:nvPr/>
        </p:nvSpPr>
        <p:spPr>
          <a:xfrm>
            <a:off x="7863840" y="6574536"/>
            <a:ext cx="3154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70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Not commissioned by or affiliated with Grant Thornton Bharat.</a:t>
            </a:r>
            <a:endParaRPr lang="en-US" sz="6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6616A"/>
                </a:solidFill>
                <a:latin typeface="Aptos Mono"/>
                <a:ea typeface="Aptos Mono"/>
                <a:cs typeface="Aptos Mono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20" kern="0" dirty="0">
                <a:solidFill>
                  <a:srgbClr val="6B4A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CORE / 13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have already operated at the scale, speed and coordination this role demands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1408176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strongest transferable advantage is not a single channel - it is the ability to align research, content, distribution, stakeholders and measurement under pressure.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58368" y="2148840"/>
            <a:ext cx="2514600" cy="1572768"/>
          </a:xfrm>
          <a:prstGeom prst="roundRect">
            <a:avLst>
              <a:gd name="adj" fmla="val 6977"/>
            </a:avLst>
          </a:prstGeom>
          <a:solidFill>
            <a:srgbClr val="FFFEFC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313432"/>
            <a:ext cx="2185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6B4A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330M+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822960" y="2761488"/>
            <a:ext cx="2185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211E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Impressions</a:t>
            </a:r>
            <a:endParaRPr lang="en-US" sz="940" dirty="0"/>
          </a:p>
        </p:txBody>
      </p:sp>
      <p:sp>
        <p:nvSpPr>
          <p:cNvPr id="8" name="Text 6"/>
          <p:cNvSpPr/>
          <p:nvPr/>
        </p:nvSpPr>
        <p:spPr>
          <a:xfrm>
            <a:off x="822960" y="3081528"/>
            <a:ext cx="2185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Across two integrated digital campaigns.</a:t>
            </a:r>
            <a:endParaRPr lang="en-US" sz="780" dirty="0"/>
          </a:p>
        </p:txBody>
      </p:sp>
      <p:sp>
        <p:nvSpPr>
          <p:cNvPr id="9" name="Shape 7"/>
          <p:cNvSpPr/>
          <p:nvPr/>
        </p:nvSpPr>
        <p:spPr>
          <a:xfrm>
            <a:off x="3364992" y="2148840"/>
            <a:ext cx="2514600" cy="1572768"/>
          </a:xfrm>
          <a:prstGeom prst="roundRect">
            <a:avLst>
              <a:gd name="adj" fmla="val 6977"/>
            </a:avLst>
          </a:prstGeom>
          <a:solidFill>
            <a:srgbClr val="FFFEFC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9584" y="2313432"/>
            <a:ext cx="2185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3E5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Rs 20M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3529584" y="2761488"/>
            <a:ext cx="2185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211E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Budget managed</a:t>
            </a:r>
            <a:endParaRPr lang="en-US" sz="940" dirty="0"/>
          </a:p>
        </p:txBody>
      </p:sp>
      <p:sp>
        <p:nvSpPr>
          <p:cNvPr id="12" name="Text 10"/>
          <p:cNvSpPr/>
          <p:nvPr/>
        </p:nvSpPr>
        <p:spPr>
          <a:xfrm>
            <a:off x="3529584" y="3081528"/>
            <a:ext cx="2185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Data-led allocation and optimisation.</a:t>
            </a:r>
            <a:endParaRPr lang="en-US" sz="780" dirty="0"/>
          </a:p>
        </p:txBody>
      </p:sp>
      <p:sp>
        <p:nvSpPr>
          <p:cNvPr id="13" name="Shape 11"/>
          <p:cNvSpPr/>
          <p:nvPr/>
        </p:nvSpPr>
        <p:spPr>
          <a:xfrm>
            <a:off x="6071616" y="2148840"/>
            <a:ext cx="2514600" cy="1572768"/>
          </a:xfrm>
          <a:prstGeom prst="roundRect">
            <a:avLst>
              <a:gd name="adj" fmla="val 6977"/>
            </a:avLst>
          </a:prstGeom>
          <a:solidFill>
            <a:srgbClr val="FFFEFC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36208" y="2313432"/>
            <a:ext cx="2185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B28A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-57%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6236208" y="2761488"/>
            <a:ext cx="2185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211E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CPM change</a:t>
            </a:r>
            <a:endParaRPr lang="en-US" sz="940" dirty="0"/>
          </a:p>
        </p:txBody>
      </p:sp>
      <p:sp>
        <p:nvSpPr>
          <p:cNvPr id="16" name="Text 14"/>
          <p:cNvSpPr/>
          <p:nvPr/>
        </p:nvSpPr>
        <p:spPr>
          <a:xfrm>
            <a:off x="6236208" y="3081528"/>
            <a:ext cx="2185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Rs 35.8 -&gt; Rs 15.5 in my CV data.</a:t>
            </a:r>
            <a:endParaRPr lang="en-US" sz="780" dirty="0"/>
          </a:p>
        </p:txBody>
      </p:sp>
      <p:sp>
        <p:nvSpPr>
          <p:cNvPr id="17" name="Shape 15"/>
          <p:cNvSpPr/>
          <p:nvPr/>
        </p:nvSpPr>
        <p:spPr>
          <a:xfrm>
            <a:off x="8778240" y="2148840"/>
            <a:ext cx="2697480" cy="1572768"/>
          </a:xfrm>
          <a:prstGeom prst="roundRect">
            <a:avLst>
              <a:gd name="adj" fmla="val 6977"/>
            </a:avLst>
          </a:prstGeom>
          <a:solidFill>
            <a:srgbClr val="FFFEFC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42832" y="2313432"/>
            <a:ext cx="2368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6C83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593+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8942832" y="2761488"/>
            <a:ext cx="2368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211E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Influencers coordinated</a:t>
            </a:r>
            <a:endParaRPr lang="en-US" sz="940" dirty="0"/>
          </a:p>
        </p:txBody>
      </p:sp>
      <p:sp>
        <p:nvSpPr>
          <p:cNvPr id="20" name="Text 18"/>
          <p:cNvSpPr/>
          <p:nvPr/>
        </p:nvSpPr>
        <p:spPr>
          <a:xfrm>
            <a:off x="8942832" y="3081528"/>
            <a:ext cx="2368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73+ macro + 520+ micro through a structured workflow.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658368" y="4069080"/>
            <a:ext cx="3401568" cy="1536192"/>
          </a:xfrm>
          <a:prstGeom prst="roundRect">
            <a:avLst>
              <a:gd name="adj" fmla="val 7143"/>
            </a:avLst>
          </a:prstGeom>
          <a:solidFill>
            <a:srgbClr val="FFFEFC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206240"/>
            <a:ext cx="30723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spc="70" kern="0" dirty="0">
                <a:solidFill>
                  <a:srgbClr val="6B4A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STRATEGY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822960" y="4453128"/>
            <a:ext cx="3072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can frame the message</a:t>
            </a:r>
            <a:endParaRPr lang="en-US" sz="1420" dirty="0"/>
          </a:p>
        </p:txBody>
      </p:sp>
      <p:sp>
        <p:nvSpPr>
          <p:cNvPr id="24" name="Text 22"/>
          <p:cNvSpPr/>
          <p:nvPr/>
        </p:nvSpPr>
        <p:spPr>
          <a:xfrm>
            <a:off x="822960" y="4901184"/>
            <a:ext cx="30723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have worked across research, intelligence, content and speech inputs in high-stakes communication environments.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224528" y="4069080"/>
            <a:ext cx="3401568" cy="1536192"/>
          </a:xfrm>
          <a:prstGeom prst="roundRect">
            <a:avLst>
              <a:gd name="adj" fmla="val 7143"/>
            </a:avLst>
          </a:prstGeom>
          <a:solidFill>
            <a:srgbClr val="FFFEFC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0" y="4206240"/>
            <a:ext cx="30723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spc="70" kern="0" dirty="0">
                <a:solidFill>
                  <a:srgbClr val="3E5D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EXECUTION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4389120" y="4453128"/>
            <a:ext cx="3072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can move work through people</a:t>
            </a:r>
            <a:endParaRPr lang="en-US" sz="1420" dirty="0"/>
          </a:p>
        </p:txBody>
      </p:sp>
      <p:sp>
        <p:nvSpPr>
          <p:cNvPr id="28" name="Text 26"/>
          <p:cNvSpPr/>
          <p:nvPr/>
        </p:nvSpPr>
        <p:spPr>
          <a:xfrm>
            <a:off x="4389120" y="4901184"/>
            <a:ext cx="30723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have coordinated large contributor networks and multi-stage review / production / dissemination workflows.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790688" y="4069080"/>
            <a:ext cx="3685032" cy="1536192"/>
          </a:xfrm>
          <a:prstGeom prst="roundRect">
            <a:avLst>
              <a:gd name="adj" fmla="val 7143"/>
            </a:avLst>
          </a:prstGeom>
          <a:solidFill>
            <a:srgbClr val="FFFEFC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0" y="4206240"/>
            <a:ext cx="33558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spc="70" kern="0" dirty="0">
                <a:solidFill>
                  <a:srgbClr val="B28A5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MEASUREMENT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7955280" y="4453128"/>
            <a:ext cx="3355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can improve the distribution</a:t>
            </a:r>
            <a:endParaRPr lang="en-US" sz="1420" dirty="0"/>
          </a:p>
        </p:txBody>
      </p:sp>
      <p:sp>
        <p:nvSpPr>
          <p:cNvPr id="32" name="Text 30"/>
          <p:cNvSpPr/>
          <p:nvPr/>
        </p:nvSpPr>
        <p:spPr>
          <a:xfrm>
            <a:off x="7955280" y="4901184"/>
            <a:ext cx="3355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use performance data as feedback on the system - while keeping public communication outcomes broader than media efficiency.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66928" y="6574536"/>
            <a:ext cx="7132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Evidence: CV05 · CV06 · CV07 · CV08 | Full URL, page and rationale in appendix</a:t>
            </a:r>
            <a:endParaRPr lang="en-US" sz="680" dirty="0"/>
          </a:p>
        </p:txBody>
      </p:sp>
      <p:sp>
        <p:nvSpPr>
          <p:cNvPr id="34" name="Text 32"/>
          <p:cNvSpPr/>
          <p:nvPr/>
        </p:nvSpPr>
        <p:spPr>
          <a:xfrm>
            <a:off x="7863840" y="6574536"/>
            <a:ext cx="3154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70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Not commissioned by or affiliated with Grant Thornton Bharat.</a:t>
            </a:r>
            <a:endParaRPr lang="en-US" sz="6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6616A"/>
                </a:solidFill>
                <a:latin typeface="Aptos Mono"/>
                <a:ea typeface="Aptos Mono"/>
                <a:cs typeface="Aptos Mono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20" kern="0" dirty="0">
                <a:solidFill>
                  <a:srgbClr val="6B4A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CORE / 14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would complement the team by connecting strategy, creative production and measurement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1408176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would not try to duplicate specialist strengths; I would make the operating system around them sharper, faster and more measurable.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749808" y="20574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6B4A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SOCIAL &amp; CALENDARS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2761488" y="2057400"/>
            <a:ext cx="833932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11E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would connect announcements, recurring explainers, proactive stories and service reminders to one editorial rhythm.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49808" y="2532888"/>
            <a:ext cx="10378440" cy="0"/>
          </a:xfrm>
          <a:prstGeom prst="line">
            <a:avLst/>
          </a:prstGeom>
          <a:noFill/>
          <a:ln w="6350">
            <a:solidFill>
              <a:srgbClr val="D8D0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66090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3E5D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PRESS &amp; BRIEFS</a:t>
            </a:r>
            <a:endParaRPr lang="en-US" sz="720" dirty="0"/>
          </a:p>
        </p:txBody>
      </p:sp>
      <p:sp>
        <p:nvSpPr>
          <p:cNvPr id="9" name="Text 7"/>
          <p:cNvSpPr/>
          <p:nvPr/>
        </p:nvSpPr>
        <p:spPr>
          <a:xfrm>
            <a:off x="2761488" y="2660904"/>
            <a:ext cx="833932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11E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would build fact-first templates that separate what happened, why it matters, key evidence, quote and next action.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49808" y="3136392"/>
            <a:ext cx="10378440" cy="0"/>
          </a:xfrm>
          <a:prstGeom prst="line">
            <a:avLst/>
          </a:prstGeom>
          <a:noFill/>
          <a:ln w="6350">
            <a:solidFill>
              <a:srgbClr val="D8D0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32644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B28A5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NARRATIVE MONITORING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2761488" y="3264408"/>
            <a:ext cx="833932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11E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would deliver a short daily decision brief: signal, verification, affected audience, risk, recommended response.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49808" y="3739896"/>
            <a:ext cx="10378440" cy="0"/>
          </a:xfrm>
          <a:prstGeom prst="line">
            <a:avLst/>
          </a:prstGeom>
          <a:noFill/>
          <a:ln w="6350">
            <a:solidFill>
              <a:srgbClr val="D8D0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38679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6B4A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CREATIVE COORDINATION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2761488" y="3867912"/>
            <a:ext cx="833932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11E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would write sharper creative briefs: audience, single message, evidence, format job, CTA, mandatory accuracy checks.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49808" y="4343400"/>
            <a:ext cx="10378440" cy="0"/>
          </a:xfrm>
          <a:prstGeom prst="line">
            <a:avLst/>
          </a:prstGeom>
          <a:noFill/>
          <a:ln w="6350">
            <a:solidFill>
              <a:srgbClr val="D8D0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44714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3E5D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STAKEHOLDERS</a:t>
            </a:r>
            <a:endParaRPr lang="en-US" sz="720" dirty="0"/>
          </a:p>
        </p:txBody>
      </p:sp>
      <p:sp>
        <p:nvSpPr>
          <p:cNvPr id="18" name="Text 16"/>
          <p:cNvSpPr/>
          <p:nvPr/>
        </p:nvSpPr>
        <p:spPr>
          <a:xfrm>
            <a:off x="2761488" y="4471416"/>
            <a:ext cx="833932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11E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would make information ownership and approval explicit so the team knows who verifies what and by when.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49808" y="4946904"/>
            <a:ext cx="10378440" cy="0"/>
          </a:xfrm>
          <a:prstGeom prst="line">
            <a:avLst/>
          </a:prstGeom>
          <a:noFill/>
          <a:ln w="6350">
            <a:solidFill>
              <a:srgbClr val="D8D0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9808" y="50749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B28A5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ANALYTICS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2761488" y="5074920"/>
            <a:ext cx="833932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11E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would connect reach to comprehension proxies, action and learning instead of stopping at impressions.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49808" y="5550408"/>
            <a:ext cx="10378440" cy="0"/>
          </a:xfrm>
          <a:prstGeom prst="line">
            <a:avLst/>
          </a:prstGeom>
          <a:noFill/>
          <a:ln w="6350">
            <a:solidFill>
              <a:srgbClr val="D8D0D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829800" y="5669280"/>
            <a:ext cx="1508760" cy="256032"/>
          </a:xfrm>
          <a:prstGeom prst="roundRect">
            <a:avLst>
              <a:gd name="adj" fmla="val 42857"/>
            </a:avLst>
          </a:prstGeom>
          <a:solidFill>
            <a:srgbClr val="2E1B3A"/>
          </a:solidFill>
          <a:ln w="10160">
            <a:solidFill>
              <a:srgbClr val="2E1B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93808" y="5696712"/>
            <a:ext cx="1380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MY CONTRIBUTION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566928" y="6574536"/>
            <a:ext cx="7132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Evidence: C13 · C15 · C20 | Full URL, page and rationale in appendix</a:t>
            </a:r>
            <a:endParaRPr lang="en-US" sz="680" dirty="0"/>
          </a:p>
        </p:txBody>
      </p:sp>
      <p:sp>
        <p:nvSpPr>
          <p:cNvPr id="26" name="Text 24"/>
          <p:cNvSpPr/>
          <p:nvPr/>
        </p:nvSpPr>
        <p:spPr>
          <a:xfrm>
            <a:off x="7863840" y="6574536"/>
            <a:ext cx="3154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70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Not commissioned by or affiliated with Grant Thornton Bharat.</a:t>
            </a:r>
            <a:endParaRPr lang="en-US" sz="6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6616A"/>
                </a:solidFill>
                <a:latin typeface="Aptos Mono"/>
                <a:ea typeface="Aptos Mono"/>
                <a:cs typeface="Aptos Mono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20" kern="0" dirty="0">
                <a:solidFill>
                  <a:srgbClr val="6B4A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CORE / 15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my first 90 days, I would learn first, standardise second and optimise third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1408176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would earn context before changing the system - then make the useful parts repeatable.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58368" y="2176272"/>
            <a:ext cx="3364992" cy="3218688"/>
          </a:xfrm>
          <a:prstGeom prst="roundRect">
            <a:avLst>
              <a:gd name="adj" fmla="val 3409"/>
            </a:avLst>
          </a:prstGeom>
          <a:solidFill>
            <a:srgbClr val="F0EAF3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2395728"/>
            <a:ext cx="731520" cy="256032"/>
          </a:xfrm>
          <a:prstGeom prst="roundRect">
            <a:avLst>
              <a:gd name="adj" fmla="val 42857"/>
            </a:avLst>
          </a:prstGeom>
          <a:solidFill>
            <a:srgbClr val="6B4A7C"/>
          </a:solidFill>
          <a:ln w="10160">
            <a:solidFill>
              <a:srgbClr val="6B4A7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5256" y="2423160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0-30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41248" y="281635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41248" y="3383280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11E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 stakeholders, information owners, approval paths, existing calendars, media relationships, recurring citizen questions and current measurement.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41248" y="481888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Output: operating map + baseline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279392" y="2176272"/>
            <a:ext cx="3364992" cy="3218688"/>
          </a:xfrm>
          <a:prstGeom prst="roundRect">
            <a:avLst>
              <a:gd name="adj" fmla="val 3409"/>
            </a:avLst>
          </a:prstGeom>
          <a:solidFill>
            <a:srgbClr val="EAF0ED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62272" y="2395728"/>
            <a:ext cx="731520" cy="256032"/>
          </a:xfrm>
          <a:prstGeom prst="roundRect">
            <a:avLst>
              <a:gd name="adj" fmla="val 42857"/>
            </a:avLst>
          </a:prstGeom>
          <a:solidFill>
            <a:srgbClr val="3E5D55"/>
          </a:solidFill>
          <a:ln w="10160">
            <a:solidFill>
              <a:srgbClr val="3E5D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26280" y="2423160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31-60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4462272" y="281635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STANDARDISE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462272" y="3383280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11E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Introduce reusable briefs, a content architecture, source/approval checklist, narrative radar and channel-specific templates.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462272" y="481888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Output: repeatable workflow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7900416" y="2176272"/>
            <a:ext cx="3364992" cy="3218688"/>
          </a:xfrm>
          <a:prstGeom prst="roundRect">
            <a:avLst>
              <a:gd name="adj" fmla="val 3409"/>
            </a:avLst>
          </a:prstGeom>
          <a:solidFill>
            <a:srgbClr val="F4EEE6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83296" y="2395728"/>
            <a:ext cx="731520" cy="256032"/>
          </a:xfrm>
          <a:prstGeom prst="roundRect">
            <a:avLst>
              <a:gd name="adj" fmla="val 42857"/>
            </a:avLst>
          </a:prstGeom>
          <a:solidFill>
            <a:srgbClr val="B28A58"/>
          </a:solidFill>
          <a:ln w="10160">
            <a:solidFill>
              <a:srgbClr val="B28A5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47304" y="2423160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61-90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8083296" y="281635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OPTIMISE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8083296" y="3383280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11E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observed questions and performance data to improve format, cadence, localisation, escalation and proactive storytelling.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083296" y="481888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Output: learning playbook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566928" y="6574536"/>
            <a:ext cx="7132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Evidence: C16 · C19 · C20 | Full URL, page and rationale in appendix</a:t>
            </a:r>
            <a:endParaRPr lang="en-US" sz="680" dirty="0"/>
          </a:p>
        </p:txBody>
      </p:sp>
      <p:sp>
        <p:nvSpPr>
          <p:cNvPr id="24" name="Text 22"/>
          <p:cNvSpPr/>
          <p:nvPr/>
        </p:nvSpPr>
        <p:spPr>
          <a:xfrm>
            <a:off x="7863840" y="6574536"/>
            <a:ext cx="3154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70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Not commissioned by or affiliated with Grant Thornton Bharat.</a:t>
            </a:r>
            <a:endParaRPr lang="en-US" sz="6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6616A"/>
                </a:solidFill>
                <a:latin typeface="Aptos Mono"/>
                <a:ea typeface="Aptos Mono"/>
                <a:cs typeface="Aptos Mono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20" kern="0" dirty="0">
                <a:solidFill>
                  <a:srgbClr val="6B4A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CORE / 16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 would aim to leave behind: a communications system that gets clearer with every cycle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1408176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standard would be simple: accurate enough to trust, clear enough to understand, local enough to matter, and measurable enough to improve.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58368" y="2212848"/>
            <a:ext cx="2542032" cy="2377440"/>
          </a:xfrm>
          <a:prstGeom prst="roundRect">
            <a:avLst>
              <a:gd name="adj" fmla="val 4615"/>
            </a:avLst>
          </a:prstGeom>
          <a:solidFill>
            <a:srgbClr val="FFFEFC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350008"/>
            <a:ext cx="22128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spc="70" kern="0" dirty="0">
                <a:solidFill>
                  <a:srgbClr val="6B4A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01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22960" y="2596896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ACCURATE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822960" y="3044952"/>
            <a:ext cx="2212848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would know where each claim came from.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419856" y="2212848"/>
            <a:ext cx="2542032" cy="2377440"/>
          </a:xfrm>
          <a:prstGeom prst="roundRect">
            <a:avLst>
              <a:gd name="adj" fmla="val 4615"/>
            </a:avLst>
          </a:prstGeom>
          <a:solidFill>
            <a:srgbClr val="FFFEFC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84448" y="2350008"/>
            <a:ext cx="22128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spc="70" kern="0" dirty="0">
                <a:solidFill>
                  <a:srgbClr val="3E5D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02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3584448" y="2596896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3584448" y="3044952"/>
            <a:ext cx="2212848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would make complexity legible without flattening it.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81344" y="2212848"/>
            <a:ext cx="2542032" cy="2377440"/>
          </a:xfrm>
          <a:prstGeom prst="roundRect">
            <a:avLst>
              <a:gd name="adj" fmla="val 4615"/>
            </a:avLst>
          </a:prstGeom>
          <a:solidFill>
            <a:srgbClr val="FFFEFC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45936" y="2350008"/>
            <a:ext cx="22128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spc="70" kern="0" dirty="0">
                <a:solidFill>
                  <a:srgbClr val="B28A5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03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6345936" y="2596896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</a:t>
            </a:r>
            <a:endParaRPr lang="en-US" sz="1420" dirty="0"/>
          </a:p>
        </p:txBody>
      </p:sp>
      <p:sp>
        <p:nvSpPr>
          <p:cNvPr id="16" name="Text 14"/>
          <p:cNvSpPr/>
          <p:nvPr/>
        </p:nvSpPr>
        <p:spPr>
          <a:xfrm>
            <a:off x="6345936" y="3044952"/>
            <a:ext cx="2212848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would adapt context, language and messenger to the audience.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942832" y="2212848"/>
            <a:ext cx="2542032" cy="2377440"/>
          </a:xfrm>
          <a:prstGeom prst="roundRect">
            <a:avLst>
              <a:gd name="adj" fmla="val 4615"/>
            </a:avLst>
          </a:prstGeom>
          <a:solidFill>
            <a:srgbClr val="FFFEFC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07424" y="2350008"/>
            <a:ext cx="22128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spc="70" kern="0" dirty="0">
                <a:solidFill>
                  <a:srgbClr val="6C837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04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9107424" y="2596896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</a:t>
            </a:r>
            <a:endParaRPr lang="en-US" sz="1420" dirty="0"/>
          </a:p>
        </p:txBody>
      </p:sp>
      <p:sp>
        <p:nvSpPr>
          <p:cNvPr id="20" name="Text 18"/>
          <p:cNvSpPr/>
          <p:nvPr/>
        </p:nvSpPr>
        <p:spPr>
          <a:xfrm>
            <a:off x="9107424" y="3044952"/>
            <a:ext cx="2212848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would use feedback to make the next cycle better.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58368" y="4956048"/>
            <a:ext cx="10826496" cy="822960"/>
          </a:xfrm>
          <a:prstGeom prst="roundRect">
            <a:avLst>
              <a:gd name="adj" fmla="val 13333"/>
            </a:avLst>
          </a:prstGeom>
          <a:solidFill>
            <a:srgbClr val="2E1B3A"/>
          </a:solidFill>
          <a:ln w="10160">
            <a:solidFill>
              <a:srgbClr val="2E1B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5148072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I join, I would bring an analytical operating layer to communications - without losing the human judgement that makes public communication credible.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66928" y="6574536"/>
            <a:ext cx="7132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Evidence: C15 · C16 · C19 | Full URL, page and rationale in appendix</a:t>
            </a:r>
            <a:endParaRPr lang="en-US" sz="680" dirty="0"/>
          </a:p>
        </p:txBody>
      </p:sp>
      <p:sp>
        <p:nvSpPr>
          <p:cNvPr id="24" name="Text 22"/>
          <p:cNvSpPr/>
          <p:nvPr/>
        </p:nvSpPr>
        <p:spPr>
          <a:xfrm>
            <a:off x="7863840" y="6574536"/>
            <a:ext cx="3154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70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Not commissioned by or affiliated with Grant Thornton Bharat.</a:t>
            </a:r>
            <a:endParaRPr lang="en-US" sz="6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6616A"/>
                </a:solidFill>
                <a:latin typeface="Aptos Mono"/>
                <a:ea typeface="Aptos Mono"/>
                <a:cs typeface="Aptos Mono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20" kern="0" dirty="0">
                <a:solidFill>
                  <a:srgbClr val="6B4A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CORE / 17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1408176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would welcome the chance to bring this thinking, execution discipline and Northeast context to the team in Shillong.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492240" y="5166360"/>
            <a:ext cx="6035040" cy="1188720"/>
          </a:xfrm>
          <a:prstGeom prst="arc">
            <a:avLst/>
          </a:prstGeom>
          <a:solidFill>
            <a:srgbClr val="DCCFE4">
              <a:alpha val="45000"/>
            </a:srgbClr>
          </a:solidFill>
          <a:ln w="13970">
            <a:solidFill>
              <a:srgbClr val="DCCFE4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91072" y="5394960"/>
            <a:ext cx="6382512" cy="1188720"/>
          </a:xfrm>
          <a:prstGeom prst="arc">
            <a:avLst/>
          </a:prstGeom>
          <a:solidFill>
            <a:srgbClr val="F0EAF3">
              <a:alpha val="39000"/>
            </a:srgbClr>
          </a:solidFill>
          <a:ln w="13970">
            <a:solidFill>
              <a:srgbClr val="F0EAF3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89904" y="5623560"/>
            <a:ext cx="6729984" cy="1188720"/>
          </a:xfrm>
          <a:prstGeom prst="arc">
            <a:avLst/>
          </a:prstGeom>
          <a:solidFill>
            <a:srgbClr val="EAF0ED">
              <a:alpha val="33000"/>
            </a:srgbClr>
          </a:solidFill>
          <a:ln w="13970">
            <a:solidFill>
              <a:srgbClr val="EAF0ED">
                <a:alpha val="6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888736" y="5852160"/>
            <a:ext cx="7077456" cy="1188720"/>
          </a:xfrm>
          <a:prstGeom prst="arc">
            <a:avLst/>
          </a:prstGeom>
          <a:solidFill>
            <a:srgbClr val="91AAA3">
              <a:alpha val="27000"/>
            </a:srgbClr>
          </a:solidFill>
          <a:ln w="13970">
            <a:solidFill>
              <a:srgbClr val="91AAA3">
                <a:alpha val="6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87568" y="6080760"/>
            <a:ext cx="7424928" cy="1188720"/>
          </a:xfrm>
          <a:prstGeom prst="arc">
            <a:avLst/>
          </a:prstGeom>
          <a:solidFill>
            <a:srgbClr val="3E5D55">
              <a:alpha val="21000"/>
            </a:srgbClr>
          </a:solidFill>
          <a:ln w="13970">
            <a:solidFill>
              <a:srgbClr val="3E5D55">
                <a:alpha val="6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01168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Thank you.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777240" y="2907792"/>
            <a:ext cx="69037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E5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would welcome the chance to discuss where this perspective is right, where it is incomplete, and how I could contribute to the team in Shillong.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77240" y="43159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11E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Manash Protim Deori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4700016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manashdeori09@gmail.com  ·  linkedin.com/in/manash-protim-deori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321040" y="2084832"/>
            <a:ext cx="2880360" cy="2331720"/>
          </a:xfrm>
          <a:prstGeom prst="roundRect">
            <a:avLst>
              <a:gd name="adj" fmla="val 4706"/>
            </a:avLst>
          </a:prstGeom>
          <a:solidFill>
            <a:srgbClr val="FFFEFC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77072" y="233172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B4A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WHAT I WOULD BRING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8577072" y="2761488"/>
            <a:ext cx="2377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Regional context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strategic clarity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 discipline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9144000" y="580644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Appendix follows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7863840" y="6574536"/>
            <a:ext cx="3154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70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Not commissioned by or affiliated with Grant Thornton Bharat.</a:t>
            </a:r>
            <a:endParaRPr lang="en-US" sz="6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6616A"/>
                </a:solidFill>
                <a:latin typeface="Aptos Mono"/>
                <a:ea typeface="Aptos Mono"/>
                <a:cs typeface="Aptos Mono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20" kern="0" dirty="0">
                <a:solidFill>
                  <a:srgbClr val="6B4A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APPENDIX / A01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I built the evidence base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1408176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separate canonical facts from synthesis, and I show the exact source, page, logic and limitation for every important claim.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58368" y="2148840"/>
            <a:ext cx="3364992" cy="1335024"/>
          </a:xfrm>
          <a:prstGeom prst="roundRect">
            <a:avLst>
              <a:gd name="adj" fmla="val 8219"/>
            </a:avLst>
          </a:prstGeom>
          <a:solidFill>
            <a:srgbClr val="FFFEFC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286000"/>
            <a:ext cx="30358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spc="70" kern="0" dirty="0">
                <a:solidFill>
                  <a:srgbClr val="6B4A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22960" y="2532888"/>
            <a:ext cx="3035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FIRST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822960" y="2980944"/>
            <a:ext cx="303580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Government of Meghalaya, DES, TRAI and NITI are the default truth anchors.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279392" y="2148840"/>
            <a:ext cx="3364992" cy="1335024"/>
          </a:xfrm>
          <a:prstGeom prst="roundRect">
            <a:avLst>
              <a:gd name="adj" fmla="val 8219"/>
            </a:avLst>
          </a:prstGeom>
          <a:solidFill>
            <a:srgbClr val="FFFEFC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43984" y="2286000"/>
            <a:ext cx="30358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spc="70" kern="0" dirty="0">
                <a:solidFill>
                  <a:srgbClr val="3E5D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443984" y="2532888"/>
            <a:ext cx="3035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DATE EVERY NUMBER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4443984" y="2980944"/>
            <a:ext cx="303580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2011 population is labelled 2011; 2021 policy estimates are not presented as 2026 facts.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900416" y="2148840"/>
            <a:ext cx="3364992" cy="1335024"/>
          </a:xfrm>
          <a:prstGeom prst="roundRect">
            <a:avLst>
              <a:gd name="adj" fmla="val 8219"/>
            </a:avLst>
          </a:prstGeom>
          <a:solidFill>
            <a:srgbClr val="FFFEFC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65008" y="2286000"/>
            <a:ext cx="30358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spc="70" kern="0" dirty="0">
                <a:solidFill>
                  <a:srgbClr val="B28A5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8065008" y="2532888"/>
            <a:ext cx="3035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CANONICAL FACT SOURCE</a:t>
            </a:r>
            <a:endParaRPr lang="en-US" sz="1420" dirty="0"/>
          </a:p>
        </p:txBody>
      </p:sp>
      <p:sp>
        <p:nvSpPr>
          <p:cNvPr id="16" name="Text 14"/>
          <p:cNvSpPr/>
          <p:nvPr/>
        </p:nvSpPr>
        <p:spPr>
          <a:xfrm>
            <a:off x="8065008" y="2980944"/>
            <a:ext cx="303580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do not manufacture ten citations for an atomic statistic when one primary source is definitive.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58368" y="3721608"/>
            <a:ext cx="3364992" cy="1335024"/>
          </a:xfrm>
          <a:prstGeom prst="roundRect">
            <a:avLst>
              <a:gd name="adj" fmla="val 8219"/>
            </a:avLst>
          </a:prstGeom>
          <a:solidFill>
            <a:srgbClr val="FFFEFC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858768"/>
            <a:ext cx="30358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spc="70" kern="0" dirty="0">
                <a:solidFill>
                  <a:srgbClr val="6B4A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4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822960" y="4105656"/>
            <a:ext cx="3035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10+ SOURCE SYNTHESIS</a:t>
            </a:r>
            <a:endParaRPr lang="en-US" sz="1420" dirty="0"/>
          </a:p>
        </p:txBody>
      </p:sp>
      <p:sp>
        <p:nvSpPr>
          <p:cNvPr id="20" name="Text 18"/>
          <p:cNvSpPr/>
          <p:nvPr/>
        </p:nvSpPr>
        <p:spPr>
          <a:xfrm>
            <a:off x="822960" y="4553712"/>
            <a:ext cx="303580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triangulated the strategic thesis across 12 institutional sources before converting evidence into recommendations.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279392" y="3721608"/>
            <a:ext cx="3364992" cy="1335024"/>
          </a:xfrm>
          <a:prstGeom prst="roundRect">
            <a:avLst>
              <a:gd name="adj" fmla="val 8219"/>
            </a:avLst>
          </a:prstGeom>
          <a:solidFill>
            <a:srgbClr val="FFFEFC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43984" y="3858768"/>
            <a:ext cx="30358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spc="70" kern="0" dirty="0">
                <a:solidFill>
                  <a:srgbClr val="3E5D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5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4443984" y="4105656"/>
            <a:ext cx="3035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FACT ≠ INFERENCE</a:t>
            </a:r>
            <a:endParaRPr lang="en-US" sz="1420" dirty="0"/>
          </a:p>
        </p:txBody>
      </p:sp>
      <p:sp>
        <p:nvSpPr>
          <p:cNvPr id="24" name="Text 22"/>
          <p:cNvSpPr/>
          <p:nvPr/>
        </p:nvSpPr>
        <p:spPr>
          <a:xfrm>
            <a:off x="4443984" y="4553712"/>
            <a:ext cx="303580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claim is classified as fact, derived fact, synthesis or recommendation.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900416" y="3721608"/>
            <a:ext cx="3364992" cy="1335024"/>
          </a:xfrm>
          <a:prstGeom prst="roundRect">
            <a:avLst>
              <a:gd name="adj" fmla="val 8219"/>
            </a:avLst>
          </a:prstGeom>
          <a:solidFill>
            <a:srgbClr val="FFFEFC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65008" y="3858768"/>
            <a:ext cx="30358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spc="70" kern="0" dirty="0">
                <a:solidFill>
                  <a:srgbClr val="B28A5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6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8065008" y="4105656"/>
            <a:ext cx="3035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CLAIMS</a:t>
            </a:r>
            <a:endParaRPr lang="en-US" sz="1420" dirty="0"/>
          </a:p>
        </p:txBody>
      </p:sp>
      <p:sp>
        <p:nvSpPr>
          <p:cNvPr id="28" name="Text 26"/>
          <p:cNvSpPr/>
          <p:nvPr/>
        </p:nvSpPr>
        <p:spPr>
          <a:xfrm>
            <a:off x="8065008" y="4553712"/>
            <a:ext cx="303580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quantified experience comes only from my CV data and is kept separate from external research.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863840" y="6574536"/>
            <a:ext cx="3154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70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Not commissioned by or affiliated with Grant Thornton Bharat.</a:t>
            </a:r>
            <a:endParaRPr lang="en-US" sz="6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6616A"/>
                </a:solidFill>
                <a:latin typeface="Aptos Mono"/>
                <a:ea typeface="Aptos Mono"/>
                <a:cs typeface="Aptos Mono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20" kern="0" dirty="0">
                <a:solidFill>
                  <a:srgbClr val="6B4A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APPENDIX / A02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I label evidence so I do not overclaim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1408176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conclusion in the core deck has an evidence class, and recommendations remain recommendations.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13232" y="2240280"/>
            <a:ext cx="2532888" cy="2788920"/>
          </a:xfrm>
          <a:prstGeom prst="roundRect">
            <a:avLst>
              <a:gd name="adj" fmla="val 4332"/>
            </a:avLst>
          </a:prstGeom>
          <a:solidFill>
            <a:srgbClr val="FFFEFC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" y="2377440"/>
            <a:ext cx="22037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spc="70" kern="0" dirty="0">
                <a:solidFill>
                  <a:srgbClr val="6B4A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01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77824" y="2624328"/>
            <a:ext cx="2203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FACT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877824" y="3072384"/>
            <a:ext cx="2203704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Directly stated by a credible source.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Example: TRAI reports 61.08 internet subscriptions per 100 population in Meghalaya.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474720" y="2240280"/>
            <a:ext cx="2532888" cy="2788920"/>
          </a:xfrm>
          <a:prstGeom prst="roundRect">
            <a:avLst>
              <a:gd name="adj" fmla="val 4332"/>
            </a:avLst>
          </a:prstGeom>
          <a:solidFill>
            <a:srgbClr val="FFFEFC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39312" y="2377440"/>
            <a:ext cx="22037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spc="70" kern="0" dirty="0">
                <a:solidFill>
                  <a:srgbClr val="3E5D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02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3639312" y="2624328"/>
            <a:ext cx="2203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DERIVED FACT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3639312" y="3072384"/>
            <a:ext cx="2203704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Arithmetic from source data; method shown.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Example: 79.9% rural = rural population / total population.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36208" y="2240280"/>
            <a:ext cx="2532888" cy="2788920"/>
          </a:xfrm>
          <a:prstGeom prst="roundRect">
            <a:avLst>
              <a:gd name="adj" fmla="val 4332"/>
            </a:avLst>
          </a:prstGeom>
          <a:solidFill>
            <a:srgbClr val="FFFEFC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2377440"/>
            <a:ext cx="22037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spc="70" kern="0" dirty="0">
                <a:solidFill>
                  <a:srgbClr val="B28A5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03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6400800" y="2624328"/>
            <a:ext cx="2203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SYNTHESIS</a:t>
            </a:r>
            <a:endParaRPr lang="en-US" sz="1420" dirty="0"/>
          </a:p>
        </p:txBody>
      </p:sp>
      <p:sp>
        <p:nvSpPr>
          <p:cNvPr id="16" name="Text 14"/>
          <p:cNvSpPr/>
          <p:nvPr/>
        </p:nvSpPr>
        <p:spPr>
          <a:xfrm>
            <a:off x="6400800" y="3072384"/>
            <a:ext cx="2203704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conclusion from multiple sources.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Example: communication here behaves like an access-and-feedback system.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997696" y="2240280"/>
            <a:ext cx="2532888" cy="2788920"/>
          </a:xfrm>
          <a:prstGeom prst="roundRect">
            <a:avLst>
              <a:gd name="adj" fmla="val 4332"/>
            </a:avLst>
          </a:prstGeom>
          <a:solidFill>
            <a:srgbClr val="FFFEFC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62288" y="2377440"/>
            <a:ext cx="22037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spc="70" kern="0" dirty="0">
                <a:solidFill>
                  <a:srgbClr val="6C837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04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9162288" y="2624328"/>
            <a:ext cx="2203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RECOMMENDATION</a:t>
            </a:r>
            <a:endParaRPr lang="en-US" sz="1420" dirty="0"/>
          </a:p>
        </p:txBody>
      </p:sp>
      <p:sp>
        <p:nvSpPr>
          <p:cNvPr id="20" name="Text 18"/>
          <p:cNvSpPr/>
          <p:nvPr/>
        </p:nvSpPr>
        <p:spPr>
          <a:xfrm>
            <a:off x="9162288" y="3072384"/>
            <a:ext cx="2203704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 would do, based on evidence.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Example: use digital-plus-field distribution.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13232" y="5349240"/>
            <a:ext cx="10762488" cy="457200"/>
          </a:xfrm>
          <a:prstGeom prst="roundRect">
            <a:avLst>
              <a:gd name="adj" fmla="val 24000"/>
            </a:avLst>
          </a:prstGeom>
          <a:solidFill>
            <a:srgbClr val="F4EEE6"/>
          </a:solidFill>
          <a:ln w="10160">
            <a:solidFill>
              <a:srgbClr val="F4EE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" y="5477256"/>
            <a:ext cx="10287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Confidence labels in the claim ledger describe the evidence quality - not certainty about future behaviour.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863840" y="6574536"/>
            <a:ext cx="3154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70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Not commissioned by or affiliated with Grant Thornton Bharat.</a:t>
            </a:r>
            <a:endParaRPr lang="en-US" sz="6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6616A"/>
                </a:solidFill>
                <a:latin typeface="Aptos Mono"/>
                <a:ea typeface="Aptos Mono"/>
                <a:cs typeface="Aptos Mono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20" kern="0" dirty="0">
                <a:solidFill>
                  <a:srgbClr val="6B4A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APPENDIX / A03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 arrived at the “service-delivery layer” thesis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1408176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thesis is a synthesis; I tested it against multiple independent public sources before using it as the deck spine.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58368" y="2103120"/>
            <a:ext cx="3364992" cy="1371600"/>
          </a:xfrm>
          <a:prstGeom prst="roundRect">
            <a:avLst>
              <a:gd name="adj" fmla="val 8000"/>
            </a:avLst>
          </a:prstGeom>
          <a:solidFill>
            <a:srgbClr val="FFFEFC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240280"/>
            <a:ext cx="30358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spc="70" kern="0" dirty="0">
                <a:solidFill>
                  <a:srgbClr val="6B4A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ACCESS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22960" y="2487168"/>
            <a:ext cx="3035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S01 · S02 · S04 · S07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822960" y="2935224"/>
            <a:ext cx="30358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rurality + terrain/distance + last-mile challenge + digital differences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279392" y="2103120"/>
            <a:ext cx="3364992" cy="1371600"/>
          </a:xfrm>
          <a:prstGeom prst="roundRect">
            <a:avLst>
              <a:gd name="adj" fmla="val 8000"/>
            </a:avLst>
          </a:prstGeom>
          <a:solidFill>
            <a:srgbClr val="FFFEFC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43984" y="2240280"/>
            <a:ext cx="30358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spc="70" kern="0" dirty="0">
                <a:solidFill>
                  <a:srgbClr val="3E5D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PARTICIPATION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443984" y="2487168"/>
            <a:ext cx="3035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S03 · S10 · S12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4443984" y="2935224"/>
            <a:ext cx="30358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feedback, participatory governance and public consultation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900416" y="2103120"/>
            <a:ext cx="3364992" cy="1371600"/>
          </a:xfrm>
          <a:prstGeom prst="roundRect">
            <a:avLst>
              <a:gd name="adj" fmla="val 8000"/>
            </a:avLst>
          </a:prstGeom>
          <a:solidFill>
            <a:srgbClr val="FFFEFC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65008" y="2240280"/>
            <a:ext cx="30358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spc="70" kern="0" dirty="0">
                <a:solidFill>
                  <a:srgbClr val="B28A5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LOCALISATION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8065008" y="2487168"/>
            <a:ext cx="3035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S02 · S05 · S06 · S09</a:t>
            </a:r>
            <a:endParaRPr lang="en-US" sz="1420" dirty="0"/>
          </a:p>
        </p:txBody>
      </p:sp>
      <p:sp>
        <p:nvSpPr>
          <p:cNvPr id="16" name="Text 14"/>
          <p:cNvSpPr/>
          <p:nvPr/>
        </p:nvSpPr>
        <p:spPr>
          <a:xfrm>
            <a:off x="8065008" y="2935224"/>
            <a:ext cx="30358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languages + heterogeneous youth + culturally appropriate engagement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58368" y="3703320"/>
            <a:ext cx="3364992" cy="1371600"/>
          </a:xfrm>
          <a:prstGeom prst="roundRect">
            <a:avLst>
              <a:gd name="adj" fmla="val 8000"/>
            </a:avLst>
          </a:prstGeom>
          <a:solidFill>
            <a:srgbClr val="FFFEFC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840480"/>
            <a:ext cx="30358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spc="70" kern="0" dirty="0">
                <a:solidFill>
                  <a:srgbClr val="6B4A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CHANNEL SYSTEM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822960" y="4087368"/>
            <a:ext cx="3035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S07 · S08</a:t>
            </a:r>
            <a:endParaRPr lang="en-US" sz="1420" dirty="0"/>
          </a:p>
        </p:txBody>
      </p:sp>
      <p:sp>
        <p:nvSpPr>
          <p:cNvPr id="20" name="Text 18"/>
          <p:cNvSpPr/>
          <p:nvPr/>
        </p:nvSpPr>
        <p:spPr>
          <a:xfrm>
            <a:off x="822960" y="4535424"/>
            <a:ext cx="30358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digital reach + press/video/field publicity / direct interaction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279392" y="3703320"/>
            <a:ext cx="3364992" cy="1371600"/>
          </a:xfrm>
          <a:prstGeom prst="roundRect">
            <a:avLst>
              <a:gd name="adj" fmla="val 8000"/>
            </a:avLst>
          </a:prstGeom>
          <a:solidFill>
            <a:srgbClr val="FFFEFC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43984" y="3840480"/>
            <a:ext cx="30358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spc="70" kern="0" dirty="0">
                <a:solidFill>
                  <a:srgbClr val="3E5D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ACTION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4443984" y="4087368"/>
            <a:ext cx="3035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S02 · S04</a:t>
            </a:r>
            <a:endParaRPr lang="en-US" sz="1420" dirty="0"/>
          </a:p>
        </p:txBody>
      </p:sp>
      <p:sp>
        <p:nvSpPr>
          <p:cNvPr id="24" name="Text 22"/>
          <p:cNvSpPr/>
          <p:nvPr/>
        </p:nvSpPr>
        <p:spPr>
          <a:xfrm>
            <a:off x="4443984" y="4535424"/>
            <a:ext cx="30358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BCC, doorstep services, helpline and grievance feedback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900416" y="3703320"/>
            <a:ext cx="3364992" cy="1371600"/>
          </a:xfrm>
          <a:prstGeom prst="roundRect">
            <a:avLst>
              <a:gd name="adj" fmla="val 8000"/>
            </a:avLst>
          </a:prstGeom>
          <a:solidFill>
            <a:srgbClr val="FFFEFC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65008" y="3840480"/>
            <a:ext cx="30358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spc="70" kern="0" dirty="0">
                <a:solidFill>
                  <a:srgbClr val="B28A5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DISTRICT REALITY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8065008" y="4087368"/>
            <a:ext cx="3035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S01 · S11</a:t>
            </a:r>
            <a:endParaRPr lang="en-US" sz="1420" dirty="0"/>
          </a:p>
        </p:txBody>
      </p:sp>
      <p:sp>
        <p:nvSpPr>
          <p:cNvPr id="28" name="Text 26"/>
          <p:cNvSpPr/>
          <p:nvPr/>
        </p:nvSpPr>
        <p:spPr>
          <a:xfrm>
            <a:off x="8065008" y="4535424"/>
            <a:ext cx="30358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administrative spread and district-level variation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58368" y="5394960"/>
            <a:ext cx="10826496" cy="402336"/>
          </a:xfrm>
          <a:prstGeom prst="roundRect">
            <a:avLst>
              <a:gd name="adj" fmla="val 27273"/>
            </a:avLst>
          </a:prstGeom>
          <a:solidFill>
            <a:srgbClr val="2E1B3A"/>
          </a:solidFill>
          <a:ln w="10160">
            <a:solidFill>
              <a:srgbClr val="2E1B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5486400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inference: the strongest communications system connects information delivery, comprehension, action and a return path for feedback.</a:t>
            </a:r>
            <a:endParaRPr lang="en-US" sz="1020" dirty="0"/>
          </a:p>
        </p:txBody>
      </p:sp>
      <p:sp>
        <p:nvSpPr>
          <p:cNvPr id="31" name="Text 29"/>
          <p:cNvSpPr/>
          <p:nvPr/>
        </p:nvSpPr>
        <p:spPr>
          <a:xfrm>
            <a:off x="566928" y="6574536"/>
            <a:ext cx="7132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Evidence: C16 | Full URL, page and rationale in appendix</a:t>
            </a:r>
            <a:endParaRPr lang="en-US" sz="680" dirty="0"/>
          </a:p>
        </p:txBody>
      </p:sp>
      <p:sp>
        <p:nvSpPr>
          <p:cNvPr id="32" name="Text 30"/>
          <p:cNvSpPr/>
          <p:nvPr/>
        </p:nvSpPr>
        <p:spPr>
          <a:xfrm>
            <a:off x="7863840" y="6574536"/>
            <a:ext cx="3154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70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Not commissioned by or affiliated with Grant Thornton Bharat.</a:t>
            </a:r>
            <a:endParaRPr lang="en-US" sz="6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6616A"/>
                </a:solidFill>
                <a:latin typeface="Aptos Mono"/>
                <a:ea typeface="Aptos Mono"/>
                <a:cs typeface="Aptos Mono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20" kern="0" dirty="0">
                <a:solidFill>
                  <a:srgbClr val="6B4A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APPENDIX / A04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External claim ledger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1408176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block shows the exact statement I used, its source URL/page, my logic, evidence class and confidence.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10863072" cy="1682496"/>
          </a:xfrm>
          <a:prstGeom prst="roundRect">
            <a:avLst>
              <a:gd name="adj" fmla="val 6522"/>
            </a:avLst>
          </a:prstGeom>
          <a:solidFill>
            <a:srgbClr val="FFFEFC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2130552"/>
            <a:ext cx="1572768" cy="256032"/>
          </a:xfrm>
          <a:prstGeom prst="roundRect">
            <a:avLst>
              <a:gd name="adj" fmla="val 42857"/>
            </a:avLst>
          </a:prstGeom>
          <a:solidFill>
            <a:srgbClr val="6B4A7C"/>
          </a:solidFill>
          <a:ln w="10160">
            <a:solidFill>
              <a:srgbClr val="6B4A7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5256" y="2157984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C01 · FACT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2578608" y="2112264"/>
            <a:ext cx="8613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Meghalaya had 2,966,889 people in the 2011 Census base used by the state DES portal: 2,371,439 rural and 595,450 urban.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41248" y="2587752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6B4A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1572768" y="2569464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S01 https://des.megplanning.gov.in/portal.htm</a:t>
            </a:r>
            <a:endParaRPr lang="en-US" sz="670" dirty="0"/>
          </a:p>
        </p:txBody>
      </p:sp>
      <p:sp>
        <p:nvSpPr>
          <p:cNvPr id="11" name="Text 9"/>
          <p:cNvSpPr/>
          <p:nvPr/>
        </p:nvSpPr>
        <p:spPr>
          <a:xfrm>
            <a:off x="841248" y="3044952"/>
            <a:ext cx="713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3E5D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RATIONALE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1572768" y="3008376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211E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use this only as a dated structural baseline, not as a current population estimate.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9802368" y="308152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B28A5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VERY HIGH</a:t>
            </a:r>
            <a:endParaRPr lang="en-US" sz="680" dirty="0"/>
          </a:p>
        </p:txBody>
      </p:sp>
      <p:sp>
        <p:nvSpPr>
          <p:cNvPr id="14" name="Shape 12"/>
          <p:cNvSpPr/>
          <p:nvPr/>
        </p:nvSpPr>
        <p:spPr>
          <a:xfrm>
            <a:off x="640080" y="3849624"/>
            <a:ext cx="10863072" cy="1682496"/>
          </a:xfrm>
          <a:prstGeom prst="roundRect">
            <a:avLst>
              <a:gd name="adj" fmla="val 6522"/>
            </a:avLst>
          </a:prstGeom>
          <a:solidFill>
            <a:srgbClr val="FFFEFC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" y="4014216"/>
            <a:ext cx="1572768" cy="256032"/>
          </a:xfrm>
          <a:prstGeom prst="roundRect">
            <a:avLst>
              <a:gd name="adj" fmla="val 42857"/>
            </a:avLst>
          </a:prstGeom>
          <a:solidFill>
            <a:srgbClr val="6B4A7C"/>
          </a:solidFill>
          <a:ln w="10160">
            <a:solidFill>
              <a:srgbClr val="6B4A7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5256" y="4041648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C02 · DERIVED FACT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2578608" y="3995928"/>
            <a:ext cx="8613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2011 DES figures imply that 79.9% of Meghalaya's population was rural.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41248" y="4471416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6B4A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1572768" y="4453128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S01 https://des.megplanning.gov.in/portal.htm</a:t>
            </a:r>
            <a:endParaRPr lang="en-US" sz="670" dirty="0"/>
          </a:p>
        </p:txBody>
      </p:sp>
      <p:sp>
        <p:nvSpPr>
          <p:cNvPr id="20" name="Text 18"/>
          <p:cNvSpPr/>
          <p:nvPr/>
        </p:nvSpPr>
        <p:spPr>
          <a:xfrm>
            <a:off x="841248" y="4928616"/>
            <a:ext cx="713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3E5D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RATIONALE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1572768" y="489204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211E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2,371,439 / 2,966,889 = 79.93%. This supports designing beyond urban social-media audiences.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9802368" y="496519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B28A5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VERY HIGH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566928" y="6574536"/>
            <a:ext cx="7132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Evidence: C01 · C02 | Full URL, page and rationale in appendix</a:t>
            </a:r>
            <a:endParaRPr lang="en-US" sz="680" dirty="0"/>
          </a:p>
        </p:txBody>
      </p:sp>
      <p:sp>
        <p:nvSpPr>
          <p:cNvPr id="24" name="Text 22"/>
          <p:cNvSpPr/>
          <p:nvPr/>
        </p:nvSpPr>
        <p:spPr>
          <a:xfrm>
            <a:off x="7863840" y="6574536"/>
            <a:ext cx="3154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70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Not commissioned by or affiliated with Grant Thornton Bharat.</a:t>
            </a:r>
            <a:endParaRPr lang="en-US" sz="6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6616A"/>
                </a:solidFill>
                <a:latin typeface="Aptos Mono"/>
                <a:ea typeface="Aptos Mono"/>
                <a:cs typeface="Aptos Mono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20" kern="0" dirty="0">
                <a:solidFill>
                  <a:srgbClr val="6B4A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APPENDIX / A05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External claim ledger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1408176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block shows the exact statement I used, its source URL/page, my logic, evidence class and confidence.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10863072" cy="1682496"/>
          </a:xfrm>
          <a:prstGeom prst="roundRect">
            <a:avLst>
              <a:gd name="adj" fmla="val 6522"/>
            </a:avLst>
          </a:prstGeom>
          <a:solidFill>
            <a:srgbClr val="FFFEFC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2130552"/>
            <a:ext cx="1572768" cy="256032"/>
          </a:xfrm>
          <a:prstGeom prst="roundRect">
            <a:avLst>
              <a:gd name="adj" fmla="val 42857"/>
            </a:avLst>
          </a:prstGeom>
          <a:solidFill>
            <a:srgbClr val="6B4A7C"/>
          </a:solidFill>
          <a:ln w="10160">
            <a:solidFill>
              <a:srgbClr val="6B4A7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5256" y="2157984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C03 · FACT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2578608" y="2112264"/>
            <a:ext cx="8613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DES portal lists 12 districts (2022) and 55 C&amp;RD blocks (2022).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41248" y="2587752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6B4A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1572768" y="2569464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S01 https://des.megplanning.gov.in/portal.htm</a:t>
            </a:r>
            <a:endParaRPr lang="en-US" sz="670" dirty="0"/>
          </a:p>
        </p:txBody>
      </p:sp>
      <p:sp>
        <p:nvSpPr>
          <p:cNvPr id="11" name="Text 9"/>
          <p:cNvSpPr/>
          <p:nvPr/>
        </p:nvSpPr>
        <p:spPr>
          <a:xfrm>
            <a:off x="841248" y="3044952"/>
            <a:ext cx="713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3E5D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RATIONALE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1572768" y="3008376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211E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Administrative spread makes repeatable district/block communication kits more useful than a Shillong-only content model.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9802368" y="308152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B28A5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VERY HIGH</a:t>
            </a:r>
            <a:endParaRPr lang="en-US" sz="680" dirty="0"/>
          </a:p>
        </p:txBody>
      </p:sp>
      <p:sp>
        <p:nvSpPr>
          <p:cNvPr id="14" name="Shape 12"/>
          <p:cNvSpPr/>
          <p:nvPr/>
        </p:nvSpPr>
        <p:spPr>
          <a:xfrm>
            <a:off x="640080" y="3849624"/>
            <a:ext cx="10863072" cy="1682496"/>
          </a:xfrm>
          <a:prstGeom prst="roundRect">
            <a:avLst>
              <a:gd name="adj" fmla="val 6522"/>
            </a:avLst>
          </a:prstGeom>
          <a:solidFill>
            <a:srgbClr val="FFFEFC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" y="4014216"/>
            <a:ext cx="1572768" cy="256032"/>
          </a:xfrm>
          <a:prstGeom prst="roundRect">
            <a:avLst>
              <a:gd name="adj" fmla="val 42857"/>
            </a:avLst>
          </a:prstGeom>
          <a:solidFill>
            <a:srgbClr val="6B4A7C"/>
          </a:solidFill>
          <a:ln w="10160">
            <a:solidFill>
              <a:srgbClr val="6B4A7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5256" y="4041648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C04 · FACT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2578608" y="3995928"/>
            <a:ext cx="8613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2022 Government RFP described connectivity and rural awareness as barriers to last-mile scheme uptake and called for grass-root Behaviour Change Communication.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41248" y="4471416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6B4A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1572768" y="4453128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S02 https://meghalaya.gov.in/sites/default/files/tenders/RFP_for_Selection_of_Agency_for_Grassroot_Citizen_Engagement_Program.pdf | pp. 4 and 23 of 40</a:t>
            </a:r>
            <a:endParaRPr lang="en-US" sz="670" dirty="0"/>
          </a:p>
        </p:txBody>
      </p:sp>
      <p:sp>
        <p:nvSpPr>
          <p:cNvPr id="20" name="Text 18"/>
          <p:cNvSpPr/>
          <p:nvPr/>
        </p:nvSpPr>
        <p:spPr>
          <a:xfrm>
            <a:off x="841248" y="4928616"/>
            <a:ext cx="713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3E5D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RATIONALE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1572768" y="489204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211E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direct evidence that awareness alone is insufficient; communication must help people convert information into action.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9802368" y="496519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B28A5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VERY HIGH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566928" y="6574536"/>
            <a:ext cx="7132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Evidence: C03 · C04 | Full URL, page and rationale in appendix</a:t>
            </a:r>
            <a:endParaRPr lang="en-US" sz="680" dirty="0"/>
          </a:p>
        </p:txBody>
      </p:sp>
      <p:sp>
        <p:nvSpPr>
          <p:cNvPr id="24" name="Text 22"/>
          <p:cNvSpPr/>
          <p:nvPr/>
        </p:nvSpPr>
        <p:spPr>
          <a:xfrm>
            <a:off x="7863840" y="6574536"/>
            <a:ext cx="3154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70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Not commissioned by or affiliated with Grant Thornton Bharat.</a:t>
            </a:r>
            <a:endParaRPr lang="en-US" sz="6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6616A"/>
                </a:solidFill>
                <a:latin typeface="Aptos Mono"/>
                <a:ea typeface="Aptos Mono"/>
                <a:cs typeface="Aptos Mono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20" kern="0" dirty="0">
                <a:solidFill>
                  <a:srgbClr val="6B4A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APPENDIX / A06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External claim ledger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1408176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block shows the exact statement I used, its source URL/page, my logic, evidence class and confidence.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10863072" cy="1682496"/>
          </a:xfrm>
          <a:prstGeom prst="roundRect">
            <a:avLst>
              <a:gd name="adj" fmla="val 6522"/>
            </a:avLst>
          </a:prstGeom>
          <a:solidFill>
            <a:srgbClr val="FFFEFC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2130552"/>
            <a:ext cx="1572768" cy="256032"/>
          </a:xfrm>
          <a:prstGeom prst="roundRect">
            <a:avLst>
              <a:gd name="adj" fmla="val 42857"/>
            </a:avLst>
          </a:prstGeom>
          <a:solidFill>
            <a:srgbClr val="6B4A7C"/>
          </a:solidFill>
          <a:ln w="10160">
            <a:solidFill>
              <a:srgbClr val="6B4A7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5256" y="2157984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C05 · FACT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2578608" y="2112264"/>
            <a:ext cx="8613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RFP specified village-level audience frameworks, communication in local languages and collection of citizen feedback/grievances.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41248" y="2587752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6B4A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1572768" y="2569464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S02 https://meghalaya.gov.in/sites/default/files/tenders/RFP_for_Selection_of_Agency_for_Grassroot_Citizen_Engagement_Program.pdf | pp. 4 and 23 of 40</a:t>
            </a:r>
            <a:endParaRPr lang="en-US" sz="670" dirty="0"/>
          </a:p>
        </p:txBody>
      </p:sp>
      <p:sp>
        <p:nvSpPr>
          <p:cNvPr id="11" name="Text 9"/>
          <p:cNvSpPr/>
          <p:nvPr/>
        </p:nvSpPr>
        <p:spPr>
          <a:xfrm>
            <a:off x="841248" y="3044952"/>
            <a:ext cx="713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3E5D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RATIONALE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1572768" y="3008376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211E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Localisation and feedback are explicit operating requirements in a real Meghalaya citizen-engagement mandate.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9802368" y="308152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B28A5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VERY HIGH</a:t>
            </a:r>
            <a:endParaRPr lang="en-US" sz="680" dirty="0"/>
          </a:p>
        </p:txBody>
      </p:sp>
      <p:sp>
        <p:nvSpPr>
          <p:cNvPr id="14" name="Shape 12"/>
          <p:cNvSpPr/>
          <p:nvPr/>
        </p:nvSpPr>
        <p:spPr>
          <a:xfrm>
            <a:off x="640080" y="3849624"/>
            <a:ext cx="10863072" cy="1682496"/>
          </a:xfrm>
          <a:prstGeom prst="roundRect">
            <a:avLst>
              <a:gd name="adj" fmla="val 6522"/>
            </a:avLst>
          </a:prstGeom>
          <a:solidFill>
            <a:srgbClr val="FFFEFC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" y="4014216"/>
            <a:ext cx="1572768" cy="256032"/>
          </a:xfrm>
          <a:prstGeom prst="roundRect">
            <a:avLst>
              <a:gd name="adj" fmla="val 42857"/>
            </a:avLst>
          </a:prstGeom>
          <a:solidFill>
            <a:srgbClr val="6B4A7C"/>
          </a:solidFill>
          <a:ln w="10160">
            <a:solidFill>
              <a:srgbClr val="6B4A7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5256" y="4041648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C06 · FACT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2578608" y="3995928"/>
            <a:ext cx="8613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MyMeG describes its purpose as participatory governance: capturing citizen feedback, disseminating government messages through multiple channels and engaging citizens in implementation.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41248" y="4471416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6B4A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1572768" y="4453128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S03 https://mymeg.meghalaya.gov.in/highlights/</a:t>
            </a:r>
            <a:endParaRPr lang="en-US" sz="670" dirty="0"/>
          </a:p>
        </p:txBody>
      </p:sp>
      <p:sp>
        <p:nvSpPr>
          <p:cNvPr id="20" name="Text 18"/>
          <p:cNvSpPr/>
          <p:nvPr/>
        </p:nvSpPr>
        <p:spPr>
          <a:xfrm>
            <a:off x="841248" y="4928616"/>
            <a:ext cx="713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3E5D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RATIONALE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1572768" y="489204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211E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supports a two-way communications model rather than a one-way publishing calendar.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9802368" y="496519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B28A5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VERY HIGH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566928" y="6574536"/>
            <a:ext cx="7132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Evidence: C05 · C06 | Full URL, page and rationale in appendix</a:t>
            </a:r>
            <a:endParaRPr lang="en-US" sz="680" dirty="0"/>
          </a:p>
        </p:txBody>
      </p:sp>
      <p:sp>
        <p:nvSpPr>
          <p:cNvPr id="24" name="Text 22"/>
          <p:cNvSpPr/>
          <p:nvPr/>
        </p:nvSpPr>
        <p:spPr>
          <a:xfrm>
            <a:off x="7863840" y="6574536"/>
            <a:ext cx="3154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70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Not commissioned by or affiliated with Grant Thornton Bharat.</a:t>
            </a:r>
            <a:endParaRPr lang="en-US" sz="6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6616A"/>
                </a:solidFill>
                <a:latin typeface="Aptos Mono"/>
                <a:ea typeface="Aptos Mono"/>
                <a:cs typeface="Aptos Mono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20" kern="0" dirty="0">
                <a:solidFill>
                  <a:srgbClr val="6B4A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APPENDIX / A07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External claim ledger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1408176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block shows the exact statement I used, its source URL/page, my logic, evidence class and confidence.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10863072" cy="1682496"/>
          </a:xfrm>
          <a:prstGeom prst="roundRect">
            <a:avLst>
              <a:gd name="adj" fmla="val 6522"/>
            </a:avLst>
          </a:prstGeom>
          <a:solidFill>
            <a:srgbClr val="FFFEFC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2130552"/>
            <a:ext cx="1572768" cy="256032"/>
          </a:xfrm>
          <a:prstGeom prst="roundRect">
            <a:avLst>
              <a:gd name="adj" fmla="val 42857"/>
            </a:avLst>
          </a:prstGeom>
          <a:solidFill>
            <a:srgbClr val="6B4A7C"/>
          </a:solidFill>
          <a:ln w="10160">
            <a:solidFill>
              <a:srgbClr val="6B4A7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5256" y="2157984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C07 · FACT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2578608" y="2112264"/>
            <a:ext cx="8613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the 2024 Independence Day speech, the Chief Minister explicitly linked terrain and distance to difficulty accessing government services and described CM-CONNECT as a response.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41248" y="2587752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6B4A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1572768" y="2569464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S04 https://www.meghalaya.gov.in/meghalaya/sites/default/files/press_release/78th_Independence_Day_2024_HCM_Speech.pdf | printed p. 9</a:t>
            </a:r>
            <a:endParaRPr lang="en-US" sz="670" dirty="0"/>
          </a:p>
        </p:txBody>
      </p:sp>
      <p:sp>
        <p:nvSpPr>
          <p:cNvPr id="11" name="Text 9"/>
          <p:cNvSpPr/>
          <p:nvPr/>
        </p:nvSpPr>
        <p:spPr>
          <a:xfrm>
            <a:off x="841248" y="3044952"/>
            <a:ext cx="713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3E5D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RATIONALE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1572768" y="3008376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211E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communication architecture should reduce distance through channel redundancy, field touchpoints and clear escalation paths.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9802368" y="308152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B28A5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VERY HIGH</a:t>
            </a:r>
            <a:endParaRPr lang="en-US" sz="680" dirty="0"/>
          </a:p>
        </p:txBody>
      </p:sp>
      <p:sp>
        <p:nvSpPr>
          <p:cNvPr id="14" name="Shape 12"/>
          <p:cNvSpPr/>
          <p:nvPr/>
        </p:nvSpPr>
        <p:spPr>
          <a:xfrm>
            <a:off x="640080" y="3849624"/>
            <a:ext cx="10863072" cy="1682496"/>
          </a:xfrm>
          <a:prstGeom prst="roundRect">
            <a:avLst>
              <a:gd name="adj" fmla="val 6522"/>
            </a:avLst>
          </a:prstGeom>
          <a:solidFill>
            <a:srgbClr val="FFFEFC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" y="4014216"/>
            <a:ext cx="1572768" cy="256032"/>
          </a:xfrm>
          <a:prstGeom prst="roundRect">
            <a:avLst>
              <a:gd name="adj" fmla="val 42857"/>
            </a:avLst>
          </a:prstGeom>
          <a:solidFill>
            <a:srgbClr val="6B4A7C"/>
          </a:solidFill>
          <a:ln w="10160">
            <a:solidFill>
              <a:srgbClr val="6B4A7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5256" y="4041648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C08 · FACT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2578608" y="3995928"/>
            <a:ext cx="8613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speech said the 1971 multilingual helpline had already been used by 12,000 citizens by August 2024.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41248" y="4471416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6B4A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1572768" y="4453128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S04 https://www.meghalaya.gov.in/meghalaya/sites/default/files/press_release/78th_Independence_Day_2024_HCM_Speech.pdf | printed p. 9</a:t>
            </a:r>
            <a:endParaRPr lang="en-US" sz="670" dirty="0"/>
          </a:p>
        </p:txBody>
      </p:sp>
      <p:sp>
        <p:nvSpPr>
          <p:cNvPr id="20" name="Text 18"/>
          <p:cNvSpPr/>
          <p:nvPr/>
        </p:nvSpPr>
        <p:spPr>
          <a:xfrm>
            <a:off x="841248" y="4928616"/>
            <a:ext cx="713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3E5D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RATIONALE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1572768" y="489204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211E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helpline demonstrates that feedback/service channels are part of the communication system, not downstream of it.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9802368" y="496519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B28A5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VERY HIGH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566928" y="6574536"/>
            <a:ext cx="7132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Evidence: C07 · C08 | Full URL, page and rationale in appendix</a:t>
            </a:r>
            <a:endParaRPr lang="en-US" sz="680" dirty="0"/>
          </a:p>
        </p:txBody>
      </p:sp>
      <p:sp>
        <p:nvSpPr>
          <p:cNvPr id="24" name="Text 22"/>
          <p:cNvSpPr/>
          <p:nvPr/>
        </p:nvSpPr>
        <p:spPr>
          <a:xfrm>
            <a:off x="7863840" y="6574536"/>
            <a:ext cx="3154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70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Not commissioned by or affiliated with Grant Thornton Bharat.</a:t>
            </a:r>
            <a:endParaRPr lang="en-US" sz="6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6616A"/>
                </a:solidFill>
                <a:latin typeface="Aptos Mono"/>
                <a:ea typeface="Aptos Mono"/>
                <a:cs typeface="Aptos Mono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20" kern="0" dirty="0">
                <a:solidFill>
                  <a:srgbClr val="6B4A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APPENDIX / A08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External claim ledger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1408176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block shows the exact statement I used, its source URL/page, my logic, evidence class and confidence.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10863072" cy="1682496"/>
          </a:xfrm>
          <a:prstGeom prst="roundRect">
            <a:avLst>
              <a:gd name="adj" fmla="val 6522"/>
            </a:avLst>
          </a:prstGeom>
          <a:solidFill>
            <a:srgbClr val="FFFEFC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2130552"/>
            <a:ext cx="1572768" cy="256032"/>
          </a:xfrm>
          <a:prstGeom prst="roundRect">
            <a:avLst>
              <a:gd name="adj" fmla="val 42857"/>
            </a:avLst>
          </a:prstGeom>
          <a:solidFill>
            <a:srgbClr val="6B4A7C"/>
          </a:solidFill>
          <a:ln w="10160">
            <a:solidFill>
              <a:srgbClr val="6B4A7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5256" y="2157984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C09 · FACT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2578608" y="2112264"/>
            <a:ext cx="8613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Meghalaya State Language Act continues English as the official language and permits Khasi and Garo as associate official languages in specified district-level contexts.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41248" y="2587752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6B4A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1572768" y="2569464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S05 https://homepolitical.meghalaya.gov.in/pdf/acts/meghalaya_language_act-2005.pdf | PDF p. 2 / Gazette p. 364</a:t>
            </a:r>
            <a:endParaRPr lang="en-US" sz="670" dirty="0"/>
          </a:p>
        </p:txBody>
      </p:sp>
      <p:sp>
        <p:nvSpPr>
          <p:cNvPr id="11" name="Text 9"/>
          <p:cNvSpPr/>
          <p:nvPr/>
        </p:nvSpPr>
        <p:spPr>
          <a:xfrm>
            <a:off x="841248" y="3044952"/>
            <a:ext cx="713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3E5D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RATIONALE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1572768" y="3008376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211E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would treat localisation as audience/context design, with language as one layer rather than a mechanical translation step.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9802368" y="308152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B28A5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VERY HIGH</a:t>
            </a:r>
            <a:endParaRPr lang="en-US" sz="680" dirty="0"/>
          </a:p>
        </p:txBody>
      </p:sp>
      <p:sp>
        <p:nvSpPr>
          <p:cNvPr id="14" name="Shape 12"/>
          <p:cNvSpPr/>
          <p:nvPr/>
        </p:nvSpPr>
        <p:spPr>
          <a:xfrm>
            <a:off x="640080" y="3849624"/>
            <a:ext cx="10863072" cy="1682496"/>
          </a:xfrm>
          <a:prstGeom prst="roundRect">
            <a:avLst>
              <a:gd name="adj" fmla="val 6522"/>
            </a:avLst>
          </a:prstGeom>
          <a:solidFill>
            <a:srgbClr val="FFFEFC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" y="4014216"/>
            <a:ext cx="1572768" cy="256032"/>
          </a:xfrm>
          <a:prstGeom prst="roundRect">
            <a:avLst>
              <a:gd name="adj" fmla="val 42857"/>
            </a:avLst>
          </a:prstGeom>
          <a:solidFill>
            <a:srgbClr val="6B4A7C"/>
          </a:solidFill>
          <a:ln w="10160">
            <a:solidFill>
              <a:srgbClr val="6B4A7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5256" y="4041648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C10 · FACT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2578608" y="3995928"/>
            <a:ext cx="8613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2021 Youth Policy estimated that more than 70% of Meghalaya's population was under 35 and also warned that youth are not a homogeneous group.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41248" y="4471416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6B4A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1572768" y="4453128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S06 https://meghalaya.gov.in/sites/default/files/documents/Meghalaya_Youth_Policy_2021_0.pdf | printed pp. 6 and 8</a:t>
            </a:r>
            <a:endParaRPr lang="en-US" sz="670" dirty="0"/>
          </a:p>
        </p:txBody>
      </p:sp>
      <p:sp>
        <p:nvSpPr>
          <p:cNvPr id="20" name="Text 18"/>
          <p:cNvSpPr/>
          <p:nvPr/>
        </p:nvSpPr>
        <p:spPr>
          <a:xfrm>
            <a:off x="841248" y="4928616"/>
            <a:ext cx="713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3E5D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RATIONALE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1572768" y="489204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211E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Youth relevance is high, but segmentation by life situation, rural/urban context and needs matters more than generic youth tone.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9802368" y="496519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B28A5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HIGH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566928" y="6574536"/>
            <a:ext cx="7132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Evidence: C09 · C10 | Full URL, page and rationale in appendix</a:t>
            </a:r>
            <a:endParaRPr lang="en-US" sz="680" dirty="0"/>
          </a:p>
        </p:txBody>
      </p:sp>
      <p:sp>
        <p:nvSpPr>
          <p:cNvPr id="24" name="Text 22"/>
          <p:cNvSpPr/>
          <p:nvPr/>
        </p:nvSpPr>
        <p:spPr>
          <a:xfrm>
            <a:off x="7863840" y="6574536"/>
            <a:ext cx="3154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70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Not commissioned by or affiliated with Grant Thornton Bharat.</a:t>
            </a:r>
            <a:endParaRPr lang="en-US" sz="6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6616A"/>
                </a:solidFill>
                <a:latin typeface="Aptos Mono"/>
                <a:ea typeface="Aptos Mono"/>
                <a:cs typeface="Aptos Mono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20" kern="0" dirty="0">
                <a:solidFill>
                  <a:srgbClr val="6B4A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APPENDIX / A09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External claim ledger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1408176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block shows the exact statement I used, its source URL/page, my logic, evidence class and confidence.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10863072" cy="1682496"/>
          </a:xfrm>
          <a:prstGeom prst="roundRect">
            <a:avLst>
              <a:gd name="adj" fmla="val 6522"/>
            </a:avLst>
          </a:prstGeom>
          <a:solidFill>
            <a:srgbClr val="FFFEFC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2130552"/>
            <a:ext cx="1572768" cy="256032"/>
          </a:xfrm>
          <a:prstGeom prst="roundRect">
            <a:avLst>
              <a:gd name="adj" fmla="val 42857"/>
            </a:avLst>
          </a:prstGeom>
          <a:solidFill>
            <a:srgbClr val="6B4A7C"/>
          </a:solidFill>
          <a:ln w="10160">
            <a:solidFill>
              <a:srgbClr val="6B4A7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5256" y="2157984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C11 · FACT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2578608" y="2112264"/>
            <a:ext cx="8613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 reported 2.08 million internet subscriptions in Meghalaya at March 2025, equal to 61.08 subscriptions per 100 population.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41248" y="2587752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6B4A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1572768" y="2569464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S07 https://www.trai.gov.in/sites/default/files/2025-07/YIR_08072025_0.pdf | report p. 67 / PDF p. 68</a:t>
            </a:r>
            <a:endParaRPr lang="en-US" sz="670" dirty="0"/>
          </a:p>
        </p:txBody>
      </p:sp>
      <p:sp>
        <p:nvSpPr>
          <p:cNvPr id="11" name="Text 9"/>
          <p:cNvSpPr/>
          <p:nvPr/>
        </p:nvSpPr>
        <p:spPr>
          <a:xfrm>
            <a:off x="841248" y="3044952"/>
            <a:ext cx="713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3E5D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RATIONALE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1572768" y="3008376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211E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Digital channels are material to reach, but subscription density is not the same as unique people reached.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9802368" y="308152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B28A5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VERY HIGH</a:t>
            </a:r>
            <a:endParaRPr lang="en-US" sz="680" dirty="0"/>
          </a:p>
        </p:txBody>
      </p:sp>
      <p:sp>
        <p:nvSpPr>
          <p:cNvPr id="14" name="Shape 12"/>
          <p:cNvSpPr/>
          <p:nvPr/>
        </p:nvSpPr>
        <p:spPr>
          <a:xfrm>
            <a:off x="640080" y="3849624"/>
            <a:ext cx="10863072" cy="1682496"/>
          </a:xfrm>
          <a:prstGeom prst="roundRect">
            <a:avLst>
              <a:gd name="adj" fmla="val 6522"/>
            </a:avLst>
          </a:prstGeom>
          <a:solidFill>
            <a:srgbClr val="FFFEFC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" y="4014216"/>
            <a:ext cx="1572768" cy="256032"/>
          </a:xfrm>
          <a:prstGeom prst="roundRect">
            <a:avLst>
              <a:gd name="adj" fmla="val 42857"/>
            </a:avLst>
          </a:prstGeom>
          <a:solidFill>
            <a:srgbClr val="6B4A7C"/>
          </a:solidFill>
          <a:ln w="10160">
            <a:solidFill>
              <a:srgbClr val="6B4A7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5256" y="4041648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C12 · FACT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2578608" y="3995928"/>
            <a:ext cx="8613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 reported 49.45 internet subscriptions per 100 rural population versus 105.53 per 100 urban population in Meghalaya at March 2025.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41248" y="4471416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6B4A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1572768" y="4453128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S07 https://www.trai.gov.in/sites/default/files/2025-07/YIR_08072025_0.pdf | report p. 67 / PDF p. 68</a:t>
            </a:r>
            <a:endParaRPr lang="en-US" sz="670" dirty="0"/>
          </a:p>
        </p:txBody>
      </p:sp>
      <p:sp>
        <p:nvSpPr>
          <p:cNvPr id="20" name="Text 18"/>
          <p:cNvSpPr/>
          <p:nvPr/>
        </p:nvSpPr>
        <p:spPr>
          <a:xfrm>
            <a:off x="841248" y="4928616"/>
            <a:ext cx="713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3E5D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RATIONALE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1572768" y="489204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211E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gap argues for digital-plus-field distribution; urban figures above 100 also warn against reading subscription density as population penetration.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9802368" y="496519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B28A5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VERY HIGH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566928" y="6574536"/>
            <a:ext cx="7132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Evidence: C11 · C12 | Full URL, page and rationale in appendix</a:t>
            </a:r>
            <a:endParaRPr lang="en-US" sz="680" dirty="0"/>
          </a:p>
        </p:txBody>
      </p:sp>
      <p:sp>
        <p:nvSpPr>
          <p:cNvPr id="24" name="Text 22"/>
          <p:cNvSpPr/>
          <p:nvPr/>
        </p:nvSpPr>
        <p:spPr>
          <a:xfrm>
            <a:off x="7863840" y="6574536"/>
            <a:ext cx="3154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70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Not commissioned by or affiliated with Grant Thornton Bharat.</a:t>
            </a:r>
            <a:endParaRPr lang="en-US" sz="6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6616A"/>
                </a:solidFill>
                <a:latin typeface="Aptos Mono"/>
                <a:ea typeface="Aptos Mono"/>
                <a:cs typeface="Aptos Mono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20" kern="0" dirty="0">
                <a:solidFill>
                  <a:srgbClr val="6B4A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APPENDIX / A10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External claim ledger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1408176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block shows the exact statement I used, its source URL/page, my logic, evidence class and confidence.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10863072" cy="1682496"/>
          </a:xfrm>
          <a:prstGeom prst="roundRect">
            <a:avLst>
              <a:gd name="adj" fmla="val 6522"/>
            </a:avLst>
          </a:prstGeom>
          <a:solidFill>
            <a:srgbClr val="FFFEFC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2130552"/>
            <a:ext cx="1572768" cy="256032"/>
          </a:xfrm>
          <a:prstGeom prst="roundRect">
            <a:avLst>
              <a:gd name="adj" fmla="val 42857"/>
            </a:avLst>
          </a:prstGeom>
          <a:solidFill>
            <a:srgbClr val="6B4A7C"/>
          </a:solidFill>
          <a:ln w="10160">
            <a:solidFill>
              <a:srgbClr val="6B4A7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5256" y="2157984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C13 · FACT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2578608" y="2112264"/>
            <a:ext cx="8613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Meghalaya DIPR describes daily press releases, press conferences/briefings, photo documentation, video production and field publicity within its remit.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41248" y="2587752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6B4A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1572768" y="2569464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S08 https://meghalaya.gov.in/index.php/dept/25</a:t>
            </a:r>
            <a:endParaRPr lang="en-US" sz="670" dirty="0"/>
          </a:p>
        </p:txBody>
      </p:sp>
      <p:sp>
        <p:nvSpPr>
          <p:cNvPr id="11" name="Text 9"/>
          <p:cNvSpPr/>
          <p:nvPr/>
        </p:nvSpPr>
        <p:spPr>
          <a:xfrm>
            <a:off x="841248" y="3044952"/>
            <a:ext cx="713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3E5D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RATIONALE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1572768" y="3008376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211E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communications consultant needs to work across earned, owned, visual and field formats rather than optimize one channel in isolation.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9802368" y="308152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B28A5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VERY HIGH</a:t>
            </a:r>
            <a:endParaRPr lang="en-US" sz="680" dirty="0"/>
          </a:p>
        </p:txBody>
      </p:sp>
      <p:sp>
        <p:nvSpPr>
          <p:cNvPr id="14" name="Shape 12"/>
          <p:cNvSpPr/>
          <p:nvPr/>
        </p:nvSpPr>
        <p:spPr>
          <a:xfrm>
            <a:off x="640080" y="3849624"/>
            <a:ext cx="10863072" cy="1682496"/>
          </a:xfrm>
          <a:prstGeom prst="roundRect">
            <a:avLst>
              <a:gd name="adj" fmla="val 6522"/>
            </a:avLst>
          </a:prstGeom>
          <a:solidFill>
            <a:srgbClr val="FFFEFC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" y="4014216"/>
            <a:ext cx="1572768" cy="256032"/>
          </a:xfrm>
          <a:prstGeom prst="roundRect">
            <a:avLst>
              <a:gd name="adj" fmla="val 42857"/>
            </a:avLst>
          </a:prstGeom>
          <a:solidFill>
            <a:srgbClr val="6B4A7C"/>
          </a:solidFill>
          <a:ln w="10160">
            <a:solidFill>
              <a:srgbClr val="6B4A7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5256" y="4041648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C14 · FACT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2578608" y="3995928"/>
            <a:ext cx="8613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DIPR also describes periodic Special Interactive Programmes across districts and sub-divisions for one-to-one citizen interaction with department officials.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41248" y="4471416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6B4A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1572768" y="4453128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S08 https://meghalaya.gov.in/index.php/dept/25</a:t>
            </a:r>
            <a:endParaRPr lang="en-US" sz="670" dirty="0"/>
          </a:p>
        </p:txBody>
      </p:sp>
      <p:sp>
        <p:nvSpPr>
          <p:cNvPr id="20" name="Text 18"/>
          <p:cNvSpPr/>
          <p:nvPr/>
        </p:nvSpPr>
        <p:spPr>
          <a:xfrm>
            <a:off x="841248" y="4928616"/>
            <a:ext cx="713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3E5D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RATIONALE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1572768" y="489204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211E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Face-to-face feedback and explanation remain part of the state's communication infrastructure.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9802368" y="496519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B28A5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VERY HIGH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566928" y="6574536"/>
            <a:ext cx="7132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Evidence: C13 · C14 | Full URL, page and rationale in appendix</a:t>
            </a:r>
            <a:endParaRPr lang="en-US" sz="680" dirty="0"/>
          </a:p>
        </p:txBody>
      </p:sp>
      <p:sp>
        <p:nvSpPr>
          <p:cNvPr id="24" name="Text 22"/>
          <p:cNvSpPr/>
          <p:nvPr/>
        </p:nvSpPr>
        <p:spPr>
          <a:xfrm>
            <a:off x="7863840" y="6574536"/>
            <a:ext cx="3154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70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Not commissioned by or affiliated with Grant Thornton Bharat.</a:t>
            </a:r>
            <a:endParaRPr lang="en-US" sz="6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6616A"/>
                </a:solidFill>
                <a:latin typeface="Aptos Mono"/>
                <a:ea typeface="Aptos Mono"/>
                <a:cs typeface="Aptos Mono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20" kern="0" dirty="0">
                <a:solidFill>
                  <a:srgbClr val="6B4A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APPENDIX / A11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External claim ledger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1408176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block shows the exact statement I used, its source URL/page, my logic, evidence class and confidence.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10863072" cy="1682496"/>
          </a:xfrm>
          <a:prstGeom prst="roundRect">
            <a:avLst>
              <a:gd name="adj" fmla="val 6522"/>
            </a:avLst>
          </a:prstGeom>
          <a:solidFill>
            <a:srgbClr val="FFFEFC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2130552"/>
            <a:ext cx="1572768" cy="256032"/>
          </a:xfrm>
          <a:prstGeom prst="roundRect">
            <a:avLst>
              <a:gd name="adj" fmla="val 42857"/>
            </a:avLst>
          </a:prstGeom>
          <a:solidFill>
            <a:srgbClr val="6B4A7C"/>
          </a:solidFill>
          <a:ln w="10160">
            <a:solidFill>
              <a:srgbClr val="6B4A7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5256" y="2157984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C15 · FACT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2578608" y="2112264"/>
            <a:ext cx="8613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MPOWER commitment plan requires stakeholder information to be timely, relevant, understandable, accessible and consultation to be culturally appropriate.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41248" y="2587752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6B4A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1572768" y="2569464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S09 https://meghalaya.gov.in/meghalaya/sites/default/files/documents/MPOWER_Draft_ESCP_22_Jan_2024.pdf | printed p. 6</a:t>
            </a:r>
            <a:endParaRPr lang="en-US" sz="670" dirty="0"/>
          </a:p>
        </p:txBody>
      </p:sp>
      <p:sp>
        <p:nvSpPr>
          <p:cNvPr id="11" name="Text 9"/>
          <p:cNvSpPr/>
          <p:nvPr/>
        </p:nvSpPr>
        <p:spPr>
          <a:xfrm>
            <a:off x="841248" y="3044952"/>
            <a:ext cx="713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3E5D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RATIONALE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1572768" y="3008376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211E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use these as quality gates for communication products, not merely stylistic preferences.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9802368" y="308152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B28A5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VERY HIGH</a:t>
            </a:r>
            <a:endParaRPr lang="en-US" sz="680" dirty="0"/>
          </a:p>
        </p:txBody>
      </p:sp>
      <p:sp>
        <p:nvSpPr>
          <p:cNvPr id="14" name="Shape 12"/>
          <p:cNvSpPr/>
          <p:nvPr/>
        </p:nvSpPr>
        <p:spPr>
          <a:xfrm>
            <a:off x="640080" y="3849624"/>
            <a:ext cx="10863072" cy="1682496"/>
          </a:xfrm>
          <a:prstGeom prst="roundRect">
            <a:avLst>
              <a:gd name="adj" fmla="val 6522"/>
            </a:avLst>
          </a:prstGeom>
          <a:solidFill>
            <a:srgbClr val="FFFEFC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" y="4014216"/>
            <a:ext cx="1572768" cy="256032"/>
          </a:xfrm>
          <a:prstGeom prst="roundRect">
            <a:avLst>
              <a:gd name="adj" fmla="val 42857"/>
            </a:avLst>
          </a:prstGeom>
          <a:solidFill>
            <a:srgbClr val="B28A58"/>
          </a:solidFill>
          <a:ln w="10160">
            <a:solidFill>
              <a:srgbClr val="B28A5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5256" y="4041648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C16 · SYNTHESIS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2578608" y="3995928"/>
            <a:ext cx="8613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conclude that effective public communication in Meghalaya is best designed as an access-and-feedback system, not only a content-production function.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41248" y="4471416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6B4A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1572768" y="4453128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90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S01 https://des.megplanning.gov.in/portal.htm</a:t>
            </a:r>
            <a:endParaRPr lang="en-US" sz="590" dirty="0"/>
          </a:p>
          <a:p>
            <a:pPr algn="l" indent="0" marL="0">
              <a:buNone/>
            </a:pPr>
            <a:r>
              <a:rPr lang="en-US" sz="590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S02 https://meghalaya.gov.in/sites/default/files/tenders/RFP_for_Selection_of_Agency_for_Grassroot_Citizen_Engagement_Program.pdf | pp. 4 and 23 of 40</a:t>
            </a:r>
            <a:endParaRPr lang="en-US" sz="590" dirty="0"/>
          </a:p>
          <a:p>
            <a:pPr algn="l" indent="0" marL="0">
              <a:buNone/>
            </a:pPr>
            <a:r>
              <a:rPr lang="en-US" sz="590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S03 https://mymeg.meghalaya.gov.in/highlights/</a:t>
            </a:r>
            <a:endParaRPr lang="en-US" sz="590" dirty="0"/>
          </a:p>
          <a:p>
            <a:pPr algn="l" indent="0" marL="0">
              <a:buNone/>
            </a:pPr>
            <a:r>
              <a:rPr lang="en-US" sz="590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S04 https://www.meghalaya.gov.in/meghalaya/sites/default/files/press_release/78th_Independence_Day_2024_HCM_Speech.pdf | printed p. 9</a:t>
            </a:r>
            <a:endParaRPr lang="en-US" sz="590" dirty="0"/>
          </a:p>
          <a:p>
            <a:pPr algn="l" indent="0" marL="0">
              <a:buNone/>
            </a:pPr>
            <a:r>
              <a:rPr lang="en-US" sz="590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S05 https://homepolitical.meghalaya.gov.in/pdf/acts/meghalaya_language_act-2005.pdf | PDF p. 2 / Gazette p. 364</a:t>
            </a:r>
            <a:endParaRPr lang="en-US" sz="590" dirty="0"/>
          </a:p>
          <a:p>
            <a:pPr algn="l" indent="0" marL="0">
              <a:buNone/>
            </a:pPr>
            <a:r>
              <a:rPr lang="en-US" sz="590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S06 https://meghalaya.gov.in/sites/default/files/documents/Meghalaya_Youth_Policy_2021_0.pdf | printed pp. 6 and 8</a:t>
            </a:r>
            <a:endParaRPr lang="en-US" sz="590" dirty="0"/>
          </a:p>
          <a:p>
            <a:pPr algn="l" indent="0" marL="0">
              <a:buNone/>
            </a:pPr>
            <a:r>
              <a:rPr lang="en-US" sz="590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S07 https://www.trai.gov.in/sites/default/files/2025-07/YIR_08072025_0.pdf | report p. 67 / PDF p. 68</a:t>
            </a:r>
            <a:endParaRPr lang="en-US" sz="590" dirty="0"/>
          </a:p>
          <a:p>
            <a:pPr algn="l" indent="0" marL="0">
              <a:buNone/>
            </a:pPr>
            <a:r>
              <a:rPr lang="en-US" sz="590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S08 https://meghalaya.gov.in/index.php/dept/25</a:t>
            </a:r>
            <a:endParaRPr lang="en-US" sz="590" dirty="0"/>
          </a:p>
          <a:p>
            <a:pPr algn="l" indent="0" marL="0">
              <a:buNone/>
            </a:pPr>
            <a:r>
              <a:rPr lang="en-US" sz="590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S09 https://meghalaya.gov.in/meghalaya/sites/default/files/documents/MPOWER_Draft_ESCP_22_Jan_2024.pdf | printed p. 6</a:t>
            </a:r>
            <a:endParaRPr lang="en-US" sz="590" dirty="0"/>
          </a:p>
          <a:p>
            <a:pPr algn="l" indent="0" marL="0">
              <a:buNone/>
            </a:pPr>
            <a:r>
              <a:rPr lang="en-US" sz="590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S10 https://meghalaya.gov.in/index.php/documents/content/46179</a:t>
            </a:r>
            <a:endParaRPr lang="en-US" sz="590" dirty="0"/>
          </a:p>
          <a:p>
            <a:pPr algn="l" indent="0" marL="0">
              <a:buNone/>
            </a:pPr>
            <a:r>
              <a:rPr lang="en-US" sz="590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S11 https://www.niti.gov.in/node/1708 | report available from source page</a:t>
            </a:r>
            <a:endParaRPr lang="en-US" sz="590" dirty="0"/>
          </a:p>
          <a:p>
            <a:pPr algn="l" indent="0" marL="0">
              <a:buNone/>
            </a:pPr>
            <a:r>
              <a:rPr lang="en-US" sz="590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S12 https://www.meghalaya.gov.in/documents/content/46466</a:t>
            </a:r>
            <a:endParaRPr lang="en-US" sz="590" dirty="0"/>
          </a:p>
        </p:txBody>
      </p:sp>
      <p:sp>
        <p:nvSpPr>
          <p:cNvPr id="20" name="Text 18"/>
          <p:cNvSpPr/>
          <p:nvPr/>
        </p:nvSpPr>
        <p:spPr>
          <a:xfrm>
            <a:off x="841248" y="4928616"/>
            <a:ext cx="713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3E5D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RATIONALE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1572768" y="489204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211E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Across demographics, last-mile RFP design, MyMeG, service access, language, youth segmentation, telecom, DIPR and stakeholder standards, the common requirement is to move information into understanding, action and feedback.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9802368" y="496519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B28A5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HIGH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566928" y="6574536"/>
            <a:ext cx="7132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Evidence: C15 · C16 | Full URL, page and rationale in appendix</a:t>
            </a:r>
            <a:endParaRPr lang="en-US" sz="680" dirty="0"/>
          </a:p>
        </p:txBody>
      </p:sp>
      <p:sp>
        <p:nvSpPr>
          <p:cNvPr id="24" name="Text 22"/>
          <p:cNvSpPr/>
          <p:nvPr/>
        </p:nvSpPr>
        <p:spPr>
          <a:xfrm>
            <a:off x="7863840" y="6574536"/>
            <a:ext cx="3154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70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Not commissioned by or affiliated with Grant Thornton Bharat.</a:t>
            </a:r>
            <a:endParaRPr lang="en-US" sz="6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6616A"/>
                </a:solidFill>
                <a:latin typeface="Aptos Mono"/>
                <a:ea typeface="Aptos Mono"/>
                <a:cs typeface="Aptos Mono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20" kern="0" dirty="0">
                <a:solidFill>
                  <a:srgbClr val="6B4A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APPENDIX / A12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External claim ledger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1408176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block shows the exact statement I used, its source URL/page, my logic, evidence class and confidence.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10863072" cy="1682496"/>
          </a:xfrm>
          <a:prstGeom prst="roundRect">
            <a:avLst>
              <a:gd name="adj" fmla="val 6522"/>
            </a:avLst>
          </a:prstGeom>
          <a:solidFill>
            <a:srgbClr val="FFFEFC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2130552"/>
            <a:ext cx="1572768" cy="256032"/>
          </a:xfrm>
          <a:prstGeom prst="roundRect">
            <a:avLst>
              <a:gd name="adj" fmla="val 42857"/>
            </a:avLst>
          </a:prstGeom>
          <a:solidFill>
            <a:srgbClr val="3E5D55"/>
          </a:solidFill>
          <a:ln w="10160">
            <a:solidFill>
              <a:srgbClr val="3E5D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5256" y="2157984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C17 · RECOMMENDATION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2578608" y="2112264"/>
            <a:ext cx="8613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would use a digital-plus-field channel architecture instead of a digital-only plan.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41248" y="2587752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6B4A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1572768" y="2569464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90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S01 https://des.megplanning.gov.in/portal.htm</a:t>
            </a:r>
            <a:endParaRPr lang="en-US" sz="590" dirty="0"/>
          </a:p>
          <a:p>
            <a:pPr algn="l" indent="0" marL="0">
              <a:buNone/>
            </a:pPr>
            <a:r>
              <a:rPr lang="en-US" sz="590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S02 https://meghalaya.gov.in/sites/default/files/tenders/RFP_for_Selection_of_Agency_for_Grassroot_Citizen_Engagement_Program.pdf | pp. 4 and 23 of 40</a:t>
            </a:r>
            <a:endParaRPr lang="en-US" sz="590" dirty="0"/>
          </a:p>
          <a:p>
            <a:pPr algn="l" indent="0" marL="0">
              <a:buNone/>
            </a:pPr>
            <a:r>
              <a:rPr lang="en-US" sz="590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S04 https://www.meghalaya.gov.in/meghalaya/sites/default/files/press_release/78th_Independence_Day_2024_HCM_Speech.pdf | printed p. 9</a:t>
            </a:r>
            <a:endParaRPr lang="en-US" sz="590" dirty="0"/>
          </a:p>
          <a:p>
            <a:pPr algn="l" indent="0" marL="0">
              <a:buNone/>
            </a:pPr>
            <a:r>
              <a:rPr lang="en-US" sz="590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S07 https://www.trai.gov.in/sites/default/files/2025-07/YIR_08072025_0.pdf | report p. 67 / PDF p. 68</a:t>
            </a:r>
            <a:endParaRPr lang="en-US" sz="590" dirty="0"/>
          </a:p>
          <a:p>
            <a:pPr algn="l" indent="0" marL="0">
              <a:buNone/>
            </a:pPr>
            <a:r>
              <a:rPr lang="en-US" sz="590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S08 https://meghalaya.gov.in/index.php/dept/25</a:t>
            </a:r>
            <a:endParaRPr lang="en-US" sz="590" dirty="0"/>
          </a:p>
        </p:txBody>
      </p:sp>
      <p:sp>
        <p:nvSpPr>
          <p:cNvPr id="11" name="Text 9"/>
          <p:cNvSpPr/>
          <p:nvPr/>
        </p:nvSpPr>
        <p:spPr>
          <a:xfrm>
            <a:off x="841248" y="3044952"/>
            <a:ext cx="713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3E5D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RATIONALE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1572768" y="3008376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211E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rural share, explicit terrain/access barriers, rural-urban internet-density difference, and formal field publicity all point to complementary channels.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9802368" y="308152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B28A5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HIGH</a:t>
            </a:r>
            <a:endParaRPr lang="en-US" sz="680" dirty="0"/>
          </a:p>
        </p:txBody>
      </p:sp>
      <p:sp>
        <p:nvSpPr>
          <p:cNvPr id="14" name="Shape 12"/>
          <p:cNvSpPr/>
          <p:nvPr/>
        </p:nvSpPr>
        <p:spPr>
          <a:xfrm>
            <a:off x="640080" y="3849624"/>
            <a:ext cx="10863072" cy="1682496"/>
          </a:xfrm>
          <a:prstGeom prst="roundRect">
            <a:avLst>
              <a:gd name="adj" fmla="val 6522"/>
            </a:avLst>
          </a:prstGeom>
          <a:solidFill>
            <a:srgbClr val="FFFEFC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" y="4014216"/>
            <a:ext cx="1572768" cy="256032"/>
          </a:xfrm>
          <a:prstGeom prst="roundRect">
            <a:avLst>
              <a:gd name="adj" fmla="val 42857"/>
            </a:avLst>
          </a:prstGeom>
          <a:solidFill>
            <a:srgbClr val="3E5D55"/>
          </a:solidFill>
          <a:ln w="10160">
            <a:solidFill>
              <a:srgbClr val="3E5D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5256" y="4041648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C18 · RECOMMENDATION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2578608" y="3995928"/>
            <a:ext cx="8613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would localise meaning - language, example, call-to-action and messenger - rather than translate one master asset word-for-word.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41248" y="4471416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6B4A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1572768" y="4453128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90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S02 https://meghalaya.gov.in/sites/default/files/tenders/RFP_for_Selection_of_Agency_for_Grassroot_Citizen_Engagement_Program.pdf | pp. 4 and 23 of 40</a:t>
            </a:r>
            <a:endParaRPr lang="en-US" sz="590" dirty="0"/>
          </a:p>
          <a:p>
            <a:pPr algn="l" indent="0" marL="0">
              <a:buNone/>
            </a:pPr>
            <a:r>
              <a:rPr lang="en-US" sz="590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S05 https://homepolitical.meghalaya.gov.in/pdf/acts/meghalaya_language_act-2005.pdf | PDF p. 2 / Gazette p. 364</a:t>
            </a:r>
            <a:endParaRPr lang="en-US" sz="590" dirty="0"/>
          </a:p>
          <a:p>
            <a:pPr algn="l" indent="0" marL="0">
              <a:buNone/>
            </a:pPr>
            <a:r>
              <a:rPr lang="en-US" sz="590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S06 https://meghalaya.gov.in/sites/default/files/documents/Meghalaya_Youth_Policy_2021_0.pdf | printed pp. 6 and 8</a:t>
            </a:r>
            <a:endParaRPr lang="en-US" sz="590" dirty="0"/>
          </a:p>
          <a:p>
            <a:pPr algn="l" indent="0" marL="0">
              <a:buNone/>
            </a:pPr>
            <a:r>
              <a:rPr lang="en-US" sz="590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S09 https://meghalaya.gov.in/meghalaya/sites/default/files/documents/MPOWER_Draft_ESCP_22_Jan_2024.pdf | printed p. 6</a:t>
            </a:r>
            <a:endParaRPr lang="en-US" sz="590" dirty="0"/>
          </a:p>
        </p:txBody>
      </p:sp>
      <p:sp>
        <p:nvSpPr>
          <p:cNvPr id="20" name="Text 18"/>
          <p:cNvSpPr/>
          <p:nvPr/>
        </p:nvSpPr>
        <p:spPr>
          <a:xfrm>
            <a:off x="841248" y="4928616"/>
            <a:ext cx="713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3E5D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RATIONALE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1572768" y="489204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211E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Local-language requirements coexist with heterogeneous audience needs and culturally appropriate engagement standards.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9802368" y="496519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B28A5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HIGH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566928" y="6574536"/>
            <a:ext cx="7132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Evidence: C17 · C18 | Full URL, page and rationale in appendix</a:t>
            </a:r>
            <a:endParaRPr lang="en-US" sz="680" dirty="0"/>
          </a:p>
        </p:txBody>
      </p:sp>
      <p:sp>
        <p:nvSpPr>
          <p:cNvPr id="24" name="Text 22"/>
          <p:cNvSpPr/>
          <p:nvPr/>
        </p:nvSpPr>
        <p:spPr>
          <a:xfrm>
            <a:off x="7863840" y="6574536"/>
            <a:ext cx="3154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70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Not commissioned by or affiliated with Grant Thornton Bharat.</a:t>
            </a:r>
            <a:endParaRPr lang="en-US" sz="6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6616A"/>
                </a:solidFill>
                <a:latin typeface="Aptos Mono"/>
                <a:ea typeface="Aptos Mono"/>
                <a:cs typeface="Aptos Mono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20" kern="0" dirty="0">
                <a:solidFill>
                  <a:srgbClr val="6B4A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APPENDIX / A13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External claim ledger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1408176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block shows the exact statement I used, its source URL/page, my logic, evidence class and confidence.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10863072" cy="1682496"/>
          </a:xfrm>
          <a:prstGeom prst="roundRect">
            <a:avLst>
              <a:gd name="adj" fmla="val 6522"/>
            </a:avLst>
          </a:prstGeom>
          <a:solidFill>
            <a:srgbClr val="FFFEFC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2130552"/>
            <a:ext cx="1572768" cy="256032"/>
          </a:xfrm>
          <a:prstGeom prst="roundRect">
            <a:avLst>
              <a:gd name="adj" fmla="val 42857"/>
            </a:avLst>
          </a:prstGeom>
          <a:solidFill>
            <a:srgbClr val="3E5D55"/>
          </a:solidFill>
          <a:ln w="10160">
            <a:solidFill>
              <a:srgbClr val="3E5D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5256" y="2157984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C19 · RECOMMENDATION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2578608" y="2112264"/>
            <a:ext cx="8613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would measure communication as reach -&gt; comprehension proxy -&gt; action -&gt; closure/feedback -&gt; learning.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41248" y="2587752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6B4A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1572768" y="2569464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90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S02 https://meghalaya.gov.in/sites/default/files/tenders/RFP_for_Selection_of_Agency_for_Grassroot_Citizen_Engagement_Program.pdf | pp. 4 and 23 of 40</a:t>
            </a:r>
            <a:endParaRPr lang="en-US" sz="590" dirty="0"/>
          </a:p>
          <a:p>
            <a:pPr algn="l" indent="0" marL="0">
              <a:buNone/>
            </a:pPr>
            <a:r>
              <a:rPr lang="en-US" sz="590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S03 https://mymeg.meghalaya.gov.in/highlights/</a:t>
            </a:r>
            <a:endParaRPr lang="en-US" sz="590" dirty="0"/>
          </a:p>
          <a:p>
            <a:pPr algn="l" indent="0" marL="0">
              <a:buNone/>
            </a:pPr>
            <a:r>
              <a:rPr lang="en-US" sz="590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S04 https://www.meghalaya.gov.in/meghalaya/sites/default/files/press_release/78th_Independence_Day_2024_HCM_Speech.pdf | printed p. 9</a:t>
            </a:r>
            <a:endParaRPr lang="en-US" sz="590" dirty="0"/>
          </a:p>
          <a:p>
            <a:pPr algn="l" indent="0" marL="0">
              <a:buNone/>
            </a:pPr>
            <a:r>
              <a:rPr lang="en-US" sz="590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S08 https://meghalaya.gov.in/index.php/dept/25</a:t>
            </a:r>
            <a:endParaRPr lang="en-US" sz="590" dirty="0"/>
          </a:p>
          <a:p>
            <a:pPr algn="l" indent="0" marL="0">
              <a:buNone/>
            </a:pPr>
            <a:r>
              <a:rPr lang="en-US" sz="590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S09 https://meghalaya.gov.in/meghalaya/sites/default/files/documents/MPOWER_Draft_ESCP_22_Jan_2024.pdf | printed p. 6</a:t>
            </a:r>
            <a:endParaRPr lang="en-US" sz="590" dirty="0"/>
          </a:p>
        </p:txBody>
      </p:sp>
      <p:sp>
        <p:nvSpPr>
          <p:cNvPr id="11" name="Text 9"/>
          <p:cNvSpPr/>
          <p:nvPr/>
        </p:nvSpPr>
        <p:spPr>
          <a:xfrm>
            <a:off x="841248" y="3044952"/>
            <a:ext cx="713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3E5D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RATIONALE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1572768" y="3008376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211E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public sources repeatedly connect communication to action, feedback, grievance resolution, direct interaction and accessible information.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9802368" y="308152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B28A5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HIGH</a:t>
            </a:r>
            <a:endParaRPr lang="en-US" sz="680" dirty="0"/>
          </a:p>
        </p:txBody>
      </p:sp>
      <p:sp>
        <p:nvSpPr>
          <p:cNvPr id="14" name="Shape 12"/>
          <p:cNvSpPr/>
          <p:nvPr/>
        </p:nvSpPr>
        <p:spPr>
          <a:xfrm>
            <a:off x="640080" y="3849624"/>
            <a:ext cx="10863072" cy="1682496"/>
          </a:xfrm>
          <a:prstGeom prst="roundRect">
            <a:avLst>
              <a:gd name="adj" fmla="val 6522"/>
            </a:avLst>
          </a:prstGeom>
          <a:solidFill>
            <a:srgbClr val="FFFEFC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" y="4014216"/>
            <a:ext cx="1572768" cy="256032"/>
          </a:xfrm>
          <a:prstGeom prst="roundRect">
            <a:avLst>
              <a:gd name="adj" fmla="val 42857"/>
            </a:avLst>
          </a:prstGeom>
          <a:solidFill>
            <a:srgbClr val="3E5D55"/>
          </a:solidFill>
          <a:ln w="10160">
            <a:solidFill>
              <a:srgbClr val="3E5D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5256" y="4041648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C20 · RECOMMENDATION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2578608" y="3995928"/>
            <a:ext cx="8613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would make narrative monitoring a decision system: verify the signal, identify the affected audience, judge velocity/risk, decide response, then log the outcome.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41248" y="4471416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6B4A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1572768" y="4453128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S03 https://mymeg.meghalaya.gov.in/highlights/</a:t>
            </a:r>
            <a:endParaRPr lang="en-US" sz="670" dirty="0"/>
          </a:p>
          <a:p>
            <a:pPr algn="l" indent="0" marL="0">
              <a:buNone/>
            </a:pPr>
            <a:r>
              <a:rPr lang="en-US" sz="670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S08 https://meghalaya.gov.in/index.php/dept/25</a:t>
            </a:r>
            <a:endParaRPr lang="en-US" sz="670" dirty="0"/>
          </a:p>
          <a:p>
            <a:pPr algn="l" indent="0" marL="0">
              <a:buNone/>
            </a:pPr>
            <a:r>
              <a:rPr lang="en-US" sz="670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S09 https://meghalaya.gov.in/meghalaya/sites/default/files/documents/MPOWER_Draft_ESCP_22_Jan_2024.pdf | printed p. 6</a:t>
            </a:r>
            <a:endParaRPr lang="en-US" sz="670" dirty="0"/>
          </a:p>
        </p:txBody>
      </p:sp>
      <p:sp>
        <p:nvSpPr>
          <p:cNvPr id="20" name="Text 18"/>
          <p:cNvSpPr/>
          <p:nvPr/>
        </p:nvSpPr>
        <p:spPr>
          <a:xfrm>
            <a:off x="841248" y="4928616"/>
            <a:ext cx="713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3E5D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RATIONALE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1572768" y="489204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211E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communications teams already operate across press, multi-channel dissemination and citizen feedback; monitoring is useful only when it changes a decision.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9802368" y="496519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B28A5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MODERATE-HIGH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566928" y="6574536"/>
            <a:ext cx="7132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Evidence: C19 · C20 | Full URL, page and rationale in appendix</a:t>
            </a:r>
            <a:endParaRPr lang="en-US" sz="680" dirty="0"/>
          </a:p>
        </p:txBody>
      </p:sp>
      <p:sp>
        <p:nvSpPr>
          <p:cNvPr id="24" name="Text 22"/>
          <p:cNvSpPr/>
          <p:nvPr/>
        </p:nvSpPr>
        <p:spPr>
          <a:xfrm>
            <a:off x="7863840" y="6574536"/>
            <a:ext cx="3154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70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Not commissioned by or affiliated with Grant Thornton Bharat.</a:t>
            </a:r>
            <a:endParaRPr lang="en-US" sz="6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6616A"/>
                </a:solidFill>
                <a:latin typeface="Aptos Mono"/>
                <a:ea typeface="Aptos Mono"/>
                <a:cs typeface="Aptos Mono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20" kern="0" dirty="0">
                <a:solidFill>
                  <a:srgbClr val="6B4A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APPENDIX / A14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evidence ledger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1408176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keep my personal proof separate from regional research and write it in the first person.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58368" y="1993392"/>
            <a:ext cx="10826496" cy="1719072"/>
          </a:xfrm>
          <a:prstGeom prst="roundRect">
            <a:avLst>
              <a:gd name="adj" fmla="val 6383"/>
            </a:avLst>
          </a:prstGeom>
          <a:solidFill>
            <a:srgbClr val="FFFEFC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9536" y="2157984"/>
            <a:ext cx="731520" cy="256032"/>
          </a:xfrm>
          <a:prstGeom prst="roundRect">
            <a:avLst>
              <a:gd name="adj" fmla="val 42857"/>
            </a:avLst>
          </a:prstGeom>
          <a:solidFill>
            <a:srgbClr val="2E1B3A"/>
          </a:solidFill>
          <a:ln w="10160">
            <a:solidFill>
              <a:srgbClr val="2E1B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3544" y="2185416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CV01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783080" y="2130552"/>
            <a:ext cx="9372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completed my MBA at IIM Shillong (Jun 2023-Apr 2025).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59536" y="267004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6B4A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1591056" y="2633472"/>
            <a:ext cx="9326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https://github.com/ManashProtimDeori/Manash-Protim-Deori/blob/main/src/data/resume.ts</a:t>
            </a:r>
            <a:endParaRPr lang="en-US" sz="640" dirty="0"/>
          </a:p>
          <a:p>
            <a:pPr algn="l" indent="0" marL="0">
              <a:buNone/>
            </a:pPr>
            <a:r>
              <a:rPr lang="en-US" sz="640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https://manash-protim-deori.vercel.app/resume</a:t>
            </a:r>
            <a:endParaRPr lang="en-US" sz="640" dirty="0"/>
          </a:p>
        </p:txBody>
      </p:sp>
      <p:sp>
        <p:nvSpPr>
          <p:cNvPr id="11" name="Text 9"/>
          <p:cNvSpPr/>
          <p:nvPr/>
        </p:nvSpPr>
        <p:spPr>
          <a:xfrm>
            <a:off x="859536" y="3136392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3E5D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WHY I THINK IT MATTERS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2331720" y="3072384"/>
            <a:ext cx="8549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211E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gives me lived academic familiarity with Shillong and a management foundation relevant to structured problem-solving.</a:t>
            </a:r>
            <a:endParaRPr lang="en-US" sz="840" dirty="0"/>
          </a:p>
        </p:txBody>
      </p:sp>
      <p:sp>
        <p:nvSpPr>
          <p:cNvPr id="13" name="Shape 11"/>
          <p:cNvSpPr/>
          <p:nvPr/>
        </p:nvSpPr>
        <p:spPr>
          <a:xfrm>
            <a:off x="658368" y="3913632"/>
            <a:ext cx="10826496" cy="1719072"/>
          </a:xfrm>
          <a:prstGeom prst="roundRect">
            <a:avLst>
              <a:gd name="adj" fmla="val 6383"/>
            </a:avLst>
          </a:prstGeom>
          <a:solidFill>
            <a:srgbClr val="FFFEFC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9536" y="4078224"/>
            <a:ext cx="731520" cy="256032"/>
          </a:xfrm>
          <a:prstGeom prst="roundRect">
            <a:avLst>
              <a:gd name="adj" fmla="val 42857"/>
            </a:avLst>
          </a:prstGeom>
          <a:solidFill>
            <a:srgbClr val="2E1B3A"/>
          </a:solidFill>
          <a:ln w="10160">
            <a:solidFill>
              <a:srgbClr val="2E1B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3544" y="4105656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CV02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1783080" y="4050792"/>
            <a:ext cx="9372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modelled Meghalaya's Public Distribution System using 4,500+ government records.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59536" y="459028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6B4A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1591056" y="4553712"/>
            <a:ext cx="9326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https://github.com/ManashProtimDeori/Manash-Protim-Deori/blob/main/src/data/resume.ts</a:t>
            </a:r>
            <a:endParaRPr lang="en-US" sz="640" dirty="0"/>
          </a:p>
        </p:txBody>
      </p:sp>
      <p:sp>
        <p:nvSpPr>
          <p:cNvPr id="19" name="Text 17"/>
          <p:cNvSpPr/>
          <p:nvPr/>
        </p:nvSpPr>
        <p:spPr>
          <a:xfrm>
            <a:off x="859536" y="5056632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3E5D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WHY I THINK IT MATTERS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2331720" y="4992624"/>
            <a:ext cx="8549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211E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have already worked with complex Meghalaya public-system data rather than approaching the state only from desk research.</a:t>
            </a:r>
            <a:endParaRPr lang="en-US" sz="840" dirty="0"/>
          </a:p>
        </p:txBody>
      </p:sp>
      <p:sp>
        <p:nvSpPr>
          <p:cNvPr id="21" name="Text 19"/>
          <p:cNvSpPr/>
          <p:nvPr/>
        </p:nvSpPr>
        <p:spPr>
          <a:xfrm>
            <a:off x="566928" y="6574536"/>
            <a:ext cx="7132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Evidence: CV01 · CV02 | Full URL, page and rationale in appendix</a:t>
            </a:r>
            <a:endParaRPr lang="en-US" sz="680" dirty="0"/>
          </a:p>
        </p:txBody>
      </p:sp>
      <p:sp>
        <p:nvSpPr>
          <p:cNvPr id="22" name="Text 20"/>
          <p:cNvSpPr/>
          <p:nvPr/>
        </p:nvSpPr>
        <p:spPr>
          <a:xfrm>
            <a:off x="7863840" y="6574536"/>
            <a:ext cx="3154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70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Not commissioned by or affiliated with Grant Thornton Bharat.</a:t>
            </a:r>
            <a:endParaRPr lang="en-US" sz="6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6616A"/>
                </a:solidFill>
                <a:latin typeface="Aptos Mono"/>
                <a:ea typeface="Aptos Mono"/>
                <a:cs typeface="Aptos Mono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20" kern="0" dirty="0">
                <a:solidFill>
                  <a:srgbClr val="6B4A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APPENDIX / A15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evidence ledger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1408176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keep my personal proof separate from regional research and write it in the first person.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58368" y="1993392"/>
            <a:ext cx="10826496" cy="1719072"/>
          </a:xfrm>
          <a:prstGeom prst="roundRect">
            <a:avLst>
              <a:gd name="adj" fmla="val 6383"/>
            </a:avLst>
          </a:prstGeom>
          <a:solidFill>
            <a:srgbClr val="FFFEFC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9536" y="2157984"/>
            <a:ext cx="731520" cy="256032"/>
          </a:xfrm>
          <a:prstGeom prst="roundRect">
            <a:avLst>
              <a:gd name="adj" fmla="val 42857"/>
            </a:avLst>
          </a:prstGeom>
          <a:solidFill>
            <a:srgbClr val="2E1B3A"/>
          </a:solidFill>
          <a:ln w="10160">
            <a:solidFill>
              <a:srgbClr val="2E1B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3544" y="2185416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CV03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783080" y="2130552"/>
            <a:ext cx="9372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PDS simulation covered 8 state warehouses, 281 wholesalers and 4,000+ fair-price shops.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59536" y="267004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6B4A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1591056" y="2633472"/>
            <a:ext cx="9326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https://github.com/ManashProtimDeori/Manash-Protim-Deori/blob/main/src/data/resume.ts</a:t>
            </a:r>
            <a:endParaRPr lang="en-US" sz="640" dirty="0"/>
          </a:p>
        </p:txBody>
      </p:sp>
      <p:sp>
        <p:nvSpPr>
          <p:cNvPr id="11" name="Text 9"/>
          <p:cNvSpPr/>
          <p:nvPr/>
        </p:nvSpPr>
        <p:spPr>
          <a:xfrm>
            <a:off x="859536" y="3136392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3E5D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WHY I THINK IT MATTERS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2331720" y="3072384"/>
            <a:ext cx="8549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211E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project trained me to think in networks, last-mile constraints and operational interdependencies.</a:t>
            </a:r>
            <a:endParaRPr lang="en-US" sz="840" dirty="0"/>
          </a:p>
        </p:txBody>
      </p:sp>
      <p:sp>
        <p:nvSpPr>
          <p:cNvPr id="13" name="Shape 11"/>
          <p:cNvSpPr/>
          <p:nvPr/>
        </p:nvSpPr>
        <p:spPr>
          <a:xfrm>
            <a:off x="658368" y="3913632"/>
            <a:ext cx="10826496" cy="1719072"/>
          </a:xfrm>
          <a:prstGeom prst="roundRect">
            <a:avLst>
              <a:gd name="adj" fmla="val 6383"/>
            </a:avLst>
          </a:prstGeom>
          <a:solidFill>
            <a:srgbClr val="FFFEFC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9536" y="4078224"/>
            <a:ext cx="731520" cy="256032"/>
          </a:xfrm>
          <a:prstGeom prst="roundRect">
            <a:avLst>
              <a:gd name="adj" fmla="val 42857"/>
            </a:avLst>
          </a:prstGeom>
          <a:solidFill>
            <a:srgbClr val="2E1B3A"/>
          </a:solidFill>
          <a:ln w="10160">
            <a:solidFill>
              <a:srgbClr val="2E1B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3544" y="4105656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CV04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1783080" y="4050792"/>
            <a:ext cx="9372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PDS recommendations were framed around food-security resilience for 2M+ beneficiaries.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59536" y="459028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6B4A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1591056" y="4553712"/>
            <a:ext cx="9326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https://github.com/ManashProtimDeori/Manash-Protim-Deori/blob/main/src/data/resume.ts</a:t>
            </a:r>
            <a:endParaRPr lang="en-US" sz="640" dirty="0"/>
          </a:p>
        </p:txBody>
      </p:sp>
      <p:sp>
        <p:nvSpPr>
          <p:cNvPr id="19" name="Text 17"/>
          <p:cNvSpPr/>
          <p:nvPr/>
        </p:nvSpPr>
        <p:spPr>
          <a:xfrm>
            <a:off x="859536" y="5056632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3E5D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WHY I THINK IT MATTERS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2331720" y="4992624"/>
            <a:ext cx="8549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211E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understand that public systems ultimately have citizen-level consequences; analysis and communication both have to respect that.</a:t>
            </a:r>
            <a:endParaRPr lang="en-US" sz="840" dirty="0"/>
          </a:p>
        </p:txBody>
      </p:sp>
      <p:sp>
        <p:nvSpPr>
          <p:cNvPr id="21" name="Text 19"/>
          <p:cNvSpPr/>
          <p:nvPr/>
        </p:nvSpPr>
        <p:spPr>
          <a:xfrm>
            <a:off x="566928" y="6574536"/>
            <a:ext cx="7132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Evidence: CV03 · CV04 | Full URL, page and rationale in appendix</a:t>
            </a:r>
            <a:endParaRPr lang="en-US" sz="680" dirty="0"/>
          </a:p>
        </p:txBody>
      </p:sp>
      <p:sp>
        <p:nvSpPr>
          <p:cNvPr id="22" name="Text 20"/>
          <p:cNvSpPr/>
          <p:nvPr/>
        </p:nvSpPr>
        <p:spPr>
          <a:xfrm>
            <a:off x="7863840" y="6574536"/>
            <a:ext cx="3154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70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Not commissioned by or affiliated with Grant Thornton Bharat.</a:t>
            </a:r>
            <a:endParaRPr lang="en-US" sz="6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6616A"/>
                </a:solidFill>
                <a:latin typeface="Aptos Mono"/>
                <a:ea typeface="Aptos Mono"/>
                <a:cs typeface="Aptos Mono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20" kern="0" dirty="0">
                <a:solidFill>
                  <a:srgbClr val="6B4A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APPENDIX / A16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evidence ledger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1408176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keep my personal proof separate from regional research and write it in the first person.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58368" y="1993392"/>
            <a:ext cx="10826496" cy="1719072"/>
          </a:xfrm>
          <a:prstGeom prst="roundRect">
            <a:avLst>
              <a:gd name="adj" fmla="val 6383"/>
            </a:avLst>
          </a:prstGeom>
          <a:solidFill>
            <a:srgbClr val="FFFEFC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9536" y="2157984"/>
            <a:ext cx="731520" cy="256032"/>
          </a:xfrm>
          <a:prstGeom prst="roundRect">
            <a:avLst>
              <a:gd name="adj" fmla="val 42857"/>
            </a:avLst>
          </a:prstGeom>
          <a:solidFill>
            <a:srgbClr val="2E1B3A"/>
          </a:solidFill>
          <a:ln w="10160">
            <a:solidFill>
              <a:srgbClr val="2E1B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3544" y="2185416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CV05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783080" y="2130552"/>
            <a:ext cx="9372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managed two integrated digital campaigns that generated 330M+ impressions and grew communities to 260K+ and 192K+ followers.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59536" y="267004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6B4A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1591056" y="2633472"/>
            <a:ext cx="9326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https://github.com/ManashProtimDeori/Manash-Protim-Deori/blob/main/src/data/resume.ts</a:t>
            </a:r>
            <a:endParaRPr lang="en-US" sz="640" dirty="0"/>
          </a:p>
        </p:txBody>
      </p:sp>
      <p:sp>
        <p:nvSpPr>
          <p:cNvPr id="11" name="Text 9"/>
          <p:cNvSpPr/>
          <p:nvPr/>
        </p:nvSpPr>
        <p:spPr>
          <a:xfrm>
            <a:off x="859536" y="3136392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3E5D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WHY I THINK IT MATTERS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2331720" y="3072384"/>
            <a:ext cx="8549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211E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have operated high-volume digital communication and can distinguish reach from the deeper outcomes this role needs.</a:t>
            </a:r>
            <a:endParaRPr lang="en-US" sz="840" dirty="0"/>
          </a:p>
        </p:txBody>
      </p:sp>
      <p:sp>
        <p:nvSpPr>
          <p:cNvPr id="13" name="Shape 11"/>
          <p:cNvSpPr/>
          <p:nvPr/>
        </p:nvSpPr>
        <p:spPr>
          <a:xfrm>
            <a:off x="658368" y="3913632"/>
            <a:ext cx="10826496" cy="1719072"/>
          </a:xfrm>
          <a:prstGeom prst="roundRect">
            <a:avLst>
              <a:gd name="adj" fmla="val 6383"/>
            </a:avLst>
          </a:prstGeom>
          <a:solidFill>
            <a:srgbClr val="FFFEFC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9536" y="4078224"/>
            <a:ext cx="731520" cy="256032"/>
          </a:xfrm>
          <a:prstGeom prst="roundRect">
            <a:avLst>
              <a:gd name="adj" fmla="val 42857"/>
            </a:avLst>
          </a:prstGeom>
          <a:solidFill>
            <a:srgbClr val="2E1B3A"/>
          </a:solidFill>
          <a:ln w="10160">
            <a:solidFill>
              <a:srgbClr val="2E1B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3544" y="4105656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CV06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1783080" y="4050792"/>
            <a:ext cx="9372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managed a Rs 20M marketing budget and reduced CPM from Rs 35.8 to Rs 15.5 - about a 57% reduction.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59536" y="459028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6B4A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1591056" y="4553712"/>
            <a:ext cx="9326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https://github.com/ManashProtimDeori/Manash-Protim-Deori/blob/main/src/data/resume.ts</a:t>
            </a:r>
            <a:endParaRPr lang="en-US" sz="640" dirty="0"/>
          </a:p>
        </p:txBody>
      </p:sp>
      <p:sp>
        <p:nvSpPr>
          <p:cNvPr id="19" name="Text 17"/>
          <p:cNvSpPr/>
          <p:nvPr/>
        </p:nvSpPr>
        <p:spPr>
          <a:xfrm>
            <a:off x="859536" y="5056632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3E5D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WHY I THINK IT MATTERS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2331720" y="4992624"/>
            <a:ext cx="8549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211E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bring measurement discipline and can use performance data to improve distribution efficiency without reducing communication to vanity metrics.</a:t>
            </a:r>
            <a:endParaRPr lang="en-US" sz="840" dirty="0"/>
          </a:p>
        </p:txBody>
      </p:sp>
      <p:sp>
        <p:nvSpPr>
          <p:cNvPr id="21" name="Text 19"/>
          <p:cNvSpPr/>
          <p:nvPr/>
        </p:nvSpPr>
        <p:spPr>
          <a:xfrm>
            <a:off x="566928" y="6574536"/>
            <a:ext cx="7132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Evidence: CV05 · CV06 | Full URL, page and rationale in appendix</a:t>
            </a:r>
            <a:endParaRPr lang="en-US" sz="680" dirty="0"/>
          </a:p>
        </p:txBody>
      </p:sp>
      <p:sp>
        <p:nvSpPr>
          <p:cNvPr id="22" name="Text 20"/>
          <p:cNvSpPr/>
          <p:nvPr/>
        </p:nvSpPr>
        <p:spPr>
          <a:xfrm>
            <a:off x="7863840" y="6574536"/>
            <a:ext cx="3154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70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Not commissioned by or affiliated with Grant Thornton Bharat.</a:t>
            </a:r>
            <a:endParaRPr lang="en-US" sz="6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6616A"/>
                </a:solidFill>
                <a:latin typeface="Aptos Mono"/>
                <a:ea typeface="Aptos Mono"/>
                <a:cs typeface="Aptos Mono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20" kern="0" dirty="0">
                <a:solidFill>
                  <a:srgbClr val="6B4A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APPENDIX / A17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evidence ledger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1408176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keep my personal proof separate from regional research and write it in the first person.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58368" y="1993392"/>
            <a:ext cx="10826496" cy="1719072"/>
          </a:xfrm>
          <a:prstGeom prst="roundRect">
            <a:avLst>
              <a:gd name="adj" fmla="val 6383"/>
            </a:avLst>
          </a:prstGeom>
          <a:solidFill>
            <a:srgbClr val="FFFEFC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9536" y="2157984"/>
            <a:ext cx="731520" cy="256032"/>
          </a:xfrm>
          <a:prstGeom prst="roundRect">
            <a:avLst>
              <a:gd name="adj" fmla="val 42857"/>
            </a:avLst>
          </a:prstGeom>
          <a:solidFill>
            <a:srgbClr val="2E1B3A"/>
          </a:solidFill>
          <a:ln w="10160">
            <a:solidFill>
              <a:srgbClr val="2E1B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3544" y="2185416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CV07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783080" y="2130552"/>
            <a:ext cx="9372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coordinated 73+ macro-influencers and 520+ micro-influencers through a structured create-review-produce-distribute workflow.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59536" y="267004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6B4A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1591056" y="2633472"/>
            <a:ext cx="9326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https://github.com/ManashProtimDeori/Manash-Protim-Deori/blob/main/src/data/resume.ts</a:t>
            </a:r>
            <a:endParaRPr lang="en-US" sz="640" dirty="0"/>
          </a:p>
        </p:txBody>
      </p:sp>
      <p:sp>
        <p:nvSpPr>
          <p:cNvPr id="11" name="Text 9"/>
          <p:cNvSpPr/>
          <p:nvPr/>
        </p:nvSpPr>
        <p:spPr>
          <a:xfrm>
            <a:off x="859536" y="3136392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3E5D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WHY I THINK IT MATTERS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2331720" y="3072384"/>
            <a:ext cx="8549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211E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am used to coordinating many contributors, maintaining message consistency and delivering locally relevant content under time pressure.</a:t>
            </a:r>
            <a:endParaRPr lang="en-US" sz="840" dirty="0"/>
          </a:p>
        </p:txBody>
      </p:sp>
      <p:sp>
        <p:nvSpPr>
          <p:cNvPr id="13" name="Shape 11"/>
          <p:cNvSpPr/>
          <p:nvPr/>
        </p:nvSpPr>
        <p:spPr>
          <a:xfrm>
            <a:off x="658368" y="3913632"/>
            <a:ext cx="10826496" cy="1719072"/>
          </a:xfrm>
          <a:prstGeom prst="roundRect">
            <a:avLst>
              <a:gd name="adj" fmla="val 6383"/>
            </a:avLst>
          </a:prstGeom>
          <a:solidFill>
            <a:srgbClr val="FFFEFC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9536" y="4078224"/>
            <a:ext cx="731520" cy="256032"/>
          </a:xfrm>
          <a:prstGeom prst="roundRect">
            <a:avLst>
              <a:gd name="adj" fmla="val 42857"/>
            </a:avLst>
          </a:prstGeom>
          <a:solidFill>
            <a:srgbClr val="2E1B3A"/>
          </a:solidFill>
          <a:ln w="10160">
            <a:solidFill>
              <a:srgbClr val="2E1B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3544" y="4105656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CV08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1783080" y="4050792"/>
            <a:ext cx="9372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developed event-specific speech inputs for 8 events involving the Prime Minister and Home Minister of India.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59536" y="459028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6B4A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1591056" y="4553712"/>
            <a:ext cx="9326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https://github.com/ManashProtimDeori/Manash-Protim-Deori/blob/main/src/data/resume.ts</a:t>
            </a:r>
            <a:endParaRPr lang="en-US" sz="640" dirty="0"/>
          </a:p>
        </p:txBody>
      </p:sp>
      <p:sp>
        <p:nvSpPr>
          <p:cNvPr id="19" name="Text 17"/>
          <p:cNvSpPr/>
          <p:nvPr/>
        </p:nvSpPr>
        <p:spPr>
          <a:xfrm>
            <a:off x="859536" y="5056632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3E5D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WHY I THINK IT MATTERS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2331720" y="4992624"/>
            <a:ext cx="8549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211E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have experience adapting messages to context, audience and speaker while working inside high-stakes approval environments.</a:t>
            </a:r>
            <a:endParaRPr lang="en-US" sz="840" dirty="0"/>
          </a:p>
        </p:txBody>
      </p:sp>
      <p:sp>
        <p:nvSpPr>
          <p:cNvPr id="21" name="Text 19"/>
          <p:cNvSpPr/>
          <p:nvPr/>
        </p:nvSpPr>
        <p:spPr>
          <a:xfrm>
            <a:off x="566928" y="6574536"/>
            <a:ext cx="7132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Evidence: CV07 · CV08 | Full URL, page and rationale in appendix</a:t>
            </a:r>
            <a:endParaRPr lang="en-US" sz="680" dirty="0"/>
          </a:p>
        </p:txBody>
      </p:sp>
      <p:sp>
        <p:nvSpPr>
          <p:cNvPr id="22" name="Text 20"/>
          <p:cNvSpPr/>
          <p:nvPr/>
        </p:nvSpPr>
        <p:spPr>
          <a:xfrm>
            <a:off x="7863840" y="6574536"/>
            <a:ext cx="3154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70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Not commissioned by or affiliated with Grant Thornton Bharat.</a:t>
            </a:r>
            <a:endParaRPr lang="en-US" sz="6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6616A"/>
                </a:solidFill>
                <a:latin typeface="Aptos Mono"/>
                <a:ea typeface="Aptos Mono"/>
                <a:cs typeface="Aptos Mono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20" kern="0" dirty="0">
                <a:solidFill>
                  <a:srgbClr val="6B4A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APPENDIX / A18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 would use digital + field distribution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1408176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the reasoning chain behind a recommendation - not an attempt to present an opinion as a fact.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49808" y="1993392"/>
            <a:ext cx="969264" cy="256032"/>
          </a:xfrm>
          <a:prstGeom prst="roundRect">
            <a:avLst>
              <a:gd name="adj" fmla="val 42857"/>
            </a:avLst>
          </a:prstGeom>
          <a:solidFill>
            <a:srgbClr val="F0EAF3"/>
          </a:solidFill>
          <a:ln w="10160">
            <a:solidFill>
              <a:srgbClr val="F0EA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3816" y="2020824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B4A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OBSERVED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920240" y="1984248"/>
            <a:ext cx="9189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211E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2011 structural baseline is ~79.9% rural.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749808" y="2386584"/>
            <a:ext cx="10469880" cy="0"/>
          </a:xfrm>
          <a:prstGeom prst="line">
            <a:avLst/>
          </a:prstGeom>
          <a:noFill/>
          <a:ln w="6350">
            <a:solidFill>
              <a:srgbClr val="D8D0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2560320"/>
            <a:ext cx="969264" cy="256032"/>
          </a:xfrm>
          <a:prstGeom prst="roundRect">
            <a:avLst>
              <a:gd name="adj" fmla="val 42857"/>
            </a:avLst>
          </a:prstGeom>
          <a:solidFill>
            <a:srgbClr val="F0EAF3"/>
          </a:solidFill>
          <a:ln w="10160">
            <a:solidFill>
              <a:srgbClr val="F0EAF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3816" y="2587752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B4A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OBSERVED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920240" y="2551176"/>
            <a:ext cx="9189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211E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2025 TRAI subscription density is lower in rural than urban Meghalaya.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749808" y="2953512"/>
            <a:ext cx="10469880" cy="0"/>
          </a:xfrm>
          <a:prstGeom prst="line">
            <a:avLst/>
          </a:prstGeom>
          <a:noFill/>
          <a:ln w="6350">
            <a:solidFill>
              <a:srgbClr val="D8D0D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9808" y="3127248"/>
            <a:ext cx="969264" cy="256032"/>
          </a:xfrm>
          <a:prstGeom prst="roundRect">
            <a:avLst>
              <a:gd name="adj" fmla="val 42857"/>
            </a:avLst>
          </a:prstGeom>
          <a:solidFill>
            <a:srgbClr val="F0EAF3"/>
          </a:solidFill>
          <a:ln w="10160">
            <a:solidFill>
              <a:srgbClr val="F0EAF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3816" y="3154680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B4A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OBSERVED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1920240" y="3118104"/>
            <a:ext cx="9189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211E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state explicitly describes terrain/distance and last-mile awareness challenges.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749808" y="3520440"/>
            <a:ext cx="10469880" cy="0"/>
          </a:xfrm>
          <a:prstGeom prst="line">
            <a:avLst/>
          </a:prstGeom>
          <a:noFill/>
          <a:ln w="6350">
            <a:solidFill>
              <a:srgbClr val="D8D0D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9808" y="3694176"/>
            <a:ext cx="969264" cy="256032"/>
          </a:xfrm>
          <a:prstGeom prst="roundRect">
            <a:avLst>
              <a:gd name="adj" fmla="val 42857"/>
            </a:avLst>
          </a:prstGeom>
          <a:solidFill>
            <a:srgbClr val="F0EAF3"/>
          </a:solidFill>
          <a:ln w="10160">
            <a:solidFill>
              <a:srgbClr val="F0EAF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3816" y="3721608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B4A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OBSERVED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1920240" y="3685032"/>
            <a:ext cx="9189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211E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DIPR retains field publicity and direct interactive programmes.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749808" y="4087368"/>
            <a:ext cx="10469880" cy="0"/>
          </a:xfrm>
          <a:prstGeom prst="line">
            <a:avLst/>
          </a:prstGeom>
          <a:noFill/>
          <a:ln w="6350">
            <a:solidFill>
              <a:srgbClr val="D8D0D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9808" y="4261104"/>
            <a:ext cx="969264" cy="256032"/>
          </a:xfrm>
          <a:prstGeom prst="roundRect">
            <a:avLst>
              <a:gd name="adj" fmla="val 42857"/>
            </a:avLst>
          </a:prstGeom>
          <a:solidFill>
            <a:srgbClr val="B28A58"/>
          </a:solidFill>
          <a:ln w="10160">
            <a:solidFill>
              <a:srgbClr val="B28A5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3816" y="4288536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MY INFERENCE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1920240" y="4251960"/>
            <a:ext cx="9189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211E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digital-only plan would create avoidable coverage and comprehension risk.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749808" y="4654296"/>
            <a:ext cx="10469880" cy="0"/>
          </a:xfrm>
          <a:prstGeom prst="line">
            <a:avLst/>
          </a:prstGeom>
          <a:noFill/>
          <a:ln w="6350">
            <a:solidFill>
              <a:srgbClr val="D8D0D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9808" y="4828032"/>
            <a:ext cx="969264" cy="256032"/>
          </a:xfrm>
          <a:prstGeom prst="roundRect">
            <a:avLst>
              <a:gd name="adj" fmla="val 42857"/>
            </a:avLst>
          </a:prstGeom>
          <a:solidFill>
            <a:srgbClr val="2E1B3A"/>
          </a:solidFill>
          <a:ln w="10160">
            <a:solidFill>
              <a:srgbClr val="2E1B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3816" y="4855464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MY ACTION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1920240" y="4818888"/>
            <a:ext cx="9189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211E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would assign digital, press, district/field and feedback channels complementary jobs.</a:t>
            </a:r>
            <a:endParaRPr lang="en-US" sz="1020" dirty="0"/>
          </a:p>
        </p:txBody>
      </p:sp>
      <p:sp>
        <p:nvSpPr>
          <p:cNvPr id="28" name="Shape 26"/>
          <p:cNvSpPr/>
          <p:nvPr/>
        </p:nvSpPr>
        <p:spPr>
          <a:xfrm>
            <a:off x="749808" y="5221224"/>
            <a:ext cx="10469880" cy="0"/>
          </a:xfrm>
          <a:prstGeom prst="line">
            <a:avLst/>
          </a:prstGeom>
          <a:noFill/>
          <a:ln w="6350">
            <a:solidFill>
              <a:srgbClr val="D8D0D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574536"/>
            <a:ext cx="7132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Evidence: C02 · C07 · C12 · C14 · C17 | Full URL, page and rationale in appendix</a:t>
            </a:r>
            <a:endParaRPr lang="en-US" sz="680" dirty="0"/>
          </a:p>
        </p:txBody>
      </p:sp>
      <p:sp>
        <p:nvSpPr>
          <p:cNvPr id="30" name="Text 28"/>
          <p:cNvSpPr/>
          <p:nvPr/>
        </p:nvSpPr>
        <p:spPr>
          <a:xfrm>
            <a:off x="7863840" y="6574536"/>
            <a:ext cx="3154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70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Not commissioned by or affiliated with Grant Thornton Bharat.</a:t>
            </a:r>
            <a:endParaRPr lang="en-US" sz="6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6616A"/>
                </a:solidFill>
                <a:latin typeface="Aptos Mono"/>
                <a:ea typeface="Aptos Mono"/>
                <a:cs typeface="Aptos Mono"/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20" kern="0" dirty="0">
                <a:solidFill>
                  <a:srgbClr val="6B4A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APPENDIX / A19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 would localise meaning, not only language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1408176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the reasoning chain behind a recommendation - not an attempt to present an opinion as a fact.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49808" y="1993392"/>
            <a:ext cx="969264" cy="256032"/>
          </a:xfrm>
          <a:prstGeom prst="roundRect">
            <a:avLst>
              <a:gd name="adj" fmla="val 42857"/>
            </a:avLst>
          </a:prstGeom>
          <a:solidFill>
            <a:srgbClr val="F0EAF3"/>
          </a:solidFill>
          <a:ln w="10160">
            <a:solidFill>
              <a:srgbClr val="F0EA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3816" y="2020824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B4A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OBSERVED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920240" y="1984248"/>
            <a:ext cx="9189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211E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Language Act creates distinct official/associate language contexts.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749808" y="2386584"/>
            <a:ext cx="10469880" cy="0"/>
          </a:xfrm>
          <a:prstGeom prst="line">
            <a:avLst/>
          </a:prstGeom>
          <a:noFill/>
          <a:ln w="6350">
            <a:solidFill>
              <a:srgbClr val="D8D0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2560320"/>
            <a:ext cx="969264" cy="256032"/>
          </a:xfrm>
          <a:prstGeom prst="roundRect">
            <a:avLst>
              <a:gd name="adj" fmla="val 42857"/>
            </a:avLst>
          </a:prstGeom>
          <a:solidFill>
            <a:srgbClr val="F0EAF3"/>
          </a:solidFill>
          <a:ln w="10160">
            <a:solidFill>
              <a:srgbClr val="F0EAF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3816" y="2587752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B4A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OBSERVED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920240" y="2551176"/>
            <a:ext cx="9189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211E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citizen-engagement RFP required local-language communication.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749808" y="2953512"/>
            <a:ext cx="10469880" cy="0"/>
          </a:xfrm>
          <a:prstGeom prst="line">
            <a:avLst/>
          </a:prstGeom>
          <a:noFill/>
          <a:ln w="6350">
            <a:solidFill>
              <a:srgbClr val="D8D0D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9808" y="3127248"/>
            <a:ext cx="969264" cy="256032"/>
          </a:xfrm>
          <a:prstGeom prst="roundRect">
            <a:avLst>
              <a:gd name="adj" fmla="val 42857"/>
            </a:avLst>
          </a:prstGeom>
          <a:solidFill>
            <a:srgbClr val="F0EAF3"/>
          </a:solidFill>
          <a:ln w="10160">
            <a:solidFill>
              <a:srgbClr val="F0EAF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3816" y="3154680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B4A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OBSERVED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1920240" y="3118104"/>
            <a:ext cx="9189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211E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youth policy says youth are not a homogeneous group.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749808" y="3520440"/>
            <a:ext cx="10469880" cy="0"/>
          </a:xfrm>
          <a:prstGeom prst="line">
            <a:avLst/>
          </a:prstGeom>
          <a:noFill/>
          <a:ln w="6350">
            <a:solidFill>
              <a:srgbClr val="D8D0D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9808" y="3694176"/>
            <a:ext cx="969264" cy="256032"/>
          </a:xfrm>
          <a:prstGeom prst="roundRect">
            <a:avLst>
              <a:gd name="adj" fmla="val 42857"/>
            </a:avLst>
          </a:prstGeom>
          <a:solidFill>
            <a:srgbClr val="F0EAF3"/>
          </a:solidFill>
          <a:ln w="10160">
            <a:solidFill>
              <a:srgbClr val="F0EAF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3816" y="3721608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B4A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OBSERVED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1920240" y="3685032"/>
            <a:ext cx="9189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211E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MPOWER requires understandable, accessible and culturally appropriate information.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749808" y="4087368"/>
            <a:ext cx="10469880" cy="0"/>
          </a:xfrm>
          <a:prstGeom prst="line">
            <a:avLst/>
          </a:prstGeom>
          <a:noFill/>
          <a:ln w="6350">
            <a:solidFill>
              <a:srgbClr val="D8D0D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9808" y="4261104"/>
            <a:ext cx="969264" cy="256032"/>
          </a:xfrm>
          <a:prstGeom prst="roundRect">
            <a:avLst>
              <a:gd name="adj" fmla="val 42857"/>
            </a:avLst>
          </a:prstGeom>
          <a:solidFill>
            <a:srgbClr val="B28A58"/>
          </a:solidFill>
          <a:ln w="10160">
            <a:solidFill>
              <a:srgbClr val="B28A5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3816" y="4288536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MY INFERENCE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1920240" y="4251960"/>
            <a:ext cx="9189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211E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Literal translation cannot solve differences in context, need state or trust.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749808" y="4654296"/>
            <a:ext cx="10469880" cy="0"/>
          </a:xfrm>
          <a:prstGeom prst="line">
            <a:avLst/>
          </a:prstGeom>
          <a:noFill/>
          <a:ln w="6350">
            <a:solidFill>
              <a:srgbClr val="D8D0D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9808" y="4828032"/>
            <a:ext cx="969264" cy="256032"/>
          </a:xfrm>
          <a:prstGeom prst="roundRect">
            <a:avLst>
              <a:gd name="adj" fmla="val 42857"/>
            </a:avLst>
          </a:prstGeom>
          <a:solidFill>
            <a:srgbClr val="2E1B3A"/>
          </a:solidFill>
          <a:ln w="10160">
            <a:solidFill>
              <a:srgbClr val="2E1B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3816" y="4855464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MY ACTION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1920240" y="4818888"/>
            <a:ext cx="9189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211E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would localise language + example + CTA + messenger + support path.</a:t>
            </a:r>
            <a:endParaRPr lang="en-US" sz="1020" dirty="0"/>
          </a:p>
        </p:txBody>
      </p:sp>
      <p:sp>
        <p:nvSpPr>
          <p:cNvPr id="28" name="Shape 26"/>
          <p:cNvSpPr/>
          <p:nvPr/>
        </p:nvSpPr>
        <p:spPr>
          <a:xfrm>
            <a:off x="749808" y="5221224"/>
            <a:ext cx="10469880" cy="0"/>
          </a:xfrm>
          <a:prstGeom prst="line">
            <a:avLst/>
          </a:prstGeom>
          <a:noFill/>
          <a:ln w="6350">
            <a:solidFill>
              <a:srgbClr val="D8D0D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574536"/>
            <a:ext cx="7132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Evidence: C05 · C09 · C10 · C15 · C18 | Full URL, page and rationale in appendix</a:t>
            </a:r>
            <a:endParaRPr lang="en-US" sz="680" dirty="0"/>
          </a:p>
        </p:txBody>
      </p:sp>
      <p:sp>
        <p:nvSpPr>
          <p:cNvPr id="30" name="Text 28"/>
          <p:cNvSpPr/>
          <p:nvPr/>
        </p:nvSpPr>
        <p:spPr>
          <a:xfrm>
            <a:off x="7863840" y="6574536"/>
            <a:ext cx="3154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70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Not commissioned by or affiliated with Grant Thornton Bharat.</a:t>
            </a:r>
            <a:endParaRPr lang="en-US" sz="6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6616A"/>
                </a:solidFill>
                <a:latin typeface="Aptos Mono"/>
                <a:ea typeface="Aptos Mono"/>
                <a:cs typeface="Aptos Mono"/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20" kern="0" dirty="0">
                <a:solidFill>
                  <a:srgbClr val="6B4A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APPENDIX / A20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 would connect communication to feedback and closure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1408176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the reasoning chain behind a recommendation - not an attempt to present an opinion as a fact.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49808" y="1993392"/>
            <a:ext cx="969264" cy="256032"/>
          </a:xfrm>
          <a:prstGeom prst="roundRect">
            <a:avLst>
              <a:gd name="adj" fmla="val 42857"/>
            </a:avLst>
          </a:prstGeom>
          <a:solidFill>
            <a:srgbClr val="F0EAF3"/>
          </a:solidFill>
          <a:ln w="10160">
            <a:solidFill>
              <a:srgbClr val="F0EA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3816" y="2020824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B4A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OBSERVED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920240" y="1984248"/>
            <a:ext cx="9189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211E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MyMeG is explicitly designed to capture feedback and disseminate messages.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749808" y="2386584"/>
            <a:ext cx="10469880" cy="0"/>
          </a:xfrm>
          <a:prstGeom prst="line">
            <a:avLst/>
          </a:prstGeom>
          <a:noFill/>
          <a:ln w="6350">
            <a:solidFill>
              <a:srgbClr val="D8D0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2560320"/>
            <a:ext cx="969264" cy="256032"/>
          </a:xfrm>
          <a:prstGeom prst="roundRect">
            <a:avLst>
              <a:gd name="adj" fmla="val 42857"/>
            </a:avLst>
          </a:prstGeom>
          <a:solidFill>
            <a:srgbClr val="F0EAF3"/>
          </a:solidFill>
          <a:ln w="10160">
            <a:solidFill>
              <a:srgbClr val="F0EAF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3816" y="2587752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B4A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OBSERVED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920240" y="2551176"/>
            <a:ext cx="9189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211E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citizen-engagement RFP asks for feedback/grievance collection.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749808" y="2953512"/>
            <a:ext cx="10469880" cy="0"/>
          </a:xfrm>
          <a:prstGeom prst="line">
            <a:avLst/>
          </a:prstGeom>
          <a:noFill/>
          <a:ln w="6350">
            <a:solidFill>
              <a:srgbClr val="D8D0D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9808" y="3127248"/>
            <a:ext cx="969264" cy="256032"/>
          </a:xfrm>
          <a:prstGeom prst="roundRect">
            <a:avLst>
              <a:gd name="adj" fmla="val 42857"/>
            </a:avLst>
          </a:prstGeom>
          <a:solidFill>
            <a:srgbClr val="F0EAF3"/>
          </a:solidFill>
          <a:ln w="10160">
            <a:solidFill>
              <a:srgbClr val="F0EAF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3816" y="3154680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B4A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OBSERVED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1920240" y="3118104"/>
            <a:ext cx="9189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211E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CM-CONNECT includes a feedback/grievance helpline.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749808" y="3520440"/>
            <a:ext cx="10469880" cy="0"/>
          </a:xfrm>
          <a:prstGeom prst="line">
            <a:avLst/>
          </a:prstGeom>
          <a:noFill/>
          <a:ln w="6350">
            <a:solidFill>
              <a:srgbClr val="D8D0D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9808" y="3694176"/>
            <a:ext cx="969264" cy="256032"/>
          </a:xfrm>
          <a:prstGeom prst="roundRect">
            <a:avLst>
              <a:gd name="adj" fmla="val 42857"/>
            </a:avLst>
          </a:prstGeom>
          <a:solidFill>
            <a:srgbClr val="F0EAF3"/>
          </a:solidFill>
          <a:ln w="10160">
            <a:solidFill>
              <a:srgbClr val="F0EAF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3816" y="3721608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B4A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OBSERVED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1920240" y="3685032"/>
            <a:ext cx="9189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211E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DIPR supports direct citizen-official interaction through SIPs.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749808" y="4087368"/>
            <a:ext cx="10469880" cy="0"/>
          </a:xfrm>
          <a:prstGeom prst="line">
            <a:avLst/>
          </a:prstGeom>
          <a:noFill/>
          <a:ln w="6350">
            <a:solidFill>
              <a:srgbClr val="D8D0D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9808" y="4261104"/>
            <a:ext cx="969264" cy="256032"/>
          </a:xfrm>
          <a:prstGeom prst="roundRect">
            <a:avLst>
              <a:gd name="adj" fmla="val 42857"/>
            </a:avLst>
          </a:prstGeom>
          <a:solidFill>
            <a:srgbClr val="B28A58"/>
          </a:solidFill>
          <a:ln w="10160">
            <a:solidFill>
              <a:srgbClr val="B28A5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3816" y="4288536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MY INFERENCE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1920240" y="4251960"/>
            <a:ext cx="9189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211E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message is incomplete when citizens have no clear return path.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749808" y="4654296"/>
            <a:ext cx="10469880" cy="0"/>
          </a:xfrm>
          <a:prstGeom prst="line">
            <a:avLst/>
          </a:prstGeom>
          <a:noFill/>
          <a:ln w="6350">
            <a:solidFill>
              <a:srgbClr val="D8D0D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9808" y="4828032"/>
            <a:ext cx="969264" cy="256032"/>
          </a:xfrm>
          <a:prstGeom prst="roundRect">
            <a:avLst>
              <a:gd name="adj" fmla="val 42857"/>
            </a:avLst>
          </a:prstGeom>
          <a:solidFill>
            <a:srgbClr val="2E1B3A"/>
          </a:solidFill>
          <a:ln w="10160">
            <a:solidFill>
              <a:srgbClr val="2E1B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3816" y="4855464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MY ACTION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1920240" y="4818888"/>
            <a:ext cx="9189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211E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would report reach, comprehension proxy, action, feedback/closure and learning separately.</a:t>
            </a:r>
            <a:endParaRPr lang="en-US" sz="1020" dirty="0"/>
          </a:p>
        </p:txBody>
      </p:sp>
      <p:sp>
        <p:nvSpPr>
          <p:cNvPr id="28" name="Shape 26"/>
          <p:cNvSpPr/>
          <p:nvPr/>
        </p:nvSpPr>
        <p:spPr>
          <a:xfrm>
            <a:off x="749808" y="5221224"/>
            <a:ext cx="10469880" cy="0"/>
          </a:xfrm>
          <a:prstGeom prst="line">
            <a:avLst/>
          </a:prstGeom>
          <a:noFill/>
          <a:ln w="6350">
            <a:solidFill>
              <a:srgbClr val="D8D0D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574536"/>
            <a:ext cx="7132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Evidence: C05 · C06 · C08 · C14 · C19 | Full URL, page and rationale in appendix</a:t>
            </a:r>
            <a:endParaRPr lang="en-US" sz="680" dirty="0"/>
          </a:p>
        </p:txBody>
      </p:sp>
      <p:sp>
        <p:nvSpPr>
          <p:cNvPr id="30" name="Text 28"/>
          <p:cNvSpPr/>
          <p:nvPr/>
        </p:nvSpPr>
        <p:spPr>
          <a:xfrm>
            <a:off x="7863840" y="6574536"/>
            <a:ext cx="3154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70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Not commissioned by or affiliated with Grant Thornton Bharat.</a:t>
            </a:r>
            <a:endParaRPr lang="en-US" sz="6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6616A"/>
                </a:solidFill>
                <a:latin typeface="Aptos Mono"/>
                <a:ea typeface="Aptos Mono"/>
                <a:cs typeface="Aptos Mono"/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20" kern="0" dirty="0">
                <a:solidFill>
                  <a:srgbClr val="6B4A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APPENDIX / A21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 would validate in the field before I scale anything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1408176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 research gives me a disciplined starting point. It does not give me permission to assume audience behaviour I have not observed.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58368" y="2075688"/>
            <a:ext cx="3364992" cy="1408176"/>
          </a:xfrm>
          <a:prstGeom prst="roundRect">
            <a:avLst>
              <a:gd name="adj" fmla="val 7792"/>
            </a:avLst>
          </a:prstGeom>
          <a:solidFill>
            <a:srgbClr val="FFFEFC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212848"/>
            <a:ext cx="30358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spc="70" kern="0" dirty="0">
                <a:solidFill>
                  <a:srgbClr val="6B4A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01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22960" y="2459736"/>
            <a:ext cx="3035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POPULATION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822960" y="2907792"/>
            <a:ext cx="303580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most authoritative state population split cited here is Census 2011; I use it as structural context, not current headcount.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279392" y="2075688"/>
            <a:ext cx="3364992" cy="1408176"/>
          </a:xfrm>
          <a:prstGeom prst="roundRect">
            <a:avLst>
              <a:gd name="adj" fmla="val 7792"/>
            </a:avLst>
          </a:prstGeom>
          <a:solidFill>
            <a:srgbClr val="FFFEFC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43984" y="2212848"/>
            <a:ext cx="30358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spc="70" kern="0" dirty="0">
                <a:solidFill>
                  <a:srgbClr val="3E5D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02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443984" y="2459736"/>
            <a:ext cx="3035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 BEHAVIOUR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4443984" y="2907792"/>
            <a:ext cx="303580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do not claim Meghalaya-specific Facebook/Instagram/WhatsApp audience shares without defensible state-level evidence.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900416" y="2075688"/>
            <a:ext cx="3364992" cy="1408176"/>
          </a:xfrm>
          <a:prstGeom prst="roundRect">
            <a:avLst>
              <a:gd name="adj" fmla="val 7792"/>
            </a:avLst>
          </a:prstGeom>
          <a:solidFill>
            <a:srgbClr val="FFFEFC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65008" y="2212848"/>
            <a:ext cx="30358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spc="70" kern="0" dirty="0">
                <a:solidFill>
                  <a:srgbClr val="B28A5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03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8065008" y="2459736"/>
            <a:ext cx="3035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SUBSCRIPTION ≠ PEOPLE</a:t>
            </a:r>
            <a:endParaRPr lang="en-US" sz="1420" dirty="0"/>
          </a:p>
        </p:txBody>
      </p:sp>
      <p:sp>
        <p:nvSpPr>
          <p:cNvPr id="16" name="Text 14"/>
          <p:cNvSpPr/>
          <p:nvPr/>
        </p:nvSpPr>
        <p:spPr>
          <a:xfrm>
            <a:off x="8065008" y="2907792"/>
            <a:ext cx="303580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 internet subscriptions per 100 population can include multiple subscriptions and should not be read as unique-user penetration.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58368" y="3703320"/>
            <a:ext cx="3364992" cy="1408176"/>
          </a:xfrm>
          <a:prstGeom prst="roundRect">
            <a:avLst>
              <a:gd name="adj" fmla="val 7792"/>
            </a:avLst>
          </a:prstGeom>
          <a:solidFill>
            <a:srgbClr val="FFFEFC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840480"/>
            <a:ext cx="30358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spc="70" kern="0" dirty="0">
                <a:solidFill>
                  <a:srgbClr val="6B4A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04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822960" y="4087368"/>
            <a:ext cx="3035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LANGUAGE USE</a:t>
            </a:r>
            <a:endParaRPr lang="en-US" sz="1420" dirty="0"/>
          </a:p>
        </p:txBody>
      </p:sp>
      <p:sp>
        <p:nvSpPr>
          <p:cNvPr id="20" name="Text 18"/>
          <p:cNvSpPr/>
          <p:nvPr/>
        </p:nvSpPr>
        <p:spPr>
          <a:xfrm>
            <a:off x="822960" y="4535424"/>
            <a:ext cx="303580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Language Act describes official use; actual communication preference should be validated by district/audience and content purpose.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279392" y="3703320"/>
            <a:ext cx="3364992" cy="1408176"/>
          </a:xfrm>
          <a:prstGeom prst="roundRect">
            <a:avLst>
              <a:gd name="adj" fmla="val 7792"/>
            </a:avLst>
          </a:prstGeom>
          <a:solidFill>
            <a:srgbClr val="FFFEFC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43984" y="3840480"/>
            <a:ext cx="30358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spc="70" kern="0" dirty="0">
                <a:solidFill>
                  <a:srgbClr val="3E5D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05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4443984" y="4087368"/>
            <a:ext cx="3035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COMPREHENSION</a:t>
            </a:r>
            <a:endParaRPr lang="en-US" sz="1420" dirty="0"/>
          </a:p>
        </p:txBody>
      </p:sp>
      <p:sp>
        <p:nvSpPr>
          <p:cNvPr id="24" name="Text 22"/>
          <p:cNvSpPr/>
          <p:nvPr/>
        </p:nvSpPr>
        <p:spPr>
          <a:xfrm>
            <a:off x="4443984" y="4535424"/>
            <a:ext cx="303580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Views and reach do not prove understanding; I would test recurring questions, completion, response quality and task completion.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900416" y="3703320"/>
            <a:ext cx="3364992" cy="1408176"/>
          </a:xfrm>
          <a:prstGeom prst="roundRect">
            <a:avLst>
              <a:gd name="adj" fmla="val 7792"/>
            </a:avLst>
          </a:prstGeom>
          <a:solidFill>
            <a:srgbClr val="FFFEFC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65008" y="3840480"/>
            <a:ext cx="30358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spc="70" kern="0" dirty="0">
                <a:solidFill>
                  <a:srgbClr val="B28A5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06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8065008" y="4087368"/>
            <a:ext cx="3035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ATTRIBUTION</a:t>
            </a:r>
            <a:endParaRPr lang="en-US" sz="1420" dirty="0"/>
          </a:p>
        </p:txBody>
      </p:sp>
      <p:sp>
        <p:nvSpPr>
          <p:cNvPr id="28" name="Text 26"/>
          <p:cNvSpPr/>
          <p:nvPr/>
        </p:nvSpPr>
        <p:spPr>
          <a:xfrm>
            <a:off x="8065008" y="4535424"/>
            <a:ext cx="303580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 outcomes are influenced by programme design and operations; I would not attribute every improvement to communications alone.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863840" y="6574536"/>
            <a:ext cx="3154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70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Not commissioned by or affiliated with Grant Thornton Bharat.</a:t>
            </a:r>
            <a:endParaRPr lang="en-US" sz="6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6616A"/>
                </a:solidFill>
                <a:latin typeface="Aptos Mono"/>
                <a:ea typeface="Aptos Mono"/>
                <a:cs typeface="Aptos Mono"/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20" kern="0" dirty="0">
                <a:solidFill>
                  <a:srgbClr val="6B4A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APPENDIX / A22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20 review passes I ran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1408176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pass tested a different failure mode. I used the later passes to challenge and improve the conclusions from the earlier ones.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58368" y="1975104"/>
            <a:ext cx="301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6B4A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01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1042416" y="197510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211E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inventory</a:t>
            </a:r>
            <a:endParaRPr lang="en-US" sz="770" dirty="0"/>
          </a:p>
        </p:txBody>
      </p:sp>
      <p:sp>
        <p:nvSpPr>
          <p:cNvPr id="7" name="Text 5"/>
          <p:cNvSpPr/>
          <p:nvPr/>
        </p:nvSpPr>
        <p:spPr>
          <a:xfrm>
            <a:off x="2670048" y="1975104"/>
            <a:ext cx="2971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Checked every external factual statement for a claim ID and source. Removed unneeded statistics without a decision implication.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658368" y="2368296"/>
            <a:ext cx="301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6B4A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02</a:t>
            </a:r>
            <a:endParaRPr lang="en-US" sz="680" dirty="0"/>
          </a:p>
        </p:txBody>
      </p:sp>
      <p:sp>
        <p:nvSpPr>
          <p:cNvPr id="9" name="Text 7"/>
          <p:cNvSpPr/>
          <p:nvPr/>
        </p:nvSpPr>
        <p:spPr>
          <a:xfrm>
            <a:off x="1042416" y="236829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211E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Primary-source upgrade</a:t>
            </a:r>
            <a:endParaRPr lang="en-US" sz="770" dirty="0"/>
          </a:p>
        </p:txBody>
      </p:sp>
      <p:sp>
        <p:nvSpPr>
          <p:cNvPr id="10" name="Text 8"/>
          <p:cNvSpPr/>
          <p:nvPr/>
        </p:nvSpPr>
        <p:spPr>
          <a:xfrm>
            <a:off x="2670048" y="2368296"/>
            <a:ext cx="2971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Prioritised Government of Meghalaya, DES, TRAI and NITI sources over commentary.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658368" y="2761488"/>
            <a:ext cx="301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6B4A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03</a:t>
            </a:r>
            <a:endParaRPr lang="en-US" sz="680" dirty="0"/>
          </a:p>
        </p:txBody>
      </p:sp>
      <p:sp>
        <p:nvSpPr>
          <p:cNvPr id="12" name="Text 10"/>
          <p:cNvSpPr/>
          <p:nvPr/>
        </p:nvSpPr>
        <p:spPr>
          <a:xfrm>
            <a:off x="1042416" y="276148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211E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Statistical validation</a:t>
            </a:r>
            <a:endParaRPr lang="en-US" sz="770" dirty="0"/>
          </a:p>
        </p:txBody>
      </p:sp>
      <p:sp>
        <p:nvSpPr>
          <p:cNvPr id="13" name="Text 11"/>
          <p:cNvSpPr/>
          <p:nvPr/>
        </p:nvSpPr>
        <p:spPr>
          <a:xfrm>
            <a:off x="2670048" y="2761488"/>
            <a:ext cx="2971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Recomputed the 79.9% rural share and verified dates, units and denominators.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658368" y="3154680"/>
            <a:ext cx="301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6B4A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04</a:t>
            </a:r>
            <a:endParaRPr lang="en-US" sz="680" dirty="0"/>
          </a:p>
        </p:txBody>
      </p:sp>
      <p:sp>
        <p:nvSpPr>
          <p:cNvPr id="15" name="Text 13"/>
          <p:cNvSpPr/>
          <p:nvPr/>
        </p:nvSpPr>
        <p:spPr>
          <a:xfrm>
            <a:off x="1042416" y="315468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211E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Contradiction review</a:t>
            </a:r>
            <a:endParaRPr lang="en-US" sz="770" dirty="0"/>
          </a:p>
        </p:txBody>
      </p:sp>
      <p:sp>
        <p:nvSpPr>
          <p:cNvPr id="16" name="Text 14"/>
          <p:cNvSpPr/>
          <p:nvPr/>
        </p:nvSpPr>
        <p:spPr>
          <a:xfrm>
            <a:off x="2670048" y="3154680"/>
            <a:ext cx="2971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Separated 2011 Census-base population from 2021 policy estimates and 2025 telecom data.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658368" y="3547872"/>
            <a:ext cx="301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6B4A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05</a:t>
            </a:r>
            <a:endParaRPr lang="en-US" sz="680" dirty="0"/>
          </a:p>
        </p:txBody>
      </p:sp>
      <p:sp>
        <p:nvSpPr>
          <p:cNvPr id="18" name="Text 16"/>
          <p:cNvSpPr/>
          <p:nvPr/>
        </p:nvSpPr>
        <p:spPr>
          <a:xfrm>
            <a:off x="1042416" y="354787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211E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Meghalaya specificity</a:t>
            </a:r>
            <a:endParaRPr lang="en-US" sz="770" dirty="0"/>
          </a:p>
        </p:txBody>
      </p:sp>
      <p:sp>
        <p:nvSpPr>
          <p:cNvPr id="19" name="Text 17"/>
          <p:cNvSpPr/>
          <p:nvPr/>
        </p:nvSpPr>
        <p:spPr>
          <a:xfrm>
            <a:off x="2670048" y="3547872"/>
            <a:ext cx="2971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Removed India-wide generalisations where Meghalaya evidence was available.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658368" y="3941064"/>
            <a:ext cx="301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6B4A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06</a:t>
            </a:r>
            <a:endParaRPr lang="en-US" sz="680" dirty="0"/>
          </a:p>
        </p:txBody>
      </p:sp>
      <p:sp>
        <p:nvSpPr>
          <p:cNvPr id="21" name="Text 19"/>
          <p:cNvSpPr/>
          <p:nvPr/>
        </p:nvSpPr>
        <p:spPr>
          <a:xfrm>
            <a:off x="1042416" y="394106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211E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Regional nuance</a:t>
            </a:r>
            <a:endParaRPr lang="en-US" sz="770" dirty="0"/>
          </a:p>
        </p:txBody>
      </p:sp>
      <p:sp>
        <p:nvSpPr>
          <p:cNvPr id="22" name="Text 20"/>
          <p:cNvSpPr/>
          <p:nvPr/>
        </p:nvSpPr>
        <p:spPr>
          <a:xfrm>
            <a:off x="2670048" y="3941064"/>
            <a:ext cx="2971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Avoided treating Northeast India or Meghalaya as homogeneous audiences.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658368" y="4334256"/>
            <a:ext cx="301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6B4A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07</a:t>
            </a:r>
            <a:endParaRPr lang="en-US" sz="680" dirty="0"/>
          </a:p>
        </p:txBody>
      </p:sp>
      <p:sp>
        <p:nvSpPr>
          <p:cNvPr id="24" name="Text 22"/>
          <p:cNvSpPr/>
          <p:nvPr/>
        </p:nvSpPr>
        <p:spPr>
          <a:xfrm>
            <a:off x="1042416" y="433425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211E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Shillong relevance</a:t>
            </a:r>
            <a:endParaRPr lang="en-US" sz="770" dirty="0"/>
          </a:p>
        </p:txBody>
      </p:sp>
      <p:sp>
        <p:nvSpPr>
          <p:cNvPr id="25" name="Text 23"/>
          <p:cNvSpPr/>
          <p:nvPr/>
        </p:nvSpPr>
        <p:spPr>
          <a:xfrm>
            <a:off x="2670048" y="4334256"/>
            <a:ext cx="2971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Kept Shillong as the professional base while avoiding the error of equating Shillong with the whole state.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658368" y="4727448"/>
            <a:ext cx="301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6B4A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08</a:t>
            </a:r>
            <a:endParaRPr lang="en-US" sz="680" dirty="0"/>
          </a:p>
        </p:txBody>
      </p:sp>
      <p:sp>
        <p:nvSpPr>
          <p:cNvPr id="27" name="Text 25"/>
          <p:cNvSpPr/>
          <p:nvPr/>
        </p:nvSpPr>
        <p:spPr>
          <a:xfrm>
            <a:off x="1042416" y="472744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211E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Communications logic</a:t>
            </a:r>
            <a:endParaRPr lang="en-US" sz="770" dirty="0"/>
          </a:p>
        </p:txBody>
      </p:sp>
      <p:sp>
        <p:nvSpPr>
          <p:cNvPr id="28" name="Text 26"/>
          <p:cNvSpPr/>
          <p:nvPr/>
        </p:nvSpPr>
        <p:spPr>
          <a:xfrm>
            <a:off x="2670048" y="4727448"/>
            <a:ext cx="2971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Required every regional fact to generate a practical communication implication.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658368" y="5120640"/>
            <a:ext cx="301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6B4A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09</a:t>
            </a:r>
            <a:endParaRPr lang="en-US" sz="680" dirty="0"/>
          </a:p>
        </p:txBody>
      </p:sp>
      <p:sp>
        <p:nvSpPr>
          <p:cNvPr id="30" name="Text 28"/>
          <p:cNvSpPr/>
          <p:nvPr/>
        </p:nvSpPr>
        <p:spPr>
          <a:xfrm>
            <a:off x="1042416" y="512064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211E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 mapping</a:t>
            </a:r>
            <a:endParaRPr lang="en-US" sz="770" dirty="0"/>
          </a:p>
        </p:txBody>
      </p:sp>
      <p:sp>
        <p:nvSpPr>
          <p:cNvPr id="31" name="Text 29"/>
          <p:cNvSpPr/>
          <p:nvPr/>
        </p:nvSpPr>
        <p:spPr>
          <a:xfrm>
            <a:off x="2670048" y="5120640"/>
            <a:ext cx="2971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Mapped recommendations to social, content, media, storytelling, monitoring and stakeholder needs.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658368" y="5513832"/>
            <a:ext cx="301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6B4A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10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1042416" y="551383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211E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evidence</a:t>
            </a:r>
            <a:endParaRPr lang="en-US" sz="770" dirty="0"/>
          </a:p>
        </p:txBody>
      </p:sp>
      <p:sp>
        <p:nvSpPr>
          <p:cNvPr id="34" name="Text 32"/>
          <p:cNvSpPr/>
          <p:nvPr/>
        </p:nvSpPr>
        <p:spPr>
          <a:xfrm>
            <a:off x="2670048" y="5513832"/>
            <a:ext cx="2971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used only my CV data for quantified personal claims.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6080760" y="1975104"/>
            <a:ext cx="301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3E5D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11</a:t>
            </a:r>
            <a:endParaRPr lang="en-US" sz="680" dirty="0"/>
          </a:p>
        </p:txBody>
      </p:sp>
      <p:sp>
        <p:nvSpPr>
          <p:cNvPr id="36" name="Text 34"/>
          <p:cNvSpPr/>
          <p:nvPr/>
        </p:nvSpPr>
        <p:spPr>
          <a:xfrm>
            <a:off x="6464808" y="197510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211E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Intellectual rigor</a:t>
            </a:r>
            <a:endParaRPr lang="en-US" sz="770" dirty="0"/>
          </a:p>
        </p:txBody>
      </p:sp>
      <p:sp>
        <p:nvSpPr>
          <p:cNvPr id="37" name="Text 35"/>
          <p:cNvSpPr/>
          <p:nvPr/>
        </p:nvSpPr>
        <p:spPr>
          <a:xfrm>
            <a:off x="8092440" y="1975104"/>
            <a:ext cx="2971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Downgraded recommendations from facts and labelled synthesis/recommendation explicitly.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6080760" y="2368296"/>
            <a:ext cx="301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3E5D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12</a:t>
            </a:r>
            <a:endParaRPr lang="en-US" sz="680" dirty="0"/>
          </a:p>
        </p:txBody>
      </p:sp>
      <p:sp>
        <p:nvSpPr>
          <p:cNvPr id="39" name="Text 37"/>
          <p:cNvSpPr/>
          <p:nvPr/>
        </p:nvSpPr>
        <p:spPr>
          <a:xfrm>
            <a:off x="6464808" y="236829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211E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Counterargument review</a:t>
            </a:r>
            <a:endParaRPr lang="en-US" sz="770" dirty="0"/>
          </a:p>
        </p:txBody>
      </p:sp>
      <p:sp>
        <p:nvSpPr>
          <p:cNvPr id="40" name="Text 38"/>
          <p:cNvSpPr/>
          <p:nvPr/>
        </p:nvSpPr>
        <p:spPr>
          <a:xfrm>
            <a:off x="8092440" y="2368296"/>
            <a:ext cx="2971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Added caveats for subscription density, dated Census data and policy estimates.</a:t>
            </a:r>
            <a:endParaRPr lang="en-US" sz="650" dirty="0"/>
          </a:p>
        </p:txBody>
      </p:sp>
      <p:sp>
        <p:nvSpPr>
          <p:cNvPr id="41" name="Text 39"/>
          <p:cNvSpPr/>
          <p:nvPr/>
        </p:nvSpPr>
        <p:spPr>
          <a:xfrm>
            <a:off x="6080760" y="2761488"/>
            <a:ext cx="301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3E5D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13</a:t>
            </a:r>
            <a:endParaRPr lang="en-US" sz="680" dirty="0"/>
          </a:p>
        </p:txBody>
      </p:sp>
      <p:sp>
        <p:nvSpPr>
          <p:cNvPr id="42" name="Text 40"/>
          <p:cNvSpPr/>
          <p:nvPr/>
        </p:nvSpPr>
        <p:spPr>
          <a:xfrm>
            <a:off x="6464808" y="276148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211E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compression</a:t>
            </a:r>
            <a:endParaRPr lang="en-US" sz="770" dirty="0"/>
          </a:p>
        </p:txBody>
      </p:sp>
      <p:sp>
        <p:nvSpPr>
          <p:cNvPr id="43" name="Text 41"/>
          <p:cNvSpPr/>
          <p:nvPr/>
        </p:nvSpPr>
        <p:spPr>
          <a:xfrm>
            <a:off x="8092440" y="2761488"/>
            <a:ext cx="2971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Reduced core deck to one decision-worthy idea per slide.</a:t>
            </a:r>
            <a:endParaRPr lang="en-US" sz="650" dirty="0"/>
          </a:p>
        </p:txBody>
      </p:sp>
      <p:sp>
        <p:nvSpPr>
          <p:cNvPr id="44" name="Text 42"/>
          <p:cNvSpPr/>
          <p:nvPr/>
        </p:nvSpPr>
        <p:spPr>
          <a:xfrm>
            <a:off x="6080760" y="3154680"/>
            <a:ext cx="301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3E5D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14</a:t>
            </a:r>
            <a:endParaRPr lang="en-US" sz="680" dirty="0"/>
          </a:p>
        </p:txBody>
      </p:sp>
      <p:sp>
        <p:nvSpPr>
          <p:cNvPr id="45" name="Text 43"/>
          <p:cNvSpPr/>
          <p:nvPr/>
        </p:nvSpPr>
        <p:spPr>
          <a:xfrm>
            <a:off x="6464808" y="315468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211E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Storyline</a:t>
            </a:r>
            <a:endParaRPr lang="en-US" sz="770" dirty="0"/>
          </a:p>
        </p:txBody>
      </p:sp>
      <p:sp>
        <p:nvSpPr>
          <p:cNvPr id="46" name="Text 44"/>
          <p:cNvSpPr/>
          <p:nvPr/>
        </p:nvSpPr>
        <p:spPr>
          <a:xfrm>
            <a:off x="8092440" y="3154680"/>
            <a:ext cx="2971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Sequenced region -&gt; system -&gt; execution -&gt; evidence -&gt; contribution.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6080760" y="3547872"/>
            <a:ext cx="301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3E5D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15</a:t>
            </a:r>
            <a:endParaRPr lang="en-US" sz="680" dirty="0"/>
          </a:p>
        </p:txBody>
      </p:sp>
      <p:sp>
        <p:nvSpPr>
          <p:cNvPr id="48" name="Text 46"/>
          <p:cNvSpPr/>
          <p:nvPr/>
        </p:nvSpPr>
        <p:spPr>
          <a:xfrm>
            <a:off x="6464808" y="354787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211E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First-person audit</a:t>
            </a:r>
            <a:endParaRPr lang="en-US" sz="770" dirty="0"/>
          </a:p>
        </p:txBody>
      </p:sp>
      <p:sp>
        <p:nvSpPr>
          <p:cNvPr id="49" name="Text 47"/>
          <p:cNvSpPr/>
          <p:nvPr/>
        </p:nvSpPr>
        <p:spPr>
          <a:xfrm>
            <a:off x="8092440" y="3547872"/>
            <a:ext cx="2971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rewrote every self-referential header and bullet in first person.</a:t>
            </a:r>
            <a:endParaRPr lang="en-US" sz="650" dirty="0"/>
          </a:p>
        </p:txBody>
      </p:sp>
      <p:sp>
        <p:nvSpPr>
          <p:cNvPr id="50" name="Text 48"/>
          <p:cNvSpPr/>
          <p:nvPr/>
        </p:nvSpPr>
        <p:spPr>
          <a:xfrm>
            <a:off x="6080760" y="3941064"/>
            <a:ext cx="301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3E5D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16</a:t>
            </a:r>
            <a:endParaRPr lang="en-US" sz="680" dirty="0"/>
          </a:p>
        </p:txBody>
      </p:sp>
      <p:sp>
        <p:nvSpPr>
          <p:cNvPr id="51" name="Text 49"/>
          <p:cNvSpPr/>
          <p:nvPr/>
        </p:nvSpPr>
        <p:spPr>
          <a:xfrm>
            <a:off x="6464808" y="394106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211E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Audience-fit review</a:t>
            </a:r>
            <a:endParaRPr lang="en-US" sz="770" dirty="0"/>
          </a:p>
        </p:txBody>
      </p:sp>
      <p:sp>
        <p:nvSpPr>
          <p:cNvPr id="52" name="Text 50"/>
          <p:cNvSpPr/>
          <p:nvPr/>
        </p:nvSpPr>
        <p:spPr>
          <a:xfrm>
            <a:off x="8092440" y="3941064"/>
            <a:ext cx="2971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Strengthened citizen-engagement systems, media operations, creative workflow and fact-checking logic.</a:t>
            </a:r>
            <a:endParaRPr lang="en-US" sz="650" dirty="0"/>
          </a:p>
        </p:txBody>
      </p:sp>
      <p:sp>
        <p:nvSpPr>
          <p:cNvPr id="53" name="Text 51"/>
          <p:cNvSpPr/>
          <p:nvPr/>
        </p:nvSpPr>
        <p:spPr>
          <a:xfrm>
            <a:off x="6080760" y="4334256"/>
            <a:ext cx="301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3E5D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17</a:t>
            </a:r>
            <a:endParaRPr lang="en-US" sz="680" dirty="0"/>
          </a:p>
        </p:txBody>
      </p:sp>
      <p:sp>
        <p:nvSpPr>
          <p:cNvPr id="54" name="Text 52"/>
          <p:cNvSpPr/>
          <p:nvPr/>
        </p:nvSpPr>
        <p:spPr>
          <a:xfrm>
            <a:off x="6464808" y="433425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211E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review</a:t>
            </a:r>
            <a:endParaRPr lang="en-US" sz="770" dirty="0"/>
          </a:p>
        </p:txBody>
      </p:sp>
      <p:sp>
        <p:nvSpPr>
          <p:cNvPr id="55" name="Text 53"/>
          <p:cNvSpPr/>
          <p:nvPr/>
        </p:nvSpPr>
        <p:spPr>
          <a:xfrm>
            <a:off x="8092440" y="4334256"/>
            <a:ext cx="2971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Kept Meghalaya cues atmospheric and restrained; avoided tourism clichés and logo imitation.</a:t>
            </a:r>
            <a:endParaRPr lang="en-US" sz="650" dirty="0"/>
          </a:p>
        </p:txBody>
      </p:sp>
      <p:sp>
        <p:nvSpPr>
          <p:cNvPr id="56" name="Text 54"/>
          <p:cNvSpPr/>
          <p:nvPr/>
        </p:nvSpPr>
        <p:spPr>
          <a:xfrm>
            <a:off x="6080760" y="4727448"/>
            <a:ext cx="301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3E5D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18</a:t>
            </a:r>
            <a:endParaRPr lang="en-US" sz="680" dirty="0"/>
          </a:p>
        </p:txBody>
      </p:sp>
      <p:sp>
        <p:nvSpPr>
          <p:cNvPr id="57" name="Text 55"/>
          <p:cNvSpPr/>
          <p:nvPr/>
        </p:nvSpPr>
        <p:spPr>
          <a:xfrm>
            <a:off x="6464808" y="472744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211E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transparency</a:t>
            </a:r>
            <a:endParaRPr lang="en-US" sz="770" dirty="0"/>
          </a:p>
        </p:txBody>
      </p:sp>
      <p:sp>
        <p:nvSpPr>
          <p:cNvPr id="58" name="Text 56"/>
          <p:cNvSpPr/>
          <p:nvPr/>
        </p:nvSpPr>
        <p:spPr>
          <a:xfrm>
            <a:off x="8092440" y="4727448"/>
            <a:ext cx="2971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Added exact URLs, PDF pages, logic and confidence in the appendix.</a:t>
            </a:r>
            <a:endParaRPr lang="en-US" sz="650" dirty="0"/>
          </a:p>
        </p:txBody>
      </p:sp>
      <p:sp>
        <p:nvSpPr>
          <p:cNvPr id="59" name="Text 57"/>
          <p:cNvSpPr/>
          <p:nvPr/>
        </p:nvSpPr>
        <p:spPr>
          <a:xfrm>
            <a:off x="6080760" y="5120640"/>
            <a:ext cx="301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3E5D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19</a:t>
            </a:r>
            <a:endParaRPr lang="en-US" sz="680" dirty="0"/>
          </a:p>
        </p:txBody>
      </p:sp>
      <p:sp>
        <p:nvSpPr>
          <p:cNvPr id="60" name="Text 58"/>
          <p:cNvSpPr/>
          <p:nvPr/>
        </p:nvSpPr>
        <p:spPr>
          <a:xfrm>
            <a:off x="6464808" y="512064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211E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Release red-team</a:t>
            </a:r>
            <a:endParaRPr lang="en-US" sz="770" dirty="0"/>
          </a:p>
        </p:txBody>
      </p:sp>
      <p:sp>
        <p:nvSpPr>
          <p:cNvPr id="61" name="Text 59"/>
          <p:cNvSpPr/>
          <p:nvPr/>
        </p:nvSpPr>
        <p:spPr>
          <a:xfrm>
            <a:off x="8092440" y="5120640"/>
            <a:ext cx="2971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Looked for overclaiming, unsupported causality, outdated-data ambiguity and fake precision.</a:t>
            </a:r>
            <a:endParaRPr lang="en-US" sz="650" dirty="0"/>
          </a:p>
        </p:txBody>
      </p:sp>
      <p:sp>
        <p:nvSpPr>
          <p:cNvPr id="62" name="Text 60"/>
          <p:cNvSpPr/>
          <p:nvPr/>
        </p:nvSpPr>
        <p:spPr>
          <a:xfrm>
            <a:off x="6080760" y="5513832"/>
            <a:ext cx="301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3E5D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20</a:t>
            </a:r>
            <a:endParaRPr lang="en-US" sz="680" dirty="0"/>
          </a:p>
        </p:txBody>
      </p:sp>
      <p:sp>
        <p:nvSpPr>
          <p:cNvPr id="63" name="Text 61"/>
          <p:cNvSpPr/>
          <p:nvPr/>
        </p:nvSpPr>
        <p:spPr>
          <a:xfrm>
            <a:off x="6464808" y="551383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211E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Export and sequence QA</a:t>
            </a:r>
            <a:endParaRPr lang="en-US" sz="770" dirty="0"/>
          </a:p>
        </p:txBody>
      </p:sp>
      <p:sp>
        <p:nvSpPr>
          <p:cNvPr id="64" name="Text 62"/>
          <p:cNvSpPr/>
          <p:nvPr/>
        </p:nvSpPr>
        <p:spPr>
          <a:xfrm>
            <a:off x="8092440" y="5513832"/>
            <a:ext cx="2971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Confirmed thank-you precedes appendix, slide order is complete, and the source ledger is present.</a:t>
            </a:r>
            <a:endParaRPr lang="en-US" sz="650" dirty="0"/>
          </a:p>
        </p:txBody>
      </p:sp>
      <p:sp>
        <p:nvSpPr>
          <p:cNvPr id="65" name="Text 63"/>
          <p:cNvSpPr/>
          <p:nvPr/>
        </p:nvSpPr>
        <p:spPr>
          <a:xfrm>
            <a:off x="7863840" y="6574536"/>
            <a:ext cx="3154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70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Not commissioned by or affiliated with Grant Thornton Bharat.</a:t>
            </a:r>
            <a:endParaRPr lang="en-US" sz="6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6616A"/>
                </a:solidFill>
                <a:latin typeface="Aptos Mono"/>
                <a:ea typeface="Aptos Mono"/>
                <a:cs typeface="Aptos Mono"/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20" kern="0" dirty="0">
                <a:solidFill>
                  <a:srgbClr val="6B4A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APPENDIX / A23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 source register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1408176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Primary/public sources I used for the Meghalaya operating context.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713232" y="1938528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0" b="1" dirty="0">
                <a:solidFill>
                  <a:srgbClr val="6B4A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S01</a:t>
            </a:r>
            <a:endParaRPr lang="en-US" sz="690" dirty="0"/>
          </a:p>
        </p:txBody>
      </p:sp>
      <p:sp>
        <p:nvSpPr>
          <p:cNvPr id="6" name="Text 4"/>
          <p:cNvSpPr/>
          <p:nvPr/>
        </p:nvSpPr>
        <p:spPr>
          <a:xfrm>
            <a:off x="1143000" y="1920240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0" b="1" dirty="0">
                <a:solidFill>
                  <a:srgbClr val="211E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Directorate of Economics &amp; Statistics, Government of Meghalaya - DES Portal</a:t>
            </a:r>
            <a:endParaRPr lang="en-US" sz="790" dirty="0"/>
          </a:p>
        </p:txBody>
      </p:sp>
      <p:sp>
        <p:nvSpPr>
          <p:cNvPr id="7" name="Text 5"/>
          <p:cNvSpPr/>
          <p:nvPr/>
        </p:nvSpPr>
        <p:spPr>
          <a:xfrm>
            <a:off x="4507992" y="1920240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b="1" dirty="0">
                <a:solidFill>
                  <a:srgbClr val="3E5D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Web · n/a</a:t>
            </a:r>
            <a:endParaRPr lang="en-US" sz="620" dirty="0"/>
          </a:p>
        </p:txBody>
      </p:sp>
      <p:sp>
        <p:nvSpPr>
          <p:cNvPr id="8" name="Text 6">
            <a:hlinkClick r:id="rId1" tooltip=""/>
          </p:cNvPr>
          <p:cNvSpPr/>
          <p:nvPr/>
        </p:nvSpPr>
        <p:spPr>
          <a:xfrm>
            <a:off x="5806440" y="1920240"/>
            <a:ext cx="5257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90" u="sng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https://des.megplanning.gov.in/portal.htm</a:t>
            </a:r>
            <a:endParaRPr lang="en-US" sz="590" dirty="0"/>
          </a:p>
        </p:txBody>
      </p:sp>
      <p:sp>
        <p:nvSpPr>
          <p:cNvPr id="9" name="Shape 7"/>
          <p:cNvSpPr/>
          <p:nvPr/>
        </p:nvSpPr>
        <p:spPr>
          <a:xfrm>
            <a:off x="713232" y="2295144"/>
            <a:ext cx="10378440" cy="0"/>
          </a:xfrm>
          <a:prstGeom prst="line">
            <a:avLst/>
          </a:prstGeom>
          <a:noFill/>
          <a:ln w="5715">
            <a:solidFill>
              <a:srgbClr val="D8D0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514600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0" b="1" dirty="0">
                <a:solidFill>
                  <a:srgbClr val="6B4A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S02</a:t>
            </a:r>
            <a:endParaRPr lang="en-US" sz="690" dirty="0"/>
          </a:p>
        </p:txBody>
      </p:sp>
      <p:sp>
        <p:nvSpPr>
          <p:cNvPr id="11" name="Text 9"/>
          <p:cNvSpPr/>
          <p:nvPr/>
        </p:nvSpPr>
        <p:spPr>
          <a:xfrm>
            <a:off x="1143000" y="2496312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0" b="1" dirty="0">
                <a:solidFill>
                  <a:srgbClr val="211E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Government of Meghalaya - RFP for Grassroot Level Citizen Engagement Program</a:t>
            </a:r>
            <a:endParaRPr lang="en-US" sz="790" dirty="0"/>
          </a:p>
        </p:txBody>
      </p:sp>
      <p:sp>
        <p:nvSpPr>
          <p:cNvPr id="12" name="Text 10"/>
          <p:cNvSpPr/>
          <p:nvPr/>
        </p:nvSpPr>
        <p:spPr>
          <a:xfrm>
            <a:off x="4507992" y="2496312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b="1" dirty="0">
                <a:solidFill>
                  <a:srgbClr val="3E5D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PDF · pp. 4 and 23 of 40</a:t>
            </a:r>
            <a:endParaRPr lang="en-US" sz="620" dirty="0"/>
          </a:p>
        </p:txBody>
      </p:sp>
      <p:sp>
        <p:nvSpPr>
          <p:cNvPr id="13" name="Text 11">
            <a:hlinkClick r:id="rId2" tooltip=""/>
          </p:cNvPr>
          <p:cNvSpPr/>
          <p:nvPr/>
        </p:nvSpPr>
        <p:spPr>
          <a:xfrm>
            <a:off x="5806440" y="2496312"/>
            <a:ext cx="5257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90" u="sng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https://meghalaya.gov.in/sites/default/files/tenders/RFP_for_Selection_of_Agency_for_Grassroot_Citizen_Engagement_Program.pdf</a:t>
            </a:r>
            <a:endParaRPr lang="en-US" sz="590" dirty="0"/>
          </a:p>
        </p:txBody>
      </p:sp>
      <p:sp>
        <p:nvSpPr>
          <p:cNvPr id="14" name="Shape 12"/>
          <p:cNvSpPr/>
          <p:nvPr/>
        </p:nvSpPr>
        <p:spPr>
          <a:xfrm>
            <a:off x="713232" y="2871216"/>
            <a:ext cx="10378440" cy="0"/>
          </a:xfrm>
          <a:prstGeom prst="line">
            <a:avLst/>
          </a:prstGeom>
          <a:noFill/>
          <a:ln w="5715">
            <a:solidFill>
              <a:srgbClr val="D8D0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3090672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0" b="1" dirty="0">
                <a:solidFill>
                  <a:srgbClr val="6B4A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S03</a:t>
            </a:r>
            <a:endParaRPr lang="en-US" sz="690" dirty="0"/>
          </a:p>
        </p:txBody>
      </p:sp>
      <p:sp>
        <p:nvSpPr>
          <p:cNvPr id="16" name="Text 14"/>
          <p:cNvSpPr/>
          <p:nvPr/>
        </p:nvSpPr>
        <p:spPr>
          <a:xfrm>
            <a:off x="1143000" y="3072384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0" b="1" dirty="0">
                <a:solidFill>
                  <a:srgbClr val="211E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MyMeG - About / Highlights</a:t>
            </a:r>
            <a:endParaRPr lang="en-US" sz="790" dirty="0"/>
          </a:p>
        </p:txBody>
      </p:sp>
      <p:sp>
        <p:nvSpPr>
          <p:cNvPr id="17" name="Text 15"/>
          <p:cNvSpPr/>
          <p:nvPr/>
        </p:nvSpPr>
        <p:spPr>
          <a:xfrm>
            <a:off x="4507992" y="3072384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b="1" dirty="0">
                <a:solidFill>
                  <a:srgbClr val="3E5D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Web · n/a</a:t>
            </a:r>
            <a:endParaRPr lang="en-US" sz="620" dirty="0"/>
          </a:p>
        </p:txBody>
      </p:sp>
      <p:sp>
        <p:nvSpPr>
          <p:cNvPr id="18" name="Text 16">
            <a:hlinkClick r:id="rId3" tooltip=""/>
          </p:cNvPr>
          <p:cNvSpPr/>
          <p:nvPr/>
        </p:nvSpPr>
        <p:spPr>
          <a:xfrm>
            <a:off x="5806440" y="3072384"/>
            <a:ext cx="5257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90" u="sng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https://mymeg.meghalaya.gov.in/highlights/</a:t>
            </a:r>
            <a:endParaRPr lang="en-US" sz="590" dirty="0"/>
          </a:p>
        </p:txBody>
      </p:sp>
      <p:sp>
        <p:nvSpPr>
          <p:cNvPr id="19" name="Shape 17"/>
          <p:cNvSpPr/>
          <p:nvPr/>
        </p:nvSpPr>
        <p:spPr>
          <a:xfrm>
            <a:off x="713232" y="3447288"/>
            <a:ext cx="10378440" cy="0"/>
          </a:xfrm>
          <a:prstGeom prst="line">
            <a:avLst/>
          </a:prstGeom>
          <a:noFill/>
          <a:ln w="5715">
            <a:solidFill>
              <a:srgbClr val="D8D0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" y="3666744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0" b="1" dirty="0">
                <a:solidFill>
                  <a:srgbClr val="6B4A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S04</a:t>
            </a:r>
            <a:endParaRPr lang="en-US" sz="690" dirty="0"/>
          </a:p>
        </p:txBody>
      </p:sp>
      <p:sp>
        <p:nvSpPr>
          <p:cNvPr id="21" name="Text 19"/>
          <p:cNvSpPr/>
          <p:nvPr/>
        </p:nvSpPr>
        <p:spPr>
          <a:xfrm>
            <a:off x="1143000" y="3648456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0" b="1" dirty="0">
                <a:solidFill>
                  <a:srgbClr val="211E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Government of Meghalaya - 78th Independence Day 2024, Chief Minister Speech</a:t>
            </a:r>
            <a:endParaRPr lang="en-US" sz="790" dirty="0"/>
          </a:p>
        </p:txBody>
      </p:sp>
      <p:sp>
        <p:nvSpPr>
          <p:cNvPr id="22" name="Text 20"/>
          <p:cNvSpPr/>
          <p:nvPr/>
        </p:nvSpPr>
        <p:spPr>
          <a:xfrm>
            <a:off x="4507992" y="3648456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b="1" dirty="0">
                <a:solidFill>
                  <a:srgbClr val="3E5D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PDF · printed p. 9</a:t>
            </a:r>
            <a:endParaRPr lang="en-US" sz="620" dirty="0"/>
          </a:p>
        </p:txBody>
      </p:sp>
      <p:sp>
        <p:nvSpPr>
          <p:cNvPr id="23" name="Text 21">
            <a:hlinkClick r:id="rId4" tooltip=""/>
          </p:cNvPr>
          <p:cNvSpPr/>
          <p:nvPr/>
        </p:nvSpPr>
        <p:spPr>
          <a:xfrm>
            <a:off x="5806440" y="3648456"/>
            <a:ext cx="5257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90" u="sng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https://www.meghalaya.gov.in/meghalaya/sites/default/files/press_release/78th_Independence_Day_2024_HCM_Speech.pdf</a:t>
            </a:r>
            <a:endParaRPr lang="en-US" sz="590" dirty="0"/>
          </a:p>
        </p:txBody>
      </p:sp>
      <p:sp>
        <p:nvSpPr>
          <p:cNvPr id="24" name="Shape 22"/>
          <p:cNvSpPr/>
          <p:nvPr/>
        </p:nvSpPr>
        <p:spPr>
          <a:xfrm>
            <a:off x="713232" y="4023360"/>
            <a:ext cx="10378440" cy="0"/>
          </a:xfrm>
          <a:prstGeom prst="line">
            <a:avLst/>
          </a:prstGeom>
          <a:noFill/>
          <a:ln w="5715">
            <a:solidFill>
              <a:srgbClr val="D8D0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3232" y="4242816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0" b="1" dirty="0">
                <a:solidFill>
                  <a:srgbClr val="6B4A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S05</a:t>
            </a:r>
            <a:endParaRPr lang="en-US" sz="690" dirty="0"/>
          </a:p>
        </p:txBody>
      </p:sp>
      <p:sp>
        <p:nvSpPr>
          <p:cNvPr id="26" name="Text 24"/>
          <p:cNvSpPr/>
          <p:nvPr/>
        </p:nvSpPr>
        <p:spPr>
          <a:xfrm>
            <a:off x="1143000" y="4224528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0" b="1" dirty="0">
                <a:solidFill>
                  <a:srgbClr val="211E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Meghalaya State Language Act, 2005</a:t>
            </a:r>
            <a:endParaRPr lang="en-US" sz="790" dirty="0"/>
          </a:p>
        </p:txBody>
      </p:sp>
      <p:sp>
        <p:nvSpPr>
          <p:cNvPr id="27" name="Text 25"/>
          <p:cNvSpPr/>
          <p:nvPr/>
        </p:nvSpPr>
        <p:spPr>
          <a:xfrm>
            <a:off x="4507992" y="4224528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b="1" dirty="0">
                <a:solidFill>
                  <a:srgbClr val="3E5D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PDF · PDF p. 2 / Gazette p. 364</a:t>
            </a:r>
            <a:endParaRPr lang="en-US" sz="620" dirty="0"/>
          </a:p>
        </p:txBody>
      </p:sp>
      <p:sp>
        <p:nvSpPr>
          <p:cNvPr id="28" name="Text 26">
            <a:hlinkClick r:id="rId5" tooltip=""/>
          </p:cNvPr>
          <p:cNvSpPr/>
          <p:nvPr/>
        </p:nvSpPr>
        <p:spPr>
          <a:xfrm>
            <a:off x="5806440" y="4224528"/>
            <a:ext cx="5257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90" u="sng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https://homepolitical.meghalaya.gov.in/pdf/acts/meghalaya_language_act-2005.pdf</a:t>
            </a:r>
            <a:endParaRPr lang="en-US" sz="590" dirty="0"/>
          </a:p>
        </p:txBody>
      </p:sp>
      <p:sp>
        <p:nvSpPr>
          <p:cNvPr id="29" name="Shape 27"/>
          <p:cNvSpPr/>
          <p:nvPr/>
        </p:nvSpPr>
        <p:spPr>
          <a:xfrm>
            <a:off x="713232" y="4599432"/>
            <a:ext cx="10378440" cy="0"/>
          </a:xfrm>
          <a:prstGeom prst="line">
            <a:avLst/>
          </a:prstGeom>
          <a:noFill/>
          <a:ln w="5715">
            <a:solidFill>
              <a:srgbClr val="D8D0D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3232" y="4818888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0" b="1" dirty="0">
                <a:solidFill>
                  <a:srgbClr val="6B4A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S06</a:t>
            </a:r>
            <a:endParaRPr lang="en-US" sz="690" dirty="0"/>
          </a:p>
        </p:txBody>
      </p:sp>
      <p:sp>
        <p:nvSpPr>
          <p:cNvPr id="31" name="Text 29"/>
          <p:cNvSpPr/>
          <p:nvPr/>
        </p:nvSpPr>
        <p:spPr>
          <a:xfrm>
            <a:off x="1143000" y="4800600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0" b="1" dirty="0">
                <a:solidFill>
                  <a:srgbClr val="211E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Draft Meghalaya Youth Policy 2021</a:t>
            </a:r>
            <a:endParaRPr lang="en-US" sz="790" dirty="0"/>
          </a:p>
        </p:txBody>
      </p:sp>
      <p:sp>
        <p:nvSpPr>
          <p:cNvPr id="32" name="Text 30"/>
          <p:cNvSpPr/>
          <p:nvPr/>
        </p:nvSpPr>
        <p:spPr>
          <a:xfrm>
            <a:off x="4507992" y="4800600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b="1" dirty="0">
                <a:solidFill>
                  <a:srgbClr val="3E5D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PDF · printed pp. 6 and 8</a:t>
            </a:r>
            <a:endParaRPr lang="en-US" sz="620" dirty="0"/>
          </a:p>
        </p:txBody>
      </p:sp>
      <p:sp>
        <p:nvSpPr>
          <p:cNvPr id="33" name="Text 31">
            <a:hlinkClick r:id="rId6" tooltip=""/>
          </p:cNvPr>
          <p:cNvSpPr/>
          <p:nvPr/>
        </p:nvSpPr>
        <p:spPr>
          <a:xfrm>
            <a:off x="5806440" y="4800600"/>
            <a:ext cx="5257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90" u="sng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https://meghalaya.gov.in/sites/default/files/documents/Meghalaya_Youth_Policy_2021_0.pdf</a:t>
            </a:r>
            <a:endParaRPr lang="en-US" sz="590" dirty="0"/>
          </a:p>
        </p:txBody>
      </p:sp>
      <p:sp>
        <p:nvSpPr>
          <p:cNvPr id="34" name="Shape 32"/>
          <p:cNvSpPr/>
          <p:nvPr/>
        </p:nvSpPr>
        <p:spPr>
          <a:xfrm>
            <a:off x="713232" y="5175504"/>
            <a:ext cx="10378440" cy="0"/>
          </a:xfrm>
          <a:prstGeom prst="line">
            <a:avLst/>
          </a:prstGeom>
          <a:noFill/>
          <a:ln w="5715">
            <a:solidFill>
              <a:srgbClr val="D8D0D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3232" y="5394960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0" b="1" dirty="0">
                <a:solidFill>
                  <a:srgbClr val="6B4A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S07</a:t>
            </a:r>
            <a:endParaRPr lang="en-US" sz="690" dirty="0"/>
          </a:p>
        </p:txBody>
      </p:sp>
      <p:sp>
        <p:nvSpPr>
          <p:cNvPr id="36" name="Text 34"/>
          <p:cNvSpPr/>
          <p:nvPr/>
        </p:nvSpPr>
        <p:spPr>
          <a:xfrm>
            <a:off x="1143000" y="5376672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0" b="1" dirty="0">
                <a:solidFill>
                  <a:srgbClr val="211E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 - Indian Telecom Services Yearly Performance Indicators 2024-25</a:t>
            </a:r>
            <a:endParaRPr lang="en-US" sz="790" dirty="0"/>
          </a:p>
        </p:txBody>
      </p:sp>
      <p:sp>
        <p:nvSpPr>
          <p:cNvPr id="37" name="Text 35"/>
          <p:cNvSpPr/>
          <p:nvPr/>
        </p:nvSpPr>
        <p:spPr>
          <a:xfrm>
            <a:off x="4507992" y="5376672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b="1" dirty="0">
                <a:solidFill>
                  <a:srgbClr val="3E5D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PDF · report p. 67 / PDF p. 68</a:t>
            </a:r>
            <a:endParaRPr lang="en-US" sz="620" dirty="0"/>
          </a:p>
        </p:txBody>
      </p:sp>
      <p:sp>
        <p:nvSpPr>
          <p:cNvPr id="38" name="Text 36">
            <a:hlinkClick r:id="rId7" tooltip=""/>
          </p:cNvPr>
          <p:cNvSpPr/>
          <p:nvPr/>
        </p:nvSpPr>
        <p:spPr>
          <a:xfrm>
            <a:off x="5806440" y="5376672"/>
            <a:ext cx="5257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90" u="sng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https://www.trai.gov.in/sites/default/files/2025-07/YIR_08072025_0.pdf</a:t>
            </a:r>
            <a:endParaRPr lang="en-US" sz="590" dirty="0"/>
          </a:p>
        </p:txBody>
      </p:sp>
      <p:sp>
        <p:nvSpPr>
          <p:cNvPr id="39" name="Shape 37"/>
          <p:cNvSpPr/>
          <p:nvPr/>
        </p:nvSpPr>
        <p:spPr>
          <a:xfrm>
            <a:off x="713232" y="5751576"/>
            <a:ext cx="10378440" cy="0"/>
          </a:xfrm>
          <a:prstGeom prst="line">
            <a:avLst/>
          </a:prstGeom>
          <a:noFill/>
          <a:ln w="5715">
            <a:solidFill>
              <a:srgbClr val="D8D0D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863840" y="6574536"/>
            <a:ext cx="3154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70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Not commissioned by or affiliated with Grant Thornton Bharat.</a:t>
            </a:r>
            <a:endParaRPr lang="en-US" sz="6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6616A"/>
                </a:solidFill>
                <a:latin typeface="Aptos Mono"/>
                <a:ea typeface="Aptos Mono"/>
                <a:cs typeface="Aptos Mono"/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20" kern="0" dirty="0">
                <a:solidFill>
                  <a:srgbClr val="6B4A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APPENDIX / A24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 source register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1408176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Additional public sources plus my own evidence.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713232" y="1938528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0" b="1" dirty="0">
                <a:solidFill>
                  <a:srgbClr val="6B4A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S08</a:t>
            </a:r>
            <a:endParaRPr lang="en-US" sz="690" dirty="0"/>
          </a:p>
        </p:txBody>
      </p:sp>
      <p:sp>
        <p:nvSpPr>
          <p:cNvPr id="6" name="Text 4"/>
          <p:cNvSpPr/>
          <p:nvPr/>
        </p:nvSpPr>
        <p:spPr>
          <a:xfrm>
            <a:off x="1143000" y="1920240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0" b="1" dirty="0">
                <a:solidFill>
                  <a:srgbClr val="211E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Information &amp; Public Relations Department, Government of Meghalaya</a:t>
            </a:r>
            <a:endParaRPr lang="en-US" sz="790" dirty="0"/>
          </a:p>
        </p:txBody>
      </p:sp>
      <p:sp>
        <p:nvSpPr>
          <p:cNvPr id="7" name="Text 5"/>
          <p:cNvSpPr/>
          <p:nvPr/>
        </p:nvSpPr>
        <p:spPr>
          <a:xfrm>
            <a:off x="4507992" y="1920240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b="1" dirty="0">
                <a:solidFill>
                  <a:srgbClr val="3E5D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Web · n/a</a:t>
            </a:r>
            <a:endParaRPr lang="en-US" sz="620" dirty="0"/>
          </a:p>
        </p:txBody>
      </p:sp>
      <p:sp>
        <p:nvSpPr>
          <p:cNvPr id="8" name="Text 6">
            <a:hlinkClick r:id="rId1" tooltip=""/>
          </p:cNvPr>
          <p:cNvSpPr/>
          <p:nvPr/>
        </p:nvSpPr>
        <p:spPr>
          <a:xfrm>
            <a:off x="5806440" y="1920240"/>
            <a:ext cx="5257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90" u="sng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https://meghalaya.gov.in/index.php/dept/25</a:t>
            </a:r>
            <a:endParaRPr lang="en-US" sz="590" dirty="0"/>
          </a:p>
        </p:txBody>
      </p:sp>
      <p:sp>
        <p:nvSpPr>
          <p:cNvPr id="9" name="Shape 7"/>
          <p:cNvSpPr/>
          <p:nvPr/>
        </p:nvSpPr>
        <p:spPr>
          <a:xfrm>
            <a:off x="713232" y="2295144"/>
            <a:ext cx="10378440" cy="0"/>
          </a:xfrm>
          <a:prstGeom prst="line">
            <a:avLst/>
          </a:prstGeom>
          <a:noFill/>
          <a:ln w="5715">
            <a:solidFill>
              <a:srgbClr val="D8D0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514600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0" b="1" dirty="0">
                <a:solidFill>
                  <a:srgbClr val="6B4A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S09</a:t>
            </a:r>
            <a:endParaRPr lang="en-US" sz="690" dirty="0"/>
          </a:p>
        </p:txBody>
      </p:sp>
      <p:sp>
        <p:nvSpPr>
          <p:cNvPr id="11" name="Text 9"/>
          <p:cNvSpPr/>
          <p:nvPr/>
        </p:nvSpPr>
        <p:spPr>
          <a:xfrm>
            <a:off x="1143000" y="2496312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0" b="1" dirty="0">
                <a:solidFill>
                  <a:srgbClr val="211E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MPOWER Draft Environmental and Social Commitment Plan</a:t>
            </a:r>
            <a:endParaRPr lang="en-US" sz="790" dirty="0"/>
          </a:p>
        </p:txBody>
      </p:sp>
      <p:sp>
        <p:nvSpPr>
          <p:cNvPr id="12" name="Text 10"/>
          <p:cNvSpPr/>
          <p:nvPr/>
        </p:nvSpPr>
        <p:spPr>
          <a:xfrm>
            <a:off x="4507992" y="2496312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b="1" dirty="0">
                <a:solidFill>
                  <a:srgbClr val="3E5D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PDF · printed p. 6</a:t>
            </a:r>
            <a:endParaRPr lang="en-US" sz="620" dirty="0"/>
          </a:p>
        </p:txBody>
      </p:sp>
      <p:sp>
        <p:nvSpPr>
          <p:cNvPr id="13" name="Text 11">
            <a:hlinkClick r:id="rId2" tooltip=""/>
          </p:cNvPr>
          <p:cNvSpPr/>
          <p:nvPr/>
        </p:nvSpPr>
        <p:spPr>
          <a:xfrm>
            <a:off x="5806440" y="2496312"/>
            <a:ext cx="5257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90" u="sng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https://meghalaya.gov.in/meghalaya/sites/default/files/documents/MPOWER_Draft_ESCP_22_Jan_2024.pdf</a:t>
            </a:r>
            <a:endParaRPr lang="en-US" sz="590" dirty="0"/>
          </a:p>
        </p:txBody>
      </p:sp>
      <p:sp>
        <p:nvSpPr>
          <p:cNvPr id="14" name="Shape 12"/>
          <p:cNvSpPr/>
          <p:nvPr/>
        </p:nvSpPr>
        <p:spPr>
          <a:xfrm>
            <a:off x="713232" y="2871216"/>
            <a:ext cx="10378440" cy="0"/>
          </a:xfrm>
          <a:prstGeom prst="line">
            <a:avLst/>
          </a:prstGeom>
          <a:noFill/>
          <a:ln w="5715">
            <a:solidFill>
              <a:srgbClr val="D8D0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3090672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0" b="1" dirty="0">
                <a:solidFill>
                  <a:srgbClr val="6B4A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S10</a:t>
            </a:r>
            <a:endParaRPr lang="en-US" sz="690" dirty="0"/>
          </a:p>
        </p:txBody>
      </p:sp>
      <p:sp>
        <p:nvSpPr>
          <p:cNvPr id="16" name="Text 14"/>
          <p:cNvSpPr/>
          <p:nvPr/>
        </p:nvSpPr>
        <p:spPr>
          <a:xfrm>
            <a:off x="1143000" y="3072384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0" b="1" dirty="0">
                <a:solidFill>
                  <a:srgbClr val="211E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Government of Meghalaya - Public consultation notice on Draft IT/ITeS Policy 2024</a:t>
            </a:r>
            <a:endParaRPr lang="en-US" sz="790" dirty="0"/>
          </a:p>
        </p:txBody>
      </p:sp>
      <p:sp>
        <p:nvSpPr>
          <p:cNvPr id="17" name="Text 15"/>
          <p:cNvSpPr/>
          <p:nvPr/>
        </p:nvSpPr>
        <p:spPr>
          <a:xfrm>
            <a:off x="4507992" y="3072384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b="1" dirty="0">
                <a:solidFill>
                  <a:srgbClr val="3E5D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Web · n/a</a:t>
            </a:r>
            <a:endParaRPr lang="en-US" sz="620" dirty="0"/>
          </a:p>
        </p:txBody>
      </p:sp>
      <p:sp>
        <p:nvSpPr>
          <p:cNvPr id="18" name="Text 16">
            <a:hlinkClick r:id="rId3" tooltip=""/>
          </p:cNvPr>
          <p:cNvSpPr/>
          <p:nvPr/>
        </p:nvSpPr>
        <p:spPr>
          <a:xfrm>
            <a:off x="5806440" y="3072384"/>
            <a:ext cx="5257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90" u="sng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https://meghalaya.gov.in/index.php/documents/content/46179</a:t>
            </a:r>
            <a:endParaRPr lang="en-US" sz="590" dirty="0"/>
          </a:p>
        </p:txBody>
      </p:sp>
      <p:sp>
        <p:nvSpPr>
          <p:cNvPr id="19" name="Shape 17"/>
          <p:cNvSpPr/>
          <p:nvPr/>
        </p:nvSpPr>
        <p:spPr>
          <a:xfrm>
            <a:off x="713232" y="3447288"/>
            <a:ext cx="10378440" cy="0"/>
          </a:xfrm>
          <a:prstGeom prst="line">
            <a:avLst/>
          </a:prstGeom>
          <a:noFill/>
          <a:ln w="5715">
            <a:solidFill>
              <a:srgbClr val="D8D0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" y="3666744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0" b="1" dirty="0">
                <a:solidFill>
                  <a:srgbClr val="6B4A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S11</a:t>
            </a:r>
            <a:endParaRPr lang="en-US" sz="690" dirty="0"/>
          </a:p>
        </p:txBody>
      </p:sp>
      <p:sp>
        <p:nvSpPr>
          <p:cNvPr id="21" name="Text 19"/>
          <p:cNvSpPr/>
          <p:nvPr/>
        </p:nvSpPr>
        <p:spPr>
          <a:xfrm>
            <a:off x="1143000" y="3648456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0" b="1" dirty="0">
                <a:solidFill>
                  <a:srgbClr val="211E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NITI Aayog &amp; MDoNER - North Eastern Region District SDG Index 2023-24</a:t>
            </a:r>
            <a:endParaRPr lang="en-US" sz="790" dirty="0"/>
          </a:p>
        </p:txBody>
      </p:sp>
      <p:sp>
        <p:nvSpPr>
          <p:cNvPr id="22" name="Text 20"/>
          <p:cNvSpPr/>
          <p:nvPr/>
        </p:nvSpPr>
        <p:spPr>
          <a:xfrm>
            <a:off x="4507992" y="3648456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b="1" dirty="0">
                <a:solidFill>
                  <a:srgbClr val="3E5D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Web/PDF · report available from source page</a:t>
            </a:r>
            <a:endParaRPr lang="en-US" sz="620" dirty="0"/>
          </a:p>
        </p:txBody>
      </p:sp>
      <p:sp>
        <p:nvSpPr>
          <p:cNvPr id="23" name="Text 21">
            <a:hlinkClick r:id="rId4" tooltip=""/>
          </p:cNvPr>
          <p:cNvSpPr/>
          <p:nvPr/>
        </p:nvSpPr>
        <p:spPr>
          <a:xfrm>
            <a:off x="5806440" y="3648456"/>
            <a:ext cx="5257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90" u="sng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https://www.niti.gov.in/node/1708</a:t>
            </a:r>
            <a:endParaRPr lang="en-US" sz="590" dirty="0"/>
          </a:p>
        </p:txBody>
      </p:sp>
      <p:sp>
        <p:nvSpPr>
          <p:cNvPr id="24" name="Shape 22"/>
          <p:cNvSpPr/>
          <p:nvPr/>
        </p:nvSpPr>
        <p:spPr>
          <a:xfrm>
            <a:off x="713232" y="4023360"/>
            <a:ext cx="10378440" cy="0"/>
          </a:xfrm>
          <a:prstGeom prst="line">
            <a:avLst/>
          </a:prstGeom>
          <a:noFill/>
          <a:ln w="5715">
            <a:solidFill>
              <a:srgbClr val="D8D0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3232" y="4242816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0" b="1" dirty="0">
                <a:solidFill>
                  <a:srgbClr val="6B4A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S12</a:t>
            </a:r>
            <a:endParaRPr lang="en-US" sz="690" dirty="0"/>
          </a:p>
        </p:txBody>
      </p:sp>
      <p:sp>
        <p:nvSpPr>
          <p:cNvPr id="26" name="Text 24"/>
          <p:cNvSpPr/>
          <p:nvPr/>
        </p:nvSpPr>
        <p:spPr>
          <a:xfrm>
            <a:off x="1143000" y="4224528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0" b="1" dirty="0">
                <a:solidFill>
                  <a:srgbClr val="211E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Government of Meghalaya - Meghalaya Next: A Report of the Citizen</a:t>
            </a:r>
            <a:endParaRPr lang="en-US" sz="790" dirty="0"/>
          </a:p>
        </p:txBody>
      </p:sp>
      <p:sp>
        <p:nvSpPr>
          <p:cNvPr id="27" name="Text 25"/>
          <p:cNvSpPr/>
          <p:nvPr/>
        </p:nvSpPr>
        <p:spPr>
          <a:xfrm>
            <a:off x="4507992" y="4224528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b="1" dirty="0">
                <a:solidFill>
                  <a:srgbClr val="3E5D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Web landing page · n/a</a:t>
            </a:r>
            <a:endParaRPr lang="en-US" sz="620" dirty="0"/>
          </a:p>
        </p:txBody>
      </p:sp>
      <p:sp>
        <p:nvSpPr>
          <p:cNvPr id="28" name="Text 26">
            <a:hlinkClick r:id="rId5" tooltip=""/>
          </p:cNvPr>
          <p:cNvSpPr/>
          <p:nvPr/>
        </p:nvSpPr>
        <p:spPr>
          <a:xfrm>
            <a:off x="5806440" y="4224528"/>
            <a:ext cx="5257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90" u="sng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https://www.meghalaya.gov.in/documents/content/46466</a:t>
            </a:r>
            <a:endParaRPr lang="en-US" sz="590" dirty="0"/>
          </a:p>
        </p:txBody>
      </p:sp>
      <p:sp>
        <p:nvSpPr>
          <p:cNvPr id="29" name="Shape 27"/>
          <p:cNvSpPr/>
          <p:nvPr/>
        </p:nvSpPr>
        <p:spPr>
          <a:xfrm>
            <a:off x="713232" y="4599432"/>
            <a:ext cx="10378440" cy="0"/>
          </a:xfrm>
          <a:prstGeom prst="line">
            <a:avLst/>
          </a:prstGeom>
          <a:noFill/>
          <a:ln w="5715">
            <a:solidFill>
              <a:srgbClr val="D8D0D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3232" y="4818888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0" b="1" dirty="0">
                <a:solidFill>
                  <a:srgbClr val="6B4A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S13</a:t>
            </a:r>
            <a:endParaRPr lang="en-US" sz="690" dirty="0"/>
          </a:p>
        </p:txBody>
      </p:sp>
      <p:sp>
        <p:nvSpPr>
          <p:cNvPr id="31" name="Text 29"/>
          <p:cNvSpPr/>
          <p:nvPr/>
        </p:nvSpPr>
        <p:spPr>
          <a:xfrm>
            <a:off x="1143000" y="4800600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0" b="1" dirty="0">
                <a:solidFill>
                  <a:srgbClr val="211E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CV dataset - src/data/resume.ts</a:t>
            </a:r>
            <a:endParaRPr lang="en-US" sz="790" dirty="0"/>
          </a:p>
        </p:txBody>
      </p:sp>
      <p:sp>
        <p:nvSpPr>
          <p:cNvPr id="32" name="Text 30"/>
          <p:cNvSpPr/>
          <p:nvPr/>
        </p:nvSpPr>
        <p:spPr>
          <a:xfrm>
            <a:off x="4507992" y="4800600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b="1" dirty="0">
                <a:solidFill>
                  <a:srgbClr val="3E5D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GitHub source · n/a</a:t>
            </a:r>
            <a:endParaRPr lang="en-US" sz="620" dirty="0"/>
          </a:p>
        </p:txBody>
      </p:sp>
      <p:sp>
        <p:nvSpPr>
          <p:cNvPr id="33" name="Text 31">
            <a:hlinkClick r:id="rId6" tooltip=""/>
          </p:cNvPr>
          <p:cNvSpPr/>
          <p:nvPr/>
        </p:nvSpPr>
        <p:spPr>
          <a:xfrm>
            <a:off x="5806440" y="4800600"/>
            <a:ext cx="5257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90" u="sng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https://github.com/ManashProtimDeori/Manash-Protim-Deori/blob/main/src/data/resume.ts</a:t>
            </a:r>
            <a:endParaRPr lang="en-US" sz="590" dirty="0"/>
          </a:p>
        </p:txBody>
      </p:sp>
      <p:sp>
        <p:nvSpPr>
          <p:cNvPr id="34" name="Shape 32"/>
          <p:cNvSpPr/>
          <p:nvPr/>
        </p:nvSpPr>
        <p:spPr>
          <a:xfrm>
            <a:off x="713232" y="5175504"/>
            <a:ext cx="10378440" cy="0"/>
          </a:xfrm>
          <a:prstGeom prst="line">
            <a:avLst/>
          </a:prstGeom>
          <a:noFill/>
          <a:ln w="5715">
            <a:solidFill>
              <a:srgbClr val="D8D0D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3232" y="5394960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0" b="1" dirty="0">
                <a:solidFill>
                  <a:srgbClr val="6B4A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S14</a:t>
            </a:r>
            <a:endParaRPr lang="en-US" sz="690" dirty="0"/>
          </a:p>
        </p:txBody>
      </p:sp>
      <p:sp>
        <p:nvSpPr>
          <p:cNvPr id="36" name="Text 34"/>
          <p:cNvSpPr/>
          <p:nvPr/>
        </p:nvSpPr>
        <p:spPr>
          <a:xfrm>
            <a:off x="1143000" y="5376672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0" b="1" dirty="0">
                <a:solidFill>
                  <a:srgbClr val="211E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portfolio - résumé page</a:t>
            </a:r>
            <a:endParaRPr lang="en-US" sz="790" dirty="0"/>
          </a:p>
        </p:txBody>
      </p:sp>
      <p:sp>
        <p:nvSpPr>
          <p:cNvPr id="37" name="Text 35"/>
          <p:cNvSpPr/>
          <p:nvPr/>
        </p:nvSpPr>
        <p:spPr>
          <a:xfrm>
            <a:off x="4507992" y="5376672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b="1" dirty="0">
                <a:solidFill>
                  <a:srgbClr val="3E5D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Web · n/a</a:t>
            </a:r>
            <a:endParaRPr lang="en-US" sz="620" dirty="0"/>
          </a:p>
        </p:txBody>
      </p:sp>
      <p:sp>
        <p:nvSpPr>
          <p:cNvPr id="38" name="Text 36">
            <a:hlinkClick r:id="rId7" tooltip=""/>
          </p:cNvPr>
          <p:cNvSpPr/>
          <p:nvPr/>
        </p:nvSpPr>
        <p:spPr>
          <a:xfrm>
            <a:off x="5806440" y="5376672"/>
            <a:ext cx="5257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90" u="sng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https://manash-protim-deori.vercel.app/resume</a:t>
            </a:r>
            <a:endParaRPr lang="en-US" sz="590" dirty="0"/>
          </a:p>
        </p:txBody>
      </p:sp>
      <p:sp>
        <p:nvSpPr>
          <p:cNvPr id="39" name="Shape 37"/>
          <p:cNvSpPr/>
          <p:nvPr/>
        </p:nvSpPr>
        <p:spPr>
          <a:xfrm>
            <a:off x="713232" y="5751576"/>
            <a:ext cx="10378440" cy="0"/>
          </a:xfrm>
          <a:prstGeom prst="line">
            <a:avLst/>
          </a:prstGeom>
          <a:noFill/>
          <a:ln w="5715">
            <a:solidFill>
              <a:srgbClr val="D8D0D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863840" y="6574536"/>
            <a:ext cx="3154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70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Not commissioned by or affiliated with Grant Thornton Bharat.</a:t>
            </a:r>
            <a:endParaRPr lang="en-US" sz="6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6616A"/>
                </a:solidFill>
                <a:latin typeface="Aptos Mono"/>
                <a:ea typeface="Aptos Mono"/>
                <a:cs typeface="Aptos Mono"/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20" kern="0" dirty="0">
                <a:solidFill>
                  <a:srgbClr val="6B4A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APPENDIX / A25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I would use this deck in a conversation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1408176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would present the core in 10-12 minutes, then use this appendix to defend the evidence rather than overload the main story.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58368" y="2121408"/>
            <a:ext cx="3364992" cy="1389888"/>
          </a:xfrm>
          <a:prstGeom prst="roundRect">
            <a:avLst>
              <a:gd name="adj" fmla="val 7895"/>
            </a:avLst>
          </a:prstGeom>
          <a:solidFill>
            <a:srgbClr val="FFFEFC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258568"/>
            <a:ext cx="30358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spc="70" kern="0" dirty="0">
                <a:solidFill>
                  <a:srgbClr val="6B4A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22960" y="2505456"/>
            <a:ext cx="3035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WITH THE THESIS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822960" y="2953512"/>
            <a:ext cx="303580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would ask whether the team also sees communication as part of citizen service delivery.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279392" y="2121408"/>
            <a:ext cx="3364992" cy="1389888"/>
          </a:xfrm>
          <a:prstGeom prst="roundRect">
            <a:avLst>
              <a:gd name="adj" fmla="val 7895"/>
            </a:avLst>
          </a:prstGeom>
          <a:solidFill>
            <a:srgbClr val="FFFEFC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43984" y="2258568"/>
            <a:ext cx="30358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spc="70" kern="0" dirty="0">
                <a:solidFill>
                  <a:srgbClr val="3E5D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443984" y="2505456"/>
            <a:ext cx="3035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MY ASSUMPTIONS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4443984" y="2953512"/>
            <a:ext cx="303580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would invite corrections on district, channel and stakeholder realities I cannot learn from desk research.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900416" y="2121408"/>
            <a:ext cx="3364992" cy="1389888"/>
          </a:xfrm>
          <a:prstGeom prst="roundRect">
            <a:avLst>
              <a:gd name="adj" fmla="val 7895"/>
            </a:avLst>
          </a:prstGeom>
          <a:solidFill>
            <a:srgbClr val="FFFEFC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65008" y="2258568"/>
            <a:ext cx="30358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spc="70" kern="0" dirty="0">
                <a:solidFill>
                  <a:srgbClr val="B28A5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8065008" y="2505456"/>
            <a:ext cx="3035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MY WORK</a:t>
            </a:r>
            <a:endParaRPr lang="en-US" sz="1420" dirty="0"/>
          </a:p>
        </p:txBody>
      </p:sp>
      <p:sp>
        <p:nvSpPr>
          <p:cNvPr id="16" name="Text 14"/>
          <p:cNvSpPr/>
          <p:nvPr/>
        </p:nvSpPr>
        <p:spPr>
          <a:xfrm>
            <a:off x="8065008" y="2953512"/>
            <a:ext cx="303580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a figure or insight is challenged, I can trace it to the exact source and page in this appendix.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58368" y="3730752"/>
            <a:ext cx="3364992" cy="1389888"/>
          </a:xfrm>
          <a:prstGeom prst="roundRect">
            <a:avLst>
              <a:gd name="adj" fmla="val 7895"/>
            </a:avLst>
          </a:prstGeom>
          <a:solidFill>
            <a:srgbClr val="FFFEFC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867912"/>
            <a:ext cx="30358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spc="70" kern="0" dirty="0">
                <a:solidFill>
                  <a:srgbClr val="6B4A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4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822960" y="4114800"/>
            <a:ext cx="3035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 TO THE ROLE</a:t>
            </a:r>
            <a:endParaRPr lang="en-US" sz="1420" dirty="0"/>
          </a:p>
        </p:txBody>
      </p:sp>
      <p:sp>
        <p:nvSpPr>
          <p:cNvPr id="20" name="Text 18"/>
          <p:cNvSpPr/>
          <p:nvPr/>
        </p:nvSpPr>
        <p:spPr>
          <a:xfrm>
            <a:off x="822960" y="4562856"/>
            <a:ext cx="303580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would move quickly from regional context to the operating systems I could build and run.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279392" y="3730752"/>
            <a:ext cx="3364992" cy="1389888"/>
          </a:xfrm>
          <a:prstGeom prst="roundRect">
            <a:avLst>
              <a:gd name="adj" fmla="val 7895"/>
            </a:avLst>
          </a:prstGeom>
          <a:solidFill>
            <a:srgbClr val="FFFEFC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43984" y="3867912"/>
            <a:ext cx="30358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spc="70" kern="0" dirty="0">
                <a:solidFill>
                  <a:srgbClr val="3E5D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5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4443984" y="4114800"/>
            <a:ext cx="3035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THE BOUNDARY CLEAR</a:t>
            </a:r>
            <a:endParaRPr lang="en-US" sz="1420" dirty="0"/>
          </a:p>
        </p:txBody>
      </p:sp>
      <p:sp>
        <p:nvSpPr>
          <p:cNvPr id="24" name="Text 22"/>
          <p:cNvSpPr/>
          <p:nvPr/>
        </p:nvSpPr>
        <p:spPr>
          <a:xfrm>
            <a:off x="4443984" y="4562856"/>
            <a:ext cx="303580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my independent work; I do not claim knowledge of Grant Thornton or client-confidential processes.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900416" y="3730752"/>
            <a:ext cx="3364992" cy="1389888"/>
          </a:xfrm>
          <a:prstGeom prst="roundRect">
            <a:avLst>
              <a:gd name="adj" fmla="val 7895"/>
            </a:avLst>
          </a:prstGeom>
          <a:solidFill>
            <a:srgbClr val="FFFEFC"/>
          </a:solidFill>
          <a:ln w="10160">
            <a:solidFill>
              <a:srgbClr val="D8D0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65008" y="3867912"/>
            <a:ext cx="30358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spc="70" kern="0" dirty="0">
                <a:solidFill>
                  <a:srgbClr val="B28A5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6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8065008" y="4114800"/>
            <a:ext cx="3035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2E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 WITH CONTRIBUTION</a:t>
            </a:r>
            <a:endParaRPr lang="en-US" sz="1420" dirty="0"/>
          </a:p>
        </p:txBody>
      </p:sp>
      <p:sp>
        <p:nvSpPr>
          <p:cNvPr id="28" name="Text 26"/>
          <p:cNvSpPr/>
          <p:nvPr/>
        </p:nvSpPr>
        <p:spPr>
          <a:xfrm>
            <a:off x="8065008" y="4562856"/>
            <a:ext cx="303580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6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want the discussion to be about what I can help the team execute better - not about how much research I can display.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863840" y="6574536"/>
            <a:ext cx="3154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70" dirty="0">
                <a:solidFill>
                  <a:srgbClr val="66616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Not commissioned by or affiliated with Grant Thornton Bharat.</a:t>
            </a:r>
            <a:endParaRPr lang="en-US" sz="6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6616A"/>
                </a:solidFill>
                <a:latin typeface="Aptos Mono"/>
                <a:ea typeface="Aptos Mono"/>
                <a:cs typeface="Aptos Mono"/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My independent role-specific work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I would communicate Meghalaya</dc:title>
  <dc:subject>Independent strategic communications perspective for Meghalaya</dc:subject>
  <dc:creator>Manash Protim Deori</dc:creator>
  <cp:lastModifiedBy>Manash Protim Deori</cp:lastModifiedBy>
  <cp:revision>1</cp:revision>
  <dcterms:created xsi:type="dcterms:W3CDTF">2026-10-07T04:32:22Z</dcterms:created>
  <dcterms:modified xsi:type="dcterms:W3CDTF">2026-10-07T04:32:22Z</dcterms:modified>
</cp:coreProperties>
</file>