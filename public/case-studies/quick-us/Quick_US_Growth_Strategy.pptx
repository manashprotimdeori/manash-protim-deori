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FACT] Initial ICP 3–30 US dry-cleaning locations; Meta/Instagram predominant; ₹2,700 CPL; annual marketing cap ₹10 lakh. [PROFILE] Ashwani focuses multi-store operations, sales pipeline, ROI-based selling, onboarding and partnerships.
The key unit of acquisition is one parent-company customer group, not stores, form submissions or contacts. ₹1,000,000/₹2,700 =370.37 theoretical raw leads ONLY under all-media, constant-CPL conditions. Actual budget includes non-media needs and acquisition rates are unknown.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[HYPOTHESIS] 3–10 sites may combine meaningful branch complexity with reachable decision makers. 11–30 can disprove this hypothesis if urgent high-value opportunities show shorter sales cycles. 100-point ICP weights 20+20+20+15+10+10+5=100; score 75+ for immediate outreach, 50–74 nurture, under 50 exclude. Do not treat weights as statistical model.
2022 Census NAICS 812320 covers dry-cleaning/laundering other than coin-operated and includes drop-off sites; 812310 corresponds to self-service/coin laundries. NAICS counts establishments, not buying entities. Inventory and dedupe 100 verified groups per proposed test metro, using company site/store locator, corporate parent, decision maker, recent operating trigger. Choose markets by VERIFIED accessible accounts per research hour, not asserted city rankings.
Buyer: owner/CEO or president; operations director champion; site managers affect adoption; POS/payments integration technical veto. Identify store count, central plant, reporting process, customer/order structure, switching horizon and blockers.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CLAIM—VERIFY] Quick publicly presents central reporting, order/garment tracking, plant workflow, CRM and US-facing integrations; US plan structure, exact features, real support readiness, security attestations and pricing must be confirmed. General multi-store plan features differ from US page; do not declare a unique correct price. Sources: https://www.quickdrycleaning.com/multi-store-pricing/ ; https://www.quickdrycleaning.com/dry-cleaning-software-in-usa/.
Asset list maps insight→CTA→accepted pipeline rather than content traffic. Illustrative time capacity =5*0.5*26*18=$1,170 per month, which requires independent validation of hours/days/wages and whether labor is actually saved or redeployed profitably. No fictitious customer ROI, comparative win claim, user testimonial or certification. Document switch feasibility against incumbent CleanCloud/SMRT/Cents using real demos and customer criteria.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FACT] Quick says Meta CPL ~₹2,700 but no lead→won cohort, U.S. fit or cost allocation was provided; cannot infer incremental CAC. Ranking is an initial hypothesis. Search: Google Ads exact/phrase intent, landing qualification; search-term report and negative keywords per official Google guidance: https://support.google.com/google-ads/answer/7102466.
Outbound: 200 verified parent accounts, person-level contact, source-tagged CRM, account outreach and human time cost included in total CAC; FTC CAN-SPAM applies to B2B email, accurate sender, valid physical postal address, working opt-out and honoring removal requests: https://www.ftc.gov/business-guidance/resources/can-spam-act-compliance-guide-business. Partners must actually confirm access and produce introductions; Meta only for appropriately consented audiences with fit measurements.
Marketing owns source attribution and messaging, Sales owns qualification and next steps, Product owns US readiness; Ashwani signs channel investment gates. Competing channel economics require enough stage maturation; 9 contacts do not establish statistical confidence.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SCENARIO] ₹30,000 media cap / hypothetical ₹200 CPC=150 clicks; 6% landing conversion=9 leads; 40% ICP fit=3.6; 60% booking=2.16; 75% show=1.62; 50% SQL acceptance=0.81 expected SQL. These fractional figures are expectations and do NOT represent observed events. At hypothetical 20% SQL win rate, only 0.162 expected paying logos—not proof one sale will occur. ₹30,000 /0.81 ≈ ₹37,037 media spending per expected SQL before labor, data, tools; this is not reliable with nine modeled leads.
Audience: U.S. owner/operators with verified 3–10 site entities in two metro pilot clusters; Search cannot target number of stores natively, so qualify company/website and site-count brackets. Landing page: annotated real product demo (vendor confirmed), 20-minute agenda, pain check, current POS, work email, role, site count, plant and US region; CRM campaign source and parent ID. 1-business-day response SLA. Days 1–5 research and verification, 6–8 QA, 9–23 ~₹2,000/day × 15, 24–30 qualitative stage review. Under 3% lead CVR after ≥100 relevant clicks prompts diagnosis, not “statistical proof.” Require two genuinely relevant buyer calls and consistent pains before another tranche. If insufficient search volume, move remaining funds to verified accounts.
Exact and phrase keyword themes must be reviewed for actual volume and matched-intent; negatives checked not to exclude valid B2B queries. Draft ad requires US feature and wording approval.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task list: Ashwani shares a recent, permissions-safe CRM cohort; product verifies US financial rails, migrations, source system exports, hardware and onboarding; marketing interviews operators and deduplicates corporate parents; named sales owner agrees to a one-US-business-day follow-up and SQL definition. No unverified US product claim goes in public creative.
Stage owners: marketing = channel, content, measurement, cash release proposal; sales = buyer contact, bookings, held meetings, opportunity acceptance and lost reasons; product/onboarding = live demo proof, data migration and activated site metrics; Head of Growth = gate approval and referrals.
Remote model: fixed daily overlap with U.S. time zones, 20-minute weekly executive scorecard, shared CRM, written notes and decisions, seller participation in U.S. calls, lead response SLA. Remote location should not substitute for buyer trust or local support coverage.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ALLOCATION] Annual INR 350,000+180,000+120,000+120,000+90,000+60,000+80,000=1,000,000. Percentage check 35+18+12+12+9+6+8=100%. The reserve is held, not automatically expended. Quarterly schedule conditional: Q1 ₹2.0L, Q2 ₹2.5L, Q3 ₹2.5L, Q4 ₹2.2L and ₹0.8L centrally uncommitted reserve, total ₹10L.
[ALTERNATIVE] Only ₹100,000 available over 60 days: ₹30k controlled Search, ₹30k verified decision-maker/account outreach, ₹15k assets, ₹10k instrumentation, ₹5k partner activation, ₹10k withheld reserve =₹100k. All creative/tools/contact data/vendor charges within category ceilings; existing staff time is a non-cash dependency but belongs in fully loaded acquisition economics. The ₹1 lakh is NOT added to the annual cap.
[HYPOTHETICAL OUTBOUND] 200 verified contacts ×10% reply ×30% booking ×75% show ×50% sales acceptance =2.25 expected SQL; Search=0.81 expected SQL =&gt;3.06 from both before partners. No guarantee of 3 real SQLs and no presumption closed accounts in 60 days. Low query volume → redeploy remaining Search cash to scored accounts. Poor demo-to-implementation fit → stop and fix readiness.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FACT] Raw CPL ₹2,700, without supporting lead→customer cohorts. [SENSITIVITY ONLY] media CAC=CPL/lead-to-won rate. At 1%:2700/.01=270,000 INR, at 3%=90,000, at 5%=54,000. Not fully loaded; sales labor, tools, commissions, vendors not included. Acquisition unit one paying parent entity; do not count every site as a customer logo.
[HYPOTHETICAL VALUE MODEL] Five-location chain at ₹20,000 monthly recurring revenue and 75% contribution yields ₹15,000 contribution per month; a selected 6-month FULL CAC payback gate permits ₹90,000 total acquisition cost. At 3% media CAC alone uses the gate; at 5% leaves ₹36k for remaining sales and acquisition costs. If ARPA halves, cap halves to ₹45k and 5% media CAC fails. These inputs are NOT Quick actuals. Avoid fictitious LTV / churn ratio without retention data.
SQL = appropriate multi-location dry-cleaner, confirmed workflow issue, real economic buyer/champion, viable US installation and committed next step. Cost per raw lead=media/unique captures; per fit account=source acquisition costs/verified unique accounts; per held meeting=cost/actual attended; per SQL=cost/accepted opportunity; fully loaded CAC=(media +allocated seller time+contractors+tools+commissions)/paying parent accounts in mature cohort. Track cohort timing and source/influenced credit separately.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Ashwani for permissions-safe source-level cohorts and customer group definition, not aggregated impressions. Determine real time-to-stage and geographic fit. His profile emphasizes sales discipline, strong operations systems and business-case value, so position marketing as instrumentation and deal risk reduction.
Request an accountable cross-functional US demo and technical review before public US claims: Quick pages differ in price/plan wording; do not assume security certification or a local integration from advertising copy alone. Confirm US support window, payments, tags, switching services, contractual AI availability and client reference permissions.
Remote execution is a measurable mechanism: daily US buyer-time overlap, one business-day response, seller-hosted demonstrations where local confidence matters, weekly 20-minute accepted-pipeline review and explicit budget gate decisions. No invented personal track record, testimonials or unearned Quick endorsements.
SOURCES: Sept 2026 Quick assignment p.1; Ashwani Kumar profile pp.1–3; Quick official US and multi-store pages (visited 13 Oct 2026); 2022 US Census NAICS 812320, FTC CAN-SPAM, Google Ads Search Terms help. All CPC, funnel, payback and labor estimates are assumptions,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01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Build qualified US pipeline before buying lead volume.</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The 12-month system: account fit → workflow proof → sales-accepted opportunities.</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EXECUTIVE THESIS</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94360" y="1929384"/>
            <a:ext cx="6976872" cy="3465576"/>
          </a:xfrm>
          <a:prstGeom prst="roundRect">
            <a:avLst>
              <a:gd name="adj" fmla="val 2902"/>
            </a:avLst>
          </a:prstGeom>
          <a:solidFill>
            <a:srgbClr val="14283B"/>
          </a:solidFill>
          <a:ln w="12700">
            <a:solidFill>
              <a:srgbClr val="14283B"/>
            </a:solidFill>
            <a:prstDash val="solid"/>
          </a:ln>
        </p:spPr>
      </p:sp>
      <p:sp>
        <p:nvSpPr>
          <p:cNvPr id="11" name="Text 9"/>
          <p:cNvSpPr/>
          <p:nvPr/>
        </p:nvSpPr>
        <p:spPr>
          <a:xfrm>
            <a:off x="832104" y="2157984"/>
            <a:ext cx="5486400" cy="274320"/>
          </a:xfrm>
          <a:prstGeom prst="rect">
            <a:avLst/>
          </a:prstGeom>
          <a:noFill/>
          <a:ln/>
        </p:spPr>
        <p:txBody>
          <a:bodyPr wrap="square" lIns="0" tIns="0" rIns="0" bIns="0" rtlCol="0" anchor="ctr">
            <a:normAutofit/>
          </a:bodyPr>
          <a:lstStyle/>
          <a:p>
            <a:pPr indent="0" marL="0">
              <a:buNone/>
            </a:pPr>
            <a:r>
              <a:rPr lang="en-US" sz="1100" b="1" dirty="0">
                <a:solidFill>
                  <a:srgbClr val="57DDC4"/>
                </a:solidFill>
                <a:latin typeface="Aptos" pitchFamily="34" charset="0"/>
                <a:ea typeface="Aptos" pitchFamily="34" charset="-122"/>
                <a:cs typeface="Aptos" pitchFamily="34" charset="-120"/>
              </a:rPr>
              <a:t>THE INITIAL WEDGE</a:t>
            </a:r>
            <a:endParaRPr lang="en-US" sz="1100" dirty="0"/>
          </a:p>
        </p:txBody>
      </p:sp>
      <p:sp>
        <p:nvSpPr>
          <p:cNvPr id="12" name="Text 10"/>
          <p:cNvSpPr/>
          <p:nvPr/>
        </p:nvSpPr>
        <p:spPr>
          <a:xfrm>
            <a:off x="832104" y="2651760"/>
            <a:ext cx="6126480" cy="1005840"/>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3–10 interconnected dry-cleaning stores, one decision-making parent account.</a:t>
            </a:r>
            <a:endParaRPr lang="en-US" sz="2400" dirty="0"/>
          </a:p>
        </p:txBody>
      </p:sp>
      <p:sp>
        <p:nvSpPr>
          <p:cNvPr id="13" name="Text 11"/>
          <p:cNvSpPr/>
          <p:nvPr/>
        </p:nvSpPr>
        <p:spPr>
          <a:xfrm>
            <a:off x="832104" y="3913632"/>
            <a:ext cx="6108192" cy="740664"/>
          </a:xfrm>
          <a:prstGeom prst="rect">
            <a:avLst/>
          </a:prstGeom>
          <a:noFill/>
          <a:ln/>
        </p:spPr>
        <p:txBody>
          <a:bodyPr wrap="square" lIns="0" tIns="0" rIns="0" bIns="0" rtlCol="0" anchor="ctr">
            <a:normAutofit/>
          </a:bodyPr>
          <a:lstStyle/>
          <a:p>
            <a:pPr indent="0" marL="0">
              <a:buNone/>
            </a:pPr>
            <a:r>
              <a:rPr lang="en-US" sz="1300" dirty="0">
                <a:solidFill>
                  <a:srgbClr val="BBCAD8"/>
                </a:solidFill>
                <a:latin typeface="Aptos" pitchFamily="34" charset="0"/>
                <a:ea typeface="Aptos" pitchFamily="34" charset="-122"/>
                <a:cs typeface="Aptos" pitchFamily="34" charset="-120"/>
              </a:rPr>
              <a:t>Sell an operations walkthrough: fragmented branch reporting, plant handoffs, order visibility, pickup reliability and switching risk.</a:t>
            </a:r>
            <a:endParaRPr lang="en-US" sz="1300" dirty="0"/>
          </a:p>
        </p:txBody>
      </p:sp>
      <p:sp>
        <p:nvSpPr>
          <p:cNvPr id="14" name="Text 12"/>
          <p:cNvSpPr/>
          <p:nvPr/>
        </p:nvSpPr>
        <p:spPr>
          <a:xfrm>
            <a:off x="832104" y="4846320"/>
            <a:ext cx="6108192" cy="310896"/>
          </a:xfrm>
          <a:prstGeom prst="rect">
            <a:avLst/>
          </a:prstGeom>
          <a:noFill/>
          <a:ln/>
        </p:spPr>
        <p:txBody>
          <a:bodyPr wrap="square" lIns="0" tIns="0" rIns="0" bIns="0" rtlCol="0" anchor="ctr">
            <a:normAutofit/>
          </a:bodyPr>
          <a:lstStyle/>
          <a:p>
            <a:pPr indent="0" marL="0">
              <a:buNone/>
            </a:pPr>
            <a:r>
              <a:rPr lang="en-US" sz="1200" b="1" dirty="0">
                <a:solidFill>
                  <a:srgbClr val="57DDC4"/>
                </a:solidFill>
                <a:latin typeface="Aptos" pitchFamily="34" charset="0"/>
                <a:ea typeface="Aptos" pitchFamily="34" charset="-122"/>
                <a:cs typeface="Aptos" pitchFamily="34" charset="-120"/>
              </a:rPr>
              <a:t>One acquired chain ≠ five acquired customer logos.</a:t>
            </a:r>
            <a:endParaRPr lang="en-US" sz="1200" dirty="0"/>
          </a:p>
        </p:txBody>
      </p:sp>
      <p:sp>
        <p:nvSpPr>
          <p:cNvPr id="15" name="Shape 13"/>
          <p:cNvSpPr/>
          <p:nvPr/>
        </p:nvSpPr>
        <p:spPr>
          <a:xfrm>
            <a:off x="7799832" y="1956816"/>
            <a:ext cx="3776472" cy="978408"/>
          </a:xfrm>
          <a:prstGeom prst="roundRect">
            <a:avLst>
              <a:gd name="adj" fmla="val 10280"/>
            </a:avLst>
          </a:prstGeom>
          <a:solidFill>
            <a:srgbClr val="112336"/>
          </a:solidFill>
          <a:ln w="12700">
            <a:solidFill>
              <a:srgbClr val="112336"/>
            </a:solidFill>
            <a:prstDash val="solid"/>
          </a:ln>
        </p:spPr>
      </p:sp>
      <p:sp>
        <p:nvSpPr>
          <p:cNvPr id="16" name="Text 14"/>
          <p:cNvSpPr/>
          <p:nvPr/>
        </p:nvSpPr>
        <p:spPr>
          <a:xfrm>
            <a:off x="8037576" y="2130552"/>
            <a:ext cx="1755648" cy="466344"/>
          </a:xfrm>
          <a:prstGeom prst="rect">
            <a:avLst/>
          </a:prstGeom>
          <a:noFill/>
          <a:ln/>
        </p:spPr>
        <p:txBody>
          <a:bodyPr wrap="square" lIns="0" tIns="0" rIns="0" bIns="0" rtlCol="0" anchor="ctr">
            <a:normAutofit/>
          </a:bodyPr>
          <a:lstStyle/>
          <a:p>
            <a:pPr indent="0" marL="0">
              <a:buNone/>
            </a:pPr>
            <a:r>
              <a:rPr lang="en-US" sz="2200" b="1" dirty="0">
                <a:solidFill>
                  <a:srgbClr val="F2C87E"/>
                </a:solidFill>
                <a:latin typeface="Aptos" pitchFamily="34" charset="0"/>
                <a:ea typeface="Aptos" pitchFamily="34" charset="-122"/>
                <a:cs typeface="Aptos" pitchFamily="34" charset="-120"/>
              </a:rPr>
              <a:t>3–30</a:t>
            </a:r>
            <a:endParaRPr lang="en-US" sz="2200" dirty="0"/>
          </a:p>
        </p:txBody>
      </p:sp>
      <p:sp>
        <p:nvSpPr>
          <p:cNvPr id="17" name="Text 15"/>
          <p:cNvSpPr/>
          <p:nvPr/>
        </p:nvSpPr>
        <p:spPr>
          <a:xfrm>
            <a:off x="9811512" y="2185416"/>
            <a:ext cx="1536192" cy="393192"/>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source market definition</a:t>
            </a:r>
            <a:endParaRPr lang="en-US" sz="1000" dirty="0"/>
          </a:p>
        </p:txBody>
      </p:sp>
      <p:sp>
        <p:nvSpPr>
          <p:cNvPr id="18" name="Shape 16"/>
          <p:cNvSpPr/>
          <p:nvPr/>
        </p:nvSpPr>
        <p:spPr>
          <a:xfrm>
            <a:off x="7799832" y="3099816"/>
            <a:ext cx="3776472" cy="978408"/>
          </a:xfrm>
          <a:prstGeom prst="roundRect">
            <a:avLst>
              <a:gd name="adj" fmla="val 10280"/>
            </a:avLst>
          </a:prstGeom>
          <a:solidFill>
            <a:srgbClr val="112336"/>
          </a:solidFill>
          <a:ln w="12700">
            <a:solidFill>
              <a:srgbClr val="112336"/>
            </a:solidFill>
            <a:prstDash val="solid"/>
          </a:ln>
        </p:spPr>
      </p:sp>
      <p:sp>
        <p:nvSpPr>
          <p:cNvPr id="19" name="Text 17"/>
          <p:cNvSpPr/>
          <p:nvPr/>
        </p:nvSpPr>
        <p:spPr>
          <a:xfrm>
            <a:off x="8037576" y="3273552"/>
            <a:ext cx="1755648" cy="466344"/>
          </a:xfrm>
          <a:prstGeom prst="rect">
            <a:avLst/>
          </a:prstGeom>
          <a:noFill/>
          <a:ln/>
        </p:spPr>
        <p:txBody>
          <a:bodyPr wrap="square" lIns="0" tIns="0" rIns="0" bIns="0" rtlCol="0" anchor="ctr">
            <a:normAutofit/>
          </a:bodyPr>
          <a:lstStyle/>
          <a:p>
            <a:pPr indent="0" marL="0">
              <a:buNone/>
            </a:pPr>
            <a:r>
              <a:rPr lang="en-US" sz="2200" b="1" dirty="0">
                <a:solidFill>
                  <a:srgbClr val="F2C87E"/>
                </a:solidFill>
                <a:latin typeface="Aptos" pitchFamily="34" charset="0"/>
                <a:ea typeface="Aptos" pitchFamily="34" charset="-122"/>
                <a:cs typeface="Aptos" pitchFamily="34" charset="-120"/>
              </a:rPr>
              <a:t>₹2,700</a:t>
            </a:r>
            <a:endParaRPr lang="en-US" sz="2200" dirty="0"/>
          </a:p>
        </p:txBody>
      </p:sp>
      <p:sp>
        <p:nvSpPr>
          <p:cNvPr id="20" name="Text 18"/>
          <p:cNvSpPr/>
          <p:nvPr/>
        </p:nvSpPr>
        <p:spPr>
          <a:xfrm>
            <a:off x="9811512" y="3328416"/>
            <a:ext cx="1536192" cy="393192"/>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observed raw lead cost</a:t>
            </a:r>
            <a:endParaRPr lang="en-US" sz="1000" dirty="0"/>
          </a:p>
        </p:txBody>
      </p:sp>
      <p:sp>
        <p:nvSpPr>
          <p:cNvPr id="21" name="Shape 19"/>
          <p:cNvSpPr/>
          <p:nvPr/>
        </p:nvSpPr>
        <p:spPr>
          <a:xfrm>
            <a:off x="7799832" y="4242816"/>
            <a:ext cx="3776472" cy="978408"/>
          </a:xfrm>
          <a:prstGeom prst="roundRect">
            <a:avLst>
              <a:gd name="adj" fmla="val 10280"/>
            </a:avLst>
          </a:prstGeom>
          <a:solidFill>
            <a:srgbClr val="112336"/>
          </a:solidFill>
          <a:ln w="12700">
            <a:solidFill>
              <a:srgbClr val="112336"/>
            </a:solidFill>
            <a:prstDash val="solid"/>
          </a:ln>
        </p:spPr>
      </p:sp>
      <p:sp>
        <p:nvSpPr>
          <p:cNvPr id="22" name="Text 20"/>
          <p:cNvSpPr/>
          <p:nvPr/>
        </p:nvSpPr>
        <p:spPr>
          <a:xfrm>
            <a:off x="8037576" y="4416552"/>
            <a:ext cx="1755648" cy="466344"/>
          </a:xfrm>
          <a:prstGeom prst="rect">
            <a:avLst/>
          </a:prstGeom>
          <a:noFill/>
          <a:ln/>
        </p:spPr>
        <p:txBody>
          <a:bodyPr wrap="square" lIns="0" tIns="0" rIns="0" bIns="0" rtlCol="0" anchor="ctr">
            <a:normAutofit/>
          </a:bodyPr>
          <a:lstStyle/>
          <a:p>
            <a:pPr indent="0" marL="0">
              <a:buNone/>
            </a:pPr>
            <a:r>
              <a:rPr lang="en-US" sz="2200" b="1" dirty="0">
                <a:solidFill>
                  <a:srgbClr val="F2C87E"/>
                </a:solidFill>
                <a:latin typeface="Aptos" pitchFamily="34" charset="0"/>
                <a:ea typeface="Aptos" pitchFamily="34" charset="-122"/>
                <a:cs typeface="Aptos" pitchFamily="34" charset="-120"/>
              </a:rPr>
              <a:t>₹10 lakh</a:t>
            </a:r>
            <a:endParaRPr lang="en-US" sz="2200" dirty="0"/>
          </a:p>
        </p:txBody>
      </p:sp>
      <p:sp>
        <p:nvSpPr>
          <p:cNvPr id="23" name="Text 21"/>
          <p:cNvSpPr/>
          <p:nvPr/>
        </p:nvSpPr>
        <p:spPr>
          <a:xfrm>
            <a:off x="9811512" y="4471416"/>
            <a:ext cx="1536192" cy="393192"/>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marketing cap / 12 months</a:t>
            </a:r>
            <a:endParaRPr lang="en-US" sz="1000" dirty="0"/>
          </a:p>
        </p:txBody>
      </p:sp>
      <p:sp>
        <p:nvSpPr>
          <p:cNvPr id="24" name="Shape 22"/>
          <p:cNvSpPr/>
          <p:nvPr/>
        </p:nvSpPr>
        <p:spPr>
          <a:xfrm>
            <a:off x="594360" y="5641848"/>
            <a:ext cx="10981944" cy="466344"/>
          </a:xfrm>
          <a:prstGeom prst="roundRect">
            <a:avLst>
              <a:gd name="adj" fmla="val 21569"/>
            </a:avLst>
          </a:prstGeom>
          <a:solidFill>
            <a:srgbClr val="19364A"/>
          </a:solidFill>
          <a:ln w="12700">
            <a:solidFill>
              <a:srgbClr val="19364A"/>
            </a:solidFill>
            <a:prstDash val="solid"/>
          </a:ln>
        </p:spPr>
      </p:sp>
      <p:sp>
        <p:nvSpPr>
          <p:cNvPr id="25" name="Text 23"/>
          <p:cNvSpPr/>
          <p:nvPr/>
        </p:nvSpPr>
        <p:spPr>
          <a:xfrm>
            <a:off x="795528" y="5760720"/>
            <a:ext cx="10561320" cy="192024"/>
          </a:xfrm>
          <a:prstGeom prst="rect">
            <a:avLst/>
          </a:prstGeom>
          <a:noFill/>
          <a:ln/>
        </p:spPr>
        <p:txBody>
          <a:bodyPr wrap="square" lIns="0" tIns="0" rIns="0" bIns="0" rtlCol="0" anchor="ctr">
            <a:normAutofit/>
          </a:bodyPr>
          <a:lstStyle/>
          <a:p>
            <a:pPr indent="0" marL="0">
              <a:buNone/>
            </a:pPr>
            <a:r>
              <a:rPr lang="en-US" sz="1100" b="1" dirty="0">
                <a:solidFill>
                  <a:srgbClr val="ECF5FA"/>
                </a:solidFill>
                <a:latin typeface="Aptos" pitchFamily="34" charset="0"/>
                <a:ea typeface="Aptos" pitchFamily="34" charset="-122"/>
                <a:cs typeface="Aptos" pitchFamily="34" charset="-120"/>
              </a:rPr>
              <a:t>₹10,00,000 / ₹2,700 ≈ 370 RAW leads if all cash bought Meta leads. This is not CAC or customers.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02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Start with operationally linked 3–10-store groups.</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Keep 11–30-store deals selectively; validate buyers and US implementation viability.</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ICP / ACCOUNT SELECTION</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85216" y="1856232"/>
            <a:ext cx="5367528" cy="1453896"/>
          </a:xfrm>
          <a:prstGeom prst="roundRect">
            <a:avLst>
              <a:gd name="adj" fmla="val 6918"/>
            </a:avLst>
          </a:prstGeom>
          <a:solidFill>
            <a:srgbClr val="14283B"/>
          </a:solidFill>
          <a:ln w="12700">
            <a:solidFill>
              <a:srgbClr val="14283B"/>
            </a:solidFill>
            <a:prstDash val="solid"/>
          </a:ln>
        </p:spPr>
      </p:sp>
      <p:sp>
        <p:nvSpPr>
          <p:cNvPr id="11" name="Text 9"/>
          <p:cNvSpPr/>
          <p:nvPr/>
        </p:nvSpPr>
        <p:spPr>
          <a:xfrm>
            <a:off x="786384" y="2011680"/>
            <a:ext cx="4965192" cy="292608"/>
          </a:xfrm>
          <a:prstGeom prst="rect">
            <a:avLst/>
          </a:prstGeom>
          <a:noFill/>
          <a:ln/>
        </p:spPr>
        <p:txBody>
          <a:bodyPr wrap="square" lIns="0" tIns="0" rIns="0" bIns="0" rtlCol="0" anchor="ctr">
            <a:normAutofit/>
          </a:bodyPr>
          <a:lstStyle/>
          <a:p>
            <a:pPr indent="0" marL="0">
              <a:buNone/>
            </a:pPr>
            <a:r>
              <a:rPr lang="en-US" sz="1300" b="1" dirty="0">
                <a:solidFill>
                  <a:srgbClr val="57DDC4"/>
                </a:solidFill>
                <a:latin typeface="Aptos" pitchFamily="34" charset="0"/>
                <a:ea typeface="Aptos" pitchFamily="34" charset="-122"/>
                <a:cs typeface="Aptos" pitchFamily="34" charset="-120"/>
              </a:rPr>
              <a:t>PRIMARY / 3–10 STORES</a:t>
            </a:r>
            <a:endParaRPr lang="en-US" sz="1300" dirty="0"/>
          </a:p>
        </p:txBody>
      </p:sp>
      <p:sp>
        <p:nvSpPr>
          <p:cNvPr id="12" name="Text 10"/>
          <p:cNvSpPr/>
          <p:nvPr/>
        </p:nvSpPr>
        <p:spPr>
          <a:xfrm>
            <a:off x="786384" y="2386584"/>
            <a:ext cx="4965192" cy="768096"/>
          </a:xfrm>
          <a:prstGeom prst="rect">
            <a:avLst/>
          </a:prstGeom>
          <a:noFill/>
          <a:ln/>
        </p:spPr>
        <p:txBody>
          <a:bodyPr wrap="square" lIns="0" tIns="0" rIns="0" bIns="0" rtlCol="0" anchor="t">
            <a:normAutofit/>
          </a:bodyPr>
          <a:lstStyle/>
          <a:p>
            <a:pPr indent="0" marL="0">
              <a:buNone/>
            </a:pPr>
            <a:r>
              <a:rPr lang="en-US" sz="1120" dirty="0">
                <a:solidFill>
                  <a:srgbClr val="BBCAD8"/>
                </a:solidFill>
                <a:latin typeface="Aptos" pitchFamily="34" charset="0"/>
                <a:ea typeface="Aptos" pitchFamily="34" charset="-122"/>
                <a:cs typeface="Aptos" pitchFamily="34" charset="-120"/>
              </a:rPr>
              <a:t>Owner-led chain with common production or fragmented revenue/order reports; named economic buyer and an active operations issue.</a:t>
            </a:r>
            <a:endParaRPr lang="en-US" sz="1120" dirty="0"/>
          </a:p>
        </p:txBody>
      </p:sp>
      <p:sp>
        <p:nvSpPr>
          <p:cNvPr id="13" name="Shape 11"/>
          <p:cNvSpPr/>
          <p:nvPr/>
        </p:nvSpPr>
        <p:spPr>
          <a:xfrm>
            <a:off x="6144768" y="1856232"/>
            <a:ext cx="5431536" cy="1453896"/>
          </a:xfrm>
          <a:prstGeom prst="roundRect">
            <a:avLst>
              <a:gd name="adj" fmla="val 6918"/>
            </a:avLst>
          </a:prstGeom>
          <a:solidFill>
            <a:srgbClr val="14283B"/>
          </a:solidFill>
          <a:ln w="12700">
            <a:solidFill>
              <a:srgbClr val="14283B"/>
            </a:solidFill>
            <a:prstDash val="solid"/>
          </a:ln>
        </p:spPr>
      </p:sp>
      <p:sp>
        <p:nvSpPr>
          <p:cNvPr id="14" name="Text 12"/>
          <p:cNvSpPr/>
          <p:nvPr/>
        </p:nvSpPr>
        <p:spPr>
          <a:xfrm>
            <a:off x="6345936" y="2011680"/>
            <a:ext cx="5029200" cy="292608"/>
          </a:xfrm>
          <a:prstGeom prst="rect">
            <a:avLst/>
          </a:prstGeom>
          <a:noFill/>
          <a:ln/>
        </p:spPr>
        <p:txBody>
          <a:bodyPr wrap="square" lIns="0" tIns="0" rIns="0" bIns="0" rtlCol="0" anchor="ctr">
            <a:normAutofit/>
          </a:bodyPr>
          <a:lstStyle/>
          <a:p>
            <a:pPr indent="0" marL="0">
              <a:buNone/>
            </a:pPr>
            <a:r>
              <a:rPr lang="en-US" sz="1300" b="1" dirty="0">
                <a:solidFill>
                  <a:srgbClr val="F2C87E"/>
                </a:solidFill>
                <a:latin typeface="Aptos" pitchFamily="34" charset="0"/>
                <a:ea typeface="Aptos" pitchFamily="34" charset="-122"/>
                <a:cs typeface="Aptos" pitchFamily="34" charset="-120"/>
              </a:rPr>
              <a:t>SECONDARY / 11–30 STORES</a:t>
            </a:r>
            <a:endParaRPr lang="en-US" sz="1300" dirty="0"/>
          </a:p>
        </p:txBody>
      </p:sp>
      <p:sp>
        <p:nvSpPr>
          <p:cNvPr id="15" name="Text 13"/>
          <p:cNvSpPr/>
          <p:nvPr/>
        </p:nvSpPr>
        <p:spPr>
          <a:xfrm>
            <a:off x="6345936" y="2386584"/>
            <a:ext cx="5029200" cy="768096"/>
          </a:xfrm>
          <a:prstGeom prst="rect">
            <a:avLst/>
          </a:prstGeom>
          <a:noFill/>
          <a:ln/>
        </p:spPr>
        <p:txBody>
          <a:bodyPr wrap="square" lIns="0" tIns="0" rIns="0" bIns="0" rtlCol="0" anchor="t">
            <a:normAutofit/>
          </a:bodyPr>
          <a:lstStyle/>
          <a:p>
            <a:pPr indent="0" marL="0">
              <a:buNone/>
            </a:pPr>
            <a:r>
              <a:rPr lang="en-US" sz="1120" dirty="0">
                <a:solidFill>
                  <a:srgbClr val="BBCAD8"/>
                </a:solidFill>
                <a:latin typeface="Aptos" pitchFamily="34" charset="0"/>
                <a:ea typeface="Aptos" pitchFamily="34" charset="-122"/>
                <a:cs typeface="Aptos" pitchFamily="34" charset="-120"/>
              </a:rPr>
              <a:t>Potentially higher value and longer procurement, migration complexity or stakeholder consensus. Keep a capped test lane.</a:t>
            </a:r>
            <a:endParaRPr lang="en-US" sz="1120" dirty="0"/>
          </a:p>
        </p:txBody>
      </p:sp>
      <p:sp>
        <p:nvSpPr>
          <p:cNvPr id="16" name="Text 14"/>
          <p:cNvSpPr/>
          <p:nvPr/>
        </p:nvSpPr>
        <p:spPr>
          <a:xfrm>
            <a:off x="704088" y="3621024"/>
            <a:ext cx="8138160" cy="274320"/>
          </a:xfrm>
          <a:prstGeom prst="rect">
            <a:avLst/>
          </a:prstGeom>
          <a:noFill/>
          <a:ln/>
        </p:spPr>
        <p:txBody>
          <a:bodyPr wrap="square" lIns="0" tIns="0" rIns="0" bIns="0" rtlCol="0" anchor="ctr">
            <a:normAutofit/>
          </a:bodyPr>
          <a:lstStyle/>
          <a:p>
            <a:pPr indent="0" marL="0">
              <a:buNone/>
            </a:pPr>
            <a:r>
              <a:rPr lang="en-US" sz="1300" b="1" dirty="0">
                <a:solidFill>
                  <a:srgbClr val="57DDC4"/>
                </a:solidFill>
                <a:latin typeface="Aptos" pitchFamily="34" charset="0"/>
                <a:ea typeface="Aptos" pitchFamily="34" charset="-122"/>
                <a:cs typeface="Aptos" pitchFamily="34" charset="-120"/>
              </a:rPr>
              <a:t>OBSERVABLE ACCOUNT SCORE  /  uncalibrated starting weights</a:t>
            </a:r>
            <a:endParaRPr lang="en-US" sz="1300" dirty="0"/>
          </a:p>
        </p:txBody>
      </p:sp>
      <p:sp>
        <p:nvSpPr>
          <p:cNvPr id="17" name="Text 15"/>
          <p:cNvSpPr/>
          <p:nvPr/>
        </p:nvSpPr>
        <p:spPr>
          <a:xfrm>
            <a:off x="704088" y="4050792"/>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Locations</a:t>
            </a:r>
            <a:endParaRPr lang="en-US" sz="1100" dirty="0"/>
          </a:p>
        </p:txBody>
      </p:sp>
      <p:sp>
        <p:nvSpPr>
          <p:cNvPr id="18" name="Text 16"/>
          <p:cNvSpPr/>
          <p:nvPr/>
        </p:nvSpPr>
        <p:spPr>
          <a:xfrm>
            <a:off x="4407408" y="4050792"/>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20 pts</a:t>
            </a:r>
            <a:endParaRPr lang="en-US" sz="1000" dirty="0"/>
          </a:p>
        </p:txBody>
      </p:sp>
      <p:sp>
        <p:nvSpPr>
          <p:cNvPr id="19" name="Shape 17"/>
          <p:cNvSpPr/>
          <p:nvPr/>
        </p:nvSpPr>
        <p:spPr>
          <a:xfrm>
            <a:off x="704088" y="4334256"/>
            <a:ext cx="4663440" cy="0"/>
          </a:xfrm>
          <a:prstGeom prst="line">
            <a:avLst/>
          </a:prstGeom>
          <a:noFill/>
          <a:ln w="8890">
            <a:solidFill>
              <a:srgbClr val="304357"/>
            </a:solidFill>
            <a:prstDash val="solid"/>
          </a:ln>
        </p:spPr>
      </p:sp>
      <p:sp>
        <p:nvSpPr>
          <p:cNvPr id="20" name="Text 18"/>
          <p:cNvSpPr/>
          <p:nvPr/>
        </p:nvSpPr>
        <p:spPr>
          <a:xfrm>
            <a:off x="704088" y="4434840"/>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Operating complexity</a:t>
            </a:r>
            <a:endParaRPr lang="en-US" sz="1100" dirty="0"/>
          </a:p>
        </p:txBody>
      </p:sp>
      <p:sp>
        <p:nvSpPr>
          <p:cNvPr id="21" name="Text 19"/>
          <p:cNvSpPr/>
          <p:nvPr/>
        </p:nvSpPr>
        <p:spPr>
          <a:xfrm>
            <a:off x="4407408" y="4434840"/>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20 pts</a:t>
            </a:r>
            <a:endParaRPr lang="en-US" sz="1000" dirty="0"/>
          </a:p>
        </p:txBody>
      </p:sp>
      <p:sp>
        <p:nvSpPr>
          <p:cNvPr id="22" name="Shape 20"/>
          <p:cNvSpPr/>
          <p:nvPr/>
        </p:nvSpPr>
        <p:spPr>
          <a:xfrm>
            <a:off x="704088" y="4718304"/>
            <a:ext cx="4663440" cy="0"/>
          </a:xfrm>
          <a:prstGeom prst="line">
            <a:avLst/>
          </a:prstGeom>
          <a:noFill/>
          <a:ln w="8890">
            <a:solidFill>
              <a:srgbClr val="304357"/>
            </a:solidFill>
            <a:prstDash val="solid"/>
          </a:ln>
        </p:spPr>
      </p:sp>
      <p:sp>
        <p:nvSpPr>
          <p:cNvPr id="23" name="Text 21"/>
          <p:cNvSpPr/>
          <p:nvPr/>
        </p:nvSpPr>
        <p:spPr>
          <a:xfrm>
            <a:off x="704088" y="4818888"/>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Workflow pain</a:t>
            </a:r>
            <a:endParaRPr lang="en-US" sz="1100" dirty="0"/>
          </a:p>
        </p:txBody>
      </p:sp>
      <p:sp>
        <p:nvSpPr>
          <p:cNvPr id="24" name="Text 22"/>
          <p:cNvSpPr/>
          <p:nvPr/>
        </p:nvSpPr>
        <p:spPr>
          <a:xfrm>
            <a:off x="4407408" y="4818888"/>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20 pts</a:t>
            </a:r>
            <a:endParaRPr lang="en-US" sz="1000" dirty="0"/>
          </a:p>
        </p:txBody>
      </p:sp>
      <p:sp>
        <p:nvSpPr>
          <p:cNvPr id="25" name="Shape 23"/>
          <p:cNvSpPr/>
          <p:nvPr/>
        </p:nvSpPr>
        <p:spPr>
          <a:xfrm>
            <a:off x="704088" y="5102352"/>
            <a:ext cx="4663440" cy="0"/>
          </a:xfrm>
          <a:prstGeom prst="line">
            <a:avLst/>
          </a:prstGeom>
          <a:noFill/>
          <a:ln w="8890">
            <a:solidFill>
              <a:srgbClr val="304357"/>
            </a:solidFill>
            <a:prstDash val="solid"/>
          </a:ln>
        </p:spPr>
      </p:sp>
      <p:sp>
        <p:nvSpPr>
          <p:cNvPr id="26" name="Text 24"/>
          <p:cNvSpPr/>
          <p:nvPr/>
        </p:nvSpPr>
        <p:spPr>
          <a:xfrm>
            <a:off x="704088" y="5202936"/>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Urgent trigger</a:t>
            </a:r>
            <a:endParaRPr lang="en-US" sz="1100" dirty="0"/>
          </a:p>
        </p:txBody>
      </p:sp>
      <p:sp>
        <p:nvSpPr>
          <p:cNvPr id="27" name="Text 25"/>
          <p:cNvSpPr/>
          <p:nvPr/>
        </p:nvSpPr>
        <p:spPr>
          <a:xfrm>
            <a:off x="4407408" y="5202936"/>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15 pts</a:t>
            </a:r>
            <a:endParaRPr lang="en-US" sz="1000" dirty="0"/>
          </a:p>
        </p:txBody>
      </p:sp>
      <p:sp>
        <p:nvSpPr>
          <p:cNvPr id="28" name="Shape 26"/>
          <p:cNvSpPr/>
          <p:nvPr/>
        </p:nvSpPr>
        <p:spPr>
          <a:xfrm>
            <a:off x="704088" y="5486400"/>
            <a:ext cx="4663440" cy="0"/>
          </a:xfrm>
          <a:prstGeom prst="line">
            <a:avLst/>
          </a:prstGeom>
          <a:noFill/>
          <a:ln w="8890">
            <a:solidFill>
              <a:srgbClr val="304357"/>
            </a:solidFill>
            <a:prstDash val="solid"/>
          </a:ln>
        </p:spPr>
      </p:sp>
      <p:sp>
        <p:nvSpPr>
          <p:cNvPr id="29" name="Text 27"/>
          <p:cNvSpPr/>
          <p:nvPr/>
        </p:nvSpPr>
        <p:spPr>
          <a:xfrm>
            <a:off x="6080760" y="4050792"/>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Economic buyer</a:t>
            </a:r>
            <a:endParaRPr lang="en-US" sz="1100" dirty="0"/>
          </a:p>
        </p:txBody>
      </p:sp>
      <p:sp>
        <p:nvSpPr>
          <p:cNvPr id="30" name="Text 28"/>
          <p:cNvSpPr/>
          <p:nvPr/>
        </p:nvSpPr>
        <p:spPr>
          <a:xfrm>
            <a:off x="9784080" y="4050792"/>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10 pts</a:t>
            </a:r>
            <a:endParaRPr lang="en-US" sz="1000" dirty="0"/>
          </a:p>
        </p:txBody>
      </p:sp>
      <p:sp>
        <p:nvSpPr>
          <p:cNvPr id="31" name="Shape 29"/>
          <p:cNvSpPr/>
          <p:nvPr/>
        </p:nvSpPr>
        <p:spPr>
          <a:xfrm>
            <a:off x="6080760" y="4334256"/>
            <a:ext cx="4663440" cy="0"/>
          </a:xfrm>
          <a:prstGeom prst="line">
            <a:avLst/>
          </a:prstGeom>
          <a:noFill/>
          <a:ln w="8890">
            <a:solidFill>
              <a:srgbClr val="304357"/>
            </a:solidFill>
            <a:prstDash val="solid"/>
          </a:ln>
        </p:spPr>
      </p:sp>
      <p:sp>
        <p:nvSpPr>
          <p:cNvPr id="32" name="Text 30"/>
          <p:cNvSpPr/>
          <p:nvPr/>
        </p:nvSpPr>
        <p:spPr>
          <a:xfrm>
            <a:off x="6080760" y="4434840"/>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US migration/payment readiness</a:t>
            </a:r>
            <a:endParaRPr lang="en-US" sz="1100" dirty="0"/>
          </a:p>
        </p:txBody>
      </p:sp>
      <p:sp>
        <p:nvSpPr>
          <p:cNvPr id="33" name="Text 31"/>
          <p:cNvSpPr/>
          <p:nvPr/>
        </p:nvSpPr>
        <p:spPr>
          <a:xfrm>
            <a:off x="9784080" y="4434840"/>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10 pts</a:t>
            </a:r>
            <a:endParaRPr lang="en-US" sz="1000" dirty="0"/>
          </a:p>
        </p:txBody>
      </p:sp>
      <p:sp>
        <p:nvSpPr>
          <p:cNvPr id="34" name="Shape 32"/>
          <p:cNvSpPr/>
          <p:nvPr/>
        </p:nvSpPr>
        <p:spPr>
          <a:xfrm>
            <a:off x="6080760" y="4718304"/>
            <a:ext cx="4663440" cy="0"/>
          </a:xfrm>
          <a:prstGeom prst="line">
            <a:avLst/>
          </a:prstGeom>
          <a:noFill/>
          <a:ln w="8890">
            <a:solidFill>
              <a:srgbClr val="304357"/>
            </a:solidFill>
            <a:prstDash val="solid"/>
          </a:ln>
        </p:spPr>
      </p:sp>
      <p:sp>
        <p:nvSpPr>
          <p:cNvPr id="35" name="Text 33"/>
          <p:cNvSpPr/>
          <p:nvPr/>
        </p:nvSpPr>
        <p:spPr>
          <a:xfrm>
            <a:off x="6080760" y="4818888"/>
            <a:ext cx="3602736"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Territory + technical fit</a:t>
            </a:r>
            <a:endParaRPr lang="en-US" sz="1100" dirty="0"/>
          </a:p>
        </p:txBody>
      </p:sp>
      <p:sp>
        <p:nvSpPr>
          <p:cNvPr id="36" name="Text 34"/>
          <p:cNvSpPr/>
          <p:nvPr/>
        </p:nvSpPr>
        <p:spPr>
          <a:xfrm>
            <a:off x="9784080" y="4818888"/>
            <a:ext cx="941832" cy="228600"/>
          </a:xfrm>
          <a:prstGeom prst="rect">
            <a:avLst/>
          </a:prstGeom>
          <a:noFill/>
          <a:ln/>
        </p:spPr>
        <p:txBody>
          <a:bodyPr wrap="square" lIns="0" tIns="0" rIns="0" bIns="0" rtlCol="0" anchor="ctr">
            <a:normAutofit/>
          </a:bodyPr>
          <a:lstStyle/>
          <a:p>
            <a:pPr algn="r" indent="0" marL="0">
              <a:buNone/>
            </a:pPr>
            <a:r>
              <a:rPr lang="en-US" sz="1000" dirty="0">
                <a:solidFill>
                  <a:srgbClr val="F2C87E"/>
                </a:solidFill>
                <a:latin typeface="Aptos" pitchFamily="34" charset="0"/>
                <a:ea typeface="Aptos" pitchFamily="34" charset="-122"/>
                <a:cs typeface="Aptos" pitchFamily="34" charset="-120"/>
              </a:rPr>
              <a:t>5 pts</a:t>
            </a:r>
            <a:endParaRPr lang="en-US" sz="1000" dirty="0"/>
          </a:p>
        </p:txBody>
      </p:sp>
      <p:sp>
        <p:nvSpPr>
          <p:cNvPr id="37" name="Shape 35"/>
          <p:cNvSpPr/>
          <p:nvPr/>
        </p:nvSpPr>
        <p:spPr>
          <a:xfrm>
            <a:off x="6080760" y="5102352"/>
            <a:ext cx="4663440" cy="0"/>
          </a:xfrm>
          <a:prstGeom prst="line">
            <a:avLst/>
          </a:prstGeom>
          <a:noFill/>
          <a:ln w="8890">
            <a:solidFill>
              <a:srgbClr val="304357"/>
            </a:solidFill>
            <a:prstDash val="solid"/>
          </a:ln>
        </p:spPr>
      </p:sp>
      <p:sp>
        <p:nvSpPr>
          <p:cNvPr id="38" name="Shape 36"/>
          <p:cNvSpPr/>
          <p:nvPr/>
        </p:nvSpPr>
        <p:spPr>
          <a:xfrm>
            <a:off x="6080760" y="5404104"/>
            <a:ext cx="4782312" cy="411480"/>
          </a:xfrm>
          <a:prstGeom prst="roundRect">
            <a:avLst>
              <a:gd name="adj" fmla="val 24444"/>
            </a:avLst>
          </a:prstGeom>
          <a:solidFill>
            <a:srgbClr val="19364A"/>
          </a:solidFill>
          <a:ln w="12700">
            <a:solidFill>
              <a:srgbClr val="19364A"/>
            </a:solidFill>
            <a:prstDash val="solid"/>
          </a:ln>
        </p:spPr>
      </p:sp>
      <p:sp>
        <p:nvSpPr>
          <p:cNvPr id="39" name="Text 37"/>
          <p:cNvSpPr/>
          <p:nvPr/>
        </p:nvSpPr>
        <p:spPr>
          <a:xfrm>
            <a:off x="6300216" y="5504688"/>
            <a:ext cx="4398264" cy="192024"/>
          </a:xfrm>
          <a:prstGeom prst="rect">
            <a:avLst/>
          </a:prstGeom>
          <a:noFill/>
          <a:ln/>
        </p:spPr>
        <p:txBody>
          <a:bodyPr wrap="square" lIns="0" tIns="0" rIns="0" bIns="0" rtlCol="0" anchor="ctr">
            <a:normAutofit/>
          </a:bodyPr>
          <a:lstStyle/>
          <a:p>
            <a:pPr indent="0" marL="0">
              <a:buNone/>
            </a:pPr>
            <a:r>
              <a:rPr lang="en-US" sz="1070" b="1" dirty="0">
                <a:solidFill>
                  <a:srgbClr val="57DDC4"/>
                </a:solidFill>
                <a:latin typeface="Aptos" pitchFamily="34" charset="0"/>
                <a:ea typeface="Aptos" pitchFamily="34" charset="-122"/>
                <a:cs typeface="Aptos" pitchFamily="34" charset="-120"/>
              </a:rPr>
              <a:t>75+ contact  ·  50–74 nurture  ·  &lt;50 exclude</a:t>
            </a:r>
            <a:endParaRPr lang="en-US" sz="1070" dirty="0"/>
          </a:p>
        </p:txBody>
      </p:sp>
      <p:sp>
        <p:nvSpPr>
          <p:cNvPr id="40" name="Shape 38"/>
          <p:cNvSpPr/>
          <p:nvPr/>
        </p:nvSpPr>
        <p:spPr>
          <a:xfrm>
            <a:off x="612648" y="5943600"/>
            <a:ext cx="10963656" cy="310896"/>
          </a:xfrm>
          <a:prstGeom prst="roundRect">
            <a:avLst>
              <a:gd name="adj" fmla="val 32353"/>
            </a:avLst>
          </a:prstGeom>
          <a:solidFill>
            <a:srgbClr val="112336"/>
          </a:solidFill>
          <a:ln w="12700">
            <a:solidFill>
              <a:srgbClr val="112336"/>
            </a:solidFill>
            <a:prstDash val="solid"/>
          </a:ln>
        </p:spPr>
      </p:sp>
      <p:sp>
        <p:nvSpPr>
          <p:cNvPr id="41" name="Text 39"/>
          <p:cNvSpPr/>
          <p:nvPr/>
        </p:nvSpPr>
        <p:spPr>
          <a:xfrm>
            <a:off x="804672" y="6007608"/>
            <a:ext cx="10506456" cy="146304"/>
          </a:xfrm>
          <a:prstGeom prst="rect">
            <a:avLst/>
          </a:prstGeom>
          <a:noFill/>
          <a:ln/>
        </p:spPr>
        <p:txBody>
          <a:bodyPr wrap="square" lIns="0" tIns="0" rIns="0" bIns="0" rtlCol="0" anchor="ctr">
            <a:normAutofit/>
          </a:bodyPr>
          <a:lstStyle/>
          <a:p>
            <a:pPr indent="0" marL="0">
              <a:buNone/>
            </a:pPr>
            <a:r>
              <a:rPr lang="en-US" sz="1000" dirty="0">
                <a:solidFill>
                  <a:srgbClr val="BBCAD8"/>
                </a:solidFill>
                <a:latin typeface="Aptos" pitchFamily="34" charset="0"/>
                <a:ea typeface="Aptos" pitchFamily="34" charset="-122"/>
                <a:cs typeface="Aptos" pitchFamily="34" charset="-120"/>
              </a:rPr>
              <a:t>Dallas–Fort Worth &amp; Atlanta = test candidates only; verify 100 parent accounts per cluster before ranking.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03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Position on one operating picture across every store.</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The operational problem precedes any AI capability; prove live workflows before advertising.</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POSITIONING + 5 DEMAND ASSETS</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94360" y="1874520"/>
            <a:ext cx="10972800" cy="630936"/>
          </a:xfrm>
          <a:prstGeom prst="roundRect">
            <a:avLst>
              <a:gd name="adj" fmla="val 15942"/>
            </a:avLst>
          </a:prstGeom>
          <a:solidFill>
            <a:srgbClr val="1B3D52"/>
          </a:solidFill>
          <a:ln w="12700">
            <a:solidFill>
              <a:srgbClr val="1B3D52"/>
            </a:solidFill>
            <a:prstDash val="solid"/>
          </a:ln>
        </p:spPr>
      </p:sp>
      <p:sp>
        <p:nvSpPr>
          <p:cNvPr id="11" name="Text 9"/>
          <p:cNvSpPr/>
          <p:nvPr/>
        </p:nvSpPr>
        <p:spPr>
          <a:xfrm>
            <a:off x="795528" y="2011680"/>
            <a:ext cx="10561320" cy="310896"/>
          </a:xfrm>
          <a:prstGeom prst="rect">
            <a:avLst/>
          </a:prstGeom>
          <a:noFill/>
          <a:ln/>
        </p:spPr>
        <p:txBody>
          <a:bodyPr wrap="square" lIns="0" tIns="0" rIns="0" bIns="0" rtlCol="0" anchor="ctr">
            <a:normAutofit/>
          </a:bodyPr>
          <a:lstStyle/>
          <a:p>
            <a:pPr indent="0" marL="0">
              <a:buNone/>
            </a:pPr>
            <a:r>
              <a:rPr lang="en-US" sz="1700" b="1" dirty="0">
                <a:solidFill>
                  <a:srgbClr val="ECF5FA"/>
                </a:solidFill>
                <a:latin typeface="Aptos" pitchFamily="34" charset="0"/>
                <a:ea typeface="Aptos" pitchFamily="34" charset="-122"/>
                <a:cs typeface="Aptos" pitchFamily="34" charset="-120"/>
              </a:rPr>
              <a:t>“Run every store, order and pickup as one operation—without losing control as you expand.”</a:t>
            </a:r>
            <a:endParaRPr lang="en-US" sz="1700" dirty="0"/>
          </a:p>
        </p:txBody>
      </p:sp>
      <p:sp>
        <p:nvSpPr>
          <p:cNvPr id="12" name="Text 10"/>
          <p:cNvSpPr/>
          <p:nvPr/>
        </p:nvSpPr>
        <p:spPr>
          <a:xfrm>
            <a:off x="722376" y="2734056"/>
            <a:ext cx="5394960" cy="265176"/>
          </a:xfrm>
          <a:prstGeom prst="rect">
            <a:avLst/>
          </a:prstGeom>
          <a:noFill/>
          <a:ln/>
        </p:spPr>
        <p:txBody>
          <a:bodyPr wrap="square" lIns="0" tIns="0" rIns="0" bIns="0" rtlCol="0" anchor="ctr">
            <a:normAutofit/>
          </a:bodyPr>
          <a:lstStyle/>
          <a:p>
            <a:pPr indent="0" marL="0">
              <a:buNone/>
            </a:pPr>
            <a:r>
              <a:rPr lang="en-US" sz="1100" b="1" dirty="0">
                <a:solidFill>
                  <a:srgbClr val="57DDC4"/>
                </a:solidFill>
                <a:latin typeface="Aptos" pitchFamily="34" charset="0"/>
                <a:ea typeface="Aptos" pitchFamily="34" charset="-122"/>
                <a:cs typeface="Aptos" pitchFamily="34" charset="-120"/>
              </a:rPr>
              <a:t>DEMAND ASSET</a:t>
            </a:r>
            <a:endParaRPr lang="en-US" sz="1100" dirty="0"/>
          </a:p>
        </p:txBody>
      </p:sp>
      <p:sp>
        <p:nvSpPr>
          <p:cNvPr id="13" name="Text 11"/>
          <p:cNvSpPr/>
          <p:nvPr/>
        </p:nvSpPr>
        <p:spPr>
          <a:xfrm>
            <a:off x="6821424" y="2734056"/>
            <a:ext cx="4507992" cy="265176"/>
          </a:xfrm>
          <a:prstGeom prst="rect">
            <a:avLst/>
          </a:prstGeom>
          <a:noFill/>
          <a:ln/>
        </p:spPr>
        <p:txBody>
          <a:bodyPr wrap="square" lIns="0" tIns="0" rIns="0" bIns="0" rtlCol="0" anchor="ctr">
            <a:normAutofit/>
          </a:bodyPr>
          <a:lstStyle/>
          <a:p>
            <a:pPr indent="0" marL="0">
              <a:buNone/>
            </a:pPr>
            <a:r>
              <a:rPr lang="en-US" sz="1100" b="1" dirty="0">
                <a:solidFill>
                  <a:srgbClr val="57DDC4"/>
                </a:solidFill>
                <a:latin typeface="Aptos" pitchFamily="34" charset="0"/>
                <a:ea typeface="Aptos" pitchFamily="34" charset="-122"/>
                <a:cs typeface="Aptos" pitchFamily="34" charset="-120"/>
              </a:rPr>
              <a:t>CTA / MEASUREMENT</a:t>
            </a:r>
            <a:endParaRPr lang="en-US" sz="1100" dirty="0"/>
          </a:p>
        </p:txBody>
      </p:sp>
      <p:sp>
        <p:nvSpPr>
          <p:cNvPr id="14" name="Shape 12"/>
          <p:cNvSpPr/>
          <p:nvPr/>
        </p:nvSpPr>
        <p:spPr>
          <a:xfrm>
            <a:off x="585216" y="3072384"/>
            <a:ext cx="10991088" cy="448056"/>
          </a:xfrm>
          <a:prstGeom prst="roundRect">
            <a:avLst>
              <a:gd name="adj" fmla="val 22449"/>
            </a:avLst>
          </a:prstGeom>
          <a:solidFill>
            <a:srgbClr val="14283B"/>
          </a:solidFill>
          <a:ln w="12700">
            <a:solidFill>
              <a:srgbClr val="14283B"/>
            </a:solidFill>
            <a:prstDash val="solid"/>
          </a:ln>
        </p:spPr>
      </p:sp>
      <p:sp>
        <p:nvSpPr>
          <p:cNvPr id="15" name="Text 13"/>
          <p:cNvSpPr/>
          <p:nvPr/>
        </p:nvSpPr>
        <p:spPr>
          <a:xfrm>
            <a:off x="804672" y="3163824"/>
            <a:ext cx="6309360" cy="219456"/>
          </a:xfrm>
          <a:prstGeom prst="rect">
            <a:avLst/>
          </a:prstGeom>
          <a:noFill/>
          <a:ln/>
        </p:spPr>
        <p:txBody>
          <a:bodyPr wrap="square" lIns="0" tIns="0" rIns="0" bIns="0" rtlCol="0" anchor="ctr">
            <a:normAutofit/>
          </a:bodyPr>
          <a:lstStyle/>
          <a:p>
            <a:pPr indent="0" marL="0">
              <a:buNone/>
            </a:pPr>
            <a:r>
              <a:rPr lang="en-US" sz="1100" b="1" dirty="0">
                <a:solidFill>
                  <a:srgbClr val="ECF5FA"/>
                </a:solidFill>
                <a:latin typeface="Aptos" pitchFamily="34" charset="0"/>
                <a:ea typeface="Aptos" pitchFamily="34" charset="-122"/>
                <a:cs typeface="Aptos" pitchFamily="34" charset="-120"/>
              </a:rPr>
              <a:t>01  5-Store Profit Leakage Calculator</a:t>
            </a:r>
            <a:endParaRPr lang="en-US" sz="1100" dirty="0"/>
          </a:p>
        </p:txBody>
      </p:sp>
      <p:sp>
        <p:nvSpPr>
          <p:cNvPr id="16" name="Text 14"/>
          <p:cNvSpPr/>
          <p:nvPr/>
        </p:nvSpPr>
        <p:spPr>
          <a:xfrm>
            <a:off x="7114032" y="3163824"/>
            <a:ext cx="4251960" cy="219456"/>
          </a:xfrm>
          <a:prstGeom prst="rect">
            <a:avLst/>
          </a:prstGeom>
          <a:noFill/>
          <a:ln/>
        </p:spPr>
        <p:txBody>
          <a:bodyPr wrap="square" lIns="0" tIns="0" rIns="0" bIns="0" rtlCol="0" anchor="ctr">
            <a:normAutofit/>
          </a:bodyPr>
          <a:lstStyle/>
          <a:p>
            <a:pPr algn="r" indent="0" marL="0">
              <a:buNone/>
            </a:pPr>
            <a:r>
              <a:rPr lang="en-US" sz="1060" dirty="0">
                <a:solidFill>
                  <a:srgbClr val="57DDC4"/>
                </a:solidFill>
                <a:latin typeface="Aptos" pitchFamily="34" charset="0"/>
                <a:ea typeface="Aptos" pitchFamily="34" charset="-122"/>
                <a:cs typeface="Aptos" pitchFamily="34" charset="-120"/>
              </a:rPr>
              <a:t>Custom assessment / verified ICP SQLs</a:t>
            </a:r>
            <a:endParaRPr lang="en-US" sz="1060" dirty="0"/>
          </a:p>
        </p:txBody>
      </p:sp>
      <p:sp>
        <p:nvSpPr>
          <p:cNvPr id="17" name="Shape 15"/>
          <p:cNvSpPr/>
          <p:nvPr/>
        </p:nvSpPr>
        <p:spPr>
          <a:xfrm>
            <a:off x="585216" y="3575304"/>
            <a:ext cx="10991088" cy="448056"/>
          </a:xfrm>
          <a:prstGeom prst="roundRect">
            <a:avLst>
              <a:gd name="adj" fmla="val 22449"/>
            </a:avLst>
          </a:prstGeom>
          <a:solidFill>
            <a:srgbClr val="112336"/>
          </a:solidFill>
          <a:ln w="12700">
            <a:solidFill>
              <a:srgbClr val="112336"/>
            </a:solidFill>
            <a:prstDash val="solid"/>
          </a:ln>
        </p:spPr>
      </p:sp>
      <p:sp>
        <p:nvSpPr>
          <p:cNvPr id="18" name="Text 16"/>
          <p:cNvSpPr/>
          <p:nvPr/>
        </p:nvSpPr>
        <p:spPr>
          <a:xfrm>
            <a:off x="804672" y="3666744"/>
            <a:ext cx="6309360" cy="219456"/>
          </a:xfrm>
          <a:prstGeom prst="rect">
            <a:avLst/>
          </a:prstGeom>
          <a:noFill/>
          <a:ln/>
        </p:spPr>
        <p:txBody>
          <a:bodyPr wrap="square" lIns="0" tIns="0" rIns="0" bIns="0" rtlCol="0" anchor="ctr">
            <a:normAutofit/>
          </a:bodyPr>
          <a:lstStyle/>
          <a:p>
            <a:pPr indent="0" marL="0">
              <a:buNone/>
            </a:pPr>
            <a:r>
              <a:rPr lang="en-US" sz="1100" b="1" dirty="0">
                <a:solidFill>
                  <a:srgbClr val="ECF5FA"/>
                </a:solidFill>
                <a:latin typeface="Aptos" pitchFamily="34" charset="0"/>
                <a:ea typeface="Aptos" pitchFamily="34" charset="-122"/>
                <a:cs typeface="Aptos" pitchFamily="34" charset="-120"/>
              </a:rPr>
              <a:t>02  The Multi-Store Morning Dashboard</a:t>
            </a:r>
            <a:endParaRPr lang="en-US" sz="1100" dirty="0"/>
          </a:p>
        </p:txBody>
      </p:sp>
      <p:sp>
        <p:nvSpPr>
          <p:cNvPr id="19" name="Text 17"/>
          <p:cNvSpPr/>
          <p:nvPr/>
        </p:nvSpPr>
        <p:spPr>
          <a:xfrm>
            <a:off x="7114032" y="3666744"/>
            <a:ext cx="4251960" cy="219456"/>
          </a:xfrm>
          <a:prstGeom prst="rect">
            <a:avLst/>
          </a:prstGeom>
          <a:noFill/>
          <a:ln/>
        </p:spPr>
        <p:txBody>
          <a:bodyPr wrap="square" lIns="0" tIns="0" rIns="0" bIns="0" rtlCol="0" anchor="ctr">
            <a:normAutofit/>
          </a:bodyPr>
          <a:lstStyle/>
          <a:p>
            <a:pPr algn="r" indent="0" marL="0">
              <a:buNone/>
            </a:pPr>
            <a:r>
              <a:rPr lang="en-US" sz="1060" dirty="0">
                <a:solidFill>
                  <a:srgbClr val="BBCAD8"/>
                </a:solidFill>
                <a:latin typeface="Aptos" pitchFamily="34" charset="0"/>
                <a:ea typeface="Aptos" pitchFamily="34" charset="-122"/>
                <a:cs typeface="Aptos" pitchFamily="34" charset="-120"/>
              </a:rPr>
              <a:t>Branch scorecard walkthrough / held→SQL</a:t>
            </a:r>
            <a:endParaRPr lang="en-US" sz="1060" dirty="0"/>
          </a:p>
        </p:txBody>
      </p:sp>
      <p:sp>
        <p:nvSpPr>
          <p:cNvPr id="20" name="Shape 18"/>
          <p:cNvSpPr/>
          <p:nvPr/>
        </p:nvSpPr>
        <p:spPr>
          <a:xfrm>
            <a:off x="585216" y="4078224"/>
            <a:ext cx="10991088" cy="448056"/>
          </a:xfrm>
          <a:prstGeom prst="roundRect">
            <a:avLst>
              <a:gd name="adj" fmla="val 22449"/>
            </a:avLst>
          </a:prstGeom>
          <a:solidFill>
            <a:srgbClr val="14283B"/>
          </a:solidFill>
          <a:ln w="12700">
            <a:solidFill>
              <a:srgbClr val="14283B"/>
            </a:solidFill>
            <a:prstDash val="solid"/>
          </a:ln>
        </p:spPr>
      </p:sp>
      <p:sp>
        <p:nvSpPr>
          <p:cNvPr id="21" name="Text 19"/>
          <p:cNvSpPr/>
          <p:nvPr/>
        </p:nvSpPr>
        <p:spPr>
          <a:xfrm>
            <a:off x="804672" y="4169664"/>
            <a:ext cx="6309360" cy="219456"/>
          </a:xfrm>
          <a:prstGeom prst="rect">
            <a:avLst/>
          </a:prstGeom>
          <a:noFill/>
          <a:ln/>
        </p:spPr>
        <p:txBody>
          <a:bodyPr wrap="square" lIns="0" tIns="0" rIns="0" bIns="0" rtlCol="0" anchor="ctr">
            <a:normAutofit/>
          </a:bodyPr>
          <a:lstStyle/>
          <a:p>
            <a:pPr indent="0" marL="0">
              <a:buNone/>
            </a:pPr>
            <a:r>
              <a:rPr lang="en-US" sz="1100" b="1" dirty="0">
                <a:solidFill>
                  <a:srgbClr val="ECF5FA"/>
                </a:solidFill>
                <a:latin typeface="Aptos" pitchFamily="34" charset="0"/>
                <a:ea typeface="Aptos" pitchFamily="34" charset="-122"/>
                <a:cs typeface="Aptos" pitchFamily="34" charset="-120"/>
              </a:rPr>
              <a:t>03  POS Migration: Tags, Payments &amp; People</a:t>
            </a:r>
            <a:endParaRPr lang="en-US" sz="1100" dirty="0"/>
          </a:p>
        </p:txBody>
      </p:sp>
      <p:sp>
        <p:nvSpPr>
          <p:cNvPr id="22" name="Text 20"/>
          <p:cNvSpPr/>
          <p:nvPr/>
        </p:nvSpPr>
        <p:spPr>
          <a:xfrm>
            <a:off x="7114032" y="4169664"/>
            <a:ext cx="4251960" cy="219456"/>
          </a:xfrm>
          <a:prstGeom prst="rect">
            <a:avLst/>
          </a:prstGeom>
          <a:noFill/>
          <a:ln/>
        </p:spPr>
        <p:txBody>
          <a:bodyPr wrap="square" lIns="0" tIns="0" rIns="0" bIns="0" rtlCol="0" anchor="ctr">
            <a:normAutofit/>
          </a:bodyPr>
          <a:lstStyle/>
          <a:p>
            <a:pPr algn="r" indent="0" marL="0">
              <a:buNone/>
            </a:pPr>
            <a:r>
              <a:rPr lang="en-US" sz="1060" dirty="0">
                <a:solidFill>
                  <a:srgbClr val="BBCAD8"/>
                </a:solidFill>
                <a:latin typeface="Aptos" pitchFamily="34" charset="0"/>
                <a:ea typeface="Aptos" pitchFamily="34" charset="-122"/>
                <a:cs typeface="Aptos" pitchFamily="34" charset="-120"/>
              </a:rPr>
              <a:t>Feasibility review / objections cleared</a:t>
            </a:r>
            <a:endParaRPr lang="en-US" sz="1060" dirty="0"/>
          </a:p>
        </p:txBody>
      </p:sp>
      <p:sp>
        <p:nvSpPr>
          <p:cNvPr id="23" name="Shape 21"/>
          <p:cNvSpPr/>
          <p:nvPr/>
        </p:nvSpPr>
        <p:spPr>
          <a:xfrm>
            <a:off x="585216" y="4581144"/>
            <a:ext cx="10991088" cy="448056"/>
          </a:xfrm>
          <a:prstGeom prst="roundRect">
            <a:avLst>
              <a:gd name="adj" fmla="val 22449"/>
            </a:avLst>
          </a:prstGeom>
          <a:solidFill>
            <a:srgbClr val="112336"/>
          </a:solidFill>
          <a:ln w="12700">
            <a:solidFill>
              <a:srgbClr val="112336"/>
            </a:solidFill>
            <a:prstDash val="solid"/>
          </a:ln>
        </p:spPr>
      </p:sp>
      <p:sp>
        <p:nvSpPr>
          <p:cNvPr id="24" name="Text 22"/>
          <p:cNvSpPr/>
          <p:nvPr/>
        </p:nvSpPr>
        <p:spPr>
          <a:xfrm>
            <a:off x="804672" y="4672584"/>
            <a:ext cx="6309360" cy="219456"/>
          </a:xfrm>
          <a:prstGeom prst="rect">
            <a:avLst/>
          </a:prstGeom>
          <a:noFill/>
          <a:ln/>
        </p:spPr>
        <p:txBody>
          <a:bodyPr wrap="square" lIns="0" tIns="0" rIns="0" bIns="0" rtlCol="0" anchor="ctr">
            <a:normAutofit/>
          </a:bodyPr>
          <a:lstStyle/>
          <a:p>
            <a:pPr indent="0" marL="0">
              <a:buNone/>
            </a:pPr>
            <a:r>
              <a:rPr lang="en-US" sz="1100" b="1" dirty="0">
                <a:solidFill>
                  <a:srgbClr val="ECF5FA"/>
                </a:solidFill>
                <a:latin typeface="Aptos" pitchFamily="34" charset="0"/>
                <a:ea typeface="Aptos" pitchFamily="34" charset="-122"/>
                <a:cs typeface="Aptos" pitchFamily="34" charset="-120"/>
              </a:rPr>
              <a:t>04  One Customer, Five Stores: Broken Order Status</a:t>
            </a:r>
            <a:endParaRPr lang="en-US" sz="1100" dirty="0"/>
          </a:p>
        </p:txBody>
      </p:sp>
      <p:sp>
        <p:nvSpPr>
          <p:cNvPr id="25" name="Text 23"/>
          <p:cNvSpPr/>
          <p:nvPr/>
        </p:nvSpPr>
        <p:spPr>
          <a:xfrm>
            <a:off x="7114032" y="4672584"/>
            <a:ext cx="4251960" cy="219456"/>
          </a:xfrm>
          <a:prstGeom prst="rect">
            <a:avLst/>
          </a:prstGeom>
          <a:noFill/>
          <a:ln/>
        </p:spPr>
        <p:txBody>
          <a:bodyPr wrap="square" lIns="0" tIns="0" rIns="0" bIns="0" rtlCol="0" anchor="ctr">
            <a:normAutofit/>
          </a:bodyPr>
          <a:lstStyle/>
          <a:p>
            <a:pPr algn="r" indent="0" marL="0">
              <a:buNone/>
            </a:pPr>
            <a:r>
              <a:rPr lang="en-US" sz="1060" dirty="0">
                <a:solidFill>
                  <a:srgbClr val="BBCAD8"/>
                </a:solidFill>
                <a:latin typeface="Aptos" pitchFamily="34" charset="0"/>
                <a:ea typeface="Aptos" pitchFamily="34" charset="-122"/>
                <a:cs typeface="Aptos" pitchFamily="34" charset="-120"/>
              </a:rPr>
              <a:t>Order-flow audit / pain-qualified calls</a:t>
            </a:r>
            <a:endParaRPr lang="en-US" sz="1060" dirty="0"/>
          </a:p>
        </p:txBody>
      </p:sp>
      <p:sp>
        <p:nvSpPr>
          <p:cNvPr id="26" name="Shape 24"/>
          <p:cNvSpPr/>
          <p:nvPr/>
        </p:nvSpPr>
        <p:spPr>
          <a:xfrm>
            <a:off x="585216" y="5084064"/>
            <a:ext cx="10991088" cy="448056"/>
          </a:xfrm>
          <a:prstGeom prst="roundRect">
            <a:avLst>
              <a:gd name="adj" fmla="val 22449"/>
            </a:avLst>
          </a:prstGeom>
          <a:solidFill>
            <a:srgbClr val="14283B"/>
          </a:solidFill>
          <a:ln w="12700">
            <a:solidFill>
              <a:srgbClr val="14283B"/>
            </a:solidFill>
            <a:prstDash val="solid"/>
          </a:ln>
        </p:spPr>
      </p:sp>
      <p:sp>
        <p:nvSpPr>
          <p:cNvPr id="27" name="Text 25"/>
          <p:cNvSpPr/>
          <p:nvPr/>
        </p:nvSpPr>
        <p:spPr>
          <a:xfrm>
            <a:off x="804672" y="5175504"/>
            <a:ext cx="6309360" cy="219456"/>
          </a:xfrm>
          <a:prstGeom prst="rect">
            <a:avLst/>
          </a:prstGeom>
          <a:noFill/>
          <a:ln/>
        </p:spPr>
        <p:txBody>
          <a:bodyPr wrap="square" lIns="0" tIns="0" rIns="0" bIns="0" rtlCol="0" anchor="ctr">
            <a:normAutofit/>
          </a:bodyPr>
          <a:lstStyle/>
          <a:p>
            <a:pPr indent="0" marL="0">
              <a:buNone/>
            </a:pPr>
            <a:r>
              <a:rPr lang="en-US" sz="1100" b="1" dirty="0">
                <a:solidFill>
                  <a:srgbClr val="ECF5FA"/>
                </a:solidFill>
                <a:latin typeface="Aptos" pitchFamily="34" charset="0"/>
                <a:ea typeface="Aptos" pitchFamily="34" charset="-122"/>
                <a:cs typeface="Aptos" pitchFamily="34" charset="-120"/>
              </a:rPr>
              <a:t>05  Responsible Repeat-Customer Win-Back</a:t>
            </a:r>
            <a:endParaRPr lang="en-US" sz="1100" dirty="0"/>
          </a:p>
        </p:txBody>
      </p:sp>
      <p:sp>
        <p:nvSpPr>
          <p:cNvPr id="28" name="Text 26"/>
          <p:cNvSpPr/>
          <p:nvPr/>
        </p:nvSpPr>
        <p:spPr>
          <a:xfrm>
            <a:off x="7114032" y="5175504"/>
            <a:ext cx="4251960" cy="219456"/>
          </a:xfrm>
          <a:prstGeom prst="rect">
            <a:avLst/>
          </a:prstGeom>
          <a:noFill/>
          <a:ln/>
        </p:spPr>
        <p:txBody>
          <a:bodyPr wrap="square" lIns="0" tIns="0" rIns="0" bIns="0" rtlCol="0" anchor="ctr">
            <a:normAutofit/>
          </a:bodyPr>
          <a:lstStyle/>
          <a:p>
            <a:pPr algn="r" indent="0" marL="0">
              <a:buNone/>
            </a:pPr>
            <a:r>
              <a:rPr lang="en-US" sz="1060" dirty="0">
                <a:solidFill>
                  <a:srgbClr val="BBCAD8"/>
                </a:solidFill>
                <a:latin typeface="Aptos" pitchFamily="34" charset="0"/>
                <a:ea typeface="Aptos" pitchFamily="34" charset="-122"/>
                <a:cs typeface="Aptos" pitchFamily="34" charset="-120"/>
              </a:rPr>
              <a:t>Retention workflow / influenced pipeline</a:t>
            </a:r>
            <a:endParaRPr lang="en-US" sz="1060" dirty="0"/>
          </a:p>
        </p:txBody>
      </p:sp>
      <p:sp>
        <p:nvSpPr>
          <p:cNvPr id="29" name="Shape 27"/>
          <p:cNvSpPr/>
          <p:nvPr/>
        </p:nvSpPr>
        <p:spPr>
          <a:xfrm>
            <a:off x="594360" y="5815584"/>
            <a:ext cx="10972800" cy="448056"/>
          </a:xfrm>
          <a:prstGeom prst="roundRect">
            <a:avLst>
              <a:gd name="adj" fmla="val 22449"/>
            </a:avLst>
          </a:prstGeom>
          <a:solidFill>
            <a:srgbClr val="112336"/>
          </a:solidFill>
          <a:ln w="12700">
            <a:solidFill>
              <a:srgbClr val="112336"/>
            </a:solidFill>
            <a:prstDash val="solid"/>
          </a:ln>
        </p:spPr>
      </p:sp>
      <p:sp>
        <p:nvSpPr>
          <p:cNvPr id="30" name="Text 28"/>
          <p:cNvSpPr/>
          <p:nvPr/>
        </p:nvSpPr>
        <p:spPr>
          <a:xfrm>
            <a:off x="795528" y="5934456"/>
            <a:ext cx="10552176" cy="219456"/>
          </a:xfrm>
          <a:prstGeom prst="rect">
            <a:avLst/>
          </a:prstGeom>
          <a:noFill/>
          <a:ln/>
        </p:spPr>
        <p:txBody>
          <a:bodyPr wrap="square" lIns="0" tIns="0" rIns="0" bIns="0" rtlCol="0" anchor="ctr">
            <a:normAutofit/>
          </a:bodyPr>
          <a:lstStyle/>
          <a:p>
            <a:pPr indent="0" marL="0">
              <a:buNone/>
            </a:pPr>
            <a:r>
              <a:rPr lang="en-US" sz="1070" b="1" dirty="0">
                <a:solidFill>
                  <a:srgbClr val="57DDC4"/>
                </a:solidFill>
                <a:latin typeface="Aptos" pitchFamily="34" charset="0"/>
                <a:ea typeface="Aptos" pitchFamily="34" charset="-122"/>
                <a:cs typeface="Aptos" pitchFamily="34" charset="-120"/>
              </a:rPr>
              <a:t>ILLUSTRATIVE LABOR CAPACITY: 5 stores × 0.5h/day × 26 days × $18/h = $1,170/month; not verified cash savings.</a:t>
            </a:r>
            <a:endParaRPr lang="en-US" sz="10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04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Rank channels on accepted pipeline—not cheaper leads.</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Commercial intent, named accounts and referral trust beat broad reach until source cohorts mature.</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CHANNEL PRIORITIES</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Text 8"/>
          <p:cNvSpPr/>
          <p:nvPr/>
        </p:nvSpPr>
        <p:spPr>
          <a:xfrm>
            <a:off x="731520" y="1929384"/>
            <a:ext cx="2926080" cy="228600"/>
          </a:xfrm>
          <a:prstGeom prst="rect">
            <a:avLst/>
          </a:prstGeom>
          <a:noFill/>
          <a:ln/>
        </p:spPr>
        <p:txBody>
          <a:bodyPr wrap="square" lIns="0" tIns="0" rIns="0" bIns="0" rtlCol="0" anchor="ctr">
            <a:normAutofit/>
          </a:bodyPr>
          <a:lstStyle/>
          <a:p>
            <a:pPr indent="0" marL="0">
              <a:buNone/>
            </a:pPr>
            <a:r>
              <a:rPr lang="en-US" sz="1000" b="1" dirty="0">
                <a:solidFill>
                  <a:srgbClr val="57DDC4"/>
                </a:solidFill>
                <a:latin typeface="Aptos" pitchFamily="34" charset="0"/>
                <a:ea typeface="Aptos" pitchFamily="34" charset="-122"/>
                <a:cs typeface="Aptos" pitchFamily="34" charset="-120"/>
              </a:rPr>
              <a:t>CHANNEL</a:t>
            </a:r>
            <a:endParaRPr lang="en-US" sz="1000" dirty="0"/>
          </a:p>
        </p:txBody>
      </p:sp>
      <p:sp>
        <p:nvSpPr>
          <p:cNvPr id="11" name="Text 9"/>
          <p:cNvSpPr/>
          <p:nvPr/>
        </p:nvSpPr>
        <p:spPr>
          <a:xfrm>
            <a:off x="3813048" y="1929384"/>
            <a:ext cx="2743200" cy="228600"/>
          </a:xfrm>
          <a:prstGeom prst="rect">
            <a:avLst/>
          </a:prstGeom>
          <a:noFill/>
          <a:ln/>
        </p:spPr>
        <p:txBody>
          <a:bodyPr wrap="square" lIns="0" tIns="0" rIns="0" bIns="0" rtlCol="0" anchor="ctr">
            <a:normAutofit/>
          </a:bodyPr>
          <a:lstStyle/>
          <a:p>
            <a:pPr indent="0" marL="0">
              <a:buNone/>
            </a:pPr>
            <a:r>
              <a:rPr lang="en-US" sz="1000" b="1" dirty="0">
                <a:solidFill>
                  <a:srgbClr val="57DDC4"/>
                </a:solidFill>
                <a:latin typeface="Aptos" pitchFamily="34" charset="0"/>
                <a:ea typeface="Aptos" pitchFamily="34" charset="-122"/>
                <a:cs typeface="Aptos" pitchFamily="34" charset="-120"/>
              </a:rPr>
              <a:t>ADVANTAGE</a:t>
            </a:r>
            <a:endParaRPr lang="en-US" sz="1000" dirty="0"/>
          </a:p>
        </p:txBody>
      </p:sp>
      <p:sp>
        <p:nvSpPr>
          <p:cNvPr id="12" name="Text 10"/>
          <p:cNvSpPr/>
          <p:nvPr/>
        </p:nvSpPr>
        <p:spPr>
          <a:xfrm>
            <a:off x="6720840" y="1929384"/>
            <a:ext cx="2423160" cy="228600"/>
          </a:xfrm>
          <a:prstGeom prst="rect">
            <a:avLst/>
          </a:prstGeom>
          <a:noFill/>
          <a:ln/>
        </p:spPr>
        <p:txBody>
          <a:bodyPr wrap="square" lIns="0" tIns="0" rIns="0" bIns="0" rtlCol="0" anchor="ctr">
            <a:normAutofit/>
          </a:bodyPr>
          <a:lstStyle/>
          <a:p>
            <a:pPr indent="0" marL="0">
              <a:buNone/>
            </a:pPr>
            <a:r>
              <a:rPr lang="en-US" sz="1000" b="1" dirty="0">
                <a:solidFill>
                  <a:srgbClr val="57DDC4"/>
                </a:solidFill>
                <a:latin typeface="Aptos" pitchFamily="34" charset="0"/>
                <a:ea typeface="Aptos" pitchFamily="34" charset="-122"/>
                <a:cs typeface="Aptos" pitchFamily="34" charset="-120"/>
              </a:rPr>
              <a:t>PRIMARY RISK</a:t>
            </a:r>
            <a:endParaRPr lang="en-US" sz="1000" dirty="0"/>
          </a:p>
        </p:txBody>
      </p:sp>
      <p:sp>
        <p:nvSpPr>
          <p:cNvPr id="13" name="Text 11"/>
          <p:cNvSpPr/>
          <p:nvPr/>
        </p:nvSpPr>
        <p:spPr>
          <a:xfrm>
            <a:off x="9372600" y="1929384"/>
            <a:ext cx="2011680" cy="228600"/>
          </a:xfrm>
          <a:prstGeom prst="rect">
            <a:avLst/>
          </a:prstGeom>
          <a:noFill/>
          <a:ln/>
        </p:spPr>
        <p:txBody>
          <a:bodyPr wrap="square" lIns="0" tIns="0" rIns="0" bIns="0" rtlCol="0" anchor="ctr">
            <a:normAutofit/>
          </a:bodyPr>
          <a:lstStyle/>
          <a:p>
            <a:pPr indent="0" marL="0">
              <a:buNone/>
            </a:pPr>
            <a:r>
              <a:rPr lang="en-US" sz="1000" b="1" dirty="0">
                <a:solidFill>
                  <a:srgbClr val="57DDC4"/>
                </a:solidFill>
                <a:latin typeface="Aptos" pitchFamily="34" charset="0"/>
                <a:ea typeface="Aptos" pitchFamily="34" charset="-122"/>
                <a:cs typeface="Aptos" pitchFamily="34" charset="-120"/>
              </a:rPr>
              <a:t>SUCCESS METRIC</a:t>
            </a:r>
            <a:endParaRPr lang="en-US" sz="1000" dirty="0"/>
          </a:p>
        </p:txBody>
      </p:sp>
      <p:sp>
        <p:nvSpPr>
          <p:cNvPr id="14" name="Shape 12"/>
          <p:cNvSpPr/>
          <p:nvPr/>
        </p:nvSpPr>
        <p:spPr>
          <a:xfrm>
            <a:off x="594360" y="2276856"/>
            <a:ext cx="10981944" cy="594360"/>
          </a:xfrm>
          <a:prstGeom prst="roundRect">
            <a:avLst>
              <a:gd name="adj" fmla="val 16923"/>
            </a:avLst>
          </a:prstGeom>
          <a:solidFill>
            <a:srgbClr val="14283B"/>
          </a:solidFill>
          <a:ln w="12700">
            <a:solidFill>
              <a:srgbClr val="14283B"/>
            </a:solidFill>
            <a:prstDash val="solid"/>
          </a:ln>
        </p:spPr>
      </p:sp>
      <p:sp>
        <p:nvSpPr>
          <p:cNvPr id="15" name="Text 13"/>
          <p:cNvSpPr/>
          <p:nvPr/>
        </p:nvSpPr>
        <p:spPr>
          <a:xfrm>
            <a:off x="758952" y="2404872"/>
            <a:ext cx="2880360" cy="338328"/>
          </a:xfrm>
          <a:prstGeom prst="rect">
            <a:avLst/>
          </a:prstGeom>
          <a:noFill/>
          <a:ln/>
        </p:spPr>
        <p:txBody>
          <a:bodyPr wrap="square" lIns="0" tIns="0" rIns="0" bIns="0" rtlCol="0" anchor="ctr">
            <a:normAutofit/>
          </a:bodyPr>
          <a:lstStyle/>
          <a:p>
            <a:pPr indent="0" marL="0">
              <a:buNone/>
            </a:pPr>
            <a:r>
              <a:rPr lang="en-US" sz="1140" b="1" dirty="0">
                <a:solidFill>
                  <a:srgbClr val="ECF5FA"/>
                </a:solidFill>
                <a:latin typeface="Aptos" pitchFamily="34" charset="0"/>
                <a:ea typeface="Aptos" pitchFamily="34" charset="-122"/>
                <a:cs typeface="Aptos" pitchFamily="34" charset="-120"/>
              </a:rPr>
              <a:t>01  Intent Search (exact/phrase)</a:t>
            </a:r>
            <a:endParaRPr lang="en-US" sz="1140" dirty="0"/>
          </a:p>
        </p:txBody>
      </p:sp>
      <p:sp>
        <p:nvSpPr>
          <p:cNvPr id="16" name="Text 14"/>
          <p:cNvSpPr/>
          <p:nvPr/>
        </p:nvSpPr>
        <p:spPr>
          <a:xfrm>
            <a:off x="3813048" y="2404872"/>
            <a:ext cx="2779776"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Software-buying intent</a:t>
            </a:r>
            <a:endParaRPr lang="en-US" sz="1070" dirty="0"/>
          </a:p>
        </p:txBody>
      </p:sp>
      <p:sp>
        <p:nvSpPr>
          <p:cNvPr id="17" name="Text 15"/>
          <p:cNvSpPr/>
          <p:nvPr/>
        </p:nvSpPr>
        <p:spPr>
          <a:xfrm>
            <a:off x="6720840" y="2404872"/>
            <a:ext cx="2450592"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Sparse / noisy queries</a:t>
            </a:r>
            <a:endParaRPr lang="en-US" sz="1070" dirty="0"/>
          </a:p>
        </p:txBody>
      </p:sp>
      <p:sp>
        <p:nvSpPr>
          <p:cNvPr id="18" name="Text 16"/>
          <p:cNvSpPr/>
          <p:nvPr/>
        </p:nvSpPr>
        <p:spPr>
          <a:xfrm>
            <a:off x="9372600" y="2404872"/>
            <a:ext cx="2029968"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Cost per accepted SQL</a:t>
            </a:r>
            <a:endParaRPr lang="en-US" sz="1070" dirty="0"/>
          </a:p>
        </p:txBody>
      </p:sp>
      <p:sp>
        <p:nvSpPr>
          <p:cNvPr id="19" name="Shape 17"/>
          <p:cNvSpPr/>
          <p:nvPr/>
        </p:nvSpPr>
        <p:spPr>
          <a:xfrm>
            <a:off x="594360" y="2953512"/>
            <a:ext cx="10981944" cy="594360"/>
          </a:xfrm>
          <a:prstGeom prst="roundRect">
            <a:avLst>
              <a:gd name="adj" fmla="val 16923"/>
            </a:avLst>
          </a:prstGeom>
          <a:solidFill>
            <a:srgbClr val="112336"/>
          </a:solidFill>
          <a:ln w="12700">
            <a:solidFill>
              <a:srgbClr val="112336"/>
            </a:solidFill>
            <a:prstDash val="solid"/>
          </a:ln>
        </p:spPr>
      </p:sp>
      <p:sp>
        <p:nvSpPr>
          <p:cNvPr id="20" name="Text 18"/>
          <p:cNvSpPr/>
          <p:nvPr/>
        </p:nvSpPr>
        <p:spPr>
          <a:xfrm>
            <a:off x="758952" y="3081528"/>
            <a:ext cx="2880360" cy="338328"/>
          </a:xfrm>
          <a:prstGeom prst="rect">
            <a:avLst/>
          </a:prstGeom>
          <a:noFill/>
          <a:ln/>
        </p:spPr>
        <p:txBody>
          <a:bodyPr wrap="square" lIns="0" tIns="0" rIns="0" bIns="0" rtlCol="0" anchor="ctr">
            <a:normAutofit/>
          </a:bodyPr>
          <a:lstStyle/>
          <a:p>
            <a:pPr indent="0" marL="0">
              <a:buNone/>
            </a:pPr>
            <a:r>
              <a:rPr lang="en-US" sz="1140" b="1" dirty="0">
                <a:solidFill>
                  <a:srgbClr val="ECF5FA"/>
                </a:solidFill>
                <a:latin typeface="Aptos" pitchFamily="34" charset="0"/>
                <a:ea typeface="Aptos" pitchFamily="34" charset="-122"/>
                <a:cs typeface="Aptos" pitchFamily="34" charset="-120"/>
              </a:rPr>
              <a:t>02  Verified-account outbound</a:t>
            </a:r>
            <a:endParaRPr lang="en-US" sz="1140" dirty="0"/>
          </a:p>
        </p:txBody>
      </p:sp>
      <p:sp>
        <p:nvSpPr>
          <p:cNvPr id="21" name="Text 19"/>
          <p:cNvSpPr/>
          <p:nvPr/>
        </p:nvSpPr>
        <p:spPr>
          <a:xfrm>
            <a:off x="3813048" y="3081528"/>
            <a:ext cx="2779776"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Exact 3–10-store account fit</a:t>
            </a:r>
            <a:endParaRPr lang="en-US" sz="1070" dirty="0"/>
          </a:p>
        </p:txBody>
      </p:sp>
      <p:sp>
        <p:nvSpPr>
          <p:cNvPr id="22" name="Text 20"/>
          <p:cNvSpPr/>
          <p:nvPr/>
        </p:nvSpPr>
        <p:spPr>
          <a:xfrm>
            <a:off x="6720840" y="3081528"/>
            <a:ext cx="2450592"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Manual labor + sales load</a:t>
            </a:r>
            <a:endParaRPr lang="en-US" sz="1070" dirty="0"/>
          </a:p>
        </p:txBody>
      </p:sp>
      <p:sp>
        <p:nvSpPr>
          <p:cNvPr id="23" name="Text 21"/>
          <p:cNvSpPr/>
          <p:nvPr/>
        </p:nvSpPr>
        <p:spPr>
          <a:xfrm>
            <a:off x="9372600" y="3081528"/>
            <a:ext cx="2029968"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Held ICP meetings</a:t>
            </a:r>
            <a:endParaRPr lang="en-US" sz="1070" dirty="0"/>
          </a:p>
        </p:txBody>
      </p:sp>
      <p:sp>
        <p:nvSpPr>
          <p:cNvPr id="24" name="Shape 22"/>
          <p:cNvSpPr/>
          <p:nvPr/>
        </p:nvSpPr>
        <p:spPr>
          <a:xfrm>
            <a:off x="594360" y="3630168"/>
            <a:ext cx="10981944" cy="594360"/>
          </a:xfrm>
          <a:prstGeom prst="roundRect">
            <a:avLst>
              <a:gd name="adj" fmla="val 16923"/>
            </a:avLst>
          </a:prstGeom>
          <a:solidFill>
            <a:srgbClr val="14283B"/>
          </a:solidFill>
          <a:ln w="12700">
            <a:solidFill>
              <a:srgbClr val="14283B"/>
            </a:solidFill>
            <a:prstDash val="solid"/>
          </a:ln>
        </p:spPr>
      </p:sp>
      <p:sp>
        <p:nvSpPr>
          <p:cNvPr id="25" name="Text 23"/>
          <p:cNvSpPr/>
          <p:nvPr/>
        </p:nvSpPr>
        <p:spPr>
          <a:xfrm>
            <a:off x="758952" y="3758184"/>
            <a:ext cx="2880360" cy="338328"/>
          </a:xfrm>
          <a:prstGeom prst="rect">
            <a:avLst/>
          </a:prstGeom>
          <a:noFill/>
          <a:ln/>
        </p:spPr>
        <p:txBody>
          <a:bodyPr wrap="square" lIns="0" tIns="0" rIns="0" bIns="0" rtlCol="0" anchor="ctr">
            <a:normAutofit/>
          </a:bodyPr>
          <a:lstStyle/>
          <a:p>
            <a:pPr indent="0" marL="0">
              <a:buNone/>
            </a:pPr>
            <a:r>
              <a:rPr lang="en-US" sz="1140" b="1" dirty="0">
                <a:solidFill>
                  <a:srgbClr val="ECF5FA"/>
                </a:solidFill>
                <a:latin typeface="Aptos" pitchFamily="34" charset="0"/>
                <a:ea typeface="Aptos" pitchFamily="34" charset="-122"/>
                <a:cs typeface="Aptos" pitchFamily="34" charset="-120"/>
              </a:rPr>
              <a:t>03  Industry partners</a:t>
            </a:r>
            <a:endParaRPr lang="en-US" sz="1140" dirty="0"/>
          </a:p>
        </p:txBody>
      </p:sp>
      <p:sp>
        <p:nvSpPr>
          <p:cNvPr id="26" name="Text 24"/>
          <p:cNvSpPr/>
          <p:nvPr/>
        </p:nvSpPr>
        <p:spPr>
          <a:xfrm>
            <a:off x="3813048" y="3758184"/>
            <a:ext cx="2779776"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Warm operational credibility</a:t>
            </a:r>
            <a:endParaRPr lang="en-US" sz="1070" dirty="0"/>
          </a:p>
        </p:txBody>
      </p:sp>
      <p:sp>
        <p:nvSpPr>
          <p:cNvPr id="27" name="Text 25"/>
          <p:cNvSpPr/>
          <p:nvPr/>
        </p:nvSpPr>
        <p:spPr>
          <a:xfrm>
            <a:off x="6720840" y="3758184"/>
            <a:ext cx="2450592"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Partner access unproven</a:t>
            </a:r>
            <a:endParaRPr lang="en-US" sz="1070" dirty="0"/>
          </a:p>
        </p:txBody>
      </p:sp>
      <p:sp>
        <p:nvSpPr>
          <p:cNvPr id="28" name="Text 26"/>
          <p:cNvSpPr/>
          <p:nvPr/>
        </p:nvSpPr>
        <p:spPr>
          <a:xfrm>
            <a:off x="9372600" y="3758184"/>
            <a:ext cx="2029968"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Partner-sourced SQL</a:t>
            </a:r>
            <a:endParaRPr lang="en-US" sz="1070" dirty="0"/>
          </a:p>
        </p:txBody>
      </p:sp>
      <p:sp>
        <p:nvSpPr>
          <p:cNvPr id="29" name="Shape 27"/>
          <p:cNvSpPr/>
          <p:nvPr/>
        </p:nvSpPr>
        <p:spPr>
          <a:xfrm>
            <a:off x="594360" y="4306824"/>
            <a:ext cx="10981944" cy="594360"/>
          </a:xfrm>
          <a:prstGeom prst="roundRect">
            <a:avLst>
              <a:gd name="adj" fmla="val 16923"/>
            </a:avLst>
          </a:prstGeom>
          <a:solidFill>
            <a:srgbClr val="112336"/>
          </a:solidFill>
          <a:ln w="12700">
            <a:solidFill>
              <a:srgbClr val="112336"/>
            </a:solidFill>
            <a:prstDash val="solid"/>
          </a:ln>
        </p:spPr>
      </p:sp>
      <p:sp>
        <p:nvSpPr>
          <p:cNvPr id="30" name="Text 28"/>
          <p:cNvSpPr/>
          <p:nvPr/>
        </p:nvSpPr>
        <p:spPr>
          <a:xfrm>
            <a:off x="758952" y="4434840"/>
            <a:ext cx="2880360" cy="338328"/>
          </a:xfrm>
          <a:prstGeom prst="rect">
            <a:avLst/>
          </a:prstGeom>
          <a:noFill/>
          <a:ln/>
        </p:spPr>
        <p:txBody>
          <a:bodyPr wrap="square" lIns="0" tIns="0" rIns="0" bIns="0" rtlCol="0" anchor="ctr">
            <a:normAutofit/>
          </a:bodyPr>
          <a:lstStyle/>
          <a:p>
            <a:pPr indent="0" marL="0">
              <a:buNone/>
            </a:pPr>
            <a:r>
              <a:rPr lang="en-US" sz="1140" b="1" dirty="0">
                <a:solidFill>
                  <a:srgbClr val="ECF5FA"/>
                </a:solidFill>
                <a:latin typeface="Aptos" pitchFamily="34" charset="0"/>
                <a:ea typeface="Aptos" pitchFamily="34" charset="-122"/>
                <a:cs typeface="Aptos" pitchFamily="34" charset="-120"/>
              </a:rPr>
              <a:t>04  Meta proof retargeting</a:t>
            </a:r>
            <a:endParaRPr lang="en-US" sz="1140" dirty="0"/>
          </a:p>
        </p:txBody>
      </p:sp>
      <p:sp>
        <p:nvSpPr>
          <p:cNvPr id="31" name="Text 29"/>
          <p:cNvSpPr/>
          <p:nvPr/>
        </p:nvSpPr>
        <p:spPr>
          <a:xfrm>
            <a:off x="3813048" y="4434840"/>
            <a:ext cx="2779776"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Reassure evaluators</a:t>
            </a:r>
            <a:endParaRPr lang="en-US" sz="1070" dirty="0"/>
          </a:p>
        </p:txBody>
      </p:sp>
      <p:sp>
        <p:nvSpPr>
          <p:cNvPr id="32" name="Text 30"/>
          <p:cNvSpPr/>
          <p:nvPr/>
        </p:nvSpPr>
        <p:spPr>
          <a:xfrm>
            <a:off x="6720840" y="4434840"/>
            <a:ext cx="2450592"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Small audiences / poor ICP</a:t>
            </a:r>
            <a:endParaRPr lang="en-US" sz="1070" dirty="0"/>
          </a:p>
        </p:txBody>
      </p:sp>
      <p:sp>
        <p:nvSpPr>
          <p:cNvPr id="33" name="Text 31"/>
          <p:cNvSpPr/>
          <p:nvPr/>
        </p:nvSpPr>
        <p:spPr>
          <a:xfrm>
            <a:off x="9372600" y="4434840"/>
            <a:ext cx="2029968"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Incremental qualified holds</a:t>
            </a:r>
            <a:endParaRPr lang="en-US" sz="1070" dirty="0"/>
          </a:p>
        </p:txBody>
      </p:sp>
      <p:sp>
        <p:nvSpPr>
          <p:cNvPr id="34" name="Shape 32"/>
          <p:cNvSpPr/>
          <p:nvPr/>
        </p:nvSpPr>
        <p:spPr>
          <a:xfrm>
            <a:off x="594360" y="4983480"/>
            <a:ext cx="10981944" cy="594360"/>
          </a:xfrm>
          <a:prstGeom prst="roundRect">
            <a:avLst>
              <a:gd name="adj" fmla="val 16923"/>
            </a:avLst>
          </a:prstGeom>
          <a:solidFill>
            <a:srgbClr val="14283B"/>
          </a:solidFill>
          <a:ln w="12700">
            <a:solidFill>
              <a:srgbClr val="14283B"/>
            </a:solidFill>
            <a:prstDash val="solid"/>
          </a:ln>
        </p:spPr>
      </p:sp>
      <p:sp>
        <p:nvSpPr>
          <p:cNvPr id="35" name="Text 33"/>
          <p:cNvSpPr/>
          <p:nvPr/>
        </p:nvSpPr>
        <p:spPr>
          <a:xfrm>
            <a:off x="758952" y="5111496"/>
            <a:ext cx="2880360" cy="338328"/>
          </a:xfrm>
          <a:prstGeom prst="rect">
            <a:avLst/>
          </a:prstGeom>
          <a:noFill/>
          <a:ln/>
        </p:spPr>
        <p:txBody>
          <a:bodyPr wrap="square" lIns="0" tIns="0" rIns="0" bIns="0" rtlCol="0" anchor="ctr">
            <a:normAutofit/>
          </a:bodyPr>
          <a:lstStyle/>
          <a:p>
            <a:pPr indent="0" marL="0">
              <a:buNone/>
            </a:pPr>
            <a:r>
              <a:rPr lang="en-US" sz="1140" b="1" dirty="0">
                <a:solidFill>
                  <a:srgbClr val="ECF5FA"/>
                </a:solidFill>
                <a:latin typeface="Aptos" pitchFamily="34" charset="0"/>
                <a:ea typeface="Aptos" pitchFamily="34" charset="-122"/>
                <a:cs typeface="Aptos" pitchFamily="34" charset="-120"/>
              </a:rPr>
              <a:t>05  Decision-enabling assets</a:t>
            </a:r>
            <a:endParaRPr lang="en-US" sz="1140" dirty="0"/>
          </a:p>
        </p:txBody>
      </p:sp>
      <p:sp>
        <p:nvSpPr>
          <p:cNvPr id="36" name="Text 34"/>
          <p:cNvSpPr/>
          <p:nvPr/>
        </p:nvSpPr>
        <p:spPr>
          <a:xfrm>
            <a:off x="3813048" y="5111496"/>
            <a:ext cx="2779776"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Resolve buying objections</a:t>
            </a:r>
            <a:endParaRPr lang="en-US" sz="1070" dirty="0"/>
          </a:p>
        </p:txBody>
      </p:sp>
      <p:sp>
        <p:nvSpPr>
          <p:cNvPr id="37" name="Text 35"/>
          <p:cNvSpPr/>
          <p:nvPr/>
        </p:nvSpPr>
        <p:spPr>
          <a:xfrm>
            <a:off x="6720840" y="5111496"/>
            <a:ext cx="2450592"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Traffic without intent</a:t>
            </a:r>
            <a:endParaRPr lang="en-US" sz="1070" dirty="0"/>
          </a:p>
        </p:txBody>
      </p:sp>
      <p:sp>
        <p:nvSpPr>
          <p:cNvPr id="38" name="Text 36"/>
          <p:cNvSpPr/>
          <p:nvPr/>
        </p:nvSpPr>
        <p:spPr>
          <a:xfrm>
            <a:off x="9372600" y="5111496"/>
            <a:ext cx="2029968" cy="338328"/>
          </a:xfrm>
          <a:prstGeom prst="rect">
            <a:avLst/>
          </a:prstGeom>
          <a:noFill/>
          <a:ln/>
        </p:spPr>
        <p:txBody>
          <a:bodyPr wrap="square" lIns="0" tIns="0" rIns="0" bIns="0" rtlCol="0" anchor="ctr">
            <a:normAutofit/>
          </a:bodyPr>
          <a:lstStyle/>
          <a:p>
            <a:pPr indent="0" marL="0">
              <a:buNone/>
            </a:pPr>
            <a:r>
              <a:rPr lang="en-US" sz="1070" dirty="0">
                <a:solidFill>
                  <a:srgbClr val="BBCAD8"/>
                </a:solidFill>
                <a:latin typeface="Aptos" pitchFamily="34" charset="0"/>
                <a:ea typeface="Aptos" pitchFamily="34" charset="-122"/>
                <a:cs typeface="Aptos" pitchFamily="34" charset="-120"/>
              </a:rPr>
              <a:t>Assisted SQL / usage</a:t>
            </a:r>
            <a:endParaRPr lang="en-US" sz="1070" dirty="0"/>
          </a:p>
        </p:txBody>
      </p:sp>
      <p:sp>
        <p:nvSpPr>
          <p:cNvPr id="39" name="Shape 37"/>
          <p:cNvSpPr/>
          <p:nvPr/>
        </p:nvSpPr>
        <p:spPr>
          <a:xfrm>
            <a:off x="594360" y="5952744"/>
            <a:ext cx="10972800" cy="329184"/>
          </a:xfrm>
          <a:prstGeom prst="roundRect">
            <a:avLst>
              <a:gd name="adj" fmla="val 30556"/>
            </a:avLst>
          </a:prstGeom>
          <a:solidFill>
            <a:srgbClr val="1B3D52"/>
          </a:solidFill>
          <a:ln w="12700">
            <a:solidFill>
              <a:srgbClr val="1B3D52"/>
            </a:solidFill>
            <a:prstDash val="solid"/>
          </a:ln>
        </p:spPr>
      </p:sp>
      <p:sp>
        <p:nvSpPr>
          <p:cNvPr id="40" name="Text 38"/>
          <p:cNvSpPr/>
          <p:nvPr/>
        </p:nvSpPr>
        <p:spPr>
          <a:xfrm>
            <a:off x="804672" y="6035040"/>
            <a:ext cx="10515600" cy="173736"/>
          </a:xfrm>
          <a:prstGeom prst="rect">
            <a:avLst/>
          </a:prstGeom>
          <a:noFill/>
          <a:ln/>
        </p:spPr>
        <p:txBody>
          <a:bodyPr wrap="square" lIns="0" tIns="0" rIns="0" bIns="0" rtlCol="0" anchor="ctr">
            <a:normAutofit/>
          </a:bodyPr>
          <a:lstStyle/>
          <a:p>
            <a:pPr indent="0" marL="0">
              <a:buNone/>
            </a:pPr>
            <a:r>
              <a:rPr lang="en-US" sz="1020" b="1" dirty="0">
                <a:solidFill>
                  <a:srgbClr val="F2C87E"/>
                </a:solidFill>
                <a:latin typeface="Aptos" pitchFamily="34" charset="0"/>
                <a:ea typeface="Aptos" pitchFamily="34" charset="-122"/>
                <a:cs typeface="Aptos" pitchFamily="34" charset="-120"/>
              </a:rPr>
              <a:t>STOP obvious irrelevant searches immediately. SCALE only with verified fit, relevant conversations and stage-mature economics.</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05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Test a ₹30k multi-store operations audit in month one.</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A learning experiment: sales-accepted conversations, not a statistically credible win forecast.</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FIRST CAMPAIGN / 30 DAYS</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94360" y="1856232"/>
            <a:ext cx="5413248" cy="3108960"/>
          </a:xfrm>
          <a:prstGeom prst="roundRect">
            <a:avLst>
              <a:gd name="adj" fmla="val 3235"/>
            </a:avLst>
          </a:prstGeom>
          <a:solidFill>
            <a:srgbClr val="14283B"/>
          </a:solidFill>
          <a:ln w="12700">
            <a:solidFill>
              <a:srgbClr val="14283B"/>
            </a:solidFill>
            <a:prstDash val="solid"/>
          </a:ln>
        </p:spPr>
      </p:sp>
      <p:sp>
        <p:nvSpPr>
          <p:cNvPr id="11" name="Text 9"/>
          <p:cNvSpPr/>
          <p:nvPr/>
        </p:nvSpPr>
        <p:spPr>
          <a:xfrm>
            <a:off x="795528" y="2011680"/>
            <a:ext cx="5010912" cy="292608"/>
          </a:xfrm>
          <a:prstGeom prst="rect">
            <a:avLst/>
          </a:prstGeom>
          <a:noFill/>
          <a:ln/>
        </p:spPr>
        <p:txBody>
          <a:bodyPr wrap="square" lIns="0" tIns="0" rIns="0" bIns="0" rtlCol="0" anchor="ctr">
            <a:normAutofit/>
          </a:bodyPr>
          <a:lstStyle/>
          <a:p>
            <a:pPr indent="0" marL="0">
              <a:buNone/>
            </a:pPr>
            <a:r>
              <a:rPr lang="en-US" sz="1300" b="1" dirty="0">
                <a:solidFill>
                  <a:srgbClr val="57DDC4"/>
                </a:solidFill>
                <a:latin typeface="Aptos" pitchFamily="34" charset="0"/>
                <a:ea typeface="Aptos" pitchFamily="34" charset="-122"/>
                <a:cs typeface="Aptos" pitchFamily="34" charset="-120"/>
              </a:rPr>
              <a:t>DRAFT SEARCH AD</a:t>
            </a:r>
            <a:endParaRPr lang="en-US" sz="1300" dirty="0"/>
          </a:p>
        </p:txBody>
      </p:sp>
      <p:sp>
        <p:nvSpPr>
          <p:cNvPr id="12" name="Text 10"/>
          <p:cNvSpPr/>
          <p:nvPr/>
        </p:nvSpPr>
        <p:spPr>
          <a:xfrm>
            <a:off x="795528" y="2386584"/>
            <a:ext cx="5010912" cy="2423160"/>
          </a:xfrm>
          <a:prstGeom prst="rect">
            <a:avLst/>
          </a:prstGeom>
          <a:noFill/>
          <a:ln/>
        </p:spPr>
        <p:txBody>
          <a:bodyPr wrap="square" lIns="0" tIns="0" rIns="0" bIns="0" rtlCol="0" anchor="t">
            <a:normAutofit/>
          </a:bodyPr>
          <a:lstStyle/>
          <a:p>
            <a:pPr indent="0" marL="0">
              <a:buNone/>
            </a:pPr>
            <a:r>
              <a:rPr lang="en-US" sz="1120" dirty="0">
                <a:solidFill>
                  <a:srgbClr val="BBCAD8"/>
                </a:solidFill>
                <a:latin typeface="Aptos" pitchFamily="34" charset="0"/>
                <a:ea typeface="Aptos" pitchFamily="34" charset="-122"/>
                <a:cs typeface="Aptos" pitchFamily="34" charset="-120"/>
              </a:rPr>
              <a:t>Dry Cleaner POS for Multi-Store Teams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See Every Store in One View</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Managing 3+ dry-cleaning stores? Review orders, reporting and pickups in a workflow-specific demo.</a:t>
            </a:r>
            <a:endParaRPr lang="en-US" sz="1120" dirty="0"/>
          </a:p>
          <a:p>
            <a:pPr indent="0" marL="0">
              <a:buNone/>
            </a:pP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CTA: Book a 20-Minute Multi-Store Audit.</a:t>
            </a:r>
            <a:endParaRPr lang="en-US" sz="1120" dirty="0"/>
          </a:p>
        </p:txBody>
      </p:sp>
      <p:sp>
        <p:nvSpPr>
          <p:cNvPr id="13" name="Shape 11"/>
          <p:cNvSpPr/>
          <p:nvPr/>
        </p:nvSpPr>
        <p:spPr>
          <a:xfrm>
            <a:off x="6217920" y="1856232"/>
            <a:ext cx="5349240" cy="3108960"/>
          </a:xfrm>
          <a:prstGeom prst="roundRect">
            <a:avLst>
              <a:gd name="adj" fmla="val 3235"/>
            </a:avLst>
          </a:prstGeom>
          <a:solidFill>
            <a:srgbClr val="112336"/>
          </a:solidFill>
          <a:ln w="12700">
            <a:solidFill>
              <a:srgbClr val="112336"/>
            </a:solidFill>
            <a:prstDash val="solid"/>
          </a:ln>
        </p:spPr>
      </p:sp>
      <p:sp>
        <p:nvSpPr>
          <p:cNvPr id="14" name="Text 12"/>
          <p:cNvSpPr/>
          <p:nvPr/>
        </p:nvSpPr>
        <p:spPr>
          <a:xfrm>
            <a:off x="6437376" y="2084832"/>
            <a:ext cx="4736592" cy="265176"/>
          </a:xfrm>
          <a:prstGeom prst="rect">
            <a:avLst/>
          </a:prstGeom>
          <a:noFill/>
          <a:ln/>
        </p:spPr>
        <p:txBody>
          <a:bodyPr wrap="square" lIns="0" tIns="0" rIns="0" bIns="0" rtlCol="0" anchor="ctr">
            <a:normAutofit/>
          </a:bodyPr>
          <a:lstStyle/>
          <a:p>
            <a:pPr indent="0" marL="0">
              <a:buNone/>
            </a:pPr>
            <a:r>
              <a:rPr lang="en-US" sz="1300" b="1" dirty="0">
                <a:solidFill>
                  <a:srgbClr val="F2C87E"/>
                </a:solidFill>
                <a:latin typeface="Aptos" pitchFamily="34" charset="0"/>
                <a:ea typeface="Aptos" pitchFamily="34" charset="-122"/>
                <a:cs typeface="Aptos" pitchFamily="34" charset="-120"/>
              </a:rPr>
              <a:t>MODELED FUNNEL / ASSUMPTIONS ONLY</a:t>
            </a:r>
            <a:endParaRPr lang="en-US" sz="1300" dirty="0"/>
          </a:p>
        </p:txBody>
      </p:sp>
      <p:sp>
        <p:nvSpPr>
          <p:cNvPr id="15" name="Text 13"/>
          <p:cNvSpPr/>
          <p:nvPr/>
        </p:nvSpPr>
        <p:spPr>
          <a:xfrm>
            <a:off x="6464808" y="2532888"/>
            <a:ext cx="2633472" cy="201168"/>
          </a:xfrm>
          <a:prstGeom prst="rect">
            <a:avLst/>
          </a:prstGeom>
          <a:noFill/>
          <a:ln/>
        </p:spPr>
        <p:txBody>
          <a:bodyPr wrap="square" lIns="0" tIns="0" rIns="0" bIns="0" rtlCol="0" anchor="ctr">
            <a:normAutofit/>
          </a:bodyPr>
          <a:lstStyle/>
          <a:p>
            <a:pPr indent="0" marL="0">
              <a:buNone/>
            </a:pPr>
            <a:r>
              <a:rPr lang="en-US" sz="1040" dirty="0">
                <a:solidFill>
                  <a:srgbClr val="ECF5FA"/>
                </a:solidFill>
                <a:latin typeface="Aptos" pitchFamily="34" charset="0"/>
                <a:ea typeface="Aptos" pitchFamily="34" charset="-122"/>
                <a:cs typeface="Aptos" pitchFamily="34" charset="-120"/>
              </a:rPr>
              <a:t>₹30k ÷ ₹200 CPC</a:t>
            </a:r>
            <a:endParaRPr lang="en-US" sz="1040" dirty="0"/>
          </a:p>
        </p:txBody>
      </p:sp>
      <p:sp>
        <p:nvSpPr>
          <p:cNvPr id="16" name="Text 14"/>
          <p:cNvSpPr/>
          <p:nvPr/>
        </p:nvSpPr>
        <p:spPr>
          <a:xfrm>
            <a:off x="9253728" y="2532888"/>
            <a:ext cx="1993392" cy="201168"/>
          </a:xfrm>
          <a:prstGeom prst="rect">
            <a:avLst/>
          </a:prstGeom>
          <a:noFill/>
          <a:ln/>
        </p:spPr>
        <p:txBody>
          <a:bodyPr wrap="square" lIns="0" tIns="0" rIns="0" bIns="0" rtlCol="0" anchor="ctr">
            <a:normAutofit/>
          </a:bodyPr>
          <a:lstStyle/>
          <a:p>
            <a:pPr algn="r" indent="0" marL="0">
              <a:buNone/>
            </a:pPr>
            <a:r>
              <a:rPr lang="en-US" sz="1070" dirty="0">
                <a:solidFill>
                  <a:srgbClr val="BBCAD8"/>
                </a:solidFill>
                <a:latin typeface="Aptos" pitchFamily="34" charset="0"/>
                <a:ea typeface="Aptos" pitchFamily="34" charset="-122"/>
                <a:cs typeface="Aptos" pitchFamily="34" charset="-120"/>
              </a:rPr>
              <a:t>150 clicks</a:t>
            </a:r>
            <a:endParaRPr lang="en-US" sz="1070" dirty="0"/>
          </a:p>
        </p:txBody>
      </p:sp>
      <p:sp>
        <p:nvSpPr>
          <p:cNvPr id="17" name="Shape 15"/>
          <p:cNvSpPr/>
          <p:nvPr/>
        </p:nvSpPr>
        <p:spPr>
          <a:xfrm>
            <a:off x="6446520" y="2788920"/>
            <a:ext cx="4809744" cy="0"/>
          </a:xfrm>
          <a:prstGeom prst="line">
            <a:avLst/>
          </a:prstGeom>
          <a:noFill/>
          <a:ln w="8890">
            <a:solidFill>
              <a:srgbClr val="304357"/>
            </a:solidFill>
            <a:prstDash val="solid"/>
          </a:ln>
        </p:spPr>
      </p:sp>
      <p:sp>
        <p:nvSpPr>
          <p:cNvPr id="18" name="Text 16"/>
          <p:cNvSpPr/>
          <p:nvPr/>
        </p:nvSpPr>
        <p:spPr>
          <a:xfrm>
            <a:off x="6464808" y="2862072"/>
            <a:ext cx="2633472" cy="201168"/>
          </a:xfrm>
          <a:prstGeom prst="rect">
            <a:avLst/>
          </a:prstGeom>
          <a:noFill/>
          <a:ln/>
        </p:spPr>
        <p:txBody>
          <a:bodyPr wrap="square" lIns="0" tIns="0" rIns="0" bIns="0" rtlCol="0" anchor="ctr">
            <a:normAutofit/>
          </a:bodyPr>
          <a:lstStyle/>
          <a:p>
            <a:pPr indent="0" marL="0">
              <a:buNone/>
            </a:pPr>
            <a:r>
              <a:rPr lang="en-US" sz="1040" dirty="0">
                <a:solidFill>
                  <a:srgbClr val="ECF5FA"/>
                </a:solidFill>
                <a:latin typeface="Aptos" pitchFamily="34" charset="0"/>
                <a:ea typeface="Aptos" pitchFamily="34" charset="-122"/>
                <a:cs typeface="Aptos" pitchFamily="34" charset="-120"/>
              </a:rPr>
              <a:t>150 × 6% lead CVR</a:t>
            </a:r>
            <a:endParaRPr lang="en-US" sz="1040" dirty="0"/>
          </a:p>
        </p:txBody>
      </p:sp>
      <p:sp>
        <p:nvSpPr>
          <p:cNvPr id="19" name="Text 17"/>
          <p:cNvSpPr/>
          <p:nvPr/>
        </p:nvSpPr>
        <p:spPr>
          <a:xfrm>
            <a:off x="9253728" y="2862072"/>
            <a:ext cx="1993392" cy="201168"/>
          </a:xfrm>
          <a:prstGeom prst="rect">
            <a:avLst/>
          </a:prstGeom>
          <a:noFill/>
          <a:ln/>
        </p:spPr>
        <p:txBody>
          <a:bodyPr wrap="square" lIns="0" tIns="0" rIns="0" bIns="0" rtlCol="0" anchor="ctr">
            <a:normAutofit/>
          </a:bodyPr>
          <a:lstStyle/>
          <a:p>
            <a:pPr algn="r" indent="0" marL="0">
              <a:buNone/>
            </a:pPr>
            <a:r>
              <a:rPr lang="en-US" sz="1070" dirty="0">
                <a:solidFill>
                  <a:srgbClr val="BBCAD8"/>
                </a:solidFill>
                <a:latin typeface="Aptos" pitchFamily="34" charset="0"/>
                <a:ea typeface="Aptos" pitchFamily="34" charset="-122"/>
                <a:cs typeface="Aptos" pitchFamily="34" charset="-120"/>
              </a:rPr>
              <a:t>9 raw leads</a:t>
            </a:r>
            <a:endParaRPr lang="en-US" sz="1070" dirty="0"/>
          </a:p>
        </p:txBody>
      </p:sp>
      <p:sp>
        <p:nvSpPr>
          <p:cNvPr id="20" name="Shape 18"/>
          <p:cNvSpPr/>
          <p:nvPr/>
        </p:nvSpPr>
        <p:spPr>
          <a:xfrm>
            <a:off x="6446520" y="3118104"/>
            <a:ext cx="4809744" cy="0"/>
          </a:xfrm>
          <a:prstGeom prst="line">
            <a:avLst/>
          </a:prstGeom>
          <a:noFill/>
          <a:ln w="8890">
            <a:solidFill>
              <a:srgbClr val="304357"/>
            </a:solidFill>
            <a:prstDash val="solid"/>
          </a:ln>
        </p:spPr>
      </p:sp>
      <p:sp>
        <p:nvSpPr>
          <p:cNvPr id="21" name="Text 19"/>
          <p:cNvSpPr/>
          <p:nvPr/>
        </p:nvSpPr>
        <p:spPr>
          <a:xfrm>
            <a:off x="6464808" y="3191256"/>
            <a:ext cx="2633472" cy="201168"/>
          </a:xfrm>
          <a:prstGeom prst="rect">
            <a:avLst/>
          </a:prstGeom>
          <a:noFill/>
          <a:ln/>
        </p:spPr>
        <p:txBody>
          <a:bodyPr wrap="square" lIns="0" tIns="0" rIns="0" bIns="0" rtlCol="0" anchor="ctr">
            <a:normAutofit/>
          </a:bodyPr>
          <a:lstStyle/>
          <a:p>
            <a:pPr indent="0" marL="0">
              <a:buNone/>
            </a:pPr>
            <a:r>
              <a:rPr lang="en-US" sz="1040" dirty="0">
                <a:solidFill>
                  <a:srgbClr val="ECF5FA"/>
                </a:solidFill>
                <a:latin typeface="Aptos" pitchFamily="34" charset="0"/>
                <a:ea typeface="Aptos" pitchFamily="34" charset="-122"/>
                <a:cs typeface="Aptos" pitchFamily="34" charset="-120"/>
              </a:rPr>
              <a:t>9 × 40% fit</a:t>
            </a:r>
            <a:endParaRPr lang="en-US" sz="1040" dirty="0"/>
          </a:p>
        </p:txBody>
      </p:sp>
      <p:sp>
        <p:nvSpPr>
          <p:cNvPr id="22" name="Text 20"/>
          <p:cNvSpPr/>
          <p:nvPr/>
        </p:nvSpPr>
        <p:spPr>
          <a:xfrm>
            <a:off x="9253728" y="3191256"/>
            <a:ext cx="1993392" cy="201168"/>
          </a:xfrm>
          <a:prstGeom prst="rect">
            <a:avLst/>
          </a:prstGeom>
          <a:noFill/>
          <a:ln/>
        </p:spPr>
        <p:txBody>
          <a:bodyPr wrap="square" lIns="0" tIns="0" rIns="0" bIns="0" rtlCol="0" anchor="ctr">
            <a:normAutofit/>
          </a:bodyPr>
          <a:lstStyle/>
          <a:p>
            <a:pPr algn="r" indent="0" marL="0">
              <a:buNone/>
            </a:pPr>
            <a:r>
              <a:rPr lang="en-US" sz="1070" dirty="0">
                <a:solidFill>
                  <a:srgbClr val="BBCAD8"/>
                </a:solidFill>
                <a:latin typeface="Aptos" pitchFamily="34" charset="0"/>
                <a:ea typeface="Aptos" pitchFamily="34" charset="-122"/>
                <a:cs typeface="Aptos" pitchFamily="34" charset="-120"/>
              </a:rPr>
              <a:t>3.6 expected fit</a:t>
            </a:r>
            <a:endParaRPr lang="en-US" sz="1070" dirty="0"/>
          </a:p>
        </p:txBody>
      </p:sp>
      <p:sp>
        <p:nvSpPr>
          <p:cNvPr id="23" name="Shape 21"/>
          <p:cNvSpPr/>
          <p:nvPr/>
        </p:nvSpPr>
        <p:spPr>
          <a:xfrm>
            <a:off x="6446520" y="3447288"/>
            <a:ext cx="4809744" cy="0"/>
          </a:xfrm>
          <a:prstGeom prst="line">
            <a:avLst/>
          </a:prstGeom>
          <a:noFill/>
          <a:ln w="8890">
            <a:solidFill>
              <a:srgbClr val="304357"/>
            </a:solidFill>
            <a:prstDash val="solid"/>
          </a:ln>
        </p:spPr>
      </p:sp>
      <p:sp>
        <p:nvSpPr>
          <p:cNvPr id="24" name="Text 22"/>
          <p:cNvSpPr/>
          <p:nvPr/>
        </p:nvSpPr>
        <p:spPr>
          <a:xfrm>
            <a:off x="6464808" y="3520440"/>
            <a:ext cx="2633472" cy="201168"/>
          </a:xfrm>
          <a:prstGeom prst="rect">
            <a:avLst/>
          </a:prstGeom>
          <a:noFill/>
          <a:ln/>
        </p:spPr>
        <p:txBody>
          <a:bodyPr wrap="square" lIns="0" tIns="0" rIns="0" bIns="0" rtlCol="0" anchor="ctr">
            <a:normAutofit/>
          </a:bodyPr>
          <a:lstStyle/>
          <a:p>
            <a:pPr indent="0" marL="0">
              <a:buNone/>
            </a:pPr>
            <a:r>
              <a:rPr lang="en-US" sz="1040" dirty="0">
                <a:solidFill>
                  <a:srgbClr val="ECF5FA"/>
                </a:solidFill>
                <a:latin typeface="Aptos" pitchFamily="34" charset="0"/>
                <a:ea typeface="Aptos" pitchFamily="34" charset="-122"/>
                <a:cs typeface="Aptos" pitchFamily="34" charset="-120"/>
              </a:rPr>
              <a:t>3.6 × 60% booking</a:t>
            </a:r>
            <a:endParaRPr lang="en-US" sz="1040" dirty="0"/>
          </a:p>
        </p:txBody>
      </p:sp>
      <p:sp>
        <p:nvSpPr>
          <p:cNvPr id="25" name="Text 23"/>
          <p:cNvSpPr/>
          <p:nvPr/>
        </p:nvSpPr>
        <p:spPr>
          <a:xfrm>
            <a:off x="9253728" y="3520440"/>
            <a:ext cx="1993392" cy="201168"/>
          </a:xfrm>
          <a:prstGeom prst="rect">
            <a:avLst/>
          </a:prstGeom>
          <a:noFill/>
          <a:ln/>
        </p:spPr>
        <p:txBody>
          <a:bodyPr wrap="square" lIns="0" tIns="0" rIns="0" bIns="0" rtlCol="0" anchor="ctr">
            <a:normAutofit/>
          </a:bodyPr>
          <a:lstStyle/>
          <a:p>
            <a:pPr algn="r" indent="0" marL="0">
              <a:buNone/>
            </a:pPr>
            <a:r>
              <a:rPr lang="en-US" sz="1070" dirty="0">
                <a:solidFill>
                  <a:srgbClr val="BBCAD8"/>
                </a:solidFill>
                <a:latin typeface="Aptos" pitchFamily="34" charset="0"/>
                <a:ea typeface="Aptos" pitchFamily="34" charset="-122"/>
                <a:cs typeface="Aptos" pitchFamily="34" charset="-120"/>
              </a:rPr>
              <a:t>2.16 bookings</a:t>
            </a:r>
            <a:endParaRPr lang="en-US" sz="1070" dirty="0"/>
          </a:p>
        </p:txBody>
      </p:sp>
      <p:sp>
        <p:nvSpPr>
          <p:cNvPr id="26" name="Shape 24"/>
          <p:cNvSpPr/>
          <p:nvPr/>
        </p:nvSpPr>
        <p:spPr>
          <a:xfrm>
            <a:off x="6446520" y="3776472"/>
            <a:ext cx="4809744" cy="0"/>
          </a:xfrm>
          <a:prstGeom prst="line">
            <a:avLst/>
          </a:prstGeom>
          <a:noFill/>
          <a:ln w="8890">
            <a:solidFill>
              <a:srgbClr val="304357"/>
            </a:solidFill>
            <a:prstDash val="solid"/>
          </a:ln>
        </p:spPr>
      </p:sp>
      <p:sp>
        <p:nvSpPr>
          <p:cNvPr id="27" name="Text 25"/>
          <p:cNvSpPr/>
          <p:nvPr/>
        </p:nvSpPr>
        <p:spPr>
          <a:xfrm>
            <a:off x="6464808" y="3849624"/>
            <a:ext cx="2633472" cy="201168"/>
          </a:xfrm>
          <a:prstGeom prst="rect">
            <a:avLst/>
          </a:prstGeom>
          <a:noFill/>
          <a:ln/>
        </p:spPr>
        <p:txBody>
          <a:bodyPr wrap="square" lIns="0" tIns="0" rIns="0" bIns="0" rtlCol="0" anchor="ctr">
            <a:normAutofit/>
          </a:bodyPr>
          <a:lstStyle/>
          <a:p>
            <a:pPr indent="0" marL="0">
              <a:buNone/>
            </a:pPr>
            <a:r>
              <a:rPr lang="en-US" sz="1040" dirty="0">
                <a:solidFill>
                  <a:srgbClr val="ECF5FA"/>
                </a:solidFill>
                <a:latin typeface="Aptos" pitchFamily="34" charset="0"/>
                <a:ea typeface="Aptos" pitchFamily="34" charset="-122"/>
                <a:cs typeface="Aptos" pitchFamily="34" charset="-120"/>
              </a:rPr>
              <a:t>2.16 × 75% show</a:t>
            </a:r>
            <a:endParaRPr lang="en-US" sz="1040" dirty="0"/>
          </a:p>
        </p:txBody>
      </p:sp>
      <p:sp>
        <p:nvSpPr>
          <p:cNvPr id="28" name="Text 26"/>
          <p:cNvSpPr/>
          <p:nvPr/>
        </p:nvSpPr>
        <p:spPr>
          <a:xfrm>
            <a:off x="9253728" y="3849624"/>
            <a:ext cx="1993392" cy="201168"/>
          </a:xfrm>
          <a:prstGeom prst="rect">
            <a:avLst/>
          </a:prstGeom>
          <a:noFill/>
          <a:ln/>
        </p:spPr>
        <p:txBody>
          <a:bodyPr wrap="square" lIns="0" tIns="0" rIns="0" bIns="0" rtlCol="0" anchor="ctr">
            <a:normAutofit/>
          </a:bodyPr>
          <a:lstStyle/>
          <a:p>
            <a:pPr algn="r" indent="0" marL="0">
              <a:buNone/>
            </a:pPr>
            <a:r>
              <a:rPr lang="en-US" sz="1070" dirty="0">
                <a:solidFill>
                  <a:srgbClr val="BBCAD8"/>
                </a:solidFill>
                <a:latin typeface="Aptos" pitchFamily="34" charset="0"/>
                <a:ea typeface="Aptos" pitchFamily="34" charset="-122"/>
                <a:cs typeface="Aptos" pitchFamily="34" charset="-120"/>
              </a:rPr>
              <a:t>1.62 held</a:t>
            </a:r>
            <a:endParaRPr lang="en-US" sz="1070" dirty="0"/>
          </a:p>
        </p:txBody>
      </p:sp>
      <p:sp>
        <p:nvSpPr>
          <p:cNvPr id="29" name="Shape 27"/>
          <p:cNvSpPr/>
          <p:nvPr/>
        </p:nvSpPr>
        <p:spPr>
          <a:xfrm>
            <a:off x="6446520" y="4105656"/>
            <a:ext cx="4809744" cy="0"/>
          </a:xfrm>
          <a:prstGeom prst="line">
            <a:avLst/>
          </a:prstGeom>
          <a:noFill/>
          <a:ln w="8890">
            <a:solidFill>
              <a:srgbClr val="304357"/>
            </a:solidFill>
            <a:prstDash val="solid"/>
          </a:ln>
        </p:spPr>
      </p:sp>
      <p:sp>
        <p:nvSpPr>
          <p:cNvPr id="30" name="Text 28"/>
          <p:cNvSpPr/>
          <p:nvPr/>
        </p:nvSpPr>
        <p:spPr>
          <a:xfrm>
            <a:off x="6464808" y="4178808"/>
            <a:ext cx="2633472" cy="201168"/>
          </a:xfrm>
          <a:prstGeom prst="rect">
            <a:avLst/>
          </a:prstGeom>
          <a:noFill/>
          <a:ln/>
        </p:spPr>
        <p:txBody>
          <a:bodyPr wrap="square" lIns="0" tIns="0" rIns="0" bIns="0" rtlCol="0" anchor="ctr">
            <a:normAutofit/>
          </a:bodyPr>
          <a:lstStyle/>
          <a:p>
            <a:pPr indent="0" marL="0">
              <a:buNone/>
            </a:pPr>
            <a:r>
              <a:rPr lang="en-US" sz="1040" dirty="0">
                <a:solidFill>
                  <a:srgbClr val="ECF5FA"/>
                </a:solidFill>
                <a:latin typeface="Aptos" pitchFamily="34" charset="0"/>
                <a:ea typeface="Aptos" pitchFamily="34" charset="-122"/>
                <a:cs typeface="Aptos" pitchFamily="34" charset="-120"/>
              </a:rPr>
              <a:t>1.62 × 50% accepted</a:t>
            </a:r>
            <a:endParaRPr lang="en-US" sz="1040" dirty="0"/>
          </a:p>
        </p:txBody>
      </p:sp>
      <p:sp>
        <p:nvSpPr>
          <p:cNvPr id="31" name="Text 29"/>
          <p:cNvSpPr/>
          <p:nvPr/>
        </p:nvSpPr>
        <p:spPr>
          <a:xfrm>
            <a:off x="9253728" y="4178808"/>
            <a:ext cx="1993392" cy="201168"/>
          </a:xfrm>
          <a:prstGeom prst="rect">
            <a:avLst/>
          </a:prstGeom>
          <a:noFill/>
          <a:ln/>
        </p:spPr>
        <p:txBody>
          <a:bodyPr wrap="square" lIns="0" tIns="0" rIns="0" bIns="0" rtlCol="0" anchor="ctr">
            <a:normAutofit/>
          </a:bodyPr>
          <a:lstStyle/>
          <a:p>
            <a:pPr algn="r" indent="0" marL="0">
              <a:buNone/>
            </a:pPr>
            <a:r>
              <a:rPr lang="en-US" sz="1070" b="1" dirty="0">
                <a:solidFill>
                  <a:srgbClr val="57DDC4"/>
                </a:solidFill>
                <a:latin typeface="Aptos" pitchFamily="34" charset="0"/>
                <a:ea typeface="Aptos" pitchFamily="34" charset="-122"/>
                <a:cs typeface="Aptos" pitchFamily="34" charset="-120"/>
              </a:rPr>
              <a:t>0.81 expected SQL</a:t>
            </a:r>
            <a:endParaRPr lang="en-US" sz="1070" dirty="0"/>
          </a:p>
        </p:txBody>
      </p:sp>
      <p:sp>
        <p:nvSpPr>
          <p:cNvPr id="32" name="Shape 30"/>
          <p:cNvSpPr/>
          <p:nvPr/>
        </p:nvSpPr>
        <p:spPr>
          <a:xfrm>
            <a:off x="6446520" y="4434840"/>
            <a:ext cx="4809744" cy="0"/>
          </a:xfrm>
          <a:prstGeom prst="line">
            <a:avLst/>
          </a:prstGeom>
          <a:noFill/>
          <a:ln w="8890">
            <a:solidFill>
              <a:srgbClr val="304357"/>
            </a:solidFill>
            <a:prstDash val="solid"/>
          </a:ln>
        </p:spPr>
      </p:sp>
      <p:sp>
        <p:nvSpPr>
          <p:cNvPr id="33" name="Shape 31"/>
          <p:cNvSpPr/>
          <p:nvPr/>
        </p:nvSpPr>
        <p:spPr>
          <a:xfrm>
            <a:off x="594360" y="5184648"/>
            <a:ext cx="10972800" cy="877824"/>
          </a:xfrm>
          <a:prstGeom prst="roundRect">
            <a:avLst>
              <a:gd name="adj" fmla="val 11458"/>
            </a:avLst>
          </a:prstGeom>
          <a:solidFill>
            <a:srgbClr val="14283B"/>
          </a:solidFill>
          <a:ln w="12700">
            <a:solidFill>
              <a:srgbClr val="14283B"/>
            </a:solidFill>
            <a:prstDash val="solid"/>
          </a:ln>
        </p:spPr>
      </p:sp>
      <p:sp>
        <p:nvSpPr>
          <p:cNvPr id="34" name="Text 32"/>
          <p:cNvSpPr/>
          <p:nvPr/>
        </p:nvSpPr>
        <p:spPr>
          <a:xfrm>
            <a:off x="786384" y="5303520"/>
            <a:ext cx="1399032" cy="201168"/>
          </a:xfrm>
          <a:prstGeom prst="rect">
            <a:avLst/>
          </a:prstGeom>
          <a:noFill/>
          <a:ln/>
        </p:spPr>
        <p:txBody>
          <a:bodyPr wrap="square" lIns="0" tIns="0" rIns="0" bIns="0" rtlCol="0" anchor="ctr">
            <a:normAutofit/>
          </a:bodyPr>
          <a:lstStyle/>
          <a:p>
            <a:pPr indent="0" marL="0">
              <a:buNone/>
            </a:pPr>
            <a:r>
              <a:rPr lang="en-US" sz="1000" b="1" dirty="0">
                <a:solidFill>
                  <a:srgbClr val="57DDC4"/>
                </a:solidFill>
                <a:latin typeface="Aptos" pitchFamily="34" charset="0"/>
                <a:ea typeface="Aptos" pitchFamily="34" charset="-122"/>
                <a:cs typeface="Aptos" pitchFamily="34" charset="-120"/>
              </a:rPr>
              <a:t>SEARCH THEMES</a:t>
            </a:r>
            <a:endParaRPr lang="en-US" sz="1000" dirty="0"/>
          </a:p>
        </p:txBody>
      </p:sp>
      <p:sp>
        <p:nvSpPr>
          <p:cNvPr id="35" name="Text 33"/>
          <p:cNvSpPr/>
          <p:nvPr/>
        </p:nvSpPr>
        <p:spPr>
          <a:xfrm>
            <a:off x="2304288" y="5303520"/>
            <a:ext cx="9015984" cy="210312"/>
          </a:xfrm>
          <a:prstGeom prst="rect">
            <a:avLst/>
          </a:prstGeom>
          <a:noFill/>
          <a:ln/>
        </p:spPr>
        <p:txBody>
          <a:bodyPr wrap="square" lIns="0" tIns="0" rIns="0" bIns="0" rtlCol="0" anchor="ctr">
            <a:normAutofit/>
          </a:bodyPr>
          <a:lstStyle/>
          <a:p>
            <a:pPr indent="0" marL="0">
              <a:buNone/>
            </a:pPr>
            <a:r>
              <a:rPr lang="en-US" sz="1050" dirty="0">
                <a:solidFill>
                  <a:srgbClr val="ECF5FA"/>
                </a:solidFill>
                <a:latin typeface="Aptos" pitchFamily="34" charset="0"/>
                <a:ea typeface="Aptos" pitchFamily="34" charset="-122"/>
                <a:cs typeface="Aptos" pitchFamily="34" charset="-120"/>
              </a:rPr>
              <a:t>[multi location dry cleaning software] · “dry cleaning pos software” · “dry cleaning franchise software”</a:t>
            </a:r>
            <a:endParaRPr lang="en-US" sz="1050" dirty="0"/>
          </a:p>
        </p:txBody>
      </p:sp>
      <p:sp>
        <p:nvSpPr>
          <p:cNvPr id="36" name="Text 34"/>
          <p:cNvSpPr/>
          <p:nvPr/>
        </p:nvSpPr>
        <p:spPr>
          <a:xfrm>
            <a:off x="786384" y="5641848"/>
            <a:ext cx="1399032" cy="219456"/>
          </a:xfrm>
          <a:prstGeom prst="rect">
            <a:avLst/>
          </a:prstGeom>
          <a:noFill/>
          <a:ln/>
        </p:spPr>
        <p:txBody>
          <a:bodyPr wrap="square" lIns="0" tIns="0" rIns="0" bIns="0" rtlCol="0" anchor="ctr">
            <a:normAutofit/>
          </a:bodyPr>
          <a:lstStyle/>
          <a:p>
            <a:pPr indent="0" marL="0">
              <a:buNone/>
            </a:pPr>
            <a:r>
              <a:rPr lang="en-US" sz="1000" b="1" dirty="0">
                <a:solidFill>
                  <a:srgbClr val="F2C87E"/>
                </a:solidFill>
                <a:latin typeface="Aptos" pitchFamily="34" charset="0"/>
                <a:ea typeface="Aptos" pitchFamily="34" charset="-122"/>
                <a:cs typeface="Aptos" pitchFamily="34" charset="-120"/>
              </a:rPr>
              <a:t>NEGATIVES</a:t>
            </a:r>
            <a:endParaRPr lang="en-US" sz="1000" dirty="0"/>
          </a:p>
        </p:txBody>
      </p:sp>
      <p:sp>
        <p:nvSpPr>
          <p:cNvPr id="37" name="Text 35"/>
          <p:cNvSpPr/>
          <p:nvPr/>
        </p:nvSpPr>
        <p:spPr>
          <a:xfrm>
            <a:off x="2304288" y="5632704"/>
            <a:ext cx="8979408" cy="219456"/>
          </a:xfrm>
          <a:prstGeom prst="rect">
            <a:avLst/>
          </a:prstGeom>
          <a:noFill/>
          <a:ln/>
        </p:spPr>
        <p:txBody>
          <a:bodyPr wrap="square" lIns="0" tIns="0" rIns="0" bIns="0" rtlCol="0" anchor="ctr">
            <a:normAutofit/>
          </a:bodyPr>
          <a:lstStyle/>
          <a:p>
            <a:pPr indent="0" marL="0">
              <a:buNone/>
            </a:pPr>
            <a:r>
              <a:rPr lang="en-US" sz="1040" dirty="0">
                <a:solidFill>
                  <a:srgbClr val="BBCAD8"/>
                </a:solidFill>
                <a:latin typeface="Aptos" pitchFamily="34" charset="0"/>
                <a:ea typeface="Aptos" pitchFamily="34" charset="-122"/>
                <a:cs typeface="Aptos" pitchFamily="34" charset="-120"/>
              </a:rPr>
              <a:t>jobs / near me / equipment / coin-operated / salary / laundromat / consumer pickup</a:t>
            </a:r>
            <a:endParaRPr lang="en-US" sz="10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06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90 days: baseline truth → qualified demand → repeatability.</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Weekly marketing–sales–product decisions define when to hold, reallocate or scale.</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90-DAY ROADMAP</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603504" y="1911096"/>
            <a:ext cx="3520440" cy="4160520"/>
          </a:xfrm>
          <a:prstGeom prst="roundRect">
            <a:avLst>
              <a:gd name="adj" fmla="val 2857"/>
            </a:avLst>
          </a:prstGeom>
          <a:solidFill>
            <a:srgbClr val="14283B"/>
          </a:solidFill>
          <a:ln w="12700">
            <a:solidFill>
              <a:srgbClr val="14283B"/>
            </a:solidFill>
            <a:prstDash val="solid"/>
          </a:ln>
        </p:spPr>
      </p:sp>
      <p:sp>
        <p:nvSpPr>
          <p:cNvPr id="11" name="Text 9"/>
          <p:cNvSpPr/>
          <p:nvPr/>
        </p:nvSpPr>
        <p:spPr>
          <a:xfrm>
            <a:off x="822960" y="2103120"/>
            <a:ext cx="2852928" cy="228600"/>
          </a:xfrm>
          <a:prstGeom prst="rect">
            <a:avLst/>
          </a:prstGeom>
          <a:noFill/>
          <a:ln/>
        </p:spPr>
        <p:txBody>
          <a:bodyPr wrap="square" lIns="0" tIns="0" rIns="0" bIns="0" rtlCol="0" anchor="ctr">
            <a:normAutofit/>
          </a:bodyPr>
          <a:lstStyle/>
          <a:p>
            <a:pPr indent="0" marL="0">
              <a:buNone/>
            </a:pPr>
            <a:r>
              <a:rPr lang="en-US" sz="1100" b="1" dirty="0">
                <a:solidFill>
                  <a:srgbClr val="F2C87E"/>
                </a:solidFill>
                <a:latin typeface="Aptos" pitchFamily="34" charset="0"/>
                <a:ea typeface="Aptos" pitchFamily="34" charset="-122"/>
                <a:cs typeface="Aptos" pitchFamily="34" charset="-120"/>
              </a:rPr>
              <a:t>DAYS 01–30</a:t>
            </a:r>
            <a:endParaRPr lang="en-US" sz="1100" dirty="0"/>
          </a:p>
        </p:txBody>
      </p:sp>
      <p:sp>
        <p:nvSpPr>
          <p:cNvPr id="12" name="Text 10"/>
          <p:cNvSpPr/>
          <p:nvPr/>
        </p:nvSpPr>
        <p:spPr>
          <a:xfrm>
            <a:off x="822960" y="2523744"/>
            <a:ext cx="2926080" cy="301752"/>
          </a:xfrm>
          <a:prstGeom prst="rect">
            <a:avLst/>
          </a:prstGeom>
          <a:noFill/>
          <a:ln/>
        </p:spPr>
        <p:txBody>
          <a:bodyPr wrap="square" lIns="0" tIns="0" rIns="0" bIns="0" rtlCol="0" anchor="ctr">
            <a:normAutofit/>
          </a:bodyPr>
          <a:lstStyle/>
          <a:p>
            <a:pPr indent="0" marL="0">
              <a:buNone/>
            </a:pPr>
            <a:r>
              <a:rPr lang="en-US" sz="1300" b="1" dirty="0">
                <a:solidFill>
                  <a:srgbClr val="ECF5FA"/>
                </a:solidFill>
                <a:latin typeface="Aptos" pitchFamily="34" charset="0"/>
                <a:ea typeface="Aptos" pitchFamily="34" charset="-122"/>
                <a:cs typeface="Aptos" pitchFamily="34" charset="-120"/>
              </a:rPr>
              <a:t>ESTABLISH TRUTH</a:t>
            </a:r>
            <a:endParaRPr lang="en-US" sz="1300" dirty="0"/>
          </a:p>
        </p:txBody>
      </p:sp>
      <p:sp>
        <p:nvSpPr>
          <p:cNvPr id="13" name="Text 11"/>
          <p:cNvSpPr/>
          <p:nvPr/>
        </p:nvSpPr>
        <p:spPr>
          <a:xfrm>
            <a:off x="822960" y="3035808"/>
            <a:ext cx="3026664" cy="1856232"/>
          </a:xfrm>
          <a:prstGeom prst="rect">
            <a:avLst/>
          </a:prstGeom>
          <a:noFill/>
          <a:ln/>
        </p:spPr>
        <p:txBody>
          <a:bodyPr wrap="square" lIns="0" tIns="0" rIns="0" bIns="0" rtlCol="0" anchor="t">
            <a:normAutofit/>
          </a:bodyPr>
          <a:lstStyle/>
          <a:p>
            <a:pPr indent="0" marL="0">
              <a:buNone/>
            </a:pPr>
            <a:r>
              <a:rPr lang="en-US" sz="1120" dirty="0">
                <a:solidFill>
                  <a:srgbClr val="BBCAD8"/>
                </a:solidFill>
                <a:latin typeface="Aptos" pitchFamily="34" charset="0"/>
                <a:ea typeface="Aptos" pitchFamily="34" charset="-122"/>
                <a:cs typeface="Aptos" pitchFamily="34" charset="-120"/>
              </a:rPr>
              <a:t>• Audit 90 days of Meta cohorts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Verify US price, payments, support, integrations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Interview 10–12 operators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Build 200 verified account records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Launch one page, two proof assets, microtest</a:t>
            </a:r>
            <a:endParaRPr lang="en-US" sz="1120" dirty="0"/>
          </a:p>
        </p:txBody>
      </p:sp>
      <p:sp>
        <p:nvSpPr>
          <p:cNvPr id="14" name="Shape 12"/>
          <p:cNvSpPr/>
          <p:nvPr/>
        </p:nvSpPr>
        <p:spPr>
          <a:xfrm>
            <a:off x="822960" y="5102352"/>
            <a:ext cx="3017520" cy="0"/>
          </a:xfrm>
          <a:prstGeom prst="line">
            <a:avLst/>
          </a:prstGeom>
          <a:noFill/>
          <a:ln w="8890">
            <a:solidFill>
              <a:srgbClr val="304357"/>
            </a:solidFill>
            <a:prstDash val="solid"/>
          </a:ln>
        </p:spPr>
      </p:sp>
      <p:sp>
        <p:nvSpPr>
          <p:cNvPr id="15" name="Text 13"/>
          <p:cNvSpPr/>
          <p:nvPr/>
        </p:nvSpPr>
        <p:spPr>
          <a:xfrm>
            <a:off x="822960" y="5230368"/>
            <a:ext cx="3008376" cy="384048"/>
          </a:xfrm>
          <a:prstGeom prst="rect">
            <a:avLst/>
          </a:prstGeom>
          <a:noFill/>
          <a:ln/>
        </p:spPr>
        <p:txBody>
          <a:bodyPr wrap="square" lIns="0" tIns="0" rIns="0" bIns="0" rtlCol="0" anchor="ctr">
            <a:normAutofit/>
          </a:bodyPr>
          <a:lstStyle/>
          <a:p>
            <a:pPr indent="0" marL="0">
              <a:buNone/>
            </a:pPr>
            <a:r>
              <a:rPr lang="en-US" sz="1020" b="1" dirty="0">
                <a:solidFill>
                  <a:srgbClr val="57DDC4"/>
                </a:solidFill>
                <a:latin typeface="Aptos" pitchFamily="34" charset="0"/>
                <a:ea typeface="Aptos" pitchFamily="34" charset="-122"/>
                <a:cs typeface="Aptos" pitchFamily="34" charset="-120"/>
              </a:rPr>
              <a:t>Output: source baseline, messaging, held-call evidence</a:t>
            </a:r>
            <a:endParaRPr lang="en-US" sz="1020" dirty="0"/>
          </a:p>
        </p:txBody>
      </p:sp>
      <p:sp>
        <p:nvSpPr>
          <p:cNvPr id="16" name="Text 14"/>
          <p:cNvSpPr/>
          <p:nvPr/>
        </p:nvSpPr>
        <p:spPr>
          <a:xfrm>
            <a:off x="822960" y="5660136"/>
            <a:ext cx="2999232" cy="228600"/>
          </a:xfrm>
          <a:prstGeom prst="rect">
            <a:avLst/>
          </a:prstGeom>
          <a:noFill/>
          <a:ln/>
        </p:spPr>
        <p:txBody>
          <a:bodyPr wrap="square" lIns="0" tIns="0" rIns="0" bIns="0" rtlCol="0" anchor="ctr">
            <a:normAutofit/>
          </a:bodyPr>
          <a:lstStyle/>
          <a:p>
            <a:pPr indent="0" marL="0">
              <a:buNone/>
            </a:pPr>
            <a:r>
              <a:rPr lang="en-US" sz="970" dirty="0">
                <a:solidFill>
                  <a:srgbClr val="F2C87E"/>
                </a:solidFill>
                <a:latin typeface="Aptos" pitchFamily="34" charset="0"/>
                <a:ea typeface="Aptos" pitchFamily="34" charset="-122"/>
                <a:cs typeface="Aptos" pitchFamily="34" charset="-120"/>
              </a:rPr>
              <a:t>Gate: missing US readiness → pause ads</a:t>
            </a:r>
            <a:endParaRPr lang="en-US" sz="970" dirty="0"/>
          </a:p>
        </p:txBody>
      </p:sp>
      <p:sp>
        <p:nvSpPr>
          <p:cNvPr id="17" name="Shape 15"/>
          <p:cNvSpPr/>
          <p:nvPr/>
        </p:nvSpPr>
        <p:spPr>
          <a:xfrm>
            <a:off x="4361688" y="1911096"/>
            <a:ext cx="3520440" cy="4160520"/>
          </a:xfrm>
          <a:prstGeom prst="roundRect">
            <a:avLst>
              <a:gd name="adj" fmla="val 2857"/>
            </a:avLst>
          </a:prstGeom>
          <a:solidFill>
            <a:srgbClr val="17344A"/>
          </a:solidFill>
          <a:ln w="12700">
            <a:solidFill>
              <a:srgbClr val="17344A"/>
            </a:solidFill>
            <a:prstDash val="solid"/>
          </a:ln>
        </p:spPr>
      </p:sp>
      <p:sp>
        <p:nvSpPr>
          <p:cNvPr id="18" name="Text 16"/>
          <p:cNvSpPr/>
          <p:nvPr/>
        </p:nvSpPr>
        <p:spPr>
          <a:xfrm>
            <a:off x="4581144" y="2103120"/>
            <a:ext cx="2852928" cy="228600"/>
          </a:xfrm>
          <a:prstGeom prst="rect">
            <a:avLst/>
          </a:prstGeom>
          <a:noFill/>
          <a:ln/>
        </p:spPr>
        <p:txBody>
          <a:bodyPr wrap="square" lIns="0" tIns="0" rIns="0" bIns="0" rtlCol="0" anchor="ctr">
            <a:normAutofit/>
          </a:bodyPr>
          <a:lstStyle/>
          <a:p>
            <a:pPr indent="0" marL="0">
              <a:buNone/>
            </a:pPr>
            <a:r>
              <a:rPr lang="en-US" sz="1100" b="1" dirty="0">
                <a:solidFill>
                  <a:srgbClr val="F2C87E"/>
                </a:solidFill>
                <a:latin typeface="Aptos" pitchFamily="34" charset="0"/>
                <a:ea typeface="Aptos" pitchFamily="34" charset="-122"/>
                <a:cs typeface="Aptos" pitchFamily="34" charset="-120"/>
              </a:rPr>
              <a:t>DAYS 31–60</a:t>
            </a:r>
            <a:endParaRPr lang="en-US" sz="1100" dirty="0"/>
          </a:p>
        </p:txBody>
      </p:sp>
      <p:sp>
        <p:nvSpPr>
          <p:cNvPr id="19" name="Text 17"/>
          <p:cNvSpPr/>
          <p:nvPr/>
        </p:nvSpPr>
        <p:spPr>
          <a:xfrm>
            <a:off x="4581144" y="2523744"/>
            <a:ext cx="2926080" cy="301752"/>
          </a:xfrm>
          <a:prstGeom prst="rect">
            <a:avLst/>
          </a:prstGeom>
          <a:noFill/>
          <a:ln/>
        </p:spPr>
        <p:txBody>
          <a:bodyPr wrap="square" lIns="0" tIns="0" rIns="0" bIns="0" rtlCol="0" anchor="ctr">
            <a:normAutofit/>
          </a:bodyPr>
          <a:lstStyle/>
          <a:p>
            <a:pPr indent="0" marL="0">
              <a:buNone/>
            </a:pPr>
            <a:r>
              <a:rPr lang="en-US" sz="1300" b="1" dirty="0">
                <a:solidFill>
                  <a:srgbClr val="ECF5FA"/>
                </a:solidFill>
                <a:latin typeface="Aptos" pitchFamily="34" charset="0"/>
                <a:ea typeface="Aptos" pitchFamily="34" charset="-122"/>
                <a:cs typeface="Aptos" pitchFamily="34" charset="-120"/>
              </a:rPr>
              <a:t>COMPARE SIGNAL</a:t>
            </a:r>
            <a:endParaRPr lang="en-US" sz="1300" dirty="0"/>
          </a:p>
        </p:txBody>
      </p:sp>
      <p:sp>
        <p:nvSpPr>
          <p:cNvPr id="20" name="Text 18"/>
          <p:cNvSpPr/>
          <p:nvPr/>
        </p:nvSpPr>
        <p:spPr>
          <a:xfrm>
            <a:off x="4581144" y="3035808"/>
            <a:ext cx="3026664" cy="1856232"/>
          </a:xfrm>
          <a:prstGeom prst="rect">
            <a:avLst/>
          </a:prstGeom>
          <a:noFill/>
          <a:ln/>
        </p:spPr>
        <p:txBody>
          <a:bodyPr wrap="square" lIns="0" tIns="0" rIns="0" bIns="0" rtlCol="0" anchor="t">
            <a:normAutofit/>
          </a:bodyPr>
          <a:lstStyle/>
          <a:p>
            <a:pPr indent="0" marL="0">
              <a:buNone/>
            </a:pPr>
            <a:r>
              <a:rPr lang="en-US" sz="1120" dirty="0">
                <a:solidFill>
                  <a:srgbClr val="BBCAD8"/>
                </a:solidFill>
                <a:latin typeface="Aptos" pitchFamily="34" charset="0"/>
                <a:ea typeface="Aptos" pitchFamily="34" charset="-122"/>
                <a:cs typeface="Aptos" pitchFamily="34" charset="-120"/>
              </a:rPr>
              <a:t>• Score then contact real parent accounts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Test pain-first vs ROI-first</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Trial only confirmed partner access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Coach speed-to-lead and no-show recovery</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Rank sources by accepted opportunities</a:t>
            </a:r>
            <a:endParaRPr lang="en-US" sz="1120" dirty="0"/>
          </a:p>
        </p:txBody>
      </p:sp>
      <p:sp>
        <p:nvSpPr>
          <p:cNvPr id="21" name="Shape 19"/>
          <p:cNvSpPr/>
          <p:nvPr/>
        </p:nvSpPr>
        <p:spPr>
          <a:xfrm>
            <a:off x="4581144" y="5102352"/>
            <a:ext cx="3017520" cy="0"/>
          </a:xfrm>
          <a:prstGeom prst="line">
            <a:avLst/>
          </a:prstGeom>
          <a:noFill/>
          <a:ln w="8890">
            <a:solidFill>
              <a:srgbClr val="304357"/>
            </a:solidFill>
            <a:prstDash val="solid"/>
          </a:ln>
        </p:spPr>
      </p:sp>
      <p:sp>
        <p:nvSpPr>
          <p:cNvPr id="22" name="Text 20"/>
          <p:cNvSpPr/>
          <p:nvPr/>
        </p:nvSpPr>
        <p:spPr>
          <a:xfrm>
            <a:off x="4581144" y="5230368"/>
            <a:ext cx="3008376" cy="384048"/>
          </a:xfrm>
          <a:prstGeom prst="rect">
            <a:avLst/>
          </a:prstGeom>
          <a:noFill/>
          <a:ln/>
        </p:spPr>
        <p:txBody>
          <a:bodyPr wrap="square" lIns="0" tIns="0" rIns="0" bIns="0" rtlCol="0" anchor="ctr">
            <a:normAutofit/>
          </a:bodyPr>
          <a:lstStyle/>
          <a:p>
            <a:pPr indent="0" marL="0">
              <a:buNone/>
            </a:pPr>
            <a:r>
              <a:rPr lang="en-US" sz="1020" b="1" dirty="0">
                <a:solidFill>
                  <a:srgbClr val="57DDC4"/>
                </a:solidFill>
                <a:latin typeface="Aptos" pitchFamily="34" charset="0"/>
                <a:ea typeface="Aptos" pitchFamily="34" charset="-122"/>
                <a:cs typeface="Aptos" pitchFamily="34" charset="-120"/>
              </a:rPr>
              <a:t>Output: qualified conversations, first source ranking</a:t>
            </a:r>
            <a:endParaRPr lang="en-US" sz="1020" dirty="0"/>
          </a:p>
        </p:txBody>
      </p:sp>
      <p:sp>
        <p:nvSpPr>
          <p:cNvPr id="23" name="Text 21"/>
          <p:cNvSpPr/>
          <p:nvPr/>
        </p:nvSpPr>
        <p:spPr>
          <a:xfrm>
            <a:off x="4581144" y="5660136"/>
            <a:ext cx="2999232" cy="228600"/>
          </a:xfrm>
          <a:prstGeom prst="rect">
            <a:avLst/>
          </a:prstGeom>
          <a:noFill/>
          <a:ln/>
        </p:spPr>
        <p:txBody>
          <a:bodyPr wrap="square" lIns="0" tIns="0" rIns="0" bIns="0" rtlCol="0" anchor="ctr">
            <a:normAutofit/>
          </a:bodyPr>
          <a:lstStyle/>
          <a:p>
            <a:pPr indent="0" marL="0">
              <a:buNone/>
            </a:pPr>
            <a:r>
              <a:rPr lang="en-US" sz="970" dirty="0">
                <a:solidFill>
                  <a:srgbClr val="F2C87E"/>
                </a:solidFill>
                <a:latin typeface="Aptos" pitchFamily="34" charset="0"/>
                <a:ea typeface="Aptos" pitchFamily="34" charset="-122"/>
                <a:cs typeface="Aptos" pitchFamily="34" charset="-120"/>
              </a:rPr>
              <a:t>Gate: low-fit meetings → revise ICP</a:t>
            </a:r>
            <a:endParaRPr lang="en-US" sz="970" dirty="0"/>
          </a:p>
        </p:txBody>
      </p:sp>
      <p:sp>
        <p:nvSpPr>
          <p:cNvPr id="24" name="Shape 22"/>
          <p:cNvSpPr/>
          <p:nvPr/>
        </p:nvSpPr>
        <p:spPr>
          <a:xfrm>
            <a:off x="8119872" y="1911096"/>
            <a:ext cx="3520440" cy="4160520"/>
          </a:xfrm>
          <a:prstGeom prst="roundRect">
            <a:avLst>
              <a:gd name="adj" fmla="val 2857"/>
            </a:avLst>
          </a:prstGeom>
          <a:solidFill>
            <a:srgbClr val="14283B"/>
          </a:solidFill>
          <a:ln w="12700">
            <a:solidFill>
              <a:srgbClr val="14283B"/>
            </a:solidFill>
            <a:prstDash val="solid"/>
          </a:ln>
        </p:spPr>
      </p:sp>
      <p:sp>
        <p:nvSpPr>
          <p:cNvPr id="25" name="Text 23"/>
          <p:cNvSpPr/>
          <p:nvPr/>
        </p:nvSpPr>
        <p:spPr>
          <a:xfrm>
            <a:off x="8339328" y="2103120"/>
            <a:ext cx="2852928" cy="228600"/>
          </a:xfrm>
          <a:prstGeom prst="rect">
            <a:avLst/>
          </a:prstGeom>
          <a:noFill/>
          <a:ln/>
        </p:spPr>
        <p:txBody>
          <a:bodyPr wrap="square" lIns="0" tIns="0" rIns="0" bIns="0" rtlCol="0" anchor="ctr">
            <a:normAutofit/>
          </a:bodyPr>
          <a:lstStyle/>
          <a:p>
            <a:pPr indent="0" marL="0">
              <a:buNone/>
            </a:pPr>
            <a:r>
              <a:rPr lang="en-US" sz="1100" b="1" dirty="0">
                <a:solidFill>
                  <a:srgbClr val="F2C87E"/>
                </a:solidFill>
                <a:latin typeface="Aptos" pitchFamily="34" charset="0"/>
                <a:ea typeface="Aptos" pitchFamily="34" charset="-122"/>
                <a:cs typeface="Aptos" pitchFamily="34" charset="-120"/>
              </a:rPr>
              <a:t>DAYS 61–90</a:t>
            </a:r>
            <a:endParaRPr lang="en-US" sz="1100" dirty="0"/>
          </a:p>
        </p:txBody>
      </p:sp>
      <p:sp>
        <p:nvSpPr>
          <p:cNvPr id="26" name="Text 24"/>
          <p:cNvSpPr/>
          <p:nvPr/>
        </p:nvSpPr>
        <p:spPr>
          <a:xfrm>
            <a:off x="8339328" y="2523744"/>
            <a:ext cx="2926080" cy="301752"/>
          </a:xfrm>
          <a:prstGeom prst="rect">
            <a:avLst/>
          </a:prstGeom>
          <a:noFill/>
          <a:ln/>
        </p:spPr>
        <p:txBody>
          <a:bodyPr wrap="square" lIns="0" tIns="0" rIns="0" bIns="0" rtlCol="0" anchor="ctr">
            <a:normAutofit/>
          </a:bodyPr>
          <a:lstStyle/>
          <a:p>
            <a:pPr indent="0" marL="0">
              <a:buNone/>
            </a:pPr>
            <a:r>
              <a:rPr lang="en-US" sz="1300" b="1" dirty="0">
                <a:solidFill>
                  <a:srgbClr val="ECF5FA"/>
                </a:solidFill>
                <a:latin typeface="Aptos" pitchFamily="34" charset="0"/>
                <a:ea typeface="Aptos" pitchFamily="34" charset="-122"/>
                <a:cs typeface="Aptos" pitchFamily="34" charset="-120"/>
              </a:rPr>
              <a:t>SCALE OR REPAIR</a:t>
            </a:r>
            <a:endParaRPr lang="en-US" sz="1300" dirty="0"/>
          </a:p>
        </p:txBody>
      </p:sp>
      <p:sp>
        <p:nvSpPr>
          <p:cNvPr id="27" name="Text 25"/>
          <p:cNvSpPr/>
          <p:nvPr/>
        </p:nvSpPr>
        <p:spPr>
          <a:xfrm>
            <a:off x="8339328" y="3035808"/>
            <a:ext cx="3026664" cy="1856232"/>
          </a:xfrm>
          <a:prstGeom prst="rect">
            <a:avLst/>
          </a:prstGeom>
          <a:noFill/>
          <a:ln/>
        </p:spPr>
        <p:txBody>
          <a:bodyPr wrap="square" lIns="0" tIns="0" rIns="0" bIns="0" rtlCol="0" anchor="t">
            <a:normAutofit/>
          </a:bodyPr>
          <a:lstStyle/>
          <a:p>
            <a:pPr indent="0" marL="0">
              <a:buNone/>
            </a:pPr>
            <a:r>
              <a:rPr lang="en-US" sz="1120" dirty="0">
                <a:solidFill>
                  <a:srgbClr val="BBCAD8"/>
                </a:solidFill>
                <a:latin typeface="Aptos" pitchFamily="34" charset="0"/>
                <a:ea typeface="Aptos" pitchFamily="34" charset="-122"/>
                <a:cs typeface="Aptos" pitchFamily="34" charset="-120"/>
              </a:rPr>
              <a:t>• Evaluate SQL/pilot close risk</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Package sales + migration objection playbook</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Track live locations, not only wins</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Fully load source CAC including sales time</a:t>
            </a:r>
            <a:endParaRPr lang="en-US" sz="1120" dirty="0"/>
          </a:p>
          <a:p>
            <a:pPr indent="0" marL="0">
              <a:buNone/>
            </a:pPr>
            <a:r>
              <a:rPr lang="en-US" sz="1120" dirty="0">
                <a:solidFill>
                  <a:srgbClr val="BBCAD8"/>
                </a:solidFill>
                <a:latin typeface="Aptos" pitchFamily="34" charset="0"/>
                <a:ea typeface="Aptos" pitchFamily="34" charset="-122"/>
                <a:cs typeface="Aptos" pitchFamily="34" charset="-120"/>
              </a:rPr>
              <a:t>• Submit quarter-two budget recommendation</a:t>
            </a:r>
            <a:endParaRPr lang="en-US" sz="1120" dirty="0"/>
          </a:p>
        </p:txBody>
      </p:sp>
      <p:sp>
        <p:nvSpPr>
          <p:cNvPr id="28" name="Shape 26"/>
          <p:cNvSpPr/>
          <p:nvPr/>
        </p:nvSpPr>
        <p:spPr>
          <a:xfrm>
            <a:off x="8339328" y="5102352"/>
            <a:ext cx="3017520" cy="0"/>
          </a:xfrm>
          <a:prstGeom prst="line">
            <a:avLst/>
          </a:prstGeom>
          <a:noFill/>
          <a:ln w="8890">
            <a:solidFill>
              <a:srgbClr val="304357"/>
            </a:solidFill>
            <a:prstDash val="solid"/>
          </a:ln>
        </p:spPr>
      </p:sp>
      <p:sp>
        <p:nvSpPr>
          <p:cNvPr id="29" name="Text 27"/>
          <p:cNvSpPr/>
          <p:nvPr/>
        </p:nvSpPr>
        <p:spPr>
          <a:xfrm>
            <a:off x="8339328" y="5230368"/>
            <a:ext cx="3008376" cy="384048"/>
          </a:xfrm>
          <a:prstGeom prst="rect">
            <a:avLst/>
          </a:prstGeom>
          <a:noFill/>
          <a:ln/>
        </p:spPr>
        <p:txBody>
          <a:bodyPr wrap="square" lIns="0" tIns="0" rIns="0" bIns="0" rtlCol="0" anchor="ctr">
            <a:normAutofit/>
          </a:bodyPr>
          <a:lstStyle/>
          <a:p>
            <a:pPr indent="0" marL="0">
              <a:buNone/>
            </a:pPr>
            <a:r>
              <a:rPr lang="en-US" sz="1020" b="1" dirty="0">
                <a:solidFill>
                  <a:srgbClr val="57DDC4"/>
                </a:solidFill>
                <a:latin typeface="Aptos" pitchFamily="34" charset="0"/>
                <a:ea typeface="Aptos" pitchFamily="34" charset="-122"/>
                <a:cs typeface="Aptos" pitchFamily="34" charset="-120"/>
              </a:rPr>
              <a:t>Output: board-ready scale/pause decision</a:t>
            </a:r>
            <a:endParaRPr lang="en-US" sz="1020" dirty="0"/>
          </a:p>
        </p:txBody>
      </p:sp>
      <p:sp>
        <p:nvSpPr>
          <p:cNvPr id="30" name="Text 28"/>
          <p:cNvSpPr/>
          <p:nvPr/>
        </p:nvSpPr>
        <p:spPr>
          <a:xfrm>
            <a:off x="8339328" y="5660136"/>
            <a:ext cx="2999232" cy="228600"/>
          </a:xfrm>
          <a:prstGeom prst="rect">
            <a:avLst/>
          </a:prstGeom>
          <a:noFill/>
          <a:ln/>
        </p:spPr>
        <p:txBody>
          <a:bodyPr wrap="square" lIns="0" tIns="0" rIns="0" bIns="0" rtlCol="0" anchor="ctr">
            <a:normAutofit/>
          </a:bodyPr>
          <a:lstStyle/>
          <a:p>
            <a:pPr indent="0" marL="0">
              <a:buNone/>
            </a:pPr>
            <a:r>
              <a:rPr lang="en-US" sz="970" dirty="0">
                <a:solidFill>
                  <a:srgbClr val="F2C87E"/>
                </a:solidFill>
                <a:latin typeface="Aptos" pitchFamily="34" charset="0"/>
                <a:ea typeface="Aptos" pitchFamily="34" charset="-122"/>
                <a:cs typeface="Aptos" pitchFamily="34" charset="-120"/>
              </a:rPr>
              <a:t>Gate: implementation risk → fix first</a:t>
            </a:r>
            <a:endParaRPr lang="en-US" sz="9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07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Budget learning before buying scale.</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Annual ₹10,00,000 ceiling; the ₹1,00,000 60-day case is an alternative, not additional.</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COSTED ALLOCATION</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94360" y="1892808"/>
            <a:ext cx="6437376" cy="4270248"/>
          </a:xfrm>
          <a:prstGeom prst="roundRect">
            <a:avLst>
              <a:gd name="adj" fmla="val 2355"/>
            </a:avLst>
          </a:prstGeom>
          <a:solidFill>
            <a:srgbClr val="14283B"/>
          </a:solidFill>
          <a:ln w="12700">
            <a:solidFill>
              <a:srgbClr val="14283B"/>
            </a:solidFill>
            <a:prstDash val="solid"/>
          </a:ln>
        </p:spPr>
      </p:sp>
      <p:sp>
        <p:nvSpPr>
          <p:cNvPr id="11" name="Shape 9"/>
          <p:cNvSpPr/>
          <p:nvPr/>
        </p:nvSpPr>
        <p:spPr>
          <a:xfrm>
            <a:off x="7223760" y="1892808"/>
            <a:ext cx="4334256" cy="4270248"/>
          </a:xfrm>
          <a:prstGeom prst="roundRect">
            <a:avLst>
              <a:gd name="adj" fmla="val 2355"/>
            </a:avLst>
          </a:prstGeom>
          <a:solidFill>
            <a:srgbClr val="112336"/>
          </a:solidFill>
          <a:ln w="12700">
            <a:solidFill>
              <a:srgbClr val="112336"/>
            </a:solidFill>
            <a:prstDash val="solid"/>
          </a:ln>
        </p:spPr>
      </p:sp>
      <p:sp>
        <p:nvSpPr>
          <p:cNvPr id="12" name="Text 10"/>
          <p:cNvSpPr/>
          <p:nvPr/>
        </p:nvSpPr>
        <p:spPr>
          <a:xfrm>
            <a:off x="804672" y="2121408"/>
            <a:ext cx="5760720" cy="256032"/>
          </a:xfrm>
          <a:prstGeom prst="rect">
            <a:avLst/>
          </a:prstGeom>
          <a:noFill/>
          <a:ln/>
        </p:spPr>
        <p:txBody>
          <a:bodyPr wrap="square" lIns="0" tIns="0" rIns="0" bIns="0" rtlCol="0" anchor="ctr">
            <a:normAutofit/>
          </a:bodyPr>
          <a:lstStyle/>
          <a:p>
            <a:pPr indent="0" marL="0">
              <a:buNone/>
            </a:pPr>
            <a:r>
              <a:rPr lang="en-US" sz="1300" b="1" dirty="0">
                <a:solidFill>
                  <a:srgbClr val="57DDC4"/>
                </a:solidFill>
                <a:latin typeface="Aptos" pitchFamily="34" charset="0"/>
                <a:ea typeface="Aptos" pitchFamily="34" charset="-122"/>
                <a:cs typeface="Aptos" pitchFamily="34" charset="-120"/>
              </a:rPr>
              <a:t>12 MONTHS / ₹10 LAKH</a:t>
            </a:r>
            <a:endParaRPr lang="en-US" sz="1300" dirty="0"/>
          </a:p>
        </p:txBody>
      </p:sp>
      <p:sp>
        <p:nvSpPr>
          <p:cNvPr id="13" name="Text 11"/>
          <p:cNvSpPr/>
          <p:nvPr/>
        </p:nvSpPr>
        <p:spPr>
          <a:xfrm>
            <a:off x="7461504" y="2121408"/>
            <a:ext cx="3831336" cy="256032"/>
          </a:xfrm>
          <a:prstGeom prst="rect">
            <a:avLst/>
          </a:prstGeom>
          <a:noFill/>
          <a:ln/>
        </p:spPr>
        <p:txBody>
          <a:bodyPr wrap="square" lIns="0" tIns="0" rIns="0" bIns="0" rtlCol="0" anchor="ctr">
            <a:normAutofit/>
          </a:bodyPr>
          <a:lstStyle/>
          <a:p>
            <a:pPr indent="0" marL="0">
              <a:buNone/>
            </a:pPr>
            <a:r>
              <a:rPr lang="en-US" sz="1300" b="1" dirty="0">
                <a:solidFill>
                  <a:srgbClr val="F2C87E"/>
                </a:solidFill>
                <a:latin typeface="Aptos" pitchFamily="34" charset="0"/>
                <a:ea typeface="Aptos" pitchFamily="34" charset="-122"/>
                <a:cs typeface="Aptos" pitchFamily="34" charset="-120"/>
              </a:rPr>
              <a:t>ONLY ₹1L / 60 DAYS</a:t>
            </a:r>
            <a:endParaRPr lang="en-US" sz="1300" dirty="0"/>
          </a:p>
        </p:txBody>
      </p:sp>
      <p:sp>
        <p:nvSpPr>
          <p:cNvPr id="14" name="Text 12"/>
          <p:cNvSpPr/>
          <p:nvPr/>
        </p:nvSpPr>
        <p:spPr>
          <a:xfrm>
            <a:off x="822960" y="2542032"/>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Intent Search</a:t>
            </a:r>
            <a:endParaRPr lang="en-US" sz="1100" dirty="0"/>
          </a:p>
        </p:txBody>
      </p:sp>
      <p:sp>
        <p:nvSpPr>
          <p:cNvPr id="15" name="Text 13"/>
          <p:cNvSpPr/>
          <p:nvPr/>
        </p:nvSpPr>
        <p:spPr>
          <a:xfrm>
            <a:off x="4279392" y="2542032"/>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₹350k</a:t>
            </a:r>
            <a:endParaRPr lang="en-US" sz="1100" dirty="0"/>
          </a:p>
        </p:txBody>
      </p:sp>
      <p:sp>
        <p:nvSpPr>
          <p:cNvPr id="16" name="Text 14"/>
          <p:cNvSpPr/>
          <p:nvPr/>
        </p:nvSpPr>
        <p:spPr>
          <a:xfrm>
            <a:off x="5861304" y="2542032"/>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35%</a:t>
            </a:r>
            <a:endParaRPr lang="en-US" sz="1100" dirty="0"/>
          </a:p>
        </p:txBody>
      </p:sp>
      <p:sp>
        <p:nvSpPr>
          <p:cNvPr id="17" name="Shape 15"/>
          <p:cNvSpPr/>
          <p:nvPr/>
        </p:nvSpPr>
        <p:spPr>
          <a:xfrm>
            <a:off x="804672" y="2834640"/>
            <a:ext cx="5907024" cy="0"/>
          </a:xfrm>
          <a:prstGeom prst="line">
            <a:avLst/>
          </a:prstGeom>
          <a:noFill/>
          <a:ln w="8890">
            <a:solidFill>
              <a:srgbClr val="304357"/>
            </a:solidFill>
            <a:prstDash val="solid"/>
          </a:ln>
        </p:spPr>
      </p:sp>
      <p:sp>
        <p:nvSpPr>
          <p:cNvPr id="18" name="Text 16"/>
          <p:cNvSpPr/>
          <p:nvPr/>
        </p:nvSpPr>
        <p:spPr>
          <a:xfrm>
            <a:off x="822960" y="2944368"/>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Verified-account outreach</a:t>
            </a:r>
            <a:endParaRPr lang="en-US" sz="1100" dirty="0"/>
          </a:p>
        </p:txBody>
      </p:sp>
      <p:sp>
        <p:nvSpPr>
          <p:cNvPr id="19" name="Text 17"/>
          <p:cNvSpPr/>
          <p:nvPr/>
        </p:nvSpPr>
        <p:spPr>
          <a:xfrm>
            <a:off x="4279392" y="2944368"/>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₹180k</a:t>
            </a:r>
            <a:endParaRPr lang="en-US" sz="1100" dirty="0"/>
          </a:p>
        </p:txBody>
      </p:sp>
      <p:sp>
        <p:nvSpPr>
          <p:cNvPr id="20" name="Text 18"/>
          <p:cNvSpPr/>
          <p:nvPr/>
        </p:nvSpPr>
        <p:spPr>
          <a:xfrm>
            <a:off x="5861304" y="2944368"/>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18%</a:t>
            </a:r>
            <a:endParaRPr lang="en-US" sz="1100" dirty="0"/>
          </a:p>
        </p:txBody>
      </p:sp>
      <p:sp>
        <p:nvSpPr>
          <p:cNvPr id="21" name="Shape 19"/>
          <p:cNvSpPr/>
          <p:nvPr/>
        </p:nvSpPr>
        <p:spPr>
          <a:xfrm>
            <a:off x="804672" y="3236976"/>
            <a:ext cx="5907024" cy="0"/>
          </a:xfrm>
          <a:prstGeom prst="line">
            <a:avLst/>
          </a:prstGeom>
          <a:noFill/>
          <a:ln w="8890">
            <a:solidFill>
              <a:srgbClr val="304357"/>
            </a:solidFill>
            <a:prstDash val="solid"/>
          </a:ln>
        </p:spPr>
      </p:sp>
      <p:sp>
        <p:nvSpPr>
          <p:cNvPr id="22" name="Text 20"/>
          <p:cNvSpPr/>
          <p:nvPr/>
        </p:nvSpPr>
        <p:spPr>
          <a:xfrm>
            <a:off x="822960" y="3346704"/>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Partner referrals</a:t>
            </a:r>
            <a:endParaRPr lang="en-US" sz="1100" dirty="0"/>
          </a:p>
        </p:txBody>
      </p:sp>
      <p:sp>
        <p:nvSpPr>
          <p:cNvPr id="23" name="Text 21"/>
          <p:cNvSpPr/>
          <p:nvPr/>
        </p:nvSpPr>
        <p:spPr>
          <a:xfrm>
            <a:off x="4279392" y="3346704"/>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₹120k</a:t>
            </a:r>
            <a:endParaRPr lang="en-US" sz="1100" dirty="0"/>
          </a:p>
        </p:txBody>
      </p:sp>
      <p:sp>
        <p:nvSpPr>
          <p:cNvPr id="24" name="Text 22"/>
          <p:cNvSpPr/>
          <p:nvPr/>
        </p:nvSpPr>
        <p:spPr>
          <a:xfrm>
            <a:off x="5861304" y="3346704"/>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12%</a:t>
            </a:r>
            <a:endParaRPr lang="en-US" sz="1100" dirty="0"/>
          </a:p>
        </p:txBody>
      </p:sp>
      <p:sp>
        <p:nvSpPr>
          <p:cNvPr id="25" name="Shape 23"/>
          <p:cNvSpPr/>
          <p:nvPr/>
        </p:nvSpPr>
        <p:spPr>
          <a:xfrm>
            <a:off x="804672" y="3639312"/>
            <a:ext cx="5907024" cy="0"/>
          </a:xfrm>
          <a:prstGeom prst="line">
            <a:avLst/>
          </a:prstGeom>
          <a:noFill/>
          <a:ln w="8890">
            <a:solidFill>
              <a:srgbClr val="304357"/>
            </a:solidFill>
            <a:prstDash val="solid"/>
          </a:ln>
        </p:spPr>
      </p:sp>
      <p:sp>
        <p:nvSpPr>
          <p:cNvPr id="26" name="Text 24"/>
          <p:cNvSpPr/>
          <p:nvPr/>
        </p:nvSpPr>
        <p:spPr>
          <a:xfrm>
            <a:off x="822960" y="3749040"/>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Landing / product-proof assets</a:t>
            </a:r>
            <a:endParaRPr lang="en-US" sz="1100" dirty="0"/>
          </a:p>
        </p:txBody>
      </p:sp>
      <p:sp>
        <p:nvSpPr>
          <p:cNvPr id="27" name="Text 25"/>
          <p:cNvSpPr/>
          <p:nvPr/>
        </p:nvSpPr>
        <p:spPr>
          <a:xfrm>
            <a:off x="4279392" y="3749040"/>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₹120k</a:t>
            </a:r>
            <a:endParaRPr lang="en-US" sz="1100" dirty="0"/>
          </a:p>
        </p:txBody>
      </p:sp>
      <p:sp>
        <p:nvSpPr>
          <p:cNvPr id="28" name="Text 26"/>
          <p:cNvSpPr/>
          <p:nvPr/>
        </p:nvSpPr>
        <p:spPr>
          <a:xfrm>
            <a:off x="5861304" y="3749040"/>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12%</a:t>
            </a:r>
            <a:endParaRPr lang="en-US" sz="1100" dirty="0"/>
          </a:p>
        </p:txBody>
      </p:sp>
      <p:sp>
        <p:nvSpPr>
          <p:cNvPr id="29" name="Shape 27"/>
          <p:cNvSpPr/>
          <p:nvPr/>
        </p:nvSpPr>
        <p:spPr>
          <a:xfrm>
            <a:off x="804672" y="4041648"/>
            <a:ext cx="5907024" cy="0"/>
          </a:xfrm>
          <a:prstGeom prst="line">
            <a:avLst/>
          </a:prstGeom>
          <a:noFill/>
          <a:ln w="8890">
            <a:solidFill>
              <a:srgbClr val="304357"/>
            </a:solidFill>
            <a:prstDash val="solid"/>
          </a:ln>
        </p:spPr>
      </p:sp>
      <p:sp>
        <p:nvSpPr>
          <p:cNvPr id="30" name="Text 28"/>
          <p:cNvSpPr/>
          <p:nvPr/>
        </p:nvSpPr>
        <p:spPr>
          <a:xfrm>
            <a:off x="822960" y="4151376"/>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Meta retargeting / ICP test</a:t>
            </a:r>
            <a:endParaRPr lang="en-US" sz="1100" dirty="0"/>
          </a:p>
        </p:txBody>
      </p:sp>
      <p:sp>
        <p:nvSpPr>
          <p:cNvPr id="31" name="Text 29"/>
          <p:cNvSpPr/>
          <p:nvPr/>
        </p:nvSpPr>
        <p:spPr>
          <a:xfrm>
            <a:off x="4279392" y="4151376"/>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₹90k</a:t>
            </a:r>
            <a:endParaRPr lang="en-US" sz="1100" dirty="0"/>
          </a:p>
        </p:txBody>
      </p:sp>
      <p:sp>
        <p:nvSpPr>
          <p:cNvPr id="32" name="Text 30"/>
          <p:cNvSpPr/>
          <p:nvPr/>
        </p:nvSpPr>
        <p:spPr>
          <a:xfrm>
            <a:off x="5861304" y="4151376"/>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9%</a:t>
            </a:r>
            <a:endParaRPr lang="en-US" sz="1100" dirty="0"/>
          </a:p>
        </p:txBody>
      </p:sp>
      <p:sp>
        <p:nvSpPr>
          <p:cNvPr id="33" name="Shape 31"/>
          <p:cNvSpPr/>
          <p:nvPr/>
        </p:nvSpPr>
        <p:spPr>
          <a:xfrm>
            <a:off x="804672" y="4443984"/>
            <a:ext cx="5907024" cy="0"/>
          </a:xfrm>
          <a:prstGeom prst="line">
            <a:avLst/>
          </a:prstGeom>
          <a:noFill/>
          <a:ln w="8890">
            <a:solidFill>
              <a:srgbClr val="304357"/>
            </a:solidFill>
            <a:prstDash val="solid"/>
          </a:ln>
        </p:spPr>
      </p:sp>
      <p:sp>
        <p:nvSpPr>
          <p:cNvPr id="34" name="Text 32"/>
          <p:cNvSpPr/>
          <p:nvPr/>
        </p:nvSpPr>
        <p:spPr>
          <a:xfrm>
            <a:off x="822960" y="4553712"/>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CRM / tracking</a:t>
            </a:r>
            <a:endParaRPr lang="en-US" sz="1100" dirty="0"/>
          </a:p>
        </p:txBody>
      </p:sp>
      <p:sp>
        <p:nvSpPr>
          <p:cNvPr id="35" name="Text 33"/>
          <p:cNvSpPr/>
          <p:nvPr/>
        </p:nvSpPr>
        <p:spPr>
          <a:xfrm>
            <a:off x="4279392" y="4553712"/>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₹60k</a:t>
            </a:r>
            <a:endParaRPr lang="en-US" sz="1100" dirty="0"/>
          </a:p>
        </p:txBody>
      </p:sp>
      <p:sp>
        <p:nvSpPr>
          <p:cNvPr id="36" name="Text 34"/>
          <p:cNvSpPr/>
          <p:nvPr/>
        </p:nvSpPr>
        <p:spPr>
          <a:xfrm>
            <a:off x="5861304" y="4553712"/>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6%</a:t>
            </a:r>
            <a:endParaRPr lang="en-US" sz="1100" dirty="0"/>
          </a:p>
        </p:txBody>
      </p:sp>
      <p:sp>
        <p:nvSpPr>
          <p:cNvPr id="37" name="Shape 35"/>
          <p:cNvSpPr/>
          <p:nvPr/>
        </p:nvSpPr>
        <p:spPr>
          <a:xfrm>
            <a:off x="804672" y="4846320"/>
            <a:ext cx="5907024" cy="0"/>
          </a:xfrm>
          <a:prstGeom prst="line">
            <a:avLst/>
          </a:prstGeom>
          <a:noFill/>
          <a:ln w="8890">
            <a:solidFill>
              <a:srgbClr val="304357"/>
            </a:solidFill>
            <a:prstDash val="solid"/>
          </a:ln>
        </p:spPr>
      </p:sp>
      <p:sp>
        <p:nvSpPr>
          <p:cNvPr id="38" name="Text 36"/>
          <p:cNvSpPr/>
          <p:nvPr/>
        </p:nvSpPr>
        <p:spPr>
          <a:xfrm>
            <a:off x="822960" y="4956048"/>
            <a:ext cx="3136392" cy="228600"/>
          </a:xfrm>
          <a:prstGeom prst="rect">
            <a:avLst/>
          </a:prstGeom>
          <a:noFill/>
          <a:ln/>
        </p:spPr>
        <p:txBody>
          <a:bodyPr wrap="square" lIns="0" tIns="0" rIns="0" bIns="0" rtlCol="0" anchor="ctr">
            <a:normAutofit/>
          </a:bodyPr>
          <a:lstStyle/>
          <a:p>
            <a:pPr indent="0" marL="0">
              <a:buNone/>
            </a:pPr>
            <a:r>
              <a:rPr lang="en-US" sz="1100" dirty="0">
                <a:solidFill>
                  <a:srgbClr val="ECF5FA"/>
                </a:solidFill>
                <a:latin typeface="Aptos" pitchFamily="34" charset="0"/>
                <a:ea typeface="Aptos" pitchFamily="34" charset="-122"/>
                <a:cs typeface="Aptos" pitchFamily="34" charset="-120"/>
              </a:rPr>
              <a:t>Uncommitted reserve</a:t>
            </a:r>
            <a:endParaRPr lang="en-US" sz="1100" dirty="0"/>
          </a:p>
        </p:txBody>
      </p:sp>
      <p:sp>
        <p:nvSpPr>
          <p:cNvPr id="39" name="Text 37"/>
          <p:cNvSpPr/>
          <p:nvPr/>
        </p:nvSpPr>
        <p:spPr>
          <a:xfrm>
            <a:off x="4279392" y="4956048"/>
            <a:ext cx="886968" cy="228600"/>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₹80k</a:t>
            </a:r>
            <a:endParaRPr lang="en-US" sz="1100" dirty="0"/>
          </a:p>
        </p:txBody>
      </p:sp>
      <p:sp>
        <p:nvSpPr>
          <p:cNvPr id="40" name="Text 38"/>
          <p:cNvSpPr/>
          <p:nvPr/>
        </p:nvSpPr>
        <p:spPr>
          <a:xfrm>
            <a:off x="5861304" y="4956048"/>
            <a:ext cx="749808" cy="228600"/>
          </a:xfrm>
          <a:prstGeom prst="rect">
            <a:avLst/>
          </a:prstGeom>
          <a:noFill/>
          <a:ln/>
        </p:spPr>
        <p:txBody>
          <a:bodyPr wrap="square" lIns="0" tIns="0" rIns="0" bIns="0" rtlCol="0" anchor="ctr">
            <a:normAutofit/>
          </a:bodyPr>
          <a:lstStyle/>
          <a:p>
            <a:pPr algn="r" indent="0" marL="0">
              <a:buNone/>
            </a:pPr>
            <a:r>
              <a:rPr lang="en-US" sz="1100" dirty="0">
                <a:solidFill>
                  <a:srgbClr val="BBCAD8"/>
                </a:solidFill>
                <a:latin typeface="Aptos" pitchFamily="34" charset="0"/>
                <a:ea typeface="Aptos" pitchFamily="34" charset="-122"/>
                <a:cs typeface="Aptos" pitchFamily="34" charset="-120"/>
              </a:rPr>
              <a:t>8%</a:t>
            </a:r>
            <a:endParaRPr lang="en-US" sz="1100" dirty="0"/>
          </a:p>
        </p:txBody>
      </p:sp>
      <p:sp>
        <p:nvSpPr>
          <p:cNvPr id="41" name="Shape 39"/>
          <p:cNvSpPr/>
          <p:nvPr/>
        </p:nvSpPr>
        <p:spPr>
          <a:xfrm>
            <a:off x="804672" y="5248656"/>
            <a:ext cx="5907024" cy="0"/>
          </a:xfrm>
          <a:prstGeom prst="line">
            <a:avLst/>
          </a:prstGeom>
          <a:noFill/>
          <a:ln w="8890">
            <a:solidFill>
              <a:srgbClr val="304357"/>
            </a:solidFill>
            <a:prstDash val="solid"/>
          </a:ln>
        </p:spPr>
      </p:sp>
      <p:sp>
        <p:nvSpPr>
          <p:cNvPr id="42" name="Text 40"/>
          <p:cNvSpPr/>
          <p:nvPr/>
        </p:nvSpPr>
        <p:spPr>
          <a:xfrm>
            <a:off x="822960" y="5824728"/>
            <a:ext cx="5760720" cy="228600"/>
          </a:xfrm>
          <a:prstGeom prst="rect">
            <a:avLst/>
          </a:prstGeom>
          <a:noFill/>
          <a:ln/>
        </p:spPr>
        <p:txBody>
          <a:bodyPr wrap="square" lIns="0" tIns="0" rIns="0" bIns="0" rtlCol="0" anchor="ctr">
            <a:normAutofit/>
          </a:bodyPr>
          <a:lstStyle/>
          <a:p>
            <a:pPr indent="0" marL="0">
              <a:buNone/>
            </a:pPr>
            <a:r>
              <a:rPr lang="en-US" sz="1130" b="1" dirty="0">
                <a:solidFill>
                  <a:srgbClr val="57DDC4"/>
                </a:solidFill>
                <a:latin typeface="Aptos" pitchFamily="34" charset="0"/>
                <a:ea typeface="Aptos" pitchFamily="34" charset="-122"/>
                <a:cs typeface="Aptos" pitchFamily="34" charset="-120"/>
              </a:rPr>
              <a:t>TOTAL ₹10,00,000 · 100%</a:t>
            </a:r>
            <a:endParaRPr lang="en-US" sz="1130" dirty="0"/>
          </a:p>
        </p:txBody>
      </p:sp>
      <p:sp>
        <p:nvSpPr>
          <p:cNvPr id="43" name="Text 41"/>
          <p:cNvSpPr/>
          <p:nvPr/>
        </p:nvSpPr>
        <p:spPr>
          <a:xfrm>
            <a:off x="7461504" y="2624328"/>
            <a:ext cx="2615184" cy="210312"/>
          </a:xfrm>
          <a:prstGeom prst="rect">
            <a:avLst/>
          </a:prstGeom>
          <a:noFill/>
          <a:ln/>
        </p:spPr>
        <p:txBody>
          <a:bodyPr wrap="square" lIns="0" tIns="0" rIns="0" bIns="0" rtlCol="0" anchor="ctr">
            <a:normAutofit/>
          </a:bodyPr>
          <a:lstStyle/>
          <a:p>
            <a:pPr indent="0" marL="0">
              <a:buNone/>
            </a:pPr>
            <a:r>
              <a:rPr lang="en-US" sz="1070" dirty="0">
                <a:solidFill>
                  <a:srgbClr val="ECF5FA"/>
                </a:solidFill>
                <a:latin typeface="Aptos" pitchFamily="34" charset="0"/>
                <a:ea typeface="Aptos" pitchFamily="34" charset="-122"/>
                <a:cs typeface="Aptos" pitchFamily="34" charset="-120"/>
              </a:rPr>
              <a:t>Search pilot</a:t>
            </a:r>
            <a:endParaRPr lang="en-US" sz="1070" dirty="0"/>
          </a:p>
        </p:txBody>
      </p:sp>
      <p:sp>
        <p:nvSpPr>
          <p:cNvPr id="44" name="Text 42"/>
          <p:cNvSpPr/>
          <p:nvPr/>
        </p:nvSpPr>
        <p:spPr>
          <a:xfrm>
            <a:off x="10387584" y="2624328"/>
            <a:ext cx="850392" cy="210312"/>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₹30k</a:t>
            </a:r>
            <a:endParaRPr lang="en-US" sz="1100" dirty="0"/>
          </a:p>
        </p:txBody>
      </p:sp>
      <p:sp>
        <p:nvSpPr>
          <p:cNvPr id="45" name="Shape 43"/>
          <p:cNvSpPr/>
          <p:nvPr/>
        </p:nvSpPr>
        <p:spPr>
          <a:xfrm>
            <a:off x="7461504" y="2916936"/>
            <a:ext cx="3867912" cy="0"/>
          </a:xfrm>
          <a:prstGeom prst="line">
            <a:avLst/>
          </a:prstGeom>
          <a:noFill/>
          <a:ln w="8890">
            <a:solidFill>
              <a:srgbClr val="304357"/>
            </a:solidFill>
            <a:prstDash val="solid"/>
          </a:ln>
        </p:spPr>
      </p:sp>
      <p:sp>
        <p:nvSpPr>
          <p:cNvPr id="46" name="Text 44"/>
          <p:cNvSpPr/>
          <p:nvPr/>
        </p:nvSpPr>
        <p:spPr>
          <a:xfrm>
            <a:off x="7461504" y="3072384"/>
            <a:ext cx="2615184" cy="210312"/>
          </a:xfrm>
          <a:prstGeom prst="rect">
            <a:avLst/>
          </a:prstGeom>
          <a:noFill/>
          <a:ln/>
        </p:spPr>
        <p:txBody>
          <a:bodyPr wrap="square" lIns="0" tIns="0" rIns="0" bIns="0" rtlCol="0" anchor="ctr">
            <a:normAutofit/>
          </a:bodyPr>
          <a:lstStyle/>
          <a:p>
            <a:pPr indent="0" marL="0">
              <a:buNone/>
            </a:pPr>
            <a:r>
              <a:rPr lang="en-US" sz="1070" dirty="0">
                <a:solidFill>
                  <a:srgbClr val="ECF5FA"/>
                </a:solidFill>
                <a:latin typeface="Aptos" pitchFamily="34" charset="0"/>
                <a:ea typeface="Aptos" pitchFamily="34" charset="-122"/>
                <a:cs typeface="Aptos" pitchFamily="34" charset="-120"/>
              </a:rPr>
              <a:t>Account research + outreach</a:t>
            </a:r>
            <a:endParaRPr lang="en-US" sz="1070" dirty="0"/>
          </a:p>
        </p:txBody>
      </p:sp>
      <p:sp>
        <p:nvSpPr>
          <p:cNvPr id="47" name="Text 45"/>
          <p:cNvSpPr/>
          <p:nvPr/>
        </p:nvSpPr>
        <p:spPr>
          <a:xfrm>
            <a:off x="10387584" y="3072384"/>
            <a:ext cx="850392" cy="210312"/>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₹30k</a:t>
            </a:r>
            <a:endParaRPr lang="en-US" sz="1100" dirty="0"/>
          </a:p>
        </p:txBody>
      </p:sp>
      <p:sp>
        <p:nvSpPr>
          <p:cNvPr id="48" name="Shape 46"/>
          <p:cNvSpPr/>
          <p:nvPr/>
        </p:nvSpPr>
        <p:spPr>
          <a:xfrm>
            <a:off x="7461504" y="3364992"/>
            <a:ext cx="3867912" cy="0"/>
          </a:xfrm>
          <a:prstGeom prst="line">
            <a:avLst/>
          </a:prstGeom>
          <a:noFill/>
          <a:ln w="8890">
            <a:solidFill>
              <a:srgbClr val="304357"/>
            </a:solidFill>
            <a:prstDash val="solid"/>
          </a:ln>
        </p:spPr>
      </p:sp>
      <p:sp>
        <p:nvSpPr>
          <p:cNvPr id="49" name="Text 47"/>
          <p:cNvSpPr/>
          <p:nvPr/>
        </p:nvSpPr>
        <p:spPr>
          <a:xfrm>
            <a:off x="7461504" y="3520440"/>
            <a:ext cx="2615184" cy="210312"/>
          </a:xfrm>
          <a:prstGeom prst="rect">
            <a:avLst/>
          </a:prstGeom>
          <a:noFill/>
          <a:ln/>
        </p:spPr>
        <p:txBody>
          <a:bodyPr wrap="square" lIns="0" tIns="0" rIns="0" bIns="0" rtlCol="0" anchor="ctr">
            <a:normAutofit/>
          </a:bodyPr>
          <a:lstStyle/>
          <a:p>
            <a:pPr indent="0" marL="0">
              <a:buNone/>
            </a:pPr>
            <a:r>
              <a:rPr lang="en-US" sz="1070" dirty="0">
                <a:solidFill>
                  <a:srgbClr val="ECF5FA"/>
                </a:solidFill>
                <a:latin typeface="Aptos" pitchFamily="34" charset="0"/>
                <a:ea typeface="Aptos" pitchFamily="34" charset="-122"/>
                <a:cs typeface="Aptos" pitchFamily="34" charset="-120"/>
              </a:rPr>
              <a:t>Landing + proof</a:t>
            </a:r>
            <a:endParaRPr lang="en-US" sz="1070" dirty="0"/>
          </a:p>
        </p:txBody>
      </p:sp>
      <p:sp>
        <p:nvSpPr>
          <p:cNvPr id="50" name="Text 48"/>
          <p:cNvSpPr/>
          <p:nvPr/>
        </p:nvSpPr>
        <p:spPr>
          <a:xfrm>
            <a:off x="10387584" y="3520440"/>
            <a:ext cx="850392" cy="210312"/>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₹15k</a:t>
            </a:r>
            <a:endParaRPr lang="en-US" sz="1100" dirty="0"/>
          </a:p>
        </p:txBody>
      </p:sp>
      <p:sp>
        <p:nvSpPr>
          <p:cNvPr id="51" name="Shape 49"/>
          <p:cNvSpPr/>
          <p:nvPr/>
        </p:nvSpPr>
        <p:spPr>
          <a:xfrm>
            <a:off x="7461504" y="3813048"/>
            <a:ext cx="3867912" cy="0"/>
          </a:xfrm>
          <a:prstGeom prst="line">
            <a:avLst/>
          </a:prstGeom>
          <a:noFill/>
          <a:ln w="8890">
            <a:solidFill>
              <a:srgbClr val="304357"/>
            </a:solidFill>
            <a:prstDash val="solid"/>
          </a:ln>
        </p:spPr>
      </p:sp>
      <p:sp>
        <p:nvSpPr>
          <p:cNvPr id="52" name="Text 50"/>
          <p:cNvSpPr/>
          <p:nvPr/>
        </p:nvSpPr>
        <p:spPr>
          <a:xfrm>
            <a:off x="7461504" y="3968496"/>
            <a:ext cx="2615184" cy="210312"/>
          </a:xfrm>
          <a:prstGeom prst="rect">
            <a:avLst/>
          </a:prstGeom>
          <a:noFill/>
          <a:ln/>
        </p:spPr>
        <p:txBody>
          <a:bodyPr wrap="square" lIns="0" tIns="0" rIns="0" bIns="0" rtlCol="0" anchor="ctr">
            <a:normAutofit/>
          </a:bodyPr>
          <a:lstStyle/>
          <a:p>
            <a:pPr indent="0" marL="0">
              <a:buNone/>
            </a:pPr>
            <a:r>
              <a:rPr lang="en-US" sz="1070" dirty="0">
                <a:solidFill>
                  <a:srgbClr val="ECF5FA"/>
                </a:solidFill>
                <a:latin typeface="Aptos" pitchFamily="34" charset="0"/>
                <a:ea typeface="Aptos" pitchFamily="34" charset="-122"/>
                <a:cs typeface="Aptos" pitchFamily="34" charset="-120"/>
              </a:rPr>
              <a:t>Tracking + follow-up</a:t>
            </a:r>
            <a:endParaRPr lang="en-US" sz="1070" dirty="0"/>
          </a:p>
        </p:txBody>
      </p:sp>
      <p:sp>
        <p:nvSpPr>
          <p:cNvPr id="53" name="Text 51"/>
          <p:cNvSpPr/>
          <p:nvPr/>
        </p:nvSpPr>
        <p:spPr>
          <a:xfrm>
            <a:off x="10387584" y="3968496"/>
            <a:ext cx="850392" cy="210312"/>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₹10k</a:t>
            </a:r>
            <a:endParaRPr lang="en-US" sz="1100" dirty="0"/>
          </a:p>
        </p:txBody>
      </p:sp>
      <p:sp>
        <p:nvSpPr>
          <p:cNvPr id="54" name="Shape 52"/>
          <p:cNvSpPr/>
          <p:nvPr/>
        </p:nvSpPr>
        <p:spPr>
          <a:xfrm>
            <a:off x="7461504" y="4261104"/>
            <a:ext cx="3867912" cy="0"/>
          </a:xfrm>
          <a:prstGeom prst="line">
            <a:avLst/>
          </a:prstGeom>
          <a:noFill/>
          <a:ln w="8890">
            <a:solidFill>
              <a:srgbClr val="304357"/>
            </a:solidFill>
            <a:prstDash val="solid"/>
          </a:ln>
        </p:spPr>
      </p:sp>
      <p:sp>
        <p:nvSpPr>
          <p:cNvPr id="55" name="Text 53"/>
          <p:cNvSpPr/>
          <p:nvPr/>
        </p:nvSpPr>
        <p:spPr>
          <a:xfrm>
            <a:off x="7461504" y="4416552"/>
            <a:ext cx="2615184" cy="210312"/>
          </a:xfrm>
          <a:prstGeom prst="rect">
            <a:avLst/>
          </a:prstGeom>
          <a:noFill/>
          <a:ln/>
        </p:spPr>
        <p:txBody>
          <a:bodyPr wrap="square" lIns="0" tIns="0" rIns="0" bIns="0" rtlCol="0" anchor="ctr">
            <a:normAutofit/>
          </a:bodyPr>
          <a:lstStyle/>
          <a:p>
            <a:pPr indent="0" marL="0">
              <a:buNone/>
            </a:pPr>
            <a:r>
              <a:rPr lang="en-US" sz="1070" dirty="0">
                <a:solidFill>
                  <a:srgbClr val="ECF5FA"/>
                </a:solidFill>
                <a:latin typeface="Aptos" pitchFamily="34" charset="0"/>
                <a:ea typeface="Aptos" pitchFamily="34" charset="-122"/>
                <a:cs typeface="Aptos" pitchFamily="34" charset="-120"/>
              </a:rPr>
              <a:t>Partner pilot</a:t>
            </a:r>
            <a:endParaRPr lang="en-US" sz="1070" dirty="0"/>
          </a:p>
        </p:txBody>
      </p:sp>
      <p:sp>
        <p:nvSpPr>
          <p:cNvPr id="56" name="Text 54"/>
          <p:cNvSpPr/>
          <p:nvPr/>
        </p:nvSpPr>
        <p:spPr>
          <a:xfrm>
            <a:off x="10387584" y="4416552"/>
            <a:ext cx="850392" cy="210312"/>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₹5k</a:t>
            </a:r>
            <a:endParaRPr lang="en-US" sz="1100" dirty="0"/>
          </a:p>
        </p:txBody>
      </p:sp>
      <p:sp>
        <p:nvSpPr>
          <p:cNvPr id="57" name="Shape 55"/>
          <p:cNvSpPr/>
          <p:nvPr/>
        </p:nvSpPr>
        <p:spPr>
          <a:xfrm>
            <a:off x="7461504" y="4709160"/>
            <a:ext cx="3867912" cy="0"/>
          </a:xfrm>
          <a:prstGeom prst="line">
            <a:avLst/>
          </a:prstGeom>
          <a:noFill/>
          <a:ln w="8890">
            <a:solidFill>
              <a:srgbClr val="304357"/>
            </a:solidFill>
            <a:prstDash val="solid"/>
          </a:ln>
        </p:spPr>
      </p:sp>
      <p:sp>
        <p:nvSpPr>
          <p:cNvPr id="58" name="Text 56"/>
          <p:cNvSpPr/>
          <p:nvPr/>
        </p:nvSpPr>
        <p:spPr>
          <a:xfrm>
            <a:off x="7461504" y="4864608"/>
            <a:ext cx="2615184" cy="210312"/>
          </a:xfrm>
          <a:prstGeom prst="rect">
            <a:avLst/>
          </a:prstGeom>
          <a:noFill/>
          <a:ln/>
        </p:spPr>
        <p:txBody>
          <a:bodyPr wrap="square" lIns="0" tIns="0" rIns="0" bIns="0" rtlCol="0" anchor="ctr">
            <a:normAutofit/>
          </a:bodyPr>
          <a:lstStyle/>
          <a:p>
            <a:pPr indent="0" marL="0">
              <a:buNone/>
            </a:pPr>
            <a:r>
              <a:rPr lang="en-US" sz="1070" dirty="0">
                <a:solidFill>
                  <a:srgbClr val="ECF5FA"/>
                </a:solidFill>
                <a:latin typeface="Aptos" pitchFamily="34" charset="0"/>
                <a:ea typeface="Aptos" pitchFamily="34" charset="-122"/>
                <a:cs typeface="Aptos" pitchFamily="34" charset="-120"/>
              </a:rPr>
              <a:t>Withheld reserve</a:t>
            </a:r>
            <a:endParaRPr lang="en-US" sz="1070" dirty="0"/>
          </a:p>
        </p:txBody>
      </p:sp>
      <p:sp>
        <p:nvSpPr>
          <p:cNvPr id="59" name="Text 57"/>
          <p:cNvSpPr/>
          <p:nvPr/>
        </p:nvSpPr>
        <p:spPr>
          <a:xfrm>
            <a:off x="10387584" y="4864608"/>
            <a:ext cx="850392" cy="210312"/>
          </a:xfrm>
          <a:prstGeom prst="rect">
            <a:avLst/>
          </a:prstGeom>
          <a:noFill/>
          <a:ln/>
        </p:spPr>
        <p:txBody>
          <a:bodyPr wrap="square" lIns="0" tIns="0" rIns="0" bIns="0" rtlCol="0" anchor="ctr">
            <a:normAutofit/>
          </a:bodyPr>
          <a:lstStyle/>
          <a:p>
            <a:pPr algn="r" indent="0" marL="0">
              <a:buNone/>
            </a:pPr>
            <a:r>
              <a:rPr lang="en-US" sz="1100" dirty="0">
                <a:solidFill>
                  <a:srgbClr val="F2C87E"/>
                </a:solidFill>
                <a:latin typeface="Aptos" pitchFamily="34" charset="0"/>
                <a:ea typeface="Aptos" pitchFamily="34" charset="-122"/>
                <a:cs typeface="Aptos" pitchFamily="34" charset="-120"/>
              </a:rPr>
              <a:t>₹10k</a:t>
            </a:r>
            <a:endParaRPr lang="en-US" sz="1100" dirty="0"/>
          </a:p>
        </p:txBody>
      </p:sp>
      <p:sp>
        <p:nvSpPr>
          <p:cNvPr id="60" name="Shape 58"/>
          <p:cNvSpPr/>
          <p:nvPr/>
        </p:nvSpPr>
        <p:spPr>
          <a:xfrm>
            <a:off x="7461504" y="5157216"/>
            <a:ext cx="3867912" cy="0"/>
          </a:xfrm>
          <a:prstGeom prst="line">
            <a:avLst/>
          </a:prstGeom>
          <a:noFill/>
          <a:ln w="8890">
            <a:solidFill>
              <a:srgbClr val="304357"/>
            </a:solidFill>
            <a:prstDash val="solid"/>
          </a:ln>
        </p:spPr>
      </p:sp>
      <p:sp>
        <p:nvSpPr>
          <p:cNvPr id="61" name="Text 59"/>
          <p:cNvSpPr/>
          <p:nvPr/>
        </p:nvSpPr>
        <p:spPr>
          <a:xfrm>
            <a:off x="7461504" y="5824728"/>
            <a:ext cx="3840480" cy="219456"/>
          </a:xfrm>
          <a:prstGeom prst="rect">
            <a:avLst/>
          </a:prstGeom>
          <a:noFill/>
          <a:ln/>
        </p:spPr>
        <p:txBody>
          <a:bodyPr wrap="square" lIns="0" tIns="0" rIns="0" bIns="0" rtlCol="0" anchor="ctr">
            <a:normAutofit/>
          </a:bodyPr>
          <a:lstStyle/>
          <a:p>
            <a:pPr indent="0" marL="0">
              <a:buNone/>
            </a:pPr>
            <a:r>
              <a:rPr lang="en-US" sz="1120" b="1" dirty="0">
                <a:solidFill>
                  <a:srgbClr val="57DDC4"/>
                </a:solidFill>
                <a:latin typeface="Aptos" pitchFamily="34" charset="0"/>
                <a:ea typeface="Aptos" pitchFamily="34" charset="-122"/>
                <a:cs typeface="Aptos" pitchFamily="34" charset="-120"/>
              </a:rPr>
              <a:t>TOTAL ₹1,00,000 · 100%</a:t>
            </a:r>
            <a:endParaRPr lang="en-US" sz="11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08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The same ₹2,700 lead can imply ₹54k–₹270k CAC.</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Sensitivity at ASSUMED conversion rates exposes where economics can break.</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ECONOMICS / MEASUREMENT</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94360" y="1874520"/>
            <a:ext cx="6528816" cy="2596896"/>
          </a:xfrm>
          <a:prstGeom prst="roundRect">
            <a:avLst>
              <a:gd name="adj" fmla="val 3873"/>
            </a:avLst>
          </a:prstGeom>
          <a:solidFill>
            <a:srgbClr val="14283B"/>
          </a:solidFill>
          <a:ln w="12700">
            <a:solidFill>
              <a:srgbClr val="14283B"/>
            </a:solidFill>
            <a:prstDash val="solid"/>
          </a:ln>
        </p:spPr>
      </p:sp>
      <p:sp>
        <p:nvSpPr>
          <p:cNvPr id="11" name="Text 9"/>
          <p:cNvSpPr/>
          <p:nvPr/>
        </p:nvSpPr>
        <p:spPr>
          <a:xfrm>
            <a:off x="813816" y="2066544"/>
            <a:ext cx="5989320" cy="265176"/>
          </a:xfrm>
          <a:prstGeom prst="rect">
            <a:avLst/>
          </a:prstGeom>
          <a:noFill/>
          <a:ln/>
        </p:spPr>
        <p:txBody>
          <a:bodyPr wrap="square" lIns="0" tIns="0" rIns="0" bIns="0" rtlCol="0" anchor="ctr">
            <a:normAutofit/>
          </a:bodyPr>
          <a:lstStyle/>
          <a:p>
            <a:pPr indent="0" marL="0">
              <a:buNone/>
            </a:pPr>
            <a:r>
              <a:rPr lang="en-US" sz="1200" b="1" dirty="0">
                <a:solidFill>
                  <a:srgbClr val="57DDC4"/>
                </a:solidFill>
                <a:latin typeface="Aptos" pitchFamily="34" charset="0"/>
                <a:ea typeface="Aptos" pitchFamily="34" charset="-122"/>
                <a:cs typeface="Aptos" pitchFamily="34" charset="-120"/>
              </a:rPr>
              <a:t>LEAD→WON (ASSUMED)         MEDIA-ONLY CAC</a:t>
            </a:r>
            <a:endParaRPr lang="en-US" sz="1200" dirty="0"/>
          </a:p>
        </p:txBody>
      </p:sp>
      <p:sp>
        <p:nvSpPr>
          <p:cNvPr id="12" name="Text 10"/>
          <p:cNvSpPr/>
          <p:nvPr/>
        </p:nvSpPr>
        <p:spPr>
          <a:xfrm>
            <a:off x="841248" y="2615184"/>
            <a:ext cx="594360" cy="274320"/>
          </a:xfrm>
          <a:prstGeom prst="rect">
            <a:avLst/>
          </a:prstGeom>
          <a:noFill/>
          <a:ln/>
        </p:spPr>
        <p:txBody>
          <a:bodyPr wrap="square" lIns="0" tIns="0" rIns="0" bIns="0" rtlCol="0" anchor="ctr">
            <a:normAutofit/>
          </a:bodyPr>
          <a:lstStyle/>
          <a:p>
            <a:pPr indent="0" marL="0">
              <a:buNone/>
            </a:pPr>
            <a:r>
              <a:rPr lang="en-US" sz="1700" b="1" dirty="0">
                <a:solidFill>
                  <a:srgbClr val="F2C87E"/>
                </a:solidFill>
                <a:latin typeface="Aptos" pitchFamily="34" charset="0"/>
                <a:ea typeface="Aptos" pitchFamily="34" charset="-122"/>
                <a:cs typeface="Aptos" pitchFamily="34" charset="-120"/>
              </a:rPr>
              <a:t>1%</a:t>
            </a:r>
            <a:endParaRPr lang="en-US" sz="1700" dirty="0"/>
          </a:p>
        </p:txBody>
      </p:sp>
      <p:sp>
        <p:nvSpPr>
          <p:cNvPr id="13" name="Text 11"/>
          <p:cNvSpPr/>
          <p:nvPr/>
        </p:nvSpPr>
        <p:spPr>
          <a:xfrm>
            <a:off x="2057400" y="2615184"/>
            <a:ext cx="2167128" cy="274320"/>
          </a:xfrm>
          <a:prstGeom prst="rect">
            <a:avLst/>
          </a:prstGeom>
          <a:noFill/>
          <a:ln/>
        </p:spPr>
        <p:txBody>
          <a:bodyPr wrap="square" lIns="0" tIns="0" rIns="0" bIns="0" rtlCol="0" anchor="ctr">
            <a:normAutofit/>
          </a:bodyPr>
          <a:lstStyle/>
          <a:p>
            <a:pPr indent="0" marL="0">
              <a:buNone/>
            </a:pPr>
            <a:r>
              <a:rPr lang="en-US" sz="1600" b="1" dirty="0">
                <a:solidFill>
                  <a:srgbClr val="ECF5FA"/>
                </a:solidFill>
                <a:latin typeface="Aptos" pitchFamily="34" charset="0"/>
                <a:ea typeface="Aptos" pitchFamily="34" charset="-122"/>
                <a:cs typeface="Aptos" pitchFamily="34" charset="-120"/>
              </a:rPr>
              <a:t>₹2,70,000</a:t>
            </a:r>
            <a:endParaRPr lang="en-US" sz="1600" dirty="0"/>
          </a:p>
        </p:txBody>
      </p:sp>
      <p:sp>
        <p:nvSpPr>
          <p:cNvPr id="14" name="Text 12"/>
          <p:cNvSpPr/>
          <p:nvPr/>
        </p:nvSpPr>
        <p:spPr>
          <a:xfrm>
            <a:off x="4700016" y="2615184"/>
            <a:ext cx="1938528" cy="265176"/>
          </a:xfrm>
          <a:prstGeom prst="rect">
            <a:avLst/>
          </a:prstGeom>
          <a:noFill/>
          <a:ln/>
        </p:spPr>
        <p:txBody>
          <a:bodyPr wrap="square" lIns="0" tIns="0" rIns="0" bIns="0" rtlCol="0" anchor="ctr">
            <a:normAutofit/>
          </a:bodyPr>
          <a:lstStyle/>
          <a:p>
            <a:pPr indent="0" marL="0">
              <a:buNone/>
            </a:pPr>
            <a:r>
              <a:rPr lang="en-US" sz="1100" dirty="0">
                <a:solidFill>
                  <a:srgbClr val="BBCAD8"/>
                </a:solidFill>
                <a:latin typeface="Aptos" pitchFamily="34" charset="0"/>
                <a:ea typeface="Aptos" pitchFamily="34" charset="-122"/>
                <a:cs typeface="Aptos" pitchFamily="34" charset="-120"/>
              </a:rPr>
              <a:t>over cap</a:t>
            </a:r>
            <a:endParaRPr lang="en-US" sz="1100" dirty="0"/>
          </a:p>
        </p:txBody>
      </p:sp>
      <p:sp>
        <p:nvSpPr>
          <p:cNvPr id="15" name="Shape 13"/>
          <p:cNvSpPr/>
          <p:nvPr/>
        </p:nvSpPr>
        <p:spPr>
          <a:xfrm>
            <a:off x="804672" y="2980944"/>
            <a:ext cx="5989320" cy="0"/>
          </a:xfrm>
          <a:prstGeom prst="line">
            <a:avLst/>
          </a:prstGeom>
          <a:noFill/>
          <a:ln w="8890">
            <a:solidFill>
              <a:srgbClr val="304357"/>
            </a:solidFill>
            <a:prstDash val="solid"/>
          </a:ln>
        </p:spPr>
      </p:sp>
      <p:sp>
        <p:nvSpPr>
          <p:cNvPr id="16" name="Text 14"/>
          <p:cNvSpPr/>
          <p:nvPr/>
        </p:nvSpPr>
        <p:spPr>
          <a:xfrm>
            <a:off x="841248" y="3154680"/>
            <a:ext cx="594360" cy="274320"/>
          </a:xfrm>
          <a:prstGeom prst="rect">
            <a:avLst/>
          </a:prstGeom>
          <a:noFill/>
          <a:ln/>
        </p:spPr>
        <p:txBody>
          <a:bodyPr wrap="square" lIns="0" tIns="0" rIns="0" bIns="0" rtlCol="0" anchor="ctr">
            <a:normAutofit/>
          </a:bodyPr>
          <a:lstStyle/>
          <a:p>
            <a:pPr indent="0" marL="0">
              <a:buNone/>
            </a:pPr>
            <a:r>
              <a:rPr lang="en-US" sz="1700" b="1" dirty="0">
                <a:solidFill>
                  <a:srgbClr val="F2C87E"/>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2057400" y="3154680"/>
            <a:ext cx="2167128" cy="274320"/>
          </a:xfrm>
          <a:prstGeom prst="rect">
            <a:avLst/>
          </a:prstGeom>
          <a:noFill/>
          <a:ln/>
        </p:spPr>
        <p:txBody>
          <a:bodyPr wrap="square" lIns="0" tIns="0" rIns="0" bIns="0" rtlCol="0" anchor="ctr">
            <a:normAutofit/>
          </a:bodyPr>
          <a:lstStyle/>
          <a:p>
            <a:pPr indent="0" marL="0">
              <a:buNone/>
            </a:pPr>
            <a:r>
              <a:rPr lang="en-US" sz="1600" b="1" dirty="0">
                <a:solidFill>
                  <a:srgbClr val="ECF5FA"/>
                </a:solidFill>
                <a:latin typeface="Aptos" pitchFamily="34" charset="0"/>
                <a:ea typeface="Aptos" pitchFamily="34" charset="-122"/>
                <a:cs typeface="Aptos" pitchFamily="34" charset="-120"/>
              </a:rPr>
              <a:t>₹90,000</a:t>
            </a:r>
            <a:endParaRPr lang="en-US" sz="1600" dirty="0"/>
          </a:p>
        </p:txBody>
      </p:sp>
      <p:sp>
        <p:nvSpPr>
          <p:cNvPr id="18" name="Text 16"/>
          <p:cNvSpPr/>
          <p:nvPr/>
        </p:nvSpPr>
        <p:spPr>
          <a:xfrm>
            <a:off x="4700016" y="3154680"/>
            <a:ext cx="1938528" cy="265176"/>
          </a:xfrm>
          <a:prstGeom prst="rect">
            <a:avLst/>
          </a:prstGeom>
          <a:noFill/>
          <a:ln/>
        </p:spPr>
        <p:txBody>
          <a:bodyPr wrap="square" lIns="0" tIns="0" rIns="0" bIns="0" rtlCol="0" anchor="ctr">
            <a:normAutofit/>
          </a:bodyPr>
          <a:lstStyle/>
          <a:p>
            <a:pPr indent="0" marL="0">
              <a:buNone/>
            </a:pPr>
            <a:r>
              <a:rPr lang="en-US" sz="1100" dirty="0">
                <a:solidFill>
                  <a:srgbClr val="BBCAD8"/>
                </a:solidFill>
                <a:latin typeface="Aptos" pitchFamily="34" charset="0"/>
                <a:ea typeface="Aptos" pitchFamily="34" charset="-122"/>
                <a:cs typeface="Aptos" pitchFamily="34" charset="-120"/>
              </a:rPr>
              <a:t>cap used</a:t>
            </a:r>
            <a:endParaRPr lang="en-US" sz="1100" dirty="0"/>
          </a:p>
        </p:txBody>
      </p:sp>
      <p:sp>
        <p:nvSpPr>
          <p:cNvPr id="19" name="Shape 17"/>
          <p:cNvSpPr/>
          <p:nvPr/>
        </p:nvSpPr>
        <p:spPr>
          <a:xfrm>
            <a:off x="804672" y="3520440"/>
            <a:ext cx="5989320" cy="0"/>
          </a:xfrm>
          <a:prstGeom prst="line">
            <a:avLst/>
          </a:prstGeom>
          <a:noFill/>
          <a:ln w="8890">
            <a:solidFill>
              <a:srgbClr val="304357"/>
            </a:solidFill>
            <a:prstDash val="solid"/>
          </a:ln>
        </p:spPr>
      </p:sp>
      <p:sp>
        <p:nvSpPr>
          <p:cNvPr id="20" name="Text 18"/>
          <p:cNvSpPr/>
          <p:nvPr/>
        </p:nvSpPr>
        <p:spPr>
          <a:xfrm>
            <a:off x="841248" y="3694176"/>
            <a:ext cx="594360" cy="274320"/>
          </a:xfrm>
          <a:prstGeom prst="rect">
            <a:avLst/>
          </a:prstGeom>
          <a:noFill/>
          <a:ln/>
        </p:spPr>
        <p:txBody>
          <a:bodyPr wrap="square" lIns="0" tIns="0" rIns="0" bIns="0" rtlCol="0" anchor="ctr">
            <a:normAutofit/>
          </a:bodyPr>
          <a:lstStyle/>
          <a:p>
            <a:pPr indent="0" marL="0">
              <a:buNone/>
            </a:pPr>
            <a:r>
              <a:rPr lang="en-US" sz="1700" b="1" dirty="0">
                <a:solidFill>
                  <a:srgbClr val="F2C87E"/>
                </a:solidFill>
                <a:latin typeface="Aptos" pitchFamily="34" charset="0"/>
                <a:ea typeface="Aptos" pitchFamily="34" charset="-122"/>
                <a:cs typeface="Aptos" pitchFamily="34" charset="-120"/>
              </a:rPr>
              <a:t>5%</a:t>
            </a:r>
            <a:endParaRPr lang="en-US" sz="1700" dirty="0"/>
          </a:p>
        </p:txBody>
      </p:sp>
      <p:sp>
        <p:nvSpPr>
          <p:cNvPr id="21" name="Text 19"/>
          <p:cNvSpPr/>
          <p:nvPr/>
        </p:nvSpPr>
        <p:spPr>
          <a:xfrm>
            <a:off x="2057400" y="3694176"/>
            <a:ext cx="2167128" cy="274320"/>
          </a:xfrm>
          <a:prstGeom prst="rect">
            <a:avLst/>
          </a:prstGeom>
          <a:noFill/>
          <a:ln/>
        </p:spPr>
        <p:txBody>
          <a:bodyPr wrap="square" lIns="0" tIns="0" rIns="0" bIns="0" rtlCol="0" anchor="ctr">
            <a:normAutofit/>
          </a:bodyPr>
          <a:lstStyle/>
          <a:p>
            <a:pPr indent="0" marL="0">
              <a:buNone/>
            </a:pPr>
            <a:r>
              <a:rPr lang="en-US" sz="1600" b="1" dirty="0">
                <a:solidFill>
                  <a:srgbClr val="ECF5FA"/>
                </a:solidFill>
                <a:latin typeface="Aptos" pitchFamily="34" charset="0"/>
                <a:ea typeface="Aptos" pitchFamily="34" charset="-122"/>
                <a:cs typeface="Aptos" pitchFamily="34" charset="-120"/>
              </a:rPr>
              <a:t>₹54,000</a:t>
            </a:r>
            <a:endParaRPr lang="en-US" sz="1600" dirty="0"/>
          </a:p>
        </p:txBody>
      </p:sp>
      <p:sp>
        <p:nvSpPr>
          <p:cNvPr id="22" name="Text 20"/>
          <p:cNvSpPr/>
          <p:nvPr/>
        </p:nvSpPr>
        <p:spPr>
          <a:xfrm>
            <a:off x="4700016" y="3694176"/>
            <a:ext cx="1938528" cy="265176"/>
          </a:xfrm>
          <a:prstGeom prst="rect">
            <a:avLst/>
          </a:prstGeom>
          <a:noFill/>
          <a:ln/>
        </p:spPr>
        <p:txBody>
          <a:bodyPr wrap="square" lIns="0" tIns="0" rIns="0" bIns="0" rtlCol="0" anchor="ctr">
            <a:normAutofit/>
          </a:bodyPr>
          <a:lstStyle/>
          <a:p>
            <a:pPr indent="0" marL="0">
              <a:buNone/>
            </a:pPr>
            <a:r>
              <a:rPr lang="en-US" sz="1100" dirty="0">
                <a:solidFill>
                  <a:srgbClr val="57DDC4"/>
                </a:solidFill>
                <a:latin typeface="Aptos" pitchFamily="34" charset="0"/>
                <a:ea typeface="Aptos" pitchFamily="34" charset="-122"/>
                <a:cs typeface="Aptos" pitchFamily="34" charset="-120"/>
              </a:rPr>
              <a:t>₹36k headroom</a:t>
            </a:r>
            <a:endParaRPr lang="en-US" sz="1100" dirty="0"/>
          </a:p>
        </p:txBody>
      </p:sp>
      <p:sp>
        <p:nvSpPr>
          <p:cNvPr id="23" name="Shape 21"/>
          <p:cNvSpPr/>
          <p:nvPr/>
        </p:nvSpPr>
        <p:spPr>
          <a:xfrm>
            <a:off x="804672" y="4059936"/>
            <a:ext cx="5989320" cy="0"/>
          </a:xfrm>
          <a:prstGeom prst="line">
            <a:avLst/>
          </a:prstGeom>
          <a:noFill/>
          <a:ln w="8890">
            <a:solidFill>
              <a:srgbClr val="304357"/>
            </a:solidFill>
            <a:prstDash val="solid"/>
          </a:ln>
        </p:spPr>
      </p:sp>
      <p:sp>
        <p:nvSpPr>
          <p:cNvPr id="24" name="Shape 22"/>
          <p:cNvSpPr/>
          <p:nvPr/>
        </p:nvSpPr>
        <p:spPr>
          <a:xfrm>
            <a:off x="7324344" y="1874520"/>
            <a:ext cx="4233672" cy="2596896"/>
          </a:xfrm>
          <a:prstGeom prst="roundRect">
            <a:avLst>
              <a:gd name="adj" fmla="val 3873"/>
            </a:avLst>
          </a:prstGeom>
          <a:solidFill>
            <a:srgbClr val="112336"/>
          </a:solidFill>
          <a:ln w="12700">
            <a:solidFill>
              <a:srgbClr val="112336"/>
            </a:solidFill>
            <a:prstDash val="solid"/>
          </a:ln>
        </p:spPr>
      </p:sp>
      <p:sp>
        <p:nvSpPr>
          <p:cNvPr id="25" name="Text 23"/>
          <p:cNvSpPr/>
          <p:nvPr/>
        </p:nvSpPr>
        <p:spPr>
          <a:xfrm>
            <a:off x="7552944" y="2075688"/>
            <a:ext cx="3657600" cy="283464"/>
          </a:xfrm>
          <a:prstGeom prst="rect">
            <a:avLst/>
          </a:prstGeom>
          <a:noFill/>
          <a:ln/>
        </p:spPr>
        <p:txBody>
          <a:bodyPr wrap="square" lIns="0" tIns="0" rIns="0" bIns="0" rtlCol="0" anchor="ctr">
            <a:normAutofit/>
          </a:bodyPr>
          <a:lstStyle/>
          <a:p>
            <a:pPr indent="0" marL="0">
              <a:buNone/>
            </a:pPr>
            <a:r>
              <a:rPr lang="en-US" sz="1300" b="1" dirty="0">
                <a:solidFill>
                  <a:srgbClr val="57DDC4"/>
                </a:solidFill>
                <a:latin typeface="Aptos" pitchFamily="34" charset="0"/>
                <a:ea typeface="Aptos" pitchFamily="34" charset="-122"/>
                <a:cs typeface="Aptos" pitchFamily="34" charset="-120"/>
              </a:rPr>
              <a:t>MODEL PAYBACK LIMIT</a:t>
            </a:r>
            <a:endParaRPr lang="en-US" sz="1300" dirty="0"/>
          </a:p>
        </p:txBody>
      </p:sp>
      <p:sp>
        <p:nvSpPr>
          <p:cNvPr id="26" name="Text 24"/>
          <p:cNvSpPr/>
          <p:nvPr/>
        </p:nvSpPr>
        <p:spPr>
          <a:xfrm>
            <a:off x="7552944" y="2660904"/>
            <a:ext cx="3648456" cy="301752"/>
          </a:xfrm>
          <a:prstGeom prst="rect">
            <a:avLst/>
          </a:prstGeom>
          <a:noFill/>
          <a:ln/>
        </p:spPr>
        <p:txBody>
          <a:bodyPr wrap="square" lIns="0" tIns="0" rIns="0" bIns="0" rtlCol="0" anchor="ctr">
            <a:normAutofit/>
          </a:bodyPr>
          <a:lstStyle/>
          <a:p>
            <a:pPr indent="0" marL="0">
              <a:buNone/>
            </a:pPr>
            <a:r>
              <a:rPr lang="en-US" sz="1700" b="1" dirty="0">
                <a:solidFill>
                  <a:srgbClr val="F2C87E"/>
                </a:solidFill>
                <a:latin typeface="Aptos" pitchFamily="34" charset="0"/>
                <a:ea typeface="Aptos" pitchFamily="34" charset="-122"/>
                <a:cs typeface="Aptos" pitchFamily="34" charset="-120"/>
              </a:rPr>
              <a:t>₹20,000 / month / chain</a:t>
            </a:r>
            <a:endParaRPr lang="en-US" sz="1700" dirty="0"/>
          </a:p>
        </p:txBody>
      </p:sp>
      <p:sp>
        <p:nvSpPr>
          <p:cNvPr id="27" name="Text 25"/>
          <p:cNvSpPr/>
          <p:nvPr/>
        </p:nvSpPr>
        <p:spPr>
          <a:xfrm>
            <a:off x="7552944" y="3154680"/>
            <a:ext cx="3639312" cy="246888"/>
          </a:xfrm>
          <a:prstGeom prst="rect">
            <a:avLst/>
          </a:prstGeom>
          <a:noFill/>
          <a:ln/>
        </p:spPr>
        <p:txBody>
          <a:bodyPr wrap="square" lIns="0" tIns="0" rIns="0" bIns="0" rtlCol="0" anchor="ctr">
            <a:normAutofit/>
          </a:bodyPr>
          <a:lstStyle/>
          <a:p>
            <a:pPr indent="0" marL="0">
              <a:buNone/>
            </a:pPr>
            <a:r>
              <a:rPr lang="en-US" sz="1200" dirty="0">
                <a:solidFill>
                  <a:srgbClr val="BBCAD8"/>
                </a:solidFill>
                <a:latin typeface="Aptos" pitchFamily="34" charset="0"/>
                <a:ea typeface="Aptos" pitchFamily="34" charset="-122"/>
                <a:cs typeface="Aptos" pitchFamily="34" charset="-120"/>
              </a:rPr>
              <a:t>× 75% contribution margin</a:t>
            </a:r>
            <a:endParaRPr lang="en-US" sz="1200" dirty="0"/>
          </a:p>
        </p:txBody>
      </p:sp>
      <p:sp>
        <p:nvSpPr>
          <p:cNvPr id="28" name="Text 26"/>
          <p:cNvSpPr/>
          <p:nvPr/>
        </p:nvSpPr>
        <p:spPr>
          <a:xfrm>
            <a:off x="7552944" y="3703320"/>
            <a:ext cx="3648456" cy="347472"/>
          </a:xfrm>
          <a:prstGeom prst="rect">
            <a:avLst/>
          </a:prstGeom>
          <a:noFill/>
          <a:ln/>
        </p:spPr>
        <p:txBody>
          <a:bodyPr wrap="square" lIns="0" tIns="0" rIns="0" bIns="0" rtlCol="0" anchor="ctr">
            <a:normAutofit/>
          </a:bodyPr>
          <a:lstStyle/>
          <a:p>
            <a:pPr indent="0" marL="0">
              <a:buNone/>
            </a:pPr>
            <a:r>
              <a:rPr lang="en-US" sz="1400" b="1" dirty="0">
                <a:solidFill>
                  <a:srgbClr val="ECF5FA"/>
                </a:solidFill>
                <a:latin typeface="Aptos" pitchFamily="34" charset="0"/>
                <a:ea typeface="Aptos" pitchFamily="34" charset="-122"/>
                <a:cs typeface="Aptos" pitchFamily="34" charset="-120"/>
              </a:rPr>
              <a:t>× 6 months cap = ₹90,000</a:t>
            </a:r>
            <a:endParaRPr lang="en-US" sz="1400" dirty="0"/>
          </a:p>
        </p:txBody>
      </p:sp>
      <p:sp>
        <p:nvSpPr>
          <p:cNvPr id="29" name="Shape 27"/>
          <p:cNvSpPr/>
          <p:nvPr/>
        </p:nvSpPr>
        <p:spPr>
          <a:xfrm>
            <a:off x="594360" y="4745736"/>
            <a:ext cx="10963656" cy="1179576"/>
          </a:xfrm>
          <a:prstGeom prst="roundRect">
            <a:avLst>
              <a:gd name="adj" fmla="val 8527"/>
            </a:avLst>
          </a:prstGeom>
          <a:solidFill>
            <a:srgbClr val="1A3A4D"/>
          </a:solidFill>
          <a:ln w="12700">
            <a:solidFill>
              <a:srgbClr val="1A3A4D"/>
            </a:solidFill>
            <a:prstDash val="solid"/>
          </a:ln>
        </p:spPr>
      </p:sp>
      <p:sp>
        <p:nvSpPr>
          <p:cNvPr id="30" name="Text 28"/>
          <p:cNvSpPr/>
          <p:nvPr/>
        </p:nvSpPr>
        <p:spPr>
          <a:xfrm>
            <a:off x="813816" y="4910328"/>
            <a:ext cx="8138160" cy="228600"/>
          </a:xfrm>
          <a:prstGeom prst="rect">
            <a:avLst/>
          </a:prstGeom>
          <a:noFill/>
          <a:ln/>
        </p:spPr>
        <p:txBody>
          <a:bodyPr wrap="square" lIns="0" tIns="0" rIns="0" bIns="0" rtlCol="0" anchor="ctr">
            <a:normAutofit/>
          </a:bodyPr>
          <a:lstStyle/>
          <a:p>
            <a:pPr indent="0" marL="0">
              <a:buNone/>
            </a:pPr>
            <a:r>
              <a:rPr lang="en-US" sz="1200" b="1" dirty="0">
                <a:solidFill>
                  <a:srgbClr val="57DDC4"/>
                </a:solidFill>
                <a:latin typeface="Aptos" pitchFamily="34" charset="0"/>
                <a:ea typeface="Aptos" pitchFamily="34" charset="-122"/>
                <a:cs typeface="Aptos" pitchFamily="34" charset="-120"/>
              </a:rPr>
              <a:t>PARENT-ACCOUNT STAGES + OWNER</a:t>
            </a:r>
            <a:endParaRPr lang="en-US" sz="1200" dirty="0"/>
          </a:p>
        </p:txBody>
      </p:sp>
      <p:sp>
        <p:nvSpPr>
          <p:cNvPr id="31" name="Text 29"/>
          <p:cNvSpPr/>
          <p:nvPr/>
        </p:nvSpPr>
        <p:spPr>
          <a:xfrm>
            <a:off x="813816" y="5285232"/>
            <a:ext cx="10469880" cy="329184"/>
          </a:xfrm>
          <a:prstGeom prst="rect">
            <a:avLst/>
          </a:prstGeom>
          <a:noFill/>
          <a:ln/>
        </p:spPr>
        <p:txBody>
          <a:bodyPr wrap="square" lIns="0" tIns="0" rIns="0" bIns="0" rtlCol="0" anchor="ctr">
            <a:normAutofit/>
          </a:bodyPr>
          <a:lstStyle/>
          <a:p>
            <a:pPr indent="0" marL="0">
              <a:buNone/>
            </a:pPr>
            <a:r>
              <a:rPr lang="en-US" sz="1220" b="1" dirty="0">
                <a:solidFill>
                  <a:srgbClr val="ECF5FA"/>
                </a:solidFill>
                <a:latin typeface="Aptos" pitchFamily="34" charset="0"/>
                <a:ea typeface="Aptos" pitchFamily="34" charset="-122"/>
                <a:cs typeface="Aptos" pitchFamily="34" charset="-120"/>
              </a:rPr>
              <a:t>Spend → qualified parent → booked → held → accepted SQL → trial/pilot → paying group → locations activated → retained contribution</a:t>
            </a:r>
            <a:endParaRPr lang="en-US" sz="1220" dirty="0"/>
          </a:p>
        </p:txBody>
      </p:sp>
      <p:sp>
        <p:nvSpPr>
          <p:cNvPr id="32" name="Text 30"/>
          <p:cNvSpPr/>
          <p:nvPr/>
        </p:nvSpPr>
        <p:spPr>
          <a:xfrm>
            <a:off x="813816" y="5989320"/>
            <a:ext cx="10469880" cy="219456"/>
          </a:xfrm>
          <a:prstGeom prst="rect">
            <a:avLst/>
          </a:prstGeom>
          <a:noFill/>
          <a:ln/>
        </p:spPr>
        <p:txBody>
          <a:bodyPr wrap="square" lIns="0" tIns="0" rIns="0" bIns="0" rtlCol="0" anchor="ctr">
            <a:normAutofit/>
          </a:bodyPr>
          <a:lstStyle/>
          <a:p>
            <a:pPr indent="0" marL="0">
              <a:buNone/>
            </a:pPr>
            <a:r>
              <a:rPr lang="en-US" sz="1000" dirty="0">
                <a:solidFill>
                  <a:srgbClr val="BBCAD8"/>
                </a:solidFill>
                <a:latin typeface="Aptos" pitchFamily="34" charset="0"/>
                <a:ea typeface="Aptos" pitchFamily="34" charset="-122"/>
                <a:cs typeface="Aptos" pitchFamily="34" charset="-120"/>
              </a:rPr>
              <a:t>Daily: quality + SLA   ·   Weekly: meetings and SQL   ·   Monthly: mature deals, full CAC, cash payback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1725"/>
        </a:solidFill>
      </p:bgPr>
    </p:bg>
    <p:spTree>
      <p:nvGrpSpPr>
        <p:cNvPr id="1" name=""/>
        <p:cNvGrpSpPr/>
        <p:nvPr/>
      </p:nvGrpSpPr>
      <p:grpSpPr>
        <a:xfrm>
          <a:off x="0" y="0"/>
          <a:ext cx="0" cy="0"/>
          <a:chOff x="0" y="0"/>
          <a:chExt cx="0" cy="0"/>
        </a:xfrm>
      </p:grpSpPr>
      <p:sp>
        <p:nvSpPr>
          <p:cNvPr id="2" name="Text 0"/>
          <p:cNvSpPr/>
          <p:nvPr/>
        </p:nvSpPr>
        <p:spPr>
          <a:xfrm>
            <a:off x="521208" y="210312"/>
            <a:ext cx="6400800" cy="219456"/>
          </a:xfrm>
          <a:prstGeom prst="rect">
            <a:avLst/>
          </a:prstGeom>
          <a:noFill/>
          <a:ln/>
        </p:spPr>
        <p:txBody>
          <a:bodyPr wrap="square" lIns="0" tIns="0" rIns="0" bIns="0" rtlCol="0" anchor="ctr">
            <a:normAutofit/>
          </a:bodyPr>
          <a:lstStyle/>
          <a:p>
            <a:pPr indent="0" marL="0">
              <a:buNone/>
            </a:pPr>
            <a:r>
              <a:rPr lang="en-US" sz="1000" b="1" spc="120" kern="0" dirty="0">
                <a:solidFill>
                  <a:srgbClr val="57DDC4"/>
                </a:solidFill>
                <a:latin typeface="Aptos" pitchFamily="34" charset="0"/>
                <a:ea typeface="Aptos" pitchFamily="34" charset="-122"/>
                <a:cs typeface="Aptos" pitchFamily="34" charset="-120"/>
              </a:rPr>
              <a:t>QUICK   /   US GO-TO-MARKET</a:t>
            </a:r>
            <a:endParaRPr lang="en-US" sz="1000" dirty="0"/>
          </a:p>
        </p:txBody>
      </p:sp>
      <p:sp>
        <p:nvSpPr>
          <p:cNvPr id="3" name="Text 1"/>
          <p:cNvSpPr/>
          <p:nvPr/>
        </p:nvSpPr>
        <p:spPr>
          <a:xfrm>
            <a:off x="10680192" y="210312"/>
            <a:ext cx="923544" cy="219456"/>
          </a:xfrm>
          <a:prstGeom prst="rect">
            <a:avLst/>
          </a:prstGeom>
          <a:noFill/>
          <a:ln/>
        </p:spPr>
        <p:txBody>
          <a:bodyPr wrap="square" lIns="0" tIns="0" rIns="0" bIns="0" rtlCol="0" anchor="ctr">
            <a:normAutofit/>
          </a:bodyPr>
          <a:lstStyle/>
          <a:p>
            <a:pPr algn="r" indent="0" marL="0">
              <a:buNone/>
            </a:pPr>
            <a:r>
              <a:rPr lang="en-US" sz="1000" dirty="0">
                <a:solidFill>
                  <a:srgbClr val="BBCAD8"/>
                </a:solidFill>
                <a:latin typeface="Aptos" pitchFamily="34" charset="0"/>
                <a:ea typeface="Aptos" pitchFamily="34" charset="-122"/>
                <a:cs typeface="Aptos" pitchFamily="34" charset="-120"/>
              </a:rPr>
              <a:t>09 / 09</a:t>
            </a:r>
            <a:endParaRPr lang="en-US" sz="1000" dirty="0"/>
          </a:p>
        </p:txBody>
      </p:sp>
      <p:sp>
        <p:nvSpPr>
          <p:cNvPr id="4" name="Shape 2"/>
          <p:cNvSpPr/>
          <p:nvPr/>
        </p:nvSpPr>
        <p:spPr>
          <a:xfrm>
            <a:off x="502920" y="585216"/>
            <a:ext cx="11155680" cy="0"/>
          </a:xfrm>
          <a:prstGeom prst="line">
            <a:avLst/>
          </a:prstGeom>
          <a:noFill/>
          <a:ln w="8890">
            <a:solidFill>
              <a:srgbClr val="304357"/>
            </a:solidFill>
            <a:prstDash val="solid"/>
          </a:ln>
        </p:spPr>
      </p:sp>
      <p:sp>
        <p:nvSpPr>
          <p:cNvPr id="5" name="Text 3"/>
          <p:cNvSpPr/>
          <p:nvPr/>
        </p:nvSpPr>
        <p:spPr>
          <a:xfrm>
            <a:off x="521208" y="777240"/>
            <a:ext cx="11064240" cy="521208"/>
          </a:xfrm>
          <a:prstGeom prst="rect">
            <a:avLst/>
          </a:prstGeom>
          <a:noFill/>
          <a:ln/>
        </p:spPr>
        <p:txBody>
          <a:bodyPr wrap="square" lIns="0" tIns="0" rIns="0" bIns="0" rtlCol="0" anchor="ctr">
            <a:normAutofit/>
          </a:bodyPr>
          <a:lstStyle/>
          <a:p>
            <a:pPr indent="0" marL="0">
              <a:buNone/>
            </a:pPr>
            <a:r>
              <a:rPr lang="en-US" sz="2400" b="1" dirty="0">
                <a:solidFill>
                  <a:srgbClr val="ECF5FA"/>
                </a:solidFill>
                <a:latin typeface="Aptos" pitchFamily="34" charset="0"/>
                <a:ea typeface="Aptos" pitchFamily="34" charset="-122"/>
                <a:cs typeface="Aptos" pitchFamily="34" charset="-120"/>
              </a:rPr>
              <a:t>Three facts would let me start building pipeline next Monday.</a:t>
            </a:r>
            <a:endParaRPr lang="en-US" sz="2400" dirty="0"/>
          </a:p>
        </p:txBody>
      </p:sp>
      <p:sp>
        <p:nvSpPr>
          <p:cNvPr id="6" name="Text 4"/>
          <p:cNvSpPr/>
          <p:nvPr/>
        </p:nvSpPr>
        <p:spPr>
          <a:xfrm>
            <a:off x="521208" y="1325880"/>
            <a:ext cx="10972800" cy="283464"/>
          </a:xfrm>
          <a:prstGeom prst="rect">
            <a:avLst/>
          </a:prstGeom>
          <a:noFill/>
          <a:ln/>
        </p:spPr>
        <p:txBody>
          <a:bodyPr wrap="square" lIns="0" tIns="0" rIns="0" bIns="0" rtlCol="0" anchor="ctr">
            <a:normAutofit/>
          </a:bodyPr>
          <a:lstStyle/>
          <a:p>
            <a:pPr indent="0" marL="0">
              <a:buNone/>
            </a:pPr>
            <a:r>
              <a:rPr lang="en-US" sz="1140" dirty="0">
                <a:solidFill>
                  <a:srgbClr val="BBCAD8"/>
                </a:solidFill>
                <a:latin typeface="Aptos" pitchFamily="34" charset="0"/>
                <a:ea typeface="Aptos" pitchFamily="34" charset="-122"/>
                <a:cs typeface="Aptos" pitchFamily="34" charset="-120"/>
              </a:rPr>
              <a:t>Thank you. I would rather discover what fails early than spend the budget proving reach.</a:t>
            </a:r>
            <a:endParaRPr lang="en-US" sz="1140" dirty="0"/>
          </a:p>
        </p:txBody>
      </p:sp>
      <p:sp>
        <p:nvSpPr>
          <p:cNvPr id="7" name="Shape 5"/>
          <p:cNvSpPr/>
          <p:nvPr/>
        </p:nvSpPr>
        <p:spPr>
          <a:xfrm>
            <a:off x="502920" y="6464808"/>
            <a:ext cx="11155680" cy="0"/>
          </a:xfrm>
          <a:prstGeom prst="line">
            <a:avLst/>
          </a:prstGeom>
          <a:noFill/>
          <a:ln w="8890">
            <a:solidFill>
              <a:srgbClr val="304357"/>
            </a:solidFill>
            <a:prstDash val="solid"/>
          </a:ln>
        </p:spPr>
      </p:sp>
      <p:sp>
        <p:nvSpPr>
          <p:cNvPr id="8" name="Text 6"/>
          <p:cNvSpPr/>
          <p:nvPr/>
        </p:nvSpPr>
        <p:spPr>
          <a:xfrm>
            <a:off x="530352" y="6556248"/>
            <a:ext cx="6675120" cy="164592"/>
          </a:xfrm>
          <a:prstGeom prst="rect">
            <a:avLst/>
          </a:prstGeom>
          <a:noFill/>
          <a:ln/>
        </p:spPr>
        <p:txBody>
          <a:bodyPr wrap="square" lIns="0" tIns="0" rIns="0" bIns="0" rtlCol="0" anchor="ctr">
            <a:normAutofit/>
          </a:bodyPr>
          <a:lstStyle/>
          <a:p>
            <a:pPr indent="0" marL="0">
              <a:buNone/>
            </a:pPr>
            <a:r>
              <a:rPr lang="en-US" sz="800" spc="70" kern="0" dirty="0">
                <a:solidFill>
                  <a:srgbClr val="BBCAD8"/>
                </a:solidFill>
                <a:latin typeface="Aptos" pitchFamily="34" charset="0"/>
                <a:ea typeface="Aptos" pitchFamily="34" charset="-122"/>
                <a:cs typeface="Aptos" pitchFamily="34" charset="-120"/>
              </a:rPr>
              <a:t>WEEK-ONE DECISIONS</a:t>
            </a:r>
            <a:endParaRPr lang="en-US" sz="800" dirty="0"/>
          </a:p>
        </p:txBody>
      </p:sp>
      <p:sp>
        <p:nvSpPr>
          <p:cNvPr id="9" name="Text 7"/>
          <p:cNvSpPr/>
          <p:nvPr/>
        </p:nvSpPr>
        <p:spPr>
          <a:xfrm>
            <a:off x="7315200" y="6556248"/>
            <a:ext cx="4279392" cy="155448"/>
          </a:xfrm>
          <a:prstGeom prst="rect">
            <a:avLst/>
          </a:prstGeom>
          <a:noFill/>
          <a:ln/>
        </p:spPr>
        <p:txBody>
          <a:bodyPr wrap="square" lIns="0" tIns="0" rIns="0" bIns="0" rtlCol="0" anchor="ctr">
            <a:normAutofit/>
          </a:bodyPr>
          <a:lstStyle/>
          <a:p>
            <a:pPr algn="r" indent="0" marL="0">
              <a:buNone/>
            </a:pPr>
            <a:r>
              <a:rPr lang="en-US" sz="720" dirty="0">
                <a:solidFill>
                  <a:srgbClr val="BBCAD8"/>
                </a:solidFill>
                <a:latin typeface="Aptos" pitchFamily="34" charset="0"/>
                <a:ea typeface="Aptos" pitchFamily="34" charset="-122"/>
                <a:cs typeface="Aptos" pitchFamily="34" charset="-120"/>
              </a:rPr>
              <a:t>Candidate strategy · 13 Oct 2026 · scenario numbers ≠ Quick actuals</a:t>
            </a:r>
            <a:endParaRPr lang="en-US" sz="720" dirty="0"/>
          </a:p>
        </p:txBody>
      </p:sp>
      <p:sp>
        <p:nvSpPr>
          <p:cNvPr id="10" name="Shape 8"/>
          <p:cNvSpPr/>
          <p:nvPr/>
        </p:nvSpPr>
        <p:spPr>
          <a:xfrm>
            <a:off x="594360" y="1993392"/>
            <a:ext cx="10963656" cy="1005840"/>
          </a:xfrm>
          <a:prstGeom prst="roundRect">
            <a:avLst>
              <a:gd name="adj" fmla="val 10000"/>
            </a:avLst>
          </a:prstGeom>
          <a:solidFill>
            <a:srgbClr val="14283B"/>
          </a:solidFill>
          <a:ln w="12700">
            <a:solidFill>
              <a:srgbClr val="14283B"/>
            </a:solidFill>
            <a:prstDash val="solid"/>
          </a:ln>
        </p:spPr>
      </p:sp>
      <p:sp>
        <p:nvSpPr>
          <p:cNvPr id="11" name="Text 9"/>
          <p:cNvSpPr/>
          <p:nvPr/>
        </p:nvSpPr>
        <p:spPr>
          <a:xfrm>
            <a:off x="850392" y="2240280"/>
            <a:ext cx="713232" cy="347472"/>
          </a:xfrm>
          <a:prstGeom prst="rect">
            <a:avLst/>
          </a:prstGeom>
          <a:noFill/>
          <a:ln/>
        </p:spPr>
        <p:txBody>
          <a:bodyPr wrap="square" lIns="0" tIns="0" rIns="0" bIns="0" rtlCol="0" anchor="ctr">
            <a:normAutofit/>
          </a:bodyPr>
          <a:lstStyle/>
          <a:p>
            <a:pPr indent="0" marL="0">
              <a:buNone/>
            </a:pPr>
            <a:r>
              <a:rPr lang="en-US" sz="2400" b="1" dirty="0">
                <a:solidFill>
                  <a:srgbClr val="F2C87E"/>
                </a:solidFill>
                <a:latin typeface="Aptos" pitchFamily="34" charset="0"/>
                <a:ea typeface="Aptos" pitchFamily="34" charset="-122"/>
                <a:cs typeface="Aptos" pitchFamily="34" charset="-120"/>
              </a:rPr>
              <a:t>01</a:t>
            </a:r>
            <a:endParaRPr lang="en-US" sz="2400" dirty="0"/>
          </a:p>
        </p:txBody>
      </p:sp>
      <p:sp>
        <p:nvSpPr>
          <p:cNvPr id="12" name="Text 10"/>
          <p:cNvSpPr/>
          <p:nvPr/>
        </p:nvSpPr>
        <p:spPr>
          <a:xfrm>
            <a:off x="1700784" y="2157984"/>
            <a:ext cx="4453128" cy="365760"/>
          </a:xfrm>
          <a:prstGeom prst="rect">
            <a:avLst/>
          </a:prstGeom>
          <a:noFill/>
          <a:ln/>
        </p:spPr>
        <p:txBody>
          <a:bodyPr wrap="square" lIns="0" tIns="0" rIns="0" bIns="0" rtlCol="0" anchor="ctr">
            <a:normAutofit/>
          </a:bodyPr>
          <a:lstStyle/>
          <a:p>
            <a:pPr indent="0" marL="0">
              <a:buNone/>
            </a:pPr>
            <a:r>
              <a:rPr lang="en-US" sz="1600" b="1" dirty="0">
                <a:solidFill>
                  <a:srgbClr val="ECF5FA"/>
                </a:solidFill>
                <a:latin typeface="Aptos" pitchFamily="34" charset="0"/>
                <a:ea typeface="Aptos" pitchFamily="34" charset="-122"/>
                <a:cs typeface="Aptos" pitchFamily="34" charset="-120"/>
              </a:rPr>
              <a:t>90-day source-level CRM cohort</a:t>
            </a:r>
            <a:endParaRPr lang="en-US" sz="1600" dirty="0"/>
          </a:p>
        </p:txBody>
      </p:sp>
      <p:sp>
        <p:nvSpPr>
          <p:cNvPr id="13" name="Text 11"/>
          <p:cNvSpPr/>
          <p:nvPr/>
        </p:nvSpPr>
        <p:spPr>
          <a:xfrm>
            <a:off x="6382512" y="2139696"/>
            <a:ext cx="4700016" cy="612648"/>
          </a:xfrm>
          <a:prstGeom prst="rect">
            <a:avLst/>
          </a:prstGeom>
          <a:noFill/>
          <a:ln/>
        </p:spPr>
        <p:txBody>
          <a:bodyPr wrap="square" lIns="0" tIns="0" rIns="0" bIns="0" rtlCol="0" anchor="ctr">
            <a:normAutofit/>
          </a:bodyPr>
          <a:lstStyle/>
          <a:p>
            <a:pPr indent="0" marL="0">
              <a:buNone/>
            </a:pPr>
            <a:r>
              <a:rPr lang="en-US" sz="1130" dirty="0">
                <a:solidFill>
                  <a:srgbClr val="BBCAD8"/>
                </a:solidFill>
                <a:latin typeface="Aptos" pitchFamily="34" charset="0"/>
                <a:ea typeface="Aptos" pitchFamily="34" charset="-122"/>
                <a:cs typeface="Aptos" pitchFamily="34" charset="-120"/>
              </a:rPr>
              <a:t>How many real 3–30-site companies became held demos, accepted SQLs and paying groups?</a:t>
            </a:r>
            <a:endParaRPr lang="en-US" sz="1130" dirty="0"/>
          </a:p>
        </p:txBody>
      </p:sp>
      <p:sp>
        <p:nvSpPr>
          <p:cNvPr id="14" name="Shape 12"/>
          <p:cNvSpPr/>
          <p:nvPr/>
        </p:nvSpPr>
        <p:spPr>
          <a:xfrm>
            <a:off x="594360" y="3163824"/>
            <a:ext cx="10963656" cy="1005840"/>
          </a:xfrm>
          <a:prstGeom prst="roundRect">
            <a:avLst>
              <a:gd name="adj" fmla="val 10000"/>
            </a:avLst>
          </a:prstGeom>
          <a:solidFill>
            <a:srgbClr val="14283B"/>
          </a:solidFill>
          <a:ln w="12700">
            <a:solidFill>
              <a:srgbClr val="14283B"/>
            </a:solidFill>
            <a:prstDash val="solid"/>
          </a:ln>
        </p:spPr>
      </p:sp>
      <p:sp>
        <p:nvSpPr>
          <p:cNvPr id="15" name="Text 13"/>
          <p:cNvSpPr/>
          <p:nvPr/>
        </p:nvSpPr>
        <p:spPr>
          <a:xfrm>
            <a:off x="850392" y="3410712"/>
            <a:ext cx="713232" cy="347472"/>
          </a:xfrm>
          <a:prstGeom prst="rect">
            <a:avLst/>
          </a:prstGeom>
          <a:noFill/>
          <a:ln/>
        </p:spPr>
        <p:txBody>
          <a:bodyPr wrap="square" lIns="0" tIns="0" rIns="0" bIns="0" rtlCol="0" anchor="ctr">
            <a:normAutofit/>
          </a:bodyPr>
          <a:lstStyle/>
          <a:p>
            <a:pPr indent="0" marL="0">
              <a:buNone/>
            </a:pPr>
            <a:r>
              <a:rPr lang="en-US" sz="2400" b="1" dirty="0">
                <a:solidFill>
                  <a:srgbClr val="F2C87E"/>
                </a:solidFill>
                <a:latin typeface="Aptos" pitchFamily="34" charset="0"/>
                <a:ea typeface="Aptos" pitchFamily="34" charset="-122"/>
                <a:cs typeface="Aptos" pitchFamily="34" charset="-120"/>
              </a:rPr>
              <a:t>02</a:t>
            </a:r>
            <a:endParaRPr lang="en-US" sz="2400" dirty="0"/>
          </a:p>
        </p:txBody>
      </p:sp>
      <p:sp>
        <p:nvSpPr>
          <p:cNvPr id="16" name="Text 14"/>
          <p:cNvSpPr/>
          <p:nvPr/>
        </p:nvSpPr>
        <p:spPr>
          <a:xfrm>
            <a:off x="1700784" y="3328416"/>
            <a:ext cx="4453128" cy="365760"/>
          </a:xfrm>
          <a:prstGeom prst="rect">
            <a:avLst/>
          </a:prstGeom>
          <a:noFill/>
          <a:ln/>
        </p:spPr>
        <p:txBody>
          <a:bodyPr wrap="square" lIns="0" tIns="0" rIns="0" bIns="0" rtlCol="0" anchor="ctr">
            <a:normAutofit/>
          </a:bodyPr>
          <a:lstStyle/>
          <a:p>
            <a:pPr indent="0" marL="0">
              <a:buNone/>
            </a:pPr>
            <a:r>
              <a:rPr lang="en-US" sz="1600" b="1" dirty="0">
                <a:solidFill>
                  <a:srgbClr val="ECF5FA"/>
                </a:solidFill>
                <a:latin typeface="Aptos" pitchFamily="34" charset="0"/>
                <a:ea typeface="Aptos" pitchFamily="34" charset="-122"/>
                <a:cs typeface="Aptos" pitchFamily="34" charset="-120"/>
              </a:rPr>
              <a:t>US production-readiness walkthrough</a:t>
            </a:r>
            <a:endParaRPr lang="en-US" sz="1600" dirty="0"/>
          </a:p>
        </p:txBody>
      </p:sp>
      <p:sp>
        <p:nvSpPr>
          <p:cNvPr id="17" name="Text 15"/>
          <p:cNvSpPr/>
          <p:nvPr/>
        </p:nvSpPr>
        <p:spPr>
          <a:xfrm>
            <a:off x="6382512" y="3310128"/>
            <a:ext cx="4700016" cy="612648"/>
          </a:xfrm>
          <a:prstGeom prst="rect">
            <a:avLst/>
          </a:prstGeom>
          <a:noFill/>
          <a:ln/>
        </p:spPr>
        <p:txBody>
          <a:bodyPr wrap="square" lIns="0" tIns="0" rIns="0" bIns="0" rtlCol="0" anchor="ctr">
            <a:normAutofit/>
          </a:bodyPr>
          <a:lstStyle/>
          <a:p>
            <a:pPr indent="0" marL="0">
              <a:buNone/>
            </a:pPr>
            <a:r>
              <a:rPr lang="en-US" sz="1130" dirty="0">
                <a:solidFill>
                  <a:srgbClr val="BBCAD8"/>
                </a:solidFill>
                <a:latin typeface="Aptos" pitchFamily="34" charset="0"/>
                <a:ea typeface="Aptos" pitchFamily="34" charset="-122"/>
                <a:cs typeface="Aptos" pitchFamily="34" charset="-120"/>
              </a:rPr>
              <a:t>What payments, data import, plant workflows, software plan and US support can we actually demonstrate?</a:t>
            </a:r>
            <a:endParaRPr lang="en-US" sz="1130" dirty="0"/>
          </a:p>
        </p:txBody>
      </p:sp>
      <p:sp>
        <p:nvSpPr>
          <p:cNvPr id="18" name="Shape 16"/>
          <p:cNvSpPr/>
          <p:nvPr/>
        </p:nvSpPr>
        <p:spPr>
          <a:xfrm>
            <a:off x="594360" y="4334256"/>
            <a:ext cx="10963656" cy="1005840"/>
          </a:xfrm>
          <a:prstGeom prst="roundRect">
            <a:avLst>
              <a:gd name="adj" fmla="val 10000"/>
            </a:avLst>
          </a:prstGeom>
          <a:solidFill>
            <a:srgbClr val="14283B"/>
          </a:solidFill>
          <a:ln w="12700">
            <a:solidFill>
              <a:srgbClr val="14283B"/>
            </a:solidFill>
            <a:prstDash val="solid"/>
          </a:ln>
        </p:spPr>
      </p:sp>
      <p:sp>
        <p:nvSpPr>
          <p:cNvPr id="19" name="Text 17"/>
          <p:cNvSpPr/>
          <p:nvPr/>
        </p:nvSpPr>
        <p:spPr>
          <a:xfrm>
            <a:off x="850392" y="4581144"/>
            <a:ext cx="713232" cy="347472"/>
          </a:xfrm>
          <a:prstGeom prst="rect">
            <a:avLst/>
          </a:prstGeom>
          <a:noFill/>
          <a:ln/>
        </p:spPr>
        <p:txBody>
          <a:bodyPr wrap="square" lIns="0" tIns="0" rIns="0" bIns="0" rtlCol="0" anchor="ctr">
            <a:normAutofit/>
          </a:bodyPr>
          <a:lstStyle/>
          <a:p>
            <a:pPr indent="0" marL="0">
              <a:buNone/>
            </a:pPr>
            <a:r>
              <a:rPr lang="en-US" sz="2400" b="1" dirty="0">
                <a:solidFill>
                  <a:srgbClr val="F2C87E"/>
                </a:solidFill>
                <a:latin typeface="Aptos" pitchFamily="34" charset="0"/>
                <a:ea typeface="Aptos" pitchFamily="34" charset="-122"/>
                <a:cs typeface="Aptos" pitchFamily="34" charset="-120"/>
              </a:rPr>
              <a:t>03</a:t>
            </a:r>
            <a:endParaRPr lang="en-US" sz="2400" dirty="0"/>
          </a:p>
        </p:txBody>
      </p:sp>
      <p:sp>
        <p:nvSpPr>
          <p:cNvPr id="20" name="Text 18"/>
          <p:cNvSpPr/>
          <p:nvPr/>
        </p:nvSpPr>
        <p:spPr>
          <a:xfrm>
            <a:off x="1700784" y="4498848"/>
            <a:ext cx="4453128" cy="365760"/>
          </a:xfrm>
          <a:prstGeom prst="rect">
            <a:avLst/>
          </a:prstGeom>
          <a:noFill/>
          <a:ln/>
        </p:spPr>
        <p:txBody>
          <a:bodyPr wrap="square" lIns="0" tIns="0" rIns="0" bIns="0" rtlCol="0" anchor="ctr">
            <a:normAutofit/>
          </a:bodyPr>
          <a:lstStyle/>
          <a:p>
            <a:pPr indent="0" marL="0">
              <a:buNone/>
            </a:pPr>
            <a:r>
              <a:rPr lang="en-US" sz="1600" b="1" dirty="0">
                <a:solidFill>
                  <a:srgbClr val="ECF5FA"/>
                </a:solidFill>
                <a:latin typeface="Aptos" pitchFamily="34" charset="0"/>
                <a:ea typeface="Aptos" pitchFamily="34" charset="-122"/>
                <a:cs typeface="Aptos" pitchFamily="34" charset="-120"/>
              </a:rPr>
              <a:t>A named sales owner + weekly scorecard</a:t>
            </a:r>
            <a:endParaRPr lang="en-US" sz="1600" dirty="0"/>
          </a:p>
        </p:txBody>
      </p:sp>
      <p:sp>
        <p:nvSpPr>
          <p:cNvPr id="21" name="Text 19"/>
          <p:cNvSpPr/>
          <p:nvPr/>
        </p:nvSpPr>
        <p:spPr>
          <a:xfrm>
            <a:off x="6382512" y="4480560"/>
            <a:ext cx="4700016" cy="612648"/>
          </a:xfrm>
          <a:prstGeom prst="rect">
            <a:avLst/>
          </a:prstGeom>
          <a:noFill/>
          <a:ln/>
        </p:spPr>
        <p:txBody>
          <a:bodyPr wrap="square" lIns="0" tIns="0" rIns="0" bIns="0" rtlCol="0" anchor="ctr">
            <a:normAutofit/>
          </a:bodyPr>
          <a:lstStyle/>
          <a:p>
            <a:pPr indent="0" marL="0">
              <a:buNone/>
            </a:pPr>
            <a:r>
              <a:rPr lang="en-US" sz="1130" dirty="0">
                <a:solidFill>
                  <a:srgbClr val="BBCAD8"/>
                </a:solidFill>
                <a:latin typeface="Aptos" pitchFamily="34" charset="0"/>
                <a:ea typeface="Aptos" pitchFamily="34" charset="-122"/>
                <a:cs typeface="Aptos" pitchFamily="34" charset="-120"/>
              </a:rPr>
              <a:t>Who takes US buyer conversations, documents win/loss causes and authorizes the next cash tranche?</a:t>
            </a:r>
            <a:endParaRPr lang="en-US" sz="1130" dirty="0"/>
          </a:p>
        </p:txBody>
      </p:sp>
      <p:sp>
        <p:nvSpPr>
          <p:cNvPr id="22" name="Shape 20"/>
          <p:cNvSpPr/>
          <p:nvPr/>
        </p:nvSpPr>
        <p:spPr>
          <a:xfrm>
            <a:off x="594360" y="5696712"/>
            <a:ext cx="10963656" cy="512064"/>
          </a:xfrm>
          <a:prstGeom prst="roundRect">
            <a:avLst>
              <a:gd name="adj" fmla="val 19643"/>
            </a:avLst>
          </a:prstGeom>
          <a:solidFill>
            <a:srgbClr val="1B3D52"/>
          </a:solidFill>
          <a:ln w="12700">
            <a:solidFill>
              <a:srgbClr val="1B3D52"/>
            </a:solidFill>
            <a:prstDash val="solid"/>
          </a:ln>
        </p:spPr>
      </p:sp>
      <p:sp>
        <p:nvSpPr>
          <p:cNvPr id="23" name="Text 21"/>
          <p:cNvSpPr/>
          <p:nvPr/>
        </p:nvSpPr>
        <p:spPr>
          <a:xfrm>
            <a:off x="832104" y="5815584"/>
            <a:ext cx="10469880" cy="237744"/>
          </a:xfrm>
          <a:prstGeom prst="rect">
            <a:avLst/>
          </a:prstGeom>
          <a:noFill/>
          <a:ln/>
        </p:spPr>
        <p:txBody>
          <a:bodyPr wrap="square" lIns="0" tIns="0" rIns="0" bIns="0" rtlCol="0" anchor="ctr">
            <a:normAutofit/>
          </a:bodyPr>
          <a:lstStyle/>
          <a:p>
            <a:pPr indent="0" marL="0">
              <a:buNone/>
            </a:pPr>
            <a:r>
              <a:rPr lang="en-US" sz="1110" b="1" dirty="0">
                <a:solidFill>
                  <a:srgbClr val="57DDC4"/>
                </a:solidFill>
                <a:latin typeface="Aptos" pitchFamily="34" charset="0"/>
                <a:ea typeface="Aptos" pitchFamily="34" charset="-122"/>
                <a:cs typeface="Aptos" pitchFamily="34" charset="-120"/>
              </a:rPr>
              <a:t>REMOTE OPERATING PROMISE: US time overlap + shared CRM stages + documented SLAs + co-owned operator demos.</a:t>
            </a:r>
            <a:endParaRPr lang="en-US" sz="11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Growth: Qualified Pipeline Before Lead Volume</dc:title>
  <dc:subject>Quick US Growth assignment</dc:subject>
  <dc:creator>Manash Protim Deori</dc:creator>
  <cp:lastModifiedBy>Manash Protim Deori</cp:lastModifiedBy>
  <cp:revision>1</cp:revision>
  <dcterms:created xsi:type="dcterms:W3CDTF">2026-10-13T02:19:27Z</dcterms:created>
  <dcterms:modified xsi:type="dcterms:W3CDTF">2026-10-13T02:19:27Z</dcterms:modified>
</cp:coreProperties>
</file>